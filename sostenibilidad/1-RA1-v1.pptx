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5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4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60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426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28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25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90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5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065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366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43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31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86316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charset="2"/>
        <a:buChar char="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Sostenibilidad y Aspectos Ambientales, Sociales y de Gobernanza (ASG)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Análisis de los marcos internacionales para el desarrollo sostenible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01361"/>
            <a:ext cx="7989752" cy="1594529"/>
          </a:xfrm>
        </p:spPr>
        <p:txBody>
          <a:bodyPr/>
          <a:lstStyle/>
          <a:p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Analizar</a:t>
            </a:r>
            <a:r>
              <a:rPr dirty="0"/>
              <a:t> los </a:t>
            </a:r>
            <a:r>
              <a:rPr dirty="0" err="1"/>
              <a:t>aspectos</a:t>
            </a:r>
            <a:r>
              <a:rPr dirty="0"/>
              <a:t> clave de la </a:t>
            </a:r>
            <a:r>
              <a:rPr dirty="0" err="1"/>
              <a:t>sostenibilidad</a:t>
            </a:r>
            <a:r>
              <a:rPr dirty="0"/>
              <a:t>, </a:t>
            </a:r>
            <a:r>
              <a:rPr dirty="0" err="1"/>
              <a:t>cómo</a:t>
            </a:r>
            <a:r>
              <a:rPr dirty="0"/>
              <a:t> se </a:t>
            </a:r>
            <a:r>
              <a:rPr dirty="0" err="1"/>
              <a:t>interrelacionan</a:t>
            </a:r>
            <a:r>
              <a:rPr dirty="0"/>
              <a:t> los </a:t>
            </a:r>
            <a:r>
              <a:rPr dirty="0" err="1"/>
              <a:t>aspectos</a:t>
            </a:r>
            <a:r>
              <a:rPr dirty="0"/>
              <a:t> </a:t>
            </a:r>
            <a:r>
              <a:rPr dirty="0" err="1"/>
              <a:t>ambientales</a:t>
            </a:r>
            <a:r>
              <a:rPr dirty="0"/>
              <a:t>, </a:t>
            </a:r>
            <a:r>
              <a:rPr dirty="0" err="1"/>
              <a:t>sociales</a:t>
            </a:r>
            <a:r>
              <a:rPr dirty="0"/>
              <a:t> y de </a:t>
            </a:r>
            <a:r>
              <a:rPr dirty="0" err="1"/>
              <a:t>gobernanza</a:t>
            </a:r>
            <a:r>
              <a:rPr dirty="0"/>
              <a:t> (ASG), y </a:t>
            </a:r>
            <a:r>
              <a:rPr dirty="0" err="1"/>
              <a:t>explorar</a:t>
            </a:r>
            <a:r>
              <a:rPr dirty="0"/>
              <a:t> los </a:t>
            </a:r>
            <a:r>
              <a:rPr dirty="0" err="1"/>
              <a:t>marcos</a:t>
            </a:r>
            <a:r>
              <a:rPr dirty="0"/>
              <a:t> </a:t>
            </a:r>
            <a:r>
              <a:rPr dirty="0" err="1"/>
              <a:t>internacionales</a:t>
            </a:r>
            <a:r>
              <a:rPr dirty="0"/>
              <a:t> que </a:t>
            </a:r>
            <a:r>
              <a:rPr dirty="0" err="1"/>
              <a:t>contribuyen</a:t>
            </a:r>
            <a:r>
              <a:rPr dirty="0"/>
              <a:t> a la </a:t>
            </a:r>
            <a:r>
              <a:rPr dirty="0" err="1"/>
              <a:t>consecución</a:t>
            </a:r>
            <a:r>
              <a:rPr dirty="0"/>
              <a:t> de un </a:t>
            </a:r>
            <a:r>
              <a:rPr dirty="0" err="1"/>
              <a:t>desarrollo</a:t>
            </a:r>
            <a:r>
              <a:rPr dirty="0"/>
              <a:t> </a:t>
            </a:r>
            <a:r>
              <a:rPr dirty="0" err="1"/>
              <a:t>sostenible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Definición de Sostenibilidad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3990808" cy="3630795"/>
          </a:xfrm>
        </p:spPr>
        <p:txBody>
          <a:bodyPr>
            <a:normAutofit/>
          </a:bodyPr>
          <a:lstStyle/>
          <a:p>
            <a:r>
              <a:rPr dirty="0" err="1"/>
              <a:t>Sostenibilidad</a:t>
            </a:r>
            <a:r>
              <a:rPr dirty="0"/>
              <a:t>: </a:t>
            </a:r>
            <a:r>
              <a:rPr dirty="0" err="1"/>
              <a:t>Capacidad</a:t>
            </a:r>
            <a:r>
              <a:rPr dirty="0"/>
              <a:t> de </a:t>
            </a:r>
            <a:r>
              <a:rPr dirty="0" err="1"/>
              <a:t>mantener</a:t>
            </a:r>
            <a:r>
              <a:rPr dirty="0"/>
              <a:t> y </a:t>
            </a:r>
            <a:r>
              <a:rPr dirty="0" err="1"/>
              <a:t>mejorar</a:t>
            </a:r>
            <a:r>
              <a:rPr dirty="0"/>
              <a:t> </a:t>
            </a:r>
            <a:r>
              <a:rPr dirty="0" err="1"/>
              <a:t>procesos</a:t>
            </a:r>
            <a:r>
              <a:rPr dirty="0"/>
              <a:t>, </a:t>
            </a:r>
            <a:r>
              <a:rPr dirty="0" err="1"/>
              <a:t>sistemas</a:t>
            </a:r>
            <a:r>
              <a:rPr dirty="0"/>
              <a:t> o </a:t>
            </a:r>
            <a:r>
              <a:rPr dirty="0" err="1"/>
              <a:t>estructuras</a:t>
            </a:r>
            <a:r>
              <a:rPr dirty="0"/>
              <a:t> a lo largo del </a:t>
            </a:r>
            <a:r>
              <a:rPr dirty="0" err="1"/>
              <a:t>tiempo</a:t>
            </a:r>
            <a:r>
              <a:rPr dirty="0"/>
              <a:t> sin </a:t>
            </a:r>
            <a:r>
              <a:rPr dirty="0" err="1"/>
              <a:t>agotar</a:t>
            </a:r>
            <a:r>
              <a:rPr dirty="0"/>
              <a:t> los </a:t>
            </a:r>
            <a:r>
              <a:rPr dirty="0" err="1"/>
              <a:t>recursos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causar</a:t>
            </a:r>
            <a:r>
              <a:rPr dirty="0"/>
              <a:t> </a:t>
            </a:r>
            <a:r>
              <a:rPr dirty="0" err="1"/>
              <a:t>daño</a:t>
            </a:r>
            <a:r>
              <a:rPr dirty="0"/>
              <a:t>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Definición de Sostenibilidad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3990808" cy="36307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Tres </a:t>
            </a:r>
            <a:r>
              <a:rPr dirty="0" err="1"/>
              <a:t>pilares</a:t>
            </a:r>
            <a:r>
              <a:rPr dirty="0"/>
              <a:t> de la </a:t>
            </a:r>
            <a:r>
              <a:rPr dirty="0" err="1"/>
              <a:t>sostenibilidad</a:t>
            </a:r>
            <a:r>
              <a:rPr dirty="0"/>
              <a:t>:</a:t>
            </a:r>
          </a:p>
          <a:p>
            <a:r>
              <a:rPr dirty="0"/>
              <a:t>- Ambiental: </a:t>
            </a:r>
            <a:r>
              <a:rPr dirty="0" err="1"/>
              <a:t>Conservación</a:t>
            </a:r>
            <a:r>
              <a:rPr dirty="0"/>
              <a:t> de los </a:t>
            </a:r>
            <a:r>
              <a:rPr dirty="0" err="1"/>
              <a:t>recursos</a:t>
            </a:r>
            <a:r>
              <a:rPr dirty="0"/>
              <a:t> naturales.</a:t>
            </a:r>
          </a:p>
          <a:p>
            <a:r>
              <a:rPr dirty="0"/>
              <a:t>- </a:t>
            </a:r>
            <a:r>
              <a:rPr dirty="0" err="1"/>
              <a:t>Económico</a:t>
            </a:r>
            <a:r>
              <a:rPr dirty="0"/>
              <a:t>: </a:t>
            </a:r>
            <a:r>
              <a:rPr dirty="0" err="1"/>
              <a:t>Uso</a:t>
            </a:r>
            <a:r>
              <a:rPr dirty="0"/>
              <a:t> </a:t>
            </a:r>
            <a:r>
              <a:rPr dirty="0" err="1"/>
              <a:t>eficiente</a:t>
            </a:r>
            <a:r>
              <a:rPr dirty="0"/>
              <a:t> de los </a:t>
            </a:r>
            <a:r>
              <a:rPr dirty="0" err="1"/>
              <a:t>recursos</a:t>
            </a:r>
            <a:r>
              <a:rPr dirty="0"/>
              <a:t> sin </a:t>
            </a:r>
            <a:r>
              <a:rPr dirty="0" err="1"/>
              <a:t>comprometer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crecimiento</a:t>
            </a:r>
            <a:r>
              <a:rPr dirty="0"/>
              <a:t> </a:t>
            </a:r>
            <a:r>
              <a:rPr dirty="0" err="1"/>
              <a:t>económico</a:t>
            </a:r>
            <a:r>
              <a:rPr dirty="0"/>
              <a:t>.</a:t>
            </a:r>
          </a:p>
          <a:p>
            <a:r>
              <a:rPr dirty="0"/>
              <a:t>- Social: </a:t>
            </a:r>
            <a:r>
              <a:rPr dirty="0" err="1"/>
              <a:t>Promoción</a:t>
            </a:r>
            <a:r>
              <a:rPr dirty="0"/>
              <a:t> de la </a:t>
            </a:r>
            <a:r>
              <a:rPr dirty="0" err="1"/>
              <a:t>equidad</a:t>
            </a:r>
            <a:r>
              <a:rPr dirty="0"/>
              <a:t> y </a:t>
            </a:r>
            <a:r>
              <a:rPr dirty="0" err="1"/>
              <a:t>bienestar</a:t>
            </a:r>
            <a:r>
              <a:rPr dirty="0"/>
              <a:t> de las personas.</a:t>
            </a:r>
          </a:p>
        </p:txBody>
      </p:sp>
    </p:spTree>
    <p:extLst>
      <p:ext uri="{BB962C8B-B14F-4D97-AF65-F5344CB8AC3E}">
        <p14:creationId xmlns:p14="http://schemas.microsoft.com/office/powerpoint/2010/main" val="1656634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Importancia de la Sostenibilidad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sostenibilidad asegura la supervivencia a largo plazo de las generaciones futuras.</a:t>
            </a:r>
          </a:p>
          <a:p>
            <a:endParaRPr/>
          </a:p>
          <a:p>
            <a:r>
              <a:t>Beneficios clave:</a:t>
            </a:r>
          </a:p>
          <a:p>
            <a:r>
              <a:t>- Preservación del entorno natural.</a:t>
            </a:r>
          </a:p>
          <a:p>
            <a:r>
              <a:t>- Mejora de la calidad de vida.</a:t>
            </a:r>
          </a:p>
          <a:p>
            <a:r>
              <a:t>- Fomento de una economía inclusiva y resiliente.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Marco Conceptual del Desarrollo Sostenible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4"/>
            <a:ext cx="7989752" cy="1288920"/>
          </a:xfrm>
        </p:spPr>
        <p:txBody>
          <a:bodyPr/>
          <a:lstStyle/>
          <a:p>
            <a:r>
              <a:rPr dirty="0"/>
              <a:t>Desarrollo </a:t>
            </a:r>
            <a:r>
              <a:rPr dirty="0" err="1"/>
              <a:t>Sostenible</a:t>
            </a:r>
            <a:r>
              <a:rPr dirty="0"/>
              <a:t>: </a:t>
            </a:r>
            <a:r>
              <a:rPr dirty="0" err="1"/>
              <a:t>Progreso</a:t>
            </a:r>
            <a:r>
              <a:rPr dirty="0"/>
              <a:t> </a:t>
            </a:r>
            <a:r>
              <a:rPr dirty="0" err="1"/>
              <a:t>económico</a:t>
            </a:r>
            <a:r>
              <a:rPr dirty="0"/>
              <a:t> y social </a:t>
            </a:r>
            <a:r>
              <a:rPr dirty="0" err="1"/>
              <a:t>gestionado</a:t>
            </a:r>
            <a:r>
              <a:rPr dirty="0"/>
              <a:t> de </a:t>
            </a:r>
            <a:r>
              <a:rPr dirty="0" err="1"/>
              <a:t>manera</a:t>
            </a:r>
            <a:r>
              <a:rPr dirty="0"/>
              <a:t> que no </a:t>
            </a:r>
            <a:r>
              <a:rPr dirty="0" err="1"/>
              <a:t>agote</a:t>
            </a:r>
            <a:r>
              <a:rPr dirty="0"/>
              <a:t> </a:t>
            </a:r>
            <a:r>
              <a:rPr dirty="0" err="1"/>
              <a:t>recursos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afecte</a:t>
            </a:r>
            <a:r>
              <a:rPr dirty="0"/>
              <a:t> </a:t>
            </a:r>
            <a:r>
              <a:rPr dirty="0" err="1"/>
              <a:t>negativamente</a:t>
            </a:r>
            <a:r>
              <a:rPr dirty="0"/>
              <a:t> a </a:t>
            </a:r>
            <a:r>
              <a:rPr dirty="0" err="1"/>
              <a:t>futuras</a:t>
            </a:r>
            <a:r>
              <a:rPr dirty="0"/>
              <a:t> </a:t>
            </a:r>
            <a:r>
              <a:rPr dirty="0" err="1"/>
              <a:t>generaciones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Marco Conceptual del Desarrollo Sostenible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1200997"/>
          </a:xfrm>
        </p:spPr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 err="1"/>
              <a:t>Objetivo</a:t>
            </a:r>
            <a:r>
              <a:rPr dirty="0"/>
              <a:t> principal: </a:t>
            </a:r>
            <a:r>
              <a:rPr dirty="0" err="1"/>
              <a:t>Garantizar</a:t>
            </a:r>
            <a:r>
              <a:rPr dirty="0"/>
              <a:t> un </a:t>
            </a:r>
            <a:r>
              <a:rPr dirty="0" err="1"/>
              <a:t>equilibrio</a:t>
            </a:r>
            <a:r>
              <a:rPr dirty="0"/>
              <a:t> entre </a:t>
            </a:r>
            <a:r>
              <a:rPr dirty="0" err="1"/>
              <a:t>desarrollo</a:t>
            </a:r>
            <a:r>
              <a:rPr dirty="0"/>
              <a:t> </a:t>
            </a:r>
            <a:r>
              <a:rPr dirty="0" err="1"/>
              <a:t>económico</a:t>
            </a:r>
            <a:r>
              <a:rPr dirty="0"/>
              <a:t>, </a:t>
            </a:r>
            <a:r>
              <a:rPr dirty="0" err="1"/>
              <a:t>inclusión</a:t>
            </a:r>
            <a:r>
              <a:rPr dirty="0"/>
              <a:t> social y </a:t>
            </a:r>
            <a:r>
              <a:rPr dirty="0" err="1"/>
              <a:t>protección</a:t>
            </a:r>
            <a:r>
              <a:rPr dirty="0"/>
              <a:t> </a:t>
            </a:r>
            <a:r>
              <a:rPr dirty="0" err="1"/>
              <a:t>ambiental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9355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Historia del Concepto de Sostenibilidad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3990808" cy="3630795"/>
          </a:xfrm>
        </p:spPr>
        <p:txBody>
          <a:bodyPr/>
          <a:lstStyle/>
          <a:p>
            <a:r>
              <a:rPr dirty="0"/>
              <a:t>Informe Brundtland (1987): </a:t>
            </a:r>
            <a:r>
              <a:rPr dirty="0" err="1"/>
              <a:t>Definió</a:t>
            </a:r>
            <a:r>
              <a:rPr dirty="0"/>
              <a:t> la </a:t>
            </a:r>
            <a:r>
              <a:rPr dirty="0" err="1"/>
              <a:t>sostenibilidad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'</a:t>
            </a:r>
            <a:r>
              <a:rPr dirty="0" err="1"/>
              <a:t>satisfacer</a:t>
            </a:r>
            <a:r>
              <a:rPr dirty="0"/>
              <a:t> las </a:t>
            </a:r>
            <a:r>
              <a:rPr dirty="0" err="1"/>
              <a:t>necesidades</a:t>
            </a:r>
            <a:r>
              <a:rPr dirty="0"/>
              <a:t> del </a:t>
            </a:r>
            <a:r>
              <a:rPr dirty="0" err="1"/>
              <a:t>presente</a:t>
            </a:r>
            <a:r>
              <a:rPr dirty="0"/>
              <a:t> sin </a:t>
            </a:r>
            <a:r>
              <a:rPr dirty="0" err="1"/>
              <a:t>comprometer</a:t>
            </a:r>
            <a:r>
              <a:rPr dirty="0"/>
              <a:t> la </a:t>
            </a:r>
            <a:r>
              <a:rPr dirty="0" err="1"/>
              <a:t>capacidad</a:t>
            </a:r>
            <a:r>
              <a:rPr dirty="0"/>
              <a:t> de las </a:t>
            </a:r>
            <a:r>
              <a:rPr dirty="0" err="1"/>
              <a:t>futuras</a:t>
            </a:r>
            <a:r>
              <a:rPr dirty="0"/>
              <a:t> </a:t>
            </a:r>
            <a:r>
              <a:rPr dirty="0" err="1"/>
              <a:t>generaciones</a:t>
            </a:r>
            <a:r>
              <a:rPr dirty="0"/>
              <a:t> para </a:t>
            </a:r>
            <a:r>
              <a:rPr dirty="0" err="1"/>
              <a:t>satisfacer</a:t>
            </a:r>
            <a:r>
              <a:rPr dirty="0"/>
              <a:t> las </a:t>
            </a:r>
            <a:r>
              <a:rPr dirty="0" err="1"/>
              <a:t>suyas</a:t>
            </a:r>
            <a:r>
              <a:rPr dirty="0"/>
              <a:t>.'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Análisis de los Marcos Internacionales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Agenda 2030 para el Desarrollo Sostenible:</a:t>
            </a:r>
          </a:p>
          <a:p>
            <a:r>
              <a:t>- 17 Objetivos de Desarrollo Sostenible (ODS) para erradicar la pobreza, proteger el planeta y asegurar la prosperidad.</a:t>
            </a:r>
          </a:p>
          <a:p>
            <a:r>
              <a:t>- Importancia: Marco global para la acción de gobiernos, empresas y sociedad civil.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Dividendo</Template>
  <TotalTime>15</TotalTime>
  <Words>306</Words>
  <Application>Microsoft Office PowerPoint</Application>
  <PresentationFormat>Presentación en pantalla (4:3)</PresentationFormat>
  <Paragraphs>30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Gill Sans MT</vt:lpstr>
      <vt:lpstr>Wingdings 2</vt:lpstr>
      <vt:lpstr>Dividendo</vt:lpstr>
      <vt:lpstr>Sostenibilidad y Aspectos Ambientales, Sociales y de Gobernanza (ASG)</vt:lpstr>
      <vt:lpstr>Introducción</vt:lpstr>
      <vt:lpstr>Definición de Sostenibilidad</vt:lpstr>
      <vt:lpstr>Definición de Sostenibilidad</vt:lpstr>
      <vt:lpstr>Importancia de la Sostenibilidad</vt:lpstr>
      <vt:lpstr>Marco Conceptual del Desarrollo Sostenible</vt:lpstr>
      <vt:lpstr>Marco Conceptual del Desarrollo Sostenible</vt:lpstr>
      <vt:lpstr>Historia del Concepto de Sostenibilidad</vt:lpstr>
      <vt:lpstr>Análisis de los Marcos Internacionales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Sostenibilidad y Aspectos Ambientales, Sociales y de Gobernanza (ASG)</dc:title>
  <dc:subject/>
  <dc:creator/>
  <cp:keywords/>
  <dc:description>generated using python-pptx</dc:description>
  <cp:lastModifiedBy>JAVI</cp:lastModifiedBy>
  <cp:revision>3</cp:revision>
  <dcterms:created xsi:type="dcterms:W3CDTF">2013-01-27T09:14:16Z</dcterms:created>
  <dcterms:modified xsi:type="dcterms:W3CDTF">2024-12-04T07:56:03Z</dcterms:modified>
  <cp:category/>
</cp:coreProperties>
</file>