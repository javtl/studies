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  <p:sldMasterId id="2147483744" r:id="rId2"/>
  </p:sldMasterIdLst>
  <p:notesMasterIdLst>
    <p:notesMasterId r:id="rId38"/>
  </p:notesMasterIdLst>
  <p:sldIdLst>
    <p:sldId id="256" r:id="rId3"/>
    <p:sldId id="257" r:id="rId4"/>
    <p:sldId id="318" r:id="rId5"/>
    <p:sldId id="343" r:id="rId6"/>
    <p:sldId id="317" r:id="rId7"/>
    <p:sldId id="344" r:id="rId8"/>
    <p:sldId id="322" r:id="rId9"/>
    <p:sldId id="323" r:id="rId10"/>
    <p:sldId id="341" r:id="rId11"/>
    <p:sldId id="310" r:id="rId12"/>
    <p:sldId id="324" r:id="rId13"/>
    <p:sldId id="340" r:id="rId14"/>
    <p:sldId id="319" r:id="rId15"/>
    <p:sldId id="311" r:id="rId16"/>
    <p:sldId id="346" r:id="rId17"/>
    <p:sldId id="291" r:id="rId18"/>
    <p:sldId id="312" r:id="rId19"/>
    <p:sldId id="313" r:id="rId20"/>
    <p:sldId id="342" r:id="rId21"/>
    <p:sldId id="316" r:id="rId22"/>
    <p:sldId id="329" r:id="rId23"/>
    <p:sldId id="330" r:id="rId24"/>
    <p:sldId id="331" r:id="rId25"/>
    <p:sldId id="314" r:id="rId26"/>
    <p:sldId id="326" r:id="rId27"/>
    <p:sldId id="327" r:id="rId28"/>
    <p:sldId id="294" r:id="rId29"/>
    <p:sldId id="333" r:id="rId30"/>
    <p:sldId id="334" r:id="rId31"/>
    <p:sldId id="335" r:id="rId32"/>
    <p:sldId id="336" r:id="rId33"/>
    <p:sldId id="338" r:id="rId34"/>
    <p:sldId id="337" r:id="rId35"/>
    <p:sldId id="315" r:id="rId36"/>
    <p:sldId id="339" r:id="rId3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848FF"/>
    <a:srgbClr val="0642BA"/>
    <a:srgbClr val="3B3BFF"/>
    <a:srgbClr val="00B050"/>
    <a:srgbClr val="CCF37D"/>
    <a:srgbClr val="3F4FFF"/>
    <a:srgbClr val="3474FF"/>
    <a:srgbClr val="4D27F1"/>
    <a:srgbClr val="A700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14" autoAdjust="0"/>
    <p:restoredTop sz="96283" autoAdjust="0"/>
  </p:normalViewPr>
  <p:slideViewPr>
    <p:cSldViewPr>
      <p:cViewPr varScale="1">
        <p:scale>
          <a:sx n="112" d="100"/>
          <a:sy n="112" d="100"/>
        </p:scale>
        <p:origin x="160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BDC0A3-0E28-4CC2-B50B-8FDE9CDFDE65}" type="datetimeFigureOut">
              <a:rPr lang="es-ES" smtClean="0"/>
              <a:pPr/>
              <a:t>23/10/2023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BCA29-0F5A-4277-99DE-360F10832BC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5974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185520-BDD4-43CE-8361-A6BD6040F919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8840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7FB4C5A4-987E-4A7B-A373-50769474E2E2}" type="datetime1">
              <a:rPr lang="es-ES" smtClean="0"/>
              <a:pPr/>
              <a:t>23/10/2023</a:t>
            </a:fld>
            <a:endParaRPr lang="es-E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015BF5D-6DA3-418F-823D-11A31CDAE13D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9C7B0-B7F4-45E8-86A9-D0F23F3A2981}" type="datetime1">
              <a:rPr lang="es-ES" smtClean="0"/>
              <a:pPr/>
              <a:t>23/10/2023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BF5D-6DA3-418F-823D-11A31CDAE13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B9CA-C4BB-40DD-8F07-BC8102D7435F}" type="datetime1">
              <a:rPr lang="es-ES" smtClean="0"/>
              <a:pPr/>
              <a:t>23/10/2023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BF5D-6DA3-418F-823D-11A31CDAE13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05486-AAC9-485B-83F0-4AD098CF49A2}" type="datetime1">
              <a:rPr lang="es-ES" smtClean="0"/>
              <a:pPr/>
              <a:t>23/10/2023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BF5D-6DA3-418F-823D-11A31CDAE13D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8AC2-DC0E-4A52-B67D-D56CC554B1D2}" type="datetime1">
              <a:rPr lang="es-ES" smtClean="0"/>
              <a:pPr/>
              <a:t>23/10/2023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BF5D-6DA3-418F-823D-11A31CDAE13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D2EB9-4F9F-422B-96FA-D02C7459BD43}" type="datetime1">
              <a:rPr lang="es-ES" smtClean="0"/>
              <a:pPr/>
              <a:t>23/10/2023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BF5D-6DA3-418F-823D-11A31CDAE13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C5973-F15E-4B6C-B5AC-53A2D09BF98B}" type="datetime1">
              <a:rPr lang="es-ES" smtClean="0"/>
              <a:pPr/>
              <a:t>23/10/2023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BF5D-6DA3-418F-823D-11A31CDAE13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E0F3-A46B-4270-A5F9-8FC0176E1F97}" type="datetime1">
              <a:rPr lang="es-ES" smtClean="0"/>
              <a:pPr/>
              <a:t>23/10/2023</a:t>
            </a:fld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BF5D-6DA3-418F-823D-11A31CDAE13D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1DDEF-409C-4089-B80E-866B14E47315}" type="datetime1">
              <a:rPr lang="es-ES" smtClean="0"/>
              <a:pPr/>
              <a:t>23/10/2023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BF5D-6DA3-418F-823D-11A31CDAE13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89A7-9F53-4B0C-A068-74340769C9F7}" type="datetime1">
              <a:rPr lang="es-ES" smtClean="0"/>
              <a:pPr/>
              <a:t>23/10/2023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BF5D-6DA3-418F-823D-11A31CDAE13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5B23-D0B8-4618-9D34-BE0F5FD991C6}" type="datetime1">
              <a:rPr lang="es-ES" smtClean="0"/>
              <a:pPr/>
              <a:t>23/10/2023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BF5D-6DA3-418F-823D-11A31CDAE13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 bwMode="lt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41"/>
          <p:cNvSpPr>
            <a:spLocks noChangeArrowheads="1"/>
          </p:cNvSpPr>
          <p:nvPr/>
        </p:nvSpPr>
        <p:spPr bwMode="gray">
          <a:xfrm>
            <a:off x="0" y="2708275"/>
            <a:ext cx="9144000" cy="874713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2857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_tradnl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0" y="2720975"/>
            <a:ext cx="9144000" cy="817563"/>
          </a:xfrm>
        </p:spPr>
        <p:txBody>
          <a:bodyPr/>
          <a:lstStyle>
            <a:lvl1pPr>
              <a:defRPr sz="46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990600" y="2176463"/>
            <a:ext cx="7086600" cy="436562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90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3086" name="Text Box 14"/>
          <p:cNvSpPr txBox="1">
            <a:spLocks noChangeArrowheads="1"/>
          </p:cNvSpPr>
          <p:nvPr/>
        </p:nvSpPr>
        <p:spPr bwMode="black">
          <a:xfrm>
            <a:off x="381000" y="271463"/>
            <a:ext cx="10890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5782" tIns="47891" rIns="95782" bIns="47891">
            <a:spAutoFit/>
          </a:bodyPr>
          <a:lstStyle/>
          <a:p>
            <a:pPr defTabSz="957263"/>
            <a:r>
              <a:rPr lang="en-US" sz="2100" b="1">
                <a:solidFill>
                  <a:schemeClr val="bg1"/>
                </a:solidFill>
                <a:latin typeface="Verdana" pitchFamily="34" charset="0"/>
              </a:rPr>
              <a:t>LOGO</a:t>
            </a:r>
          </a:p>
        </p:txBody>
      </p:sp>
      <p:grpSp>
        <p:nvGrpSpPr>
          <p:cNvPr id="3114" name="Group 42"/>
          <p:cNvGrpSpPr>
            <a:grpSpLocks/>
          </p:cNvGrpSpPr>
          <p:nvPr/>
        </p:nvGrpSpPr>
        <p:grpSpPr bwMode="auto">
          <a:xfrm>
            <a:off x="-11113" y="-12700"/>
            <a:ext cx="9175751" cy="6870700"/>
            <a:chOff x="-7" y="-8"/>
            <a:chExt cx="5780" cy="4328"/>
          </a:xfrm>
        </p:grpSpPr>
        <p:sp>
          <p:nvSpPr>
            <p:cNvPr id="3108" name="AutoShape 36"/>
            <p:cNvSpPr>
              <a:spLocks noChangeArrowheads="1"/>
            </p:cNvSpPr>
            <p:nvPr/>
          </p:nvSpPr>
          <p:spPr bwMode="gray">
            <a:xfrm>
              <a:off x="17" y="16"/>
              <a:ext cx="5729" cy="42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_tradnl"/>
            </a:p>
          </p:txBody>
        </p:sp>
        <p:sp>
          <p:nvSpPr>
            <p:cNvPr id="3109" name="Freeform 37"/>
            <p:cNvSpPr>
              <a:spLocks/>
            </p:cNvSpPr>
            <p:nvPr/>
          </p:nvSpPr>
          <p:spPr bwMode="gray">
            <a:xfrm>
              <a:off x="-3" y="-8"/>
              <a:ext cx="295" cy="289"/>
            </a:xfrm>
            <a:custGeom>
              <a:avLst/>
              <a:gdLst/>
              <a:ahLst/>
              <a:cxnLst>
                <a:cxn ang="0">
                  <a:pos x="3" y="395"/>
                </a:cxn>
                <a:cxn ang="0">
                  <a:pos x="74" y="216"/>
                </a:cxn>
                <a:cxn ang="0">
                  <a:pos x="231" y="50"/>
                </a:cxn>
                <a:cxn ang="0">
                  <a:pos x="403" y="0"/>
                </a:cxn>
                <a:cxn ang="0">
                  <a:pos x="0" y="0"/>
                </a:cxn>
              </a:cxnLst>
              <a:rect l="0" t="0" r="r" b="b"/>
              <a:pathLst>
                <a:path w="403" h="395">
                  <a:moveTo>
                    <a:pt x="3" y="395"/>
                  </a:moveTo>
                  <a:lnTo>
                    <a:pt x="74" y="216"/>
                  </a:lnTo>
                  <a:lnTo>
                    <a:pt x="231" y="50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110" name="Freeform 38"/>
            <p:cNvSpPr>
              <a:spLocks/>
            </p:cNvSpPr>
            <p:nvPr/>
          </p:nvSpPr>
          <p:spPr bwMode="gray">
            <a:xfrm>
              <a:off x="-7" y="3982"/>
              <a:ext cx="287" cy="338"/>
            </a:xfrm>
            <a:custGeom>
              <a:avLst/>
              <a:gdLst/>
              <a:ahLst/>
              <a:cxnLst>
                <a:cxn ang="0">
                  <a:pos x="391" y="473"/>
                </a:cxn>
                <a:cxn ang="0">
                  <a:pos x="151" y="353"/>
                </a:cxn>
                <a:cxn ang="0">
                  <a:pos x="42" y="201"/>
                </a:cxn>
                <a:cxn ang="0">
                  <a:pos x="0" y="0"/>
                </a:cxn>
                <a:cxn ang="0">
                  <a:pos x="1" y="470"/>
                </a:cxn>
              </a:cxnLst>
              <a:rect l="0" t="0" r="r" b="b"/>
              <a:pathLst>
                <a:path w="391" h="473">
                  <a:moveTo>
                    <a:pt x="391" y="473"/>
                  </a:moveTo>
                  <a:lnTo>
                    <a:pt x="151" y="353"/>
                  </a:lnTo>
                  <a:lnTo>
                    <a:pt x="42" y="201"/>
                  </a:lnTo>
                  <a:lnTo>
                    <a:pt x="0" y="0"/>
                  </a:lnTo>
                  <a:lnTo>
                    <a:pt x="1" y="47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111" name="Freeform 39"/>
            <p:cNvSpPr>
              <a:spLocks/>
            </p:cNvSpPr>
            <p:nvPr/>
          </p:nvSpPr>
          <p:spPr bwMode="gray">
            <a:xfrm>
              <a:off x="5499" y="4026"/>
              <a:ext cx="274" cy="287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112" name="Freeform 40"/>
            <p:cNvSpPr>
              <a:spLocks/>
            </p:cNvSpPr>
            <p:nvPr/>
          </p:nvSpPr>
          <p:spPr bwMode="gray">
            <a:xfrm>
              <a:off x="5467" y="0"/>
              <a:ext cx="302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1" y="96"/>
                </a:cxn>
                <a:cxn ang="0">
                  <a:pos x="353" y="231"/>
                </a:cxn>
                <a:cxn ang="0">
                  <a:pos x="403" y="403"/>
                </a:cxn>
                <a:cxn ang="0">
                  <a:pos x="403" y="0"/>
                </a:cxn>
              </a:cxnLst>
              <a:rect l="0" t="0" r="r" b="b"/>
              <a:pathLst>
                <a:path w="403" h="403">
                  <a:moveTo>
                    <a:pt x="0" y="0"/>
                  </a:moveTo>
                  <a:lnTo>
                    <a:pt x="221" y="96"/>
                  </a:lnTo>
                  <a:lnTo>
                    <a:pt x="353" y="231"/>
                  </a:lnTo>
                  <a:lnTo>
                    <a:pt x="403" y="403"/>
                  </a:lnTo>
                  <a:lnTo>
                    <a:pt x="403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059436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887F2F-D84F-49E8-92C0-81A9CCDA91DE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97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9A2EA4E-F381-4237-80AC-C8AF6C69718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18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7B66833-B1F0-45CB-B398-6EDA9DBC9FE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54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6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8" name="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4A5292C-1B6C-47FE-8D88-7B0ED98FE01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92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F688E5-8CCA-4D17-A940-E6FA7F1401A8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704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5E55B1B-857F-4004-9316-7F6102C80E79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341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591113-4DF9-4207-B354-F7DBCABC1F7C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17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77F1127-E1F9-4D92-A6E2-A7BE16F966DB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5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65B1C1-1726-41E2-A63B-7509ACE02D3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812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53975"/>
            <a:ext cx="2057400" cy="62706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3975"/>
            <a:ext cx="6019800" cy="62706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2B43AA5-9846-44A7-8908-462C8D439EEE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831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5" y="53975"/>
            <a:ext cx="7392988" cy="563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r>
              <a:rPr lang="es-ES"/>
              <a:t>Haga clic en el icono para agregar una tabla</a:t>
            </a:r>
            <a:endParaRPr lang="es-ES_tradn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6084888" y="6450013"/>
            <a:ext cx="2897187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107950" y="6454775"/>
            <a:ext cx="927100" cy="239713"/>
          </a:xfrm>
        </p:spPr>
        <p:txBody>
          <a:bodyPr/>
          <a:lstStyle>
            <a:lvl1pPr>
              <a:defRPr/>
            </a:lvl1pPr>
          </a:lstStyle>
          <a:p>
            <a:fld id="{DA5BAF1C-BAC2-488A-AD50-A6E00D2A9A0D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73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3D3CC5CE-E547-4A6C-8D08-6E821E10D641}" type="datetime1">
              <a:rPr lang="es-ES" smtClean="0"/>
              <a:pPr/>
              <a:t>23/10/2023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8015BF5D-6DA3-418F-823D-11A31CDAE13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 descr="29641"/>
          <p:cNvSpPr>
            <a:spLocks/>
          </p:cNvSpPr>
          <p:nvPr/>
        </p:nvSpPr>
        <p:spPr bwMode="gray">
          <a:xfrm>
            <a:off x="36513" y="80963"/>
            <a:ext cx="9077325" cy="1595437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576" y="560"/>
              </a:cxn>
              <a:cxn ang="0">
                <a:pos x="1403" y="390"/>
              </a:cxn>
              <a:cxn ang="0">
                <a:pos x="2452" y="314"/>
              </a:cxn>
              <a:cxn ang="0">
                <a:pos x="3102" y="326"/>
              </a:cxn>
              <a:cxn ang="0">
                <a:pos x="4043" y="434"/>
              </a:cxn>
              <a:cxn ang="0">
                <a:pos x="4944" y="668"/>
              </a:cxn>
              <a:cxn ang="0">
                <a:pos x="5691" y="971"/>
              </a:cxn>
              <a:cxn ang="0">
                <a:pos x="5718" y="19"/>
              </a:cxn>
              <a:cxn ang="0">
                <a:pos x="9" y="0"/>
              </a:cxn>
            </a:cxnLst>
            <a:rect l="0" t="0" r="r" b="b"/>
            <a:pathLst>
              <a:path w="5718" h="1005">
                <a:moveTo>
                  <a:pt x="0" y="756"/>
                </a:moveTo>
                <a:cubicBezTo>
                  <a:pt x="96" y="724"/>
                  <a:pt x="297" y="635"/>
                  <a:pt x="576" y="560"/>
                </a:cubicBezTo>
                <a:cubicBezTo>
                  <a:pt x="855" y="485"/>
                  <a:pt x="1037" y="442"/>
                  <a:pt x="1403" y="390"/>
                </a:cubicBezTo>
                <a:cubicBezTo>
                  <a:pt x="1769" y="337"/>
                  <a:pt x="2154" y="320"/>
                  <a:pt x="2452" y="314"/>
                </a:cubicBezTo>
                <a:lnTo>
                  <a:pt x="3102" y="326"/>
                </a:lnTo>
                <a:cubicBezTo>
                  <a:pt x="3367" y="346"/>
                  <a:pt x="3736" y="377"/>
                  <a:pt x="4043" y="434"/>
                </a:cubicBezTo>
                <a:cubicBezTo>
                  <a:pt x="4350" y="490"/>
                  <a:pt x="4669" y="578"/>
                  <a:pt x="4944" y="668"/>
                </a:cubicBezTo>
                <a:cubicBezTo>
                  <a:pt x="5219" y="757"/>
                  <a:pt x="5679" y="1005"/>
                  <a:pt x="5691" y="971"/>
                </a:cubicBezTo>
                <a:cubicBezTo>
                  <a:pt x="5695" y="964"/>
                  <a:pt x="5718" y="25"/>
                  <a:pt x="5718" y="19"/>
                </a:cubicBezTo>
                <a:cubicBezTo>
                  <a:pt x="5718" y="7"/>
                  <a:pt x="1198" y="4"/>
                  <a:pt x="9" y="0"/>
                </a:cubicBezTo>
              </a:path>
            </a:pathLst>
          </a:custGeom>
          <a:blipFill dpi="0" rotWithShape="1">
            <a:blip r:embed="rId15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_tradnl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4888" y="6450013"/>
            <a:ext cx="2897187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 b="1">
                <a:latin typeface="+mn-lt"/>
              </a:defRPr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54775"/>
            <a:ext cx="927100" cy="2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ctr" defTabSz="957263">
              <a:defRPr sz="1300" b="1">
                <a:latin typeface="+mn-lt"/>
              </a:defRPr>
            </a:lvl1pPr>
          </a:lstStyle>
          <a:p>
            <a:fld id="{4772498A-98AF-4173-9971-53E03A109E91}" type="slidenum">
              <a:rPr lang="en-US"/>
              <a:pPr/>
              <a:t>‹Nº›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42925" y="53975"/>
            <a:ext cx="7392988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grpSp>
        <p:nvGrpSpPr>
          <p:cNvPr id="1040" name="Group 16"/>
          <p:cNvGrpSpPr>
            <a:grpSpLocks/>
          </p:cNvGrpSpPr>
          <p:nvPr/>
        </p:nvGrpSpPr>
        <p:grpSpPr bwMode="auto">
          <a:xfrm>
            <a:off x="-1588" y="0"/>
            <a:ext cx="9145588" cy="6858000"/>
            <a:chOff x="-1" y="0"/>
            <a:chExt cx="8065" cy="6048"/>
          </a:xfrm>
        </p:grpSpPr>
        <p:sp>
          <p:nvSpPr>
            <p:cNvPr id="1041" name="Freeform 17"/>
            <p:cNvSpPr>
              <a:spLocks/>
            </p:cNvSpPr>
            <p:nvPr/>
          </p:nvSpPr>
          <p:spPr bwMode="gray">
            <a:xfrm>
              <a:off x="-1" y="5629"/>
              <a:ext cx="389" cy="417"/>
            </a:xfrm>
            <a:custGeom>
              <a:avLst/>
              <a:gdLst/>
              <a:ahLst/>
              <a:cxnLst>
                <a:cxn ang="0">
                  <a:pos x="314" y="416"/>
                </a:cxn>
                <a:cxn ang="0">
                  <a:pos x="389" y="417"/>
                </a:cxn>
                <a:cxn ang="0">
                  <a:pos x="158" y="297"/>
                </a:cxn>
                <a:cxn ang="0">
                  <a:pos x="39" y="179"/>
                </a:cxn>
                <a:cxn ang="0">
                  <a:pos x="0" y="0"/>
                </a:cxn>
                <a:cxn ang="0">
                  <a:pos x="1" y="417"/>
                </a:cxn>
              </a:cxnLst>
              <a:rect l="0" t="0" r="r" b="b"/>
              <a:pathLst>
                <a:path w="389" h="417">
                  <a:moveTo>
                    <a:pt x="314" y="416"/>
                  </a:moveTo>
                  <a:lnTo>
                    <a:pt x="389" y="417"/>
                  </a:lnTo>
                  <a:lnTo>
                    <a:pt x="158" y="297"/>
                  </a:lnTo>
                  <a:lnTo>
                    <a:pt x="39" y="179"/>
                  </a:lnTo>
                  <a:lnTo>
                    <a:pt x="0" y="0"/>
                  </a:lnTo>
                  <a:lnTo>
                    <a:pt x="1" y="417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gray">
            <a:xfrm>
              <a:off x="7701" y="5645"/>
              <a:ext cx="363" cy="403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43" name="AutoShape 19"/>
            <p:cNvSpPr>
              <a:spLocks noChangeArrowheads="1"/>
            </p:cNvSpPr>
            <p:nvPr/>
          </p:nvSpPr>
          <p:spPr bwMode="gray">
            <a:xfrm>
              <a:off x="25" y="42"/>
              <a:ext cx="8012" cy="59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_tradnl"/>
            </a:p>
          </p:txBody>
        </p:sp>
        <p:sp>
          <p:nvSpPr>
            <p:cNvPr id="1044" name="Freeform 20"/>
            <p:cNvSpPr>
              <a:spLocks/>
            </p:cNvSpPr>
            <p:nvPr/>
          </p:nvSpPr>
          <p:spPr bwMode="gray">
            <a:xfrm>
              <a:off x="-1" y="13"/>
              <a:ext cx="405" cy="441"/>
            </a:xfrm>
            <a:custGeom>
              <a:avLst/>
              <a:gdLst/>
              <a:ahLst/>
              <a:cxnLst>
                <a:cxn ang="0">
                  <a:pos x="2" y="441"/>
                </a:cxn>
                <a:cxn ang="0">
                  <a:pos x="107" y="175"/>
                </a:cxn>
                <a:cxn ang="0">
                  <a:pos x="387" y="0"/>
                </a:cxn>
                <a:cxn ang="0">
                  <a:pos x="1" y="0"/>
                </a:cxn>
              </a:cxnLst>
              <a:rect l="0" t="0" r="r" b="b"/>
              <a:pathLst>
                <a:path w="405" h="441">
                  <a:moveTo>
                    <a:pt x="2" y="441"/>
                  </a:moveTo>
                  <a:cubicBezTo>
                    <a:pt x="19" y="397"/>
                    <a:pt x="0" y="345"/>
                    <a:pt x="107" y="175"/>
                  </a:cubicBezTo>
                  <a:cubicBezTo>
                    <a:pt x="214" y="6"/>
                    <a:pt x="405" y="16"/>
                    <a:pt x="387" y="0"/>
                  </a:cubicBezTo>
                  <a:lnTo>
                    <a:pt x="1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gray">
            <a:xfrm>
              <a:off x="7588" y="0"/>
              <a:ext cx="470" cy="48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42" y="150"/>
                </a:cxn>
                <a:cxn ang="0">
                  <a:pos x="470" y="461"/>
                </a:cxn>
                <a:cxn ang="0">
                  <a:pos x="470" y="0"/>
                </a:cxn>
              </a:cxnLst>
              <a:rect l="0" t="0" r="r" b="b"/>
              <a:pathLst>
                <a:path w="470" h="483">
                  <a:moveTo>
                    <a:pt x="0" y="4"/>
                  </a:moveTo>
                  <a:cubicBezTo>
                    <a:pt x="57" y="28"/>
                    <a:pt x="264" y="74"/>
                    <a:pt x="342" y="150"/>
                  </a:cubicBezTo>
                  <a:cubicBezTo>
                    <a:pt x="450" y="275"/>
                    <a:pt x="452" y="483"/>
                    <a:pt x="470" y="461"/>
                  </a:cubicBezTo>
                  <a:lnTo>
                    <a:pt x="47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_tradnl"/>
            </a:p>
          </p:txBody>
        </p:sp>
      </p:grpSp>
      <p:sp>
        <p:nvSpPr>
          <p:cNvPr id="1046" name="Line 22"/>
          <p:cNvSpPr>
            <a:spLocks noChangeShapeType="1"/>
          </p:cNvSpPr>
          <p:nvPr/>
        </p:nvSpPr>
        <p:spPr bwMode="gray">
          <a:xfrm>
            <a:off x="323850" y="6500813"/>
            <a:ext cx="8569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032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hf sldNum="0" hdr="0" dt="0"/>
  <p:txStyles>
    <p:titleStyle>
      <a:lvl1pPr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+mj-lt"/>
          <a:ea typeface="+mj-ea"/>
          <a:cs typeface="+mj-cs"/>
        </a:defRPr>
      </a:lvl1pPr>
      <a:lvl2pPr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2pPr>
      <a:lvl3pPr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3pPr>
      <a:lvl4pPr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4pPr>
      <a:lvl5pPr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5pPr>
      <a:lvl6pPr marL="4572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6pPr>
      <a:lvl7pPr marL="9144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7pPr>
      <a:lvl8pPr marL="13716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8pPr>
      <a:lvl9pPr marL="18288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9pPr>
    </p:titleStyle>
    <p:bodyStyle>
      <a:lvl1pPr marL="358775" indent="-358775" algn="l" defTabSz="957263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77875" indent="-298450" algn="l" defTabSz="957263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100">
          <a:solidFill>
            <a:schemeClr val="tx1"/>
          </a:solidFill>
          <a:latin typeface="+mj-lt"/>
        </a:defRPr>
      </a:lvl2pPr>
      <a:lvl3pPr marL="1196975" indent="-239713" algn="l" defTabSz="957263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j-lt"/>
        </a:defRPr>
      </a:lvl3pPr>
      <a:lvl4pPr marL="1676400" indent="-239713" algn="l" defTabSz="957263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j-lt"/>
        </a:defRPr>
      </a:lvl4pPr>
      <a:lvl5pPr marL="21542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5pPr>
      <a:lvl6pPr marL="26114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6pPr>
      <a:lvl7pPr marL="30686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7pPr>
      <a:lvl8pPr marL="35258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8pPr>
      <a:lvl9pPr marL="39830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aasradar.net/mejores-software-xml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di002.edv.uniovi.es/~labra/cursos/XML/showNamespaces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todoxmldtd/referencia/referencia-para-descripciones-xml/referencia-de-xsds-xml-schema/2-espacios-de-nombres" TargetMode="External"/><Relationship Id="rId2" Type="http://schemas.openxmlformats.org/officeDocument/2006/relationships/hyperlink" Target="https://www.abrirllave.com/xml/espacios-de-nombres.php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validator.w3.org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439035" cy="1702160"/>
          </a:xfrm>
        </p:spPr>
        <p:txBody>
          <a:bodyPr>
            <a:normAutofit/>
          </a:bodyPr>
          <a:lstStyle/>
          <a:p>
            <a:r>
              <a:rPr lang="es-ES" sz="3400" b="1" dirty="0"/>
              <a:t>UNIDAD 2: XML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b="1" i="1" dirty="0"/>
              <a:t>LENGUAJES DE MARCAS Y SISTEMAS DE GESTIÓN DE INFORMACIÓN</a:t>
            </a:r>
          </a:p>
        </p:txBody>
      </p:sp>
    </p:spTree>
    <p:extLst>
      <p:ext uri="{BB962C8B-B14F-4D97-AF65-F5344CB8AC3E}">
        <p14:creationId xmlns:p14="http://schemas.microsoft.com/office/powerpoint/2010/main" val="3107469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ÍNDICE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68580" indent="0">
              <a:buNone/>
            </a:pPr>
            <a:r>
              <a:rPr lang="es-ES" b="1" dirty="0"/>
              <a:t>UN EJEMPLO</a:t>
            </a:r>
          </a:p>
          <a:p>
            <a:pPr marL="68580" indent="0">
              <a:buNone/>
            </a:pPr>
            <a:r>
              <a:rPr lang="es-ES" b="1" dirty="0"/>
              <a:t>PROPIEDADES</a:t>
            </a:r>
          </a:p>
          <a:p>
            <a:pPr marL="68580" indent="0">
              <a:buNone/>
            </a:pPr>
            <a:r>
              <a:rPr lang="es-ES" b="1" dirty="0"/>
              <a:t>ESTRUCTURA DEL DOCUMENTO</a:t>
            </a:r>
          </a:p>
          <a:p>
            <a:pPr marL="68580" indent="0">
              <a:buNone/>
            </a:pPr>
            <a:r>
              <a:rPr lang="es-ES" b="1" dirty="0"/>
              <a:t>VISUALIZACIÓN</a:t>
            </a:r>
          </a:p>
          <a:p>
            <a:pPr marL="68580" indent="0">
              <a:buNone/>
            </a:pPr>
            <a:r>
              <a:rPr lang="es-ES" b="1" dirty="0"/>
              <a:t>OBJETIVOS</a:t>
            </a:r>
          </a:p>
          <a:p>
            <a:pPr marL="68580" indent="0">
              <a:buNone/>
            </a:pPr>
            <a:r>
              <a:rPr lang="es-ES" b="1" dirty="0"/>
              <a:t>MODELO DE DATOS. NODOS</a:t>
            </a:r>
          </a:p>
          <a:p>
            <a:pPr marL="68580" indent="0">
              <a:buNone/>
            </a:pPr>
            <a:r>
              <a:rPr lang="es-ES" b="1" dirty="0"/>
              <a:t>NOMBRES XML</a:t>
            </a:r>
          </a:p>
          <a:p>
            <a:pPr marL="68580" indent="0">
              <a:buNone/>
            </a:pPr>
            <a:r>
              <a:rPr lang="es-ES" b="1" dirty="0"/>
              <a:t>ELEMENTOS FRENTE A ATRIBUTOS</a:t>
            </a:r>
          </a:p>
          <a:p>
            <a:pPr marL="68580" indent="0">
              <a:buNone/>
            </a:pPr>
            <a:r>
              <a:rPr lang="es-ES" b="1" dirty="0"/>
              <a:t>DOCUMENTOS BIEN FORMADOS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8013BA8F-4924-43BC-B9E0-064709C16D28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37106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4048" y="-27384"/>
            <a:ext cx="2808312" cy="817160"/>
          </a:xfrm>
        </p:spPr>
        <p:txBody>
          <a:bodyPr anchor="t" anchorCtr="0">
            <a:normAutofit/>
          </a:bodyPr>
          <a:lstStyle/>
          <a:p>
            <a:pPr algn="ctr"/>
            <a:r>
              <a:rPr lang="es-ES" sz="3200" b="1" dirty="0"/>
              <a:t>Un ejemplo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AB84712-4985-42EB-B52B-9CF2A33B1F9E}" type="slidenum">
              <a:rPr lang="es-ES" smtClean="0"/>
              <a:pPr/>
              <a:t>3</a:t>
            </a:fld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7DC6A55-A537-3FB5-6841-F0858EE8E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8660" y="2138852"/>
            <a:ext cx="7585575" cy="38714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A5914B0-7D82-F53F-71B1-7E311C66C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612174"/>
            <a:ext cx="1168106" cy="1168106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DEFA184-3DF9-3379-AD8F-CCA2FD7D942C}"/>
              </a:ext>
            </a:extLst>
          </p:cNvPr>
          <p:cNvSpPr txBox="1">
            <a:spLocks/>
          </p:cNvSpPr>
          <p:nvPr/>
        </p:nvSpPr>
        <p:spPr>
          <a:xfrm>
            <a:off x="5580112" y="647154"/>
            <a:ext cx="1888911" cy="81716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200" b="1" dirty="0"/>
              <a:t>de XML</a:t>
            </a:r>
          </a:p>
        </p:txBody>
      </p:sp>
    </p:spTree>
    <p:extLst>
      <p:ext uri="{BB962C8B-B14F-4D97-AF65-F5344CB8AC3E}">
        <p14:creationId xmlns:p14="http://schemas.microsoft.com/office/powerpoint/2010/main" val="2798468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817160"/>
          </a:xfrm>
        </p:spPr>
        <p:txBody>
          <a:bodyPr anchor="t" anchorCtr="0">
            <a:normAutofit/>
          </a:bodyPr>
          <a:lstStyle/>
          <a:p>
            <a:r>
              <a:rPr lang="es-ES" sz="3200" b="1" dirty="0"/>
              <a:t>Un ejemplo de XML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43490" y="1844824"/>
            <a:ext cx="7272924" cy="3771781"/>
          </a:xfrm>
        </p:spPr>
        <p:txBody>
          <a:bodyPr>
            <a:normAutofit/>
          </a:bodyPr>
          <a:lstStyle/>
          <a:p>
            <a:pPr marL="68580" indent="0">
              <a:buNone/>
            </a:pPr>
            <a:endParaRPr lang="es-ES" b="1" dirty="0">
              <a:solidFill>
                <a:srgbClr val="002060"/>
              </a:solidFill>
            </a:endParaRPr>
          </a:p>
          <a:p>
            <a:pPr marL="68580" indent="0">
              <a:buNone/>
            </a:pPr>
            <a:r>
              <a:rPr lang="pt-BR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&lt;?</a:t>
            </a:r>
            <a:r>
              <a:rPr lang="pt-BR" sz="2000" dirty="0" err="1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xml</a:t>
            </a:r>
            <a:r>
              <a:rPr lang="pt-BR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2000" dirty="0" err="1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version</a:t>
            </a:r>
            <a:r>
              <a:rPr lang="pt-BR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="1.0"?&gt;</a:t>
            </a:r>
          </a:p>
          <a:p>
            <a:pPr marL="68580" indent="0">
              <a:buNone/>
            </a:pPr>
            <a:r>
              <a:rPr lang="pt-BR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marL="68580" indent="0">
              <a:buNone/>
            </a:pPr>
            <a:r>
              <a:rPr lang="pt-BR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&lt;poema&gt;</a:t>
            </a:r>
          </a:p>
          <a:p>
            <a:pPr marL="68580" indent="0">
              <a:buNone/>
            </a:pPr>
            <a:r>
              <a:rPr lang="es-E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l-PL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</a:t>
            </a:r>
            <a:r>
              <a:rPr lang="es-ES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titulo</a:t>
            </a:r>
            <a:r>
              <a:rPr lang="pl-PL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&gt;</a:t>
            </a:r>
            <a:r>
              <a:rPr lang="es-ES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l-PL" sz="20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Alba</a:t>
            </a:r>
            <a:r>
              <a:rPr lang="es-ES" sz="20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s-ES" sz="2000" i="1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</a:t>
            </a:r>
            <a:r>
              <a:rPr lang="pl-PL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/</a:t>
            </a:r>
            <a:r>
              <a:rPr lang="es-ES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titulo&gt;</a:t>
            </a:r>
            <a:endParaRPr lang="pl-PL" sz="2000" dirty="0">
              <a:solidFill>
                <a:srgbClr val="0070C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68580" indent="0">
              <a:buNone/>
            </a:pPr>
            <a:r>
              <a:rPr lang="pt-BR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t-BR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&lt;verso&gt; </a:t>
            </a:r>
            <a:r>
              <a:rPr lang="pt-BR" sz="20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Mi </a:t>
            </a:r>
            <a:r>
              <a:rPr lang="pt-BR" sz="20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corazón</a:t>
            </a:r>
            <a:r>
              <a:rPr lang="pt-BR" sz="20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oprimido </a:t>
            </a:r>
            <a:r>
              <a:rPr lang="pt-BR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&lt;/verso&gt;</a:t>
            </a:r>
          </a:p>
          <a:p>
            <a:pPr marL="68580" indent="0">
              <a:buNone/>
            </a:pPr>
            <a:r>
              <a:rPr lang="pt-BR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t-BR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&lt;verso&gt; </a:t>
            </a:r>
            <a:r>
              <a:rPr lang="pt-BR" sz="20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siente</a:t>
            </a:r>
            <a:r>
              <a:rPr lang="pt-BR" sz="20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junto a </a:t>
            </a:r>
            <a:r>
              <a:rPr lang="pt-BR" sz="20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</a:t>
            </a:r>
            <a:r>
              <a:rPr lang="pt-BR" sz="20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20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alborada</a:t>
            </a:r>
            <a:r>
              <a:rPr lang="pt-BR" sz="20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&lt;/verso&gt;</a:t>
            </a:r>
          </a:p>
          <a:p>
            <a:pPr marL="68580" indent="0">
              <a:buNone/>
            </a:pPr>
            <a:r>
              <a:rPr lang="pt-BR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t-BR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&lt;verso&gt; </a:t>
            </a:r>
            <a:r>
              <a:rPr lang="pt-BR" sz="20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</a:t>
            </a:r>
            <a:r>
              <a:rPr lang="pt-BR" sz="20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20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dolor</a:t>
            </a:r>
            <a:r>
              <a:rPr lang="pt-BR" sz="20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sus amores . . .</a:t>
            </a:r>
            <a:r>
              <a:rPr lang="pt-BR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&lt;/verso&gt;</a:t>
            </a:r>
          </a:p>
          <a:p>
            <a:pPr marL="68580" indent="0">
              <a:buNone/>
            </a:pPr>
            <a:r>
              <a:rPr lang="es-E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s-ES" sz="20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&lt;/poema&gt;</a:t>
            </a:r>
            <a:endParaRPr lang="es-ES" sz="2000" dirty="0">
              <a:solidFill>
                <a:srgbClr val="0070C0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7812358" y="5352526"/>
            <a:ext cx="272624" cy="365125"/>
          </a:xfrm>
        </p:spPr>
        <p:txBody>
          <a:bodyPr/>
          <a:lstStyle/>
          <a:p>
            <a:fld id="{0AB84712-4985-42EB-B52B-9CF2A33B1F9E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8" name="4 Llamada rectangular redondeada"/>
          <p:cNvSpPr/>
          <p:nvPr/>
        </p:nvSpPr>
        <p:spPr>
          <a:xfrm>
            <a:off x="3347862" y="2636912"/>
            <a:ext cx="2304256" cy="500646"/>
          </a:xfrm>
          <a:prstGeom prst="wedgeRoundRectCallout">
            <a:avLst>
              <a:gd name="adj1" fmla="val -88043"/>
              <a:gd name="adj2" fmla="val 62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Etiqueta - marca</a:t>
            </a:r>
          </a:p>
        </p:txBody>
      </p:sp>
      <p:sp>
        <p:nvSpPr>
          <p:cNvPr id="5" name="4 Llamada rectangular redondeada">
            <a:extLst>
              <a:ext uri="{FF2B5EF4-FFF2-40B4-BE49-F238E27FC236}">
                <a16:creationId xmlns:a16="http://schemas.microsoft.com/office/drawing/2014/main" id="{B12A6AF8-6845-C7F5-9244-E4FC0D1699ED}"/>
              </a:ext>
            </a:extLst>
          </p:cNvPr>
          <p:cNvSpPr/>
          <p:nvPr/>
        </p:nvSpPr>
        <p:spPr>
          <a:xfrm>
            <a:off x="4317121" y="5318052"/>
            <a:ext cx="1118973" cy="500646"/>
          </a:xfrm>
          <a:prstGeom prst="wedgeRoundRectCallout">
            <a:avLst>
              <a:gd name="adj1" fmla="val -25179"/>
              <a:gd name="adj2" fmla="val -14546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texto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E33FC7AD-95A6-363B-2923-8F99E82FEE8B}"/>
              </a:ext>
            </a:extLst>
          </p:cNvPr>
          <p:cNvGrpSpPr/>
          <p:nvPr/>
        </p:nvGrpSpPr>
        <p:grpSpPr>
          <a:xfrm>
            <a:off x="5819459" y="2697565"/>
            <a:ext cx="2580626" cy="369332"/>
            <a:chOff x="5819461" y="2913589"/>
            <a:chExt cx="2580626" cy="369332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71356AE2-C7C6-A87A-99AB-ECD439BDE073}"/>
                </a:ext>
              </a:extLst>
            </p:cNvPr>
            <p:cNvSpPr txBox="1"/>
            <p:nvPr/>
          </p:nvSpPr>
          <p:spPr>
            <a:xfrm>
              <a:off x="6167723" y="2913589"/>
              <a:ext cx="2232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Meta-Información</a:t>
              </a:r>
            </a:p>
          </p:txBody>
        </p:sp>
        <p:sp>
          <p:nvSpPr>
            <p:cNvPr id="10" name="Flecha: a la derecha 9">
              <a:extLst>
                <a:ext uri="{FF2B5EF4-FFF2-40B4-BE49-F238E27FC236}">
                  <a16:creationId xmlns:a16="http://schemas.microsoft.com/office/drawing/2014/main" id="{74BAF506-D348-6068-E117-96FA609D8674}"/>
                </a:ext>
              </a:extLst>
            </p:cNvPr>
            <p:cNvSpPr/>
            <p:nvPr/>
          </p:nvSpPr>
          <p:spPr>
            <a:xfrm>
              <a:off x="5819461" y="2989782"/>
              <a:ext cx="288032" cy="25478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0215345-76A2-F312-99AE-BD8F32D6B795}"/>
              </a:ext>
            </a:extLst>
          </p:cNvPr>
          <p:cNvGrpSpPr/>
          <p:nvPr/>
        </p:nvGrpSpPr>
        <p:grpSpPr>
          <a:xfrm>
            <a:off x="5568447" y="5362248"/>
            <a:ext cx="1863061" cy="369332"/>
            <a:chOff x="5568449" y="5578272"/>
            <a:chExt cx="1863061" cy="369332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614704C-20C9-F53E-813A-F978E4C7D2F3}"/>
                </a:ext>
              </a:extLst>
            </p:cNvPr>
            <p:cNvSpPr txBox="1"/>
            <p:nvPr/>
          </p:nvSpPr>
          <p:spPr>
            <a:xfrm>
              <a:off x="5900322" y="5578272"/>
              <a:ext cx="1531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Información</a:t>
              </a:r>
            </a:p>
          </p:txBody>
        </p:sp>
        <p:sp>
          <p:nvSpPr>
            <p:cNvPr id="12" name="Flecha: a la derecha 11">
              <a:extLst>
                <a:ext uri="{FF2B5EF4-FFF2-40B4-BE49-F238E27FC236}">
                  <a16:creationId xmlns:a16="http://schemas.microsoft.com/office/drawing/2014/main" id="{8B8707F4-3085-E042-4892-60B8BB261460}"/>
                </a:ext>
              </a:extLst>
            </p:cNvPr>
            <p:cNvSpPr/>
            <p:nvPr/>
          </p:nvSpPr>
          <p:spPr>
            <a:xfrm>
              <a:off x="5568449" y="5657005"/>
              <a:ext cx="288032" cy="25478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48451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3780" y="-27384"/>
            <a:ext cx="2984604" cy="745152"/>
          </a:xfrm>
        </p:spPr>
        <p:txBody>
          <a:bodyPr anchor="t" anchorCtr="0">
            <a:normAutofit/>
          </a:bodyPr>
          <a:lstStyle/>
          <a:p>
            <a:r>
              <a:rPr lang="es-ES" sz="3200" b="1" dirty="0"/>
              <a:t>PROPIEDADES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51067" y="2780928"/>
            <a:ext cx="6777317" cy="3771781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s-ES" dirty="0"/>
              <a:t>XML significa </a:t>
            </a:r>
            <a:r>
              <a:rPr lang="es-ES" i="1" dirty="0" err="1"/>
              <a:t>e</a:t>
            </a:r>
            <a:r>
              <a:rPr lang="es-ES" b="1" i="1" dirty="0" err="1"/>
              <a:t>X</a:t>
            </a:r>
            <a:r>
              <a:rPr lang="es-ES" i="1" dirty="0" err="1"/>
              <a:t>tensible</a:t>
            </a:r>
            <a:r>
              <a:rPr lang="es-ES" i="1" dirty="0"/>
              <a:t> </a:t>
            </a:r>
            <a:r>
              <a:rPr lang="es-ES" b="1" i="1" dirty="0" err="1"/>
              <a:t>M</a:t>
            </a:r>
            <a:r>
              <a:rPr lang="es-ES" i="1" dirty="0" err="1"/>
              <a:t>arkup</a:t>
            </a:r>
            <a:r>
              <a:rPr lang="es-ES" i="1" dirty="0"/>
              <a:t> </a:t>
            </a:r>
            <a:r>
              <a:rPr lang="es-ES" b="1" i="1" dirty="0" err="1"/>
              <a:t>L</a:t>
            </a:r>
            <a:r>
              <a:rPr lang="es-ES" i="1" dirty="0" err="1"/>
              <a:t>anguaje</a:t>
            </a:r>
            <a:r>
              <a:rPr lang="es-ES" i="1" dirty="0"/>
              <a:t>.</a:t>
            </a:r>
          </a:p>
          <a:p>
            <a:pPr algn="just"/>
            <a:r>
              <a:rPr lang="es-ES" i="1" dirty="0"/>
              <a:t>No dispone de un conjunto definido de etiquetas.</a:t>
            </a:r>
            <a:endParaRPr lang="es-ES" dirty="0"/>
          </a:p>
          <a:p>
            <a:pPr algn="just"/>
            <a:r>
              <a:rPr lang="es-ES" dirty="0"/>
              <a:t>Es </a:t>
            </a:r>
            <a:r>
              <a:rPr lang="es-ES" b="1" dirty="0"/>
              <a:t>extensible</a:t>
            </a:r>
            <a:r>
              <a:rPr lang="es-ES" dirty="0"/>
              <a:t> porque </a:t>
            </a:r>
            <a:r>
              <a:rPr lang="es-ES" i="1" dirty="0"/>
              <a:t>podemos crear nuestras propias etiquetas, según nuestras necesidades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Es un formato de </a:t>
            </a:r>
            <a:r>
              <a:rPr lang="es-ES" b="1" dirty="0"/>
              <a:t>texto plano</a:t>
            </a:r>
            <a:r>
              <a:rPr lang="es-ES" dirty="0"/>
              <a:t>, legible por humanos.</a:t>
            </a:r>
          </a:p>
          <a:p>
            <a:pPr algn="just"/>
            <a:r>
              <a:rPr lang="es-ES" dirty="0"/>
              <a:t>Permite </a:t>
            </a:r>
            <a:r>
              <a:rPr lang="es-ES" b="1" dirty="0"/>
              <a:t>almacenar información y transmitirla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Nos permiten </a:t>
            </a:r>
            <a:r>
              <a:rPr lang="es-ES" b="1" dirty="0"/>
              <a:t>estructurar el documento </a:t>
            </a:r>
            <a:r>
              <a:rPr lang="es-ES" dirty="0"/>
              <a:t>de un modo </a:t>
            </a:r>
            <a:r>
              <a:rPr lang="es-ES" b="1" dirty="0"/>
              <a:t>flexible</a:t>
            </a:r>
            <a:r>
              <a:rPr lang="es-ES" dirty="0"/>
              <a:t> y </a:t>
            </a:r>
            <a:r>
              <a:rPr lang="es-ES" b="1" dirty="0"/>
              <a:t>fácil</a:t>
            </a:r>
            <a:r>
              <a:rPr lang="es-ES" dirty="0"/>
              <a:t> de procesar</a:t>
            </a:r>
          </a:p>
          <a:p>
            <a:pPr algn="just"/>
            <a:r>
              <a:rPr lang="es-ES" dirty="0"/>
              <a:t>Suelen tener </a:t>
            </a:r>
            <a:r>
              <a:rPr lang="es-ES" b="1" dirty="0"/>
              <a:t>extensión .</a:t>
            </a:r>
            <a:r>
              <a:rPr lang="es-ES" b="1" dirty="0" err="1"/>
              <a:t>xml</a:t>
            </a:r>
            <a:endParaRPr lang="es-ES" b="1" dirty="0"/>
          </a:p>
          <a:p>
            <a:pPr algn="just"/>
            <a:r>
              <a:rPr lang="es-ES" dirty="0"/>
              <a:t>Es un lenguaje </a:t>
            </a:r>
            <a:r>
              <a:rPr lang="es-ES" b="1" dirty="0"/>
              <a:t>libre, no propietario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7A104871-5595-4CC7-B3E0-19B870180D55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5" name="2 Marcador de contenido">
            <a:extLst>
              <a:ext uri="{FF2B5EF4-FFF2-40B4-BE49-F238E27FC236}">
                <a16:creationId xmlns:a16="http://schemas.microsoft.com/office/drawing/2014/main" id="{CFF2C17F-9896-C3B2-E512-EBA9B0E7FE4B}"/>
              </a:ext>
            </a:extLst>
          </p:cNvPr>
          <p:cNvSpPr txBox="1">
            <a:spLocks/>
          </p:cNvSpPr>
          <p:nvPr/>
        </p:nvSpPr>
        <p:spPr>
          <a:xfrm>
            <a:off x="611560" y="476672"/>
            <a:ext cx="6336704" cy="2219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Font typeface="Wingdings 2" pitchFamily="18" charset="2"/>
              <a:buNone/>
            </a:pP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&lt;?</a:t>
            </a:r>
            <a:r>
              <a:rPr lang="pt-BR" sz="1600" dirty="0" err="1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xml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 err="1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version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="1.0"?&gt;</a:t>
            </a:r>
          </a:p>
          <a:p>
            <a:pPr marL="68580" indent="0">
              <a:buFont typeface="Wingdings 2" pitchFamily="18" charset="2"/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&lt;poema&gt;</a:t>
            </a:r>
          </a:p>
          <a:p>
            <a:pPr marL="68580" indent="0">
              <a:buFont typeface="Wingdings 2" pitchFamily="18" charset="2"/>
              <a:buNone/>
            </a:pP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l-PL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</a:t>
            </a:r>
            <a:r>
              <a:rPr lang="es-ES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titulo</a:t>
            </a:r>
            <a:r>
              <a:rPr lang="pl-PL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&gt;</a:t>
            </a:r>
            <a:r>
              <a:rPr lang="es-ES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l-PL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Alba</a:t>
            </a:r>
            <a:r>
              <a:rPr lang="es-ES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s-ES" sz="1600" i="1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</a:t>
            </a:r>
            <a:r>
              <a:rPr lang="pl-PL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/</a:t>
            </a:r>
            <a:r>
              <a:rPr lang="es-ES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titulo&gt;</a:t>
            </a:r>
            <a:endParaRPr lang="pl-PL" sz="1600" dirty="0">
              <a:solidFill>
                <a:srgbClr val="0070C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68580" indent="0">
              <a:buFont typeface="Wingdings 2" pitchFamily="18" charset="2"/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&lt;verso&gt; 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Mi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corazón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oprimido 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&lt;/verso&gt;</a:t>
            </a:r>
          </a:p>
          <a:p>
            <a:pPr marL="68580" indent="0">
              <a:buFont typeface="Wingdings 2" pitchFamily="18" charset="2"/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&lt;verso&gt;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siente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junto a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alborada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&lt;/verso&gt;</a:t>
            </a:r>
          </a:p>
          <a:p>
            <a:pPr marL="68580" indent="0">
              <a:buFont typeface="Wingdings 2" pitchFamily="18" charset="2"/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&lt;verso&gt;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dolor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sus amores . . .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&lt;/verso&gt;</a:t>
            </a:r>
          </a:p>
          <a:p>
            <a:pPr marL="68580" indent="0">
              <a:buFont typeface="Wingdings 2" pitchFamily="18" charset="2"/>
              <a:buNone/>
            </a:pP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s-ES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&lt;/poema&gt;</a:t>
            </a:r>
            <a:endParaRPr lang="es-E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73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860032" y="-27384"/>
            <a:ext cx="2984604" cy="745152"/>
          </a:xfrm>
        </p:spPr>
        <p:txBody>
          <a:bodyPr anchor="t" anchorCtr="0">
            <a:normAutofit/>
          </a:bodyPr>
          <a:lstStyle/>
          <a:p>
            <a:pPr algn="ctr"/>
            <a:r>
              <a:rPr lang="es-ES" sz="3200" b="1" dirty="0"/>
              <a:t>Qué no 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47546" y="2204864"/>
            <a:ext cx="6777317" cy="1368152"/>
          </a:xfrm>
        </p:spPr>
        <p:txBody>
          <a:bodyPr>
            <a:normAutofit/>
          </a:bodyPr>
          <a:lstStyle/>
          <a:p>
            <a:pPr algn="just"/>
            <a:r>
              <a:rPr lang="es-ES" sz="2200" dirty="0">
                <a:solidFill>
                  <a:srgbClr val="FF0000"/>
                </a:solidFill>
              </a:rPr>
              <a:t>No es un lenguaje de programación</a:t>
            </a:r>
          </a:p>
          <a:p>
            <a:pPr algn="just"/>
            <a:r>
              <a:rPr lang="es-ES" sz="2200" dirty="0">
                <a:solidFill>
                  <a:srgbClr val="FF0000"/>
                </a:solidFill>
              </a:rPr>
              <a:t>No es un sistema gestor de base de datos.</a:t>
            </a:r>
          </a:p>
          <a:p>
            <a:pPr algn="just"/>
            <a:r>
              <a:rPr lang="es-ES" sz="2200" dirty="0">
                <a:solidFill>
                  <a:srgbClr val="FF0000"/>
                </a:solidFill>
              </a:rPr>
              <a:t>No es propietario 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7A104871-5595-4CC7-B3E0-19B870180D55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563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027664"/>
            <a:ext cx="7797188" cy="817160"/>
          </a:xfrm>
        </p:spPr>
        <p:txBody>
          <a:bodyPr anchor="t" anchorCtr="0">
            <a:normAutofit/>
          </a:bodyPr>
          <a:lstStyle/>
          <a:p>
            <a:pPr algn="ctr"/>
            <a:r>
              <a:rPr lang="es-ES" sz="3200" b="1" dirty="0"/>
              <a:t>ESTRUCTURA DE UN DOCUMENTO XML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641448" y="5780152"/>
            <a:ext cx="3502152" cy="365125"/>
          </a:xfrm>
        </p:spPr>
        <p:txBody>
          <a:bodyPr/>
          <a:lstStyle/>
          <a:p>
            <a:fld id="{0AB84712-4985-42EB-B52B-9CF2A33B1F9E}" type="slidenum">
              <a:rPr lang="es-ES" smtClean="0"/>
              <a:pPr/>
              <a:t>7</a:t>
            </a:fld>
            <a:endParaRPr lang="es-ES" dirty="0"/>
          </a:p>
        </p:txBody>
      </p:sp>
      <p:grpSp>
        <p:nvGrpSpPr>
          <p:cNvPr id="19" name="Grupo 18"/>
          <p:cNvGrpSpPr/>
          <p:nvPr/>
        </p:nvGrpSpPr>
        <p:grpSpPr>
          <a:xfrm>
            <a:off x="683568" y="2152520"/>
            <a:ext cx="7719137" cy="1147054"/>
            <a:chOff x="761619" y="2132856"/>
            <a:chExt cx="7719137" cy="1147054"/>
          </a:xfrm>
        </p:grpSpPr>
        <p:sp>
          <p:nvSpPr>
            <p:cNvPr id="8" name="Rectángulo 7"/>
            <p:cNvSpPr/>
            <p:nvPr/>
          </p:nvSpPr>
          <p:spPr>
            <a:xfrm>
              <a:off x="2267744" y="2132856"/>
              <a:ext cx="6213012" cy="114705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CuadroTexto 9"/>
            <p:cNvSpPr txBox="1"/>
            <p:nvPr/>
          </p:nvSpPr>
          <p:spPr>
            <a:xfrm>
              <a:off x="761619" y="2536121"/>
              <a:ext cx="137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PROLOGO</a:t>
              </a: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691614" y="3299574"/>
            <a:ext cx="7711091" cy="2217658"/>
            <a:chOff x="769665" y="3279910"/>
            <a:chExt cx="7711091" cy="2217658"/>
          </a:xfrm>
        </p:grpSpPr>
        <p:sp>
          <p:nvSpPr>
            <p:cNvPr id="15" name="Rectángulo 14"/>
            <p:cNvSpPr/>
            <p:nvPr/>
          </p:nvSpPr>
          <p:spPr>
            <a:xfrm>
              <a:off x="2267744" y="3279910"/>
              <a:ext cx="6213012" cy="2217658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CuadroTexto 11"/>
            <p:cNvSpPr txBox="1"/>
            <p:nvPr/>
          </p:nvSpPr>
          <p:spPr>
            <a:xfrm>
              <a:off x="769665" y="4067780"/>
              <a:ext cx="1090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CUERPO</a:t>
              </a:r>
            </a:p>
          </p:txBody>
        </p:sp>
      </p:grpSp>
      <p:sp>
        <p:nvSpPr>
          <p:cNvPr id="14" name="2 Marcador de contenido"/>
          <p:cNvSpPr txBox="1">
            <a:spLocks/>
          </p:cNvSpPr>
          <p:nvPr/>
        </p:nvSpPr>
        <p:spPr>
          <a:xfrm>
            <a:off x="2434425" y="3486764"/>
            <a:ext cx="6120680" cy="1944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Font typeface="Wingdings 2" pitchFamily="18" charset="2"/>
              <a:buNone/>
            </a:pP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&lt;poema&gt;</a:t>
            </a:r>
          </a:p>
          <a:p>
            <a:pPr marL="68580" indent="0">
              <a:buFont typeface="Wingdings 2" pitchFamily="18" charset="2"/>
              <a:buNone/>
            </a:pP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l-PL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</a:t>
            </a:r>
            <a:r>
              <a:rPr lang="es-ES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titulo</a:t>
            </a:r>
            <a:r>
              <a:rPr lang="pl-PL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&gt;</a:t>
            </a:r>
            <a:r>
              <a:rPr lang="es-ES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l-PL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Alba</a:t>
            </a:r>
            <a:r>
              <a:rPr lang="es-ES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s-ES" sz="1600" i="1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</a:t>
            </a:r>
            <a:r>
              <a:rPr lang="pl-PL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/</a:t>
            </a:r>
            <a:r>
              <a:rPr lang="es-ES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titulo&gt;</a:t>
            </a:r>
            <a:endParaRPr lang="pl-PL" sz="1600" dirty="0">
              <a:solidFill>
                <a:srgbClr val="0070C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68580" indent="0">
              <a:buFont typeface="Wingdings 2" pitchFamily="18" charset="2"/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&lt;verso&gt; 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Mi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corazón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oprimido 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&lt;/verso&gt;</a:t>
            </a:r>
          </a:p>
          <a:p>
            <a:pPr marL="68580" indent="0">
              <a:buFont typeface="Wingdings 2" pitchFamily="18" charset="2"/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&lt;verso&gt;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siente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junto a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alborada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&lt;/verso&gt;</a:t>
            </a:r>
          </a:p>
          <a:p>
            <a:pPr marL="68580" indent="0">
              <a:buFont typeface="Wingdings 2" pitchFamily="18" charset="2"/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&lt;verso&gt;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dolor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sus amores . . .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&lt;/verso&gt;</a:t>
            </a:r>
          </a:p>
          <a:p>
            <a:pPr marL="68580" indent="0">
              <a:buFont typeface="Wingdings 2" pitchFamily="18" charset="2"/>
              <a:buNone/>
            </a:pP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s-ES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&lt;/poema&gt;</a:t>
            </a:r>
            <a:endParaRPr lang="es-ES" sz="1600" dirty="0">
              <a:solidFill>
                <a:srgbClr val="0070C0"/>
              </a:solidFill>
            </a:endParaRPr>
          </a:p>
        </p:txBody>
      </p:sp>
      <p:sp>
        <p:nvSpPr>
          <p:cNvPr id="16" name="2 Marcador de contenido"/>
          <p:cNvSpPr txBox="1">
            <a:spLocks/>
          </p:cNvSpPr>
          <p:nvPr/>
        </p:nvSpPr>
        <p:spPr>
          <a:xfrm>
            <a:off x="2460168" y="2329972"/>
            <a:ext cx="6120680" cy="395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Font typeface="Wingdings 2" pitchFamily="18" charset="2"/>
              <a:buNone/>
            </a:pP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&lt;?</a:t>
            </a:r>
            <a:r>
              <a:rPr lang="pt-BR" sz="1600" dirty="0" err="1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xml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 err="1">
                <a:solidFill>
                  <a:srgbClr val="FF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version</a:t>
            </a:r>
            <a:r>
              <a:rPr lang="pt-BR" sz="1600" dirty="0">
                <a:solidFill>
                  <a:srgbClr val="FF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="1.0"                                       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?&gt;</a:t>
            </a:r>
            <a:endParaRPr lang="es-ES" sz="1600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85201" y="2329972"/>
            <a:ext cx="2805092" cy="41047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pt-BR" sz="1600" dirty="0" err="1">
                <a:solidFill>
                  <a:srgbClr val="FF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encoding</a:t>
            </a:r>
            <a:r>
              <a:rPr lang="pt-BR" sz="1600" dirty="0">
                <a:solidFill>
                  <a:srgbClr val="FF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="</a:t>
            </a:r>
            <a:r>
              <a:rPr lang="es-ES" sz="1600" dirty="0">
                <a:solidFill>
                  <a:srgbClr val="FF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ISO-8859-1</a:t>
            </a:r>
            <a:r>
              <a:rPr lang="pt-BR" sz="1600" dirty="0">
                <a:solidFill>
                  <a:srgbClr val="FF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"</a:t>
            </a:r>
            <a:endParaRPr lang="es-ES" sz="1600" dirty="0">
              <a:solidFill>
                <a:srgbClr val="0070C0"/>
              </a:solidFill>
            </a:endParaRPr>
          </a:p>
        </p:txBody>
      </p:sp>
      <p:sp>
        <p:nvSpPr>
          <p:cNvPr id="17" name="2 Marcador de contenido"/>
          <p:cNvSpPr txBox="1">
            <a:spLocks/>
          </p:cNvSpPr>
          <p:nvPr/>
        </p:nvSpPr>
        <p:spPr>
          <a:xfrm>
            <a:off x="2460168" y="2746632"/>
            <a:ext cx="5942537" cy="395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Font typeface="Wingdings 2" pitchFamily="18" charset="2"/>
              <a:buNone/>
            </a:pP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&lt;?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Otras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instrucciones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procesamiento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?&gt;</a:t>
            </a:r>
            <a:endParaRPr lang="es-ES" sz="1600" dirty="0">
              <a:solidFill>
                <a:srgbClr val="0070C0"/>
              </a:solidFill>
            </a:endParaRPr>
          </a:p>
        </p:txBody>
      </p:sp>
      <p:sp>
        <p:nvSpPr>
          <p:cNvPr id="18" name="2 Marcador de contenido"/>
          <p:cNvSpPr txBox="1">
            <a:spLocks/>
          </p:cNvSpPr>
          <p:nvPr/>
        </p:nvSpPr>
        <p:spPr>
          <a:xfrm>
            <a:off x="4785201" y="2329972"/>
            <a:ext cx="2281372" cy="410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Font typeface="Wingdings 2" pitchFamily="18" charset="2"/>
              <a:buNone/>
            </a:pPr>
            <a:r>
              <a:rPr lang="pt-BR" sz="1600" dirty="0" err="1">
                <a:solidFill>
                  <a:srgbClr val="FF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encoding</a:t>
            </a:r>
            <a:r>
              <a:rPr lang="pt-BR" sz="1600" dirty="0">
                <a:solidFill>
                  <a:srgbClr val="FF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="UTF-8"</a:t>
            </a:r>
            <a:endParaRPr lang="es-ES" sz="1600" dirty="0">
              <a:solidFill>
                <a:srgbClr val="0070C0"/>
              </a:solidFill>
            </a:endParaRPr>
          </a:p>
        </p:txBody>
      </p:sp>
      <p:grpSp>
        <p:nvGrpSpPr>
          <p:cNvPr id="25" name="Grupo 24"/>
          <p:cNvGrpSpPr/>
          <p:nvPr/>
        </p:nvGrpSpPr>
        <p:grpSpPr>
          <a:xfrm>
            <a:off x="5010251" y="1754580"/>
            <a:ext cx="2281372" cy="827569"/>
            <a:chOff x="4867430" y="1728216"/>
            <a:chExt cx="2281372" cy="827569"/>
          </a:xfrm>
        </p:grpSpPr>
        <p:sp>
          <p:nvSpPr>
            <p:cNvPr id="21" name="2 Marcador de contenido"/>
            <p:cNvSpPr txBox="1">
              <a:spLocks/>
            </p:cNvSpPr>
            <p:nvPr/>
          </p:nvSpPr>
          <p:spPr>
            <a:xfrm>
              <a:off x="4867430" y="1728216"/>
              <a:ext cx="2281372" cy="41047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27432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2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40080" indent="-27432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2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14400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124712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325880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6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517904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719072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920240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121408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8580" indent="0">
                <a:buFont typeface="Wingdings 2" pitchFamily="18" charset="2"/>
                <a:buNone/>
              </a:pPr>
              <a:r>
                <a:rPr lang="pt-BR" sz="1600" dirty="0" err="1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encoding</a:t>
              </a:r>
              <a:r>
                <a:rPr lang="pt-BR" sz="1600" dirty="0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="UTF-8"</a:t>
              </a:r>
              <a:endParaRPr lang="es-E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23" name="Conector recto 22"/>
            <p:cNvCxnSpPr>
              <a:cxnSpLocks/>
            </p:cNvCxnSpPr>
            <p:nvPr/>
          </p:nvCxnSpPr>
          <p:spPr>
            <a:xfrm flipH="1">
              <a:off x="6187747" y="2042999"/>
              <a:ext cx="1969" cy="440713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Elipse 23"/>
            <p:cNvSpPr/>
            <p:nvPr/>
          </p:nvSpPr>
          <p:spPr>
            <a:xfrm>
              <a:off x="6122268" y="2420888"/>
              <a:ext cx="134897" cy="13489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6" name="4 Llamada rectangular redondeada"/>
          <p:cNvSpPr/>
          <p:nvPr/>
        </p:nvSpPr>
        <p:spPr>
          <a:xfrm>
            <a:off x="678804" y="1895035"/>
            <a:ext cx="2527126" cy="348656"/>
          </a:xfrm>
          <a:prstGeom prst="wedgeRoundRectCallout">
            <a:avLst>
              <a:gd name="adj1" fmla="val 34076"/>
              <a:gd name="adj2" fmla="val 95282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/>
              <a:t>Instrucción de procesamiento</a:t>
            </a:r>
          </a:p>
        </p:txBody>
      </p:sp>
      <p:sp>
        <p:nvSpPr>
          <p:cNvPr id="27" name="6 Llamada rectangular redondeada"/>
          <p:cNvSpPr/>
          <p:nvPr/>
        </p:nvSpPr>
        <p:spPr>
          <a:xfrm>
            <a:off x="6469622" y="1645549"/>
            <a:ext cx="3070930" cy="363021"/>
          </a:xfrm>
          <a:prstGeom prst="wedgeRoundRectCallout">
            <a:avLst>
              <a:gd name="adj1" fmla="val -38920"/>
              <a:gd name="adj2" fmla="val 15476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Europa Occidental (1 byte)</a:t>
            </a:r>
          </a:p>
        </p:txBody>
      </p:sp>
      <p:sp>
        <p:nvSpPr>
          <p:cNvPr id="28" name="6 Llamada rectangular redondeada"/>
          <p:cNvSpPr/>
          <p:nvPr/>
        </p:nvSpPr>
        <p:spPr>
          <a:xfrm>
            <a:off x="6257165" y="1642504"/>
            <a:ext cx="2520280" cy="363021"/>
          </a:xfrm>
          <a:prstGeom prst="wedgeRoundRectCallout">
            <a:avLst>
              <a:gd name="adj1" fmla="val -38920"/>
              <a:gd name="adj2" fmla="val 15476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Universal (1-4 bytes)</a:t>
            </a:r>
          </a:p>
        </p:txBody>
      </p:sp>
      <p:sp>
        <p:nvSpPr>
          <p:cNvPr id="5" name="2 Marcador de contenido">
            <a:extLst>
              <a:ext uri="{FF2B5EF4-FFF2-40B4-BE49-F238E27FC236}">
                <a16:creationId xmlns:a16="http://schemas.microsoft.com/office/drawing/2014/main" id="{41D5F967-99F6-A409-15AF-6568CF204C7E}"/>
              </a:ext>
            </a:extLst>
          </p:cNvPr>
          <p:cNvSpPr txBox="1">
            <a:spLocks/>
          </p:cNvSpPr>
          <p:nvPr/>
        </p:nvSpPr>
        <p:spPr>
          <a:xfrm>
            <a:off x="755576" y="5775161"/>
            <a:ext cx="7647129" cy="41047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 algn="ctr">
              <a:buFont typeface="Wingdings 2" pitchFamily="18" charset="2"/>
              <a:buNone/>
            </a:pP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Es importante </a:t>
            </a:r>
            <a:r>
              <a:rPr lang="pt-BR" sz="1600" dirty="0" err="1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asegurarse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de que </a:t>
            </a:r>
            <a:r>
              <a:rPr lang="pt-BR" sz="1600" dirty="0" err="1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nuestro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editor está guardando </a:t>
            </a:r>
            <a:r>
              <a:rPr lang="pt-BR" sz="1600" dirty="0" err="1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los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caracteres </a:t>
            </a:r>
            <a:r>
              <a:rPr lang="pt-BR" sz="1600" dirty="0" err="1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 err="1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la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 err="1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codificación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que </a:t>
            </a:r>
            <a:r>
              <a:rPr lang="pt-BR" sz="1600" dirty="0" err="1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hemos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declarado </a:t>
            </a:r>
            <a:r>
              <a:rPr lang="pt-BR" sz="1600" dirty="0" err="1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en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 err="1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encoding</a:t>
            </a:r>
            <a:endParaRPr lang="es-E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49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17" grpId="0"/>
      <p:bldP spid="18" grpId="0"/>
      <p:bldP spid="26" grpId="0" animBg="1"/>
      <p:bldP spid="27" grpId="0" animBg="1"/>
      <p:bldP spid="27" grpId="1" animBg="1"/>
      <p:bldP spid="28" grpId="0" animBg="1"/>
      <p:bldP spid="2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10"/>
          <p:cNvSpPr/>
          <p:nvPr/>
        </p:nvSpPr>
        <p:spPr>
          <a:xfrm>
            <a:off x="1043490" y="2879839"/>
            <a:ext cx="6120798" cy="194670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27584" y="1027664"/>
            <a:ext cx="7581164" cy="817160"/>
          </a:xfrm>
        </p:spPr>
        <p:txBody>
          <a:bodyPr anchor="t" anchorCtr="0">
            <a:normAutofit/>
          </a:bodyPr>
          <a:lstStyle/>
          <a:p>
            <a:pPr algn="ctr"/>
            <a:r>
              <a:rPr lang="es-ES" sz="3200" b="1" dirty="0"/>
              <a:t>ESTRUCTURA DE UN DOCUMENTO XML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43492" y="2060849"/>
            <a:ext cx="6120796" cy="2880320"/>
          </a:xfrm>
        </p:spPr>
        <p:txBody>
          <a:bodyPr>
            <a:normAutofit/>
          </a:bodyPr>
          <a:lstStyle/>
          <a:p>
            <a:pPr marL="68580" indent="0">
              <a:buNone/>
            </a:pPr>
            <a:endParaRPr lang="es-ES" sz="1600" b="1" dirty="0">
              <a:solidFill>
                <a:srgbClr val="002060"/>
              </a:solidFill>
            </a:endParaRPr>
          </a:p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&lt;?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xml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version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="1.0"?&gt;</a:t>
            </a:r>
          </a:p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marL="68580" indent="0">
              <a:buNone/>
            </a:pPr>
            <a:r>
              <a:rPr lang="pt-BR" sz="160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&lt;poema&gt;</a:t>
            </a:r>
          </a:p>
          <a:p>
            <a:pPr marL="68580" indent="0">
              <a:buNone/>
            </a:pP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l-PL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&lt;</a:t>
            </a: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titulo</a:t>
            </a:r>
            <a:r>
              <a:rPr lang="pl-PL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&gt;</a:t>
            </a: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l-PL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Alba</a:t>
            </a:r>
            <a:r>
              <a:rPr lang="es-ES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&lt;</a:t>
            </a:r>
            <a:r>
              <a:rPr lang="pl-PL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/</a:t>
            </a: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titulo&gt;</a:t>
            </a:r>
            <a:endParaRPr lang="pl-PL" sz="1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&lt;verso&gt; 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Mi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corazon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oprimido 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&lt;/verso&gt;</a:t>
            </a:r>
          </a:p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&lt;verso&gt;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siente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junto a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alborada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&lt;/verso&gt;</a:t>
            </a:r>
          </a:p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&lt;verso&gt;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dolor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sus amores . . .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&lt;/verso&gt;</a:t>
            </a:r>
          </a:p>
          <a:p>
            <a:pPr marL="68580" indent="0">
              <a:buNone/>
            </a:pP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s-ES" sz="160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&lt;/poema&gt;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AB84712-4985-42EB-B52B-9CF2A33B1F9E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7" name="6 Llamada rectangular redondeada"/>
          <p:cNvSpPr/>
          <p:nvPr/>
        </p:nvSpPr>
        <p:spPr>
          <a:xfrm>
            <a:off x="4932040" y="5197204"/>
            <a:ext cx="3476708" cy="442357"/>
          </a:xfrm>
          <a:prstGeom prst="wedgeRoundRectCallout">
            <a:avLst>
              <a:gd name="adj1" fmla="val -78878"/>
              <a:gd name="adj2" fmla="val -1308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Elemento o Nodo</a:t>
            </a:r>
          </a:p>
        </p:txBody>
      </p:sp>
      <p:sp>
        <p:nvSpPr>
          <p:cNvPr id="8" name="4 Llamada rectangular redondeada"/>
          <p:cNvSpPr/>
          <p:nvPr/>
        </p:nvSpPr>
        <p:spPr>
          <a:xfrm>
            <a:off x="3269395" y="2705511"/>
            <a:ext cx="2527126" cy="348656"/>
          </a:xfrm>
          <a:prstGeom prst="wedgeRoundRectCallout">
            <a:avLst>
              <a:gd name="adj1" fmla="val -88043"/>
              <a:gd name="adj2" fmla="val 62500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etiqueta de apertura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3377885" y="4641875"/>
            <a:ext cx="2527126" cy="369332"/>
            <a:chOff x="3377885" y="4641875"/>
            <a:chExt cx="2527126" cy="369332"/>
          </a:xfrm>
        </p:grpSpPr>
        <p:sp>
          <p:nvSpPr>
            <p:cNvPr id="9" name="4 Llamada rectangular redondeada"/>
            <p:cNvSpPr/>
            <p:nvPr/>
          </p:nvSpPr>
          <p:spPr>
            <a:xfrm flipV="1">
              <a:off x="3377885" y="4652213"/>
              <a:ext cx="2527126" cy="348656"/>
            </a:xfrm>
            <a:prstGeom prst="wedgeRoundRectCallout">
              <a:avLst>
                <a:gd name="adj1" fmla="val -88043"/>
                <a:gd name="adj2" fmla="val 62500"/>
                <a:gd name="adj3" fmla="val 16667"/>
              </a:avLst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b="1" dirty="0"/>
            </a:p>
          </p:txBody>
        </p:sp>
        <p:sp>
          <p:nvSpPr>
            <p:cNvPr id="6" name="CuadroTexto 5"/>
            <p:cNvSpPr txBox="1"/>
            <p:nvPr/>
          </p:nvSpPr>
          <p:spPr>
            <a:xfrm>
              <a:off x="3546436" y="4641875"/>
              <a:ext cx="21900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solidFill>
                    <a:schemeClr val="bg1"/>
                  </a:solidFill>
                </a:rPr>
                <a:t>etiqueta de cierre</a:t>
              </a:r>
            </a:p>
          </p:txBody>
        </p:sp>
      </p:grpSp>
      <p:sp>
        <p:nvSpPr>
          <p:cNvPr id="12" name="Rectángulo redondeado 11"/>
          <p:cNvSpPr/>
          <p:nvPr/>
        </p:nvSpPr>
        <p:spPr>
          <a:xfrm>
            <a:off x="1901243" y="3228495"/>
            <a:ext cx="2736304" cy="33149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4 Llamada rectangular redondeada"/>
          <p:cNvSpPr/>
          <p:nvPr/>
        </p:nvSpPr>
        <p:spPr>
          <a:xfrm>
            <a:off x="1691680" y="1595258"/>
            <a:ext cx="2527126" cy="348656"/>
          </a:xfrm>
          <a:prstGeom prst="wedgeRoundRectCallout">
            <a:avLst>
              <a:gd name="adj1" fmla="val -20953"/>
              <a:gd name="adj2" fmla="val 431309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etiqueta de apertura</a:t>
            </a:r>
          </a:p>
        </p:txBody>
      </p:sp>
      <p:sp>
        <p:nvSpPr>
          <p:cNvPr id="14" name="4 Llamada rectangular redondeada"/>
          <p:cNvSpPr/>
          <p:nvPr/>
        </p:nvSpPr>
        <p:spPr>
          <a:xfrm>
            <a:off x="3209333" y="2007635"/>
            <a:ext cx="2527126" cy="348656"/>
          </a:xfrm>
          <a:prstGeom prst="wedgeRoundRectCallout">
            <a:avLst>
              <a:gd name="adj1" fmla="val -20576"/>
              <a:gd name="adj2" fmla="val 327496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etiqueta de cierre</a:t>
            </a:r>
          </a:p>
        </p:txBody>
      </p:sp>
      <p:sp>
        <p:nvSpPr>
          <p:cNvPr id="15" name="4 Llamada rectangular redondeada"/>
          <p:cNvSpPr/>
          <p:nvPr/>
        </p:nvSpPr>
        <p:spPr>
          <a:xfrm>
            <a:off x="2699792" y="5098335"/>
            <a:ext cx="1728192" cy="348656"/>
          </a:xfrm>
          <a:prstGeom prst="wedgeRoundRectCallout">
            <a:avLst>
              <a:gd name="adj1" fmla="val -19822"/>
              <a:gd name="adj2" fmla="val -486616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contenido</a:t>
            </a:r>
          </a:p>
        </p:txBody>
      </p:sp>
      <p:sp>
        <p:nvSpPr>
          <p:cNvPr id="16" name="6 Llamada rectangular redondeada"/>
          <p:cNvSpPr/>
          <p:nvPr/>
        </p:nvSpPr>
        <p:spPr>
          <a:xfrm>
            <a:off x="6372200" y="2457118"/>
            <a:ext cx="2612612" cy="363021"/>
          </a:xfrm>
          <a:prstGeom prst="wedgeRoundRectCallout">
            <a:avLst>
              <a:gd name="adj1" fmla="val -115336"/>
              <a:gd name="adj2" fmla="val 20514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Elemento o Nodo</a:t>
            </a:r>
          </a:p>
        </p:txBody>
      </p:sp>
      <p:sp>
        <p:nvSpPr>
          <p:cNvPr id="17" name="2 Marcador de contenido"/>
          <p:cNvSpPr txBox="1">
            <a:spLocks/>
          </p:cNvSpPr>
          <p:nvPr/>
        </p:nvSpPr>
        <p:spPr>
          <a:xfrm>
            <a:off x="1043490" y="5805264"/>
            <a:ext cx="6768752" cy="5484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 algn="ctr">
              <a:buNone/>
            </a:pPr>
            <a:r>
              <a:rPr lang="es-ES" sz="1600" dirty="0">
                <a:solidFill>
                  <a:schemeClr val="tx1"/>
                </a:solidFill>
              </a:rPr>
              <a:t>Un elemento está formado por una etiqueta de apertura, otra de cierre y todo lo que esté entre ambas.</a:t>
            </a:r>
          </a:p>
        </p:txBody>
      </p:sp>
    </p:spTree>
    <p:extLst>
      <p:ext uri="{BB962C8B-B14F-4D97-AF65-F5344CB8AC3E}">
        <p14:creationId xmlns:p14="http://schemas.microsoft.com/office/powerpoint/2010/main" val="309898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8" grpId="0" animBg="1"/>
      <p:bldP spid="8" grpId="1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10"/>
          <p:cNvSpPr/>
          <p:nvPr/>
        </p:nvSpPr>
        <p:spPr>
          <a:xfrm>
            <a:off x="1043490" y="2879839"/>
            <a:ext cx="6120798" cy="194670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27584" y="1027664"/>
            <a:ext cx="7581164" cy="817160"/>
          </a:xfrm>
        </p:spPr>
        <p:txBody>
          <a:bodyPr anchor="t" anchorCtr="0">
            <a:normAutofit/>
          </a:bodyPr>
          <a:lstStyle/>
          <a:p>
            <a:pPr algn="ctr"/>
            <a:r>
              <a:rPr lang="es-ES" sz="3200" b="1" dirty="0"/>
              <a:t>ESTRUCTURA DE UN DOCUMENTO XML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43492" y="2060849"/>
            <a:ext cx="6120796" cy="2880320"/>
          </a:xfrm>
        </p:spPr>
        <p:txBody>
          <a:bodyPr>
            <a:normAutofit/>
          </a:bodyPr>
          <a:lstStyle/>
          <a:p>
            <a:pPr marL="68580" indent="0">
              <a:buNone/>
            </a:pPr>
            <a:endParaRPr lang="es-ES" sz="1600" b="1" dirty="0">
              <a:solidFill>
                <a:srgbClr val="002060"/>
              </a:solidFill>
            </a:endParaRPr>
          </a:p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&lt;?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xml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version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="1.0"?&gt;</a:t>
            </a:r>
          </a:p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marL="68580" indent="0">
              <a:buNone/>
            </a:pPr>
            <a:r>
              <a:rPr lang="pt-BR" sz="160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&lt;poema&gt;</a:t>
            </a:r>
          </a:p>
          <a:p>
            <a:pPr marL="68580" indent="0">
              <a:buNone/>
            </a:pP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l-PL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&lt;</a:t>
            </a: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titulo</a:t>
            </a:r>
            <a:r>
              <a:rPr lang="pl-PL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&gt;</a:t>
            </a: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l-PL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Alba</a:t>
            </a:r>
            <a:r>
              <a:rPr lang="es-ES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&lt;</a:t>
            </a:r>
            <a:r>
              <a:rPr lang="pl-PL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/</a:t>
            </a: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titulo&gt;</a:t>
            </a:r>
            <a:endParaRPr lang="pl-PL" sz="1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&lt;verso&gt; 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Mi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corazon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oprimido 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&lt;/verso&gt;</a:t>
            </a:r>
          </a:p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&lt;verso&gt;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siente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junto a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alborada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&lt;/verso&gt;</a:t>
            </a:r>
          </a:p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&lt;verso&gt;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dolor</a:t>
            </a:r>
            <a:r>
              <a:rPr lang="pt-BR" sz="1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sus amores . . .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&lt;/verso&gt;</a:t>
            </a:r>
          </a:p>
          <a:p>
            <a:pPr marL="68580" indent="0">
              <a:buNone/>
            </a:pP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s-ES" sz="160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&lt;/poema&gt;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AB84712-4985-42EB-B52B-9CF2A33B1F9E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7" name="6 Llamada rectangular redondeada"/>
          <p:cNvSpPr/>
          <p:nvPr/>
        </p:nvSpPr>
        <p:spPr>
          <a:xfrm>
            <a:off x="2483768" y="5161468"/>
            <a:ext cx="3476708" cy="576064"/>
          </a:xfrm>
          <a:prstGeom prst="wedgeRoundRectCallout">
            <a:avLst>
              <a:gd name="adj1" fmla="val -22883"/>
              <a:gd name="adj2" fmla="val -11032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Elemento o Nodo </a:t>
            </a:r>
            <a:r>
              <a:rPr lang="es-ES" sz="2000" b="1" dirty="0" err="1"/>
              <a:t>Raiz</a:t>
            </a:r>
            <a:endParaRPr lang="es-ES" sz="2000" b="1" dirty="0"/>
          </a:p>
        </p:txBody>
      </p:sp>
      <p:sp>
        <p:nvSpPr>
          <p:cNvPr id="17" name="2 Marcador de contenido"/>
          <p:cNvSpPr txBox="1">
            <a:spLocks/>
          </p:cNvSpPr>
          <p:nvPr/>
        </p:nvSpPr>
        <p:spPr>
          <a:xfrm>
            <a:off x="1043490" y="5852160"/>
            <a:ext cx="6768752" cy="5484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Wingdings 2" pitchFamily="18" charset="2"/>
              <a:buNone/>
            </a:pPr>
            <a:r>
              <a:rPr lang="es-ES" sz="1600" dirty="0">
                <a:solidFill>
                  <a:schemeClr val="tx1"/>
                </a:solidFill>
              </a:rPr>
              <a:t>Sólo hay uno en cada documento.</a:t>
            </a:r>
          </a:p>
          <a:p>
            <a:pPr marL="0" indent="0" algn="ctr">
              <a:spcBef>
                <a:spcPts val="0"/>
              </a:spcBef>
              <a:buFont typeface="Wingdings 2" pitchFamily="18" charset="2"/>
              <a:buNone/>
            </a:pPr>
            <a:r>
              <a:rPr lang="es-ES" sz="1600" dirty="0">
                <a:solidFill>
                  <a:schemeClr val="tx1"/>
                </a:solidFill>
              </a:rPr>
              <a:t>Contiene en su interior a todos los demás elementos.</a:t>
            </a:r>
            <a:endParaRPr lang="es-ES" sz="1600" dirty="0"/>
          </a:p>
        </p:txBody>
      </p:sp>
      <p:sp>
        <p:nvSpPr>
          <p:cNvPr id="18" name="4 Llamada rectangular redondeada"/>
          <p:cNvSpPr/>
          <p:nvPr/>
        </p:nvSpPr>
        <p:spPr>
          <a:xfrm>
            <a:off x="3707904" y="1719375"/>
            <a:ext cx="2840692" cy="500646"/>
          </a:xfrm>
          <a:prstGeom prst="wedgeRoundRectCallout">
            <a:avLst>
              <a:gd name="adj1" fmla="val -138242"/>
              <a:gd name="adj2" fmla="val 26461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Raíz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22683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17" grpId="0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817160"/>
          </a:xfrm>
        </p:spPr>
        <p:txBody>
          <a:bodyPr anchor="t" anchorCtr="0">
            <a:normAutofit/>
          </a:bodyPr>
          <a:lstStyle/>
          <a:p>
            <a:r>
              <a:rPr lang="es-ES" sz="3200" b="1" dirty="0"/>
              <a:t>ESTRUCTURA DEL DOCUMENTO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43492" y="2060848"/>
            <a:ext cx="7272924" cy="3771781"/>
          </a:xfrm>
        </p:spPr>
        <p:txBody>
          <a:bodyPr>
            <a:normAutofit/>
          </a:bodyPr>
          <a:lstStyle/>
          <a:p>
            <a:pPr algn="just"/>
            <a:r>
              <a:rPr lang="es-ES" sz="2000" dirty="0"/>
              <a:t>La información se almacena de forma jerárquica: los elementos (nodos) se relacionan entre sí mediante relaciones de padres, hijos, hermanos, ascendentes, descendentes</a:t>
            </a:r>
            <a:r>
              <a:rPr lang="es-ES" dirty="0"/>
              <a:t>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AB84712-4985-42EB-B52B-9CF2A33B1F9E}" type="slidenum">
              <a:rPr lang="es-ES" smtClean="0"/>
              <a:pPr/>
              <a:t>10</a:t>
            </a:fld>
            <a:endParaRPr lang="es-E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44"/>
          <a:stretch/>
        </p:blipFill>
        <p:spPr bwMode="auto">
          <a:xfrm>
            <a:off x="4499992" y="3284984"/>
            <a:ext cx="2962275" cy="269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upo 7"/>
          <p:cNvGrpSpPr/>
          <p:nvPr/>
        </p:nvGrpSpPr>
        <p:grpSpPr>
          <a:xfrm>
            <a:off x="2986552" y="3502462"/>
            <a:ext cx="1513440" cy="2304257"/>
            <a:chOff x="3829050" y="3343289"/>
            <a:chExt cx="1513440" cy="2304257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46" t="7429" r="49856" b="7036"/>
            <a:stretch/>
          </p:blipFill>
          <p:spPr bwMode="auto">
            <a:xfrm>
              <a:off x="3940405" y="3343289"/>
              <a:ext cx="1402085" cy="2304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Rectángulo 4"/>
            <p:cNvSpPr/>
            <p:nvPr/>
          </p:nvSpPr>
          <p:spPr>
            <a:xfrm>
              <a:off x="3829050" y="4676775"/>
              <a:ext cx="291852" cy="8227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8" t="40740" r="73603" b="41878"/>
          <a:stretch/>
        </p:blipFill>
        <p:spPr bwMode="auto">
          <a:xfrm>
            <a:off x="2209503" y="4420458"/>
            <a:ext cx="903684" cy="468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86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817160"/>
          </a:xfrm>
        </p:spPr>
        <p:txBody>
          <a:bodyPr anchor="t" anchorCtr="0">
            <a:normAutofit/>
          </a:bodyPr>
          <a:lstStyle/>
          <a:p>
            <a:r>
              <a:rPr lang="es-ES" sz="3200" b="1" dirty="0"/>
              <a:t>ESTRUCTURA DEL DOCUMENTO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43492" y="1916832"/>
            <a:ext cx="7272924" cy="504056"/>
          </a:xfrm>
        </p:spPr>
        <p:txBody>
          <a:bodyPr>
            <a:normAutofit/>
          </a:bodyPr>
          <a:lstStyle/>
          <a:p>
            <a:pPr algn="just"/>
            <a:r>
              <a:rPr lang="es-ES" sz="2000" dirty="0"/>
              <a:t>Ejemplo de XML con 3 niveles de elementos/nodos</a:t>
            </a:r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AB84712-4985-42EB-B52B-9CF2A33B1F9E}" type="slidenum">
              <a:rPr lang="es-ES" smtClean="0"/>
              <a:pPr/>
              <a:t>11</a:t>
            </a:fld>
            <a:endParaRPr lang="es-ES" dirty="0"/>
          </a:p>
        </p:txBody>
      </p:sp>
      <p:sp>
        <p:nvSpPr>
          <p:cNvPr id="9" name="CuadroTexto 8"/>
          <p:cNvSpPr txBox="1"/>
          <p:nvPr/>
        </p:nvSpPr>
        <p:spPr>
          <a:xfrm>
            <a:off x="1041233" y="2430043"/>
            <a:ext cx="72729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&lt;persona&gt;</a:t>
            </a:r>
          </a:p>
          <a:p>
            <a:r>
              <a:rPr lang="es-ES" dirty="0"/>
              <a:t>	</a:t>
            </a:r>
            <a:r>
              <a:rPr lang="es-ES" dirty="0">
                <a:solidFill>
                  <a:srgbClr val="0070C0"/>
                </a:solidFill>
              </a:rPr>
              <a:t>&lt;nombre&gt;</a:t>
            </a:r>
            <a:r>
              <a:rPr lang="es-ES" dirty="0"/>
              <a:t>Ramón Pérez</a:t>
            </a:r>
            <a:r>
              <a:rPr lang="es-ES" dirty="0">
                <a:solidFill>
                  <a:srgbClr val="0070C0"/>
                </a:solidFill>
              </a:rPr>
              <a:t>&lt;/nombre&gt;</a:t>
            </a:r>
          </a:p>
          <a:p>
            <a:r>
              <a:rPr lang="es-ES" dirty="0"/>
              <a:t>	</a:t>
            </a:r>
            <a:r>
              <a:rPr lang="es-ES" dirty="0">
                <a:solidFill>
                  <a:srgbClr val="0070C0"/>
                </a:solidFill>
              </a:rPr>
              <a:t>&lt;dirección&gt;</a:t>
            </a:r>
          </a:p>
          <a:p>
            <a:r>
              <a:rPr lang="es-ES" dirty="0"/>
              <a:t>		</a:t>
            </a:r>
            <a:r>
              <a:rPr lang="es-ES" dirty="0">
                <a:solidFill>
                  <a:srgbClr val="00B050"/>
                </a:solidFill>
              </a:rPr>
              <a:t>&lt;</a:t>
            </a:r>
            <a:r>
              <a:rPr lang="es-ES" dirty="0" err="1">
                <a:solidFill>
                  <a:srgbClr val="00B050"/>
                </a:solidFill>
              </a:rPr>
              <a:t>tipo_vía</a:t>
            </a:r>
            <a:r>
              <a:rPr lang="es-ES" dirty="0">
                <a:solidFill>
                  <a:srgbClr val="00B050"/>
                </a:solidFill>
              </a:rPr>
              <a:t>&gt;</a:t>
            </a:r>
            <a:r>
              <a:rPr lang="es-ES" dirty="0"/>
              <a:t>calle</a:t>
            </a:r>
            <a:r>
              <a:rPr lang="es-ES" dirty="0">
                <a:solidFill>
                  <a:srgbClr val="00B050"/>
                </a:solidFill>
              </a:rPr>
              <a:t>&lt;/</a:t>
            </a:r>
            <a:r>
              <a:rPr lang="es-ES" dirty="0" err="1">
                <a:solidFill>
                  <a:srgbClr val="00B050"/>
                </a:solidFill>
              </a:rPr>
              <a:t>tipo_vía</a:t>
            </a:r>
            <a:r>
              <a:rPr lang="es-ES" dirty="0">
                <a:solidFill>
                  <a:srgbClr val="00B050"/>
                </a:solidFill>
              </a:rPr>
              <a:t>&gt;</a:t>
            </a:r>
          </a:p>
          <a:p>
            <a:r>
              <a:rPr lang="es-ES" dirty="0">
                <a:solidFill>
                  <a:srgbClr val="00B050"/>
                </a:solidFill>
              </a:rPr>
              <a:t>		&lt;nombre&gt;</a:t>
            </a:r>
            <a:r>
              <a:rPr lang="es-ES" dirty="0"/>
              <a:t>Ancha</a:t>
            </a:r>
            <a:r>
              <a:rPr lang="es-ES" dirty="0">
                <a:solidFill>
                  <a:srgbClr val="00B050"/>
                </a:solidFill>
              </a:rPr>
              <a:t>&lt;/nombre&gt;</a:t>
            </a:r>
          </a:p>
          <a:p>
            <a:r>
              <a:rPr lang="es-ES" dirty="0">
                <a:solidFill>
                  <a:srgbClr val="00B050"/>
                </a:solidFill>
              </a:rPr>
              <a:t>		&lt;número&gt;</a:t>
            </a:r>
            <a:r>
              <a:rPr lang="es-ES" dirty="0"/>
              <a:t>5</a:t>
            </a:r>
            <a:r>
              <a:rPr lang="es-ES" dirty="0">
                <a:solidFill>
                  <a:srgbClr val="00B050"/>
                </a:solidFill>
              </a:rPr>
              <a:t>&lt;/número&gt;</a:t>
            </a:r>
          </a:p>
          <a:p>
            <a:r>
              <a:rPr lang="es-ES" dirty="0"/>
              <a:t>	</a:t>
            </a:r>
            <a:r>
              <a:rPr lang="es-ES" dirty="0">
                <a:solidFill>
                  <a:srgbClr val="0070C0"/>
                </a:solidFill>
              </a:rPr>
              <a:t>&lt;/dirección&gt;</a:t>
            </a:r>
          </a:p>
          <a:p>
            <a:r>
              <a:rPr lang="es-ES" dirty="0"/>
              <a:t>	</a:t>
            </a:r>
            <a:r>
              <a:rPr lang="es-ES" dirty="0">
                <a:solidFill>
                  <a:srgbClr val="0070C0"/>
                </a:solidFill>
              </a:rPr>
              <a:t>&lt;teléfonos&gt;</a:t>
            </a:r>
          </a:p>
          <a:p>
            <a:r>
              <a:rPr lang="es-ES" dirty="0"/>
              <a:t>		</a:t>
            </a:r>
            <a:r>
              <a:rPr lang="es-ES" dirty="0">
                <a:solidFill>
                  <a:srgbClr val="00B050"/>
                </a:solidFill>
              </a:rPr>
              <a:t>&lt;</a:t>
            </a:r>
            <a:r>
              <a:rPr lang="es-ES" dirty="0" err="1">
                <a:solidFill>
                  <a:srgbClr val="00B050"/>
                </a:solidFill>
              </a:rPr>
              <a:t>movil</a:t>
            </a:r>
            <a:r>
              <a:rPr lang="es-ES" dirty="0">
                <a:solidFill>
                  <a:srgbClr val="00B050"/>
                </a:solidFill>
              </a:rPr>
              <a:t>&gt;</a:t>
            </a:r>
            <a:r>
              <a:rPr lang="es-ES" dirty="0"/>
              <a:t>666555444</a:t>
            </a:r>
            <a:r>
              <a:rPr lang="es-ES" dirty="0">
                <a:solidFill>
                  <a:srgbClr val="00B050"/>
                </a:solidFill>
              </a:rPr>
              <a:t>&lt;/</a:t>
            </a:r>
            <a:r>
              <a:rPr lang="es-ES" dirty="0" err="1">
                <a:solidFill>
                  <a:srgbClr val="00B050"/>
                </a:solidFill>
              </a:rPr>
              <a:t>movil</a:t>
            </a:r>
            <a:r>
              <a:rPr lang="es-ES" dirty="0">
                <a:solidFill>
                  <a:srgbClr val="00B050"/>
                </a:solidFill>
              </a:rPr>
              <a:t>&gt;</a:t>
            </a:r>
          </a:p>
          <a:p>
            <a:r>
              <a:rPr lang="es-ES" dirty="0">
                <a:solidFill>
                  <a:srgbClr val="00B050"/>
                </a:solidFill>
              </a:rPr>
              <a:t>		&lt;</a:t>
            </a:r>
            <a:r>
              <a:rPr lang="es-ES" dirty="0" err="1">
                <a:solidFill>
                  <a:srgbClr val="00B050"/>
                </a:solidFill>
              </a:rPr>
              <a:t>movil</a:t>
            </a:r>
            <a:r>
              <a:rPr lang="es-ES" dirty="0">
                <a:solidFill>
                  <a:srgbClr val="00B050"/>
                </a:solidFill>
              </a:rPr>
              <a:t>&gt;</a:t>
            </a:r>
            <a:r>
              <a:rPr lang="es-ES" dirty="0"/>
              <a:t>654321012</a:t>
            </a:r>
            <a:r>
              <a:rPr lang="es-ES" dirty="0">
                <a:solidFill>
                  <a:srgbClr val="00B050"/>
                </a:solidFill>
              </a:rPr>
              <a:t>&lt;/</a:t>
            </a:r>
            <a:r>
              <a:rPr lang="es-ES" dirty="0" err="1">
                <a:solidFill>
                  <a:srgbClr val="00B050"/>
                </a:solidFill>
              </a:rPr>
              <a:t>movil</a:t>
            </a:r>
            <a:r>
              <a:rPr lang="es-ES" dirty="0">
                <a:solidFill>
                  <a:srgbClr val="00B050"/>
                </a:solidFill>
              </a:rPr>
              <a:t>&gt;</a:t>
            </a:r>
          </a:p>
          <a:p>
            <a:r>
              <a:rPr lang="es-ES" dirty="0">
                <a:solidFill>
                  <a:srgbClr val="00B050"/>
                </a:solidFill>
              </a:rPr>
              <a:t>		&lt;fijo&gt;</a:t>
            </a:r>
            <a:r>
              <a:rPr lang="es-ES" dirty="0"/>
              <a:t>956323232</a:t>
            </a:r>
            <a:r>
              <a:rPr lang="es-ES" dirty="0">
                <a:solidFill>
                  <a:srgbClr val="00B050"/>
                </a:solidFill>
              </a:rPr>
              <a:t>&lt;/fijo&gt;</a:t>
            </a:r>
          </a:p>
          <a:p>
            <a:r>
              <a:rPr lang="es-ES" dirty="0"/>
              <a:t>	</a:t>
            </a:r>
            <a:r>
              <a:rPr lang="es-ES" dirty="0">
                <a:solidFill>
                  <a:srgbClr val="0070C0"/>
                </a:solidFill>
              </a:rPr>
              <a:t>&lt;/teléfonos&gt;</a:t>
            </a:r>
          </a:p>
          <a:p>
            <a:r>
              <a:rPr lang="es-ES" dirty="0">
                <a:solidFill>
                  <a:srgbClr val="FF0000"/>
                </a:solidFill>
              </a:rPr>
              <a:t>&lt;/persona&gt;</a:t>
            </a:r>
          </a:p>
        </p:txBody>
      </p:sp>
    </p:spTree>
    <p:extLst>
      <p:ext uri="{BB962C8B-B14F-4D97-AF65-F5344CB8AC3E}">
        <p14:creationId xmlns:p14="http://schemas.microsoft.com/office/powerpoint/2010/main" val="3652930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817160"/>
          </a:xfrm>
        </p:spPr>
        <p:txBody>
          <a:bodyPr anchor="t" anchorCtr="0">
            <a:normAutofit/>
          </a:bodyPr>
          <a:lstStyle/>
          <a:p>
            <a:pPr algn="ctr"/>
            <a:r>
              <a:rPr lang="es-ES" sz="3200" b="1" dirty="0"/>
              <a:t>ELEMENTO SIN CONTENIDO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43492" y="1916832"/>
            <a:ext cx="7272924" cy="504056"/>
          </a:xfrm>
        </p:spPr>
        <p:txBody>
          <a:bodyPr>
            <a:normAutofit/>
          </a:bodyPr>
          <a:lstStyle/>
          <a:p>
            <a:pPr algn="just"/>
            <a:r>
              <a:rPr lang="es-ES" sz="2000" dirty="0"/>
              <a:t>A veces un elemento no tiene contenido</a:t>
            </a:r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AB84712-4985-42EB-B52B-9CF2A33B1F9E}" type="slidenum">
              <a:rPr lang="es-ES" smtClean="0"/>
              <a:pPr/>
              <a:t>12</a:t>
            </a:fld>
            <a:endParaRPr lang="es-ES" dirty="0"/>
          </a:p>
        </p:txBody>
      </p:sp>
      <p:sp>
        <p:nvSpPr>
          <p:cNvPr id="9" name="CuadroTexto 8"/>
          <p:cNvSpPr txBox="1"/>
          <p:nvPr/>
        </p:nvSpPr>
        <p:spPr>
          <a:xfrm>
            <a:off x="1041233" y="2430043"/>
            <a:ext cx="72729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002060"/>
                </a:solidFill>
              </a:rPr>
              <a:t>&lt;persona&gt;</a:t>
            </a:r>
          </a:p>
          <a:p>
            <a:r>
              <a:rPr lang="es-ES" dirty="0"/>
              <a:t>	</a:t>
            </a:r>
            <a:r>
              <a:rPr lang="es-ES" dirty="0">
                <a:solidFill>
                  <a:srgbClr val="0070C0"/>
                </a:solidFill>
              </a:rPr>
              <a:t>&lt;nombre&gt;</a:t>
            </a:r>
            <a:r>
              <a:rPr lang="es-ES" dirty="0"/>
              <a:t>Ramón Pérez González</a:t>
            </a:r>
            <a:r>
              <a:rPr lang="es-ES" dirty="0">
                <a:solidFill>
                  <a:srgbClr val="0070C0"/>
                </a:solidFill>
              </a:rPr>
              <a:t>&lt;/nombre&gt;</a:t>
            </a:r>
          </a:p>
          <a:p>
            <a:r>
              <a:rPr lang="es-ES" dirty="0"/>
              <a:t>	</a:t>
            </a:r>
            <a:r>
              <a:rPr lang="es-ES" dirty="0">
                <a:solidFill>
                  <a:srgbClr val="0070C0"/>
                </a:solidFill>
              </a:rPr>
              <a:t>&lt;DNI&gt;</a:t>
            </a:r>
            <a:r>
              <a:rPr lang="es-ES" dirty="0"/>
              <a:t>56.234.789-R</a:t>
            </a:r>
            <a:r>
              <a:rPr lang="es-ES" dirty="0">
                <a:solidFill>
                  <a:srgbClr val="0070C0"/>
                </a:solidFill>
              </a:rPr>
              <a:t>&lt;/DNI&gt;</a:t>
            </a:r>
          </a:p>
          <a:p>
            <a:r>
              <a:rPr lang="es-ES" dirty="0"/>
              <a:t>	</a:t>
            </a:r>
            <a:r>
              <a:rPr lang="es-ES" dirty="0">
                <a:solidFill>
                  <a:srgbClr val="FF0000"/>
                </a:solidFill>
              </a:rPr>
              <a:t>&lt;casado&gt;&lt;/casado)</a:t>
            </a:r>
          </a:p>
          <a:p>
            <a:r>
              <a:rPr lang="es-ES" b="1" dirty="0">
                <a:solidFill>
                  <a:srgbClr val="002060"/>
                </a:solidFill>
              </a:rPr>
              <a:t>&lt;/persona&gt;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1041233" y="4492590"/>
            <a:ext cx="72729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002060"/>
                </a:solidFill>
              </a:rPr>
              <a:t>&lt;persona&gt;</a:t>
            </a:r>
          </a:p>
          <a:p>
            <a:r>
              <a:rPr lang="es-ES" dirty="0"/>
              <a:t>	</a:t>
            </a:r>
            <a:r>
              <a:rPr lang="es-ES" dirty="0">
                <a:solidFill>
                  <a:srgbClr val="0070C0"/>
                </a:solidFill>
              </a:rPr>
              <a:t>&lt;nombre&gt;</a:t>
            </a:r>
            <a:r>
              <a:rPr lang="es-ES" dirty="0"/>
              <a:t>Ramón Pérez González</a:t>
            </a:r>
            <a:r>
              <a:rPr lang="es-ES" dirty="0">
                <a:solidFill>
                  <a:srgbClr val="0070C0"/>
                </a:solidFill>
              </a:rPr>
              <a:t>&lt;/nombre&gt;</a:t>
            </a:r>
          </a:p>
          <a:p>
            <a:r>
              <a:rPr lang="es-ES" dirty="0"/>
              <a:t>	</a:t>
            </a:r>
            <a:r>
              <a:rPr lang="es-ES" dirty="0">
                <a:solidFill>
                  <a:srgbClr val="0070C0"/>
                </a:solidFill>
              </a:rPr>
              <a:t>&lt;DNI&gt;</a:t>
            </a:r>
            <a:r>
              <a:rPr lang="es-ES" dirty="0"/>
              <a:t>56.234.789-R</a:t>
            </a:r>
            <a:r>
              <a:rPr lang="es-ES" dirty="0">
                <a:solidFill>
                  <a:srgbClr val="0070C0"/>
                </a:solidFill>
              </a:rPr>
              <a:t>&lt;/DNI&gt;</a:t>
            </a:r>
          </a:p>
          <a:p>
            <a:r>
              <a:rPr lang="es-ES" dirty="0"/>
              <a:t>	</a:t>
            </a:r>
            <a:r>
              <a:rPr lang="es-ES" dirty="0">
                <a:solidFill>
                  <a:srgbClr val="FF0000"/>
                </a:solidFill>
              </a:rPr>
              <a:t>&lt;casado/&gt;</a:t>
            </a:r>
          </a:p>
          <a:p>
            <a:r>
              <a:rPr lang="es-ES" b="1" dirty="0">
                <a:solidFill>
                  <a:srgbClr val="002060"/>
                </a:solidFill>
              </a:rPr>
              <a:t>&lt;/persona&gt;</a:t>
            </a:r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1004986" y="4050962"/>
            <a:ext cx="7272924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000" dirty="0"/>
              <a:t>Se puede utilizar una misma etiqueta de apertura y cierre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61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977D393-3327-4925-E689-2723EA34D0E0}"/>
              </a:ext>
            </a:extLst>
          </p:cNvPr>
          <p:cNvSpPr/>
          <p:nvPr/>
        </p:nvSpPr>
        <p:spPr>
          <a:xfrm>
            <a:off x="767674" y="1692459"/>
            <a:ext cx="7725893" cy="302433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BCEA8256-5E4B-48EE-A10A-A16DD280B273}" type="slidenum">
              <a:rPr lang="es-ES" smtClean="0"/>
              <a:pPr/>
              <a:t>13</a:t>
            </a:fld>
            <a:endParaRPr lang="es-E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476"/>
          <a:stretch/>
        </p:blipFill>
        <p:spPr bwMode="auto">
          <a:xfrm>
            <a:off x="767674" y="1692459"/>
            <a:ext cx="7725893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1 Título"/>
          <p:cNvSpPr>
            <a:spLocks noGrp="1"/>
          </p:cNvSpPr>
          <p:nvPr>
            <p:ph type="title"/>
          </p:nvPr>
        </p:nvSpPr>
        <p:spPr>
          <a:xfrm>
            <a:off x="4641448" y="24408"/>
            <a:ext cx="3516774" cy="745152"/>
          </a:xfrm>
        </p:spPr>
        <p:txBody>
          <a:bodyPr anchor="t" anchorCtr="0">
            <a:normAutofit/>
          </a:bodyPr>
          <a:lstStyle/>
          <a:p>
            <a:pPr algn="ctr"/>
            <a:r>
              <a:rPr lang="es-ES" sz="2800" b="1" dirty="0">
                <a:solidFill>
                  <a:srgbClr val="CCF37D"/>
                </a:solidFill>
              </a:rPr>
              <a:t>VER y EDITAR</a:t>
            </a: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A745837C-B5BE-8C59-F3F7-915691BB23E6}"/>
              </a:ext>
            </a:extLst>
          </p:cNvPr>
          <p:cNvSpPr txBox="1">
            <a:spLocks/>
          </p:cNvSpPr>
          <p:nvPr/>
        </p:nvSpPr>
        <p:spPr>
          <a:xfrm>
            <a:off x="603286" y="1190829"/>
            <a:ext cx="7857146" cy="5296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Font typeface="Wingdings 2" pitchFamily="18" charset="2"/>
              <a:buNone/>
            </a:pPr>
            <a:r>
              <a:rPr lang="es-ES" sz="1600" dirty="0">
                <a:latin typeface="+mj-lt"/>
                <a:cs typeface="Courier New" pitchFamily="49" charset="0"/>
              </a:rPr>
              <a:t>Podemos visualizar un documento XML, por ejemplo, mediante un navegador: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47050E21-3B88-9E2F-0E8B-F4E5B8961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508" y="2766917"/>
            <a:ext cx="5400716" cy="1894488"/>
          </a:xfrm>
        </p:spPr>
        <p:txBody>
          <a:bodyPr>
            <a:normAutofit lnSpcReduction="10000"/>
          </a:bodyPr>
          <a:lstStyle/>
          <a:p>
            <a:pPr marL="68580" indent="0">
              <a:buNone/>
            </a:pPr>
            <a:r>
              <a:rPr lang="pt-BR" sz="18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- 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&lt;</a:t>
            </a:r>
            <a:r>
              <a:rPr lang="pt-BR" sz="1400" b="1" dirty="0">
                <a:solidFill>
                  <a:srgbClr val="A7007C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poema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fecha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=</a:t>
            </a:r>
            <a:r>
              <a:rPr lang="pt-BR" sz="1400" dirty="0">
                <a:solidFill>
                  <a:srgbClr val="3F4FFF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”Abril 1915”  </a:t>
            </a:r>
            <a:r>
              <a:rPr lang="pt-BR" sz="1400" b="1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lugar 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=</a:t>
            </a:r>
            <a:r>
              <a:rPr lang="pt-BR" sz="1400" dirty="0">
                <a:solidFill>
                  <a:srgbClr val="3F4FFF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“</a:t>
            </a:r>
            <a:r>
              <a:rPr lang="pt-BR" sz="1400" b="1" dirty="0">
                <a:solidFill>
                  <a:srgbClr val="3F4FFF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G</a:t>
            </a:r>
            <a:r>
              <a:rPr lang="pt-BR" sz="1400" dirty="0">
                <a:solidFill>
                  <a:srgbClr val="3F4FFF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ranada”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&gt;</a:t>
            </a:r>
          </a:p>
          <a:p>
            <a:pPr marL="68580" indent="0">
              <a:buNone/>
            </a:pP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      &lt;</a:t>
            </a:r>
            <a:r>
              <a:rPr lang="pt-BR" sz="1400" b="1" dirty="0">
                <a:solidFill>
                  <a:srgbClr val="A7007C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autor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dirty="0" err="1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nombre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=</a:t>
            </a:r>
            <a:r>
              <a:rPr lang="pt-BR" sz="1400" dirty="0">
                <a:solidFill>
                  <a:srgbClr val="3F4FFF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“</a:t>
            </a:r>
            <a:r>
              <a:rPr lang="pt-BR" sz="1400" dirty="0" err="1">
                <a:solidFill>
                  <a:srgbClr val="3F4FFF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desconocido</a:t>
            </a:r>
            <a:r>
              <a:rPr lang="pt-BR" sz="1400" dirty="0">
                <a:solidFill>
                  <a:srgbClr val="3F4FFF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”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/&gt;</a:t>
            </a:r>
          </a:p>
          <a:p>
            <a:pPr marL="68580" indent="0">
              <a:buNone/>
            </a:pP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      </a:t>
            </a:r>
            <a:r>
              <a:rPr lang="pl-PL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&lt;</a:t>
            </a:r>
            <a:r>
              <a:rPr lang="es-ES" sz="1400" b="1" dirty="0">
                <a:solidFill>
                  <a:srgbClr val="A7007C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titulo</a:t>
            </a:r>
            <a:r>
              <a:rPr lang="pl-PL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&gt;</a:t>
            </a:r>
            <a:r>
              <a:rPr lang="es-ES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</a:t>
            </a:r>
            <a:r>
              <a:rPr lang="pl-PL" sz="1400" i="1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Alba</a:t>
            </a:r>
            <a:r>
              <a:rPr lang="es-ES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</a:t>
            </a:r>
            <a:r>
              <a:rPr lang="pl-PL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&lt;/</a:t>
            </a:r>
            <a:r>
              <a:rPr lang="es-ES" sz="1400" b="1" dirty="0">
                <a:solidFill>
                  <a:srgbClr val="A7007C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titulo</a:t>
            </a:r>
            <a:r>
              <a:rPr lang="es-ES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&gt;</a:t>
            </a:r>
            <a:endParaRPr lang="pl-PL" sz="1400" dirty="0">
              <a:latin typeface="Times New Roman" panose="02020603050405020304" pitchFamily="18" charset="0"/>
              <a:ea typeface="Verdana" pitchFamily="34" charset="0"/>
              <a:cs typeface="Times New Roman" panose="02020603050405020304" pitchFamily="18" charset="0"/>
            </a:endParaRPr>
          </a:p>
          <a:p>
            <a:pPr marL="68580" indent="0">
              <a:buNone/>
            </a:pP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      &lt;</a:t>
            </a:r>
            <a:r>
              <a:rPr lang="pt-BR" sz="1400" b="1" dirty="0">
                <a:solidFill>
                  <a:srgbClr val="A7007C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verso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&gt; </a:t>
            </a:r>
            <a:r>
              <a:rPr lang="pt-BR" sz="1400" i="1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Mi </a:t>
            </a:r>
            <a:r>
              <a:rPr lang="pt-BR" sz="1400" i="1" dirty="0" err="1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corazón</a:t>
            </a:r>
            <a:r>
              <a:rPr lang="pt-BR" sz="1400" i="1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oprimido 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&lt;/</a:t>
            </a:r>
            <a:r>
              <a:rPr lang="pt-BR" sz="1400" b="1" dirty="0">
                <a:solidFill>
                  <a:srgbClr val="A7007C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verso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&gt;</a:t>
            </a:r>
          </a:p>
          <a:p>
            <a:pPr marL="68580" indent="0">
              <a:buNone/>
            </a:pP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      &lt;</a:t>
            </a:r>
            <a:r>
              <a:rPr lang="pt-BR" sz="1400" b="1" dirty="0">
                <a:solidFill>
                  <a:srgbClr val="A7007C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verso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&gt; </a:t>
            </a:r>
            <a:r>
              <a:rPr lang="pt-BR" sz="1400" i="1" dirty="0" err="1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siente</a:t>
            </a:r>
            <a:r>
              <a:rPr lang="pt-BR" sz="1400" i="1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junto a </a:t>
            </a:r>
            <a:r>
              <a:rPr lang="pt-BR" sz="1400" i="1" dirty="0" err="1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la</a:t>
            </a:r>
            <a:r>
              <a:rPr lang="pt-BR" sz="1400" i="1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</a:t>
            </a:r>
            <a:r>
              <a:rPr lang="pt-BR" sz="1400" i="1" dirty="0" err="1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alborada</a:t>
            </a:r>
            <a:r>
              <a:rPr lang="pt-BR" sz="1400" i="1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&lt;/</a:t>
            </a:r>
            <a:r>
              <a:rPr lang="pt-BR" sz="1400" b="1" dirty="0">
                <a:solidFill>
                  <a:srgbClr val="A7007C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verso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&gt;</a:t>
            </a:r>
          </a:p>
          <a:p>
            <a:pPr marL="68580" indent="0">
              <a:buNone/>
            </a:pP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      &lt;</a:t>
            </a:r>
            <a:r>
              <a:rPr lang="pt-BR" sz="1400" b="1" dirty="0">
                <a:solidFill>
                  <a:srgbClr val="A7007C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verso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&gt; </a:t>
            </a:r>
            <a:r>
              <a:rPr lang="pt-BR" sz="1400" i="1" dirty="0" err="1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el</a:t>
            </a:r>
            <a:r>
              <a:rPr lang="pt-BR" sz="1400" i="1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</a:t>
            </a:r>
            <a:r>
              <a:rPr lang="pt-BR" sz="1400" i="1" dirty="0" err="1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dolor</a:t>
            </a:r>
            <a:r>
              <a:rPr lang="pt-BR" sz="1400" i="1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de sus amores . . .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&lt;/</a:t>
            </a:r>
            <a:r>
              <a:rPr lang="pt-BR" sz="1400" b="1" dirty="0">
                <a:solidFill>
                  <a:srgbClr val="A7007C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verso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&gt;</a:t>
            </a:r>
          </a:p>
          <a:p>
            <a:pPr marL="68580" indent="0">
              <a:buNone/>
            </a:pPr>
            <a:r>
              <a:rPr lang="es-ES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   &lt;/</a:t>
            </a:r>
            <a:r>
              <a:rPr lang="es-ES" sz="1400" b="1" dirty="0">
                <a:solidFill>
                  <a:srgbClr val="A7007C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poema</a:t>
            </a:r>
            <a:r>
              <a:rPr lang="es-ES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&gt;</a:t>
            </a:r>
            <a:endParaRPr lang="es-E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2 Marcador de contenido">
            <a:extLst>
              <a:ext uri="{FF2B5EF4-FFF2-40B4-BE49-F238E27FC236}">
                <a16:creationId xmlns:a16="http://schemas.microsoft.com/office/drawing/2014/main" id="{9DABC026-CA52-B568-F757-B62B490C29C3}"/>
              </a:ext>
            </a:extLst>
          </p:cNvPr>
          <p:cNvSpPr txBox="1">
            <a:spLocks/>
          </p:cNvSpPr>
          <p:nvPr/>
        </p:nvSpPr>
        <p:spPr>
          <a:xfrm>
            <a:off x="603286" y="4872692"/>
            <a:ext cx="7857146" cy="12926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Font typeface="Wingdings 2" pitchFamily="18" charset="2"/>
              <a:buNone/>
            </a:pPr>
            <a:r>
              <a:rPr lang="es-ES" sz="1600" dirty="0">
                <a:latin typeface="+mj-lt"/>
                <a:cs typeface="Courier New" pitchFamily="49" charset="0"/>
              </a:rPr>
              <a:t> - Resalta la sintaxis con colores y negritas, lo que lo hace más fácil de leer.</a:t>
            </a:r>
          </a:p>
          <a:p>
            <a:pPr marL="68580" indent="0">
              <a:buFont typeface="Wingdings 2" pitchFamily="18" charset="2"/>
              <a:buNone/>
            </a:pPr>
            <a:r>
              <a:rPr lang="es-ES" sz="1600" dirty="0">
                <a:latin typeface="+mj-lt"/>
                <a:cs typeface="Courier New" pitchFamily="49" charset="0"/>
              </a:rPr>
              <a:t> - Permite contraer y expandir nodos (elementos), pulsando el – o el +.</a:t>
            </a:r>
          </a:p>
          <a:p>
            <a:pPr marL="68580" indent="0">
              <a:buFont typeface="Wingdings 2" pitchFamily="18" charset="2"/>
              <a:buNone/>
            </a:pPr>
            <a:r>
              <a:rPr lang="es-ES" sz="1600" dirty="0">
                <a:latin typeface="+mj-lt"/>
                <a:cs typeface="Courier New" pitchFamily="49" charset="0"/>
              </a:rPr>
              <a:t> - Valida el documento mostrando posibles errores y advertencias.</a:t>
            </a:r>
          </a:p>
          <a:p>
            <a:pPr marL="68580" indent="0">
              <a:buFont typeface="Wingdings 2" pitchFamily="18" charset="2"/>
              <a:buNone/>
            </a:pPr>
            <a:r>
              <a:rPr lang="es-ES" sz="1600" dirty="0">
                <a:latin typeface="+mj-lt"/>
                <a:cs typeface="Courier New" pitchFamily="49" charset="0"/>
              </a:rPr>
              <a:t> - NO permite editar y guardar el documento.</a:t>
            </a:r>
          </a:p>
        </p:txBody>
      </p:sp>
      <p:sp>
        <p:nvSpPr>
          <p:cNvPr id="10" name="2 Marcador de contenido">
            <a:extLst>
              <a:ext uri="{FF2B5EF4-FFF2-40B4-BE49-F238E27FC236}">
                <a16:creationId xmlns:a16="http://schemas.microsoft.com/office/drawing/2014/main" id="{7B03AB7F-5FDE-8AB9-7FC0-EC969C3CC67E}"/>
              </a:ext>
            </a:extLst>
          </p:cNvPr>
          <p:cNvSpPr txBox="1">
            <a:spLocks/>
          </p:cNvSpPr>
          <p:nvPr/>
        </p:nvSpPr>
        <p:spPr>
          <a:xfrm>
            <a:off x="1174858" y="2787638"/>
            <a:ext cx="5400716" cy="43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Font typeface="Wingdings 2" pitchFamily="18" charset="2"/>
              <a:buNone/>
            </a:pP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+ &lt;</a:t>
            </a:r>
            <a:r>
              <a:rPr lang="pt-BR" sz="1400" b="1" dirty="0">
                <a:solidFill>
                  <a:srgbClr val="A7007C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poema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fecha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=</a:t>
            </a:r>
            <a:r>
              <a:rPr lang="pt-BR" sz="1400" dirty="0">
                <a:solidFill>
                  <a:srgbClr val="3F4FFF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”Abril 1915”  </a:t>
            </a:r>
            <a:r>
              <a:rPr lang="pt-BR" sz="1400" b="1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lugar 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=</a:t>
            </a:r>
            <a:r>
              <a:rPr lang="pt-BR" sz="1400" dirty="0">
                <a:solidFill>
                  <a:srgbClr val="3F4FFF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“</a:t>
            </a:r>
            <a:r>
              <a:rPr lang="pt-BR" sz="1400" b="1" dirty="0">
                <a:solidFill>
                  <a:srgbClr val="3F4FFF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G</a:t>
            </a:r>
            <a:r>
              <a:rPr lang="pt-BR" sz="1400" dirty="0">
                <a:solidFill>
                  <a:srgbClr val="3F4FFF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ranada”</a:t>
            </a:r>
            <a:r>
              <a:rPr lang="pt-BR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&gt;</a:t>
            </a:r>
            <a:r>
              <a:rPr lang="es-ES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&lt;/</a:t>
            </a:r>
            <a:r>
              <a:rPr lang="es-ES" sz="1400" b="1" dirty="0">
                <a:solidFill>
                  <a:srgbClr val="A7007C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poema</a:t>
            </a:r>
            <a:r>
              <a:rPr lang="es-ES" sz="14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&gt;</a:t>
            </a:r>
            <a:endParaRPr lang="es-E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C3CCB97B-F42C-6394-7F2A-CBA404D3B0A4}"/>
              </a:ext>
            </a:extLst>
          </p:cNvPr>
          <p:cNvSpPr/>
          <p:nvPr/>
        </p:nvSpPr>
        <p:spPr>
          <a:xfrm>
            <a:off x="983280" y="2842949"/>
            <a:ext cx="27593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A1EB230-E501-1970-4846-35BD5345CBD4}"/>
              </a:ext>
            </a:extLst>
          </p:cNvPr>
          <p:cNvSpPr/>
          <p:nvPr/>
        </p:nvSpPr>
        <p:spPr>
          <a:xfrm>
            <a:off x="574984" y="2256151"/>
            <a:ext cx="3755424" cy="3511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585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 uiExpand="1" build="p"/>
      <p:bldP spid="10" grpId="0"/>
      <p:bldP spid="10" grpId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641448" y="6016203"/>
            <a:ext cx="3502152" cy="365125"/>
          </a:xfrm>
        </p:spPr>
        <p:txBody>
          <a:bodyPr/>
          <a:lstStyle/>
          <a:p>
            <a:fld id="{0AB84712-4985-42EB-B52B-9CF2A33B1F9E}" type="slidenum">
              <a:rPr lang="es-ES" smtClean="0"/>
              <a:pPr/>
              <a:t>14</a:t>
            </a:fld>
            <a:endParaRPr lang="es-ES" dirty="0"/>
          </a:p>
        </p:txBody>
      </p:sp>
      <p:sp>
        <p:nvSpPr>
          <p:cNvPr id="6" name="2 Marcador de contenido">
            <a:extLst>
              <a:ext uri="{FF2B5EF4-FFF2-40B4-BE49-F238E27FC236}">
                <a16:creationId xmlns:a16="http://schemas.microsoft.com/office/drawing/2014/main" id="{96C3E347-2AE7-1A47-9480-4F332CAA29B3}"/>
              </a:ext>
            </a:extLst>
          </p:cNvPr>
          <p:cNvSpPr txBox="1">
            <a:spLocks/>
          </p:cNvSpPr>
          <p:nvPr/>
        </p:nvSpPr>
        <p:spPr>
          <a:xfrm>
            <a:off x="870817" y="882707"/>
            <a:ext cx="7236995" cy="529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Font typeface="Wingdings 2" pitchFamily="18" charset="2"/>
              <a:buNone/>
            </a:pPr>
            <a:r>
              <a:rPr lang="es-ES" sz="1600" dirty="0">
                <a:latin typeface="+mj-lt"/>
                <a:cs typeface="Courier New" pitchFamily="49" charset="0"/>
              </a:rPr>
              <a:t>Podemos visualizar y editar un documento XML con el Bloc de Notas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6CF39BB-884E-19BB-81AA-AE82BA98B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3209" y="1268760"/>
            <a:ext cx="7174603" cy="3661726"/>
          </a:xfrm>
          <a:prstGeom prst="rect">
            <a:avLst/>
          </a:prstGeom>
        </p:spPr>
      </p:pic>
      <p:sp>
        <p:nvSpPr>
          <p:cNvPr id="10" name="2 Marcador de contenido">
            <a:extLst>
              <a:ext uri="{FF2B5EF4-FFF2-40B4-BE49-F238E27FC236}">
                <a16:creationId xmlns:a16="http://schemas.microsoft.com/office/drawing/2014/main" id="{8DD27F4B-EA4B-3710-FFF5-3189D53FF968}"/>
              </a:ext>
            </a:extLst>
          </p:cNvPr>
          <p:cNvSpPr txBox="1">
            <a:spLocks/>
          </p:cNvSpPr>
          <p:nvPr/>
        </p:nvSpPr>
        <p:spPr>
          <a:xfrm>
            <a:off x="738855" y="5007832"/>
            <a:ext cx="7577562" cy="1450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latin typeface="+mj-lt"/>
                <a:cs typeface="Courier New" pitchFamily="49" charset="0"/>
              </a:rPr>
              <a:t>No proporciona ninguna ayuda para que la visualización sea más cómoda y clara, como si hace un navegador.</a:t>
            </a:r>
          </a:p>
          <a:p>
            <a:pPr algn="just"/>
            <a:r>
              <a:rPr lang="es-ES" sz="1600" dirty="0">
                <a:latin typeface="+mj-lt"/>
                <a:cs typeface="Courier New" pitchFamily="49" charset="0"/>
              </a:rPr>
              <a:t>Hay que asegurarse de guardar el documento con la codificación que hemos especificado</a:t>
            </a:r>
          </a:p>
          <a:p>
            <a:pPr algn="just"/>
            <a:r>
              <a:rPr lang="es-ES" sz="1600" dirty="0">
                <a:latin typeface="+mj-lt"/>
                <a:cs typeface="Courier New" pitchFamily="49" charset="0"/>
              </a:rPr>
              <a:t>No permite escoger codificación Europa occidental (ISO-8859-1)</a:t>
            </a:r>
          </a:p>
        </p:txBody>
      </p:sp>
      <p:sp>
        <p:nvSpPr>
          <p:cNvPr id="13" name="1 Título">
            <a:extLst>
              <a:ext uri="{FF2B5EF4-FFF2-40B4-BE49-F238E27FC236}">
                <a16:creationId xmlns:a16="http://schemas.microsoft.com/office/drawing/2014/main" id="{3283EE04-E264-4DBC-BDAC-CB8DC27F8A50}"/>
              </a:ext>
            </a:extLst>
          </p:cNvPr>
          <p:cNvSpPr txBox="1">
            <a:spLocks/>
          </p:cNvSpPr>
          <p:nvPr/>
        </p:nvSpPr>
        <p:spPr>
          <a:xfrm>
            <a:off x="4641448" y="24408"/>
            <a:ext cx="3516774" cy="7451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2800" b="1">
                <a:solidFill>
                  <a:srgbClr val="CCF37D"/>
                </a:solidFill>
              </a:rPr>
              <a:t>VER y EDITAR</a:t>
            </a:r>
            <a:endParaRPr lang="es-ES" sz="2800" b="1" dirty="0">
              <a:solidFill>
                <a:srgbClr val="CCF37D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90DAB8C-0260-8195-0619-6ED516146944}"/>
              </a:ext>
            </a:extLst>
          </p:cNvPr>
          <p:cNvSpPr/>
          <p:nvPr/>
        </p:nvSpPr>
        <p:spPr>
          <a:xfrm>
            <a:off x="1005217" y="2060848"/>
            <a:ext cx="6663127" cy="2376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2 Marcador de contenido">
            <a:extLst>
              <a:ext uri="{FF2B5EF4-FFF2-40B4-BE49-F238E27FC236}">
                <a16:creationId xmlns:a16="http://schemas.microsoft.com/office/drawing/2014/main" id="{42DBF449-8141-654C-8D0C-A4EF77A4D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775" y="2132856"/>
            <a:ext cx="6078521" cy="2453544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&lt;?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xml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version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="1.0"  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encoding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="UTF-8"?&gt;</a:t>
            </a:r>
          </a:p>
          <a:p>
            <a:pPr marL="68580" indent="0">
              <a:buNone/>
            </a:pPr>
            <a:endParaRPr lang="es-ES" sz="1600" b="1" dirty="0">
              <a:solidFill>
                <a:srgbClr val="002060"/>
              </a:solidFill>
            </a:endParaRPr>
          </a:p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&lt;poema&gt;</a:t>
            </a:r>
          </a:p>
          <a:p>
            <a:pPr marL="68580" indent="0">
              <a:buNone/>
            </a:pP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pl-PL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&lt;</a:t>
            </a: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titulo</a:t>
            </a:r>
            <a:r>
              <a:rPr lang="pl-PL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&gt;</a:t>
            </a: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l-PL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Alba</a:t>
            </a: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l-PL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&lt;/</a:t>
            </a: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titulo&gt;</a:t>
            </a:r>
            <a:endParaRPr lang="pl-PL" sz="1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&lt;verso&gt; Mi 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corazón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oprimido &lt;/verso&gt;</a:t>
            </a:r>
          </a:p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&lt;verso&gt; 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siente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junto a 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alborada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&lt;/verso&gt;</a:t>
            </a:r>
          </a:p>
          <a:p>
            <a:pPr marL="68580" indent="0">
              <a:buNone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&lt;verso&gt; 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dolor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sus amores . . . &lt;/verso&gt;</a:t>
            </a:r>
          </a:p>
          <a:p>
            <a:pPr marL="68580" indent="0">
              <a:buNone/>
            </a:pPr>
            <a:r>
              <a:rPr lang="es-E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&lt;/poema&gt;</a:t>
            </a:r>
            <a:endParaRPr lang="es-ES" sz="1600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E59A4F0-AB79-6012-DB93-69BE71D104B7}"/>
              </a:ext>
            </a:extLst>
          </p:cNvPr>
          <p:cNvGrpSpPr/>
          <p:nvPr/>
        </p:nvGrpSpPr>
        <p:grpSpPr>
          <a:xfrm>
            <a:off x="4572000" y="2132004"/>
            <a:ext cx="2565129" cy="4537356"/>
            <a:chOff x="4572000" y="2132004"/>
            <a:chExt cx="2565129" cy="4537356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96A18AE6-791A-9CEC-41F6-C759D0FCFFB3}"/>
                </a:ext>
              </a:extLst>
            </p:cNvPr>
            <p:cNvSpPr/>
            <p:nvPr/>
          </p:nvSpPr>
          <p:spPr>
            <a:xfrm>
              <a:off x="4716016" y="2132004"/>
              <a:ext cx="936104" cy="351101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17B6F71D-D975-F03A-F41D-B0913853CC84}"/>
                </a:ext>
              </a:extLst>
            </p:cNvPr>
            <p:cNvSpPr/>
            <p:nvPr/>
          </p:nvSpPr>
          <p:spPr>
            <a:xfrm>
              <a:off x="6201025" y="4581014"/>
              <a:ext cx="936104" cy="351101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Arco 17">
              <a:extLst>
                <a:ext uri="{FF2B5EF4-FFF2-40B4-BE49-F238E27FC236}">
                  <a16:creationId xmlns:a16="http://schemas.microsoft.com/office/drawing/2014/main" id="{E3838544-62EF-02C9-F66E-88985233211B}"/>
                </a:ext>
              </a:extLst>
            </p:cNvPr>
            <p:cNvSpPr/>
            <p:nvPr/>
          </p:nvSpPr>
          <p:spPr>
            <a:xfrm>
              <a:off x="4572000" y="2307554"/>
              <a:ext cx="2088232" cy="4361806"/>
            </a:xfrm>
            <a:prstGeom prst="arc">
              <a:avLst>
                <a:gd name="adj1" fmla="val 16200000"/>
                <a:gd name="adj2" fmla="val 28319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6E9F4BC7-E0F8-EE3C-D54B-809B0EAC1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09" y="1726217"/>
            <a:ext cx="4043604" cy="2021484"/>
          </a:xfrm>
          <a:prstGeom prst="rect">
            <a:avLst/>
          </a:prstGeom>
        </p:spPr>
      </p:pic>
      <p:sp>
        <p:nvSpPr>
          <p:cNvPr id="23" name="2 Marcador de contenido">
            <a:extLst>
              <a:ext uri="{FF2B5EF4-FFF2-40B4-BE49-F238E27FC236}">
                <a16:creationId xmlns:a16="http://schemas.microsoft.com/office/drawing/2014/main" id="{A6311ED9-CAC8-F07D-0950-2AD903753152}"/>
              </a:ext>
            </a:extLst>
          </p:cNvPr>
          <p:cNvSpPr txBox="1">
            <a:spLocks/>
          </p:cNvSpPr>
          <p:nvPr/>
        </p:nvSpPr>
        <p:spPr>
          <a:xfrm>
            <a:off x="3132082" y="5793795"/>
            <a:ext cx="5040076" cy="360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 algn="just">
              <a:buNone/>
            </a:pPr>
            <a:r>
              <a:rPr lang="es-ES" sz="1600" dirty="0">
                <a:latin typeface="Adobe Heiti Std R"/>
                <a:cs typeface="Courier New" pitchFamily="49" charset="0"/>
              </a:rPr>
              <a:t>(Archivo -&gt; Guardar cómo… -&gt; Codificación)</a:t>
            </a:r>
          </a:p>
        </p:txBody>
      </p:sp>
    </p:spTree>
    <p:extLst>
      <p:ext uri="{BB962C8B-B14F-4D97-AF65-F5344CB8AC3E}">
        <p14:creationId xmlns:p14="http://schemas.microsoft.com/office/powerpoint/2010/main" val="362438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2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641448" y="6016203"/>
            <a:ext cx="3502152" cy="365125"/>
          </a:xfrm>
        </p:spPr>
        <p:txBody>
          <a:bodyPr/>
          <a:lstStyle/>
          <a:p>
            <a:fld id="{0AB84712-4985-42EB-B52B-9CF2A33B1F9E}" type="slidenum">
              <a:rPr lang="es-ES" smtClean="0"/>
              <a:pPr/>
              <a:t>15</a:t>
            </a:fld>
            <a:endParaRPr lang="es-ES" dirty="0"/>
          </a:p>
        </p:txBody>
      </p:sp>
      <p:sp>
        <p:nvSpPr>
          <p:cNvPr id="6" name="2 Marcador de contenido">
            <a:extLst>
              <a:ext uri="{FF2B5EF4-FFF2-40B4-BE49-F238E27FC236}">
                <a16:creationId xmlns:a16="http://schemas.microsoft.com/office/drawing/2014/main" id="{96C3E347-2AE7-1A47-9480-4F332CAA29B3}"/>
              </a:ext>
            </a:extLst>
          </p:cNvPr>
          <p:cNvSpPr txBox="1">
            <a:spLocks/>
          </p:cNvSpPr>
          <p:nvPr/>
        </p:nvSpPr>
        <p:spPr>
          <a:xfrm>
            <a:off x="870817" y="882707"/>
            <a:ext cx="7373591" cy="1610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Font typeface="Wingdings 2" pitchFamily="18" charset="2"/>
              <a:buNone/>
            </a:pPr>
            <a:r>
              <a:rPr lang="es-ES" sz="1600" dirty="0">
                <a:latin typeface="+mj-lt"/>
                <a:cs typeface="Courier New" pitchFamily="49" charset="0"/>
              </a:rPr>
              <a:t>Hay programas que permite visualizar y editar los documentos de manera más cómoda, rápida, fiable..</a:t>
            </a:r>
          </a:p>
          <a:p>
            <a:r>
              <a:rPr lang="es-ES" sz="1600" dirty="0">
                <a:cs typeface="Courier New" pitchFamily="49" charset="0"/>
              </a:rPr>
              <a:t>Resaltando la sintaxis con colores, negritas, </a:t>
            </a:r>
            <a:r>
              <a:rPr lang="es-ES" sz="1600" dirty="0" err="1">
                <a:cs typeface="Courier New" pitchFamily="49" charset="0"/>
              </a:rPr>
              <a:t>indentado</a:t>
            </a:r>
            <a:r>
              <a:rPr lang="es-ES" sz="1600" dirty="0">
                <a:cs typeface="Courier New" pitchFamily="49" charset="0"/>
              </a:rPr>
              <a:t> automático…</a:t>
            </a:r>
          </a:p>
          <a:p>
            <a:r>
              <a:rPr lang="es-ES" sz="1600" dirty="0">
                <a:latin typeface="+mj-lt"/>
                <a:cs typeface="Courier New" pitchFamily="49" charset="0"/>
              </a:rPr>
              <a:t>Valida el documento para detectar errores y facilita su corrección.</a:t>
            </a:r>
          </a:p>
          <a:p>
            <a:r>
              <a:rPr lang="es-ES" sz="1600" dirty="0">
                <a:latin typeface="+mj-lt"/>
                <a:cs typeface="Courier New" pitchFamily="49" charset="0"/>
              </a:rPr>
              <a:t>Muchas más funcionalidades.</a:t>
            </a:r>
          </a:p>
        </p:txBody>
      </p:sp>
      <p:sp>
        <p:nvSpPr>
          <p:cNvPr id="13" name="1 Título">
            <a:extLst>
              <a:ext uri="{FF2B5EF4-FFF2-40B4-BE49-F238E27FC236}">
                <a16:creationId xmlns:a16="http://schemas.microsoft.com/office/drawing/2014/main" id="{3283EE04-E264-4DBC-BDAC-CB8DC27F8A50}"/>
              </a:ext>
            </a:extLst>
          </p:cNvPr>
          <p:cNvSpPr txBox="1">
            <a:spLocks/>
          </p:cNvSpPr>
          <p:nvPr/>
        </p:nvSpPr>
        <p:spPr>
          <a:xfrm>
            <a:off x="4641448" y="24408"/>
            <a:ext cx="3516774" cy="7451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2800" b="1">
                <a:solidFill>
                  <a:srgbClr val="CCF37D"/>
                </a:solidFill>
              </a:rPr>
              <a:t>VER y EDITAR</a:t>
            </a:r>
            <a:endParaRPr lang="es-ES" sz="2800" b="1" dirty="0">
              <a:solidFill>
                <a:srgbClr val="CCF37D"/>
              </a:solidFill>
            </a:endParaRPr>
          </a:p>
        </p:txBody>
      </p:sp>
      <p:sp>
        <p:nvSpPr>
          <p:cNvPr id="5" name="2 Marcador de contenido">
            <a:extLst>
              <a:ext uri="{FF2B5EF4-FFF2-40B4-BE49-F238E27FC236}">
                <a16:creationId xmlns:a16="http://schemas.microsoft.com/office/drawing/2014/main" id="{74701BD1-5A94-D305-82A0-F1C35679AE05}"/>
              </a:ext>
            </a:extLst>
          </p:cNvPr>
          <p:cNvSpPr txBox="1">
            <a:spLocks/>
          </p:cNvSpPr>
          <p:nvPr/>
        </p:nvSpPr>
        <p:spPr>
          <a:xfrm>
            <a:off x="870816" y="2602925"/>
            <a:ext cx="7373591" cy="37063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spcAft>
                <a:spcPts val="600"/>
              </a:spcAft>
              <a:buFont typeface="Wingdings 2" pitchFamily="18" charset="2"/>
              <a:buNone/>
            </a:pPr>
            <a:r>
              <a:rPr lang="es-ES" sz="1600" dirty="0">
                <a:latin typeface="+mj-lt"/>
                <a:cs typeface="Courier New" pitchFamily="49" charset="0"/>
              </a:rPr>
              <a:t>En el siguiente artículo, se comentan diversas aplicaciones para ver y editar documentos XML:</a:t>
            </a:r>
          </a:p>
          <a:p>
            <a:pPr marL="365760" lvl="1" indent="0">
              <a:buNone/>
            </a:pPr>
            <a:r>
              <a:rPr lang="es-ES" sz="1400" dirty="0">
                <a:latin typeface="+mj-lt"/>
                <a:cs typeface="Courier New" pitchFamily="49" charset="0"/>
                <a:hlinkClick r:id="rId2"/>
              </a:rPr>
              <a:t>https://saasradar.net/mejores-software-xml/</a:t>
            </a:r>
            <a:endParaRPr lang="es-ES" sz="1400" dirty="0">
              <a:latin typeface="+mj-lt"/>
              <a:cs typeface="Courier New" pitchFamily="49" charset="0"/>
            </a:endParaRPr>
          </a:p>
          <a:p>
            <a:pPr marL="68580" indent="0">
              <a:buFont typeface="Wingdings 2" pitchFamily="18" charset="2"/>
              <a:buNone/>
            </a:pPr>
            <a:endParaRPr lang="es-ES" sz="1600" dirty="0">
              <a:latin typeface="+mj-lt"/>
              <a:cs typeface="Courier New" pitchFamily="49" charset="0"/>
            </a:endParaRPr>
          </a:p>
          <a:p>
            <a:pPr marL="68580" indent="0">
              <a:spcAft>
                <a:spcPts val="600"/>
              </a:spcAft>
              <a:buFont typeface="Wingdings 2" pitchFamily="18" charset="2"/>
              <a:buNone/>
            </a:pPr>
            <a:r>
              <a:rPr lang="es-ES" sz="1600" dirty="0">
                <a:latin typeface="+mj-lt"/>
                <a:cs typeface="Courier New" pitchFamily="49" charset="0"/>
              </a:rPr>
              <a:t>Estas son:</a:t>
            </a:r>
            <a:endParaRPr lang="en-US" sz="1600" dirty="0">
              <a:cs typeface="Courier New" pitchFamily="49" charset="0"/>
            </a:endParaRPr>
          </a:p>
          <a:p>
            <a:pPr lvl="1"/>
            <a:r>
              <a:rPr lang="en-US" sz="1600" dirty="0">
                <a:cs typeface="Courier New" pitchFamily="49" charset="0"/>
              </a:rPr>
              <a:t>Sublime Text (Gratis o 99€)</a:t>
            </a:r>
          </a:p>
          <a:p>
            <a:pPr lvl="1"/>
            <a:r>
              <a:rPr lang="en-US" sz="1600" dirty="0">
                <a:cs typeface="Courier New" pitchFamily="49" charset="0"/>
              </a:rPr>
              <a:t>Visual Studio Code</a:t>
            </a:r>
            <a:r>
              <a:rPr lang="en-US" sz="1600" dirty="0">
                <a:solidFill>
                  <a:srgbClr val="00B050"/>
                </a:solidFill>
                <a:cs typeface="Courier New" pitchFamily="49" charset="0"/>
              </a:rPr>
              <a:t> (Gratis)</a:t>
            </a:r>
            <a:endParaRPr lang="en-US" sz="1600" dirty="0">
              <a:cs typeface="Courier New" pitchFamily="49" charset="0"/>
            </a:endParaRPr>
          </a:p>
          <a:p>
            <a:pPr lvl="1"/>
            <a:r>
              <a:rPr lang="en-US" sz="1600" dirty="0">
                <a:cs typeface="Courier New" pitchFamily="49" charset="0"/>
              </a:rPr>
              <a:t>XML Notepad </a:t>
            </a:r>
            <a:r>
              <a:rPr lang="en-US" sz="1600" dirty="0">
                <a:solidFill>
                  <a:srgbClr val="00B050"/>
                </a:solidFill>
                <a:cs typeface="Courier New" pitchFamily="49" charset="0"/>
              </a:rPr>
              <a:t> (Gratis)</a:t>
            </a:r>
            <a:endParaRPr lang="en-US" sz="1600" dirty="0">
              <a:cs typeface="Courier New" pitchFamily="49" charset="0"/>
            </a:endParaRPr>
          </a:p>
          <a:p>
            <a:pPr lvl="1"/>
            <a:r>
              <a:rPr lang="en-US" sz="1600" dirty="0">
                <a:cs typeface="Courier New" pitchFamily="49" charset="0"/>
              </a:rPr>
              <a:t>Oxygen XML Editor</a:t>
            </a:r>
          </a:p>
          <a:p>
            <a:pPr lvl="1"/>
            <a:r>
              <a:rPr lang="en-US" sz="1600" dirty="0">
                <a:cs typeface="Courier New" pitchFamily="49" charset="0"/>
              </a:rPr>
              <a:t>XML Spy</a:t>
            </a:r>
          </a:p>
          <a:p>
            <a:pPr lvl="1"/>
            <a:r>
              <a:rPr lang="en-US" sz="1600" dirty="0" err="1">
                <a:cs typeface="Courier New" pitchFamily="49" charset="0"/>
              </a:rPr>
              <a:t>EditiXML</a:t>
            </a:r>
            <a:r>
              <a:rPr lang="en-US" sz="1600" dirty="0">
                <a:cs typeface="Courier New" pitchFamily="49" charset="0"/>
              </a:rPr>
              <a:t> Editor</a:t>
            </a:r>
          </a:p>
          <a:p>
            <a:pPr lvl="1"/>
            <a:r>
              <a:rPr lang="en-US" sz="1600" dirty="0">
                <a:cs typeface="Courier New" pitchFamily="49" charset="0"/>
              </a:rPr>
              <a:t>XML Viewer</a:t>
            </a:r>
            <a:r>
              <a:rPr lang="en-US" sz="1600" dirty="0">
                <a:solidFill>
                  <a:srgbClr val="00B050"/>
                </a:solidFill>
                <a:cs typeface="Courier New" pitchFamily="49" charset="0"/>
              </a:rPr>
              <a:t> (Gratis, web)</a:t>
            </a:r>
          </a:p>
          <a:p>
            <a:pPr lvl="1"/>
            <a:r>
              <a:rPr lang="en-US" sz="1600" dirty="0" err="1">
                <a:cs typeface="Courier New" pitchFamily="49" charset="0"/>
              </a:rPr>
              <a:t>JsonFormatter</a:t>
            </a:r>
            <a:r>
              <a:rPr lang="en-US" sz="1600" dirty="0">
                <a:cs typeface="Courier New" pitchFamily="49" charset="0"/>
              </a:rPr>
              <a:t> - XML Editor</a:t>
            </a:r>
            <a:r>
              <a:rPr lang="en-US" sz="1600" dirty="0">
                <a:solidFill>
                  <a:srgbClr val="00B050"/>
                </a:solidFill>
                <a:cs typeface="Courier New" pitchFamily="49" charset="0"/>
              </a:rPr>
              <a:t> (Gratis, web)</a:t>
            </a:r>
          </a:p>
        </p:txBody>
      </p:sp>
      <p:sp>
        <p:nvSpPr>
          <p:cNvPr id="8" name="2 Marcador de contenido">
            <a:extLst>
              <a:ext uri="{FF2B5EF4-FFF2-40B4-BE49-F238E27FC236}">
                <a16:creationId xmlns:a16="http://schemas.microsoft.com/office/drawing/2014/main" id="{694CF7E4-4827-B5E0-16B3-A64742B281B6}"/>
              </a:ext>
            </a:extLst>
          </p:cNvPr>
          <p:cNvSpPr txBox="1">
            <a:spLocks/>
          </p:cNvSpPr>
          <p:nvPr/>
        </p:nvSpPr>
        <p:spPr>
          <a:xfrm>
            <a:off x="4771032" y="3642778"/>
            <a:ext cx="3502152" cy="108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spcAft>
                <a:spcPts val="600"/>
              </a:spcAft>
              <a:buFont typeface="Wingdings 2" pitchFamily="18" charset="2"/>
              <a:buNone/>
            </a:pPr>
            <a:r>
              <a:rPr lang="es-ES" sz="1600" dirty="0">
                <a:latin typeface="+mj-lt"/>
                <a:cs typeface="Courier New" pitchFamily="49" charset="0"/>
              </a:rPr>
              <a:t>Añado:</a:t>
            </a:r>
          </a:p>
          <a:p>
            <a:pPr>
              <a:spcAft>
                <a:spcPts val="600"/>
              </a:spcAft>
            </a:pPr>
            <a:r>
              <a:rPr lang="es-ES" sz="1600" dirty="0">
                <a:solidFill>
                  <a:schemeClr val="tx1"/>
                </a:solidFill>
                <a:latin typeface="+mj-lt"/>
                <a:cs typeface="Courier New" pitchFamily="49" charset="0"/>
              </a:rPr>
              <a:t>Notepad++ </a:t>
            </a:r>
            <a:r>
              <a:rPr lang="es-ES" sz="1600" dirty="0">
                <a:solidFill>
                  <a:srgbClr val="00B050"/>
                </a:solidFill>
                <a:latin typeface="+mj-lt"/>
                <a:cs typeface="Courier New" pitchFamily="49" charset="0"/>
              </a:rPr>
              <a:t>(Gratis)</a:t>
            </a:r>
            <a:endParaRPr lang="en-US" sz="1600" dirty="0">
              <a:solidFill>
                <a:srgbClr val="00B050"/>
              </a:solidFill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64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404664"/>
            <a:ext cx="6048672" cy="1152128"/>
          </a:xfrm>
        </p:spPr>
        <p:txBody>
          <a:bodyPr anchor="t" anchorCtr="0">
            <a:noAutofit/>
          </a:bodyPr>
          <a:lstStyle/>
          <a:p>
            <a:r>
              <a:rPr lang="es-ES" sz="3200" b="1" dirty="0"/>
              <a:t>NOMBRES DE </a:t>
            </a:r>
            <a:br>
              <a:rPr lang="es-ES" sz="3200" b="1" dirty="0"/>
            </a:br>
            <a:r>
              <a:rPr lang="es-ES" sz="3200" b="1" dirty="0"/>
              <a:t>LAS ETIQUETAS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43608" y="1700808"/>
            <a:ext cx="6777317" cy="4392488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dirty="0">
                <a:latin typeface="Bahnschrift" panose="020B0502040204020203" pitchFamily="34" charset="0"/>
                <a:ea typeface="Adobe Heiti Std R" panose="020B0400000000000000" pitchFamily="34" charset="-128"/>
              </a:rPr>
              <a:t>Deben empezar por una letra, guion bajo o dos puntos</a:t>
            </a:r>
          </a:p>
          <a:p>
            <a:pPr algn="just"/>
            <a:r>
              <a:rPr lang="es-ES" dirty="0">
                <a:latin typeface="Bahnschrift" panose="020B0502040204020203" pitchFamily="34" charset="0"/>
                <a:ea typeface="Adobe Heiti Std R" panose="020B0400000000000000" pitchFamily="34" charset="-128"/>
              </a:rPr>
              <a:t>Los siguientes caracteres pueden ser letras, dígitos, subrayados, guiones, comas y dos puntos</a:t>
            </a:r>
          </a:p>
          <a:p>
            <a:pPr algn="just"/>
            <a:r>
              <a:rPr lang="es-ES" dirty="0">
                <a:latin typeface="Bahnschrift" panose="020B0502040204020203" pitchFamily="34" charset="0"/>
                <a:ea typeface="Adobe Heiti Std R" panose="020B0400000000000000" pitchFamily="34" charset="-128"/>
              </a:rPr>
              <a:t>Los nombres que empiezan por las letras «XML» (en cualquier combinación mayúsculas o minúsculas) se reservan para estandarización</a:t>
            </a:r>
          </a:p>
          <a:p>
            <a:pPr algn="just"/>
            <a:r>
              <a:rPr lang="es-ES" dirty="0">
                <a:latin typeface="Bahnschrift" panose="020B0502040204020203" pitchFamily="34" charset="0"/>
                <a:ea typeface="Adobe Heiti Std R" panose="020B0400000000000000" pitchFamily="34" charset="-128"/>
              </a:rPr>
              <a:t>No pueden contener, espacios, ni ningún otro carácter de puntuación de los ya citado como válidos.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2953238" y="6093296"/>
            <a:ext cx="3470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Realiza las Actividades 1 a 10</a:t>
            </a:r>
          </a:p>
        </p:txBody>
      </p:sp>
    </p:spTree>
    <p:extLst>
      <p:ext uri="{BB962C8B-B14F-4D97-AF65-F5344CB8AC3E}">
        <p14:creationId xmlns:p14="http://schemas.microsoft.com/office/powerpoint/2010/main" val="1470121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43608" y="1772816"/>
            <a:ext cx="6777317" cy="720080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s-ES" sz="2900" dirty="0">
                <a:solidFill>
                  <a:srgbClr val="FF0000"/>
                </a:solidFill>
              </a:rPr>
              <a:t>&lt;!--</a:t>
            </a:r>
            <a:r>
              <a:rPr lang="es-ES" sz="2900" dirty="0">
                <a:solidFill>
                  <a:schemeClr val="tx1"/>
                </a:solidFill>
              </a:rPr>
              <a:t> Esto es un comentario </a:t>
            </a:r>
            <a:r>
              <a:rPr lang="es-ES" sz="2900" dirty="0">
                <a:solidFill>
                  <a:srgbClr val="FF0000"/>
                </a:solidFill>
              </a:rPr>
              <a:t>--&gt;</a:t>
            </a:r>
          </a:p>
          <a:p>
            <a:pPr marL="68580" indent="0">
              <a:buNone/>
            </a:pPr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641448" y="5492120"/>
            <a:ext cx="3502152" cy="365125"/>
          </a:xfrm>
        </p:spPr>
        <p:txBody>
          <a:bodyPr/>
          <a:lstStyle/>
          <a:p>
            <a:fld id="{C22BEEA2-71CE-4A70-AD6C-19F01A2A40C8}" type="slidenum">
              <a:rPr lang="es-ES" smtClean="0"/>
              <a:pPr/>
              <a:t>17</a:t>
            </a:fld>
            <a:endParaRPr lang="es-ES" dirty="0"/>
          </a:p>
        </p:txBody>
      </p:sp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683568" y="404664"/>
            <a:ext cx="3312368" cy="720080"/>
          </a:xfrm>
        </p:spPr>
        <p:txBody>
          <a:bodyPr anchor="t" anchorCtr="0">
            <a:noAutofit/>
          </a:bodyPr>
          <a:lstStyle/>
          <a:p>
            <a:r>
              <a:rPr lang="es-ES" sz="3200" b="1" dirty="0"/>
              <a:t>COMENTARIOS</a:t>
            </a:r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1057479" y="2564904"/>
            <a:ext cx="6777317" cy="2135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Font typeface="Wingdings 2" pitchFamily="18" charset="2"/>
              <a:buNone/>
            </a:pPr>
            <a:r>
              <a:rPr lang="es-ES" sz="2900" dirty="0">
                <a:solidFill>
                  <a:srgbClr val="FF0000"/>
                </a:solidFill>
              </a:rPr>
              <a:t>&lt;!–</a:t>
            </a:r>
            <a:r>
              <a:rPr lang="es-ES" sz="2900" dirty="0">
                <a:solidFill>
                  <a:schemeClr val="tx1"/>
                </a:solidFill>
              </a:rPr>
              <a:t> Un comentario</a:t>
            </a:r>
          </a:p>
          <a:p>
            <a:pPr marL="68580" indent="0">
              <a:buFont typeface="Wingdings 2" pitchFamily="18" charset="2"/>
              <a:buNone/>
            </a:pPr>
            <a:r>
              <a:rPr lang="es-ES" sz="2900" dirty="0">
                <a:solidFill>
                  <a:schemeClr val="tx1"/>
                </a:solidFill>
              </a:rPr>
              <a:t>      puede ocupar</a:t>
            </a:r>
          </a:p>
          <a:p>
            <a:pPr marL="68580" indent="0">
              <a:buFont typeface="Wingdings 2" pitchFamily="18" charset="2"/>
              <a:buNone/>
            </a:pPr>
            <a:r>
              <a:rPr lang="es-ES" sz="2900" dirty="0">
                <a:solidFill>
                  <a:schemeClr val="tx1"/>
                </a:solidFill>
              </a:rPr>
              <a:t>      varias líneas </a:t>
            </a:r>
            <a:r>
              <a:rPr lang="es-ES" sz="2900" dirty="0">
                <a:solidFill>
                  <a:srgbClr val="FF0000"/>
                </a:solidFill>
              </a:rPr>
              <a:t>--&gt;</a:t>
            </a:r>
          </a:p>
          <a:p>
            <a:pPr marL="68580" indent="0">
              <a:buFont typeface="Wingdings 2" pitchFamily="18" charset="2"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4533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redondeado 29"/>
          <p:cNvSpPr/>
          <p:nvPr/>
        </p:nvSpPr>
        <p:spPr>
          <a:xfrm>
            <a:off x="812526" y="4327908"/>
            <a:ext cx="7569612" cy="10073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redondeado 28"/>
          <p:cNvSpPr/>
          <p:nvPr/>
        </p:nvSpPr>
        <p:spPr>
          <a:xfrm>
            <a:off x="808032" y="2836681"/>
            <a:ext cx="7569612" cy="134649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Rectángulo redondeado 27"/>
          <p:cNvSpPr/>
          <p:nvPr/>
        </p:nvSpPr>
        <p:spPr>
          <a:xfrm>
            <a:off x="812643" y="1700808"/>
            <a:ext cx="7569612" cy="93968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/>
          <p:cNvSpPr txBox="1"/>
          <p:nvPr/>
        </p:nvSpPr>
        <p:spPr>
          <a:xfrm>
            <a:off x="1475656" y="2240922"/>
            <a:ext cx="7272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FF0000"/>
                </a:solidFill>
              </a:rPr>
              <a:t>&lt;comparación&gt; </a:t>
            </a:r>
            <a:r>
              <a:rPr lang="es-ES" sz="2000" dirty="0"/>
              <a:t>Ana&lt;Pedro&gt;Luis </a:t>
            </a:r>
            <a:r>
              <a:rPr lang="es-ES" sz="2000" dirty="0">
                <a:solidFill>
                  <a:srgbClr val="FF0000"/>
                </a:solidFill>
              </a:rPr>
              <a:t>&lt;/comparación&gt;</a:t>
            </a:r>
            <a:endParaRPr lang="es-ES" sz="2000" b="1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12643" y="4464921"/>
            <a:ext cx="7657609" cy="1014398"/>
          </a:xfrm>
        </p:spPr>
        <p:txBody>
          <a:bodyPr>
            <a:normAutofit/>
          </a:bodyPr>
          <a:lstStyle/>
          <a:p>
            <a:pPr marL="68580" indent="0" algn="just">
              <a:buNone/>
            </a:pPr>
            <a:r>
              <a:rPr lang="es-ES" sz="1600" dirty="0">
                <a:solidFill>
                  <a:schemeClr val="tx1"/>
                </a:solidFill>
              </a:rPr>
              <a:t>Los otros caracteres que pueden ser referenciados mediante entidades:</a:t>
            </a:r>
          </a:p>
          <a:p>
            <a:pPr marL="365760" lvl="1" indent="0" algn="ctr">
              <a:buNone/>
            </a:pPr>
            <a:r>
              <a:rPr lang="es-ES" sz="2400" dirty="0">
                <a:solidFill>
                  <a:srgbClr val="FF0000"/>
                </a:solidFill>
              </a:rPr>
              <a:t>    &amp;</a:t>
            </a:r>
            <a:r>
              <a:rPr lang="es-ES" sz="2400" dirty="0"/>
              <a:t> </a:t>
            </a:r>
            <a:r>
              <a:rPr lang="es-ES" sz="2400" dirty="0">
                <a:solidFill>
                  <a:srgbClr val="00B050"/>
                </a:solidFill>
              </a:rPr>
              <a:t>&amp;</a:t>
            </a:r>
            <a:r>
              <a:rPr lang="es-ES" sz="2400" dirty="0" err="1">
                <a:solidFill>
                  <a:srgbClr val="00B050"/>
                </a:solidFill>
              </a:rPr>
              <a:t>amp</a:t>
            </a:r>
            <a:r>
              <a:rPr lang="es-ES" sz="2400" dirty="0">
                <a:solidFill>
                  <a:srgbClr val="00B050"/>
                </a:solidFill>
              </a:rPr>
              <a:t>;     </a:t>
            </a:r>
            <a:r>
              <a:rPr lang="es-ES" sz="2400" b="1" dirty="0">
                <a:solidFill>
                  <a:srgbClr val="FF0000"/>
                </a:solidFill>
              </a:rPr>
              <a:t>"</a:t>
            </a:r>
            <a:r>
              <a:rPr lang="es-ES" sz="2400" dirty="0">
                <a:solidFill>
                  <a:srgbClr val="FF0000"/>
                </a:solidFill>
              </a:rPr>
              <a:t> </a:t>
            </a:r>
            <a:r>
              <a:rPr lang="es-ES" sz="2400" dirty="0">
                <a:solidFill>
                  <a:srgbClr val="00B050"/>
                </a:solidFill>
              </a:rPr>
              <a:t>&amp;</a:t>
            </a:r>
            <a:r>
              <a:rPr lang="es-ES" sz="2400" dirty="0" err="1">
                <a:solidFill>
                  <a:srgbClr val="00B050"/>
                </a:solidFill>
              </a:rPr>
              <a:t>quot</a:t>
            </a:r>
            <a:r>
              <a:rPr lang="es-ES" sz="2400" dirty="0">
                <a:solidFill>
                  <a:srgbClr val="00B050"/>
                </a:solidFill>
              </a:rPr>
              <a:t>;     </a:t>
            </a:r>
            <a:r>
              <a:rPr lang="es-ES" sz="2400" b="1" dirty="0">
                <a:solidFill>
                  <a:srgbClr val="FF0000"/>
                </a:solidFill>
              </a:rPr>
              <a:t>'</a:t>
            </a:r>
            <a:r>
              <a:rPr lang="es-ES" sz="2400" dirty="0">
                <a:solidFill>
                  <a:srgbClr val="00B050"/>
                </a:solidFill>
              </a:rPr>
              <a:t> &amp;</a:t>
            </a:r>
            <a:r>
              <a:rPr lang="es-ES" sz="2400" dirty="0" err="1">
                <a:solidFill>
                  <a:srgbClr val="00B050"/>
                </a:solidFill>
              </a:rPr>
              <a:t>apos</a:t>
            </a:r>
            <a:r>
              <a:rPr lang="es-ES" sz="2400" dirty="0">
                <a:solidFill>
                  <a:srgbClr val="00B050"/>
                </a:solidFill>
              </a:rPr>
              <a:t>;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7668344" y="5454207"/>
            <a:ext cx="475256" cy="365125"/>
          </a:xfrm>
        </p:spPr>
        <p:txBody>
          <a:bodyPr/>
          <a:lstStyle/>
          <a:p>
            <a:fld id="{C22BEEA2-71CE-4A70-AD6C-19F01A2A40C8}" type="slidenum">
              <a:rPr lang="es-ES" smtClean="0"/>
              <a:pPr/>
              <a:t>18</a:t>
            </a:fld>
            <a:endParaRPr lang="es-ES" dirty="0"/>
          </a:p>
        </p:txBody>
      </p:sp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971600" y="883648"/>
            <a:ext cx="7632966" cy="817160"/>
          </a:xfrm>
        </p:spPr>
        <p:txBody>
          <a:bodyPr anchor="t" anchorCtr="0">
            <a:normAutofit fontScale="90000"/>
          </a:bodyPr>
          <a:lstStyle/>
          <a:p>
            <a:r>
              <a:rPr lang="es-ES" sz="3200" b="1" dirty="0"/>
              <a:t>Referencias a entidades de caracteres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3963188" y="2240382"/>
            <a:ext cx="1442535" cy="400110"/>
            <a:chOff x="3963188" y="1881981"/>
            <a:chExt cx="1442535" cy="400110"/>
          </a:xfrm>
        </p:grpSpPr>
        <p:sp>
          <p:nvSpPr>
            <p:cNvPr id="2" name="Rectángulo 1"/>
            <p:cNvSpPr/>
            <p:nvPr/>
          </p:nvSpPr>
          <p:spPr>
            <a:xfrm>
              <a:off x="4168505" y="1938094"/>
              <a:ext cx="1031903" cy="277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CuadroTexto 6"/>
            <p:cNvSpPr txBox="1"/>
            <p:nvPr/>
          </p:nvSpPr>
          <p:spPr>
            <a:xfrm>
              <a:off x="3963188" y="1881981"/>
              <a:ext cx="14425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dirty="0">
                  <a:solidFill>
                    <a:srgbClr val="FF0000"/>
                  </a:solidFill>
                </a:rPr>
                <a:t>&lt;Pedro&gt;</a:t>
              </a:r>
            </a:p>
          </p:txBody>
        </p:sp>
      </p:grpSp>
      <p:sp>
        <p:nvSpPr>
          <p:cNvPr id="10" name="CuadroTexto 9"/>
          <p:cNvSpPr txBox="1"/>
          <p:nvPr/>
        </p:nvSpPr>
        <p:spPr>
          <a:xfrm>
            <a:off x="2411760" y="2845667"/>
            <a:ext cx="3816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u="sng" dirty="0">
                <a:ea typeface="Adobe Heiti Std R" panose="020B0400000000000000" pitchFamily="34" charset="-128"/>
              </a:rPr>
              <a:t>Solución:</a:t>
            </a:r>
            <a:r>
              <a:rPr lang="es-ES" sz="1400" b="1" dirty="0">
                <a:ea typeface="Adobe Heiti Std R" panose="020B0400000000000000" pitchFamily="34" charset="-128"/>
              </a:rPr>
              <a:t> </a:t>
            </a:r>
            <a:r>
              <a:rPr lang="es-ES" sz="1400" dirty="0">
                <a:solidFill>
                  <a:srgbClr val="0070C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Sustituir </a:t>
            </a:r>
            <a:r>
              <a:rPr lang="es-ES" sz="1600" b="1" dirty="0">
                <a:solidFill>
                  <a:srgbClr val="FF000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&lt;</a:t>
            </a:r>
            <a:r>
              <a:rPr lang="es-ES" sz="1400" dirty="0">
                <a:solidFill>
                  <a:srgbClr val="FF000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 </a:t>
            </a:r>
            <a:r>
              <a:rPr lang="es-ES" sz="1400" dirty="0">
                <a:solidFill>
                  <a:srgbClr val="0070C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por </a:t>
            </a:r>
            <a:r>
              <a:rPr lang="es-ES" sz="1400" dirty="0">
                <a:solidFill>
                  <a:srgbClr val="00B05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&amp;</a:t>
            </a:r>
            <a:r>
              <a:rPr lang="es-ES" sz="1400" dirty="0" err="1">
                <a:solidFill>
                  <a:srgbClr val="00B05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lt</a:t>
            </a:r>
            <a:r>
              <a:rPr lang="es-ES" sz="1400" dirty="0">
                <a:solidFill>
                  <a:srgbClr val="00B05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; </a:t>
            </a:r>
            <a:r>
              <a:rPr lang="es-ES" sz="1400" dirty="0">
                <a:solidFill>
                  <a:srgbClr val="0070C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y </a:t>
            </a:r>
            <a:r>
              <a:rPr lang="es-ES" sz="1600" b="1" dirty="0">
                <a:solidFill>
                  <a:srgbClr val="FF000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&gt;</a:t>
            </a:r>
            <a:r>
              <a:rPr lang="es-ES" sz="1400" dirty="0">
                <a:solidFill>
                  <a:srgbClr val="0070C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 por </a:t>
            </a:r>
            <a:r>
              <a:rPr lang="es-ES" sz="1400" dirty="0">
                <a:solidFill>
                  <a:srgbClr val="00B05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&amp;</a:t>
            </a:r>
            <a:r>
              <a:rPr lang="es-ES" sz="1400" dirty="0" err="1">
                <a:solidFill>
                  <a:srgbClr val="00B05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gt</a:t>
            </a:r>
            <a:r>
              <a:rPr lang="es-ES" sz="1400" dirty="0">
                <a:solidFill>
                  <a:srgbClr val="00B05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; </a:t>
            </a:r>
          </a:p>
        </p:txBody>
      </p:sp>
      <p:grpSp>
        <p:nvGrpSpPr>
          <p:cNvPr id="12" name="Grupo 11"/>
          <p:cNvGrpSpPr/>
          <p:nvPr/>
        </p:nvGrpSpPr>
        <p:grpSpPr>
          <a:xfrm>
            <a:off x="1761128" y="1736326"/>
            <a:ext cx="5760640" cy="560242"/>
            <a:chOff x="6830157" y="3758486"/>
            <a:chExt cx="1752289" cy="560242"/>
          </a:xfrm>
        </p:grpSpPr>
        <p:sp>
          <p:nvSpPr>
            <p:cNvPr id="13" name="CuadroTexto 12"/>
            <p:cNvSpPr txBox="1"/>
            <p:nvPr/>
          </p:nvSpPr>
          <p:spPr>
            <a:xfrm>
              <a:off x="6830157" y="3758486"/>
              <a:ext cx="17522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b="1" u="sng" dirty="0">
                  <a:ea typeface="Adobe Heiti Std R" panose="020B0400000000000000" pitchFamily="34" charset="-128"/>
                </a:rPr>
                <a:t>Problema: </a:t>
              </a:r>
              <a:r>
                <a:rPr lang="es-ES" sz="1400" dirty="0">
                  <a:solidFill>
                    <a:srgbClr val="FF000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&lt;Pedro&gt; </a:t>
              </a:r>
              <a:r>
                <a:rPr lang="es-ES" sz="1400" dirty="0">
                  <a:solidFill>
                    <a:srgbClr val="0070C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se considera como una etiqueta</a:t>
              </a:r>
            </a:p>
          </p:txBody>
        </p:sp>
        <p:cxnSp>
          <p:nvCxnSpPr>
            <p:cNvPr id="14" name="Conector recto de flecha 13"/>
            <p:cNvCxnSpPr/>
            <p:nvPr/>
          </p:nvCxnSpPr>
          <p:spPr>
            <a:xfrm>
              <a:off x="7707479" y="4035485"/>
              <a:ext cx="0" cy="283243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CuadroTexto 14"/>
          <p:cNvSpPr txBox="1"/>
          <p:nvPr/>
        </p:nvSpPr>
        <p:spPr>
          <a:xfrm>
            <a:off x="3494115" y="3834168"/>
            <a:ext cx="12044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err="1">
                <a:solidFill>
                  <a:srgbClr val="FFC00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Less</a:t>
            </a:r>
            <a:r>
              <a:rPr lang="es-ES" sz="1200" dirty="0">
                <a:solidFill>
                  <a:srgbClr val="FFC00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 </a:t>
            </a:r>
            <a:r>
              <a:rPr lang="es-ES" sz="1200" dirty="0" err="1">
                <a:solidFill>
                  <a:srgbClr val="FFC00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Than</a:t>
            </a:r>
            <a:endParaRPr lang="es-ES" sz="1200" dirty="0">
              <a:solidFill>
                <a:srgbClr val="FFC000"/>
              </a:solidFill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grpSp>
        <p:nvGrpSpPr>
          <p:cNvPr id="31" name="Grupo 30"/>
          <p:cNvGrpSpPr/>
          <p:nvPr/>
        </p:nvGrpSpPr>
        <p:grpSpPr>
          <a:xfrm>
            <a:off x="1115616" y="3150730"/>
            <a:ext cx="7272926" cy="702069"/>
            <a:chOff x="1115616" y="3150730"/>
            <a:chExt cx="7272926" cy="702069"/>
          </a:xfrm>
        </p:grpSpPr>
        <p:sp>
          <p:nvSpPr>
            <p:cNvPr id="16" name="CuadroTexto 15"/>
            <p:cNvSpPr txBox="1"/>
            <p:nvPr/>
          </p:nvSpPr>
          <p:spPr>
            <a:xfrm>
              <a:off x="1115616" y="3452689"/>
              <a:ext cx="72729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dirty="0">
                  <a:solidFill>
                    <a:srgbClr val="FF0000"/>
                  </a:solidFill>
                </a:rPr>
                <a:t>&lt;comparación&gt; </a:t>
              </a:r>
              <a:r>
                <a:rPr lang="es-ES" sz="2000" dirty="0"/>
                <a:t>Ana</a:t>
              </a:r>
              <a:r>
                <a:rPr lang="es-ES" sz="2000" dirty="0">
                  <a:solidFill>
                    <a:srgbClr val="FF000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 </a:t>
              </a:r>
              <a:r>
                <a:rPr lang="es-ES" sz="2000" dirty="0">
                  <a:solidFill>
                    <a:srgbClr val="00B05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&amp;</a:t>
              </a:r>
              <a:r>
                <a:rPr lang="es-ES" sz="2000" dirty="0" err="1">
                  <a:solidFill>
                    <a:srgbClr val="00B05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lt</a:t>
              </a:r>
              <a:r>
                <a:rPr lang="es-ES" sz="2000" dirty="0">
                  <a:solidFill>
                    <a:srgbClr val="00B05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; </a:t>
              </a:r>
              <a:r>
                <a:rPr lang="es-ES" sz="2000" dirty="0"/>
                <a:t>Pedro</a:t>
              </a:r>
              <a:r>
                <a:rPr lang="es-ES" sz="2000" dirty="0">
                  <a:solidFill>
                    <a:srgbClr val="00B05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 &amp;</a:t>
              </a:r>
              <a:r>
                <a:rPr lang="es-ES" sz="2000" dirty="0" err="1">
                  <a:solidFill>
                    <a:srgbClr val="00B05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gt</a:t>
              </a:r>
              <a:r>
                <a:rPr lang="es-ES" sz="2000" dirty="0">
                  <a:solidFill>
                    <a:srgbClr val="00B05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; </a:t>
              </a:r>
              <a:r>
                <a:rPr lang="es-ES" sz="2000" dirty="0"/>
                <a:t>Luis </a:t>
              </a:r>
              <a:r>
                <a:rPr lang="es-ES" sz="2000" dirty="0">
                  <a:solidFill>
                    <a:srgbClr val="FF0000"/>
                  </a:solidFill>
                </a:rPr>
                <a:t>&lt;/comparación&gt;</a:t>
              </a:r>
              <a:endParaRPr lang="es-E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7" name="Conector recto de flecha 16"/>
            <p:cNvCxnSpPr/>
            <p:nvPr/>
          </p:nvCxnSpPr>
          <p:spPr>
            <a:xfrm flipH="1">
              <a:off x="4100222" y="3150730"/>
              <a:ext cx="136565" cy="301419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Conector recto de flecha 19"/>
            <p:cNvCxnSpPr/>
            <p:nvPr/>
          </p:nvCxnSpPr>
          <p:spPr>
            <a:xfrm>
              <a:off x="5210430" y="3169056"/>
              <a:ext cx="113643" cy="283363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3" name="CuadroTexto 22"/>
          <p:cNvSpPr txBox="1"/>
          <p:nvPr/>
        </p:nvSpPr>
        <p:spPr>
          <a:xfrm>
            <a:off x="4719173" y="3830377"/>
            <a:ext cx="12044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err="1">
                <a:solidFill>
                  <a:srgbClr val="FFC00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Greater</a:t>
            </a:r>
            <a:r>
              <a:rPr lang="es-ES" sz="1200" dirty="0">
                <a:solidFill>
                  <a:srgbClr val="FFC00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 </a:t>
            </a:r>
            <a:r>
              <a:rPr lang="es-ES" sz="1200" dirty="0" err="1">
                <a:solidFill>
                  <a:srgbClr val="FFC000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Than</a:t>
            </a:r>
            <a:endParaRPr lang="es-ES" sz="1200" dirty="0">
              <a:solidFill>
                <a:srgbClr val="FFC000"/>
              </a:solidFill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981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9" grpId="0" animBg="1"/>
      <p:bldP spid="28" grpId="0" animBg="1"/>
      <p:bldP spid="3" grpId="0" build="p"/>
      <p:bldP spid="10" grpId="0"/>
      <p:bldP spid="15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641448" y="5564128"/>
            <a:ext cx="3502152" cy="365125"/>
          </a:xfrm>
        </p:spPr>
        <p:txBody>
          <a:bodyPr/>
          <a:lstStyle/>
          <a:p>
            <a:fld id="{C22BEEA2-71CE-4A70-AD6C-19F01A2A40C8}" type="slidenum">
              <a:rPr lang="es-ES" smtClean="0"/>
              <a:pPr/>
              <a:t>19</a:t>
            </a:fld>
            <a:endParaRPr lang="es-ES" dirty="0"/>
          </a:p>
        </p:txBody>
      </p:sp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734443" y="883648"/>
            <a:ext cx="7632966" cy="817160"/>
          </a:xfrm>
        </p:spPr>
        <p:txBody>
          <a:bodyPr anchor="t" anchorCtr="0">
            <a:normAutofit/>
          </a:bodyPr>
          <a:lstStyle/>
          <a:p>
            <a:pPr algn="ctr"/>
            <a:r>
              <a:rPr lang="es-ES" sz="3200" b="1" dirty="0"/>
              <a:t>Referencias numéricas de caracteres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001"/>
          <a:stretch/>
        </p:blipFill>
        <p:spPr>
          <a:xfrm>
            <a:off x="1578991" y="1616662"/>
            <a:ext cx="470692" cy="82867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4" r="59930"/>
          <a:stretch/>
        </p:blipFill>
        <p:spPr>
          <a:xfrm>
            <a:off x="4224948" y="1574865"/>
            <a:ext cx="720080" cy="828675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85" r="33158"/>
          <a:stretch/>
        </p:blipFill>
        <p:spPr>
          <a:xfrm>
            <a:off x="1377479" y="2439370"/>
            <a:ext cx="792088" cy="828675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2449421" y="1830944"/>
            <a:ext cx="1072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00B050"/>
                </a:solidFill>
              </a:rPr>
              <a:t>&amp;#</a:t>
            </a:r>
            <a:r>
              <a:rPr lang="es-ES" sz="2000" b="1" dirty="0" err="1">
                <a:solidFill>
                  <a:srgbClr val="00B050"/>
                </a:solidFill>
              </a:rPr>
              <a:t>x</a:t>
            </a:r>
            <a:r>
              <a:rPr lang="es-ES" sz="2000" b="1" dirty="0" err="1">
                <a:solidFill>
                  <a:srgbClr val="FF0000"/>
                </a:solidFill>
              </a:rPr>
              <a:t>DF</a:t>
            </a:r>
            <a:r>
              <a:rPr lang="es-ES" sz="2000" b="1" dirty="0">
                <a:solidFill>
                  <a:srgbClr val="00B050"/>
                </a:solidFill>
              </a:rPr>
              <a:t>;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5220072" y="1830944"/>
            <a:ext cx="1327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00B050"/>
                </a:solidFill>
              </a:rPr>
              <a:t>&amp;#x</a:t>
            </a:r>
            <a:r>
              <a:rPr lang="es-ES" sz="2000" b="1" dirty="0">
                <a:solidFill>
                  <a:srgbClr val="FF0000"/>
                </a:solidFill>
              </a:rPr>
              <a:t>2714</a:t>
            </a:r>
            <a:r>
              <a:rPr lang="es-ES" sz="2000" b="1" dirty="0">
                <a:solidFill>
                  <a:srgbClr val="00B050"/>
                </a:solidFill>
              </a:rPr>
              <a:t>;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2449421" y="2635484"/>
            <a:ext cx="1322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00B050"/>
                </a:solidFill>
              </a:rPr>
              <a:t>&amp;#x</a:t>
            </a:r>
            <a:r>
              <a:rPr lang="es-ES" sz="2000" b="1" dirty="0">
                <a:solidFill>
                  <a:srgbClr val="FF0000"/>
                </a:solidFill>
              </a:rPr>
              <a:t>260E</a:t>
            </a:r>
            <a:r>
              <a:rPr lang="es-ES" sz="2000" b="1" dirty="0">
                <a:solidFill>
                  <a:srgbClr val="00B050"/>
                </a:solidFill>
              </a:rPr>
              <a:t>;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5258258" y="2558260"/>
            <a:ext cx="1430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00B050"/>
                </a:solidFill>
              </a:rPr>
              <a:t>&amp;#x</a:t>
            </a:r>
            <a:r>
              <a:rPr lang="es-ES" sz="2000" b="1" dirty="0">
                <a:solidFill>
                  <a:srgbClr val="FF0000"/>
                </a:solidFill>
              </a:rPr>
              <a:t>1F602</a:t>
            </a:r>
            <a:r>
              <a:rPr lang="es-ES" sz="2000" b="1" dirty="0">
                <a:solidFill>
                  <a:srgbClr val="00B050"/>
                </a:solidFill>
              </a:rPr>
              <a:t>;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958" y="2356348"/>
            <a:ext cx="795843" cy="817950"/>
          </a:xfrm>
          <a:prstGeom prst="rect">
            <a:avLst/>
          </a:prstGeom>
        </p:spPr>
      </p:pic>
      <p:sp>
        <p:nvSpPr>
          <p:cNvPr id="18" name="Rectángulo 17"/>
          <p:cNvSpPr/>
          <p:nvPr/>
        </p:nvSpPr>
        <p:spPr>
          <a:xfrm>
            <a:off x="1148802" y="3386435"/>
            <a:ext cx="6804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dirty="0"/>
              <a:t>http://unicode.org/emoji/charts/full-emoji-list.html</a:t>
            </a: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8" y="4031750"/>
            <a:ext cx="9144000" cy="237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2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04985" y="1196752"/>
            <a:ext cx="7272926" cy="2016224"/>
          </a:xfrm>
        </p:spPr>
        <p:txBody>
          <a:bodyPr>
            <a:normAutofit fontScale="70000" lnSpcReduction="20000"/>
          </a:bodyPr>
          <a:lstStyle/>
          <a:p>
            <a:pPr marL="68580" indent="0">
              <a:buNone/>
            </a:pPr>
            <a:r>
              <a:rPr lang="es-ES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● Son un conjunto de caracteres que el procesador no debe analizar en busca de etiquetas, puesto que contiene sólo contenido.</a:t>
            </a:r>
          </a:p>
          <a:p>
            <a:pPr marL="68580" indent="0">
              <a:buNone/>
            </a:pPr>
            <a:r>
              <a:rPr lang="es-ES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● Es muy útil si ese contenido incluye muchos caracteres especiales como &lt;, &gt;, &amp;… puesto que nos evita tener que estar empleando las referencias a entidades de caracteres (como &amp;</a:t>
            </a:r>
            <a:r>
              <a:rPr lang="es-ES" sz="3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s-ES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;)</a:t>
            </a:r>
            <a:endParaRPr lang="es-ES" sz="2800" dirty="0">
              <a:solidFill>
                <a:srgbClr val="00B050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641448" y="5708144"/>
            <a:ext cx="3502152" cy="365125"/>
          </a:xfrm>
        </p:spPr>
        <p:txBody>
          <a:bodyPr/>
          <a:lstStyle/>
          <a:p>
            <a:fld id="{C22BEEA2-71CE-4A70-AD6C-19F01A2A40C8}" type="slidenum">
              <a:rPr lang="es-ES" smtClean="0"/>
              <a:pPr/>
              <a:t>20</a:t>
            </a:fld>
            <a:endParaRPr lang="es-ES" dirty="0"/>
          </a:p>
        </p:txBody>
      </p:sp>
      <p:sp>
        <p:nvSpPr>
          <p:cNvPr id="2" name="CuadroTexto 1"/>
          <p:cNvSpPr txBox="1"/>
          <p:nvPr/>
        </p:nvSpPr>
        <p:spPr>
          <a:xfrm>
            <a:off x="3233049" y="6090802"/>
            <a:ext cx="2816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Realiza la Actividad 11</a:t>
            </a:r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1475656" y="3257747"/>
            <a:ext cx="5904656" cy="27882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lvl="1" indent="0">
              <a:buFont typeface="Wingdings 2" pitchFamily="18" charset="2"/>
              <a:buNone/>
            </a:pPr>
            <a:r>
              <a:rPr lang="es-ES" sz="2800" dirty="0">
                <a:solidFill>
                  <a:srgbClr val="00B050"/>
                </a:solidFill>
              </a:rPr>
              <a:t>&lt;</a:t>
            </a:r>
            <a:r>
              <a:rPr lang="es-ES" sz="2800" dirty="0" err="1">
                <a:solidFill>
                  <a:srgbClr val="00B050"/>
                </a:solidFill>
              </a:rPr>
              <a:t>codigo</a:t>
            </a:r>
            <a:r>
              <a:rPr lang="es-ES" sz="2800" dirty="0">
                <a:solidFill>
                  <a:srgbClr val="00B050"/>
                </a:solidFill>
              </a:rPr>
              <a:t>&gt;</a:t>
            </a:r>
          </a:p>
          <a:p>
            <a:pPr marL="365760" lvl="1" indent="0">
              <a:buFont typeface="Wingdings 2" pitchFamily="18" charset="2"/>
              <a:buNone/>
            </a:pPr>
            <a:r>
              <a:rPr lang="es-ES" sz="2800" b="1" dirty="0">
                <a:solidFill>
                  <a:srgbClr val="FF0000"/>
                </a:solidFill>
              </a:rPr>
              <a:t>    &lt;!</a:t>
            </a:r>
            <a:r>
              <a:rPr lang="es-ES" sz="2800" dirty="0">
                <a:solidFill>
                  <a:srgbClr val="FF0000"/>
                </a:solidFill>
              </a:rPr>
              <a:t>[CDATA</a:t>
            </a:r>
            <a:r>
              <a:rPr lang="es-ES" sz="2800" dirty="0">
                <a:solidFill>
                  <a:srgbClr val="FFC000"/>
                </a:solidFill>
              </a:rPr>
              <a:t>[ </a:t>
            </a:r>
          </a:p>
          <a:p>
            <a:pPr marL="365760" lvl="1" indent="0">
              <a:buFont typeface="Wingdings 2" pitchFamily="18" charset="2"/>
              <a:buNone/>
            </a:pPr>
            <a:r>
              <a:rPr lang="es-ES" sz="2800" b="1" dirty="0">
                <a:solidFill>
                  <a:srgbClr val="0070C0"/>
                </a:solidFill>
              </a:rPr>
              <a:t>        </a:t>
            </a:r>
            <a:r>
              <a:rPr lang="nn-NO" sz="2800" b="1" dirty="0">
                <a:solidFill>
                  <a:srgbClr val="0070C0"/>
                </a:solidFill>
              </a:rPr>
              <a:t>i f ( x &lt; 3 &amp;&amp; x &gt; 4)</a:t>
            </a:r>
          </a:p>
          <a:p>
            <a:pPr marL="365760" lvl="1" indent="0">
              <a:buFont typeface="Wingdings 2" pitchFamily="18" charset="2"/>
              <a:buNone/>
            </a:pPr>
            <a:r>
              <a:rPr lang="pt-BR" sz="2800" b="1" dirty="0">
                <a:solidFill>
                  <a:srgbClr val="0070C0"/>
                </a:solidFill>
              </a:rPr>
              <a:t>        p r i n t f (” </a:t>
            </a:r>
            <a:r>
              <a:rPr lang="pt-BR" sz="2800" b="1" dirty="0" err="1">
                <a:solidFill>
                  <a:srgbClr val="0070C0"/>
                </a:solidFill>
              </a:rPr>
              <a:t>Hola</a:t>
            </a:r>
            <a:r>
              <a:rPr lang="pt-BR" sz="2800" b="1" dirty="0">
                <a:solidFill>
                  <a:srgbClr val="0070C0"/>
                </a:solidFill>
              </a:rPr>
              <a:t> ” ) ;</a:t>
            </a:r>
          </a:p>
          <a:p>
            <a:pPr marL="365760" lvl="1" indent="0">
              <a:buFont typeface="Wingdings 2" pitchFamily="18" charset="2"/>
              <a:buNone/>
            </a:pPr>
            <a:r>
              <a:rPr lang="es-ES" sz="2800" dirty="0">
                <a:solidFill>
                  <a:srgbClr val="FFC000"/>
                </a:solidFill>
              </a:rPr>
              <a:t>    ]</a:t>
            </a:r>
            <a:r>
              <a:rPr lang="es-ES" sz="2800" dirty="0">
                <a:solidFill>
                  <a:srgbClr val="FF0000"/>
                </a:solidFill>
              </a:rPr>
              <a:t>]</a:t>
            </a:r>
            <a:r>
              <a:rPr lang="es-ES" sz="2800" b="1" dirty="0">
                <a:solidFill>
                  <a:srgbClr val="FF0000"/>
                </a:solidFill>
              </a:rPr>
              <a:t>&gt;</a:t>
            </a:r>
          </a:p>
          <a:p>
            <a:pPr marL="365760" lvl="1" indent="0">
              <a:buFont typeface="Wingdings 2" pitchFamily="18" charset="2"/>
              <a:buNone/>
            </a:pPr>
            <a:r>
              <a:rPr lang="es-ES" sz="2800" dirty="0">
                <a:solidFill>
                  <a:srgbClr val="00B050"/>
                </a:solidFill>
              </a:rPr>
              <a:t>&lt;/</a:t>
            </a:r>
            <a:r>
              <a:rPr lang="es-ES" sz="2800" dirty="0" err="1">
                <a:solidFill>
                  <a:srgbClr val="00B050"/>
                </a:solidFill>
              </a:rPr>
              <a:t>codigo</a:t>
            </a:r>
            <a:r>
              <a:rPr lang="es-ES" sz="2800" dirty="0">
                <a:solidFill>
                  <a:srgbClr val="00B050"/>
                </a:solidFill>
              </a:rPr>
              <a:t>&gt;</a:t>
            </a:r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824965" y="548680"/>
            <a:ext cx="3891051" cy="817160"/>
          </a:xfrm>
        </p:spPr>
        <p:txBody>
          <a:bodyPr anchor="t" anchorCtr="0">
            <a:normAutofit/>
          </a:bodyPr>
          <a:lstStyle/>
          <a:p>
            <a:r>
              <a:rPr lang="es-ES" sz="2400" b="1" dirty="0"/>
              <a:t>Secciones CDATA</a:t>
            </a:r>
          </a:p>
        </p:txBody>
      </p:sp>
    </p:spTree>
    <p:extLst>
      <p:ext uri="{BB962C8B-B14F-4D97-AF65-F5344CB8AC3E}">
        <p14:creationId xmlns:p14="http://schemas.microsoft.com/office/powerpoint/2010/main" val="250252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 43"/>
          <p:cNvSpPr/>
          <p:nvPr/>
        </p:nvSpPr>
        <p:spPr>
          <a:xfrm>
            <a:off x="2182142" y="3143960"/>
            <a:ext cx="5046874" cy="15355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32728" y="364560"/>
            <a:ext cx="3384376" cy="889168"/>
          </a:xfrm>
        </p:spPr>
        <p:txBody>
          <a:bodyPr anchor="t" anchorCtr="0">
            <a:normAutofit fontScale="90000"/>
          </a:bodyPr>
          <a:lstStyle/>
          <a:p>
            <a:r>
              <a:rPr lang="es-ES" b="1" dirty="0"/>
              <a:t>ELEMENTOS</a:t>
            </a:r>
            <a:br>
              <a:rPr lang="es-ES" b="1" dirty="0"/>
            </a:br>
            <a:r>
              <a:rPr lang="es-ES" b="1" dirty="0"/>
              <a:t>VS ETIQUETAS</a:t>
            </a:r>
          </a:p>
        </p:txBody>
      </p:sp>
      <p:sp>
        <p:nvSpPr>
          <p:cNvPr id="32" name="CuadroTexto 31"/>
          <p:cNvSpPr txBox="1"/>
          <p:nvPr/>
        </p:nvSpPr>
        <p:spPr>
          <a:xfrm>
            <a:off x="7203463" y="3594917"/>
            <a:ext cx="1328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6">
                    <a:lumMod val="75000"/>
                  </a:schemeClr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Elemento</a:t>
            </a:r>
          </a:p>
          <a:p>
            <a:pPr algn="ctr"/>
            <a:r>
              <a:rPr lang="es-ES" dirty="0">
                <a:solidFill>
                  <a:schemeClr val="accent6">
                    <a:lumMod val="75000"/>
                  </a:schemeClr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Poema</a:t>
            </a:r>
          </a:p>
        </p:txBody>
      </p:sp>
      <p:grpSp>
        <p:nvGrpSpPr>
          <p:cNvPr id="54" name="Grupo 53"/>
          <p:cNvGrpSpPr/>
          <p:nvPr/>
        </p:nvGrpSpPr>
        <p:grpSpPr>
          <a:xfrm>
            <a:off x="755576" y="3184857"/>
            <a:ext cx="2943188" cy="336469"/>
            <a:chOff x="755576" y="3184857"/>
            <a:chExt cx="2943188" cy="336469"/>
          </a:xfrm>
        </p:grpSpPr>
        <p:sp>
          <p:nvSpPr>
            <p:cNvPr id="42" name="Rectángulo 41"/>
            <p:cNvSpPr/>
            <p:nvPr/>
          </p:nvSpPr>
          <p:spPr>
            <a:xfrm>
              <a:off x="2202342" y="3184857"/>
              <a:ext cx="1496422" cy="3364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CuadroTexto 32"/>
            <p:cNvSpPr txBox="1"/>
            <p:nvPr/>
          </p:nvSpPr>
          <p:spPr>
            <a:xfrm>
              <a:off x="755576" y="3224310"/>
              <a:ext cx="15173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rgbClr val="00B05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Etiqueta Apertura</a:t>
              </a:r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1834089" y="2468068"/>
            <a:ext cx="1065285" cy="739898"/>
            <a:chOff x="867020" y="3783521"/>
            <a:chExt cx="1065285" cy="739898"/>
          </a:xfrm>
        </p:grpSpPr>
        <p:sp>
          <p:nvSpPr>
            <p:cNvPr id="36" name="CuadroTexto 35"/>
            <p:cNvSpPr txBox="1"/>
            <p:nvPr/>
          </p:nvSpPr>
          <p:spPr>
            <a:xfrm>
              <a:off x="867020" y="3783521"/>
              <a:ext cx="1065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rgbClr val="0070C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Apertura de </a:t>
              </a:r>
            </a:p>
            <a:p>
              <a:pPr algn="ctr"/>
              <a:r>
                <a:rPr lang="es-ES" sz="1200" dirty="0">
                  <a:solidFill>
                    <a:srgbClr val="0070C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etiqueta</a:t>
              </a:r>
            </a:p>
          </p:txBody>
        </p:sp>
        <p:cxnSp>
          <p:nvCxnSpPr>
            <p:cNvPr id="37" name="Conector recto de flecha 36"/>
            <p:cNvCxnSpPr/>
            <p:nvPr/>
          </p:nvCxnSpPr>
          <p:spPr>
            <a:xfrm>
              <a:off x="1378658" y="4240176"/>
              <a:ext cx="0" cy="283243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8" name="Grupo 37"/>
          <p:cNvGrpSpPr/>
          <p:nvPr/>
        </p:nvGrpSpPr>
        <p:grpSpPr>
          <a:xfrm>
            <a:off x="3056382" y="2468068"/>
            <a:ext cx="933660" cy="744908"/>
            <a:chOff x="7192255" y="3723940"/>
            <a:chExt cx="933660" cy="744908"/>
          </a:xfrm>
        </p:grpSpPr>
        <p:sp>
          <p:nvSpPr>
            <p:cNvPr id="39" name="CuadroTexto 38"/>
            <p:cNvSpPr txBox="1"/>
            <p:nvPr/>
          </p:nvSpPr>
          <p:spPr>
            <a:xfrm>
              <a:off x="7192255" y="3723940"/>
              <a:ext cx="9336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rgbClr val="0070C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Cierre de </a:t>
              </a:r>
            </a:p>
            <a:p>
              <a:pPr algn="ctr"/>
              <a:r>
                <a:rPr lang="es-ES" sz="1200" dirty="0">
                  <a:solidFill>
                    <a:srgbClr val="0070C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etiqueta</a:t>
              </a:r>
            </a:p>
          </p:txBody>
        </p:sp>
        <p:cxnSp>
          <p:nvCxnSpPr>
            <p:cNvPr id="40" name="Conector recto de flecha 39"/>
            <p:cNvCxnSpPr/>
            <p:nvPr/>
          </p:nvCxnSpPr>
          <p:spPr>
            <a:xfrm>
              <a:off x="7659085" y="4185605"/>
              <a:ext cx="0" cy="283243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5" name="Grupo 54"/>
          <p:cNvGrpSpPr/>
          <p:nvPr/>
        </p:nvGrpSpPr>
        <p:grpSpPr>
          <a:xfrm>
            <a:off x="932908" y="4241248"/>
            <a:ext cx="2899817" cy="336469"/>
            <a:chOff x="932908" y="4241248"/>
            <a:chExt cx="2899817" cy="336469"/>
          </a:xfrm>
        </p:grpSpPr>
        <p:sp>
          <p:nvSpPr>
            <p:cNvPr id="34" name="CuadroTexto 33"/>
            <p:cNvSpPr txBox="1"/>
            <p:nvPr/>
          </p:nvSpPr>
          <p:spPr>
            <a:xfrm>
              <a:off x="932908" y="4300718"/>
              <a:ext cx="13537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rgbClr val="00B05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Etiqueta Cierre</a:t>
              </a:r>
            </a:p>
          </p:txBody>
        </p:sp>
        <p:sp>
          <p:nvSpPr>
            <p:cNvPr id="45" name="Rectángulo 44"/>
            <p:cNvSpPr/>
            <p:nvPr/>
          </p:nvSpPr>
          <p:spPr>
            <a:xfrm>
              <a:off x="2252878" y="4241248"/>
              <a:ext cx="1579847" cy="3364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2177184" y="3133077"/>
            <a:ext cx="4968552" cy="15573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&lt;</a:t>
            </a:r>
            <a:r>
              <a:rPr lang="es-ES" sz="2800" dirty="0">
                <a:solidFill>
                  <a:srgbClr val="00B050"/>
                </a:solidFill>
                <a:latin typeface="Calibri" panose="020F0502020204030204" pitchFamily="34" charset="0"/>
              </a:rPr>
              <a:t>poema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       &lt;</a:t>
            </a:r>
            <a:r>
              <a:rPr lang="es-ES" sz="2800" dirty="0">
                <a:solidFill>
                  <a:srgbClr val="00B050"/>
                </a:solidFill>
                <a:latin typeface="Calibri" panose="020F0502020204030204" pitchFamily="34" charset="0"/>
              </a:rPr>
              <a:t>titulo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800" dirty="0">
                <a:solidFill>
                  <a:srgbClr val="000000"/>
                </a:solidFill>
                <a:latin typeface="Calibri" panose="020F0502020204030204" pitchFamily="34" charset="0"/>
              </a:rPr>
              <a:t>Alba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800" dirty="0">
                <a:solidFill>
                  <a:srgbClr val="00B050"/>
                </a:solidFill>
                <a:latin typeface="Calibri" panose="020F0502020204030204" pitchFamily="34" charset="0"/>
              </a:rPr>
              <a:t>titulo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       &lt;</a:t>
            </a:r>
            <a:r>
              <a:rPr lang="es-ES" sz="2800" dirty="0">
                <a:solidFill>
                  <a:srgbClr val="00B050"/>
                </a:solidFill>
                <a:latin typeface="Calibri" panose="020F0502020204030204" pitchFamily="34" charset="0"/>
              </a:rPr>
              <a:t>autor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Monferrada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800" dirty="0">
                <a:solidFill>
                  <a:srgbClr val="00B050"/>
                </a:solidFill>
                <a:latin typeface="Calibri" panose="020F0502020204030204" pitchFamily="34" charset="0"/>
              </a:rPr>
              <a:t>autor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800" dirty="0">
                <a:solidFill>
                  <a:srgbClr val="00B050"/>
                </a:solidFill>
                <a:latin typeface="Calibri" panose="020F0502020204030204" pitchFamily="34" charset="0"/>
              </a:rPr>
              <a:t>poema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endParaRPr lang="es-ES" sz="2800" dirty="0"/>
          </a:p>
        </p:txBody>
      </p:sp>
      <p:grpSp>
        <p:nvGrpSpPr>
          <p:cNvPr id="52" name="Grupo 51"/>
          <p:cNvGrpSpPr/>
          <p:nvPr/>
        </p:nvGrpSpPr>
        <p:grpSpPr>
          <a:xfrm>
            <a:off x="1930045" y="4612201"/>
            <a:ext cx="1065285" cy="744908"/>
            <a:chOff x="2051720" y="4764573"/>
            <a:chExt cx="1065285" cy="744908"/>
          </a:xfrm>
        </p:grpSpPr>
        <p:sp>
          <p:nvSpPr>
            <p:cNvPr id="47" name="CuadroTexto 46"/>
            <p:cNvSpPr txBox="1"/>
            <p:nvPr/>
          </p:nvSpPr>
          <p:spPr>
            <a:xfrm>
              <a:off x="2051720" y="5047816"/>
              <a:ext cx="1065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rgbClr val="0070C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Apertura de </a:t>
              </a:r>
            </a:p>
            <a:p>
              <a:pPr algn="ctr"/>
              <a:r>
                <a:rPr lang="es-ES" sz="1200" dirty="0">
                  <a:solidFill>
                    <a:srgbClr val="0070C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etiqueta</a:t>
              </a:r>
            </a:p>
          </p:txBody>
        </p:sp>
        <p:cxnSp>
          <p:nvCxnSpPr>
            <p:cNvPr id="48" name="Conector recto de flecha 47"/>
            <p:cNvCxnSpPr/>
            <p:nvPr/>
          </p:nvCxnSpPr>
          <p:spPr>
            <a:xfrm flipV="1">
              <a:off x="2563358" y="4764573"/>
              <a:ext cx="0" cy="283243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3" name="Grupo 52"/>
          <p:cNvGrpSpPr/>
          <p:nvPr/>
        </p:nvGrpSpPr>
        <p:grpSpPr>
          <a:xfrm>
            <a:off x="3215020" y="4592602"/>
            <a:ext cx="933660" cy="739898"/>
            <a:chOff x="3274013" y="4769583"/>
            <a:chExt cx="933660" cy="739898"/>
          </a:xfrm>
        </p:grpSpPr>
        <p:sp>
          <p:nvSpPr>
            <p:cNvPr id="50" name="CuadroTexto 49"/>
            <p:cNvSpPr txBox="1"/>
            <p:nvPr/>
          </p:nvSpPr>
          <p:spPr>
            <a:xfrm>
              <a:off x="3274013" y="5047816"/>
              <a:ext cx="9336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rgbClr val="0070C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Cierre de </a:t>
              </a:r>
            </a:p>
            <a:p>
              <a:pPr algn="ctr"/>
              <a:r>
                <a:rPr lang="es-ES" sz="1200" dirty="0">
                  <a:solidFill>
                    <a:srgbClr val="0070C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etiqueta</a:t>
              </a:r>
            </a:p>
          </p:txBody>
        </p:sp>
        <p:cxnSp>
          <p:nvCxnSpPr>
            <p:cNvPr id="51" name="Conector recto de flecha 50"/>
            <p:cNvCxnSpPr/>
            <p:nvPr/>
          </p:nvCxnSpPr>
          <p:spPr>
            <a:xfrm flipV="1">
              <a:off x="3740843" y="4769583"/>
              <a:ext cx="0" cy="283243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75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/>
          <p:cNvSpPr/>
          <p:nvPr/>
        </p:nvSpPr>
        <p:spPr>
          <a:xfrm>
            <a:off x="746561" y="3615699"/>
            <a:ext cx="7632849" cy="2660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Rectángulo 36"/>
          <p:cNvSpPr/>
          <p:nvPr/>
        </p:nvSpPr>
        <p:spPr>
          <a:xfrm>
            <a:off x="1223627" y="4347135"/>
            <a:ext cx="6902288" cy="12591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/>
          <p:cNvSpPr/>
          <p:nvPr/>
        </p:nvSpPr>
        <p:spPr>
          <a:xfrm>
            <a:off x="755576" y="1310748"/>
            <a:ext cx="7632849" cy="18539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99592" y="307584"/>
            <a:ext cx="2952446" cy="889168"/>
          </a:xfrm>
        </p:spPr>
        <p:txBody>
          <a:bodyPr anchor="t" anchorCtr="0">
            <a:normAutofit/>
          </a:bodyPr>
          <a:lstStyle/>
          <a:p>
            <a:r>
              <a:rPr lang="es-ES" b="1" dirty="0"/>
              <a:t>ATRIBUTOS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2253344" y="1471768"/>
            <a:ext cx="4968552" cy="15573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&lt;</a:t>
            </a:r>
            <a:r>
              <a:rPr lang="es-ES" sz="2800" dirty="0">
                <a:solidFill>
                  <a:srgbClr val="818100"/>
                </a:solidFill>
                <a:latin typeface="Calibri" panose="020F0502020204030204" pitchFamily="34" charset="0"/>
              </a:rPr>
              <a:t>poema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       &lt;</a:t>
            </a:r>
            <a:r>
              <a:rPr lang="es-ES" sz="2800" dirty="0">
                <a:solidFill>
                  <a:srgbClr val="818100"/>
                </a:solidFill>
                <a:latin typeface="Calibri" panose="020F0502020204030204" pitchFamily="34" charset="0"/>
              </a:rPr>
              <a:t>titulo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800" dirty="0">
                <a:solidFill>
                  <a:srgbClr val="000000"/>
                </a:solidFill>
                <a:latin typeface="Calibri" panose="020F0502020204030204" pitchFamily="34" charset="0"/>
              </a:rPr>
              <a:t>Alba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800" dirty="0">
                <a:solidFill>
                  <a:srgbClr val="818100"/>
                </a:solidFill>
                <a:latin typeface="Calibri" panose="020F0502020204030204" pitchFamily="34" charset="0"/>
              </a:rPr>
              <a:t>titulo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       &lt;</a:t>
            </a:r>
            <a:r>
              <a:rPr lang="es-ES" sz="2800" dirty="0">
                <a:solidFill>
                  <a:srgbClr val="818100"/>
                </a:solidFill>
                <a:latin typeface="Calibri" panose="020F0502020204030204" pitchFamily="34" charset="0"/>
              </a:rPr>
              <a:t>autor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Monferrada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800" dirty="0">
                <a:solidFill>
                  <a:srgbClr val="818100"/>
                </a:solidFill>
                <a:latin typeface="Calibri" panose="020F0502020204030204" pitchFamily="34" charset="0"/>
              </a:rPr>
              <a:t>autor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800" dirty="0">
                <a:solidFill>
                  <a:srgbClr val="818100"/>
                </a:solidFill>
                <a:latin typeface="Calibri" panose="020F0502020204030204" pitchFamily="34" charset="0"/>
              </a:rPr>
              <a:t>poema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endParaRPr lang="es-ES" sz="2800" dirty="0"/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1687257" y="980728"/>
            <a:ext cx="5984435" cy="47689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1800" b="1" dirty="0">
                <a:solidFill>
                  <a:srgbClr val="0070C0"/>
                </a:solidFill>
              </a:rPr>
              <a:t>ELEMENTO SIN ATRIBUTOS (SOLO CONTENIDO)</a:t>
            </a:r>
          </a:p>
        </p:txBody>
      </p:sp>
      <p:sp>
        <p:nvSpPr>
          <p:cNvPr id="13" name="1 Título"/>
          <p:cNvSpPr txBox="1">
            <a:spLocks/>
          </p:cNvSpPr>
          <p:nvPr/>
        </p:nvSpPr>
        <p:spPr>
          <a:xfrm>
            <a:off x="2123728" y="3284984"/>
            <a:ext cx="5328592" cy="38131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1800" b="1" dirty="0">
                <a:solidFill>
                  <a:srgbClr val="0070C0"/>
                </a:solidFill>
              </a:rPr>
              <a:t>XML SÓLO CON ATRIBUTOS (SIN CONTENIDO)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223628" y="5659823"/>
            <a:ext cx="6902287" cy="4585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&lt;</a:t>
            </a:r>
            <a:r>
              <a:rPr lang="es-ES" sz="2800" dirty="0">
                <a:solidFill>
                  <a:srgbClr val="818100"/>
                </a:solidFill>
                <a:latin typeface="Calibri" panose="020F0502020204030204" pitchFamily="34" charset="0"/>
              </a:rPr>
              <a:t>poema </a:t>
            </a:r>
            <a:r>
              <a:rPr lang="es-ES" sz="2800" dirty="0">
                <a:solidFill>
                  <a:srgbClr val="810081"/>
                </a:solidFill>
                <a:latin typeface="Calibri" panose="020F0502020204030204" pitchFamily="34" charset="0"/>
              </a:rPr>
              <a:t>titulo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800" dirty="0">
                <a:solidFill>
                  <a:srgbClr val="FF00FF"/>
                </a:solidFill>
                <a:latin typeface="Calibri" panose="020F0502020204030204" pitchFamily="34" charset="0"/>
              </a:rPr>
              <a:t>"Alba"  </a:t>
            </a:r>
            <a:r>
              <a:rPr lang="es-ES" sz="2800" dirty="0">
                <a:solidFill>
                  <a:srgbClr val="810081"/>
                </a:solidFill>
                <a:latin typeface="Calibri" panose="020F0502020204030204" pitchFamily="34" charset="0"/>
              </a:rPr>
              <a:t>autor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800" dirty="0">
                <a:solidFill>
                  <a:srgbClr val="FF00FF"/>
                </a:solidFill>
                <a:latin typeface="Calibri" panose="020F0502020204030204" pitchFamily="34" charset="0"/>
              </a:rPr>
              <a:t>"</a:t>
            </a:r>
            <a:r>
              <a:rPr lang="es-ES" sz="2800" dirty="0" err="1">
                <a:solidFill>
                  <a:srgbClr val="FF00FF"/>
                </a:solidFill>
                <a:latin typeface="Calibri" panose="020F0502020204030204" pitchFamily="34" charset="0"/>
              </a:rPr>
              <a:t>Monferrada</a:t>
            </a:r>
            <a:r>
              <a:rPr lang="es-ES" sz="2800" dirty="0">
                <a:solidFill>
                  <a:srgbClr val="FF00FF"/>
                </a:solidFill>
                <a:latin typeface="Calibri" panose="020F0502020204030204" pitchFamily="34" charset="0"/>
              </a:rPr>
              <a:t>"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/&gt;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4499778" y="4885030"/>
            <a:ext cx="1132678" cy="721285"/>
            <a:chOff x="4499778" y="4885030"/>
            <a:chExt cx="1132678" cy="721285"/>
          </a:xfrm>
        </p:grpSpPr>
        <p:sp>
          <p:nvSpPr>
            <p:cNvPr id="22" name="Cerrar llave 21"/>
            <p:cNvSpPr/>
            <p:nvPr/>
          </p:nvSpPr>
          <p:spPr>
            <a:xfrm rot="16200000" flipH="1">
              <a:off x="4927573" y="4615990"/>
              <a:ext cx="259481" cy="797562"/>
            </a:xfrm>
            <a:prstGeom prst="rightBrace">
              <a:avLst>
                <a:gd name="adj1" fmla="val 30419"/>
                <a:gd name="adj2" fmla="val 49079"/>
              </a:avLst>
            </a:prstGeom>
            <a:ln>
              <a:solidFill>
                <a:srgbClr val="00B05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4499778" y="5206205"/>
              <a:ext cx="113267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spc="-150" dirty="0">
                  <a:solidFill>
                    <a:srgbClr val="00B050"/>
                  </a:solidFill>
                </a:rPr>
                <a:t>nombre</a:t>
              </a:r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5609823" y="4872363"/>
            <a:ext cx="2035673" cy="733952"/>
            <a:chOff x="5609823" y="4872363"/>
            <a:chExt cx="2035673" cy="733952"/>
          </a:xfrm>
        </p:grpSpPr>
        <p:sp>
          <p:nvSpPr>
            <p:cNvPr id="21" name="Cerrar llave 20"/>
            <p:cNvSpPr/>
            <p:nvPr/>
          </p:nvSpPr>
          <p:spPr>
            <a:xfrm rot="16200000" flipH="1">
              <a:off x="6477912" y="4053168"/>
              <a:ext cx="272148" cy="1910538"/>
            </a:xfrm>
            <a:prstGeom prst="rightBrace">
              <a:avLst>
                <a:gd name="adj1" fmla="val 40477"/>
                <a:gd name="adj2" fmla="val 50353"/>
              </a:avLst>
            </a:prstGeom>
            <a:ln>
              <a:solidFill>
                <a:srgbClr val="00B05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5609823" y="5206205"/>
              <a:ext cx="20356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spc="-150" dirty="0">
                  <a:solidFill>
                    <a:srgbClr val="00B050"/>
                  </a:solidFill>
                </a:rPr>
                <a:t>valor</a:t>
              </a:r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926013" y="3783521"/>
            <a:ext cx="933660" cy="739898"/>
            <a:chOff x="926013" y="3783521"/>
            <a:chExt cx="933660" cy="739898"/>
          </a:xfrm>
        </p:grpSpPr>
        <p:sp>
          <p:nvSpPr>
            <p:cNvPr id="25" name="CuadroTexto 24"/>
            <p:cNvSpPr txBox="1"/>
            <p:nvPr/>
          </p:nvSpPr>
          <p:spPr>
            <a:xfrm>
              <a:off x="926013" y="3783521"/>
              <a:ext cx="9336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rgbClr val="FF000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Inicio de </a:t>
              </a:r>
            </a:p>
            <a:p>
              <a:pPr algn="ctr"/>
              <a:r>
                <a:rPr lang="es-ES" sz="1200" dirty="0">
                  <a:solidFill>
                    <a:srgbClr val="FF000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etiqueta</a:t>
              </a:r>
            </a:p>
          </p:txBody>
        </p:sp>
        <p:cxnSp>
          <p:nvCxnSpPr>
            <p:cNvPr id="27" name="Conector recto de flecha 26"/>
            <p:cNvCxnSpPr/>
            <p:nvPr/>
          </p:nvCxnSpPr>
          <p:spPr>
            <a:xfrm>
              <a:off x="1378658" y="4240176"/>
              <a:ext cx="0" cy="283243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" name="Grupo 2"/>
          <p:cNvGrpSpPr/>
          <p:nvPr/>
        </p:nvGrpSpPr>
        <p:grpSpPr>
          <a:xfrm>
            <a:off x="2585272" y="4127583"/>
            <a:ext cx="1910538" cy="699464"/>
            <a:chOff x="2585272" y="4127583"/>
            <a:chExt cx="1910538" cy="699464"/>
          </a:xfrm>
        </p:grpSpPr>
        <p:sp>
          <p:nvSpPr>
            <p:cNvPr id="20" name="CuadroTexto 19"/>
            <p:cNvSpPr txBox="1"/>
            <p:nvPr/>
          </p:nvSpPr>
          <p:spPr>
            <a:xfrm>
              <a:off x="2843808" y="4127583"/>
              <a:ext cx="15230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spc="300" dirty="0">
                  <a:solidFill>
                    <a:srgbClr val="FFFF00"/>
                  </a:solidFill>
                  <a:effectLst>
                    <a:glow rad="88900">
                      <a:schemeClr val="accent2">
                        <a:satMod val="175000"/>
                        <a:alpha val="81000"/>
                      </a:schemeClr>
                    </a:glow>
                  </a:effectLst>
                </a:rPr>
                <a:t>Atributo</a:t>
              </a:r>
            </a:p>
          </p:txBody>
        </p:sp>
        <p:sp>
          <p:nvSpPr>
            <p:cNvPr id="34" name="Rectángulo 33"/>
            <p:cNvSpPr/>
            <p:nvPr/>
          </p:nvSpPr>
          <p:spPr>
            <a:xfrm>
              <a:off x="2585272" y="4490578"/>
              <a:ext cx="1910538" cy="33646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" name="Grupo 3"/>
          <p:cNvGrpSpPr/>
          <p:nvPr/>
        </p:nvGrpSpPr>
        <p:grpSpPr>
          <a:xfrm>
            <a:off x="4605393" y="4123309"/>
            <a:ext cx="3053691" cy="699058"/>
            <a:chOff x="4605393" y="4123309"/>
            <a:chExt cx="3053691" cy="699058"/>
          </a:xfrm>
        </p:grpSpPr>
        <p:sp>
          <p:nvSpPr>
            <p:cNvPr id="36" name="Rectángulo 35"/>
            <p:cNvSpPr/>
            <p:nvPr/>
          </p:nvSpPr>
          <p:spPr>
            <a:xfrm>
              <a:off x="4605393" y="4485898"/>
              <a:ext cx="3053691" cy="33646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/>
            <p:cNvSpPr txBox="1"/>
            <p:nvPr/>
          </p:nvSpPr>
          <p:spPr>
            <a:xfrm>
              <a:off x="5519658" y="4123309"/>
              <a:ext cx="15230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spc="300" dirty="0">
                  <a:solidFill>
                    <a:srgbClr val="FFFF00"/>
                  </a:solidFill>
                  <a:effectLst>
                    <a:glow rad="88900">
                      <a:schemeClr val="accent2">
                        <a:satMod val="175000"/>
                        <a:alpha val="81000"/>
                      </a:schemeClr>
                    </a:glow>
                  </a:effectLst>
                </a:rPr>
                <a:t>Atributo</a:t>
              </a:r>
            </a:p>
          </p:txBody>
        </p:sp>
      </p:grpSp>
      <p:sp>
        <p:nvSpPr>
          <p:cNvPr id="11" name="Rectángulo 10"/>
          <p:cNvSpPr/>
          <p:nvPr/>
        </p:nvSpPr>
        <p:spPr>
          <a:xfrm>
            <a:off x="1197073" y="4447043"/>
            <a:ext cx="6749851" cy="8248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&lt;</a:t>
            </a:r>
            <a:r>
              <a:rPr lang="es-ES" sz="2800" dirty="0">
                <a:solidFill>
                  <a:srgbClr val="818100"/>
                </a:solidFill>
                <a:latin typeface="Calibri" panose="020F0502020204030204" pitchFamily="34" charset="0"/>
              </a:rPr>
              <a:t>poema  </a:t>
            </a:r>
            <a:r>
              <a:rPr lang="es-ES" sz="2800" dirty="0">
                <a:solidFill>
                  <a:srgbClr val="810081"/>
                </a:solidFill>
                <a:latin typeface="Calibri" panose="020F0502020204030204" pitchFamily="34" charset="0"/>
              </a:rPr>
              <a:t>titulo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800" dirty="0">
                <a:solidFill>
                  <a:srgbClr val="FF00FF"/>
                </a:solidFill>
                <a:latin typeface="Calibri" panose="020F0502020204030204" pitchFamily="34" charset="0"/>
              </a:rPr>
              <a:t>"Alba"  </a:t>
            </a:r>
            <a:r>
              <a:rPr lang="es-ES" sz="2800" dirty="0">
                <a:solidFill>
                  <a:srgbClr val="810081"/>
                </a:solidFill>
                <a:latin typeface="Calibri" panose="020F0502020204030204" pitchFamily="34" charset="0"/>
              </a:rPr>
              <a:t>autor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800" dirty="0">
                <a:solidFill>
                  <a:srgbClr val="FF00FF"/>
                </a:solidFill>
                <a:latin typeface="Calibri" panose="020F0502020204030204" pitchFamily="34" charset="0"/>
              </a:rPr>
              <a:t>"</a:t>
            </a:r>
            <a:r>
              <a:rPr lang="es-ES" sz="2800" dirty="0" err="1">
                <a:solidFill>
                  <a:srgbClr val="FF00FF"/>
                </a:solidFill>
                <a:latin typeface="Calibri" panose="020F0502020204030204" pitchFamily="34" charset="0"/>
              </a:rPr>
              <a:t>Monferrada</a:t>
            </a:r>
            <a:r>
              <a:rPr lang="es-ES" sz="2800" dirty="0">
                <a:solidFill>
                  <a:srgbClr val="FF00FF"/>
                </a:solidFill>
                <a:latin typeface="Calibri" panose="020F0502020204030204" pitchFamily="34" charset="0"/>
              </a:rPr>
              <a:t>"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800" dirty="0">
                <a:solidFill>
                  <a:srgbClr val="818100"/>
                </a:solidFill>
                <a:latin typeface="Calibri" panose="020F0502020204030204" pitchFamily="34" charset="0"/>
              </a:rPr>
              <a:t>poema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endParaRPr lang="es-ES" sz="2800" dirty="0"/>
          </a:p>
        </p:txBody>
      </p:sp>
      <p:grpSp>
        <p:nvGrpSpPr>
          <p:cNvPr id="30" name="Grupo 29"/>
          <p:cNvGrpSpPr/>
          <p:nvPr/>
        </p:nvGrpSpPr>
        <p:grpSpPr>
          <a:xfrm>
            <a:off x="7192255" y="3778511"/>
            <a:ext cx="933660" cy="744908"/>
            <a:chOff x="7192255" y="3723940"/>
            <a:chExt cx="933660" cy="744908"/>
          </a:xfrm>
        </p:grpSpPr>
        <p:sp>
          <p:nvSpPr>
            <p:cNvPr id="26" name="CuadroTexto 25"/>
            <p:cNvSpPr txBox="1"/>
            <p:nvPr/>
          </p:nvSpPr>
          <p:spPr>
            <a:xfrm>
              <a:off x="7192255" y="3723940"/>
              <a:ext cx="9336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rgbClr val="FF000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Fin de </a:t>
              </a:r>
            </a:p>
            <a:p>
              <a:pPr algn="ctr"/>
              <a:r>
                <a:rPr lang="es-ES" sz="1200" dirty="0">
                  <a:solidFill>
                    <a:srgbClr val="FF0000"/>
                  </a:solidFill>
                  <a:latin typeface="Adobe Heiti Std R" panose="020B0400000000000000" pitchFamily="34" charset="-128"/>
                  <a:ea typeface="Adobe Heiti Std R" panose="020B0400000000000000" pitchFamily="34" charset="-128"/>
                </a:rPr>
                <a:t>etiqueta</a:t>
              </a:r>
            </a:p>
          </p:txBody>
        </p:sp>
        <p:cxnSp>
          <p:nvCxnSpPr>
            <p:cNvPr id="29" name="Conector recto de flecha 28"/>
            <p:cNvCxnSpPr/>
            <p:nvPr/>
          </p:nvCxnSpPr>
          <p:spPr>
            <a:xfrm>
              <a:off x="7659085" y="4185605"/>
              <a:ext cx="0" cy="283243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173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7" grpId="0" animBg="1"/>
      <p:bldP spid="13" grpId="0"/>
      <p:bldP spid="8" grpId="0" animBg="1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99592" y="307584"/>
            <a:ext cx="2952446" cy="889168"/>
          </a:xfrm>
        </p:spPr>
        <p:txBody>
          <a:bodyPr anchor="t" anchorCtr="0">
            <a:normAutofit/>
          </a:bodyPr>
          <a:lstStyle/>
          <a:p>
            <a:r>
              <a:rPr lang="es-ES" b="1" dirty="0"/>
              <a:t>ATRIBUTOS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2267206" y="2132856"/>
            <a:ext cx="4824536" cy="1191095"/>
          </a:xfrm>
          <a:prstGeom prst="rect">
            <a:avLst/>
          </a:prstGeom>
          <a:solidFill>
            <a:srgbClr val="FFFFCC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&lt;</a:t>
            </a:r>
            <a:r>
              <a:rPr lang="es-ES" sz="2800" dirty="0">
                <a:solidFill>
                  <a:srgbClr val="818100"/>
                </a:solidFill>
                <a:latin typeface="Calibri" panose="020F0502020204030204" pitchFamily="34" charset="0"/>
              </a:rPr>
              <a:t>poema </a:t>
            </a:r>
            <a:r>
              <a:rPr lang="es-ES" sz="2800" dirty="0">
                <a:solidFill>
                  <a:srgbClr val="810081"/>
                </a:solidFill>
                <a:latin typeface="Calibri" panose="020F0502020204030204" pitchFamily="34" charset="0"/>
              </a:rPr>
              <a:t>autor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800" dirty="0">
                <a:solidFill>
                  <a:srgbClr val="FF00FF"/>
                </a:solidFill>
                <a:latin typeface="Calibri" panose="020F0502020204030204" pitchFamily="34" charset="0"/>
              </a:rPr>
              <a:t>"</a:t>
            </a:r>
            <a:r>
              <a:rPr lang="es-ES" sz="2800" dirty="0" err="1">
                <a:solidFill>
                  <a:srgbClr val="FF00FF"/>
                </a:solidFill>
                <a:latin typeface="Calibri" panose="020F0502020204030204" pitchFamily="34" charset="0"/>
              </a:rPr>
              <a:t>Monferrada</a:t>
            </a:r>
            <a:r>
              <a:rPr lang="es-ES" sz="2800" dirty="0">
                <a:solidFill>
                  <a:srgbClr val="FF00FF"/>
                </a:solidFill>
                <a:latin typeface="Calibri" panose="020F0502020204030204" pitchFamily="34" charset="0"/>
              </a:rPr>
              <a:t>"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       &lt;</a:t>
            </a:r>
            <a:r>
              <a:rPr lang="es-ES" sz="2800" dirty="0">
                <a:solidFill>
                  <a:srgbClr val="818100"/>
                </a:solidFill>
                <a:latin typeface="Calibri" panose="020F0502020204030204" pitchFamily="34" charset="0"/>
              </a:rPr>
              <a:t>titulo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800" dirty="0">
                <a:solidFill>
                  <a:srgbClr val="000000"/>
                </a:solidFill>
                <a:latin typeface="Calibri" panose="020F0502020204030204" pitchFamily="34" charset="0"/>
              </a:rPr>
              <a:t>Alba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800" dirty="0">
                <a:solidFill>
                  <a:srgbClr val="818100"/>
                </a:solidFill>
                <a:latin typeface="Calibri" panose="020F0502020204030204" pitchFamily="34" charset="0"/>
              </a:rPr>
              <a:t>titulo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800" dirty="0">
                <a:solidFill>
                  <a:srgbClr val="818100"/>
                </a:solidFill>
                <a:latin typeface="Calibri" panose="020F0502020204030204" pitchFamily="34" charset="0"/>
              </a:rPr>
              <a:t>poema</a:t>
            </a:r>
            <a:r>
              <a:rPr lang="es-ES" sz="28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endParaRPr lang="es-ES" sz="2800" dirty="0"/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1687257" y="1317073"/>
            <a:ext cx="5984435" cy="47689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1600" b="1" dirty="0">
                <a:solidFill>
                  <a:srgbClr val="0070C0"/>
                </a:solidFill>
              </a:rPr>
              <a:t>ELEMENTO MIXTO</a:t>
            </a:r>
          </a:p>
          <a:p>
            <a:pPr algn="ctr"/>
            <a:r>
              <a:rPr lang="es-ES" sz="1600" b="1" dirty="0">
                <a:solidFill>
                  <a:srgbClr val="00B0F0"/>
                </a:solidFill>
              </a:rPr>
              <a:t>(SUBELEMENTOS, CONTENIDOS Y ATRIBUTOS)</a:t>
            </a:r>
          </a:p>
        </p:txBody>
      </p:sp>
    </p:spTree>
    <p:extLst>
      <p:ext uri="{BB962C8B-B14F-4D97-AF65-F5344CB8AC3E}">
        <p14:creationId xmlns:p14="http://schemas.microsoft.com/office/powerpoint/2010/main" val="3522446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99592" y="307584"/>
            <a:ext cx="2952446" cy="889168"/>
          </a:xfrm>
        </p:spPr>
        <p:txBody>
          <a:bodyPr anchor="t" anchorCtr="0">
            <a:normAutofit/>
          </a:bodyPr>
          <a:lstStyle/>
          <a:p>
            <a:r>
              <a:rPr lang="es-ES" b="1" dirty="0"/>
              <a:t>ATRIBUTOS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929480" y="5835279"/>
            <a:ext cx="3502152" cy="365125"/>
          </a:xfrm>
        </p:spPr>
        <p:txBody>
          <a:bodyPr/>
          <a:lstStyle/>
          <a:p>
            <a:fld id="{C22BEEA2-71CE-4A70-AD6C-19F01A2A40C8}" type="slidenum">
              <a:rPr lang="es-ES" smtClean="0"/>
              <a:pPr/>
              <a:t>24</a:t>
            </a:fld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2843808" y="1196752"/>
            <a:ext cx="4572000" cy="2682273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poema 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autor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        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nombre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dirty="0" err="1">
                <a:solidFill>
                  <a:srgbClr val="000000"/>
                </a:solidFill>
                <a:latin typeface="Calibri" panose="020F0502020204030204" pitchFamily="34" charset="0"/>
              </a:rPr>
              <a:t>Monferro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nombre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autor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titulo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dirty="0">
                <a:solidFill>
                  <a:srgbClr val="000000"/>
                </a:solidFill>
                <a:latin typeface="Calibri" panose="020F0502020204030204" pitchFamily="34" charset="0"/>
              </a:rPr>
              <a:t>Alba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titulo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fecha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dirty="0">
                <a:solidFill>
                  <a:srgbClr val="000000"/>
                </a:solidFill>
                <a:latin typeface="Calibri" panose="020F0502020204030204" pitchFamily="34" charset="0"/>
              </a:rPr>
              <a:t>Abril 1915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fecha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lugar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dirty="0">
                <a:solidFill>
                  <a:srgbClr val="000000"/>
                </a:solidFill>
                <a:latin typeface="Calibri" panose="020F0502020204030204" pitchFamily="34" charset="0"/>
              </a:rPr>
              <a:t>Granada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lugar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it-IT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it-IT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it-IT" dirty="0">
                <a:solidFill>
                  <a:srgbClr val="0000FF"/>
                </a:solidFill>
                <a:latin typeface="Calibri" panose="020F0502020204030204" pitchFamily="34" charset="0"/>
              </a:rPr>
              <a:t>&gt; </a:t>
            </a:r>
            <a:r>
              <a:rPr lang="it-IT" dirty="0">
                <a:solidFill>
                  <a:srgbClr val="000000"/>
                </a:solidFill>
                <a:latin typeface="Calibri" panose="020F0502020204030204" pitchFamily="34" charset="0"/>
              </a:rPr>
              <a:t>Mi corazon oprimido </a:t>
            </a:r>
            <a:r>
              <a:rPr lang="it-IT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it-IT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it-IT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 </a:t>
            </a:r>
            <a:r>
              <a:rPr lang="es-ES" dirty="0">
                <a:solidFill>
                  <a:srgbClr val="000000"/>
                </a:solidFill>
                <a:latin typeface="Calibri" panose="020F0502020204030204" pitchFamily="34" charset="0"/>
              </a:rPr>
              <a:t>siente junto a la alborada 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 </a:t>
            </a:r>
            <a:r>
              <a:rPr lang="es-ES" dirty="0">
                <a:solidFill>
                  <a:srgbClr val="000000"/>
                </a:solidFill>
                <a:latin typeface="Calibri" panose="020F0502020204030204" pitchFamily="34" charset="0"/>
              </a:rPr>
              <a:t>el dolor de sus amores . . . 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poema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endParaRPr lang="es-ES" dirty="0"/>
          </a:p>
        </p:txBody>
      </p:sp>
      <p:sp>
        <p:nvSpPr>
          <p:cNvPr id="11" name="Rectángulo 10"/>
          <p:cNvSpPr/>
          <p:nvPr/>
        </p:nvSpPr>
        <p:spPr>
          <a:xfrm>
            <a:off x="2843808" y="4234117"/>
            <a:ext cx="4572000" cy="174047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poema </a:t>
            </a:r>
            <a:r>
              <a:rPr lang="es-ES" dirty="0">
                <a:solidFill>
                  <a:srgbClr val="810081"/>
                </a:solidFill>
                <a:latin typeface="Calibri" panose="020F0502020204030204" pitchFamily="34" charset="0"/>
              </a:rPr>
              <a:t>fecha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dirty="0">
                <a:solidFill>
                  <a:srgbClr val="FF00FF"/>
                </a:solidFill>
                <a:latin typeface="Calibri" panose="020F0502020204030204" pitchFamily="34" charset="0"/>
              </a:rPr>
              <a:t>"Abril 1915" </a:t>
            </a:r>
            <a:r>
              <a:rPr lang="es-ES" dirty="0">
                <a:solidFill>
                  <a:srgbClr val="810081"/>
                </a:solidFill>
                <a:latin typeface="Calibri" panose="020F0502020204030204" pitchFamily="34" charset="0"/>
              </a:rPr>
              <a:t>lugar 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dirty="0">
                <a:solidFill>
                  <a:srgbClr val="FF00FF"/>
                </a:solidFill>
                <a:latin typeface="Calibri" panose="020F0502020204030204" pitchFamily="34" charset="0"/>
              </a:rPr>
              <a:t>"Granada"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autor </a:t>
            </a:r>
            <a:r>
              <a:rPr lang="es-ES" dirty="0">
                <a:solidFill>
                  <a:srgbClr val="810081"/>
                </a:solidFill>
                <a:latin typeface="Calibri" panose="020F0502020204030204" pitchFamily="34" charset="0"/>
              </a:rPr>
              <a:t>nombre 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dirty="0">
                <a:solidFill>
                  <a:srgbClr val="FF00FF"/>
                </a:solidFill>
                <a:latin typeface="Calibri" panose="020F0502020204030204" pitchFamily="34" charset="0"/>
              </a:rPr>
              <a:t>"</a:t>
            </a:r>
            <a:r>
              <a:rPr lang="es-ES" dirty="0" err="1">
                <a:solidFill>
                  <a:srgbClr val="FF00FF"/>
                </a:solidFill>
                <a:latin typeface="Calibri" panose="020F0502020204030204" pitchFamily="34" charset="0"/>
              </a:rPr>
              <a:t>Monferro</a:t>
            </a:r>
            <a:r>
              <a:rPr lang="es-ES" dirty="0">
                <a:solidFill>
                  <a:srgbClr val="FF00FF"/>
                </a:solidFill>
                <a:latin typeface="Calibri" panose="020F0502020204030204" pitchFamily="34" charset="0"/>
              </a:rPr>
              <a:t>" 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/&gt;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titulo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dirty="0">
                <a:solidFill>
                  <a:srgbClr val="000000"/>
                </a:solidFill>
                <a:latin typeface="Calibri" panose="020F0502020204030204" pitchFamily="34" charset="0"/>
              </a:rPr>
              <a:t>Alba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titulo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dirty="0">
                <a:solidFill>
                  <a:srgbClr val="000000"/>
                </a:solidFill>
                <a:latin typeface="Calibri" panose="020F0502020204030204" pitchFamily="34" charset="0"/>
              </a:rPr>
              <a:t>Mi </a:t>
            </a:r>
            <a:r>
              <a:rPr lang="es-ES" dirty="0" err="1">
                <a:solidFill>
                  <a:srgbClr val="000000"/>
                </a:solidFill>
                <a:latin typeface="Calibri" panose="020F0502020204030204" pitchFamily="34" charset="0"/>
              </a:rPr>
              <a:t>corazon</a:t>
            </a:r>
            <a:r>
              <a:rPr lang="es-ES" dirty="0">
                <a:solidFill>
                  <a:srgbClr val="000000"/>
                </a:solidFill>
                <a:latin typeface="Calibri" panose="020F0502020204030204" pitchFamily="34" charset="0"/>
              </a:rPr>
              <a:t> oprimido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dirty="0">
                <a:solidFill>
                  <a:srgbClr val="000000"/>
                </a:solidFill>
                <a:latin typeface="Calibri" panose="020F0502020204030204" pitchFamily="34" charset="0"/>
              </a:rPr>
              <a:t>siente junto a la alborada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dirty="0">
                <a:solidFill>
                  <a:srgbClr val="000000"/>
                </a:solidFill>
                <a:latin typeface="Calibri" panose="020F0502020204030204" pitchFamily="34" charset="0"/>
              </a:rPr>
              <a:t>el dolor de sus amores...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dirty="0">
                <a:solidFill>
                  <a:srgbClr val="818100"/>
                </a:solidFill>
                <a:latin typeface="Calibri" panose="020F0502020204030204" pitchFamily="34" charset="0"/>
              </a:rPr>
              <a:t>poema</a:t>
            </a:r>
            <a:r>
              <a:rPr lang="es-ES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endParaRPr lang="es-ES" dirty="0"/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1035837" y="2132856"/>
            <a:ext cx="1584294" cy="88916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1800" b="1" dirty="0">
                <a:solidFill>
                  <a:srgbClr val="0070C0"/>
                </a:solidFill>
              </a:rPr>
              <a:t>XML</a:t>
            </a:r>
          </a:p>
          <a:p>
            <a:pPr algn="ctr"/>
            <a:r>
              <a:rPr lang="es-ES" sz="1800" b="1" dirty="0">
                <a:solidFill>
                  <a:srgbClr val="0070C0"/>
                </a:solidFill>
              </a:rPr>
              <a:t>SIN</a:t>
            </a:r>
          </a:p>
          <a:p>
            <a:pPr algn="ctr"/>
            <a:r>
              <a:rPr lang="es-ES" sz="1800" b="1" dirty="0">
                <a:solidFill>
                  <a:srgbClr val="0070C0"/>
                </a:solidFill>
              </a:rPr>
              <a:t>ATRIBUTOS</a:t>
            </a:r>
          </a:p>
        </p:txBody>
      </p:sp>
      <p:sp>
        <p:nvSpPr>
          <p:cNvPr id="13" name="1 Título"/>
          <p:cNvSpPr txBox="1">
            <a:spLocks/>
          </p:cNvSpPr>
          <p:nvPr/>
        </p:nvSpPr>
        <p:spPr>
          <a:xfrm>
            <a:off x="1035837" y="4581128"/>
            <a:ext cx="1584294" cy="88916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1800" b="1" dirty="0">
                <a:solidFill>
                  <a:srgbClr val="0070C0"/>
                </a:solidFill>
              </a:rPr>
              <a:t>XML</a:t>
            </a:r>
          </a:p>
          <a:p>
            <a:pPr algn="ctr"/>
            <a:r>
              <a:rPr lang="es-ES" sz="1800" b="1" dirty="0">
                <a:solidFill>
                  <a:srgbClr val="0070C0"/>
                </a:solidFill>
              </a:rPr>
              <a:t>CON</a:t>
            </a:r>
          </a:p>
          <a:p>
            <a:pPr algn="ctr"/>
            <a:r>
              <a:rPr lang="es-ES" sz="1800" b="1" dirty="0">
                <a:solidFill>
                  <a:srgbClr val="0070C0"/>
                </a:solidFill>
              </a:rPr>
              <a:t>ATRIBUTOS</a:t>
            </a:r>
          </a:p>
        </p:txBody>
      </p:sp>
    </p:spTree>
    <p:extLst>
      <p:ext uri="{BB962C8B-B14F-4D97-AF65-F5344CB8AC3E}">
        <p14:creationId xmlns:p14="http://schemas.microsoft.com/office/powerpoint/2010/main" val="378561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 animBg="1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99592" y="307584"/>
            <a:ext cx="2952446" cy="889168"/>
          </a:xfrm>
        </p:spPr>
        <p:txBody>
          <a:bodyPr anchor="t" anchorCtr="0">
            <a:normAutofit/>
          </a:bodyPr>
          <a:lstStyle/>
          <a:p>
            <a:r>
              <a:rPr lang="es-ES" b="1" dirty="0"/>
              <a:t>ATRIBUTOS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C22BEEA2-71CE-4A70-AD6C-19F01A2A40C8}" type="slidenum">
              <a:rPr lang="es-ES" smtClean="0"/>
              <a:pPr/>
              <a:t>25</a:t>
            </a:fld>
            <a:endParaRPr lang="es-ES" dirty="0"/>
          </a:p>
        </p:txBody>
      </p:sp>
      <p:sp>
        <p:nvSpPr>
          <p:cNvPr id="11" name="Rectángulo 10"/>
          <p:cNvSpPr/>
          <p:nvPr/>
        </p:nvSpPr>
        <p:spPr>
          <a:xfrm>
            <a:off x="1869110" y="3737644"/>
            <a:ext cx="5385668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poema </a:t>
            </a:r>
            <a:r>
              <a:rPr lang="es-ES" sz="2000" dirty="0">
                <a:solidFill>
                  <a:srgbClr val="810081"/>
                </a:solidFill>
                <a:latin typeface="Calibri" panose="020F0502020204030204" pitchFamily="34" charset="0"/>
              </a:rPr>
              <a:t>fecha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000" dirty="0">
                <a:solidFill>
                  <a:srgbClr val="FF00FF"/>
                </a:solidFill>
                <a:latin typeface="Calibri" panose="020F0502020204030204" pitchFamily="34" charset="0"/>
              </a:rPr>
              <a:t>"Abril 1915" </a:t>
            </a:r>
            <a:r>
              <a:rPr lang="es-ES" sz="2000" dirty="0">
                <a:solidFill>
                  <a:srgbClr val="810081"/>
                </a:solidFill>
                <a:latin typeface="Calibri" panose="020F0502020204030204" pitchFamily="34" charset="0"/>
              </a:rPr>
              <a:t>lugar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000" dirty="0">
                <a:solidFill>
                  <a:srgbClr val="FF00FF"/>
                </a:solidFill>
                <a:latin typeface="Calibri" panose="020F0502020204030204" pitchFamily="34" charset="0"/>
              </a:rPr>
              <a:t>"Granada"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autor </a:t>
            </a:r>
            <a:r>
              <a:rPr lang="es-ES" sz="2000" dirty="0">
                <a:solidFill>
                  <a:srgbClr val="810081"/>
                </a:solidFill>
                <a:latin typeface="Calibri" panose="020F0502020204030204" pitchFamily="34" charset="0"/>
              </a:rPr>
              <a:t>nombre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000" dirty="0">
                <a:solidFill>
                  <a:srgbClr val="FF00FF"/>
                </a:solidFill>
                <a:latin typeface="Calibri" panose="020F0502020204030204" pitchFamily="34" charset="0"/>
              </a:rPr>
              <a:t>"</a:t>
            </a:r>
            <a:r>
              <a:rPr lang="es-ES" sz="2000" dirty="0" err="1">
                <a:solidFill>
                  <a:srgbClr val="FF00FF"/>
                </a:solidFill>
                <a:latin typeface="Calibri" panose="020F0502020204030204" pitchFamily="34" charset="0"/>
              </a:rPr>
              <a:t>Monferro</a:t>
            </a:r>
            <a:r>
              <a:rPr lang="es-ES" sz="2000" dirty="0">
                <a:solidFill>
                  <a:srgbClr val="FF00FF"/>
                </a:solidFill>
                <a:latin typeface="Calibri" panose="020F0502020204030204" pitchFamily="34" charset="0"/>
              </a:rPr>
              <a:t>"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/&gt;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titulo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Alba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titulo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Mi </a:t>
            </a:r>
            <a:r>
              <a:rPr lang="es-ES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corazon</a:t>
            </a:r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 oprimido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siente junto a la alborada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el dolor de sus amores...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verso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poema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endParaRPr lang="es-ES" sz="2000" dirty="0"/>
          </a:p>
        </p:txBody>
      </p:sp>
      <p:sp>
        <p:nvSpPr>
          <p:cNvPr id="13" name="1 Título"/>
          <p:cNvSpPr txBox="1">
            <a:spLocks/>
          </p:cNvSpPr>
          <p:nvPr/>
        </p:nvSpPr>
        <p:spPr>
          <a:xfrm>
            <a:off x="1763688" y="1268760"/>
            <a:ext cx="5472608" cy="43204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1800" b="1" dirty="0">
                <a:solidFill>
                  <a:srgbClr val="0070C0"/>
                </a:solidFill>
              </a:rPr>
              <a:t>PROPIEDADES DE LOS ATRIBUTOS</a:t>
            </a:r>
          </a:p>
        </p:txBody>
      </p:sp>
      <p:sp>
        <p:nvSpPr>
          <p:cNvPr id="8" name="2 Marcador de contenido"/>
          <p:cNvSpPr>
            <a:spLocks noGrp="1"/>
          </p:cNvSpPr>
          <p:nvPr>
            <p:ph idx="1"/>
          </p:nvPr>
        </p:nvSpPr>
        <p:spPr>
          <a:xfrm>
            <a:off x="899592" y="1760260"/>
            <a:ext cx="7488832" cy="1740748"/>
          </a:xfrm>
        </p:spPr>
        <p:txBody>
          <a:bodyPr>
            <a:normAutofit lnSpcReduction="10000"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Son pares de nombre y valor, asociados a un elemento</a:t>
            </a:r>
          </a:p>
          <a:p>
            <a:r>
              <a:rPr lang="es-ES" sz="1600" dirty="0">
                <a:solidFill>
                  <a:schemeClr val="tx1"/>
                </a:solidFill>
              </a:rPr>
              <a:t>Aparecen en el interior de la etiqueta de apertura del elemento</a:t>
            </a:r>
          </a:p>
          <a:p>
            <a:r>
              <a:rPr lang="es-ES" sz="1600" dirty="0">
                <a:solidFill>
                  <a:schemeClr val="tx1"/>
                </a:solidFill>
              </a:rPr>
              <a:t>El orden en el que aparecen no es representativo</a:t>
            </a:r>
          </a:p>
          <a:p>
            <a:r>
              <a:rPr lang="es-ES" sz="1600" dirty="0">
                <a:solidFill>
                  <a:schemeClr val="tx1"/>
                </a:solidFill>
              </a:rPr>
              <a:t>No puede haber múltiples ocurrencias de un atributo dentro de un mismo elemento.</a:t>
            </a:r>
          </a:p>
          <a:p>
            <a:r>
              <a:rPr lang="es-ES" sz="1600" dirty="0">
                <a:solidFill>
                  <a:schemeClr val="tx1"/>
                </a:solidFill>
              </a:rPr>
              <a:t>No se pueden extender con otros elementos contenidos en su interior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85342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99592" y="307584"/>
            <a:ext cx="2952446" cy="889168"/>
          </a:xfrm>
        </p:spPr>
        <p:txBody>
          <a:bodyPr anchor="t" anchorCtr="0">
            <a:normAutofit/>
          </a:bodyPr>
          <a:lstStyle/>
          <a:p>
            <a:r>
              <a:rPr lang="es-ES" b="1" dirty="0"/>
              <a:t>ATRIBUTOS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1763688" y="3068960"/>
            <a:ext cx="5832648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Paciente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nombre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Alba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nombre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apellido</a:t>
            </a:r>
            <a:r>
              <a:rPr lang="es-ES" sz="2000" dirty="0">
                <a:solidFill>
                  <a:srgbClr val="810081"/>
                </a:solidFill>
                <a:latin typeface="Calibri" panose="020F0502020204030204" pitchFamily="34" charset="0"/>
              </a:rPr>
              <a:t> orden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000" dirty="0">
                <a:solidFill>
                  <a:srgbClr val="FF00FF"/>
                </a:solidFill>
                <a:latin typeface="Calibri" panose="020F0502020204030204" pitchFamily="34" charset="0"/>
              </a:rPr>
              <a:t>"primero"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Sánchez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apellido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apellido</a:t>
            </a:r>
            <a:r>
              <a:rPr lang="es-ES" sz="2000" dirty="0">
                <a:solidFill>
                  <a:srgbClr val="810081"/>
                </a:solidFill>
                <a:latin typeface="Calibri" panose="020F0502020204030204" pitchFamily="34" charset="0"/>
              </a:rPr>
              <a:t> orden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000" dirty="0">
                <a:solidFill>
                  <a:srgbClr val="FF00FF"/>
                </a:solidFill>
                <a:latin typeface="Calibri" panose="020F0502020204030204" pitchFamily="34" charset="0"/>
              </a:rPr>
              <a:t>"segundo"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Uriel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apellido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peso</a:t>
            </a:r>
            <a:r>
              <a:rPr lang="es-ES" sz="2000" dirty="0">
                <a:solidFill>
                  <a:srgbClr val="810081"/>
                </a:solidFill>
                <a:latin typeface="Calibri" panose="020F0502020204030204" pitchFamily="34" charset="0"/>
              </a:rPr>
              <a:t> unidad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000" dirty="0">
                <a:solidFill>
                  <a:srgbClr val="FF00FF"/>
                </a:solidFill>
                <a:latin typeface="Calibri" panose="020F0502020204030204" pitchFamily="34" charset="0"/>
              </a:rPr>
              <a:t>"Kg"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50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peso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altura</a:t>
            </a:r>
            <a:r>
              <a:rPr lang="es-ES" sz="2000" dirty="0">
                <a:solidFill>
                  <a:srgbClr val="810081"/>
                </a:solidFill>
                <a:latin typeface="Calibri" panose="020F0502020204030204" pitchFamily="34" charset="0"/>
              </a:rPr>
              <a:t> unidad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000" dirty="0">
                <a:solidFill>
                  <a:srgbClr val="FF00FF"/>
                </a:solidFill>
                <a:latin typeface="Calibri" panose="020F0502020204030204" pitchFamily="34" charset="0"/>
              </a:rPr>
              <a:t>"cm"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150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altura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vía</a:t>
            </a:r>
            <a:r>
              <a:rPr lang="es-ES" sz="2000" dirty="0">
                <a:solidFill>
                  <a:srgbClr val="810081"/>
                </a:solidFill>
                <a:latin typeface="Calibri" panose="020F0502020204030204" pitchFamily="34" charset="0"/>
              </a:rPr>
              <a:t> tipo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000" dirty="0">
                <a:solidFill>
                  <a:srgbClr val="FF00FF"/>
                </a:solidFill>
                <a:latin typeface="Calibri" panose="020F0502020204030204" pitchFamily="34" charset="0"/>
              </a:rPr>
              <a:t>"calle"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Ancha, nº25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vía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teléfono</a:t>
            </a:r>
            <a:r>
              <a:rPr lang="es-ES" sz="2000" dirty="0">
                <a:solidFill>
                  <a:srgbClr val="810081"/>
                </a:solidFill>
                <a:latin typeface="Calibri" panose="020F0502020204030204" pitchFamily="34" charset="0"/>
              </a:rPr>
              <a:t> tipo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000" dirty="0">
                <a:solidFill>
                  <a:srgbClr val="FF00FF"/>
                </a:solidFill>
                <a:latin typeface="Calibri" panose="020F0502020204030204" pitchFamily="34" charset="0"/>
              </a:rPr>
              <a:t>"fijo"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956665544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teléfono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    &lt;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teléfono</a:t>
            </a:r>
            <a:r>
              <a:rPr lang="es-ES" sz="2000" dirty="0">
                <a:solidFill>
                  <a:srgbClr val="810081"/>
                </a:solidFill>
                <a:latin typeface="Calibri" panose="020F0502020204030204" pitchFamily="34" charset="0"/>
              </a:rPr>
              <a:t> tipo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=</a:t>
            </a:r>
            <a:r>
              <a:rPr lang="es-ES" sz="2000" dirty="0">
                <a:solidFill>
                  <a:srgbClr val="FF00FF"/>
                </a:solidFill>
                <a:latin typeface="Calibri" panose="020F0502020204030204" pitchFamily="34" charset="0"/>
              </a:rPr>
              <a:t>"móvil" 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r>
              <a:rPr lang="es-ES" sz="2000" dirty="0">
                <a:solidFill>
                  <a:srgbClr val="000000"/>
                </a:solidFill>
                <a:latin typeface="Calibri" panose="020F0502020204030204" pitchFamily="34" charset="0"/>
              </a:rPr>
              <a:t>665544123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teléfono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&lt;/</a:t>
            </a:r>
            <a:r>
              <a:rPr lang="es-ES" sz="2000" dirty="0">
                <a:solidFill>
                  <a:srgbClr val="818100"/>
                </a:solidFill>
                <a:latin typeface="Calibri" panose="020F0502020204030204" pitchFamily="34" charset="0"/>
              </a:rPr>
              <a:t>Paciente</a:t>
            </a:r>
            <a:r>
              <a:rPr lang="es-ES" sz="2000" dirty="0">
                <a:solidFill>
                  <a:srgbClr val="0000FF"/>
                </a:solidFill>
                <a:latin typeface="Calibri" panose="020F0502020204030204" pitchFamily="34" charset="0"/>
              </a:rPr>
              <a:t>&gt;</a:t>
            </a:r>
            <a:endParaRPr lang="es-ES" sz="2000" dirty="0"/>
          </a:p>
        </p:txBody>
      </p:sp>
      <p:sp>
        <p:nvSpPr>
          <p:cNvPr id="13" name="1 Título"/>
          <p:cNvSpPr txBox="1">
            <a:spLocks/>
          </p:cNvSpPr>
          <p:nvPr/>
        </p:nvSpPr>
        <p:spPr>
          <a:xfrm>
            <a:off x="1763688" y="1268760"/>
            <a:ext cx="5472608" cy="43204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1800" b="1" dirty="0">
                <a:solidFill>
                  <a:srgbClr val="0070C0"/>
                </a:solidFill>
              </a:rPr>
              <a:t>USO DE LOS ATRIBUTOS COMO METADATOS</a:t>
            </a:r>
          </a:p>
        </p:txBody>
      </p:sp>
      <p:sp>
        <p:nvSpPr>
          <p:cNvPr id="8" name="2 Marcador de contenido"/>
          <p:cNvSpPr>
            <a:spLocks noGrp="1"/>
          </p:cNvSpPr>
          <p:nvPr>
            <p:ph idx="1"/>
          </p:nvPr>
        </p:nvSpPr>
        <p:spPr>
          <a:xfrm>
            <a:off x="899592" y="1760260"/>
            <a:ext cx="7488832" cy="1092676"/>
          </a:xfrm>
        </p:spPr>
        <p:txBody>
          <a:bodyPr>
            <a:normAutofit lnSpcReduction="10000"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Hay quienes no consideran adecuado emplear los atributos para almacenar información</a:t>
            </a:r>
          </a:p>
          <a:p>
            <a:r>
              <a:rPr lang="es-ES" sz="1600" dirty="0">
                <a:solidFill>
                  <a:schemeClr val="tx1"/>
                </a:solidFill>
              </a:rPr>
              <a:t>Opinan que los atributos deben almacenar '</a:t>
            </a:r>
            <a:r>
              <a:rPr lang="es-ES" sz="1600" dirty="0" err="1">
                <a:solidFill>
                  <a:schemeClr val="tx1"/>
                </a:solidFill>
              </a:rPr>
              <a:t>metainformación</a:t>
            </a:r>
            <a:r>
              <a:rPr lang="es-ES" sz="1600" dirty="0">
                <a:solidFill>
                  <a:schemeClr val="tx1"/>
                </a:solidFill>
              </a:rPr>
              <a:t>', que modifica o precisa el significado de la información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96046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4048" y="1554354"/>
            <a:ext cx="2952328" cy="745152"/>
          </a:xfrm>
        </p:spPr>
        <p:txBody>
          <a:bodyPr anchor="t" anchorCtr="0">
            <a:normAutofit/>
          </a:bodyPr>
          <a:lstStyle/>
          <a:p>
            <a:r>
              <a:rPr lang="es-ES" sz="3200" b="1" dirty="0">
                <a:solidFill>
                  <a:srgbClr val="FFC000"/>
                </a:solidFill>
              </a:rPr>
              <a:t>ATRIBUTOS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71484" y="2418450"/>
            <a:ext cx="3240476" cy="3240360"/>
          </a:xfrm>
        </p:spPr>
        <p:txBody>
          <a:bodyPr>
            <a:noAutofit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Se emplean para representar jerarquías o contenido</a:t>
            </a:r>
          </a:p>
          <a:p>
            <a:r>
              <a:rPr lang="es-ES" sz="1600" dirty="0">
                <a:solidFill>
                  <a:schemeClr val="tx1"/>
                </a:solidFill>
              </a:rPr>
              <a:t>El orden en el que aparece es representativo</a:t>
            </a:r>
          </a:p>
          <a:p>
            <a:r>
              <a:rPr lang="es-ES" sz="1600" dirty="0">
                <a:solidFill>
                  <a:schemeClr val="tx1"/>
                </a:solidFill>
              </a:rPr>
              <a:t>Puede haber múltiples ocurrencias de un elemento</a:t>
            </a:r>
          </a:p>
          <a:p>
            <a:r>
              <a:rPr lang="es-ES" sz="1600" dirty="0">
                <a:solidFill>
                  <a:schemeClr val="tx1"/>
                </a:solidFill>
              </a:rPr>
              <a:t>Se pueden extender con otros elementos en su interior</a:t>
            </a:r>
          </a:p>
          <a:p>
            <a:r>
              <a:rPr lang="es-ES" sz="1600" dirty="0">
                <a:solidFill>
                  <a:schemeClr val="tx1"/>
                </a:solidFill>
              </a:rPr>
              <a:t>Puede tener atributos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C22BEEA2-71CE-4A70-AD6C-19F01A2A40C8}" type="slidenum">
              <a:rPr lang="es-ES" smtClean="0"/>
              <a:pPr/>
              <a:t>27</a:t>
            </a:fld>
            <a:endParaRPr lang="es-ES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4641448" y="2420888"/>
            <a:ext cx="3240476" cy="324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>
                <a:solidFill>
                  <a:schemeClr val="tx1"/>
                </a:solidFill>
              </a:rPr>
              <a:t>Van asociados a los elementos</a:t>
            </a:r>
          </a:p>
          <a:p>
            <a:r>
              <a:rPr lang="es-ES" sz="1600" dirty="0">
                <a:solidFill>
                  <a:schemeClr val="tx1"/>
                </a:solidFill>
              </a:rPr>
              <a:t>El orden en el que aparecen no es representativo</a:t>
            </a:r>
          </a:p>
          <a:p>
            <a:r>
              <a:rPr lang="es-ES" sz="1600" dirty="0">
                <a:solidFill>
                  <a:schemeClr val="tx1"/>
                </a:solidFill>
              </a:rPr>
              <a:t>No puede haber múltiples ocurrencias de un atributo dentro de un mismo elemento.</a:t>
            </a:r>
          </a:p>
          <a:p>
            <a:r>
              <a:rPr lang="es-ES" sz="1600" dirty="0">
                <a:solidFill>
                  <a:schemeClr val="tx1"/>
                </a:solidFill>
              </a:rPr>
              <a:t>No se pueden extender con otros elementos contenidos en su interior</a:t>
            </a:r>
          </a:p>
        </p:txBody>
      </p:sp>
      <p:sp>
        <p:nvSpPr>
          <p:cNvPr id="7" name="1 Título"/>
          <p:cNvSpPr txBox="1">
            <a:spLocks/>
          </p:cNvSpPr>
          <p:nvPr/>
        </p:nvSpPr>
        <p:spPr>
          <a:xfrm>
            <a:off x="1151503" y="1554354"/>
            <a:ext cx="2880438" cy="7451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200" b="1" dirty="0">
                <a:solidFill>
                  <a:srgbClr val="FFC000"/>
                </a:solidFill>
              </a:rPr>
              <a:t>ELEMENTOS</a:t>
            </a: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899592" y="404664"/>
            <a:ext cx="2952446" cy="88916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b="1" dirty="0"/>
              <a:t>ATRIBUTOS</a:t>
            </a:r>
          </a:p>
        </p:txBody>
      </p:sp>
      <p:sp>
        <p:nvSpPr>
          <p:cNvPr id="9" name="1 Título"/>
          <p:cNvSpPr txBox="1">
            <a:spLocks/>
          </p:cNvSpPr>
          <p:nvPr/>
        </p:nvSpPr>
        <p:spPr>
          <a:xfrm>
            <a:off x="4031941" y="1554354"/>
            <a:ext cx="882275" cy="7451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200" b="1" dirty="0">
                <a:solidFill>
                  <a:srgbClr val="92D050"/>
                </a:solidFill>
              </a:rPr>
              <a:t>VS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467544" y="6090802"/>
            <a:ext cx="8208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FF0000"/>
                </a:solidFill>
              </a:rPr>
              <a:t>Realiza las Actividades 12 a 18</a:t>
            </a:r>
          </a:p>
        </p:txBody>
      </p:sp>
    </p:spTree>
    <p:extLst>
      <p:ext uri="{BB962C8B-B14F-4D97-AF65-F5344CB8AC3E}">
        <p14:creationId xmlns:p14="http://schemas.microsoft.com/office/powerpoint/2010/main" val="336649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641448" y="5759290"/>
            <a:ext cx="3502152" cy="365125"/>
          </a:xfrm>
        </p:spPr>
        <p:txBody>
          <a:bodyPr/>
          <a:lstStyle/>
          <a:p>
            <a:fld id="{C22BEEA2-71CE-4A70-AD6C-19F01A2A40C8}" type="slidenum">
              <a:rPr lang="es-ES" smtClean="0"/>
              <a:pPr/>
              <a:t>28</a:t>
            </a:fld>
            <a:endParaRPr lang="es-ES" dirty="0"/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467544" y="332656"/>
            <a:ext cx="3564123" cy="115212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200" b="1" dirty="0"/>
              <a:t>ESPACIOS</a:t>
            </a:r>
          </a:p>
          <a:p>
            <a:r>
              <a:rPr lang="es-ES" sz="3200" b="1" dirty="0"/>
              <a:t>DE NOMBRES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755575" y="1556792"/>
            <a:ext cx="7488832" cy="660628"/>
          </a:xfrm>
        </p:spPr>
        <p:txBody>
          <a:bodyPr>
            <a:normAutofit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A veces, dos elementos se llaman igual y sin embargo no se refieren al mismo tipo de elemento. Esto puede llegar a ser un inconveniente.</a:t>
            </a:r>
            <a:endParaRPr lang="es-ES" dirty="0"/>
          </a:p>
        </p:txBody>
      </p:sp>
      <p:sp>
        <p:nvSpPr>
          <p:cNvPr id="12" name="Rectángulo 11"/>
          <p:cNvSpPr/>
          <p:nvPr/>
        </p:nvSpPr>
        <p:spPr>
          <a:xfrm>
            <a:off x="1936504" y="2249069"/>
            <a:ext cx="652392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&lt;?</a:t>
            </a:r>
            <a:r>
              <a:rPr lang="es-ES" sz="1600" dirty="0" err="1">
                <a:solidFill>
                  <a:srgbClr val="0000FF"/>
                </a:solidFill>
                <a:latin typeface="Calibri-Identity-H"/>
              </a:rPr>
              <a:t>xml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</a:t>
            </a:r>
            <a:r>
              <a:rPr lang="es-ES" sz="1600" dirty="0" err="1">
                <a:solidFill>
                  <a:srgbClr val="FF0000"/>
                </a:solidFill>
                <a:latin typeface="Calibri-Identity-H"/>
              </a:rPr>
              <a:t>version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"1.0"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?&gt;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color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 err="1">
                <a:solidFill>
                  <a:srgbClr val="000000"/>
                </a:solidFill>
                <a:latin typeface="Calibri-Identity-H"/>
              </a:rPr>
              <a:t>Marron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color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asientos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3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asientos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 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nombre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 err="1">
                <a:solidFill>
                  <a:srgbClr val="000000"/>
                </a:solidFill>
                <a:latin typeface="Calibri-Identity-H"/>
              </a:rPr>
              <a:t>Unicaja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nombre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 err="1">
                <a:solidFill>
                  <a:srgbClr val="818100"/>
                </a:solidFill>
                <a:latin typeface="Calibri-Identity-H"/>
              </a:rPr>
              <a:t>direccion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Avda. Cayetano del Toro 14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 err="1">
                <a:solidFill>
                  <a:srgbClr val="818100"/>
                </a:solidFill>
                <a:latin typeface="Calibri-Identity-H"/>
              </a:rPr>
              <a:t>direccion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clientes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 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154000000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clientes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9760601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467544" y="332656"/>
            <a:ext cx="3564123" cy="115212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200" b="1" dirty="0"/>
              <a:t>ESPACIOS</a:t>
            </a:r>
          </a:p>
          <a:p>
            <a:r>
              <a:rPr lang="es-ES" sz="3200" b="1" dirty="0"/>
              <a:t>DE NOMBRES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755574" y="1556792"/>
            <a:ext cx="7704857" cy="660628"/>
          </a:xfrm>
        </p:spPr>
        <p:txBody>
          <a:bodyPr>
            <a:normAutofit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Para solucionarlo podemos asignar espacios de nombres por defecto para todas las etiquetas de un elemento y las de sus elementos hijos:</a:t>
            </a:r>
            <a:endParaRPr lang="es-ES" dirty="0"/>
          </a:p>
        </p:txBody>
      </p:sp>
      <p:sp>
        <p:nvSpPr>
          <p:cNvPr id="12" name="Rectángulo 11"/>
          <p:cNvSpPr/>
          <p:nvPr/>
        </p:nvSpPr>
        <p:spPr>
          <a:xfrm>
            <a:off x="1936504" y="2249069"/>
            <a:ext cx="652392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&lt;?</a:t>
            </a:r>
            <a:r>
              <a:rPr lang="es-ES" sz="1600" dirty="0" err="1">
                <a:solidFill>
                  <a:srgbClr val="0000FF"/>
                </a:solidFill>
                <a:latin typeface="Calibri-Identity-H"/>
              </a:rPr>
              <a:t>xml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</a:t>
            </a:r>
            <a:r>
              <a:rPr lang="es-ES" sz="1600" dirty="0" err="1">
                <a:solidFill>
                  <a:srgbClr val="FF0000"/>
                </a:solidFill>
                <a:latin typeface="Calibri-Identity-H"/>
              </a:rPr>
              <a:t>version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"1.0"</a:t>
            </a:r>
            <a:r>
              <a:rPr lang="es-ES" sz="1600" dirty="0">
                <a:solidFill>
                  <a:srgbClr val="3B3BFF"/>
                </a:solidFill>
                <a:latin typeface="Calibri-Identity-H"/>
              </a:rPr>
              <a:t>?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 </a:t>
            </a:r>
            <a:r>
              <a:rPr lang="pt-BR" sz="1600" dirty="0" err="1">
                <a:solidFill>
                  <a:srgbClr val="FF0000"/>
                </a:solidFill>
                <a:latin typeface="Calibri-Identity-H"/>
              </a:rPr>
              <a:t>xmlns</a:t>
            </a:r>
            <a:r>
              <a:rPr lang="pt-BR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pt-BR" sz="1600" dirty="0">
                <a:solidFill>
                  <a:srgbClr val="FF00FF"/>
                </a:solidFill>
                <a:latin typeface="Calibri-Identity-H"/>
              </a:rPr>
              <a:t>"http://mobiliario_urbano.com" 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color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 err="1">
                <a:solidFill>
                  <a:srgbClr val="000000"/>
                </a:solidFill>
                <a:latin typeface="Calibri-Identity-H"/>
              </a:rPr>
              <a:t>Marron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color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asientos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3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asientos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 </a:t>
            </a:r>
            <a:r>
              <a:rPr lang="es-ES" sz="1600" dirty="0" err="1">
                <a:solidFill>
                  <a:srgbClr val="FF0000"/>
                </a:solidFill>
                <a:latin typeface="Calibri-Identity-H"/>
              </a:rPr>
              <a:t>xmlns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"http://bancos_y_cajas.es"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nombre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 err="1">
                <a:solidFill>
                  <a:srgbClr val="000000"/>
                </a:solidFill>
                <a:latin typeface="Calibri-Identity-H"/>
              </a:rPr>
              <a:t>Unicaja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nombre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 err="1">
                <a:solidFill>
                  <a:srgbClr val="818100"/>
                </a:solidFill>
                <a:latin typeface="Calibri-Identity-H"/>
              </a:rPr>
              <a:t>direccion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Avda. Cayetano del Toro 14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 err="1">
                <a:solidFill>
                  <a:srgbClr val="818100"/>
                </a:solidFill>
                <a:latin typeface="Calibri-Identity-H"/>
              </a:rPr>
              <a:t>direccion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clientes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 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154000000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clientes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endParaRPr lang="es-ES" sz="1600" dirty="0"/>
          </a:p>
        </p:txBody>
      </p:sp>
      <p:sp>
        <p:nvSpPr>
          <p:cNvPr id="3" name="Abrir llave 2"/>
          <p:cNvSpPr/>
          <p:nvPr/>
        </p:nvSpPr>
        <p:spPr>
          <a:xfrm rot="5400000">
            <a:off x="4868426" y="1764422"/>
            <a:ext cx="216024" cy="2681084"/>
          </a:xfrm>
          <a:prstGeom prst="leftBrace">
            <a:avLst>
              <a:gd name="adj1" fmla="val 57716"/>
              <a:gd name="adj2" fmla="val 50000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2 Marcador de contenido"/>
          <p:cNvSpPr txBox="1">
            <a:spLocks/>
          </p:cNvSpPr>
          <p:nvPr/>
        </p:nvSpPr>
        <p:spPr>
          <a:xfrm>
            <a:off x="3419872" y="2624356"/>
            <a:ext cx="3096344" cy="37259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 algn="ctr">
              <a:buNone/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Espacio de nombres por defecto</a:t>
            </a:r>
            <a:endParaRPr lang="es-ES" b="1" dirty="0">
              <a:solidFill>
                <a:schemeClr val="accent6">
                  <a:lumMod val="75000"/>
                </a:schemeClr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4161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467544" y="239341"/>
            <a:ext cx="5040560" cy="115212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200" b="1" dirty="0"/>
              <a:t>ESPACIOS </a:t>
            </a:r>
          </a:p>
          <a:p>
            <a:r>
              <a:rPr lang="es-ES" sz="3200" b="1" dirty="0"/>
              <a:t>DE NOMBRES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766224" y="1268761"/>
            <a:ext cx="7982240" cy="900474"/>
          </a:xfrm>
        </p:spPr>
        <p:txBody>
          <a:bodyPr>
            <a:normAutofit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A los espacios de nombre se les puede asignar un 'prefijo'.</a:t>
            </a:r>
          </a:p>
          <a:p>
            <a:r>
              <a:rPr lang="es-ES" sz="1600" dirty="0">
                <a:solidFill>
                  <a:schemeClr val="tx1"/>
                </a:solidFill>
              </a:rPr>
              <a:t>Ese prefijo puede ser utilizado posteriormente para aplicar el </a:t>
            </a:r>
            <a:r>
              <a:rPr lang="es-ES" sz="1600" dirty="0" err="1">
                <a:solidFill>
                  <a:schemeClr val="tx1"/>
                </a:solidFill>
              </a:rPr>
              <a:t>esp.nombres</a:t>
            </a:r>
            <a:r>
              <a:rPr lang="es-ES" sz="1600" dirty="0">
                <a:solidFill>
                  <a:schemeClr val="tx1"/>
                </a:solidFill>
              </a:rPr>
              <a:t> a una etiqueta o a un atributo, pero no afectaría a las etiquetas hijas.</a:t>
            </a:r>
            <a:endParaRPr lang="es-ES" dirty="0"/>
          </a:p>
        </p:txBody>
      </p:sp>
      <p:sp>
        <p:nvSpPr>
          <p:cNvPr id="2" name="Rectángulo 1"/>
          <p:cNvSpPr/>
          <p:nvPr/>
        </p:nvSpPr>
        <p:spPr>
          <a:xfrm>
            <a:off x="1547664" y="2169235"/>
            <a:ext cx="748883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&lt;?</a:t>
            </a:r>
            <a:r>
              <a:rPr lang="es-ES" sz="1600" dirty="0" err="1">
                <a:solidFill>
                  <a:srgbClr val="0000FF"/>
                </a:solidFill>
                <a:latin typeface="Calibri-Identity-H"/>
              </a:rPr>
              <a:t>xml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</a:t>
            </a:r>
            <a:r>
              <a:rPr lang="es-ES" sz="1600" dirty="0" err="1">
                <a:solidFill>
                  <a:srgbClr val="FF0000"/>
                </a:solidFill>
                <a:latin typeface="Calibri-Identity-H"/>
              </a:rPr>
              <a:t>version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"1.0"</a:t>
            </a:r>
            <a:r>
              <a:rPr lang="es-ES" sz="1600" dirty="0">
                <a:solidFill>
                  <a:srgbClr val="4848FF"/>
                </a:solidFill>
                <a:latin typeface="Calibri-Identity-H"/>
              </a:rPr>
              <a:t>?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bancos </a:t>
            </a:r>
            <a:r>
              <a:rPr lang="es-ES" sz="1600" dirty="0">
                <a:solidFill>
                  <a:srgbClr val="810081"/>
                </a:solidFill>
                <a:latin typeface="Calibri-Identity-H"/>
              </a:rPr>
              <a:t>xmlns:e1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"http://www.mobiliario_urbano.com"</a:t>
            </a:r>
          </a:p>
          <a:p>
            <a:r>
              <a:rPr lang="es-ES" sz="1600" dirty="0">
                <a:solidFill>
                  <a:srgbClr val="810081"/>
                </a:solidFill>
                <a:latin typeface="Calibri-Identity-H"/>
              </a:rPr>
              <a:t>               xmlns:e2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"http://www.bancos_y_cajas.es"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e1:banco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e1:color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 err="1">
                <a:solidFill>
                  <a:srgbClr val="000000"/>
                </a:solidFill>
                <a:latin typeface="Calibri-Identity-H"/>
              </a:rPr>
              <a:t>Marron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e1:color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e1:asientos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3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e1:asientos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e1:banco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e2:banco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nombre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 err="1">
                <a:solidFill>
                  <a:srgbClr val="000000"/>
                </a:solidFill>
                <a:latin typeface="Calibri-Identity-H"/>
              </a:rPr>
              <a:t>Unicaja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nombre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 err="1">
                <a:solidFill>
                  <a:srgbClr val="818100"/>
                </a:solidFill>
                <a:latin typeface="Calibri-Identity-H"/>
              </a:rPr>
              <a:t>direccion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Avda. Cayetano del Toro 14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 err="1">
                <a:solidFill>
                  <a:srgbClr val="818100"/>
                </a:solidFill>
                <a:latin typeface="Calibri-Identity-H"/>
              </a:rPr>
              <a:t>direccion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e2:clientes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 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154000000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e2:clientes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e2:banco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595540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467544" y="239341"/>
            <a:ext cx="5040560" cy="115212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200" b="1" dirty="0"/>
              <a:t>ESPACIOS </a:t>
            </a:r>
          </a:p>
          <a:p>
            <a:r>
              <a:rPr lang="es-ES" sz="3200" b="1" dirty="0"/>
              <a:t>DE NOMBRES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766224" y="1421364"/>
            <a:ext cx="7982240" cy="900474"/>
          </a:xfrm>
        </p:spPr>
        <p:txBody>
          <a:bodyPr>
            <a:normAutofit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Pueden existir al mismo tiempo espacios de nombre por defecto y espacios de nombre aplicados mediante prefijo.</a:t>
            </a:r>
            <a:endParaRPr lang="es-ES" dirty="0"/>
          </a:p>
        </p:txBody>
      </p:sp>
      <p:sp>
        <p:nvSpPr>
          <p:cNvPr id="2" name="Rectángulo 1"/>
          <p:cNvSpPr/>
          <p:nvPr/>
        </p:nvSpPr>
        <p:spPr>
          <a:xfrm>
            <a:off x="1547664" y="2169235"/>
            <a:ext cx="748883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&lt;?</a:t>
            </a:r>
            <a:r>
              <a:rPr lang="es-ES" sz="1600" dirty="0" err="1">
                <a:solidFill>
                  <a:srgbClr val="0000FF"/>
                </a:solidFill>
                <a:latin typeface="Calibri-Identity-H"/>
              </a:rPr>
              <a:t>xml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</a:t>
            </a:r>
            <a:r>
              <a:rPr lang="es-ES" sz="1600" dirty="0" err="1">
                <a:solidFill>
                  <a:srgbClr val="FF0000"/>
                </a:solidFill>
                <a:latin typeface="Calibri-Identity-H"/>
              </a:rPr>
              <a:t>version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"1.0"</a:t>
            </a:r>
            <a:r>
              <a:rPr lang="es-ES" sz="1600" dirty="0">
                <a:solidFill>
                  <a:srgbClr val="0642BA"/>
                </a:solidFill>
                <a:latin typeface="Calibri-Identity-H"/>
              </a:rPr>
              <a:t>?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bancos </a:t>
            </a:r>
            <a:r>
              <a:rPr lang="es-ES" sz="1600" dirty="0" err="1">
                <a:solidFill>
                  <a:srgbClr val="810081"/>
                </a:solidFill>
                <a:latin typeface="Calibri-Identity-H"/>
              </a:rPr>
              <a:t>xmlns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"http://www.mobiliario_urbano.com"</a:t>
            </a:r>
          </a:p>
          <a:p>
            <a:r>
              <a:rPr lang="es-ES" sz="1600" dirty="0">
                <a:solidFill>
                  <a:srgbClr val="810081"/>
                </a:solidFill>
                <a:latin typeface="Calibri-Identity-H"/>
              </a:rPr>
              <a:t>               xmlns:d2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"http://www.bancos_y_cajas.es"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color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 err="1">
                <a:solidFill>
                  <a:srgbClr val="000000"/>
                </a:solidFill>
                <a:latin typeface="Calibri-Identity-H"/>
              </a:rPr>
              <a:t>Marron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color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asientos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3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asientos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d2:banco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d2:nombre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 err="1">
                <a:solidFill>
                  <a:srgbClr val="000000"/>
                </a:solidFill>
                <a:latin typeface="Calibri-Identity-H"/>
              </a:rPr>
              <a:t>Unicaja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d2:nombre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d2:direccion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Avda. Cayetano del Toro 14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d2:direccion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d2:clientes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 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154000000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d2:clientes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d2:banco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5805495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467544" y="239341"/>
            <a:ext cx="5040560" cy="115212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200" b="1" dirty="0"/>
              <a:t>ESPACIOS </a:t>
            </a:r>
          </a:p>
          <a:p>
            <a:r>
              <a:rPr lang="es-ES" sz="3200" b="1" dirty="0"/>
              <a:t>DE NOMBRES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652888" y="1700808"/>
            <a:ext cx="7982240" cy="900474"/>
          </a:xfrm>
        </p:spPr>
        <p:txBody>
          <a:bodyPr>
            <a:normAutofit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Podemos eliminar el efecto de un espacio de nombres por defecto para un determinado elemento y sus hijos, declarando en este elemento un espacio de nombres vacío.</a:t>
            </a:r>
            <a:endParaRPr lang="es-ES" dirty="0"/>
          </a:p>
        </p:txBody>
      </p:sp>
      <p:sp>
        <p:nvSpPr>
          <p:cNvPr id="2" name="Rectángulo 1"/>
          <p:cNvSpPr/>
          <p:nvPr/>
        </p:nvSpPr>
        <p:spPr>
          <a:xfrm>
            <a:off x="1763688" y="3284984"/>
            <a:ext cx="576064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&lt;?</a:t>
            </a:r>
            <a:r>
              <a:rPr lang="es-ES" sz="1600" dirty="0" err="1">
                <a:solidFill>
                  <a:srgbClr val="0000FF"/>
                </a:solidFill>
                <a:latin typeface="Calibri-Identity-H"/>
              </a:rPr>
              <a:t>xml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</a:t>
            </a:r>
            <a:r>
              <a:rPr lang="es-ES" sz="1600" dirty="0" err="1">
                <a:solidFill>
                  <a:srgbClr val="FF0000"/>
                </a:solidFill>
                <a:latin typeface="Calibri-Identity-H"/>
              </a:rPr>
              <a:t>version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"1.0"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?&gt;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 </a:t>
            </a:r>
            <a:r>
              <a:rPr lang="es-ES" sz="1600" dirty="0" err="1">
                <a:solidFill>
                  <a:srgbClr val="810081"/>
                </a:solidFill>
                <a:latin typeface="Calibri-Identity-H"/>
              </a:rPr>
              <a:t>xmlns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"http://www.mobiliario_urbano.com"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color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 err="1">
                <a:solidFill>
                  <a:srgbClr val="000000"/>
                </a:solidFill>
                <a:latin typeface="Calibri-Identity-H"/>
              </a:rPr>
              <a:t>Marron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color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asientos </a:t>
            </a:r>
            <a:r>
              <a:rPr lang="es-ES" sz="1600" dirty="0" err="1">
                <a:solidFill>
                  <a:srgbClr val="810081"/>
                </a:solidFill>
                <a:latin typeface="Calibri-Identity-H"/>
              </a:rPr>
              <a:t>xmlns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""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3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asientos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2908" y="5517232"/>
            <a:ext cx="7622200" cy="73866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s-ES" sz="1400" dirty="0"/>
              <a:t>Esta aplicación web analiza código XML y te dice cuál es el espacio de nombres de cada elemento: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>
                <a:hlinkClick r:id="rId2"/>
              </a:rPr>
              <a:t>http://di002.edv.uniovi.es/~labra/cursos/XML/showNamespaces/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776332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467544" y="332656"/>
            <a:ext cx="5040560" cy="115212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200" b="1" dirty="0"/>
              <a:t>ESPACIOS </a:t>
            </a:r>
          </a:p>
          <a:p>
            <a:r>
              <a:rPr lang="es-ES" sz="3200" b="1" dirty="0"/>
              <a:t>DE NOMBRES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766224" y="1412776"/>
            <a:ext cx="7838224" cy="747871"/>
          </a:xfrm>
        </p:spPr>
        <p:txBody>
          <a:bodyPr>
            <a:normAutofit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Los espacios de nombres por defecto no afectan a los atributos.</a:t>
            </a:r>
            <a:endParaRPr lang="es-ES" dirty="0"/>
          </a:p>
          <a:p>
            <a:r>
              <a:rPr lang="es-ES" sz="1600" dirty="0">
                <a:solidFill>
                  <a:schemeClr val="tx1"/>
                </a:solidFill>
              </a:rPr>
              <a:t>Para aplicar espacio de nombre a un atributo hay que usar el prefijo</a:t>
            </a:r>
          </a:p>
        </p:txBody>
      </p:sp>
      <p:sp>
        <p:nvSpPr>
          <p:cNvPr id="2" name="Rectángulo 1"/>
          <p:cNvSpPr/>
          <p:nvPr/>
        </p:nvSpPr>
        <p:spPr>
          <a:xfrm>
            <a:off x="1547664" y="2132856"/>
            <a:ext cx="590465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&lt;?</a:t>
            </a:r>
            <a:r>
              <a:rPr lang="es-ES" sz="1600" dirty="0" err="1">
                <a:solidFill>
                  <a:srgbClr val="0000FF"/>
                </a:solidFill>
                <a:latin typeface="Calibri-Identity-H"/>
              </a:rPr>
              <a:t>xml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</a:t>
            </a:r>
            <a:r>
              <a:rPr lang="es-ES" sz="1600" dirty="0" err="1">
                <a:solidFill>
                  <a:srgbClr val="FF0000"/>
                </a:solidFill>
                <a:latin typeface="Calibri-Identity-H"/>
              </a:rPr>
              <a:t>version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"1.0"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?&gt;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bancos </a:t>
            </a:r>
            <a:r>
              <a:rPr lang="es-ES" sz="1600" dirty="0" err="1">
                <a:solidFill>
                  <a:srgbClr val="810081"/>
                </a:solidFill>
                <a:latin typeface="Calibri-Identity-H"/>
              </a:rPr>
              <a:t>xmlns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"http://www.mobiliario_urbano.com"</a:t>
            </a:r>
          </a:p>
          <a:p>
            <a:r>
              <a:rPr lang="es-ES" sz="1600" dirty="0">
                <a:solidFill>
                  <a:srgbClr val="810081"/>
                </a:solidFill>
                <a:latin typeface="Calibri-Identity-H"/>
              </a:rPr>
              <a:t>               xmlns:d2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"http://www.bancos_y_cajas.es"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 </a:t>
            </a:r>
            <a:r>
              <a:rPr lang="es-ES" sz="1600" dirty="0">
                <a:solidFill>
                  <a:srgbClr val="810081"/>
                </a:solidFill>
                <a:latin typeface="Calibri-Identity-H"/>
              </a:rPr>
              <a:t>color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</a:t>
            </a:r>
            <a:r>
              <a:rPr lang="es-ES" sz="1600" dirty="0" err="1">
                <a:solidFill>
                  <a:srgbClr val="FF00FF"/>
                </a:solidFill>
                <a:latin typeface="Calibri-Identity-H"/>
              </a:rPr>
              <a:t>Marron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asientos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3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asientos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 </a:t>
            </a:r>
            <a:r>
              <a:rPr lang="es-ES" sz="1600" dirty="0">
                <a:solidFill>
                  <a:srgbClr val="810081"/>
                </a:solidFill>
                <a:latin typeface="Calibri-Identity-H"/>
              </a:rPr>
              <a:t>color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</a:t>
            </a:r>
            <a:r>
              <a:rPr lang="es-ES" sz="1600" dirty="0" err="1">
                <a:solidFill>
                  <a:srgbClr val="FF00FF"/>
                </a:solidFill>
                <a:latin typeface="Calibri-Identity-H"/>
              </a:rPr>
              <a:t>Marron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 </a:t>
            </a:r>
            <a:r>
              <a:rPr lang="es-ES" sz="1600" dirty="0">
                <a:solidFill>
                  <a:srgbClr val="7030A0"/>
                </a:solidFill>
                <a:latin typeface="Calibri-Identity-H"/>
              </a:rPr>
              <a:t>d2:</a:t>
            </a:r>
            <a:r>
              <a:rPr lang="es-ES" sz="1600" dirty="0">
                <a:solidFill>
                  <a:srgbClr val="810081"/>
                </a:solidFill>
                <a:latin typeface="Calibri-Identity-H"/>
              </a:rPr>
              <a:t>color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=</a:t>
            </a:r>
            <a:r>
              <a:rPr lang="es-ES" sz="1600" dirty="0">
                <a:solidFill>
                  <a:srgbClr val="FF00FF"/>
                </a:solidFill>
                <a:latin typeface="Calibri-Identity-H"/>
              </a:rPr>
              <a:t>"verde" 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    &lt;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asientos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r>
              <a:rPr lang="es-ES" sz="1600" dirty="0">
                <a:solidFill>
                  <a:srgbClr val="000000"/>
                </a:solidFill>
                <a:latin typeface="Calibri-Identity-H"/>
              </a:rPr>
              <a:t>3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asientos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    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</a:p>
          <a:p>
            <a:endParaRPr lang="es-ES" sz="1600" dirty="0">
              <a:solidFill>
                <a:srgbClr val="0000FF"/>
              </a:solidFill>
              <a:latin typeface="Calibri-Identity-H"/>
            </a:endParaRPr>
          </a:p>
          <a:p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&lt;/</a:t>
            </a:r>
            <a:r>
              <a:rPr lang="es-ES" sz="1600" dirty="0">
                <a:solidFill>
                  <a:srgbClr val="818100"/>
                </a:solidFill>
                <a:latin typeface="Calibri-Identity-H"/>
              </a:rPr>
              <a:t>bancos</a:t>
            </a:r>
            <a:r>
              <a:rPr lang="es-ES" sz="1600" dirty="0">
                <a:solidFill>
                  <a:srgbClr val="0000FF"/>
                </a:solidFill>
                <a:latin typeface="Calibri-Identity-H"/>
              </a:rPr>
              <a:t>&gt;</a:t>
            </a:r>
            <a:endParaRPr lang="es-ES" sz="1600" dirty="0"/>
          </a:p>
        </p:txBody>
      </p:sp>
      <p:sp>
        <p:nvSpPr>
          <p:cNvPr id="3" name="CuadroTexto 2"/>
          <p:cNvSpPr txBox="1"/>
          <p:nvPr/>
        </p:nvSpPr>
        <p:spPr>
          <a:xfrm>
            <a:off x="766224" y="5733256"/>
            <a:ext cx="76222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s-ES" sz="1400" dirty="0"/>
              <a:t>Explicaciones de los espacios de nombres: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>
                <a:hlinkClick r:id="rId2"/>
              </a:rPr>
              <a:t>https://www.abrirllave.com/xml/espacios-de-nombres.php</a:t>
            </a:r>
            <a:endParaRPr lang="es-E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>
                <a:hlinkClick r:id="rId3"/>
              </a:rPr>
              <a:t>https://sites.google.com/site/todoxmldtd/referencia/referencia-para-descripciones-xml/referencia-de-xsds-xml-schema/2-espacios-de-nombres</a:t>
            </a:r>
            <a:endParaRPr lang="es-ES" sz="1400" dirty="0"/>
          </a:p>
        </p:txBody>
      </p:sp>
      <p:sp>
        <p:nvSpPr>
          <p:cNvPr id="6" name="CuadroTexto 5"/>
          <p:cNvSpPr txBox="1"/>
          <p:nvPr/>
        </p:nvSpPr>
        <p:spPr>
          <a:xfrm>
            <a:off x="1403648" y="5146069"/>
            <a:ext cx="8208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FF0000"/>
                </a:solidFill>
              </a:rPr>
              <a:t>Realiza las Actividades 19 y 20</a:t>
            </a:r>
          </a:p>
        </p:txBody>
      </p:sp>
    </p:spTree>
    <p:extLst>
      <p:ext uri="{BB962C8B-B14F-4D97-AF65-F5344CB8AC3E}">
        <p14:creationId xmlns:p14="http://schemas.microsoft.com/office/powerpoint/2010/main" val="171207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404664"/>
            <a:ext cx="7272926" cy="1143000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DOCUMENTOS BIEN FORMADOS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43490" y="1772816"/>
            <a:ext cx="7272924" cy="4464496"/>
          </a:xfrm>
        </p:spPr>
        <p:txBody>
          <a:bodyPr>
            <a:normAutofit fontScale="55000" lnSpcReduction="20000"/>
          </a:bodyPr>
          <a:lstStyle/>
          <a:p>
            <a:pPr marL="68580" indent="0" algn="just">
              <a:buNone/>
            </a:pPr>
            <a:r>
              <a:rPr lang="es-ES" b="1" i="1" dirty="0">
                <a:solidFill>
                  <a:schemeClr val="tx1"/>
                </a:solidFill>
              </a:rPr>
              <a:t>Un documento se dice que es bien formado si cumple las reglas establecidas por el W3C, en las especificaciones para XML</a:t>
            </a:r>
          </a:p>
          <a:p>
            <a:pPr marL="68580" indent="0" algn="just">
              <a:buNone/>
            </a:pPr>
            <a:endParaRPr lang="es-ES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s-ES" dirty="0">
                <a:solidFill>
                  <a:schemeClr val="tx1"/>
                </a:solidFill>
              </a:rPr>
              <a:t>La instrucción de procesamiento que indica que el documento es XML, así como su versión, debe estar justo al inicio, en caso de existir (se recomienda que exista)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s-ES" dirty="0">
                <a:solidFill>
                  <a:schemeClr val="tx1"/>
                </a:solidFill>
              </a:rPr>
              <a:t>Existe un único elemento raíz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s-ES" dirty="0">
                <a:solidFill>
                  <a:schemeClr val="tx1"/>
                </a:solidFill>
              </a:rPr>
              <a:t>Los elementos no vacíos deben tener etiqueta de apertura y de cierre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s-ES" dirty="0">
                <a:solidFill>
                  <a:schemeClr val="tx1"/>
                </a:solidFill>
              </a:rPr>
              <a:t>Los elementos vacíos deben cerrarse con /&gt;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s-ES" dirty="0">
                <a:solidFill>
                  <a:schemeClr val="tx1"/>
                </a:solidFill>
              </a:rPr>
              <a:t>Los elementos deben aparecer correctamente anidados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s-ES" dirty="0">
                <a:solidFill>
                  <a:schemeClr val="tx1"/>
                </a:solidFill>
              </a:rPr>
              <a:t>Antes de cerrar un elemento, hay que cerrar todos sus elementos hijo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s-ES" dirty="0">
                <a:solidFill>
                  <a:schemeClr val="tx1"/>
                </a:solidFill>
              </a:rPr>
              <a:t>Las etiquetas de cierre deben aparecer en orden inverso a sus correspondientes etiquetas de apertura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s-ES" dirty="0">
                <a:solidFill>
                  <a:schemeClr val="tx1"/>
                </a:solidFill>
              </a:rPr>
              <a:t>Los nombres de las etiquetas deben respetar las reglas ya comentadas: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s-ES" dirty="0"/>
              <a:t>Debe empezar por una letra, guion bajo o dos puntos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s-ES" dirty="0"/>
              <a:t>Los siguientes caracteres pueden ser letras, dígitos, guiones bajos, comas o dos puntos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s-ES" dirty="0"/>
              <a:t>Los nombres que empiezan por las letras «XML» (en cualquier combinación mayúsculas o minúsculas) se reservan para estandarización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s-ES" dirty="0"/>
              <a:t>Los nombres de los atributos no pueden repetirse dentro de un mismo elemento.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s-ES" dirty="0"/>
              <a:t>Los valores de los atributos deben ir encerrados entre comillas simples o dobles.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832908" y="5642084"/>
            <a:ext cx="7622200" cy="52322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s-ES" sz="1400" dirty="0"/>
              <a:t>W3C proporciona una aplicación web que indica si XML está bien formado: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>
                <a:hlinkClick r:id="rId2"/>
              </a:rPr>
              <a:t>http://validator.w3.org/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2877472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4 Esquina doblada"/>
          <p:cNvSpPr/>
          <p:nvPr/>
        </p:nvSpPr>
        <p:spPr bwMode="auto">
          <a:xfrm>
            <a:off x="323528" y="1340768"/>
            <a:ext cx="8496944" cy="5184576"/>
          </a:xfrm>
          <a:prstGeom prst="foldedCorner">
            <a:avLst/>
          </a:prstGeom>
          <a:solidFill>
            <a:srgbClr val="FFFFCC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9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4" y="45760"/>
            <a:ext cx="7392988" cy="563563"/>
          </a:xfrm>
        </p:spPr>
        <p:txBody>
          <a:bodyPr/>
          <a:lstStyle/>
          <a:p>
            <a:r>
              <a:rPr lang="en-US" dirty="0" err="1"/>
              <a:t>Documentos</a:t>
            </a:r>
            <a:r>
              <a:rPr lang="en-US" dirty="0"/>
              <a:t> Bien </a:t>
            </a:r>
            <a:r>
              <a:rPr lang="en-US" dirty="0" err="1"/>
              <a:t>Formados</a:t>
            </a:r>
            <a:endParaRPr lang="en-US" dirty="0"/>
          </a:p>
        </p:txBody>
      </p:sp>
      <p:sp>
        <p:nvSpPr>
          <p:cNvPr id="47" name="Rectangle 2"/>
          <p:cNvSpPr txBox="1">
            <a:spLocks noChangeArrowheads="1"/>
          </p:cNvSpPr>
          <p:nvPr/>
        </p:nvSpPr>
        <p:spPr bwMode="white">
          <a:xfrm>
            <a:off x="683568" y="764704"/>
            <a:ext cx="7392988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marL="0" marR="0" lvl="0" indent="0" algn="ctr" defTabSz="95726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itchFamily="34" charset="0"/>
                <a:ea typeface="+mj-ea"/>
                <a:cs typeface="+mj-cs"/>
              </a:rPr>
              <a:t>Deben cumplir una serie de normas básicas:</a:t>
            </a:r>
          </a:p>
        </p:txBody>
      </p:sp>
      <p:sp>
        <p:nvSpPr>
          <p:cNvPr id="4" name="51 CuadroTexto"/>
          <p:cNvSpPr txBox="1"/>
          <p:nvPr/>
        </p:nvSpPr>
        <p:spPr>
          <a:xfrm>
            <a:off x="611560" y="1412776"/>
            <a:ext cx="8020368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Al principio del documento se debe declarar una cabecera con: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Versión del documento XML. 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Actualmente se puede indicar la versión 1.0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ó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 1.1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Juego de caracteres que se están utilizando. 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Habitualmente UTF-8, ISO-8859-1 o ISO-8859-15</a:t>
            </a:r>
            <a:r>
              <a:rPr kumimoji="0" lang="es-ES" sz="13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Todas las entidades, elementos y atributos deben tener una sintaxis correcta: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XML distingue entre mayúsculas y minúsculas.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Los nombres de los elementos siguen la siguiente sintaxis: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Deben comenzar con una letra, “_” o “:”.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No pueden comenzar por “</a:t>
            </a:r>
            <a:r>
              <a:rPr kumimoji="0" lang="es-ES_tradnl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xml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”, en ninguna combinación de mayúsculas y min.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El resto del nombre puede tener caracteres alfanuméricos, “_” o “:”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Elemento que se abra &lt;</a:t>
            </a:r>
            <a:r>
              <a:rPr kumimoji="0" lang="es-E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etiq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&gt;, deberá cerrarse &lt;/</a:t>
            </a:r>
            <a:r>
              <a:rPr kumimoji="0" lang="es-E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etiq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&gt;.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Los valores de atributos van entre entre comillas dobles o simples. &lt;</a:t>
            </a:r>
            <a:r>
              <a:rPr kumimoji="0" lang="es-E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etiq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 atributo=" 1 "&gt;.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Si hay un elemento vacío EMPTY, deberá </a:t>
            </a:r>
            <a:r>
              <a:rPr kumimoji="0" lang="es-E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autocerrarse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. &lt;</a:t>
            </a:r>
            <a:r>
              <a:rPr kumimoji="0" lang="es-E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etiq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/&gt;.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Los caracteres especiales ( “  &amp;  ‘  &lt;  &gt;) del contenido de los elementos se encuentra codificado con los códigos &amp; correspondientes (&amp;</a:t>
            </a:r>
            <a:r>
              <a:rPr kumimoji="0" lang="es-ES_tradnl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quot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;  &amp;</a:t>
            </a:r>
            <a:r>
              <a:rPr kumimoji="0" lang="es-ES_tradnl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amp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;  &amp;</a:t>
            </a:r>
            <a:r>
              <a:rPr kumimoji="0" lang="es-ES_tradnl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apos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;  &amp;</a:t>
            </a:r>
            <a:r>
              <a:rPr kumimoji="0" lang="es-ES_tradnl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alt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;  &amp;</a:t>
            </a:r>
            <a:r>
              <a:rPr kumimoji="0" lang="es-ES_tradnl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gt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;).</a:t>
            </a: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En la estructura del documento XML, se encadenarán los elementos en un formato jerárquico y anidado, en el que solamente habrá un elemento raíz.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Si se usan entidades definidas por el usuario dentro del documento XML, en la DTD deberán estar declaradas.</a:t>
            </a:r>
            <a:endParaRPr kumimoji="0" lang="es-ES_tradnl" sz="14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_tradnl" sz="14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sp>
        <p:nvSpPr>
          <p:cNvPr id="7" name="11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9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12 Botón de acción: Hacia atrás o Anterior">
            <a:hlinkClick r:id="" action="ppaction://hlinkshowjump?jump=previousslide" highlightClick="1"/>
          </p:cNvPr>
          <p:cNvSpPr/>
          <p:nvPr/>
        </p:nvSpPr>
        <p:spPr bwMode="auto">
          <a:xfrm>
            <a:off x="194240" y="290916"/>
            <a:ext cx="521208" cy="521208"/>
          </a:xfrm>
          <a:prstGeom prst="actionButtonBackPrevious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9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54844" y="6538551"/>
            <a:ext cx="8208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FF0000"/>
                </a:solidFill>
              </a:rPr>
              <a:t>Realiza las Actividades 21 a 23</a:t>
            </a:r>
          </a:p>
        </p:txBody>
      </p:sp>
    </p:spTree>
    <p:extLst>
      <p:ext uri="{BB962C8B-B14F-4D97-AF65-F5344CB8AC3E}">
        <p14:creationId xmlns:p14="http://schemas.microsoft.com/office/powerpoint/2010/main" val="392296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db2004c019l">
  <a:themeElements>
    <a:clrScheme name="sample 3">
      <a:dk1>
        <a:srgbClr val="000066"/>
      </a:dk1>
      <a:lt1>
        <a:srgbClr val="FFFFFF"/>
      </a:lt1>
      <a:dk2>
        <a:srgbClr val="58A252"/>
      </a:dk2>
      <a:lt2>
        <a:srgbClr val="B2B2B2"/>
      </a:lt2>
      <a:accent1>
        <a:srgbClr val="0066FF"/>
      </a:accent1>
      <a:accent2>
        <a:srgbClr val="2C95A0"/>
      </a:accent2>
      <a:accent3>
        <a:srgbClr val="FFFFFF"/>
      </a:accent3>
      <a:accent4>
        <a:srgbClr val="000056"/>
      </a:accent4>
      <a:accent5>
        <a:srgbClr val="AAB8FF"/>
      </a:accent5>
      <a:accent6>
        <a:srgbClr val="278791"/>
      </a:accent6>
      <a:hlink>
        <a:srgbClr val="35BBE5"/>
      </a:hlink>
      <a:folHlink>
        <a:srgbClr val="872ECA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33CCCC"/>
        </a:accent1>
        <a:accent2>
          <a:srgbClr val="0099CC"/>
        </a:accent2>
        <a:accent3>
          <a:srgbClr val="FFFFFF"/>
        </a:accent3>
        <a:accent4>
          <a:srgbClr val="000056"/>
        </a:accent4>
        <a:accent5>
          <a:srgbClr val="ADE2E2"/>
        </a:accent5>
        <a:accent6>
          <a:srgbClr val="008AB9"/>
        </a:accent6>
        <a:hlink>
          <a:srgbClr val="6A9EB0"/>
        </a:hlink>
        <a:folHlink>
          <a:srgbClr val="66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000066"/>
        </a:dk1>
        <a:lt1>
          <a:srgbClr val="FFFFFF"/>
        </a:lt1>
        <a:dk2>
          <a:srgbClr val="415CB3"/>
        </a:dk2>
        <a:lt2>
          <a:srgbClr val="B2B2B2"/>
        </a:lt2>
        <a:accent1>
          <a:srgbClr val="55AEEB"/>
        </a:accent1>
        <a:accent2>
          <a:srgbClr val="FF9933"/>
        </a:accent2>
        <a:accent3>
          <a:srgbClr val="FFFFFF"/>
        </a:accent3>
        <a:accent4>
          <a:srgbClr val="000056"/>
        </a:accent4>
        <a:accent5>
          <a:srgbClr val="B4D3F3"/>
        </a:accent5>
        <a:accent6>
          <a:srgbClr val="E78A2D"/>
        </a:accent6>
        <a:hlink>
          <a:srgbClr val="4D7AB5"/>
        </a:hlink>
        <a:folHlink>
          <a:srgbClr val="9964A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0066FF"/>
        </a:accent1>
        <a:accent2>
          <a:srgbClr val="2C95A0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78791"/>
        </a:accent6>
        <a:hlink>
          <a:srgbClr val="35BBE5"/>
        </a:hlink>
        <a:folHlink>
          <a:srgbClr val="872EC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7217</TotalTime>
  <Words>3445</Words>
  <Application>Microsoft Office PowerPoint</Application>
  <PresentationFormat>Presentación en pantalla (4:3)</PresentationFormat>
  <Paragraphs>492</Paragraphs>
  <Slides>35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35</vt:i4>
      </vt:variant>
    </vt:vector>
  </HeadingPairs>
  <TitlesOfParts>
    <vt:vector size="48" baseType="lpstr">
      <vt:lpstr>Adobe Fan Heiti Std B</vt:lpstr>
      <vt:lpstr>Adobe Heiti Std R</vt:lpstr>
      <vt:lpstr>Arial</vt:lpstr>
      <vt:lpstr>Bahnschrift</vt:lpstr>
      <vt:lpstr>Calibri</vt:lpstr>
      <vt:lpstr>Calibri-Identity-H</vt:lpstr>
      <vt:lpstr>Century Gothic</vt:lpstr>
      <vt:lpstr>Times New Roman</vt:lpstr>
      <vt:lpstr>Verdana</vt:lpstr>
      <vt:lpstr>Wingdings</vt:lpstr>
      <vt:lpstr>Wingdings 2</vt:lpstr>
      <vt:lpstr>Austin</vt:lpstr>
      <vt:lpstr>cdb2004c019l</vt:lpstr>
      <vt:lpstr>UNIDAD 2: XML</vt:lpstr>
      <vt:lpstr>ÍNDICE</vt:lpstr>
      <vt:lpstr>Un ejemplo</vt:lpstr>
      <vt:lpstr>Un ejemplo de XML</vt:lpstr>
      <vt:lpstr>PROPIEDADES</vt:lpstr>
      <vt:lpstr>Qué no es</vt:lpstr>
      <vt:lpstr>ESTRUCTURA DE UN DOCUMENTO XML</vt:lpstr>
      <vt:lpstr>ESTRUCTURA DE UN DOCUMENTO XML</vt:lpstr>
      <vt:lpstr>ESTRUCTURA DE UN DOCUMENTO XML</vt:lpstr>
      <vt:lpstr>ESTRUCTURA DEL DOCUMENTO</vt:lpstr>
      <vt:lpstr>ESTRUCTURA DEL DOCUMENTO</vt:lpstr>
      <vt:lpstr>ELEMENTO SIN CONTENIDO</vt:lpstr>
      <vt:lpstr>VER y EDITAR</vt:lpstr>
      <vt:lpstr>Presentación de PowerPoint</vt:lpstr>
      <vt:lpstr>Presentación de PowerPoint</vt:lpstr>
      <vt:lpstr>NOMBRES DE  LAS ETIQUETAS</vt:lpstr>
      <vt:lpstr>COMENTARIOS</vt:lpstr>
      <vt:lpstr>Referencias a entidades de caracteres</vt:lpstr>
      <vt:lpstr>Referencias numéricas de caracteres</vt:lpstr>
      <vt:lpstr>Secciones CDATA</vt:lpstr>
      <vt:lpstr>ELEMENTOS VS ETIQUETAS</vt:lpstr>
      <vt:lpstr>ATRIBUTOS</vt:lpstr>
      <vt:lpstr>ATRIBUTOS</vt:lpstr>
      <vt:lpstr>ATRIBUTOS</vt:lpstr>
      <vt:lpstr>ATRIBUTOS</vt:lpstr>
      <vt:lpstr>ATRIBUTOS</vt:lpstr>
      <vt:lpstr>ATRIBUTOS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DOCUMENTOS BIEN FORMADOS</vt:lpstr>
      <vt:lpstr>Documentos Bien Formados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1: INTRODUCCIÓN</dc:title>
  <dc:creator>Windows User</dc:creator>
  <cp:lastModifiedBy>Raúl Gil Sarmiento</cp:lastModifiedBy>
  <cp:revision>228</cp:revision>
  <dcterms:created xsi:type="dcterms:W3CDTF">2012-09-16T21:14:58Z</dcterms:created>
  <dcterms:modified xsi:type="dcterms:W3CDTF">2023-10-23T06:31:55Z</dcterms:modified>
</cp:coreProperties>
</file>