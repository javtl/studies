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325" r:id="rId3"/>
    <p:sldId id="376" r:id="rId4"/>
    <p:sldId id="375" r:id="rId5"/>
    <p:sldId id="329" r:id="rId6"/>
    <p:sldId id="328" r:id="rId7"/>
    <p:sldId id="331" r:id="rId8"/>
    <p:sldId id="369" r:id="rId9"/>
    <p:sldId id="345" r:id="rId10"/>
    <p:sldId id="332" r:id="rId11"/>
    <p:sldId id="337" r:id="rId12"/>
    <p:sldId id="336" r:id="rId13"/>
    <p:sldId id="335" r:id="rId14"/>
    <p:sldId id="334" r:id="rId15"/>
    <p:sldId id="338" r:id="rId16"/>
    <p:sldId id="373" r:id="rId17"/>
    <p:sldId id="370" r:id="rId18"/>
    <p:sldId id="339" r:id="rId19"/>
    <p:sldId id="340" r:id="rId20"/>
    <p:sldId id="343" r:id="rId21"/>
    <p:sldId id="342" r:id="rId22"/>
    <p:sldId id="347" r:id="rId23"/>
    <p:sldId id="346" r:id="rId24"/>
    <p:sldId id="366" r:id="rId25"/>
    <p:sldId id="344" r:id="rId26"/>
    <p:sldId id="351" r:id="rId27"/>
    <p:sldId id="349" r:id="rId28"/>
    <p:sldId id="353" r:id="rId29"/>
    <p:sldId id="371" r:id="rId30"/>
    <p:sldId id="354" r:id="rId31"/>
    <p:sldId id="372" r:id="rId32"/>
    <p:sldId id="355" r:id="rId33"/>
    <p:sldId id="358" r:id="rId34"/>
    <p:sldId id="361" r:id="rId35"/>
    <p:sldId id="368" r:id="rId36"/>
    <p:sldId id="356" r:id="rId37"/>
    <p:sldId id="362" r:id="rId38"/>
    <p:sldId id="357" r:id="rId39"/>
    <p:sldId id="367" r:id="rId40"/>
    <p:sldId id="365" r:id="rId4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99"/>
    <a:srgbClr val="A75F01"/>
    <a:srgbClr val="F51BBC"/>
    <a:srgbClr val="FFE1FF"/>
    <a:srgbClr val="009900"/>
    <a:srgbClr val="FFE4C9"/>
    <a:srgbClr val="FFCCFF"/>
    <a:srgbClr val="800000"/>
    <a:srgbClr val="993300"/>
    <a:srgbClr val="0000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52" autoAdjust="0"/>
    <p:restoredTop sz="95172" autoAdjust="0"/>
  </p:normalViewPr>
  <p:slideViewPr>
    <p:cSldViewPr>
      <p:cViewPr varScale="1">
        <p:scale>
          <a:sx n="64" d="100"/>
          <a:sy n="64" d="100"/>
        </p:scale>
        <p:origin x="67" y="6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26F3EE-3ADC-4A4B-83B2-89688D9AD17C}" type="datetimeFigureOut">
              <a:rPr lang="es-ES_tradnl" smtClean="0"/>
              <a:pPr/>
              <a:t>12/05/2025</a:t>
            </a:fld>
            <a:endParaRPr lang="es-ES_tradnl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185520-BDD4-43CE-8361-A6BD6040F919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71769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1</a:t>
            </a:fld>
            <a:endParaRPr lang="es-ES_tradn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81112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97394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74238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695137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50966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909345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481497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694568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10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335654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11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552269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12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139683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13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335185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14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579299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15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011463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16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370793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17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2360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18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082407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19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23898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20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585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21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718592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22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52997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23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932346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24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442154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25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271220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26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850110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27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734105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28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966271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29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773421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30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896643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31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927200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32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2055807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33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2881889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34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8552764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35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703827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36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5282226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37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792478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38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8548674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39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63806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40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16504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 bwMode="ltGray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3" name="Rectangle 41"/>
          <p:cNvSpPr>
            <a:spLocks noChangeArrowheads="1"/>
          </p:cNvSpPr>
          <p:nvPr/>
        </p:nvSpPr>
        <p:spPr bwMode="gray">
          <a:xfrm>
            <a:off x="0" y="2708275"/>
            <a:ext cx="9144000" cy="874713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2857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_tradnl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0" y="2720975"/>
            <a:ext cx="9144000" cy="817563"/>
          </a:xfrm>
        </p:spPr>
        <p:txBody>
          <a:bodyPr/>
          <a:lstStyle>
            <a:lvl1pPr>
              <a:defRPr sz="46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black">
          <a:xfrm>
            <a:off x="990600" y="2176463"/>
            <a:ext cx="7086600" cy="436562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190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3086" name="Text Box 14"/>
          <p:cNvSpPr txBox="1">
            <a:spLocks noChangeArrowheads="1"/>
          </p:cNvSpPr>
          <p:nvPr/>
        </p:nvSpPr>
        <p:spPr bwMode="black">
          <a:xfrm>
            <a:off x="381000" y="271463"/>
            <a:ext cx="1089025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5782" tIns="47891" rIns="95782" bIns="47891">
            <a:spAutoFit/>
          </a:bodyPr>
          <a:lstStyle/>
          <a:p>
            <a:pPr defTabSz="957263"/>
            <a:r>
              <a:rPr lang="en-US" sz="2100" b="1">
                <a:solidFill>
                  <a:schemeClr val="bg1"/>
                </a:solidFill>
                <a:latin typeface="Verdana" pitchFamily="34" charset="0"/>
              </a:rPr>
              <a:t>LOGO</a:t>
            </a:r>
          </a:p>
        </p:txBody>
      </p:sp>
      <p:grpSp>
        <p:nvGrpSpPr>
          <p:cNvPr id="3114" name="Group 42"/>
          <p:cNvGrpSpPr>
            <a:grpSpLocks/>
          </p:cNvGrpSpPr>
          <p:nvPr/>
        </p:nvGrpSpPr>
        <p:grpSpPr bwMode="auto">
          <a:xfrm>
            <a:off x="-11113" y="-12700"/>
            <a:ext cx="9175751" cy="6870700"/>
            <a:chOff x="-7" y="-8"/>
            <a:chExt cx="5780" cy="4328"/>
          </a:xfrm>
        </p:grpSpPr>
        <p:sp>
          <p:nvSpPr>
            <p:cNvPr id="3108" name="AutoShape 36"/>
            <p:cNvSpPr>
              <a:spLocks noChangeArrowheads="1"/>
            </p:cNvSpPr>
            <p:nvPr/>
          </p:nvSpPr>
          <p:spPr bwMode="gray">
            <a:xfrm>
              <a:off x="17" y="16"/>
              <a:ext cx="5729" cy="4285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ES_tradnl"/>
            </a:p>
          </p:txBody>
        </p:sp>
        <p:sp>
          <p:nvSpPr>
            <p:cNvPr id="3109" name="Freeform 37"/>
            <p:cNvSpPr>
              <a:spLocks/>
            </p:cNvSpPr>
            <p:nvPr/>
          </p:nvSpPr>
          <p:spPr bwMode="gray">
            <a:xfrm>
              <a:off x="-3" y="-8"/>
              <a:ext cx="295" cy="289"/>
            </a:xfrm>
            <a:custGeom>
              <a:avLst/>
              <a:gdLst/>
              <a:ahLst/>
              <a:cxnLst>
                <a:cxn ang="0">
                  <a:pos x="3" y="395"/>
                </a:cxn>
                <a:cxn ang="0">
                  <a:pos x="74" y="216"/>
                </a:cxn>
                <a:cxn ang="0">
                  <a:pos x="231" y="50"/>
                </a:cxn>
                <a:cxn ang="0">
                  <a:pos x="403" y="0"/>
                </a:cxn>
                <a:cxn ang="0">
                  <a:pos x="0" y="0"/>
                </a:cxn>
              </a:cxnLst>
              <a:rect l="0" t="0" r="r" b="b"/>
              <a:pathLst>
                <a:path w="403" h="395">
                  <a:moveTo>
                    <a:pt x="3" y="395"/>
                  </a:moveTo>
                  <a:lnTo>
                    <a:pt x="74" y="216"/>
                  </a:lnTo>
                  <a:lnTo>
                    <a:pt x="231" y="50"/>
                  </a:lnTo>
                  <a:lnTo>
                    <a:pt x="403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110" name="Freeform 38"/>
            <p:cNvSpPr>
              <a:spLocks/>
            </p:cNvSpPr>
            <p:nvPr/>
          </p:nvSpPr>
          <p:spPr bwMode="gray">
            <a:xfrm>
              <a:off x="-7" y="3982"/>
              <a:ext cx="287" cy="338"/>
            </a:xfrm>
            <a:custGeom>
              <a:avLst/>
              <a:gdLst/>
              <a:ahLst/>
              <a:cxnLst>
                <a:cxn ang="0">
                  <a:pos x="391" y="473"/>
                </a:cxn>
                <a:cxn ang="0">
                  <a:pos x="151" y="353"/>
                </a:cxn>
                <a:cxn ang="0">
                  <a:pos x="42" y="201"/>
                </a:cxn>
                <a:cxn ang="0">
                  <a:pos x="0" y="0"/>
                </a:cxn>
                <a:cxn ang="0">
                  <a:pos x="1" y="470"/>
                </a:cxn>
              </a:cxnLst>
              <a:rect l="0" t="0" r="r" b="b"/>
              <a:pathLst>
                <a:path w="391" h="473">
                  <a:moveTo>
                    <a:pt x="391" y="473"/>
                  </a:moveTo>
                  <a:lnTo>
                    <a:pt x="151" y="353"/>
                  </a:lnTo>
                  <a:lnTo>
                    <a:pt x="42" y="201"/>
                  </a:lnTo>
                  <a:lnTo>
                    <a:pt x="0" y="0"/>
                  </a:lnTo>
                  <a:lnTo>
                    <a:pt x="1" y="47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111" name="Freeform 39"/>
            <p:cNvSpPr>
              <a:spLocks/>
            </p:cNvSpPr>
            <p:nvPr/>
          </p:nvSpPr>
          <p:spPr bwMode="gray">
            <a:xfrm>
              <a:off x="5499" y="4026"/>
              <a:ext cx="274" cy="287"/>
            </a:xfrm>
            <a:custGeom>
              <a:avLst/>
              <a:gdLst/>
              <a:ahLst/>
              <a:cxnLst>
                <a:cxn ang="0">
                  <a:pos x="229" y="0"/>
                </a:cxn>
                <a:cxn ang="0">
                  <a:pos x="164" y="144"/>
                </a:cxn>
                <a:cxn ang="0">
                  <a:pos x="98" y="253"/>
                </a:cxn>
                <a:cxn ang="0">
                  <a:pos x="0" y="290"/>
                </a:cxn>
                <a:cxn ang="0">
                  <a:pos x="232" y="287"/>
                </a:cxn>
              </a:cxnLst>
              <a:rect l="0" t="0" r="r" b="b"/>
              <a:pathLst>
                <a:path w="232" h="290">
                  <a:moveTo>
                    <a:pt x="229" y="0"/>
                  </a:moveTo>
                  <a:lnTo>
                    <a:pt x="164" y="144"/>
                  </a:lnTo>
                  <a:lnTo>
                    <a:pt x="98" y="253"/>
                  </a:lnTo>
                  <a:lnTo>
                    <a:pt x="0" y="290"/>
                  </a:lnTo>
                  <a:lnTo>
                    <a:pt x="232" y="287"/>
                  </a:lnTo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112" name="Freeform 40"/>
            <p:cNvSpPr>
              <a:spLocks/>
            </p:cNvSpPr>
            <p:nvPr/>
          </p:nvSpPr>
          <p:spPr bwMode="gray">
            <a:xfrm>
              <a:off x="5467" y="0"/>
              <a:ext cx="302" cy="2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1" y="96"/>
                </a:cxn>
                <a:cxn ang="0">
                  <a:pos x="353" y="231"/>
                </a:cxn>
                <a:cxn ang="0">
                  <a:pos x="403" y="403"/>
                </a:cxn>
                <a:cxn ang="0">
                  <a:pos x="403" y="0"/>
                </a:cxn>
              </a:cxnLst>
              <a:rect l="0" t="0" r="r" b="b"/>
              <a:pathLst>
                <a:path w="403" h="403">
                  <a:moveTo>
                    <a:pt x="0" y="0"/>
                  </a:moveTo>
                  <a:lnTo>
                    <a:pt x="221" y="96"/>
                  </a:lnTo>
                  <a:lnTo>
                    <a:pt x="353" y="231"/>
                  </a:lnTo>
                  <a:lnTo>
                    <a:pt x="403" y="403"/>
                  </a:lnTo>
                  <a:lnTo>
                    <a:pt x="403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ES_tradnl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1887F2F-D84F-49E8-92C0-81A9CCDA91DE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9A2EA4E-F381-4237-80AC-C8AF6C697181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7B66833-B1F0-45CB-B398-6EDA9DBC9FE1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6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8" name="7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4A5292C-1B6C-47FE-8D88-7B0ED98FE010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2F688E5-8CCA-4D17-A940-E6FA7F1401A8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5E55B1B-857F-4004-9316-7F6102C80E79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591113-4DF9-4207-B354-F7DBCABC1F7C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ES_tradn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77F1127-E1F9-4D92-A6E2-A7BE16F966DB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65B1C1-1726-41E2-A63B-7509ACE02D3F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53975"/>
            <a:ext cx="2057400" cy="62706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53975"/>
            <a:ext cx="6019800" cy="62706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2B43AA5-9846-44A7-8908-462C8D439EEE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2925" y="53975"/>
            <a:ext cx="7392988" cy="563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457200" y="1076325"/>
            <a:ext cx="8229600" cy="5248275"/>
          </a:xfrm>
        </p:spPr>
        <p:txBody>
          <a:bodyPr/>
          <a:lstStyle/>
          <a:p>
            <a:r>
              <a:rPr lang="es-ES"/>
              <a:t>Haga clic en el icono para agregar una tabla</a:t>
            </a:r>
            <a:endParaRPr lang="es-ES_tradn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>
          <a:xfrm>
            <a:off x="6084888" y="6450013"/>
            <a:ext cx="2897187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1"/>
          </p:nvPr>
        </p:nvSpPr>
        <p:spPr>
          <a:xfrm>
            <a:off x="107950" y="6454775"/>
            <a:ext cx="927100" cy="239713"/>
          </a:xfrm>
        </p:spPr>
        <p:txBody>
          <a:bodyPr/>
          <a:lstStyle>
            <a:lvl1pPr>
              <a:defRPr/>
            </a:lvl1pPr>
          </a:lstStyle>
          <a:p>
            <a:fld id="{DA5BAF1C-BAC2-488A-AD50-A6E00D2A9A0D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Freeform 15" descr="29641"/>
          <p:cNvSpPr>
            <a:spLocks/>
          </p:cNvSpPr>
          <p:nvPr/>
        </p:nvSpPr>
        <p:spPr bwMode="gray">
          <a:xfrm>
            <a:off x="36513" y="80963"/>
            <a:ext cx="9077325" cy="1595437"/>
          </a:xfrm>
          <a:custGeom>
            <a:avLst/>
            <a:gdLst/>
            <a:ahLst/>
            <a:cxnLst>
              <a:cxn ang="0">
                <a:pos x="0" y="756"/>
              </a:cxn>
              <a:cxn ang="0">
                <a:pos x="576" y="560"/>
              </a:cxn>
              <a:cxn ang="0">
                <a:pos x="1403" y="390"/>
              </a:cxn>
              <a:cxn ang="0">
                <a:pos x="2452" y="314"/>
              </a:cxn>
              <a:cxn ang="0">
                <a:pos x="3102" y="326"/>
              </a:cxn>
              <a:cxn ang="0">
                <a:pos x="4043" y="434"/>
              </a:cxn>
              <a:cxn ang="0">
                <a:pos x="4944" y="668"/>
              </a:cxn>
              <a:cxn ang="0">
                <a:pos x="5691" y="971"/>
              </a:cxn>
              <a:cxn ang="0">
                <a:pos x="5718" y="19"/>
              </a:cxn>
              <a:cxn ang="0">
                <a:pos x="9" y="0"/>
              </a:cxn>
            </a:cxnLst>
            <a:rect l="0" t="0" r="r" b="b"/>
            <a:pathLst>
              <a:path w="5718" h="1005">
                <a:moveTo>
                  <a:pt x="0" y="756"/>
                </a:moveTo>
                <a:cubicBezTo>
                  <a:pt x="96" y="724"/>
                  <a:pt x="297" y="635"/>
                  <a:pt x="576" y="560"/>
                </a:cubicBezTo>
                <a:cubicBezTo>
                  <a:pt x="855" y="485"/>
                  <a:pt x="1037" y="442"/>
                  <a:pt x="1403" y="390"/>
                </a:cubicBezTo>
                <a:cubicBezTo>
                  <a:pt x="1769" y="337"/>
                  <a:pt x="2154" y="320"/>
                  <a:pt x="2452" y="314"/>
                </a:cubicBezTo>
                <a:lnTo>
                  <a:pt x="3102" y="326"/>
                </a:lnTo>
                <a:cubicBezTo>
                  <a:pt x="3367" y="346"/>
                  <a:pt x="3736" y="377"/>
                  <a:pt x="4043" y="434"/>
                </a:cubicBezTo>
                <a:cubicBezTo>
                  <a:pt x="4350" y="490"/>
                  <a:pt x="4669" y="578"/>
                  <a:pt x="4944" y="668"/>
                </a:cubicBezTo>
                <a:cubicBezTo>
                  <a:pt x="5219" y="757"/>
                  <a:pt x="5679" y="1005"/>
                  <a:pt x="5691" y="971"/>
                </a:cubicBezTo>
                <a:cubicBezTo>
                  <a:pt x="5695" y="964"/>
                  <a:pt x="5718" y="25"/>
                  <a:pt x="5718" y="19"/>
                </a:cubicBezTo>
                <a:cubicBezTo>
                  <a:pt x="5718" y="7"/>
                  <a:pt x="1198" y="4"/>
                  <a:pt x="9" y="0"/>
                </a:cubicBezTo>
              </a:path>
            </a:pathLst>
          </a:custGeom>
          <a:blipFill dpi="0" rotWithShape="1">
            <a:blip r:embed="rId15"/>
            <a:srcRect/>
            <a:stretch>
              <a:fillRect/>
            </a:stretch>
          </a:blip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_tradnl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76325"/>
            <a:ext cx="822960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84888" y="6450013"/>
            <a:ext cx="2897187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>
            <a:lvl1pPr algn="r" defTabSz="957263">
              <a:defRPr sz="1300" b="1">
                <a:latin typeface="+mn-lt"/>
              </a:defRPr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454775"/>
            <a:ext cx="927100" cy="239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>
            <a:lvl1pPr algn="ctr" defTabSz="957263">
              <a:defRPr sz="1300" b="1">
                <a:latin typeface="+mn-lt"/>
              </a:defRPr>
            </a:lvl1pPr>
          </a:lstStyle>
          <a:p>
            <a:fld id="{4772498A-98AF-4173-9971-53E03A109E91}" type="slidenum">
              <a:rPr lang="en-US"/>
              <a:pPr/>
              <a:t>‹Nº›</a:t>
            </a:fld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542925" y="53975"/>
            <a:ext cx="7392988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grpSp>
        <p:nvGrpSpPr>
          <p:cNvPr id="1040" name="Group 16"/>
          <p:cNvGrpSpPr>
            <a:grpSpLocks/>
          </p:cNvGrpSpPr>
          <p:nvPr/>
        </p:nvGrpSpPr>
        <p:grpSpPr bwMode="auto">
          <a:xfrm>
            <a:off x="-1588" y="0"/>
            <a:ext cx="9145588" cy="6858000"/>
            <a:chOff x="-1" y="0"/>
            <a:chExt cx="8065" cy="6048"/>
          </a:xfrm>
        </p:grpSpPr>
        <p:sp>
          <p:nvSpPr>
            <p:cNvPr id="1041" name="Freeform 17"/>
            <p:cNvSpPr>
              <a:spLocks/>
            </p:cNvSpPr>
            <p:nvPr/>
          </p:nvSpPr>
          <p:spPr bwMode="gray">
            <a:xfrm>
              <a:off x="-1" y="5629"/>
              <a:ext cx="389" cy="417"/>
            </a:xfrm>
            <a:custGeom>
              <a:avLst/>
              <a:gdLst/>
              <a:ahLst/>
              <a:cxnLst>
                <a:cxn ang="0">
                  <a:pos x="314" y="416"/>
                </a:cxn>
                <a:cxn ang="0">
                  <a:pos x="389" y="417"/>
                </a:cxn>
                <a:cxn ang="0">
                  <a:pos x="158" y="297"/>
                </a:cxn>
                <a:cxn ang="0">
                  <a:pos x="39" y="179"/>
                </a:cxn>
                <a:cxn ang="0">
                  <a:pos x="0" y="0"/>
                </a:cxn>
                <a:cxn ang="0">
                  <a:pos x="1" y="417"/>
                </a:cxn>
              </a:cxnLst>
              <a:rect l="0" t="0" r="r" b="b"/>
              <a:pathLst>
                <a:path w="389" h="417">
                  <a:moveTo>
                    <a:pt x="314" y="416"/>
                  </a:moveTo>
                  <a:lnTo>
                    <a:pt x="389" y="417"/>
                  </a:lnTo>
                  <a:lnTo>
                    <a:pt x="158" y="297"/>
                  </a:lnTo>
                  <a:lnTo>
                    <a:pt x="39" y="179"/>
                  </a:lnTo>
                  <a:lnTo>
                    <a:pt x="0" y="0"/>
                  </a:lnTo>
                  <a:lnTo>
                    <a:pt x="1" y="417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042" name="Freeform 18"/>
            <p:cNvSpPr>
              <a:spLocks/>
            </p:cNvSpPr>
            <p:nvPr/>
          </p:nvSpPr>
          <p:spPr bwMode="gray">
            <a:xfrm>
              <a:off x="7701" y="5645"/>
              <a:ext cx="363" cy="403"/>
            </a:xfrm>
            <a:custGeom>
              <a:avLst/>
              <a:gdLst/>
              <a:ahLst/>
              <a:cxnLst>
                <a:cxn ang="0">
                  <a:pos x="229" y="0"/>
                </a:cxn>
                <a:cxn ang="0">
                  <a:pos x="164" y="144"/>
                </a:cxn>
                <a:cxn ang="0">
                  <a:pos x="98" y="253"/>
                </a:cxn>
                <a:cxn ang="0">
                  <a:pos x="0" y="290"/>
                </a:cxn>
                <a:cxn ang="0">
                  <a:pos x="232" y="287"/>
                </a:cxn>
              </a:cxnLst>
              <a:rect l="0" t="0" r="r" b="b"/>
              <a:pathLst>
                <a:path w="232" h="290">
                  <a:moveTo>
                    <a:pt x="229" y="0"/>
                  </a:moveTo>
                  <a:lnTo>
                    <a:pt x="164" y="144"/>
                  </a:lnTo>
                  <a:lnTo>
                    <a:pt x="98" y="253"/>
                  </a:lnTo>
                  <a:lnTo>
                    <a:pt x="0" y="290"/>
                  </a:lnTo>
                  <a:lnTo>
                    <a:pt x="232" y="287"/>
                  </a:lnTo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043" name="AutoShape 19"/>
            <p:cNvSpPr>
              <a:spLocks noChangeArrowheads="1"/>
            </p:cNvSpPr>
            <p:nvPr/>
          </p:nvSpPr>
          <p:spPr bwMode="gray">
            <a:xfrm>
              <a:off x="25" y="42"/>
              <a:ext cx="8012" cy="5985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ES_tradnl"/>
            </a:p>
          </p:txBody>
        </p:sp>
        <p:sp>
          <p:nvSpPr>
            <p:cNvPr id="1044" name="Freeform 20"/>
            <p:cNvSpPr>
              <a:spLocks/>
            </p:cNvSpPr>
            <p:nvPr/>
          </p:nvSpPr>
          <p:spPr bwMode="gray">
            <a:xfrm>
              <a:off x="-1" y="13"/>
              <a:ext cx="405" cy="441"/>
            </a:xfrm>
            <a:custGeom>
              <a:avLst/>
              <a:gdLst/>
              <a:ahLst/>
              <a:cxnLst>
                <a:cxn ang="0">
                  <a:pos x="2" y="441"/>
                </a:cxn>
                <a:cxn ang="0">
                  <a:pos x="107" y="175"/>
                </a:cxn>
                <a:cxn ang="0">
                  <a:pos x="387" y="0"/>
                </a:cxn>
                <a:cxn ang="0">
                  <a:pos x="1" y="0"/>
                </a:cxn>
              </a:cxnLst>
              <a:rect l="0" t="0" r="r" b="b"/>
              <a:pathLst>
                <a:path w="405" h="441">
                  <a:moveTo>
                    <a:pt x="2" y="441"/>
                  </a:moveTo>
                  <a:cubicBezTo>
                    <a:pt x="19" y="397"/>
                    <a:pt x="0" y="345"/>
                    <a:pt x="107" y="175"/>
                  </a:cubicBezTo>
                  <a:cubicBezTo>
                    <a:pt x="214" y="6"/>
                    <a:pt x="405" y="16"/>
                    <a:pt x="387" y="0"/>
                  </a:cubicBezTo>
                  <a:lnTo>
                    <a:pt x="1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045" name="Freeform 21"/>
            <p:cNvSpPr>
              <a:spLocks/>
            </p:cNvSpPr>
            <p:nvPr/>
          </p:nvSpPr>
          <p:spPr bwMode="gray">
            <a:xfrm>
              <a:off x="7588" y="0"/>
              <a:ext cx="470" cy="483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342" y="150"/>
                </a:cxn>
                <a:cxn ang="0">
                  <a:pos x="470" y="461"/>
                </a:cxn>
                <a:cxn ang="0">
                  <a:pos x="470" y="0"/>
                </a:cxn>
              </a:cxnLst>
              <a:rect l="0" t="0" r="r" b="b"/>
              <a:pathLst>
                <a:path w="470" h="483">
                  <a:moveTo>
                    <a:pt x="0" y="4"/>
                  </a:moveTo>
                  <a:cubicBezTo>
                    <a:pt x="57" y="28"/>
                    <a:pt x="264" y="74"/>
                    <a:pt x="342" y="150"/>
                  </a:cubicBezTo>
                  <a:cubicBezTo>
                    <a:pt x="450" y="275"/>
                    <a:pt x="452" y="483"/>
                    <a:pt x="470" y="461"/>
                  </a:cubicBezTo>
                  <a:lnTo>
                    <a:pt x="47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ES_tradnl"/>
            </a:p>
          </p:txBody>
        </p:sp>
      </p:grpSp>
      <p:sp>
        <p:nvSpPr>
          <p:cNvPr id="1046" name="Line 22"/>
          <p:cNvSpPr>
            <a:spLocks noChangeShapeType="1"/>
          </p:cNvSpPr>
          <p:nvPr/>
        </p:nvSpPr>
        <p:spPr bwMode="gray">
          <a:xfrm>
            <a:off x="323850" y="6500813"/>
            <a:ext cx="8569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_trad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+mj-lt"/>
          <a:ea typeface="+mj-ea"/>
          <a:cs typeface="+mj-cs"/>
        </a:defRPr>
      </a:lvl1pPr>
      <a:lvl2pPr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2pPr>
      <a:lvl3pPr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3pPr>
      <a:lvl4pPr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4pPr>
      <a:lvl5pPr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5pPr>
      <a:lvl6pPr marL="4572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6pPr>
      <a:lvl7pPr marL="9144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7pPr>
      <a:lvl8pPr marL="13716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8pPr>
      <a:lvl9pPr marL="18288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9pPr>
    </p:titleStyle>
    <p:bodyStyle>
      <a:lvl1pPr marL="358775" indent="-358775" algn="l" defTabSz="957263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77875" indent="-298450" algn="l" defTabSz="957263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100">
          <a:solidFill>
            <a:schemeClr val="tx1"/>
          </a:solidFill>
          <a:latin typeface="+mj-lt"/>
        </a:defRPr>
      </a:lvl2pPr>
      <a:lvl3pPr marL="1196975" indent="-239713" algn="l" defTabSz="957263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100">
          <a:solidFill>
            <a:schemeClr val="tx1"/>
          </a:solidFill>
          <a:latin typeface="+mj-lt"/>
        </a:defRPr>
      </a:lvl3pPr>
      <a:lvl4pPr marL="1676400" indent="-239713" algn="l" defTabSz="957263" rtl="0" eaLnBrk="1" fontAlgn="base" hangingPunct="1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j-lt"/>
        </a:defRPr>
      </a:lvl4pPr>
      <a:lvl5pPr marL="21542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5pPr>
      <a:lvl6pPr marL="26114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6pPr>
      <a:lvl7pPr marL="30686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7pPr>
      <a:lvl8pPr marL="35258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8pPr>
      <a:lvl9pPr marL="39830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todoxmldtd/referencia/referencia-para-descripciones-xml/referencia-de-xsds-xml-schema/8-tipos-de-diseno-xsd-xml-schema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854355"/>
            <a:ext cx="9144000" cy="817563"/>
          </a:xfrm>
        </p:spPr>
        <p:txBody>
          <a:bodyPr/>
          <a:lstStyle/>
          <a:p>
            <a:r>
              <a:rPr lang="en-US" sz="3000" dirty="0"/>
              <a:t>XML Schema – XSD</a:t>
            </a:r>
            <a:r>
              <a:rPr lang="en-US" sz="1800" dirty="0"/>
              <a:t> (</a:t>
            </a:r>
            <a:r>
              <a:rPr lang="en-US" sz="1800" dirty="0">
                <a:solidFill>
                  <a:srgbClr val="FFFF00"/>
                </a:solidFill>
              </a:rPr>
              <a:t>X</a:t>
            </a:r>
            <a:r>
              <a:rPr lang="en-US" sz="1800" dirty="0"/>
              <a:t>ML </a:t>
            </a:r>
            <a:r>
              <a:rPr lang="en-US" sz="1800" dirty="0">
                <a:solidFill>
                  <a:srgbClr val="FFFF00"/>
                </a:solidFill>
              </a:rPr>
              <a:t>S</a:t>
            </a:r>
            <a:r>
              <a:rPr lang="en-US" sz="1800" dirty="0"/>
              <a:t>chema Definition)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20253" y="2731041"/>
            <a:ext cx="7086600" cy="434975"/>
          </a:xfrm>
        </p:spPr>
        <p:txBody>
          <a:bodyPr/>
          <a:lstStyle/>
          <a:p>
            <a:r>
              <a:rPr lang="en-US" dirty="0"/>
              <a:t>UNIDAD 9</a:t>
            </a:r>
          </a:p>
          <a:p>
            <a:endParaRPr lang="en-US" dirty="0"/>
          </a:p>
        </p:txBody>
      </p:sp>
      <p:sp>
        <p:nvSpPr>
          <p:cNvPr id="4" name="3 Rectángulo"/>
          <p:cNvSpPr/>
          <p:nvPr/>
        </p:nvSpPr>
        <p:spPr>
          <a:xfrm>
            <a:off x="641652" y="1445875"/>
            <a:ext cx="7843814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s-ES" sz="4800" b="1" cap="all" spc="0" dirty="0">
                <a:ln w="0"/>
                <a:gradFill flip="none">
                  <a:gsLst>
                    <a:gs pos="0">
                      <a:srgbClr val="FFF200"/>
                    </a:gs>
                    <a:gs pos="45000">
                      <a:srgbClr val="FF7A00"/>
                    </a:gs>
                    <a:gs pos="70000">
                      <a:srgbClr val="FF0300"/>
                    </a:gs>
                    <a:gs pos="100000">
                      <a:srgbClr val="4D0808"/>
                    </a:gs>
                  </a:gsLst>
                  <a:lin ang="5400000" scaled="0"/>
                </a:gradFill>
                <a:effectLst>
                  <a:reflection blurRad="12700" stA="50000" endPos="50000" dist="5000" dir="5400000" sy="-100000" rotWithShape="0"/>
                </a:effectLst>
              </a:rPr>
              <a:t>LENGUAJES DE MARCAS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29156" y="45760"/>
            <a:ext cx="7392988" cy="563563"/>
          </a:xfrm>
        </p:spPr>
        <p:txBody>
          <a:bodyPr/>
          <a:lstStyle/>
          <a:p>
            <a:r>
              <a:rPr lang="en-US" dirty="0" err="1"/>
              <a:t>Qué</a:t>
            </a:r>
            <a:r>
              <a:rPr lang="en-US" dirty="0"/>
              <a:t> es XSD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white">
          <a:xfrm>
            <a:off x="720714" y="716735"/>
            <a:ext cx="7392988" cy="461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>
            <a:lvl1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2pPr>
            <a:lvl3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3pPr>
            <a:lvl4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4pPr>
            <a:lvl5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5pPr>
            <a:lvl6pPr marL="4572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6pPr>
            <a:lvl7pPr marL="9144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7pPr>
            <a:lvl8pPr marL="13716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8pPr>
            <a:lvl9pPr marL="18288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s-ES" sz="1600" dirty="0">
                <a:solidFill>
                  <a:srgbClr val="0070C0"/>
                </a:solidFill>
                <a:latin typeface="Century Gothic" pitchFamily="34" charset="0"/>
              </a:rPr>
              <a:t>DEFINICIÓN</a:t>
            </a:r>
            <a:endParaRPr lang="es-ES" sz="1200" dirty="0">
              <a:solidFill>
                <a:srgbClr val="FF0000"/>
              </a:solidFill>
              <a:latin typeface="Century Gothic" pitchFamily="34" charset="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2010184" y="1184876"/>
            <a:ext cx="652225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s-ES" sz="1600" dirty="0">
                <a:solidFill>
                  <a:srgbClr val="000000"/>
                </a:solidFill>
              </a:rPr>
              <a:t>XSD (XML </a:t>
            </a:r>
            <a:r>
              <a:rPr lang="es-ES" sz="1600" dirty="0" err="1">
                <a:solidFill>
                  <a:srgbClr val="000000"/>
                </a:solidFill>
              </a:rPr>
              <a:t>Schema</a:t>
            </a:r>
            <a:r>
              <a:rPr lang="es-ES" sz="1600" dirty="0">
                <a:solidFill>
                  <a:srgbClr val="000000"/>
                </a:solidFill>
              </a:rPr>
              <a:t> </a:t>
            </a:r>
            <a:r>
              <a:rPr lang="es-ES" sz="1600" dirty="0" err="1">
                <a:solidFill>
                  <a:srgbClr val="000000"/>
                </a:solidFill>
              </a:rPr>
              <a:t>Definition</a:t>
            </a:r>
            <a:r>
              <a:rPr lang="es-ES" sz="1600" dirty="0">
                <a:solidFill>
                  <a:srgbClr val="000000"/>
                </a:solidFill>
              </a:rPr>
              <a:t>) es un lenguaje que se </a:t>
            </a:r>
          </a:p>
          <a:p>
            <a:pPr algn="just">
              <a:spcAft>
                <a:spcPts val="0"/>
              </a:spcAft>
            </a:pPr>
            <a:r>
              <a:rPr lang="es-ES" sz="1600" dirty="0">
                <a:solidFill>
                  <a:srgbClr val="000000"/>
                </a:solidFill>
              </a:rPr>
              <a:t>utiliza para definir la estructura, el contenido y las restricciones</a:t>
            </a:r>
          </a:p>
          <a:p>
            <a:pPr algn="just">
              <a:spcAft>
                <a:spcPts val="0"/>
              </a:spcAft>
            </a:pPr>
            <a:r>
              <a:rPr lang="es-ES" sz="1600" dirty="0">
                <a:solidFill>
                  <a:srgbClr val="000000"/>
                </a:solidFill>
              </a:rPr>
              <a:t>de un documento XML, de modo que actúa como una especificación formal que describe cómo deben estar organizados los datos en un archivo XML determinado.</a:t>
            </a:r>
          </a:p>
        </p:txBody>
      </p:sp>
      <p:sp>
        <p:nvSpPr>
          <p:cNvPr id="7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076826-218D-4234-8A6B-627664ABE42D}"/>
              </a:ext>
            </a:extLst>
          </p:cNvPr>
          <p:cNvSpPr/>
          <p:nvPr/>
        </p:nvSpPr>
        <p:spPr>
          <a:xfrm>
            <a:off x="690813" y="4197259"/>
            <a:ext cx="409721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600" dirty="0"/>
              <a:t>Para que el sistema del ayuntamiento pueda </a:t>
            </a:r>
            <a:r>
              <a:rPr lang="es-ES" sz="1600" b="1" dirty="0"/>
              <a:t>leer, validar y procesar automáticamente</a:t>
            </a:r>
            <a:r>
              <a:rPr lang="es-ES" sz="1600" dirty="0"/>
              <a:t> esa factura, ambas partes deben ponerse de acuerdo en el </a:t>
            </a:r>
            <a:r>
              <a:rPr lang="es-ES" sz="1600" b="1" dirty="0"/>
              <a:t>formato del XML </a:t>
            </a:r>
            <a:r>
              <a:rPr lang="es-ES" sz="1600" dirty="0"/>
              <a:t>(datos que contiene, sus tipos, el orden, la estructura…)</a:t>
            </a:r>
            <a:endParaRPr lang="es-ES" sz="1600" dirty="0">
              <a:solidFill>
                <a:srgbClr val="000000"/>
              </a:solidFill>
            </a:endParaRP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6E8D3811-1FF8-4715-8D59-B6C31D7F19DE}"/>
              </a:ext>
            </a:extLst>
          </p:cNvPr>
          <p:cNvGrpSpPr/>
          <p:nvPr/>
        </p:nvGrpSpPr>
        <p:grpSpPr>
          <a:xfrm>
            <a:off x="690813" y="2515123"/>
            <a:ext cx="7996655" cy="2962949"/>
            <a:chOff x="690813" y="2373663"/>
            <a:chExt cx="7996655" cy="2962949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460F82CA-0917-4996-B3B3-77F1EB453C45}"/>
                </a:ext>
              </a:extLst>
            </p:cNvPr>
            <p:cNvSpPr/>
            <p:nvPr/>
          </p:nvSpPr>
          <p:spPr>
            <a:xfrm>
              <a:off x="690813" y="2824729"/>
              <a:ext cx="4097211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just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s-ES" sz="1600" dirty="0"/>
                <a:t>Una </a:t>
              </a:r>
              <a:r>
                <a:rPr lang="es-ES" sz="1600" b="1" dirty="0"/>
                <a:t>empresa que presta servicios informáticos a un ayuntamiento </a:t>
              </a:r>
              <a:r>
                <a:rPr lang="es-ES" sz="1600" dirty="0"/>
                <a:t>debe enviarle la </a:t>
              </a:r>
              <a:r>
                <a:rPr lang="es-ES" sz="1600" b="1" dirty="0"/>
                <a:t>factura electrónica </a:t>
              </a:r>
              <a:r>
                <a:rPr lang="es-ES" sz="1600" dirty="0"/>
                <a:t>de dichos servicios</a:t>
              </a:r>
              <a:r>
                <a:rPr lang="es-ES" sz="1600" b="1" dirty="0"/>
                <a:t>, </a:t>
              </a:r>
              <a:r>
                <a:rPr lang="es-ES" sz="1600" dirty="0"/>
                <a:t>en</a:t>
              </a:r>
              <a:r>
                <a:rPr lang="es-ES" sz="1600" b="1" dirty="0"/>
                <a:t> formato XML</a:t>
              </a:r>
              <a:r>
                <a:rPr lang="es-ES" sz="1600" dirty="0"/>
                <a:t>. </a:t>
              </a:r>
              <a:endParaRPr lang="es-ES" sz="1600" dirty="0">
                <a:solidFill>
                  <a:srgbClr val="000000"/>
                </a:solidFill>
              </a:endParaRPr>
            </a:p>
          </p:txBody>
        </p:sp>
        <p:sp>
          <p:nvSpPr>
            <p:cNvPr id="15" name="Rectangle 2">
              <a:extLst>
                <a:ext uri="{FF2B5EF4-FFF2-40B4-BE49-F238E27FC236}">
                  <a16:creationId xmlns:a16="http://schemas.microsoft.com/office/drawing/2014/main" id="{D54C833A-9D7E-4C3B-982B-4D4C538FC426}"/>
                </a:ext>
              </a:extLst>
            </p:cNvPr>
            <p:cNvSpPr txBox="1">
              <a:spLocks noChangeArrowheads="1"/>
            </p:cNvSpPr>
            <p:nvPr/>
          </p:nvSpPr>
          <p:spPr bwMode="white">
            <a:xfrm>
              <a:off x="899592" y="2373663"/>
              <a:ext cx="7392988" cy="461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5782" tIns="47891" rIns="95782" bIns="47891" numCol="1" anchor="ctr" anchorCtr="0" compatLnSpc="1">
              <a:prstTxWarp prst="textNoShape">
                <a:avLst/>
              </a:prstTxWarp>
            </a:bodyPr>
            <a:lstStyle>
              <a:lvl1pPr algn="ctr" defTabSz="957263" rtl="0" eaLnBrk="1" fontAlgn="base" hangingPunct="1">
                <a:spcBef>
                  <a:spcPct val="0"/>
                </a:spcBef>
                <a:spcAft>
                  <a:spcPct val="0"/>
                </a:spcAft>
                <a:defRPr sz="2900" b="1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algn="ctr" defTabSz="957263" rtl="0" eaLnBrk="1" fontAlgn="base" hangingPunct="1">
                <a:spcBef>
                  <a:spcPct val="0"/>
                </a:spcBef>
                <a:spcAft>
                  <a:spcPct val="0"/>
                </a:spcAft>
                <a:defRPr sz="2900" b="1">
                  <a:solidFill>
                    <a:schemeClr val="bg1"/>
                  </a:solidFill>
                  <a:latin typeface="Arial" charset="0"/>
                </a:defRPr>
              </a:lvl2pPr>
              <a:lvl3pPr algn="ctr" defTabSz="957263" rtl="0" eaLnBrk="1" fontAlgn="base" hangingPunct="1">
                <a:spcBef>
                  <a:spcPct val="0"/>
                </a:spcBef>
                <a:spcAft>
                  <a:spcPct val="0"/>
                </a:spcAft>
                <a:defRPr sz="2900" b="1">
                  <a:solidFill>
                    <a:schemeClr val="bg1"/>
                  </a:solidFill>
                  <a:latin typeface="Arial" charset="0"/>
                </a:defRPr>
              </a:lvl3pPr>
              <a:lvl4pPr algn="ctr" defTabSz="957263" rtl="0" eaLnBrk="1" fontAlgn="base" hangingPunct="1">
                <a:spcBef>
                  <a:spcPct val="0"/>
                </a:spcBef>
                <a:spcAft>
                  <a:spcPct val="0"/>
                </a:spcAft>
                <a:defRPr sz="2900" b="1">
                  <a:solidFill>
                    <a:schemeClr val="bg1"/>
                  </a:solidFill>
                  <a:latin typeface="Arial" charset="0"/>
                </a:defRPr>
              </a:lvl4pPr>
              <a:lvl5pPr algn="ctr" defTabSz="957263" rtl="0" eaLnBrk="1" fontAlgn="base" hangingPunct="1">
                <a:spcBef>
                  <a:spcPct val="0"/>
                </a:spcBef>
                <a:spcAft>
                  <a:spcPct val="0"/>
                </a:spcAft>
                <a:defRPr sz="2900" b="1">
                  <a:solidFill>
                    <a:schemeClr val="bg1"/>
                  </a:solidFill>
                  <a:latin typeface="Arial" charset="0"/>
                </a:defRPr>
              </a:lvl5pPr>
              <a:lvl6pPr marL="457200" algn="ctr" defTabSz="957263" rtl="0" eaLnBrk="1" fontAlgn="base" hangingPunct="1">
                <a:spcBef>
                  <a:spcPct val="0"/>
                </a:spcBef>
                <a:spcAft>
                  <a:spcPct val="0"/>
                </a:spcAft>
                <a:defRPr sz="2900" b="1">
                  <a:solidFill>
                    <a:schemeClr val="bg1"/>
                  </a:solidFill>
                  <a:latin typeface="Arial" charset="0"/>
                </a:defRPr>
              </a:lvl6pPr>
              <a:lvl7pPr marL="914400" algn="ctr" defTabSz="957263" rtl="0" eaLnBrk="1" fontAlgn="base" hangingPunct="1">
                <a:spcBef>
                  <a:spcPct val="0"/>
                </a:spcBef>
                <a:spcAft>
                  <a:spcPct val="0"/>
                </a:spcAft>
                <a:defRPr sz="2900" b="1">
                  <a:solidFill>
                    <a:schemeClr val="bg1"/>
                  </a:solidFill>
                  <a:latin typeface="Arial" charset="0"/>
                </a:defRPr>
              </a:lvl7pPr>
              <a:lvl8pPr marL="1371600" algn="ctr" defTabSz="957263" rtl="0" eaLnBrk="1" fontAlgn="base" hangingPunct="1">
                <a:spcBef>
                  <a:spcPct val="0"/>
                </a:spcBef>
                <a:spcAft>
                  <a:spcPct val="0"/>
                </a:spcAft>
                <a:defRPr sz="2900" b="1">
                  <a:solidFill>
                    <a:schemeClr val="bg1"/>
                  </a:solidFill>
                  <a:latin typeface="Arial" charset="0"/>
                </a:defRPr>
              </a:lvl8pPr>
              <a:lvl9pPr marL="1828800" algn="ctr" defTabSz="957263" rtl="0" eaLnBrk="1" fontAlgn="base" hangingPunct="1">
                <a:spcBef>
                  <a:spcPct val="0"/>
                </a:spcBef>
                <a:spcAft>
                  <a:spcPct val="0"/>
                </a:spcAft>
                <a:defRPr sz="2900" b="1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1600" dirty="0">
                  <a:solidFill>
                    <a:srgbClr val="0070C0"/>
                  </a:solidFill>
                  <a:latin typeface="Century Gothic" pitchFamily="34" charset="0"/>
                </a:rPr>
                <a:t>EJEMPLO: Factura electrónica</a:t>
              </a:r>
              <a:endParaRPr lang="es-ES" sz="1200" dirty="0">
                <a:solidFill>
                  <a:srgbClr val="FF0000"/>
                </a:solidFill>
                <a:latin typeface="Century Gothic" pitchFamily="34" charset="0"/>
              </a:endParaRPr>
            </a:p>
          </p:txBody>
        </p:sp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A122C649-E066-4C6A-922A-F76920C44D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50976" y="2845617"/>
              <a:ext cx="3736492" cy="2490995"/>
            </a:xfrm>
            <a:prstGeom prst="rect">
              <a:avLst/>
            </a:prstGeom>
          </p:spPr>
        </p:pic>
      </p:grp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3842A84-CA64-4917-987C-3A510B38A7F7}"/>
              </a:ext>
            </a:extLst>
          </p:cNvPr>
          <p:cNvSpPr/>
          <p:nvPr/>
        </p:nvSpPr>
        <p:spPr>
          <a:xfrm>
            <a:off x="690812" y="5853443"/>
            <a:ext cx="409721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600" dirty="0"/>
              <a:t>Ese formato común que ambos deben seguir se define en un archivo </a:t>
            </a:r>
            <a:r>
              <a:rPr lang="es-ES" sz="1600" b="1" dirty="0"/>
              <a:t>XSD</a:t>
            </a:r>
            <a:r>
              <a:rPr lang="es-ES" sz="1600" dirty="0"/>
              <a:t>.</a:t>
            </a:r>
            <a:endParaRPr lang="es-ES" sz="1600" dirty="0">
              <a:solidFill>
                <a:srgbClr val="000000"/>
              </a:solidFill>
            </a:endParaRP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9E36B4A5-F266-4069-B8E0-0EB24FC59E74}"/>
              </a:ext>
            </a:extLst>
          </p:cNvPr>
          <p:cNvGrpSpPr/>
          <p:nvPr/>
        </p:nvGrpSpPr>
        <p:grpSpPr>
          <a:xfrm>
            <a:off x="5710332" y="5218762"/>
            <a:ext cx="2217779" cy="1269361"/>
            <a:chOff x="5705181" y="5116575"/>
            <a:chExt cx="2217779" cy="1269361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F51BD171-AB1D-45B5-8841-9AA700D94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7185" y="5521334"/>
              <a:ext cx="724074" cy="864602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5AFBBF6A-E139-4FDB-AB1D-6C376BF1A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4381966">
              <a:off x="5419377" y="5402379"/>
              <a:ext cx="1089345" cy="517738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B31120D5-F0CA-4BCD-8109-D0734A57A4B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218034" flipH="1">
              <a:off x="7119418" y="5402379"/>
              <a:ext cx="1089345" cy="517738"/>
            </a:xfrm>
            <a:prstGeom prst="rect">
              <a:avLst/>
            </a:prstGeom>
          </p:spPr>
        </p:pic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CF3867F5-0418-4FF5-BA66-031A3AD1206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54" y="866058"/>
            <a:ext cx="1844824" cy="184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028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29156" y="45760"/>
            <a:ext cx="7392988" cy="563563"/>
          </a:xfrm>
        </p:spPr>
        <p:txBody>
          <a:bodyPr/>
          <a:lstStyle/>
          <a:p>
            <a:r>
              <a:rPr lang="en-US" dirty="0" err="1"/>
              <a:t>Ventajas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7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30A72F9-4925-40F7-B390-F9A5761B36FF}"/>
              </a:ext>
            </a:extLst>
          </p:cNvPr>
          <p:cNvSpPr txBox="1"/>
          <p:nvPr/>
        </p:nvSpPr>
        <p:spPr>
          <a:xfrm>
            <a:off x="1475656" y="3693858"/>
            <a:ext cx="7473398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s-ES" sz="1600" b="1" dirty="0">
                <a:solidFill>
                  <a:srgbClr val="000000"/>
                </a:solidFill>
              </a:rPr>
              <a:t>Estructura clara: </a:t>
            </a:r>
            <a:r>
              <a:rPr lang="es-ES" sz="1600" dirty="0">
                <a:solidFill>
                  <a:srgbClr val="000000"/>
                </a:solidFill>
              </a:rPr>
              <a:t>El XSD define que la factura debe tener, por ejemplo, un emisor, un receptor, una fecha, número de factura, importe total…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s-ES" sz="1600" b="1" dirty="0">
                <a:solidFill>
                  <a:srgbClr val="000000"/>
                </a:solidFill>
              </a:rPr>
              <a:t>Tipos de datos: </a:t>
            </a:r>
            <a:r>
              <a:rPr lang="es-ES" sz="1600" dirty="0">
                <a:solidFill>
                  <a:srgbClr val="000000"/>
                </a:solidFill>
              </a:rPr>
              <a:t>El XSD garantiza que la fecha esté en formato YYYY-MM-DD, que el importe sea un número decimal, etc.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s-ES" sz="1600" b="1" dirty="0">
                <a:solidFill>
                  <a:srgbClr val="000000"/>
                </a:solidFill>
              </a:rPr>
              <a:t>Validación automática: </a:t>
            </a:r>
            <a:r>
              <a:rPr lang="es-ES" sz="1600" dirty="0">
                <a:solidFill>
                  <a:srgbClr val="000000"/>
                </a:solidFill>
              </a:rPr>
              <a:t>Antes de aceptar la factura, el sistema del ayuntamiento puede validar el XML con el XSD y rechazarlo si está mal estructurado o le falta algún dato obligatorio.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s-ES" sz="1600" b="1" dirty="0">
                <a:solidFill>
                  <a:srgbClr val="000000"/>
                </a:solidFill>
              </a:rPr>
              <a:t>Interoperabilidad: </a:t>
            </a:r>
            <a:r>
              <a:rPr lang="es-ES" sz="1600" dirty="0">
                <a:solidFill>
                  <a:srgbClr val="000000"/>
                </a:solidFill>
              </a:rPr>
              <a:t>Aunque distintas empresas usan programas distintos, si todas generan XML conforme al mismo XSD, pueden intercambiar información de forma segura y automática.</a:t>
            </a:r>
            <a:r>
              <a:rPr lang="es-ES" sz="1600" dirty="0">
                <a:solidFill>
                  <a:schemeClr val="bg2">
                    <a:lumMod val="50000"/>
                  </a:schemeClr>
                </a:solidFill>
              </a:rPr>
              <a:t>.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s-ES" sz="1600" dirty="0">
              <a:solidFill>
                <a:schemeClr val="bg2">
                  <a:lumMod val="50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s-E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F81AF966-11D6-49BA-810E-F5F54668FF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911037"/>
            <a:ext cx="3858107" cy="2572071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BC093800-7060-4BC6-88EA-57048AC49B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05" y="4513221"/>
            <a:ext cx="724074" cy="86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791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E70676E2-ECA4-4C3E-94C7-6818DC4F1773}"/>
              </a:ext>
            </a:extLst>
          </p:cNvPr>
          <p:cNvGrpSpPr/>
          <p:nvPr/>
        </p:nvGrpSpPr>
        <p:grpSpPr>
          <a:xfrm>
            <a:off x="31399" y="2852936"/>
            <a:ext cx="8508686" cy="3874044"/>
            <a:chOff x="31399" y="2852936"/>
            <a:chExt cx="8508686" cy="3874044"/>
          </a:xfrm>
        </p:grpSpPr>
        <p:sp>
          <p:nvSpPr>
            <p:cNvPr id="17" name="24 Esquina doblada">
              <a:extLst>
                <a:ext uri="{FF2B5EF4-FFF2-40B4-BE49-F238E27FC236}">
                  <a16:creationId xmlns:a16="http://schemas.microsoft.com/office/drawing/2014/main" id="{F1619E1B-F971-45BC-88A0-1B310F8BE328}"/>
                </a:ext>
              </a:extLst>
            </p:cNvPr>
            <p:cNvSpPr/>
            <p:nvPr/>
          </p:nvSpPr>
          <p:spPr bwMode="auto">
            <a:xfrm>
              <a:off x="1627317" y="2852936"/>
              <a:ext cx="6912768" cy="3874044"/>
            </a:xfrm>
            <a:prstGeom prst="foldedCorner">
              <a:avLst/>
            </a:prstGeom>
            <a:solidFill>
              <a:srgbClr val="FFFFCC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_tradnl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6C10D8F9-D061-4855-A7EC-3622F6BA5500}"/>
                </a:ext>
              </a:extLst>
            </p:cNvPr>
            <p:cNvSpPr txBox="1"/>
            <p:nvPr/>
          </p:nvSpPr>
          <p:spPr>
            <a:xfrm>
              <a:off x="31399" y="4620681"/>
              <a:ext cx="16132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b="1" dirty="0">
                  <a:solidFill>
                    <a:srgbClr val="000000"/>
                  </a:solidFill>
                </a:rPr>
                <a:t>factura.xsd</a:t>
              </a:r>
            </a:p>
          </p:txBody>
        </p:sp>
      </p:grpSp>
      <p:sp>
        <p:nvSpPr>
          <p:cNvPr id="16" name="24 Esquina doblada">
            <a:extLst>
              <a:ext uri="{FF2B5EF4-FFF2-40B4-BE49-F238E27FC236}">
                <a16:creationId xmlns:a16="http://schemas.microsoft.com/office/drawing/2014/main" id="{EA2060BB-5F78-47E9-B99A-0344696599EF}"/>
              </a:ext>
            </a:extLst>
          </p:cNvPr>
          <p:cNvSpPr/>
          <p:nvPr/>
        </p:nvSpPr>
        <p:spPr bwMode="auto">
          <a:xfrm>
            <a:off x="2987824" y="993186"/>
            <a:ext cx="3972155" cy="1644811"/>
          </a:xfrm>
          <a:prstGeom prst="foldedCorner">
            <a:avLst/>
          </a:prstGeom>
          <a:solidFill>
            <a:srgbClr val="FFFFCC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29156" y="45760"/>
            <a:ext cx="7392988" cy="563563"/>
          </a:xfrm>
        </p:spPr>
        <p:txBody>
          <a:bodyPr/>
          <a:lstStyle/>
          <a:p>
            <a:r>
              <a:rPr lang="en-US" dirty="0"/>
              <a:t>Código de </a:t>
            </a:r>
            <a:r>
              <a:rPr lang="en-US" dirty="0" err="1"/>
              <a:t>ejemplo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7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1ECD75D-2492-4433-9473-4373AC56EB38}"/>
              </a:ext>
            </a:extLst>
          </p:cNvPr>
          <p:cNvSpPr txBox="1"/>
          <p:nvPr/>
        </p:nvSpPr>
        <p:spPr>
          <a:xfrm>
            <a:off x="3099434" y="1037558"/>
            <a:ext cx="386054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0" dirty="0">
                <a:solidFill>
                  <a:srgbClr val="0000FF"/>
                </a:solidFill>
              </a:rPr>
              <a:t>&lt;factura</a:t>
            </a:r>
            <a:r>
              <a:rPr lang="it-IT" sz="1400" dirty="0">
                <a:solidFill>
                  <a:srgbClr val="000000"/>
                </a:solidFill>
              </a:rPr>
              <a:t>&gt;</a:t>
            </a:r>
            <a:r>
              <a:rPr lang="it-IT" sz="1400" b="0" dirty="0">
                <a:solidFill>
                  <a:srgbClr val="000000"/>
                </a:solidFill>
              </a:rPr>
              <a:t>      </a:t>
            </a:r>
            <a:endParaRPr lang="it-IT" sz="1400" dirty="0">
              <a:solidFill>
                <a:srgbClr val="000000"/>
              </a:solidFill>
            </a:endParaRPr>
          </a:p>
          <a:p>
            <a:r>
              <a:rPr lang="it-IT" sz="1400" b="0" dirty="0">
                <a:solidFill>
                  <a:srgbClr val="000000"/>
                </a:solidFill>
              </a:rPr>
              <a:t>      </a:t>
            </a:r>
            <a:r>
              <a:rPr lang="es-ES" sz="1400" b="0" dirty="0">
                <a:solidFill>
                  <a:srgbClr val="0000FF"/>
                </a:solidFill>
              </a:rPr>
              <a:t>&lt;emisor&gt;</a:t>
            </a:r>
            <a:r>
              <a:rPr lang="es-ES" sz="1400" b="1" dirty="0" err="1">
                <a:solidFill>
                  <a:srgbClr val="000000"/>
                </a:solidFill>
              </a:rPr>
              <a:t>Infor</a:t>
            </a:r>
            <a:r>
              <a:rPr lang="es-ES" sz="1400" b="1" dirty="0">
                <a:solidFill>
                  <a:srgbClr val="000000"/>
                </a:solidFill>
              </a:rPr>
              <a:t> Gades</a:t>
            </a:r>
            <a:r>
              <a:rPr lang="es-ES" sz="1400" b="0" dirty="0">
                <a:solidFill>
                  <a:srgbClr val="0000FF"/>
                </a:solidFill>
              </a:rPr>
              <a:t>&lt;/emisor&gt;</a:t>
            </a:r>
            <a:endParaRPr lang="es-ES" sz="1400" b="1" dirty="0">
              <a:solidFill>
                <a:srgbClr val="000000"/>
              </a:solidFill>
            </a:endParaRPr>
          </a:p>
          <a:p>
            <a:r>
              <a:rPr lang="es-ES" sz="1400" b="0" dirty="0">
                <a:solidFill>
                  <a:srgbClr val="0000FF"/>
                </a:solidFill>
              </a:rPr>
              <a:t>      &lt;</a:t>
            </a:r>
            <a:r>
              <a:rPr lang="es-ES" sz="1400" b="0" dirty="0" err="1">
                <a:solidFill>
                  <a:srgbClr val="0000FF"/>
                </a:solidFill>
              </a:rPr>
              <a:t>numFactura</a:t>
            </a:r>
            <a:r>
              <a:rPr lang="es-ES" sz="1400" b="0" dirty="0">
                <a:solidFill>
                  <a:srgbClr val="0000FF"/>
                </a:solidFill>
              </a:rPr>
              <a:t>&gt;</a:t>
            </a:r>
            <a:r>
              <a:rPr lang="es-ES" sz="1400" b="1" dirty="0">
                <a:solidFill>
                  <a:srgbClr val="000000"/>
                </a:solidFill>
              </a:rPr>
              <a:t>2015/123</a:t>
            </a:r>
            <a:r>
              <a:rPr lang="es-ES" sz="1400" b="0" dirty="0">
                <a:solidFill>
                  <a:srgbClr val="0000FF"/>
                </a:solidFill>
              </a:rPr>
              <a:t>&lt;/</a:t>
            </a:r>
            <a:r>
              <a:rPr lang="es-ES" sz="1400" b="0" dirty="0" err="1">
                <a:solidFill>
                  <a:srgbClr val="0000FF"/>
                </a:solidFill>
              </a:rPr>
              <a:t>numFactura</a:t>
            </a:r>
            <a:r>
              <a:rPr lang="es-ES" sz="1400" b="0" dirty="0">
                <a:solidFill>
                  <a:srgbClr val="0000FF"/>
                </a:solidFill>
              </a:rPr>
              <a:t> &gt;</a:t>
            </a:r>
            <a:endParaRPr lang="es-ES" sz="1400" b="1" dirty="0">
              <a:solidFill>
                <a:srgbClr val="000000"/>
              </a:solidFill>
            </a:endParaRPr>
          </a:p>
          <a:p>
            <a:r>
              <a:rPr lang="es-ES" sz="1400" b="1" dirty="0">
                <a:solidFill>
                  <a:srgbClr val="000000"/>
                </a:solidFill>
              </a:rPr>
              <a:t>      </a:t>
            </a:r>
            <a:r>
              <a:rPr lang="es-ES" sz="1400" b="0" dirty="0">
                <a:solidFill>
                  <a:srgbClr val="0000FF"/>
                </a:solidFill>
              </a:rPr>
              <a:t>&lt;fecha&gt;</a:t>
            </a:r>
            <a:r>
              <a:rPr lang="es-ES" sz="1400" b="1" dirty="0">
                <a:solidFill>
                  <a:srgbClr val="000000"/>
                </a:solidFill>
              </a:rPr>
              <a:t>2025-03-25</a:t>
            </a:r>
            <a:r>
              <a:rPr lang="es-ES" sz="1400" b="0" dirty="0">
                <a:solidFill>
                  <a:srgbClr val="0000FF"/>
                </a:solidFill>
              </a:rPr>
              <a:t>&lt;/fecha&gt;</a:t>
            </a:r>
            <a:endParaRPr lang="es-ES" sz="1400" b="1" dirty="0">
              <a:solidFill>
                <a:srgbClr val="000000"/>
              </a:solidFill>
            </a:endParaRPr>
          </a:p>
          <a:p>
            <a:r>
              <a:rPr lang="es-ES" sz="1400" b="1" dirty="0">
                <a:solidFill>
                  <a:srgbClr val="000000"/>
                </a:solidFill>
              </a:rPr>
              <a:t>      </a:t>
            </a:r>
            <a:r>
              <a:rPr lang="es-ES" sz="1400" b="0" dirty="0">
                <a:solidFill>
                  <a:srgbClr val="0000FF"/>
                </a:solidFill>
              </a:rPr>
              <a:t>&lt;receptor&gt;</a:t>
            </a:r>
            <a:r>
              <a:rPr lang="es-ES" sz="1400" b="1" dirty="0">
                <a:solidFill>
                  <a:srgbClr val="000000"/>
                </a:solidFill>
              </a:rPr>
              <a:t>Ayto. Cádiz</a:t>
            </a:r>
            <a:r>
              <a:rPr lang="es-ES" sz="1400" b="0" dirty="0">
                <a:solidFill>
                  <a:srgbClr val="0000FF"/>
                </a:solidFill>
              </a:rPr>
              <a:t>&lt;/receptor&gt;</a:t>
            </a:r>
            <a:endParaRPr lang="es-ES" sz="1400" b="1" dirty="0">
              <a:solidFill>
                <a:srgbClr val="000000"/>
              </a:solidFill>
            </a:endParaRPr>
          </a:p>
          <a:p>
            <a:r>
              <a:rPr lang="es-ES" sz="1400" b="1" dirty="0">
                <a:solidFill>
                  <a:srgbClr val="000000"/>
                </a:solidFill>
              </a:rPr>
              <a:t>      </a:t>
            </a:r>
            <a:r>
              <a:rPr lang="es-ES" sz="1400" b="0" dirty="0">
                <a:solidFill>
                  <a:srgbClr val="0000FF"/>
                </a:solidFill>
              </a:rPr>
              <a:t>&lt;importe&gt;</a:t>
            </a:r>
            <a:r>
              <a:rPr lang="es-ES" sz="1400" b="1" dirty="0">
                <a:solidFill>
                  <a:srgbClr val="000000"/>
                </a:solidFill>
              </a:rPr>
              <a:t>123.45</a:t>
            </a:r>
            <a:r>
              <a:rPr lang="es-ES" sz="1400" b="0" dirty="0">
                <a:solidFill>
                  <a:srgbClr val="0000FF"/>
                </a:solidFill>
              </a:rPr>
              <a:t>&lt;/importe&gt;</a:t>
            </a:r>
            <a:endParaRPr lang="es-ES" sz="1400" b="1" dirty="0">
              <a:solidFill>
                <a:srgbClr val="000000"/>
              </a:solidFill>
            </a:endParaRPr>
          </a:p>
          <a:p>
            <a:r>
              <a:rPr lang="es-ES" sz="1400" b="0" dirty="0">
                <a:solidFill>
                  <a:srgbClr val="0000FF"/>
                </a:solidFill>
              </a:rPr>
              <a:t>&lt;/factura&gt;</a:t>
            </a:r>
            <a:endParaRPr lang="es-ES" sz="1400" b="1" dirty="0">
              <a:solidFill>
                <a:srgbClr val="000000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A4EE3D5-51A8-4F9E-B232-10E9E137BBDF}"/>
              </a:ext>
            </a:extLst>
          </p:cNvPr>
          <p:cNvSpPr txBox="1"/>
          <p:nvPr/>
        </p:nvSpPr>
        <p:spPr>
          <a:xfrm>
            <a:off x="1990696" y="2941328"/>
            <a:ext cx="676875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0" dirty="0">
                <a:solidFill>
                  <a:srgbClr val="0000FF"/>
                </a:solidFill>
              </a:rPr>
              <a:t>&lt;xs:schema</a:t>
            </a:r>
            <a:r>
              <a:rPr lang="de-DE" sz="1600" b="0" dirty="0">
                <a:solidFill>
                  <a:srgbClr val="000000"/>
                </a:solidFill>
              </a:rPr>
              <a:t> </a:t>
            </a:r>
            <a:r>
              <a:rPr lang="de-DE" sz="1600" b="0" dirty="0">
                <a:solidFill>
                  <a:srgbClr val="FF0000"/>
                </a:solidFill>
              </a:rPr>
              <a:t>xmlns:xs</a:t>
            </a:r>
            <a:r>
              <a:rPr lang="de-DE" sz="1600" b="0" dirty="0">
                <a:solidFill>
                  <a:srgbClr val="000000"/>
                </a:solidFill>
              </a:rPr>
              <a:t>=</a:t>
            </a:r>
            <a:r>
              <a:rPr lang="de-DE" sz="1600" b="1" dirty="0">
                <a:solidFill>
                  <a:srgbClr val="8000FF"/>
                </a:solidFill>
              </a:rPr>
              <a:t>"http://www.w3.org/2001/XMLSchema"</a:t>
            </a:r>
            <a:r>
              <a:rPr lang="de-DE" sz="1600" b="0" dirty="0">
                <a:solidFill>
                  <a:srgbClr val="0000FF"/>
                </a:solidFill>
              </a:rPr>
              <a:t>&gt;</a:t>
            </a:r>
            <a:endParaRPr lang="de-DE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r>
              <a:rPr lang="es-ES" sz="1600" b="1" dirty="0">
                <a:solidFill>
                  <a:srgbClr val="000000"/>
                </a:solidFill>
              </a:rPr>
              <a:t>  </a:t>
            </a:r>
            <a:r>
              <a:rPr lang="es-ES" sz="1600" b="0" dirty="0">
                <a:solidFill>
                  <a:srgbClr val="0000FF"/>
                </a:solidFill>
              </a:rPr>
              <a:t>&lt;</a:t>
            </a:r>
            <a:r>
              <a:rPr lang="es-ES" sz="1600" b="0" dirty="0" err="1">
                <a:solidFill>
                  <a:srgbClr val="0000FF"/>
                </a:solidFill>
              </a:rPr>
              <a:t>xs:element</a:t>
            </a:r>
            <a:r>
              <a:rPr lang="es-ES" sz="1600" b="0" dirty="0">
                <a:solidFill>
                  <a:srgbClr val="000000"/>
                </a:solidFill>
              </a:rPr>
              <a:t> </a:t>
            </a:r>
            <a:r>
              <a:rPr lang="es-ES" sz="1600" b="0" dirty="0" err="1">
                <a:solidFill>
                  <a:srgbClr val="FF0000"/>
                </a:solidFill>
              </a:rPr>
              <a:t>name</a:t>
            </a:r>
            <a:r>
              <a:rPr lang="es-ES" sz="1600" b="0" dirty="0">
                <a:solidFill>
                  <a:srgbClr val="000000"/>
                </a:solidFill>
              </a:rPr>
              <a:t>=</a:t>
            </a:r>
            <a:r>
              <a:rPr lang="es-ES" sz="1600" b="1" dirty="0">
                <a:solidFill>
                  <a:srgbClr val="8000FF"/>
                </a:solidFill>
              </a:rPr>
              <a:t>"factura"</a:t>
            </a:r>
            <a:r>
              <a:rPr lang="es-ES" sz="1600" b="0" dirty="0">
                <a:solidFill>
                  <a:srgbClr val="0000FF"/>
                </a:solidFill>
              </a:rPr>
              <a:t>&gt;</a:t>
            </a:r>
            <a:endParaRPr lang="es-ES" sz="1600" b="1" dirty="0">
              <a:solidFill>
                <a:srgbClr val="000000"/>
              </a:solidFill>
            </a:endParaRPr>
          </a:p>
          <a:p>
            <a:r>
              <a:rPr lang="es-ES" sz="1600" b="1" dirty="0">
                <a:solidFill>
                  <a:srgbClr val="000000"/>
                </a:solidFill>
              </a:rPr>
              <a:t>    </a:t>
            </a:r>
            <a:r>
              <a:rPr lang="es-ES" sz="1600" b="0" dirty="0">
                <a:solidFill>
                  <a:srgbClr val="0000FF"/>
                </a:solidFill>
              </a:rPr>
              <a:t>&lt;</a:t>
            </a:r>
            <a:r>
              <a:rPr lang="es-ES" sz="1600" b="0" dirty="0" err="1">
                <a:solidFill>
                  <a:srgbClr val="0000FF"/>
                </a:solidFill>
              </a:rPr>
              <a:t>xs:complexType</a:t>
            </a:r>
            <a:r>
              <a:rPr lang="es-ES" sz="1600" b="0" dirty="0">
                <a:solidFill>
                  <a:srgbClr val="0000FF"/>
                </a:solidFill>
              </a:rPr>
              <a:t>&gt;</a:t>
            </a:r>
            <a:endParaRPr lang="es-ES" sz="1600" b="1" dirty="0">
              <a:solidFill>
                <a:srgbClr val="000000"/>
              </a:solidFill>
            </a:endParaRPr>
          </a:p>
          <a:p>
            <a:r>
              <a:rPr lang="es-ES" sz="1600" b="1" dirty="0">
                <a:solidFill>
                  <a:srgbClr val="000000"/>
                </a:solidFill>
              </a:rPr>
              <a:t>      </a:t>
            </a:r>
            <a:r>
              <a:rPr lang="es-ES" sz="1600" b="0" dirty="0">
                <a:solidFill>
                  <a:srgbClr val="0000FF"/>
                </a:solidFill>
              </a:rPr>
              <a:t>&lt;</a:t>
            </a:r>
            <a:r>
              <a:rPr lang="es-ES" sz="1600" b="0" dirty="0" err="1">
                <a:solidFill>
                  <a:srgbClr val="0000FF"/>
                </a:solidFill>
              </a:rPr>
              <a:t>xs:sequence</a:t>
            </a:r>
            <a:r>
              <a:rPr lang="es-ES" sz="1600" b="0" dirty="0">
                <a:solidFill>
                  <a:srgbClr val="0000FF"/>
                </a:solidFill>
              </a:rPr>
              <a:t>&gt;</a:t>
            </a:r>
            <a:endParaRPr lang="es-ES" sz="1600" b="1" dirty="0">
              <a:solidFill>
                <a:srgbClr val="000000"/>
              </a:solidFill>
            </a:endParaRPr>
          </a:p>
          <a:p>
            <a:r>
              <a:rPr lang="es-ES" sz="1600" b="1" dirty="0">
                <a:solidFill>
                  <a:srgbClr val="000000"/>
                </a:solidFill>
              </a:rPr>
              <a:t>        </a:t>
            </a:r>
            <a:r>
              <a:rPr lang="es-ES" sz="1600" b="0" dirty="0">
                <a:solidFill>
                  <a:srgbClr val="0000FF"/>
                </a:solidFill>
              </a:rPr>
              <a:t>&lt;</a:t>
            </a:r>
            <a:r>
              <a:rPr lang="es-ES" sz="1600" b="0" dirty="0" err="1">
                <a:solidFill>
                  <a:srgbClr val="0000FF"/>
                </a:solidFill>
              </a:rPr>
              <a:t>xs:element</a:t>
            </a:r>
            <a:r>
              <a:rPr lang="es-ES" sz="1600" b="0" dirty="0">
                <a:solidFill>
                  <a:srgbClr val="000000"/>
                </a:solidFill>
              </a:rPr>
              <a:t> </a:t>
            </a:r>
            <a:r>
              <a:rPr lang="es-ES" sz="1600" b="0" dirty="0" err="1">
                <a:solidFill>
                  <a:srgbClr val="FF0000"/>
                </a:solidFill>
              </a:rPr>
              <a:t>name</a:t>
            </a:r>
            <a:r>
              <a:rPr lang="es-ES" sz="1600" b="0" dirty="0">
                <a:solidFill>
                  <a:srgbClr val="000000"/>
                </a:solidFill>
              </a:rPr>
              <a:t>=</a:t>
            </a:r>
            <a:r>
              <a:rPr lang="es-ES" sz="1600" b="1" dirty="0">
                <a:solidFill>
                  <a:srgbClr val="8000FF"/>
                </a:solidFill>
              </a:rPr>
              <a:t>"emisor"</a:t>
            </a:r>
            <a:r>
              <a:rPr lang="es-ES" sz="1600" b="0" dirty="0">
                <a:solidFill>
                  <a:srgbClr val="000000"/>
                </a:solidFill>
              </a:rPr>
              <a:t> </a:t>
            </a:r>
            <a:r>
              <a:rPr lang="es-ES" sz="1600" b="0" dirty="0" err="1">
                <a:solidFill>
                  <a:srgbClr val="FF0000"/>
                </a:solidFill>
              </a:rPr>
              <a:t>type</a:t>
            </a:r>
            <a:r>
              <a:rPr lang="es-ES" sz="1600" b="0" dirty="0">
                <a:solidFill>
                  <a:srgbClr val="000000"/>
                </a:solidFill>
              </a:rPr>
              <a:t>=</a:t>
            </a:r>
            <a:r>
              <a:rPr lang="es-ES" sz="1600" b="1" dirty="0">
                <a:solidFill>
                  <a:srgbClr val="8000FF"/>
                </a:solidFill>
              </a:rPr>
              <a:t>"</a:t>
            </a:r>
            <a:r>
              <a:rPr lang="es-ES" sz="1600" b="1" dirty="0" err="1">
                <a:solidFill>
                  <a:srgbClr val="8000FF"/>
                </a:solidFill>
              </a:rPr>
              <a:t>xs:string</a:t>
            </a:r>
            <a:r>
              <a:rPr lang="es-ES" sz="1600" b="1" dirty="0">
                <a:solidFill>
                  <a:srgbClr val="8000FF"/>
                </a:solidFill>
              </a:rPr>
              <a:t>"</a:t>
            </a:r>
            <a:r>
              <a:rPr lang="es-ES" sz="1600" b="0" dirty="0">
                <a:solidFill>
                  <a:srgbClr val="0000FF"/>
                </a:solidFill>
              </a:rPr>
              <a:t>/&gt;</a:t>
            </a:r>
            <a:endParaRPr lang="es-ES" sz="1600" b="1" dirty="0">
              <a:solidFill>
                <a:srgbClr val="000000"/>
              </a:solidFill>
            </a:endParaRPr>
          </a:p>
          <a:p>
            <a:r>
              <a:rPr lang="es-ES" sz="1600" b="1" dirty="0">
                <a:solidFill>
                  <a:srgbClr val="000000"/>
                </a:solidFill>
              </a:rPr>
              <a:t>        </a:t>
            </a:r>
            <a:r>
              <a:rPr lang="es-ES" sz="1600" b="0" dirty="0">
                <a:solidFill>
                  <a:srgbClr val="0000FF"/>
                </a:solidFill>
              </a:rPr>
              <a:t>&lt;</a:t>
            </a:r>
            <a:r>
              <a:rPr lang="es-ES" sz="1600" b="0" dirty="0" err="1">
                <a:solidFill>
                  <a:srgbClr val="0000FF"/>
                </a:solidFill>
              </a:rPr>
              <a:t>xs:element</a:t>
            </a:r>
            <a:r>
              <a:rPr lang="es-ES" sz="1600" b="0" dirty="0">
                <a:solidFill>
                  <a:srgbClr val="000000"/>
                </a:solidFill>
              </a:rPr>
              <a:t> </a:t>
            </a:r>
            <a:r>
              <a:rPr lang="es-ES" sz="1600" b="0" dirty="0" err="1">
                <a:solidFill>
                  <a:srgbClr val="FF0000"/>
                </a:solidFill>
              </a:rPr>
              <a:t>name</a:t>
            </a:r>
            <a:r>
              <a:rPr lang="es-ES" sz="1600" b="0" dirty="0">
                <a:solidFill>
                  <a:srgbClr val="000000"/>
                </a:solidFill>
              </a:rPr>
              <a:t>=</a:t>
            </a:r>
            <a:r>
              <a:rPr lang="es-ES" sz="1600" b="1" dirty="0">
                <a:solidFill>
                  <a:srgbClr val="8000FF"/>
                </a:solidFill>
              </a:rPr>
              <a:t>"</a:t>
            </a:r>
            <a:r>
              <a:rPr lang="es-ES" sz="1600" b="1" dirty="0" err="1">
                <a:solidFill>
                  <a:srgbClr val="8000FF"/>
                </a:solidFill>
              </a:rPr>
              <a:t>numFactura</a:t>
            </a:r>
            <a:r>
              <a:rPr lang="es-ES" sz="1600" b="1" dirty="0">
                <a:solidFill>
                  <a:srgbClr val="8000FF"/>
                </a:solidFill>
              </a:rPr>
              <a:t>"</a:t>
            </a:r>
            <a:r>
              <a:rPr lang="es-ES" sz="1600" b="0" dirty="0">
                <a:solidFill>
                  <a:srgbClr val="000000"/>
                </a:solidFill>
              </a:rPr>
              <a:t> </a:t>
            </a:r>
            <a:r>
              <a:rPr lang="es-ES" sz="1600" b="0" dirty="0" err="1">
                <a:solidFill>
                  <a:srgbClr val="FF0000"/>
                </a:solidFill>
              </a:rPr>
              <a:t>type</a:t>
            </a:r>
            <a:r>
              <a:rPr lang="es-ES" sz="1600" b="0" dirty="0">
                <a:solidFill>
                  <a:srgbClr val="000000"/>
                </a:solidFill>
              </a:rPr>
              <a:t>=</a:t>
            </a:r>
            <a:r>
              <a:rPr lang="es-ES" sz="1600" b="1" dirty="0">
                <a:solidFill>
                  <a:srgbClr val="8000FF"/>
                </a:solidFill>
              </a:rPr>
              <a:t>"</a:t>
            </a:r>
            <a:r>
              <a:rPr lang="es-ES" sz="1600" b="1" dirty="0" err="1">
                <a:solidFill>
                  <a:srgbClr val="8000FF"/>
                </a:solidFill>
              </a:rPr>
              <a:t>xs:integer</a:t>
            </a:r>
            <a:r>
              <a:rPr lang="es-ES" sz="1600" b="1" dirty="0">
                <a:solidFill>
                  <a:srgbClr val="8000FF"/>
                </a:solidFill>
              </a:rPr>
              <a:t>"</a:t>
            </a:r>
            <a:r>
              <a:rPr lang="es-ES" sz="1600" b="0" dirty="0">
                <a:solidFill>
                  <a:srgbClr val="0000FF"/>
                </a:solidFill>
              </a:rPr>
              <a:t>/&gt;</a:t>
            </a:r>
            <a:endParaRPr lang="es-ES" sz="1600" b="1" dirty="0">
              <a:solidFill>
                <a:srgbClr val="000000"/>
              </a:solidFill>
            </a:endParaRPr>
          </a:p>
          <a:p>
            <a:r>
              <a:rPr lang="es-ES" sz="1600" b="1" dirty="0">
                <a:solidFill>
                  <a:srgbClr val="000000"/>
                </a:solidFill>
              </a:rPr>
              <a:t>        </a:t>
            </a:r>
            <a:r>
              <a:rPr lang="es-ES" sz="1600" b="0" dirty="0">
                <a:solidFill>
                  <a:srgbClr val="0000FF"/>
                </a:solidFill>
              </a:rPr>
              <a:t>&lt;</a:t>
            </a:r>
            <a:r>
              <a:rPr lang="es-ES" sz="1600" b="0" dirty="0" err="1">
                <a:solidFill>
                  <a:srgbClr val="0000FF"/>
                </a:solidFill>
              </a:rPr>
              <a:t>xs:element</a:t>
            </a:r>
            <a:r>
              <a:rPr lang="es-ES" sz="1600" b="0" dirty="0">
                <a:solidFill>
                  <a:srgbClr val="000000"/>
                </a:solidFill>
              </a:rPr>
              <a:t> </a:t>
            </a:r>
            <a:r>
              <a:rPr lang="es-ES" sz="1600" b="0" dirty="0" err="1">
                <a:solidFill>
                  <a:srgbClr val="FF0000"/>
                </a:solidFill>
              </a:rPr>
              <a:t>name</a:t>
            </a:r>
            <a:r>
              <a:rPr lang="es-ES" sz="1600" b="0" dirty="0">
                <a:solidFill>
                  <a:srgbClr val="000000"/>
                </a:solidFill>
              </a:rPr>
              <a:t>=</a:t>
            </a:r>
            <a:r>
              <a:rPr lang="es-ES" sz="1600" b="1" dirty="0">
                <a:solidFill>
                  <a:srgbClr val="8000FF"/>
                </a:solidFill>
              </a:rPr>
              <a:t>"fecha"</a:t>
            </a:r>
            <a:r>
              <a:rPr lang="es-ES" sz="1600" b="0" dirty="0">
                <a:solidFill>
                  <a:srgbClr val="000000"/>
                </a:solidFill>
              </a:rPr>
              <a:t> </a:t>
            </a:r>
            <a:r>
              <a:rPr lang="es-ES" sz="1600" b="0" dirty="0" err="1">
                <a:solidFill>
                  <a:srgbClr val="FF0000"/>
                </a:solidFill>
              </a:rPr>
              <a:t>type</a:t>
            </a:r>
            <a:r>
              <a:rPr lang="es-ES" sz="1600" b="0" dirty="0">
                <a:solidFill>
                  <a:srgbClr val="000000"/>
                </a:solidFill>
              </a:rPr>
              <a:t>=</a:t>
            </a:r>
            <a:r>
              <a:rPr lang="es-ES" sz="1600" b="1" dirty="0">
                <a:solidFill>
                  <a:srgbClr val="8000FF"/>
                </a:solidFill>
              </a:rPr>
              <a:t>"</a:t>
            </a:r>
            <a:r>
              <a:rPr lang="es-ES" sz="1600" b="1" dirty="0" err="1">
                <a:solidFill>
                  <a:srgbClr val="8000FF"/>
                </a:solidFill>
              </a:rPr>
              <a:t>xs:date</a:t>
            </a:r>
            <a:r>
              <a:rPr lang="es-ES" sz="1600" b="1" dirty="0">
                <a:solidFill>
                  <a:srgbClr val="8000FF"/>
                </a:solidFill>
              </a:rPr>
              <a:t>"</a:t>
            </a:r>
            <a:r>
              <a:rPr lang="es-ES" sz="1600" b="0" dirty="0">
                <a:solidFill>
                  <a:srgbClr val="0000FF"/>
                </a:solidFill>
              </a:rPr>
              <a:t>/&gt;</a:t>
            </a:r>
            <a:r>
              <a:rPr lang="es-ES" sz="1600" b="1" dirty="0">
                <a:solidFill>
                  <a:srgbClr val="000000"/>
                </a:solidFill>
              </a:rPr>
              <a:t> </a:t>
            </a:r>
          </a:p>
          <a:p>
            <a:r>
              <a:rPr lang="en-US" sz="1600" b="1" dirty="0">
                <a:solidFill>
                  <a:srgbClr val="000000"/>
                </a:solidFill>
              </a:rPr>
              <a:t>        </a:t>
            </a:r>
            <a:r>
              <a:rPr lang="en-US" sz="1600" b="0" dirty="0">
                <a:solidFill>
                  <a:srgbClr val="0000FF"/>
                </a:solidFill>
              </a:rPr>
              <a:t>&lt;</a:t>
            </a:r>
            <a:r>
              <a:rPr lang="en-US" sz="1600" b="0" dirty="0" err="1">
                <a:solidFill>
                  <a:srgbClr val="0000FF"/>
                </a:solidFill>
              </a:rPr>
              <a:t>xs:element</a:t>
            </a:r>
            <a:r>
              <a:rPr lang="en-US" sz="1600" b="0" dirty="0">
                <a:solidFill>
                  <a:srgbClr val="000000"/>
                </a:solidFill>
              </a:rPr>
              <a:t> </a:t>
            </a:r>
            <a:r>
              <a:rPr lang="en-US" sz="1600" b="0" dirty="0">
                <a:solidFill>
                  <a:srgbClr val="FF0000"/>
                </a:solidFill>
              </a:rPr>
              <a:t>name</a:t>
            </a:r>
            <a:r>
              <a:rPr lang="en-US" sz="1600" b="0" dirty="0">
                <a:solidFill>
                  <a:srgbClr val="000000"/>
                </a:solidFill>
              </a:rPr>
              <a:t>=</a:t>
            </a:r>
            <a:r>
              <a:rPr lang="en-US" sz="1600" b="1" dirty="0">
                <a:solidFill>
                  <a:srgbClr val="8000FF"/>
                </a:solidFill>
              </a:rPr>
              <a:t>"receptor"</a:t>
            </a:r>
            <a:r>
              <a:rPr lang="en-US" sz="1600" b="0" dirty="0">
                <a:solidFill>
                  <a:srgbClr val="000000"/>
                </a:solidFill>
              </a:rPr>
              <a:t> </a:t>
            </a:r>
            <a:r>
              <a:rPr lang="en-US" sz="1600" b="0" dirty="0">
                <a:solidFill>
                  <a:srgbClr val="FF0000"/>
                </a:solidFill>
              </a:rPr>
              <a:t>type</a:t>
            </a:r>
            <a:r>
              <a:rPr lang="en-US" sz="1600" b="0" dirty="0">
                <a:solidFill>
                  <a:srgbClr val="000000"/>
                </a:solidFill>
              </a:rPr>
              <a:t>=</a:t>
            </a:r>
            <a:r>
              <a:rPr lang="en-US" sz="1600" b="1" dirty="0">
                <a:solidFill>
                  <a:srgbClr val="8000FF"/>
                </a:solidFill>
              </a:rPr>
              <a:t>"</a:t>
            </a:r>
            <a:r>
              <a:rPr lang="en-US" sz="1600" b="1" dirty="0" err="1">
                <a:solidFill>
                  <a:srgbClr val="8000FF"/>
                </a:solidFill>
              </a:rPr>
              <a:t>xs:string</a:t>
            </a:r>
            <a:r>
              <a:rPr lang="en-US" sz="1600" b="1" dirty="0">
                <a:solidFill>
                  <a:srgbClr val="8000FF"/>
                </a:solidFill>
              </a:rPr>
              <a:t>"</a:t>
            </a:r>
            <a:r>
              <a:rPr lang="en-US" sz="1600" b="0" dirty="0">
                <a:solidFill>
                  <a:srgbClr val="0000FF"/>
                </a:solidFill>
              </a:rPr>
              <a:t>/&gt;</a:t>
            </a:r>
            <a:endParaRPr lang="en-US" sz="1600" b="1" dirty="0">
              <a:solidFill>
                <a:srgbClr val="000000"/>
              </a:solidFill>
            </a:endParaRPr>
          </a:p>
          <a:p>
            <a:r>
              <a:rPr lang="es-ES" sz="1600" b="1" dirty="0">
                <a:solidFill>
                  <a:srgbClr val="000000"/>
                </a:solidFill>
              </a:rPr>
              <a:t>        </a:t>
            </a:r>
            <a:r>
              <a:rPr lang="es-ES" sz="1600" b="0" dirty="0">
                <a:solidFill>
                  <a:srgbClr val="0000FF"/>
                </a:solidFill>
              </a:rPr>
              <a:t>&lt;</a:t>
            </a:r>
            <a:r>
              <a:rPr lang="es-ES" sz="1600" b="0" dirty="0" err="1">
                <a:solidFill>
                  <a:srgbClr val="0000FF"/>
                </a:solidFill>
              </a:rPr>
              <a:t>xs:element</a:t>
            </a:r>
            <a:r>
              <a:rPr lang="es-ES" sz="1600" b="0" dirty="0">
                <a:solidFill>
                  <a:srgbClr val="000000"/>
                </a:solidFill>
              </a:rPr>
              <a:t> </a:t>
            </a:r>
            <a:r>
              <a:rPr lang="es-ES" sz="1600" b="0" dirty="0" err="1">
                <a:solidFill>
                  <a:srgbClr val="FF0000"/>
                </a:solidFill>
              </a:rPr>
              <a:t>name</a:t>
            </a:r>
            <a:r>
              <a:rPr lang="es-ES" sz="1600" b="0" dirty="0">
                <a:solidFill>
                  <a:srgbClr val="000000"/>
                </a:solidFill>
              </a:rPr>
              <a:t>=</a:t>
            </a:r>
            <a:r>
              <a:rPr lang="es-ES" sz="1600" b="1" dirty="0">
                <a:solidFill>
                  <a:srgbClr val="8000FF"/>
                </a:solidFill>
              </a:rPr>
              <a:t>"importe"</a:t>
            </a:r>
            <a:r>
              <a:rPr lang="es-ES" sz="1600" b="0" dirty="0">
                <a:solidFill>
                  <a:srgbClr val="000000"/>
                </a:solidFill>
              </a:rPr>
              <a:t> </a:t>
            </a:r>
            <a:r>
              <a:rPr lang="es-ES" sz="1600" b="0" dirty="0" err="1">
                <a:solidFill>
                  <a:srgbClr val="FF0000"/>
                </a:solidFill>
              </a:rPr>
              <a:t>type</a:t>
            </a:r>
            <a:r>
              <a:rPr lang="es-ES" sz="1600" b="0" dirty="0">
                <a:solidFill>
                  <a:srgbClr val="000000"/>
                </a:solidFill>
              </a:rPr>
              <a:t>=</a:t>
            </a:r>
            <a:r>
              <a:rPr lang="es-ES" sz="1600" b="1" dirty="0">
                <a:solidFill>
                  <a:srgbClr val="8000FF"/>
                </a:solidFill>
              </a:rPr>
              <a:t>"</a:t>
            </a:r>
            <a:r>
              <a:rPr lang="es-ES" sz="1600" b="1" dirty="0" err="1">
                <a:solidFill>
                  <a:srgbClr val="8000FF"/>
                </a:solidFill>
              </a:rPr>
              <a:t>xs:decimal</a:t>
            </a:r>
            <a:r>
              <a:rPr lang="es-ES" sz="1600" b="1" dirty="0">
                <a:solidFill>
                  <a:srgbClr val="8000FF"/>
                </a:solidFill>
              </a:rPr>
              <a:t>"</a:t>
            </a:r>
            <a:r>
              <a:rPr lang="es-ES" sz="1600" b="0" dirty="0">
                <a:solidFill>
                  <a:srgbClr val="0000FF"/>
                </a:solidFill>
              </a:rPr>
              <a:t>/&gt;</a:t>
            </a:r>
            <a:endParaRPr lang="es-ES" sz="1600" b="1" dirty="0">
              <a:solidFill>
                <a:srgbClr val="000000"/>
              </a:solidFill>
            </a:endParaRPr>
          </a:p>
          <a:p>
            <a:r>
              <a:rPr lang="es-ES" sz="1600" b="1" dirty="0">
                <a:solidFill>
                  <a:srgbClr val="000000"/>
                </a:solidFill>
              </a:rPr>
              <a:t>      </a:t>
            </a:r>
            <a:r>
              <a:rPr lang="es-ES" sz="1600" b="0" dirty="0">
                <a:solidFill>
                  <a:srgbClr val="0000FF"/>
                </a:solidFill>
              </a:rPr>
              <a:t>&lt;/</a:t>
            </a:r>
            <a:r>
              <a:rPr lang="es-ES" sz="1600" b="0" dirty="0" err="1">
                <a:solidFill>
                  <a:srgbClr val="0000FF"/>
                </a:solidFill>
              </a:rPr>
              <a:t>xs:sequence</a:t>
            </a:r>
            <a:r>
              <a:rPr lang="es-ES" sz="1600" b="0" dirty="0">
                <a:solidFill>
                  <a:srgbClr val="0000FF"/>
                </a:solidFill>
              </a:rPr>
              <a:t>&gt;</a:t>
            </a:r>
            <a:endParaRPr lang="es-ES" sz="1600" b="1" dirty="0">
              <a:solidFill>
                <a:srgbClr val="000000"/>
              </a:solidFill>
            </a:endParaRPr>
          </a:p>
          <a:p>
            <a:r>
              <a:rPr lang="es-ES" sz="1600" b="1" dirty="0">
                <a:solidFill>
                  <a:srgbClr val="000000"/>
                </a:solidFill>
              </a:rPr>
              <a:t>    </a:t>
            </a:r>
            <a:r>
              <a:rPr lang="es-ES" sz="1600" b="0" dirty="0">
                <a:solidFill>
                  <a:srgbClr val="0000FF"/>
                </a:solidFill>
              </a:rPr>
              <a:t>&lt;/</a:t>
            </a:r>
            <a:r>
              <a:rPr lang="es-ES" sz="1600" b="0" dirty="0" err="1">
                <a:solidFill>
                  <a:srgbClr val="0000FF"/>
                </a:solidFill>
              </a:rPr>
              <a:t>xs:complexType</a:t>
            </a:r>
            <a:r>
              <a:rPr lang="es-ES" sz="1600" b="0" dirty="0">
                <a:solidFill>
                  <a:srgbClr val="0000FF"/>
                </a:solidFill>
              </a:rPr>
              <a:t>&gt;</a:t>
            </a:r>
            <a:endParaRPr lang="es-ES" sz="1600" b="1" dirty="0">
              <a:solidFill>
                <a:srgbClr val="000000"/>
              </a:solidFill>
            </a:endParaRPr>
          </a:p>
          <a:p>
            <a:r>
              <a:rPr lang="es-ES" sz="1600" b="1" dirty="0">
                <a:solidFill>
                  <a:srgbClr val="000000"/>
                </a:solidFill>
              </a:rPr>
              <a:t>  </a:t>
            </a:r>
            <a:r>
              <a:rPr lang="es-ES" sz="1600" b="0" dirty="0">
                <a:solidFill>
                  <a:srgbClr val="0000FF"/>
                </a:solidFill>
              </a:rPr>
              <a:t>&lt;/</a:t>
            </a:r>
            <a:r>
              <a:rPr lang="es-ES" sz="1600" b="0" dirty="0" err="1">
                <a:solidFill>
                  <a:srgbClr val="0000FF"/>
                </a:solidFill>
              </a:rPr>
              <a:t>xs:element</a:t>
            </a:r>
            <a:r>
              <a:rPr lang="es-ES" sz="1600" b="0" dirty="0">
                <a:solidFill>
                  <a:srgbClr val="0000FF"/>
                </a:solidFill>
              </a:rPr>
              <a:t>&gt;</a:t>
            </a:r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r>
              <a:rPr lang="es-ES" sz="1600" b="0" dirty="0">
                <a:solidFill>
                  <a:srgbClr val="0000FF"/>
                </a:solidFill>
              </a:rPr>
              <a:t>&lt;/</a:t>
            </a:r>
            <a:r>
              <a:rPr lang="es-ES" sz="1600" b="0" dirty="0" err="1">
                <a:solidFill>
                  <a:srgbClr val="0000FF"/>
                </a:solidFill>
              </a:rPr>
              <a:t>xs:schema</a:t>
            </a:r>
            <a:r>
              <a:rPr lang="es-ES" sz="1600" b="0" dirty="0">
                <a:solidFill>
                  <a:srgbClr val="0000FF"/>
                </a:solidFill>
              </a:rPr>
              <a:t>&gt;</a:t>
            </a:r>
            <a:endParaRPr lang="es-ES" sz="16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2FCCF9A-08D4-4BBF-AE21-076139AEA0BD}"/>
              </a:ext>
            </a:extLst>
          </p:cNvPr>
          <p:cNvSpPr txBox="1"/>
          <p:nvPr/>
        </p:nvSpPr>
        <p:spPr>
          <a:xfrm>
            <a:off x="1374586" y="1646314"/>
            <a:ext cx="16132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rgbClr val="000000"/>
                </a:solidFill>
              </a:rPr>
              <a:t>factura.xml</a:t>
            </a:r>
          </a:p>
        </p:txBody>
      </p:sp>
    </p:spTree>
    <p:extLst>
      <p:ext uri="{BB962C8B-B14F-4D97-AF65-F5344CB8AC3E}">
        <p14:creationId xmlns:p14="http://schemas.microsoft.com/office/powerpoint/2010/main" val="2107798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24 Esquina doblada"/>
          <p:cNvSpPr/>
          <p:nvPr/>
        </p:nvSpPr>
        <p:spPr bwMode="auto">
          <a:xfrm>
            <a:off x="251520" y="1518920"/>
            <a:ext cx="3517180" cy="4689527"/>
          </a:xfrm>
          <a:prstGeom prst="foldedCorner">
            <a:avLst/>
          </a:prstGeom>
          <a:solidFill>
            <a:srgbClr val="FFFFCC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7" name="Rectángulo 76"/>
          <p:cNvSpPr/>
          <p:nvPr/>
        </p:nvSpPr>
        <p:spPr bwMode="auto">
          <a:xfrm>
            <a:off x="543121" y="4574342"/>
            <a:ext cx="2827852" cy="1014898"/>
          </a:xfrm>
          <a:prstGeom prst="rect">
            <a:avLst/>
          </a:prstGeom>
          <a:solidFill>
            <a:srgbClr val="FFE9A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Rectángulo 1"/>
          <p:cNvSpPr/>
          <p:nvPr/>
        </p:nvSpPr>
        <p:spPr bwMode="auto">
          <a:xfrm>
            <a:off x="531498" y="2348880"/>
            <a:ext cx="2827852" cy="1014898"/>
          </a:xfrm>
          <a:prstGeom prst="rect">
            <a:avLst/>
          </a:prstGeom>
          <a:solidFill>
            <a:srgbClr val="FFE9A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2" name="Rectángulo 41"/>
          <p:cNvSpPr/>
          <p:nvPr/>
        </p:nvSpPr>
        <p:spPr bwMode="auto">
          <a:xfrm>
            <a:off x="531498" y="3455916"/>
            <a:ext cx="2827852" cy="1014898"/>
          </a:xfrm>
          <a:prstGeom prst="rect">
            <a:avLst/>
          </a:prstGeom>
          <a:solidFill>
            <a:srgbClr val="FFE9A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6" name="CuadroTexto 35"/>
          <p:cNvSpPr txBox="1"/>
          <p:nvPr/>
        </p:nvSpPr>
        <p:spPr>
          <a:xfrm>
            <a:off x="395536" y="1661394"/>
            <a:ext cx="3173039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bg2">
                    <a:lumMod val="50000"/>
                  </a:schemeClr>
                </a:solidFill>
              </a:rPr>
              <a:t>&lt;?</a:t>
            </a:r>
            <a:r>
              <a:rPr lang="es-ES" sz="1100" dirty="0" err="1">
                <a:solidFill>
                  <a:schemeClr val="bg2">
                    <a:lumMod val="50000"/>
                  </a:schemeClr>
                </a:solidFill>
              </a:rPr>
              <a:t>xml</a:t>
            </a:r>
            <a:r>
              <a:rPr lang="es-ES" sz="11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s-ES" sz="1100" dirty="0" err="1">
                <a:solidFill>
                  <a:schemeClr val="bg2">
                    <a:lumMod val="50000"/>
                  </a:schemeClr>
                </a:solidFill>
              </a:rPr>
              <a:t>version</a:t>
            </a:r>
            <a:r>
              <a:rPr lang="es-ES" sz="1100" dirty="0">
                <a:solidFill>
                  <a:schemeClr val="bg2">
                    <a:lumMod val="50000"/>
                  </a:schemeClr>
                </a:solidFill>
              </a:rPr>
              <a:t>= "1.0" </a:t>
            </a:r>
            <a:r>
              <a:rPr lang="es-ES" sz="1100" dirty="0" err="1">
                <a:solidFill>
                  <a:schemeClr val="bg2">
                    <a:lumMod val="50000"/>
                  </a:schemeClr>
                </a:solidFill>
              </a:rPr>
              <a:t>encoding</a:t>
            </a:r>
            <a:r>
              <a:rPr lang="es-ES" sz="1100" dirty="0">
                <a:solidFill>
                  <a:schemeClr val="bg2">
                    <a:lumMod val="50000"/>
                  </a:schemeClr>
                </a:solidFill>
              </a:rPr>
              <a:t>="ISO-8859-1"?&gt;</a:t>
            </a:r>
          </a:p>
          <a:p>
            <a:endParaRPr lang="es-ES" sz="12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s-ES" sz="1200" dirty="0">
                <a:solidFill>
                  <a:srgbClr val="C00000"/>
                </a:solidFill>
              </a:rPr>
              <a:t>&lt;</a:t>
            </a:r>
            <a:r>
              <a:rPr lang="es-ES" sz="1200" dirty="0" err="1">
                <a:solidFill>
                  <a:srgbClr val="C00000"/>
                </a:solidFill>
              </a:rPr>
              <a:t>BDAlumnos</a:t>
            </a:r>
            <a:r>
              <a:rPr lang="es-ES" sz="1200" dirty="0">
                <a:solidFill>
                  <a:srgbClr val="C00000"/>
                </a:solidFill>
              </a:rPr>
              <a:t>&gt;</a:t>
            </a:r>
          </a:p>
          <a:p>
            <a:endParaRPr lang="es-ES" sz="1200" dirty="0">
              <a:solidFill>
                <a:srgbClr val="C00000"/>
              </a:solidFill>
            </a:endParaRPr>
          </a:p>
          <a:p>
            <a:r>
              <a:rPr lang="es-ES" sz="1200" dirty="0">
                <a:solidFill>
                  <a:srgbClr val="C00000"/>
                </a:solidFill>
              </a:rPr>
              <a:t>    &lt;alumno&gt;</a:t>
            </a:r>
          </a:p>
          <a:p>
            <a:r>
              <a:rPr lang="es-ES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     </a:t>
            </a:r>
            <a:r>
              <a:rPr lang="es-ES" sz="1200" dirty="0">
                <a:solidFill>
                  <a:srgbClr val="00B050"/>
                </a:solidFill>
              </a:rPr>
              <a:t>&lt;matricula&gt;</a:t>
            </a:r>
            <a:r>
              <a:rPr lang="es-ES" sz="1200" dirty="0">
                <a:solidFill>
                  <a:srgbClr val="FF0000"/>
                </a:solidFill>
              </a:rPr>
              <a:t>0001</a:t>
            </a:r>
            <a:r>
              <a:rPr lang="es-ES" sz="1200" dirty="0">
                <a:solidFill>
                  <a:srgbClr val="00B050"/>
                </a:solidFill>
              </a:rPr>
              <a:t>&lt;/matricula&gt;</a:t>
            </a:r>
          </a:p>
          <a:p>
            <a:r>
              <a:rPr lang="es-ES" sz="1200" dirty="0">
                <a:solidFill>
                  <a:srgbClr val="00B050"/>
                </a:solidFill>
              </a:rPr>
              <a:t>         &lt;nombre&gt;</a:t>
            </a:r>
            <a:r>
              <a:rPr lang="es-ES" sz="1200" dirty="0">
                <a:solidFill>
                  <a:srgbClr val="FF0000"/>
                </a:solidFill>
              </a:rPr>
              <a:t>Ramón López</a:t>
            </a:r>
            <a:r>
              <a:rPr lang="es-ES" sz="1200" dirty="0">
                <a:solidFill>
                  <a:srgbClr val="00B050"/>
                </a:solidFill>
              </a:rPr>
              <a:t>&lt;/nombre&gt;</a:t>
            </a:r>
          </a:p>
          <a:p>
            <a:r>
              <a:rPr lang="es-ES" sz="1200" dirty="0">
                <a:solidFill>
                  <a:srgbClr val="00B050"/>
                </a:solidFill>
              </a:rPr>
              <a:t>         &lt;</a:t>
            </a:r>
            <a:r>
              <a:rPr lang="es-ES" sz="1200" dirty="0" err="1">
                <a:solidFill>
                  <a:srgbClr val="00B050"/>
                </a:solidFill>
              </a:rPr>
              <a:t>movil</a:t>
            </a:r>
            <a:r>
              <a:rPr lang="es-ES" sz="1200" dirty="0">
                <a:solidFill>
                  <a:srgbClr val="00B050"/>
                </a:solidFill>
              </a:rPr>
              <a:t>&gt;</a:t>
            </a:r>
            <a:r>
              <a:rPr lang="es-ES" sz="1200" dirty="0">
                <a:solidFill>
                  <a:srgbClr val="FF0000"/>
                </a:solidFill>
              </a:rPr>
              <a:t>666 555 444</a:t>
            </a:r>
            <a:r>
              <a:rPr lang="es-ES" sz="1200" dirty="0">
                <a:solidFill>
                  <a:srgbClr val="00B050"/>
                </a:solidFill>
              </a:rPr>
              <a:t>&lt;/</a:t>
            </a:r>
            <a:r>
              <a:rPr lang="es-ES" sz="1200" dirty="0" err="1">
                <a:solidFill>
                  <a:srgbClr val="00B050"/>
                </a:solidFill>
              </a:rPr>
              <a:t>movil</a:t>
            </a:r>
            <a:r>
              <a:rPr lang="es-ES" sz="1200" dirty="0">
                <a:solidFill>
                  <a:srgbClr val="00B050"/>
                </a:solidFill>
              </a:rPr>
              <a:t>&gt;</a:t>
            </a:r>
          </a:p>
          <a:p>
            <a:r>
              <a:rPr lang="es-ES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</a:t>
            </a:r>
            <a:r>
              <a:rPr lang="es-ES" sz="1200" dirty="0">
                <a:solidFill>
                  <a:srgbClr val="C00000"/>
                </a:solidFill>
              </a:rPr>
              <a:t>&lt;/alumno&gt;</a:t>
            </a:r>
          </a:p>
          <a:p>
            <a:endParaRPr lang="es-ES" sz="1200" dirty="0">
              <a:solidFill>
                <a:srgbClr val="C00000"/>
              </a:solidFill>
            </a:endParaRPr>
          </a:p>
          <a:p>
            <a:r>
              <a:rPr lang="es-ES" sz="1200" dirty="0">
                <a:solidFill>
                  <a:srgbClr val="C00000"/>
                </a:solidFill>
              </a:rPr>
              <a:t>     &lt;alumno&gt;</a:t>
            </a:r>
          </a:p>
          <a:p>
            <a:r>
              <a:rPr lang="es-ES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     </a:t>
            </a:r>
            <a:r>
              <a:rPr lang="es-ES" sz="1200" dirty="0">
                <a:solidFill>
                  <a:srgbClr val="00B050"/>
                </a:solidFill>
              </a:rPr>
              <a:t>&lt;matricula&gt;</a:t>
            </a:r>
            <a:r>
              <a:rPr lang="es-ES" sz="1200" dirty="0">
                <a:solidFill>
                  <a:srgbClr val="FF0000"/>
                </a:solidFill>
              </a:rPr>
              <a:t>0002</a:t>
            </a:r>
            <a:r>
              <a:rPr lang="es-ES" sz="1200" dirty="0">
                <a:solidFill>
                  <a:srgbClr val="00B050"/>
                </a:solidFill>
              </a:rPr>
              <a:t>&lt;/matricula&gt;</a:t>
            </a:r>
          </a:p>
          <a:p>
            <a:r>
              <a:rPr lang="es-ES" sz="1200" dirty="0">
                <a:solidFill>
                  <a:srgbClr val="00B050"/>
                </a:solidFill>
              </a:rPr>
              <a:t>         &lt;nombre&gt;</a:t>
            </a:r>
            <a:r>
              <a:rPr lang="es-ES" sz="1200" dirty="0">
                <a:solidFill>
                  <a:srgbClr val="FF0000"/>
                </a:solidFill>
              </a:rPr>
              <a:t>María Ruiz</a:t>
            </a:r>
            <a:r>
              <a:rPr lang="es-ES" sz="1200" dirty="0">
                <a:solidFill>
                  <a:srgbClr val="00B050"/>
                </a:solidFill>
              </a:rPr>
              <a:t>&lt;/nombre&gt;</a:t>
            </a:r>
          </a:p>
          <a:p>
            <a:r>
              <a:rPr lang="es-ES" sz="1200" dirty="0">
                <a:solidFill>
                  <a:srgbClr val="00B050"/>
                </a:solidFill>
              </a:rPr>
              <a:t>         &lt;</a:t>
            </a:r>
            <a:r>
              <a:rPr lang="es-ES" sz="1200" dirty="0" err="1">
                <a:solidFill>
                  <a:srgbClr val="00B050"/>
                </a:solidFill>
              </a:rPr>
              <a:t>movil</a:t>
            </a:r>
            <a:r>
              <a:rPr lang="es-ES" sz="1200" dirty="0">
                <a:solidFill>
                  <a:srgbClr val="00B050"/>
                </a:solidFill>
              </a:rPr>
              <a:t>&gt;</a:t>
            </a:r>
            <a:r>
              <a:rPr lang="es-ES" sz="1200" dirty="0">
                <a:solidFill>
                  <a:srgbClr val="FF0000"/>
                </a:solidFill>
              </a:rPr>
              <a:t>677 123 456</a:t>
            </a:r>
            <a:r>
              <a:rPr lang="es-ES" sz="1200" dirty="0">
                <a:solidFill>
                  <a:srgbClr val="00B050"/>
                </a:solidFill>
              </a:rPr>
              <a:t>&lt;/</a:t>
            </a:r>
            <a:r>
              <a:rPr lang="es-ES" sz="1200" dirty="0" err="1">
                <a:solidFill>
                  <a:srgbClr val="00B050"/>
                </a:solidFill>
              </a:rPr>
              <a:t>movil</a:t>
            </a:r>
            <a:r>
              <a:rPr lang="es-ES" sz="1200" dirty="0">
                <a:solidFill>
                  <a:srgbClr val="00B050"/>
                </a:solidFill>
              </a:rPr>
              <a:t>&gt;</a:t>
            </a:r>
          </a:p>
          <a:p>
            <a:r>
              <a:rPr lang="es-ES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</a:t>
            </a:r>
            <a:r>
              <a:rPr lang="es-ES" sz="1200" dirty="0">
                <a:solidFill>
                  <a:srgbClr val="C00000"/>
                </a:solidFill>
              </a:rPr>
              <a:t>&lt;/alumno&gt;</a:t>
            </a:r>
          </a:p>
          <a:p>
            <a:endParaRPr lang="es-ES" sz="1200" dirty="0">
              <a:solidFill>
                <a:srgbClr val="C00000"/>
              </a:solidFill>
            </a:endParaRPr>
          </a:p>
          <a:p>
            <a:r>
              <a:rPr lang="es-ES" sz="1200" dirty="0">
                <a:solidFill>
                  <a:srgbClr val="C00000"/>
                </a:solidFill>
              </a:rPr>
              <a:t>     &lt;alumno&gt;</a:t>
            </a:r>
          </a:p>
          <a:p>
            <a:r>
              <a:rPr lang="es-ES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     </a:t>
            </a:r>
            <a:r>
              <a:rPr lang="es-ES" sz="1200" dirty="0">
                <a:solidFill>
                  <a:srgbClr val="00B050"/>
                </a:solidFill>
              </a:rPr>
              <a:t>&lt;matricula&gt;</a:t>
            </a:r>
            <a:r>
              <a:rPr lang="es-ES" sz="1200" dirty="0">
                <a:solidFill>
                  <a:srgbClr val="FF0000"/>
                </a:solidFill>
              </a:rPr>
              <a:t>0003</a:t>
            </a:r>
            <a:r>
              <a:rPr lang="es-ES" sz="1200" dirty="0">
                <a:solidFill>
                  <a:srgbClr val="00B050"/>
                </a:solidFill>
              </a:rPr>
              <a:t>&lt;/matricula&gt;</a:t>
            </a:r>
          </a:p>
          <a:p>
            <a:r>
              <a:rPr lang="es-ES" sz="1200" dirty="0">
                <a:solidFill>
                  <a:srgbClr val="00B050"/>
                </a:solidFill>
              </a:rPr>
              <a:t>         &lt;nombre&gt;</a:t>
            </a:r>
            <a:r>
              <a:rPr lang="es-ES" sz="1200" dirty="0">
                <a:solidFill>
                  <a:srgbClr val="FF0000"/>
                </a:solidFill>
              </a:rPr>
              <a:t>Luisa Cruz</a:t>
            </a:r>
            <a:r>
              <a:rPr lang="es-ES" sz="1200" dirty="0">
                <a:solidFill>
                  <a:srgbClr val="00B050"/>
                </a:solidFill>
              </a:rPr>
              <a:t>&lt;/nombre&gt;</a:t>
            </a:r>
          </a:p>
          <a:p>
            <a:r>
              <a:rPr lang="es-ES" sz="1200" dirty="0">
                <a:solidFill>
                  <a:srgbClr val="00B050"/>
                </a:solidFill>
              </a:rPr>
              <a:t>         &lt;</a:t>
            </a:r>
            <a:r>
              <a:rPr lang="es-ES" sz="1200" dirty="0" err="1">
                <a:solidFill>
                  <a:srgbClr val="00B050"/>
                </a:solidFill>
              </a:rPr>
              <a:t>movil</a:t>
            </a:r>
            <a:r>
              <a:rPr lang="es-ES" sz="1200" dirty="0">
                <a:solidFill>
                  <a:srgbClr val="00B050"/>
                </a:solidFill>
              </a:rPr>
              <a:t>&gt;</a:t>
            </a:r>
            <a:r>
              <a:rPr lang="es-ES" sz="1200" dirty="0">
                <a:solidFill>
                  <a:srgbClr val="FF0000"/>
                </a:solidFill>
              </a:rPr>
              <a:t>655 786 004</a:t>
            </a:r>
            <a:r>
              <a:rPr lang="es-ES" sz="1200" dirty="0">
                <a:solidFill>
                  <a:srgbClr val="00B050"/>
                </a:solidFill>
              </a:rPr>
              <a:t>&lt;/</a:t>
            </a:r>
            <a:r>
              <a:rPr lang="es-ES" sz="1200" dirty="0" err="1">
                <a:solidFill>
                  <a:srgbClr val="00B050"/>
                </a:solidFill>
              </a:rPr>
              <a:t>movil</a:t>
            </a:r>
            <a:r>
              <a:rPr lang="es-ES" sz="1200" dirty="0">
                <a:solidFill>
                  <a:srgbClr val="00B050"/>
                </a:solidFill>
              </a:rPr>
              <a:t>&gt;</a:t>
            </a:r>
          </a:p>
          <a:p>
            <a:r>
              <a:rPr lang="es-ES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</a:t>
            </a:r>
            <a:r>
              <a:rPr lang="es-ES" sz="1200" dirty="0">
                <a:solidFill>
                  <a:srgbClr val="C00000"/>
                </a:solidFill>
              </a:rPr>
              <a:t>&lt;/alumno&gt;</a:t>
            </a:r>
          </a:p>
          <a:p>
            <a:endParaRPr lang="es-ES" sz="1200" dirty="0">
              <a:solidFill>
                <a:srgbClr val="C00000"/>
              </a:solidFill>
            </a:endParaRPr>
          </a:p>
          <a:p>
            <a:endParaRPr lang="es-ES" sz="1200" dirty="0"/>
          </a:p>
          <a:p>
            <a:r>
              <a:rPr lang="es-ES" sz="1200" dirty="0">
                <a:solidFill>
                  <a:srgbClr val="C00000"/>
                </a:solidFill>
              </a:rPr>
              <a:t>&lt;/</a:t>
            </a:r>
            <a:r>
              <a:rPr lang="es-ES" sz="1200" dirty="0" err="1">
                <a:solidFill>
                  <a:srgbClr val="C00000"/>
                </a:solidFill>
              </a:rPr>
              <a:t>BDAlumnos</a:t>
            </a:r>
            <a:r>
              <a:rPr lang="es-ES" sz="1200" dirty="0">
                <a:solidFill>
                  <a:srgbClr val="C00000"/>
                </a:solidFill>
              </a:rPr>
              <a:t>&gt;</a:t>
            </a:r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29156" y="45760"/>
            <a:ext cx="7392988" cy="563563"/>
          </a:xfrm>
        </p:spPr>
        <p:txBody>
          <a:bodyPr/>
          <a:lstStyle/>
          <a:p>
            <a:r>
              <a:rPr lang="en-US" dirty="0" err="1"/>
              <a:t>Arbol</a:t>
            </a:r>
            <a:r>
              <a:rPr lang="en-US" dirty="0"/>
              <a:t> de </a:t>
            </a:r>
            <a:r>
              <a:rPr lang="en-US" dirty="0" err="1"/>
              <a:t>Elementos</a:t>
            </a:r>
            <a:r>
              <a:rPr lang="en-US" dirty="0"/>
              <a:t> de un XML</a:t>
            </a:r>
            <a:endParaRPr lang="en-US" sz="1400" dirty="0"/>
          </a:p>
        </p:txBody>
      </p:sp>
      <p:sp>
        <p:nvSpPr>
          <p:cNvPr id="37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4" name="Grupo 3"/>
          <p:cNvGrpSpPr/>
          <p:nvPr/>
        </p:nvGrpSpPr>
        <p:grpSpPr>
          <a:xfrm>
            <a:off x="2915816" y="609323"/>
            <a:ext cx="6144142" cy="5749339"/>
            <a:chOff x="2915816" y="609323"/>
            <a:chExt cx="6144142" cy="5749339"/>
          </a:xfrm>
        </p:grpSpPr>
        <p:pic>
          <p:nvPicPr>
            <p:cNvPr id="3" name="Imagen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5816" y="609323"/>
              <a:ext cx="6144142" cy="5749339"/>
            </a:xfrm>
            <a:prstGeom prst="rect">
              <a:avLst/>
            </a:prstGeom>
          </p:spPr>
        </p:pic>
        <p:sp>
          <p:nvSpPr>
            <p:cNvPr id="68" name="CuadroTexto 67"/>
            <p:cNvSpPr txBox="1"/>
            <p:nvPr/>
          </p:nvSpPr>
          <p:spPr>
            <a:xfrm rot="16200000">
              <a:off x="5308306" y="5283856"/>
              <a:ext cx="1298413" cy="3390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 err="1">
                  <a:solidFill>
                    <a:schemeClr val="bg1"/>
                  </a:solidFill>
                </a:rPr>
                <a:t>BDAlumnos</a:t>
              </a:r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71" name="CuadroTexto 70"/>
            <p:cNvSpPr txBox="1"/>
            <p:nvPr/>
          </p:nvSpPr>
          <p:spPr>
            <a:xfrm rot="16200000">
              <a:off x="5608976" y="2086554"/>
              <a:ext cx="7296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dirty="0">
                  <a:solidFill>
                    <a:schemeClr val="bg1"/>
                  </a:solidFill>
                </a:rPr>
                <a:t>nombre</a:t>
              </a:r>
            </a:p>
          </p:txBody>
        </p:sp>
        <p:sp>
          <p:nvSpPr>
            <p:cNvPr id="6" name="Rectángulo 5"/>
            <p:cNvSpPr/>
            <p:nvPr/>
          </p:nvSpPr>
          <p:spPr>
            <a:xfrm rot="2462842">
              <a:off x="4655747" y="3670307"/>
              <a:ext cx="1157996" cy="6172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Up">
                <a:avLst>
                  <a:gd name="adj" fmla="val 10312548"/>
                </a:avLst>
              </a:prstTxWarp>
              <a:spAutoFit/>
            </a:bodyPr>
            <a:lstStyle/>
            <a:p>
              <a:pPr algn="ctr"/>
              <a:r>
                <a:rPr lang="es-ES" sz="14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alumno</a:t>
              </a:r>
            </a:p>
          </p:txBody>
        </p:sp>
        <p:sp>
          <p:nvSpPr>
            <p:cNvPr id="75" name="Rectángulo 74"/>
            <p:cNvSpPr/>
            <p:nvPr/>
          </p:nvSpPr>
          <p:spPr>
            <a:xfrm rot="19214187">
              <a:off x="6146525" y="3671145"/>
              <a:ext cx="1157996" cy="6172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Up">
                <a:avLst>
                  <a:gd name="adj" fmla="val 10312548"/>
                </a:avLst>
              </a:prstTxWarp>
              <a:spAutoFit/>
            </a:bodyPr>
            <a:lstStyle/>
            <a:p>
              <a:pPr algn="ctr"/>
              <a:r>
                <a:rPr lang="es-ES" sz="14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alumno</a:t>
              </a:r>
            </a:p>
          </p:txBody>
        </p:sp>
        <p:sp>
          <p:nvSpPr>
            <p:cNvPr id="11" name="Rectángulo 10"/>
            <p:cNvSpPr/>
            <p:nvPr/>
          </p:nvSpPr>
          <p:spPr>
            <a:xfrm rot="16200000">
              <a:off x="5563448" y="3323157"/>
              <a:ext cx="821058" cy="3077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s-ES" sz="14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alumno</a:t>
              </a:r>
            </a:p>
          </p:txBody>
        </p:sp>
        <p:sp>
          <p:nvSpPr>
            <p:cNvPr id="79" name="CuadroTexto 78"/>
            <p:cNvSpPr txBox="1"/>
            <p:nvPr/>
          </p:nvSpPr>
          <p:spPr>
            <a:xfrm rot="2061744">
              <a:off x="5217768" y="2248816"/>
              <a:ext cx="81624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dirty="0">
                  <a:solidFill>
                    <a:schemeClr val="bg1"/>
                  </a:solidFill>
                </a:rPr>
                <a:t>matrícula</a:t>
              </a:r>
            </a:p>
          </p:txBody>
        </p:sp>
        <p:sp>
          <p:nvSpPr>
            <p:cNvPr id="80" name="CuadroTexto 79"/>
            <p:cNvSpPr txBox="1"/>
            <p:nvPr/>
          </p:nvSpPr>
          <p:spPr>
            <a:xfrm rot="19711222">
              <a:off x="6117480" y="2317066"/>
              <a:ext cx="5421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dirty="0" err="1">
                  <a:solidFill>
                    <a:schemeClr val="bg1"/>
                  </a:solidFill>
                </a:rPr>
                <a:t>movil</a:t>
              </a:r>
              <a:endParaRPr lang="es-ES" sz="1200" dirty="0">
                <a:solidFill>
                  <a:schemeClr val="bg1"/>
                </a:solidFill>
              </a:endParaRPr>
            </a:p>
          </p:txBody>
        </p:sp>
        <p:sp>
          <p:nvSpPr>
            <p:cNvPr id="81" name="CuadroTexto 80"/>
            <p:cNvSpPr txBox="1"/>
            <p:nvPr/>
          </p:nvSpPr>
          <p:spPr>
            <a:xfrm>
              <a:off x="4129555" y="3216179"/>
              <a:ext cx="7296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dirty="0">
                  <a:solidFill>
                    <a:schemeClr val="bg1"/>
                  </a:solidFill>
                </a:rPr>
                <a:t>nombre</a:t>
              </a:r>
            </a:p>
          </p:txBody>
        </p:sp>
        <p:sp>
          <p:nvSpPr>
            <p:cNvPr id="82" name="CuadroTexto 81"/>
            <p:cNvSpPr txBox="1"/>
            <p:nvPr/>
          </p:nvSpPr>
          <p:spPr>
            <a:xfrm rot="20390227">
              <a:off x="4033979" y="3469774"/>
              <a:ext cx="81624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dirty="0">
                  <a:solidFill>
                    <a:schemeClr val="bg1"/>
                  </a:solidFill>
                </a:rPr>
                <a:t>matrícula</a:t>
              </a:r>
            </a:p>
          </p:txBody>
        </p:sp>
        <p:sp>
          <p:nvSpPr>
            <p:cNvPr id="83" name="CuadroTexto 82"/>
            <p:cNvSpPr txBox="1"/>
            <p:nvPr/>
          </p:nvSpPr>
          <p:spPr>
            <a:xfrm rot="3459032">
              <a:off x="4586401" y="3077680"/>
              <a:ext cx="5421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dirty="0" err="1">
                  <a:solidFill>
                    <a:schemeClr val="bg1"/>
                  </a:solidFill>
                </a:rPr>
                <a:t>movil</a:t>
              </a:r>
              <a:endParaRPr lang="es-ES" sz="1200" dirty="0">
                <a:solidFill>
                  <a:schemeClr val="bg1"/>
                </a:solidFill>
              </a:endParaRPr>
            </a:p>
          </p:txBody>
        </p:sp>
        <p:sp>
          <p:nvSpPr>
            <p:cNvPr id="85" name="CuadroTexto 84"/>
            <p:cNvSpPr txBox="1"/>
            <p:nvPr/>
          </p:nvSpPr>
          <p:spPr>
            <a:xfrm rot="19096583">
              <a:off x="6931989" y="3080854"/>
              <a:ext cx="81624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dirty="0">
                  <a:solidFill>
                    <a:schemeClr val="bg1"/>
                  </a:solidFill>
                </a:rPr>
                <a:t>matrícula</a:t>
              </a:r>
            </a:p>
          </p:txBody>
        </p:sp>
        <p:sp>
          <p:nvSpPr>
            <p:cNvPr id="86" name="CuadroTexto 85"/>
            <p:cNvSpPr txBox="1"/>
            <p:nvPr/>
          </p:nvSpPr>
          <p:spPr>
            <a:xfrm rot="20766421">
              <a:off x="7285885" y="3149250"/>
              <a:ext cx="7296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dirty="0">
                  <a:solidFill>
                    <a:schemeClr val="bg1"/>
                  </a:solidFill>
                </a:rPr>
                <a:t>nombre</a:t>
              </a:r>
            </a:p>
          </p:txBody>
        </p:sp>
        <p:sp>
          <p:nvSpPr>
            <p:cNvPr id="87" name="CuadroTexto 86"/>
            <p:cNvSpPr txBox="1"/>
            <p:nvPr/>
          </p:nvSpPr>
          <p:spPr>
            <a:xfrm rot="1296111">
              <a:off x="7425188" y="3427652"/>
              <a:ext cx="5421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dirty="0" err="1">
                  <a:solidFill>
                    <a:schemeClr val="bg1"/>
                  </a:solidFill>
                </a:rPr>
                <a:t>movil</a:t>
              </a:r>
              <a:endParaRPr lang="es-ES" sz="1200" dirty="0">
                <a:solidFill>
                  <a:schemeClr val="bg1"/>
                </a:solidFill>
              </a:endParaRPr>
            </a:p>
          </p:txBody>
        </p:sp>
        <p:sp>
          <p:nvSpPr>
            <p:cNvPr id="12" name="CuadroTexto 11"/>
            <p:cNvSpPr txBox="1"/>
            <p:nvPr/>
          </p:nvSpPr>
          <p:spPr>
            <a:xfrm>
              <a:off x="3286622" y="3725183"/>
              <a:ext cx="5245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b="1" dirty="0">
                  <a:solidFill>
                    <a:srgbClr val="FFFF00"/>
                  </a:solidFill>
                </a:rPr>
                <a:t>0001</a:t>
              </a:r>
            </a:p>
          </p:txBody>
        </p:sp>
        <p:sp>
          <p:nvSpPr>
            <p:cNvPr id="88" name="CuadroTexto 87"/>
            <p:cNvSpPr txBox="1"/>
            <p:nvPr/>
          </p:nvSpPr>
          <p:spPr>
            <a:xfrm>
              <a:off x="3230743" y="2576732"/>
              <a:ext cx="7056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b="1" dirty="0">
                  <a:solidFill>
                    <a:srgbClr val="FFFF00"/>
                  </a:solidFill>
                </a:rPr>
                <a:t>Ramón</a:t>
              </a:r>
            </a:p>
            <a:p>
              <a:pPr algn="ctr"/>
              <a:r>
                <a:rPr lang="es-ES" sz="1200" b="1" dirty="0">
                  <a:solidFill>
                    <a:srgbClr val="FFFF00"/>
                  </a:solidFill>
                </a:rPr>
                <a:t>López</a:t>
              </a:r>
            </a:p>
          </p:txBody>
        </p:sp>
        <p:sp>
          <p:nvSpPr>
            <p:cNvPr id="89" name="CuadroTexto 88"/>
            <p:cNvSpPr txBox="1"/>
            <p:nvPr/>
          </p:nvSpPr>
          <p:spPr>
            <a:xfrm>
              <a:off x="4242017" y="2241012"/>
              <a:ext cx="4395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b="1" dirty="0">
                  <a:solidFill>
                    <a:srgbClr val="FFFF00"/>
                  </a:solidFill>
                </a:rPr>
                <a:t>666</a:t>
              </a:r>
            </a:p>
            <a:p>
              <a:pPr algn="ctr"/>
              <a:r>
                <a:rPr lang="es-ES" sz="1200" b="1" dirty="0">
                  <a:solidFill>
                    <a:srgbClr val="FFFF00"/>
                  </a:solidFill>
                </a:rPr>
                <a:t>555</a:t>
              </a:r>
            </a:p>
            <a:p>
              <a:pPr algn="ctr"/>
              <a:r>
                <a:rPr lang="es-ES" sz="1200" b="1" dirty="0">
                  <a:solidFill>
                    <a:srgbClr val="FFFF00"/>
                  </a:solidFill>
                </a:rPr>
                <a:t>444</a:t>
              </a:r>
            </a:p>
          </p:txBody>
        </p:sp>
        <p:sp>
          <p:nvSpPr>
            <p:cNvPr id="90" name="CuadroTexto 89"/>
            <p:cNvSpPr txBox="1"/>
            <p:nvPr/>
          </p:nvSpPr>
          <p:spPr>
            <a:xfrm>
              <a:off x="4661938" y="1658051"/>
              <a:ext cx="5245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b="1" dirty="0">
                  <a:solidFill>
                    <a:srgbClr val="FFFF00"/>
                  </a:solidFill>
                </a:rPr>
                <a:t>0002</a:t>
              </a:r>
            </a:p>
          </p:txBody>
        </p:sp>
        <p:sp>
          <p:nvSpPr>
            <p:cNvPr id="91" name="CuadroTexto 90"/>
            <p:cNvSpPr txBox="1"/>
            <p:nvPr/>
          </p:nvSpPr>
          <p:spPr>
            <a:xfrm>
              <a:off x="7521227" y="2251162"/>
              <a:ext cx="5245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b="1" dirty="0">
                  <a:solidFill>
                    <a:srgbClr val="FFFF00"/>
                  </a:solidFill>
                </a:rPr>
                <a:t>0003</a:t>
              </a:r>
            </a:p>
          </p:txBody>
        </p:sp>
        <p:sp>
          <p:nvSpPr>
            <p:cNvPr id="92" name="CuadroTexto 91"/>
            <p:cNvSpPr txBox="1"/>
            <p:nvPr/>
          </p:nvSpPr>
          <p:spPr>
            <a:xfrm>
              <a:off x="5681112" y="1160604"/>
              <a:ext cx="58541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b="1" dirty="0">
                  <a:solidFill>
                    <a:srgbClr val="FFFF00"/>
                  </a:solidFill>
                </a:rPr>
                <a:t>María</a:t>
              </a:r>
            </a:p>
            <a:p>
              <a:pPr algn="ctr"/>
              <a:r>
                <a:rPr lang="es-ES" sz="1200" b="1" dirty="0">
                  <a:solidFill>
                    <a:srgbClr val="FFFF00"/>
                  </a:solidFill>
                </a:rPr>
                <a:t>Ruiz</a:t>
              </a:r>
            </a:p>
          </p:txBody>
        </p:sp>
        <p:sp>
          <p:nvSpPr>
            <p:cNvPr id="93" name="CuadroTexto 92"/>
            <p:cNvSpPr txBox="1"/>
            <p:nvPr/>
          </p:nvSpPr>
          <p:spPr>
            <a:xfrm>
              <a:off x="8242312" y="2459117"/>
              <a:ext cx="5870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b="1" dirty="0">
                  <a:solidFill>
                    <a:srgbClr val="FFFF00"/>
                  </a:solidFill>
                </a:rPr>
                <a:t>Luisa</a:t>
              </a:r>
            </a:p>
            <a:p>
              <a:pPr algn="ctr"/>
              <a:r>
                <a:rPr lang="es-ES" sz="1200" b="1" dirty="0">
                  <a:solidFill>
                    <a:srgbClr val="FFFF00"/>
                  </a:solidFill>
                </a:rPr>
                <a:t>Cruz</a:t>
              </a:r>
            </a:p>
          </p:txBody>
        </p:sp>
        <p:sp>
          <p:nvSpPr>
            <p:cNvPr id="94" name="CuadroTexto 93"/>
            <p:cNvSpPr txBox="1"/>
            <p:nvPr/>
          </p:nvSpPr>
          <p:spPr>
            <a:xfrm>
              <a:off x="6838801" y="1593082"/>
              <a:ext cx="4395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b="1" dirty="0">
                  <a:solidFill>
                    <a:srgbClr val="FFFF00"/>
                  </a:solidFill>
                </a:rPr>
                <a:t>677</a:t>
              </a:r>
            </a:p>
            <a:p>
              <a:pPr algn="ctr"/>
              <a:r>
                <a:rPr lang="es-ES" sz="1200" b="1" dirty="0">
                  <a:solidFill>
                    <a:srgbClr val="FFFF00"/>
                  </a:solidFill>
                </a:rPr>
                <a:t>123</a:t>
              </a:r>
            </a:p>
            <a:p>
              <a:pPr algn="ctr"/>
              <a:r>
                <a:rPr lang="es-ES" sz="1200" b="1" dirty="0">
                  <a:solidFill>
                    <a:srgbClr val="FFFF00"/>
                  </a:solidFill>
                </a:rPr>
                <a:t>456</a:t>
              </a:r>
            </a:p>
          </p:txBody>
        </p:sp>
        <p:sp>
          <p:nvSpPr>
            <p:cNvPr id="95" name="CuadroTexto 94"/>
            <p:cNvSpPr txBox="1"/>
            <p:nvPr/>
          </p:nvSpPr>
          <p:spPr>
            <a:xfrm>
              <a:off x="8258387" y="3543772"/>
              <a:ext cx="4395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b="1" dirty="0">
                  <a:solidFill>
                    <a:srgbClr val="FFFF00"/>
                  </a:solidFill>
                </a:rPr>
                <a:t>655</a:t>
              </a:r>
            </a:p>
            <a:p>
              <a:pPr algn="ctr"/>
              <a:r>
                <a:rPr lang="es-ES" sz="1200" b="1" dirty="0">
                  <a:solidFill>
                    <a:srgbClr val="FFFF00"/>
                  </a:solidFill>
                </a:rPr>
                <a:t>768</a:t>
              </a:r>
            </a:p>
            <a:p>
              <a:pPr algn="ctr"/>
              <a:r>
                <a:rPr lang="es-ES" sz="1200" b="1" dirty="0">
                  <a:solidFill>
                    <a:srgbClr val="FFFF00"/>
                  </a:solidFill>
                </a:rPr>
                <a:t>003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163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FD57A935-16C1-4896-A3EC-AC96CE8A1CDA}"/>
              </a:ext>
            </a:extLst>
          </p:cNvPr>
          <p:cNvGrpSpPr/>
          <p:nvPr/>
        </p:nvGrpSpPr>
        <p:grpSpPr>
          <a:xfrm>
            <a:off x="139447" y="1767900"/>
            <a:ext cx="5277651" cy="4658115"/>
            <a:chOff x="139447" y="1767900"/>
            <a:chExt cx="5277651" cy="4658115"/>
          </a:xfrm>
        </p:grpSpPr>
        <p:sp>
          <p:nvSpPr>
            <p:cNvPr id="44" name="24 Esquina doblada">
              <a:extLst>
                <a:ext uri="{FF2B5EF4-FFF2-40B4-BE49-F238E27FC236}">
                  <a16:creationId xmlns:a16="http://schemas.microsoft.com/office/drawing/2014/main" id="{C4DC6797-5E4F-42DE-A52B-3BFE01FC09C4}"/>
                </a:ext>
              </a:extLst>
            </p:cNvPr>
            <p:cNvSpPr/>
            <p:nvPr/>
          </p:nvSpPr>
          <p:spPr bwMode="auto">
            <a:xfrm>
              <a:off x="139447" y="1767900"/>
              <a:ext cx="5277651" cy="4658115"/>
            </a:xfrm>
            <a:prstGeom prst="foldedCorner">
              <a:avLst/>
            </a:prstGeom>
            <a:solidFill>
              <a:srgbClr val="99FF99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_tradnl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41506BB7-038B-41E6-AAC7-04FC82B52A75}"/>
                </a:ext>
              </a:extLst>
            </p:cNvPr>
            <p:cNvSpPr txBox="1"/>
            <p:nvPr/>
          </p:nvSpPr>
          <p:spPr>
            <a:xfrm>
              <a:off x="498869" y="1852858"/>
              <a:ext cx="44279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b="1" dirty="0">
                  <a:solidFill>
                    <a:srgbClr val="000000"/>
                  </a:solidFill>
                </a:rPr>
                <a:t>XSD</a:t>
              </a:r>
            </a:p>
          </p:txBody>
        </p:sp>
      </p:grp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29156" y="45760"/>
            <a:ext cx="7392988" cy="563563"/>
          </a:xfrm>
        </p:spPr>
        <p:txBody>
          <a:bodyPr/>
          <a:lstStyle/>
          <a:p>
            <a:r>
              <a:rPr lang="en-US" dirty="0" err="1"/>
              <a:t>Construccion</a:t>
            </a:r>
            <a:r>
              <a:rPr lang="en-US" dirty="0"/>
              <a:t> de un XSD</a:t>
            </a:r>
            <a:endParaRPr lang="en-US" sz="1400" dirty="0"/>
          </a:p>
        </p:txBody>
      </p:sp>
      <p:grpSp>
        <p:nvGrpSpPr>
          <p:cNvPr id="32" name="Grupo 31"/>
          <p:cNvGrpSpPr/>
          <p:nvPr/>
        </p:nvGrpSpPr>
        <p:grpSpPr>
          <a:xfrm>
            <a:off x="4283968" y="5694543"/>
            <a:ext cx="3720516" cy="1098011"/>
            <a:chOff x="4667908" y="5722860"/>
            <a:chExt cx="3720516" cy="1098011"/>
          </a:xfrm>
        </p:grpSpPr>
        <p:pic>
          <p:nvPicPr>
            <p:cNvPr id="31" name="Imagen 3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7908" y="5781893"/>
              <a:ext cx="3720516" cy="1038978"/>
            </a:xfrm>
            <a:prstGeom prst="rect">
              <a:avLst/>
            </a:prstGeom>
          </p:spPr>
        </p:pic>
        <p:sp>
          <p:nvSpPr>
            <p:cNvPr id="35" name="CuadroTexto 34"/>
            <p:cNvSpPr txBox="1"/>
            <p:nvPr/>
          </p:nvSpPr>
          <p:spPr>
            <a:xfrm>
              <a:off x="6004264" y="5722860"/>
              <a:ext cx="1104790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500" dirty="0" err="1">
                  <a:solidFill>
                    <a:schemeClr val="bg1"/>
                  </a:solidFill>
                </a:rPr>
                <a:t>xs:schema</a:t>
              </a:r>
              <a:endParaRPr lang="es-ES" sz="1500" dirty="0">
                <a:solidFill>
                  <a:schemeClr val="bg1"/>
                </a:solidFill>
              </a:endParaRPr>
            </a:p>
          </p:txBody>
        </p:sp>
      </p:grpSp>
      <p:sp>
        <p:nvSpPr>
          <p:cNvPr id="37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5" name="Grupo 4"/>
          <p:cNvGrpSpPr/>
          <p:nvPr/>
        </p:nvGrpSpPr>
        <p:grpSpPr>
          <a:xfrm>
            <a:off x="3018002" y="431985"/>
            <a:ext cx="6264696" cy="5327933"/>
            <a:chOff x="3131840" y="242753"/>
            <a:chExt cx="6144142" cy="5749339"/>
          </a:xfrm>
        </p:grpSpPr>
        <p:pic>
          <p:nvPicPr>
            <p:cNvPr id="75" name="Imagen 7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1840" y="242753"/>
              <a:ext cx="6144142" cy="5749339"/>
            </a:xfrm>
            <a:prstGeom prst="rect">
              <a:avLst/>
            </a:prstGeom>
          </p:spPr>
        </p:pic>
        <p:sp>
          <p:nvSpPr>
            <p:cNvPr id="76" name="CuadroTexto 75"/>
            <p:cNvSpPr txBox="1"/>
            <p:nvPr/>
          </p:nvSpPr>
          <p:spPr>
            <a:xfrm rot="16200000">
              <a:off x="5562747" y="4935865"/>
              <a:ext cx="1221578" cy="3018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400" dirty="0" err="1">
                  <a:solidFill>
                    <a:schemeClr val="bg1"/>
                  </a:solidFill>
                </a:rPr>
                <a:t>BDAlumnos</a:t>
              </a:r>
              <a:endParaRPr lang="es-ES" sz="1400" dirty="0">
                <a:solidFill>
                  <a:schemeClr val="bg1"/>
                </a:solidFill>
              </a:endParaRPr>
            </a:p>
          </p:txBody>
        </p:sp>
        <p:sp>
          <p:nvSpPr>
            <p:cNvPr id="77" name="CuadroTexto 76"/>
            <p:cNvSpPr txBox="1"/>
            <p:nvPr/>
          </p:nvSpPr>
          <p:spPr>
            <a:xfrm rot="16200000">
              <a:off x="5881105" y="1735373"/>
              <a:ext cx="61747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0" dirty="0">
                  <a:solidFill>
                    <a:schemeClr val="bg1"/>
                  </a:solidFill>
                </a:rPr>
                <a:t>nombre</a:t>
              </a:r>
            </a:p>
          </p:txBody>
        </p:sp>
        <p:sp>
          <p:nvSpPr>
            <p:cNvPr id="78" name="Rectángulo 77"/>
            <p:cNvSpPr/>
            <p:nvPr/>
          </p:nvSpPr>
          <p:spPr>
            <a:xfrm rot="2462842">
              <a:off x="4871771" y="3303737"/>
              <a:ext cx="1157996" cy="6172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Up">
                <a:avLst>
                  <a:gd name="adj" fmla="val 10312548"/>
                </a:avLst>
              </a:prstTxWarp>
              <a:spAutoFit/>
            </a:bodyPr>
            <a:lstStyle/>
            <a:p>
              <a:pPr algn="ctr"/>
              <a:r>
                <a:rPr lang="es-ES" sz="12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alumno</a:t>
              </a:r>
            </a:p>
          </p:txBody>
        </p:sp>
        <p:sp>
          <p:nvSpPr>
            <p:cNvPr id="79" name="Rectángulo 78"/>
            <p:cNvSpPr/>
            <p:nvPr/>
          </p:nvSpPr>
          <p:spPr>
            <a:xfrm rot="19214187">
              <a:off x="6362549" y="3304575"/>
              <a:ext cx="1157996" cy="6172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Up">
                <a:avLst>
                  <a:gd name="adj" fmla="val 10312548"/>
                </a:avLst>
              </a:prstTxWarp>
              <a:spAutoFit/>
            </a:bodyPr>
            <a:lstStyle/>
            <a:p>
              <a:pPr algn="ctr"/>
              <a:r>
                <a:rPr lang="es-ES" sz="12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alumno</a:t>
              </a:r>
            </a:p>
          </p:txBody>
        </p:sp>
        <p:sp>
          <p:nvSpPr>
            <p:cNvPr id="80" name="Rectángulo 79"/>
            <p:cNvSpPr/>
            <p:nvPr/>
          </p:nvSpPr>
          <p:spPr>
            <a:xfrm rot="16200000">
              <a:off x="5794570" y="2974642"/>
              <a:ext cx="790860" cy="27166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s-ES" sz="12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alumno</a:t>
              </a:r>
            </a:p>
          </p:txBody>
        </p:sp>
        <p:sp>
          <p:nvSpPr>
            <p:cNvPr id="81" name="CuadroTexto 80"/>
            <p:cNvSpPr txBox="1"/>
            <p:nvPr/>
          </p:nvSpPr>
          <p:spPr>
            <a:xfrm rot="2061744">
              <a:off x="5486691" y="1897635"/>
              <a:ext cx="71045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0" dirty="0">
                  <a:solidFill>
                    <a:schemeClr val="bg1"/>
                  </a:solidFill>
                </a:rPr>
                <a:t>matrícula</a:t>
              </a:r>
            </a:p>
          </p:txBody>
        </p:sp>
        <p:sp>
          <p:nvSpPr>
            <p:cNvPr id="82" name="CuadroTexto 81"/>
            <p:cNvSpPr txBox="1"/>
            <p:nvPr/>
          </p:nvSpPr>
          <p:spPr>
            <a:xfrm rot="19711222">
              <a:off x="6362358" y="1965885"/>
              <a:ext cx="4844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bg1"/>
                  </a:solidFill>
                </a:rPr>
                <a:t>movil</a:t>
              </a:r>
              <a:endParaRPr lang="es-ES" sz="1000" dirty="0">
                <a:solidFill>
                  <a:schemeClr val="bg1"/>
                </a:solidFill>
              </a:endParaRPr>
            </a:p>
          </p:txBody>
        </p:sp>
        <p:sp>
          <p:nvSpPr>
            <p:cNvPr id="83" name="CuadroTexto 82"/>
            <p:cNvSpPr txBox="1"/>
            <p:nvPr/>
          </p:nvSpPr>
          <p:spPr>
            <a:xfrm>
              <a:off x="4401684" y="2849609"/>
              <a:ext cx="61747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0" dirty="0">
                  <a:solidFill>
                    <a:schemeClr val="bg1"/>
                  </a:solidFill>
                </a:rPr>
                <a:t>nombre</a:t>
              </a:r>
            </a:p>
          </p:txBody>
        </p:sp>
        <p:sp>
          <p:nvSpPr>
            <p:cNvPr id="84" name="CuadroTexto 83"/>
            <p:cNvSpPr txBox="1"/>
            <p:nvPr/>
          </p:nvSpPr>
          <p:spPr>
            <a:xfrm rot="20390227">
              <a:off x="4302902" y="3118593"/>
              <a:ext cx="71045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0" dirty="0">
                  <a:solidFill>
                    <a:schemeClr val="bg1"/>
                  </a:solidFill>
                </a:rPr>
                <a:t>matrícula</a:t>
              </a:r>
            </a:p>
          </p:txBody>
        </p:sp>
        <p:sp>
          <p:nvSpPr>
            <p:cNvPr id="85" name="CuadroTexto 84"/>
            <p:cNvSpPr txBox="1"/>
            <p:nvPr/>
          </p:nvSpPr>
          <p:spPr>
            <a:xfrm rot="3459032">
              <a:off x="4831279" y="2726499"/>
              <a:ext cx="4844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bg1"/>
                  </a:solidFill>
                </a:rPr>
                <a:t>movil</a:t>
              </a:r>
              <a:endParaRPr lang="es-ES" sz="1000" dirty="0">
                <a:solidFill>
                  <a:schemeClr val="bg1"/>
                </a:solidFill>
              </a:endParaRPr>
            </a:p>
          </p:txBody>
        </p:sp>
        <p:sp>
          <p:nvSpPr>
            <p:cNvPr id="86" name="CuadroTexto 85"/>
            <p:cNvSpPr txBox="1"/>
            <p:nvPr/>
          </p:nvSpPr>
          <p:spPr>
            <a:xfrm rot="19096583">
              <a:off x="7200912" y="2729673"/>
              <a:ext cx="71045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0" dirty="0">
                  <a:solidFill>
                    <a:schemeClr val="bg1"/>
                  </a:solidFill>
                </a:rPr>
                <a:t>matrícula</a:t>
              </a:r>
            </a:p>
          </p:txBody>
        </p:sp>
        <p:sp>
          <p:nvSpPr>
            <p:cNvPr id="87" name="CuadroTexto 86"/>
            <p:cNvSpPr txBox="1"/>
            <p:nvPr/>
          </p:nvSpPr>
          <p:spPr>
            <a:xfrm rot="20766421">
              <a:off x="7558014" y="2798069"/>
              <a:ext cx="61747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0" dirty="0">
                  <a:solidFill>
                    <a:schemeClr val="bg1"/>
                  </a:solidFill>
                </a:rPr>
                <a:t>nombre</a:t>
              </a:r>
            </a:p>
          </p:txBody>
        </p:sp>
        <p:sp>
          <p:nvSpPr>
            <p:cNvPr id="88" name="CuadroTexto 87"/>
            <p:cNvSpPr txBox="1"/>
            <p:nvPr/>
          </p:nvSpPr>
          <p:spPr>
            <a:xfrm rot="1296111">
              <a:off x="7670066" y="3076471"/>
              <a:ext cx="4844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bg1"/>
                  </a:solidFill>
                </a:rPr>
                <a:t>movil</a:t>
              </a:r>
              <a:endParaRPr lang="es-ES" sz="1000" dirty="0">
                <a:solidFill>
                  <a:schemeClr val="bg1"/>
                </a:solidFill>
              </a:endParaRPr>
            </a:p>
          </p:txBody>
        </p:sp>
        <p:sp>
          <p:nvSpPr>
            <p:cNvPr id="89" name="CuadroTexto 88"/>
            <p:cNvSpPr txBox="1"/>
            <p:nvPr/>
          </p:nvSpPr>
          <p:spPr>
            <a:xfrm>
              <a:off x="3531500" y="3358613"/>
              <a:ext cx="466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0" b="1" dirty="0">
                  <a:solidFill>
                    <a:srgbClr val="FFFF00"/>
                  </a:solidFill>
                </a:rPr>
                <a:t>0001</a:t>
              </a:r>
            </a:p>
          </p:txBody>
        </p:sp>
        <p:sp>
          <p:nvSpPr>
            <p:cNvPr id="90" name="CuadroTexto 89"/>
            <p:cNvSpPr txBox="1"/>
            <p:nvPr/>
          </p:nvSpPr>
          <p:spPr>
            <a:xfrm>
              <a:off x="3490048" y="2210162"/>
              <a:ext cx="6190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0" b="1" dirty="0">
                  <a:solidFill>
                    <a:srgbClr val="FFFF00"/>
                  </a:solidFill>
                </a:rPr>
                <a:t>Ramón</a:t>
              </a:r>
            </a:p>
            <a:p>
              <a:pPr algn="ctr"/>
              <a:r>
                <a:rPr lang="es-ES" sz="1000" b="1" dirty="0">
                  <a:solidFill>
                    <a:srgbClr val="FFFF00"/>
                  </a:solidFill>
                </a:rPr>
                <a:t>López</a:t>
              </a:r>
            </a:p>
          </p:txBody>
        </p:sp>
        <p:sp>
          <p:nvSpPr>
            <p:cNvPr id="91" name="CuadroTexto 90"/>
            <p:cNvSpPr txBox="1"/>
            <p:nvPr/>
          </p:nvSpPr>
          <p:spPr>
            <a:xfrm>
              <a:off x="4479681" y="1874442"/>
              <a:ext cx="396262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0" b="1" dirty="0">
                  <a:solidFill>
                    <a:srgbClr val="FFFF00"/>
                  </a:solidFill>
                </a:rPr>
                <a:t>666</a:t>
              </a:r>
            </a:p>
            <a:p>
              <a:pPr algn="ctr"/>
              <a:r>
                <a:rPr lang="es-ES" sz="1000" b="1" dirty="0">
                  <a:solidFill>
                    <a:srgbClr val="FFFF00"/>
                  </a:solidFill>
                </a:rPr>
                <a:t>555</a:t>
              </a:r>
            </a:p>
            <a:p>
              <a:pPr algn="ctr"/>
              <a:r>
                <a:rPr lang="es-ES" sz="1000" b="1" dirty="0">
                  <a:solidFill>
                    <a:srgbClr val="FFFF00"/>
                  </a:solidFill>
                </a:rPr>
                <a:t>444</a:t>
              </a:r>
            </a:p>
          </p:txBody>
        </p:sp>
        <p:sp>
          <p:nvSpPr>
            <p:cNvPr id="92" name="CuadroTexto 91"/>
            <p:cNvSpPr txBox="1"/>
            <p:nvPr/>
          </p:nvSpPr>
          <p:spPr>
            <a:xfrm>
              <a:off x="4906817" y="1291481"/>
              <a:ext cx="466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0" b="1" dirty="0">
                  <a:solidFill>
                    <a:srgbClr val="FFFF00"/>
                  </a:solidFill>
                </a:rPr>
                <a:t>0002</a:t>
              </a:r>
            </a:p>
          </p:txBody>
        </p:sp>
        <p:sp>
          <p:nvSpPr>
            <p:cNvPr id="93" name="CuadroTexto 92"/>
            <p:cNvSpPr txBox="1"/>
            <p:nvPr/>
          </p:nvSpPr>
          <p:spPr>
            <a:xfrm>
              <a:off x="7766106" y="1884592"/>
              <a:ext cx="466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0" b="1" dirty="0">
                  <a:solidFill>
                    <a:srgbClr val="FFFF00"/>
                  </a:solidFill>
                </a:rPr>
                <a:t>0003</a:t>
              </a:r>
            </a:p>
          </p:txBody>
        </p:sp>
        <p:sp>
          <p:nvSpPr>
            <p:cNvPr id="94" name="CuadroTexto 93"/>
            <p:cNvSpPr txBox="1"/>
            <p:nvPr/>
          </p:nvSpPr>
          <p:spPr>
            <a:xfrm>
              <a:off x="5913214" y="841430"/>
              <a:ext cx="5180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0" b="1" dirty="0">
                  <a:solidFill>
                    <a:srgbClr val="FFFF00"/>
                  </a:solidFill>
                </a:rPr>
                <a:t>María</a:t>
              </a:r>
            </a:p>
            <a:p>
              <a:pPr algn="ctr"/>
              <a:r>
                <a:rPr lang="es-ES" sz="1000" b="1" dirty="0">
                  <a:solidFill>
                    <a:srgbClr val="FFFF00"/>
                  </a:solidFill>
                </a:rPr>
                <a:t>Ruiz</a:t>
              </a:r>
            </a:p>
          </p:txBody>
        </p:sp>
        <p:sp>
          <p:nvSpPr>
            <p:cNvPr id="95" name="CuadroTexto 94"/>
            <p:cNvSpPr txBox="1"/>
            <p:nvPr/>
          </p:nvSpPr>
          <p:spPr>
            <a:xfrm>
              <a:off x="8492800" y="2092547"/>
              <a:ext cx="5180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0" b="1" dirty="0">
                  <a:solidFill>
                    <a:srgbClr val="FFFF00"/>
                  </a:solidFill>
                </a:rPr>
                <a:t>Luisa</a:t>
              </a:r>
            </a:p>
            <a:p>
              <a:pPr algn="ctr"/>
              <a:r>
                <a:rPr lang="es-ES" sz="1000" b="1" dirty="0">
                  <a:solidFill>
                    <a:srgbClr val="FFFF00"/>
                  </a:solidFill>
                </a:rPr>
                <a:t>Cruz</a:t>
              </a:r>
            </a:p>
          </p:txBody>
        </p:sp>
        <p:sp>
          <p:nvSpPr>
            <p:cNvPr id="96" name="CuadroTexto 95"/>
            <p:cNvSpPr txBox="1"/>
            <p:nvPr/>
          </p:nvSpPr>
          <p:spPr>
            <a:xfrm>
              <a:off x="7076465" y="1226512"/>
              <a:ext cx="396262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0" b="1" dirty="0">
                  <a:solidFill>
                    <a:srgbClr val="FFFF00"/>
                  </a:solidFill>
                </a:rPr>
                <a:t>677</a:t>
              </a:r>
            </a:p>
            <a:p>
              <a:pPr algn="ctr"/>
              <a:r>
                <a:rPr lang="es-ES" sz="1000" b="1" dirty="0">
                  <a:solidFill>
                    <a:srgbClr val="FFFF00"/>
                  </a:solidFill>
                </a:rPr>
                <a:t>123</a:t>
              </a:r>
            </a:p>
            <a:p>
              <a:pPr algn="ctr"/>
              <a:r>
                <a:rPr lang="es-ES" sz="1000" b="1" dirty="0">
                  <a:solidFill>
                    <a:srgbClr val="FFFF00"/>
                  </a:solidFill>
                </a:rPr>
                <a:t>456</a:t>
              </a:r>
            </a:p>
          </p:txBody>
        </p:sp>
        <p:sp>
          <p:nvSpPr>
            <p:cNvPr id="97" name="CuadroTexto 96"/>
            <p:cNvSpPr txBox="1"/>
            <p:nvPr/>
          </p:nvSpPr>
          <p:spPr>
            <a:xfrm>
              <a:off x="8496051" y="3177202"/>
              <a:ext cx="396262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000" b="1" dirty="0">
                  <a:solidFill>
                    <a:srgbClr val="FFFF00"/>
                  </a:solidFill>
                </a:rPr>
                <a:t>655</a:t>
              </a:r>
            </a:p>
            <a:p>
              <a:pPr algn="ctr"/>
              <a:r>
                <a:rPr lang="es-ES" sz="1000" b="1" dirty="0">
                  <a:solidFill>
                    <a:srgbClr val="FFFF00"/>
                  </a:solidFill>
                </a:rPr>
                <a:t>768</a:t>
              </a:r>
            </a:p>
            <a:p>
              <a:pPr algn="ctr"/>
              <a:r>
                <a:rPr lang="es-ES" sz="1000" b="1" dirty="0">
                  <a:solidFill>
                    <a:srgbClr val="FFFF00"/>
                  </a:solidFill>
                </a:rPr>
                <a:t>003</a:t>
              </a:r>
            </a:p>
          </p:txBody>
        </p:sp>
      </p:grpSp>
      <p:grpSp>
        <p:nvGrpSpPr>
          <p:cNvPr id="49" name="Grupo 48"/>
          <p:cNvGrpSpPr/>
          <p:nvPr/>
        </p:nvGrpSpPr>
        <p:grpSpPr>
          <a:xfrm>
            <a:off x="7040024" y="5386670"/>
            <a:ext cx="1041060" cy="454064"/>
            <a:chOff x="6592823" y="4986708"/>
            <a:chExt cx="1041060" cy="454064"/>
          </a:xfrm>
        </p:grpSpPr>
        <p:sp>
          <p:nvSpPr>
            <p:cNvPr id="50" name="CuadroTexto 49"/>
            <p:cNvSpPr txBox="1"/>
            <p:nvPr/>
          </p:nvSpPr>
          <p:spPr>
            <a:xfrm>
              <a:off x="7003864" y="4986708"/>
              <a:ext cx="63001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b="1" dirty="0">
                  <a:solidFill>
                    <a:srgbClr val="000000"/>
                  </a:solidFill>
                  <a:latin typeface="Comic Sans MS" panose="030F0702030302020204" pitchFamily="66" charset="0"/>
                </a:rPr>
                <a:t>raíz</a:t>
              </a:r>
              <a:endParaRPr lang="es-ES" sz="1300" b="1" dirty="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cxnSp>
          <p:nvCxnSpPr>
            <p:cNvPr id="52" name="Conector recto de flecha 51"/>
            <p:cNvCxnSpPr/>
            <p:nvPr/>
          </p:nvCxnSpPr>
          <p:spPr bwMode="auto">
            <a:xfrm flipH="1">
              <a:off x="6592823" y="5257503"/>
              <a:ext cx="447678" cy="183269"/>
            </a:xfrm>
            <a:prstGeom prst="straightConnector1">
              <a:avLst/>
            </a:prstGeom>
            <a:ln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46" name="CuadroTexto 45">
            <a:extLst>
              <a:ext uri="{FF2B5EF4-FFF2-40B4-BE49-F238E27FC236}">
                <a16:creationId xmlns:a16="http://schemas.microsoft.com/office/drawing/2014/main" id="{0304FDFD-1ACB-4C64-B669-D08CB68E9ED3}"/>
              </a:ext>
            </a:extLst>
          </p:cNvPr>
          <p:cNvSpPr txBox="1"/>
          <p:nvPr/>
        </p:nvSpPr>
        <p:spPr>
          <a:xfrm>
            <a:off x="242056" y="2152107"/>
            <a:ext cx="5642011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chemeClr val="bg1">
                    <a:lumMod val="50000"/>
                  </a:schemeClr>
                </a:solidFill>
                <a:highlight>
                  <a:srgbClr val="99FF99"/>
                </a:highlight>
              </a:rPr>
              <a:t>&lt;?</a:t>
            </a:r>
            <a:r>
              <a:rPr lang="es-ES" sz="1400" dirty="0" err="1">
                <a:solidFill>
                  <a:schemeClr val="bg1">
                    <a:lumMod val="50000"/>
                  </a:schemeClr>
                </a:solidFill>
                <a:highlight>
                  <a:srgbClr val="99FF99"/>
                </a:highlight>
              </a:rPr>
              <a:t>xml</a:t>
            </a:r>
            <a:r>
              <a:rPr lang="es-ES" sz="1400" dirty="0">
                <a:solidFill>
                  <a:schemeClr val="bg1">
                    <a:lumMod val="50000"/>
                  </a:schemeClr>
                </a:solidFill>
                <a:highlight>
                  <a:srgbClr val="99FF99"/>
                </a:highlight>
              </a:rPr>
              <a:t> </a:t>
            </a:r>
            <a:r>
              <a:rPr lang="es-ES" sz="1400" dirty="0" err="1">
                <a:solidFill>
                  <a:schemeClr val="bg1">
                    <a:lumMod val="50000"/>
                  </a:schemeClr>
                </a:solidFill>
                <a:highlight>
                  <a:srgbClr val="99FF99"/>
                </a:highlight>
              </a:rPr>
              <a:t>version</a:t>
            </a:r>
            <a:r>
              <a:rPr lang="es-ES" sz="1400" dirty="0">
                <a:solidFill>
                  <a:schemeClr val="bg1">
                    <a:lumMod val="50000"/>
                  </a:schemeClr>
                </a:solidFill>
                <a:highlight>
                  <a:srgbClr val="99FF99"/>
                </a:highlight>
              </a:rPr>
              <a:t>="1.0" ?&gt;</a:t>
            </a:r>
          </a:p>
          <a:p>
            <a:endParaRPr lang="es-ES" sz="1400" dirty="0">
              <a:solidFill>
                <a:srgbClr val="000000"/>
              </a:solidFill>
              <a:highlight>
                <a:srgbClr val="99FF99"/>
              </a:highlight>
            </a:endParaRPr>
          </a:p>
          <a:p>
            <a:r>
              <a:rPr lang="es-ES" sz="1400" dirty="0">
                <a:solidFill>
                  <a:srgbClr val="000000"/>
                </a:solidFill>
                <a:highlight>
                  <a:srgbClr val="99FF99"/>
                </a:highlight>
              </a:rPr>
              <a:t>&lt;</a:t>
            </a:r>
            <a:r>
              <a:rPr lang="es-ES" sz="1400" dirty="0" err="1">
                <a:solidFill>
                  <a:srgbClr val="000000"/>
                </a:solidFill>
                <a:highlight>
                  <a:srgbClr val="99FF99"/>
                </a:highlight>
              </a:rPr>
              <a:t>xs:schema</a:t>
            </a:r>
            <a:r>
              <a:rPr lang="es-ES" sz="1400" dirty="0">
                <a:solidFill>
                  <a:srgbClr val="000000"/>
                </a:solidFill>
                <a:highlight>
                  <a:srgbClr val="99FF99"/>
                </a:highlight>
              </a:rPr>
              <a:t> </a:t>
            </a:r>
            <a:r>
              <a:rPr lang="es-ES" sz="1400" dirty="0" err="1">
                <a:solidFill>
                  <a:srgbClr val="000000"/>
                </a:solidFill>
                <a:highlight>
                  <a:srgbClr val="99FF99"/>
                </a:highlight>
              </a:rPr>
              <a:t>xmlns:xs</a:t>
            </a:r>
            <a:r>
              <a:rPr lang="es-ES" sz="1400" dirty="0">
                <a:solidFill>
                  <a:srgbClr val="000000"/>
                </a:solidFill>
                <a:highlight>
                  <a:srgbClr val="99FF99"/>
                </a:highlight>
              </a:rPr>
              <a:t>="http://www.w3.org/2001/XMLSchema"&gt;</a:t>
            </a:r>
          </a:p>
          <a:p>
            <a:r>
              <a:rPr lang="es-ES" sz="1400" dirty="0">
                <a:solidFill>
                  <a:schemeClr val="accent5">
                    <a:lumMod val="50000"/>
                  </a:schemeClr>
                </a:solidFill>
                <a:highlight>
                  <a:srgbClr val="99FF99"/>
                </a:highlight>
              </a:rPr>
              <a:t>   &lt;</a:t>
            </a:r>
            <a:r>
              <a:rPr lang="es-ES" sz="1400" dirty="0" err="1">
                <a:solidFill>
                  <a:schemeClr val="accent5">
                    <a:lumMod val="50000"/>
                  </a:schemeClr>
                </a:solidFill>
                <a:highlight>
                  <a:srgbClr val="99FF99"/>
                </a:highlight>
              </a:rPr>
              <a:t>xs:element</a:t>
            </a:r>
            <a:r>
              <a:rPr lang="es-ES" sz="1400" dirty="0">
                <a:solidFill>
                  <a:schemeClr val="accent5">
                    <a:lumMod val="50000"/>
                  </a:schemeClr>
                </a:solidFill>
                <a:highlight>
                  <a:srgbClr val="99FF99"/>
                </a:highlight>
              </a:rPr>
              <a:t> </a:t>
            </a:r>
            <a:r>
              <a:rPr lang="es-ES" sz="1400" dirty="0" err="1">
                <a:solidFill>
                  <a:schemeClr val="accent5">
                    <a:lumMod val="50000"/>
                  </a:schemeClr>
                </a:solidFill>
                <a:highlight>
                  <a:srgbClr val="99FF99"/>
                </a:highlight>
              </a:rPr>
              <a:t>name</a:t>
            </a:r>
            <a:r>
              <a:rPr lang="es-ES" sz="1400" dirty="0">
                <a:solidFill>
                  <a:schemeClr val="accent5">
                    <a:lumMod val="50000"/>
                  </a:schemeClr>
                </a:solidFill>
                <a:highlight>
                  <a:srgbClr val="99FF99"/>
                </a:highlight>
              </a:rPr>
              <a:t>="</a:t>
            </a:r>
            <a:r>
              <a:rPr lang="es-ES" sz="1400" dirty="0" err="1">
                <a:solidFill>
                  <a:schemeClr val="accent5">
                    <a:lumMod val="50000"/>
                  </a:schemeClr>
                </a:solidFill>
                <a:highlight>
                  <a:srgbClr val="99FF99"/>
                </a:highlight>
              </a:rPr>
              <a:t>BDAlumnos</a:t>
            </a:r>
            <a:r>
              <a:rPr lang="es-ES" sz="1400" dirty="0">
                <a:solidFill>
                  <a:schemeClr val="accent5">
                    <a:lumMod val="50000"/>
                  </a:schemeClr>
                </a:solidFill>
                <a:highlight>
                  <a:srgbClr val="99FF99"/>
                </a:highlight>
              </a:rPr>
              <a:t>"&gt;</a:t>
            </a:r>
          </a:p>
          <a:p>
            <a:r>
              <a:rPr lang="es-ES" sz="1400" dirty="0">
                <a:solidFill>
                  <a:srgbClr val="00B050"/>
                </a:solidFill>
                <a:highlight>
                  <a:srgbClr val="99FF99"/>
                </a:highlight>
              </a:rPr>
              <a:t>      &lt;</a:t>
            </a:r>
            <a:r>
              <a:rPr lang="es-ES" sz="1400" dirty="0" err="1">
                <a:solidFill>
                  <a:srgbClr val="00B050"/>
                </a:solidFill>
                <a:highlight>
                  <a:srgbClr val="99FF99"/>
                </a:highlight>
              </a:rPr>
              <a:t>xs:complexType</a:t>
            </a:r>
            <a:r>
              <a:rPr lang="es-ES" sz="1400" dirty="0">
                <a:solidFill>
                  <a:srgbClr val="00B050"/>
                </a:solidFill>
                <a:highlight>
                  <a:srgbClr val="99FF99"/>
                </a:highlight>
              </a:rPr>
              <a:t>&gt;</a:t>
            </a:r>
          </a:p>
          <a:p>
            <a:r>
              <a:rPr lang="es-ES" sz="1400" dirty="0">
                <a:solidFill>
                  <a:srgbClr val="FFC000"/>
                </a:solidFill>
                <a:highlight>
                  <a:srgbClr val="99FF99"/>
                </a:highlight>
              </a:rPr>
              <a:t>         &lt;</a:t>
            </a:r>
            <a:r>
              <a:rPr lang="es-ES" sz="1400" dirty="0" err="1">
                <a:solidFill>
                  <a:srgbClr val="FFC000"/>
                </a:solidFill>
                <a:highlight>
                  <a:srgbClr val="99FF99"/>
                </a:highlight>
              </a:rPr>
              <a:t>xs:sequence</a:t>
            </a:r>
            <a:r>
              <a:rPr lang="es-ES" sz="1400" dirty="0">
                <a:solidFill>
                  <a:srgbClr val="FFC000"/>
                </a:solidFill>
                <a:highlight>
                  <a:srgbClr val="99FF99"/>
                </a:highlight>
              </a:rPr>
              <a:t>&gt;</a:t>
            </a:r>
          </a:p>
          <a:p>
            <a:r>
              <a:rPr lang="es-ES" sz="1400" dirty="0">
                <a:solidFill>
                  <a:srgbClr val="FF0000"/>
                </a:solidFill>
                <a:highlight>
                  <a:srgbClr val="99FF99"/>
                </a:highlight>
              </a:rPr>
              <a:t>            &lt;</a:t>
            </a:r>
            <a:r>
              <a:rPr lang="es-ES" sz="1400" dirty="0" err="1">
                <a:solidFill>
                  <a:srgbClr val="FF0000"/>
                </a:solidFill>
                <a:highlight>
                  <a:srgbClr val="99FF99"/>
                </a:highlight>
              </a:rPr>
              <a:t>xs:element</a:t>
            </a:r>
            <a:r>
              <a:rPr lang="es-ES" sz="1400" dirty="0">
                <a:solidFill>
                  <a:srgbClr val="FF0000"/>
                </a:solidFill>
                <a:highlight>
                  <a:srgbClr val="99FF99"/>
                </a:highlight>
              </a:rPr>
              <a:t> </a:t>
            </a:r>
            <a:r>
              <a:rPr lang="es-ES" sz="1400" dirty="0" err="1">
                <a:solidFill>
                  <a:srgbClr val="FF0000"/>
                </a:solidFill>
                <a:highlight>
                  <a:srgbClr val="99FF99"/>
                </a:highlight>
              </a:rPr>
              <a:t>name</a:t>
            </a:r>
            <a:r>
              <a:rPr lang="es-ES" sz="1400" dirty="0">
                <a:solidFill>
                  <a:srgbClr val="FF0000"/>
                </a:solidFill>
                <a:highlight>
                  <a:srgbClr val="99FF99"/>
                </a:highlight>
              </a:rPr>
              <a:t>="alumno" </a:t>
            </a:r>
            <a:r>
              <a:rPr lang="es-ES" sz="1400" dirty="0" err="1">
                <a:solidFill>
                  <a:srgbClr val="FF0000"/>
                </a:solidFill>
                <a:highlight>
                  <a:srgbClr val="99FF99"/>
                </a:highlight>
              </a:rPr>
              <a:t>maxOccurs</a:t>
            </a:r>
            <a:r>
              <a:rPr lang="es-ES" sz="1400" dirty="0">
                <a:solidFill>
                  <a:srgbClr val="FF0000"/>
                </a:solidFill>
                <a:highlight>
                  <a:srgbClr val="99FF99"/>
                </a:highlight>
              </a:rPr>
              <a:t>="</a:t>
            </a:r>
            <a:r>
              <a:rPr lang="es-ES" sz="1400" dirty="0" err="1">
                <a:solidFill>
                  <a:srgbClr val="FF0000"/>
                </a:solidFill>
                <a:highlight>
                  <a:srgbClr val="99FF99"/>
                </a:highlight>
              </a:rPr>
              <a:t>unbounded</a:t>
            </a:r>
            <a:r>
              <a:rPr lang="es-ES" sz="1400" dirty="0">
                <a:solidFill>
                  <a:srgbClr val="FF0000"/>
                </a:solidFill>
                <a:highlight>
                  <a:srgbClr val="99FF99"/>
                </a:highlight>
              </a:rPr>
              <a:t>"&gt;</a:t>
            </a:r>
          </a:p>
          <a:p>
            <a:r>
              <a:rPr lang="es-ES" sz="1400" dirty="0">
                <a:solidFill>
                  <a:srgbClr val="7030A0"/>
                </a:solidFill>
                <a:highlight>
                  <a:srgbClr val="99FF99"/>
                </a:highlight>
              </a:rPr>
              <a:t>               &lt;</a:t>
            </a:r>
            <a:r>
              <a:rPr lang="es-ES" sz="1400" dirty="0" err="1">
                <a:solidFill>
                  <a:srgbClr val="7030A0"/>
                </a:solidFill>
                <a:highlight>
                  <a:srgbClr val="99FF99"/>
                </a:highlight>
              </a:rPr>
              <a:t>xs:complexType</a:t>
            </a:r>
            <a:r>
              <a:rPr lang="es-ES" sz="1400" dirty="0">
                <a:solidFill>
                  <a:srgbClr val="7030A0"/>
                </a:solidFill>
                <a:highlight>
                  <a:srgbClr val="99FF99"/>
                </a:highlight>
              </a:rPr>
              <a:t>&gt;</a:t>
            </a:r>
          </a:p>
          <a:p>
            <a:r>
              <a:rPr lang="es-ES" sz="1400" dirty="0">
                <a:solidFill>
                  <a:srgbClr val="92D050"/>
                </a:solidFill>
                <a:highlight>
                  <a:srgbClr val="99FF99"/>
                </a:highlight>
              </a:rPr>
              <a:t>                  &lt;</a:t>
            </a:r>
            <a:r>
              <a:rPr lang="es-ES" sz="1400" dirty="0" err="1">
                <a:solidFill>
                  <a:srgbClr val="92D050"/>
                </a:solidFill>
                <a:highlight>
                  <a:srgbClr val="99FF99"/>
                </a:highlight>
              </a:rPr>
              <a:t>xs:sequence</a:t>
            </a:r>
            <a:r>
              <a:rPr lang="es-ES" sz="1400" dirty="0">
                <a:solidFill>
                  <a:srgbClr val="92D050"/>
                </a:solidFill>
                <a:highlight>
                  <a:srgbClr val="99FF99"/>
                </a:highlight>
              </a:rPr>
              <a:t>&gt;</a:t>
            </a:r>
          </a:p>
          <a:p>
            <a:r>
              <a:rPr lang="es-ES" sz="1400" dirty="0">
                <a:solidFill>
                  <a:srgbClr val="00B0F0"/>
                </a:solidFill>
                <a:highlight>
                  <a:srgbClr val="99FF99"/>
                </a:highlight>
              </a:rPr>
              <a:t>                      &lt;</a:t>
            </a:r>
            <a:r>
              <a:rPr lang="es-ES" sz="1400" dirty="0" err="1">
                <a:solidFill>
                  <a:srgbClr val="00B0F0"/>
                </a:solidFill>
                <a:highlight>
                  <a:srgbClr val="99FF99"/>
                </a:highlight>
              </a:rPr>
              <a:t>xs:element</a:t>
            </a:r>
            <a:r>
              <a:rPr lang="es-ES" sz="1400" dirty="0">
                <a:solidFill>
                  <a:srgbClr val="00B0F0"/>
                </a:solidFill>
                <a:highlight>
                  <a:srgbClr val="99FF99"/>
                </a:highlight>
              </a:rPr>
              <a:t> </a:t>
            </a:r>
            <a:r>
              <a:rPr lang="es-ES" sz="1400" dirty="0" err="1">
                <a:solidFill>
                  <a:srgbClr val="00B0F0"/>
                </a:solidFill>
                <a:highlight>
                  <a:srgbClr val="99FF99"/>
                </a:highlight>
              </a:rPr>
              <a:t>name</a:t>
            </a:r>
            <a:r>
              <a:rPr lang="es-ES" sz="1400" dirty="0">
                <a:solidFill>
                  <a:srgbClr val="00B0F0"/>
                </a:solidFill>
                <a:highlight>
                  <a:srgbClr val="99FF99"/>
                </a:highlight>
              </a:rPr>
              <a:t>="matricula" </a:t>
            </a:r>
            <a:r>
              <a:rPr lang="es-ES" sz="1400" dirty="0" err="1">
                <a:solidFill>
                  <a:srgbClr val="00B0F0"/>
                </a:solidFill>
                <a:highlight>
                  <a:srgbClr val="99FF99"/>
                </a:highlight>
              </a:rPr>
              <a:t>type</a:t>
            </a:r>
            <a:r>
              <a:rPr lang="es-ES" sz="1400" dirty="0">
                <a:solidFill>
                  <a:srgbClr val="00B0F0"/>
                </a:solidFill>
                <a:highlight>
                  <a:srgbClr val="99FF99"/>
                </a:highlight>
              </a:rPr>
              <a:t>="</a:t>
            </a:r>
            <a:r>
              <a:rPr lang="es-ES" sz="1400" dirty="0" err="1">
                <a:solidFill>
                  <a:srgbClr val="00B0F0"/>
                </a:solidFill>
                <a:highlight>
                  <a:srgbClr val="99FF99"/>
                </a:highlight>
              </a:rPr>
              <a:t>xs:string</a:t>
            </a:r>
            <a:r>
              <a:rPr lang="es-ES" sz="1400" dirty="0">
                <a:solidFill>
                  <a:srgbClr val="00B0F0"/>
                </a:solidFill>
                <a:highlight>
                  <a:srgbClr val="99FF99"/>
                </a:highlight>
              </a:rPr>
              <a:t>"/&gt;</a:t>
            </a:r>
          </a:p>
          <a:p>
            <a:r>
              <a:rPr lang="es-ES" sz="1400" dirty="0">
                <a:solidFill>
                  <a:srgbClr val="00B0F0"/>
                </a:solidFill>
                <a:highlight>
                  <a:srgbClr val="99FF99"/>
                </a:highlight>
              </a:rPr>
              <a:t>                      &lt;</a:t>
            </a:r>
            <a:r>
              <a:rPr lang="es-ES" sz="1400" dirty="0" err="1">
                <a:solidFill>
                  <a:srgbClr val="00B0F0"/>
                </a:solidFill>
                <a:highlight>
                  <a:srgbClr val="99FF99"/>
                </a:highlight>
              </a:rPr>
              <a:t>xs:element</a:t>
            </a:r>
            <a:r>
              <a:rPr lang="es-ES" sz="1400" dirty="0">
                <a:solidFill>
                  <a:srgbClr val="00B0F0"/>
                </a:solidFill>
                <a:highlight>
                  <a:srgbClr val="99FF99"/>
                </a:highlight>
              </a:rPr>
              <a:t> </a:t>
            </a:r>
            <a:r>
              <a:rPr lang="es-ES" sz="1400" dirty="0" err="1">
                <a:solidFill>
                  <a:srgbClr val="00B0F0"/>
                </a:solidFill>
                <a:highlight>
                  <a:srgbClr val="99FF99"/>
                </a:highlight>
              </a:rPr>
              <a:t>name</a:t>
            </a:r>
            <a:r>
              <a:rPr lang="es-ES" sz="1400" dirty="0">
                <a:solidFill>
                  <a:srgbClr val="00B0F0"/>
                </a:solidFill>
                <a:highlight>
                  <a:srgbClr val="99FF99"/>
                </a:highlight>
              </a:rPr>
              <a:t>="nombre" </a:t>
            </a:r>
            <a:r>
              <a:rPr lang="es-ES" sz="1400" dirty="0" err="1">
                <a:solidFill>
                  <a:srgbClr val="00B0F0"/>
                </a:solidFill>
                <a:highlight>
                  <a:srgbClr val="99FF99"/>
                </a:highlight>
              </a:rPr>
              <a:t>type</a:t>
            </a:r>
            <a:r>
              <a:rPr lang="es-ES" sz="1400" dirty="0">
                <a:solidFill>
                  <a:srgbClr val="00B0F0"/>
                </a:solidFill>
                <a:highlight>
                  <a:srgbClr val="99FF99"/>
                </a:highlight>
              </a:rPr>
              <a:t>="</a:t>
            </a:r>
            <a:r>
              <a:rPr lang="es-ES" sz="1400" dirty="0" err="1">
                <a:solidFill>
                  <a:srgbClr val="00B0F0"/>
                </a:solidFill>
                <a:highlight>
                  <a:srgbClr val="99FF99"/>
                </a:highlight>
              </a:rPr>
              <a:t>xs:string</a:t>
            </a:r>
            <a:r>
              <a:rPr lang="es-ES" sz="1400" dirty="0">
                <a:solidFill>
                  <a:srgbClr val="00B0F0"/>
                </a:solidFill>
                <a:highlight>
                  <a:srgbClr val="99FF99"/>
                </a:highlight>
              </a:rPr>
              <a:t>"/&gt;</a:t>
            </a:r>
          </a:p>
          <a:p>
            <a:r>
              <a:rPr lang="es-ES" sz="1400" dirty="0">
                <a:solidFill>
                  <a:srgbClr val="00B0F0"/>
                </a:solidFill>
                <a:highlight>
                  <a:srgbClr val="99FF99"/>
                </a:highlight>
              </a:rPr>
              <a:t>                      &lt;</a:t>
            </a:r>
            <a:r>
              <a:rPr lang="es-ES" sz="1400" dirty="0" err="1">
                <a:solidFill>
                  <a:srgbClr val="00B0F0"/>
                </a:solidFill>
                <a:highlight>
                  <a:srgbClr val="99FF99"/>
                </a:highlight>
              </a:rPr>
              <a:t>xs:element</a:t>
            </a:r>
            <a:r>
              <a:rPr lang="es-ES" sz="1400" dirty="0">
                <a:solidFill>
                  <a:srgbClr val="00B0F0"/>
                </a:solidFill>
                <a:highlight>
                  <a:srgbClr val="99FF99"/>
                </a:highlight>
              </a:rPr>
              <a:t> </a:t>
            </a:r>
            <a:r>
              <a:rPr lang="es-ES" sz="1400" dirty="0" err="1">
                <a:solidFill>
                  <a:srgbClr val="00B0F0"/>
                </a:solidFill>
                <a:highlight>
                  <a:srgbClr val="99FF99"/>
                </a:highlight>
              </a:rPr>
              <a:t>name</a:t>
            </a:r>
            <a:r>
              <a:rPr lang="es-ES" sz="1400" dirty="0">
                <a:solidFill>
                  <a:srgbClr val="00B0F0"/>
                </a:solidFill>
                <a:highlight>
                  <a:srgbClr val="99FF99"/>
                </a:highlight>
              </a:rPr>
              <a:t>="</a:t>
            </a:r>
            <a:r>
              <a:rPr lang="es-ES" sz="1400" dirty="0" err="1">
                <a:solidFill>
                  <a:srgbClr val="00B0F0"/>
                </a:solidFill>
                <a:highlight>
                  <a:srgbClr val="99FF99"/>
                </a:highlight>
              </a:rPr>
              <a:t>movil</a:t>
            </a:r>
            <a:r>
              <a:rPr lang="es-ES" sz="1400" dirty="0">
                <a:solidFill>
                  <a:srgbClr val="00B0F0"/>
                </a:solidFill>
                <a:highlight>
                  <a:srgbClr val="99FF99"/>
                </a:highlight>
              </a:rPr>
              <a:t>" </a:t>
            </a:r>
            <a:r>
              <a:rPr lang="es-ES" sz="1400" dirty="0" err="1">
                <a:solidFill>
                  <a:srgbClr val="00B0F0"/>
                </a:solidFill>
                <a:highlight>
                  <a:srgbClr val="99FF99"/>
                </a:highlight>
              </a:rPr>
              <a:t>type</a:t>
            </a:r>
            <a:r>
              <a:rPr lang="es-ES" sz="1400" dirty="0">
                <a:solidFill>
                  <a:srgbClr val="00B0F0"/>
                </a:solidFill>
                <a:highlight>
                  <a:srgbClr val="99FF99"/>
                </a:highlight>
              </a:rPr>
              <a:t>="</a:t>
            </a:r>
            <a:r>
              <a:rPr lang="es-ES" sz="1400" dirty="0" err="1">
                <a:solidFill>
                  <a:srgbClr val="00B0F0"/>
                </a:solidFill>
                <a:highlight>
                  <a:srgbClr val="99FF99"/>
                </a:highlight>
              </a:rPr>
              <a:t>xs:string</a:t>
            </a:r>
            <a:r>
              <a:rPr lang="es-ES" sz="1400" dirty="0">
                <a:solidFill>
                  <a:srgbClr val="00B0F0"/>
                </a:solidFill>
                <a:highlight>
                  <a:srgbClr val="99FF99"/>
                </a:highlight>
              </a:rPr>
              <a:t>"/&gt;</a:t>
            </a:r>
          </a:p>
          <a:p>
            <a:r>
              <a:rPr lang="es-ES" sz="1400" dirty="0">
                <a:solidFill>
                  <a:srgbClr val="92D050"/>
                </a:solidFill>
                <a:highlight>
                  <a:srgbClr val="99FF99"/>
                </a:highlight>
              </a:rPr>
              <a:t>                  &lt;/</a:t>
            </a:r>
            <a:r>
              <a:rPr lang="es-ES" sz="1400" dirty="0" err="1">
                <a:solidFill>
                  <a:srgbClr val="92D050"/>
                </a:solidFill>
                <a:highlight>
                  <a:srgbClr val="99FF99"/>
                </a:highlight>
              </a:rPr>
              <a:t>xs:sequence</a:t>
            </a:r>
            <a:r>
              <a:rPr lang="es-ES" sz="1400" dirty="0">
                <a:solidFill>
                  <a:srgbClr val="92D050"/>
                </a:solidFill>
                <a:highlight>
                  <a:srgbClr val="99FF99"/>
                </a:highlight>
              </a:rPr>
              <a:t>&gt;</a:t>
            </a:r>
          </a:p>
          <a:p>
            <a:r>
              <a:rPr lang="es-ES" sz="1400" dirty="0">
                <a:solidFill>
                  <a:srgbClr val="7030A0"/>
                </a:solidFill>
                <a:highlight>
                  <a:srgbClr val="99FF99"/>
                </a:highlight>
              </a:rPr>
              <a:t>                &lt;/</a:t>
            </a:r>
            <a:r>
              <a:rPr lang="es-ES" sz="1400" dirty="0" err="1">
                <a:solidFill>
                  <a:srgbClr val="7030A0"/>
                </a:solidFill>
                <a:highlight>
                  <a:srgbClr val="99FF99"/>
                </a:highlight>
              </a:rPr>
              <a:t>xs:complexType</a:t>
            </a:r>
            <a:r>
              <a:rPr lang="es-ES" sz="1400" dirty="0">
                <a:solidFill>
                  <a:srgbClr val="7030A0"/>
                </a:solidFill>
                <a:highlight>
                  <a:srgbClr val="99FF99"/>
                </a:highlight>
              </a:rPr>
              <a:t>&gt;</a:t>
            </a:r>
          </a:p>
          <a:p>
            <a:r>
              <a:rPr lang="es-ES" sz="1400" dirty="0">
                <a:solidFill>
                  <a:srgbClr val="FF0000"/>
                </a:solidFill>
                <a:highlight>
                  <a:srgbClr val="99FF99"/>
                </a:highlight>
              </a:rPr>
              <a:t>             &lt;/</a:t>
            </a:r>
            <a:r>
              <a:rPr lang="es-ES" sz="1400" dirty="0" err="1">
                <a:solidFill>
                  <a:srgbClr val="FF0000"/>
                </a:solidFill>
                <a:highlight>
                  <a:srgbClr val="99FF99"/>
                </a:highlight>
              </a:rPr>
              <a:t>xs:element</a:t>
            </a:r>
            <a:r>
              <a:rPr lang="es-ES" sz="1400" dirty="0">
                <a:solidFill>
                  <a:srgbClr val="FF0000"/>
                </a:solidFill>
                <a:highlight>
                  <a:srgbClr val="99FF99"/>
                </a:highlight>
              </a:rPr>
              <a:t>&gt;</a:t>
            </a:r>
          </a:p>
          <a:p>
            <a:r>
              <a:rPr lang="es-ES" sz="1400" dirty="0">
                <a:solidFill>
                  <a:srgbClr val="FFC000"/>
                </a:solidFill>
                <a:highlight>
                  <a:srgbClr val="99FF99"/>
                </a:highlight>
              </a:rPr>
              <a:t>          &lt;/</a:t>
            </a:r>
            <a:r>
              <a:rPr lang="es-ES" sz="1400" dirty="0" err="1">
                <a:solidFill>
                  <a:srgbClr val="FFC000"/>
                </a:solidFill>
                <a:highlight>
                  <a:srgbClr val="99FF99"/>
                </a:highlight>
              </a:rPr>
              <a:t>xs:sequence</a:t>
            </a:r>
            <a:r>
              <a:rPr lang="es-ES" sz="1400" dirty="0">
                <a:solidFill>
                  <a:srgbClr val="FFC000"/>
                </a:solidFill>
                <a:highlight>
                  <a:srgbClr val="99FF99"/>
                </a:highlight>
              </a:rPr>
              <a:t>&gt;</a:t>
            </a:r>
          </a:p>
          <a:p>
            <a:r>
              <a:rPr lang="es-ES" sz="1400" dirty="0">
                <a:solidFill>
                  <a:srgbClr val="00B050"/>
                </a:solidFill>
                <a:highlight>
                  <a:srgbClr val="99FF99"/>
                </a:highlight>
              </a:rPr>
              <a:t>       &lt;/</a:t>
            </a:r>
            <a:r>
              <a:rPr lang="es-ES" sz="1400" dirty="0" err="1">
                <a:solidFill>
                  <a:srgbClr val="00B050"/>
                </a:solidFill>
                <a:highlight>
                  <a:srgbClr val="99FF99"/>
                </a:highlight>
              </a:rPr>
              <a:t>xs:complexType</a:t>
            </a:r>
            <a:r>
              <a:rPr lang="es-ES" sz="1400" dirty="0">
                <a:solidFill>
                  <a:srgbClr val="00B050"/>
                </a:solidFill>
                <a:highlight>
                  <a:srgbClr val="99FF99"/>
                </a:highlight>
              </a:rPr>
              <a:t>&gt;</a:t>
            </a:r>
          </a:p>
          <a:p>
            <a:r>
              <a:rPr lang="es-ES" sz="1400" dirty="0">
                <a:solidFill>
                  <a:schemeClr val="accent5">
                    <a:lumMod val="50000"/>
                  </a:schemeClr>
                </a:solidFill>
                <a:highlight>
                  <a:srgbClr val="99FF99"/>
                </a:highlight>
              </a:rPr>
              <a:t>    &lt;/</a:t>
            </a:r>
            <a:r>
              <a:rPr lang="es-ES" sz="1400" dirty="0" err="1">
                <a:solidFill>
                  <a:schemeClr val="accent5">
                    <a:lumMod val="50000"/>
                  </a:schemeClr>
                </a:solidFill>
                <a:highlight>
                  <a:srgbClr val="99FF99"/>
                </a:highlight>
              </a:rPr>
              <a:t>xs:element</a:t>
            </a:r>
            <a:r>
              <a:rPr lang="es-ES" sz="1400" dirty="0">
                <a:solidFill>
                  <a:schemeClr val="accent5">
                    <a:lumMod val="50000"/>
                  </a:schemeClr>
                </a:solidFill>
                <a:highlight>
                  <a:srgbClr val="99FF99"/>
                </a:highlight>
              </a:rPr>
              <a:t>&gt;</a:t>
            </a:r>
          </a:p>
          <a:p>
            <a:r>
              <a:rPr lang="es-ES" sz="1400" dirty="0">
                <a:solidFill>
                  <a:srgbClr val="000000"/>
                </a:solidFill>
                <a:highlight>
                  <a:srgbClr val="99FF99"/>
                </a:highlight>
              </a:rPr>
              <a:t>&lt;/</a:t>
            </a:r>
            <a:r>
              <a:rPr lang="es-ES" sz="1400" dirty="0" err="1">
                <a:solidFill>
                  <a:srgbClr val="000000"/>
                </a:solidFill>
                <a:highlight>
                  <a:srgbClr val="99FF99"/>
                </a:highlight>
              </a:rPr>
              <a:t>xs:schema</a:t>
            </a:r>
            <a:r>
              <a:rPr lang="es-ES" sz="1400" dirty="0">
                <a:solidFill>
                  <a:srgbClr val="000000"/>
                </a:solidFill>
                <a:highlight>
                  <a:srgbClr val="99FF99"/>
                </a:highlight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97044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24 Esquina doblada"/>
          <p:cNvSpPr/>
          <p:nvPr/>
        </p:nvSpPr>
        <p:spPr bwMode="auto">
          <a:xfrm>
            <a:off x="594434" y="1664843"/>
            <a:ext cx="5832647" cy="4907490"/>
          </a:xfrm>
          <a:prstGeom prst="foldedCorner">
            <a:avLst/>
          </a:prstGeom>
          <a:solidFill>
            <a:srgbClr val="FFFFCC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1172285" y="2778005"/>
            <a:ext cx="5980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err="1">
                <a:solidFill>
                  <a:srgbClr val="FF9900"/>
                </a:solidFill>
              </a:rPr>
              <a:t>xsi:schemaLocation</a:t>
            </a:r>
            <a:r>
              <a:rPr lang="es-ES" sz="1400" dirty="0">
                <a:solidFill>
                  <a:srgbClr val="FF9900"/>
                </a:solidFill>
              </a:rPr>
              <a:t>="http://www.ini.com/alumnos.xsd"</a:t>
            </a:r>
          </a:p>
        </p:txBody>
      </p:sp>
      <p:sp>
        <p:nvSpPr>
          <p:cNvPr id="36" name="CuadroTexto 35"/>
          <p:cNvSpPr txBox="1"/>
          <p:nvPr/>
        </p:nvSpPr>
        <p:spPr>
          <a:xfrm>
            <a:off x="945576" y="1889216"/>
            <a:ext cx="488944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 dirty="0">
                <a:solidFill>
                  <a:schemeClr val="bg2">
                    <a:lumMod val="50000"/>
                  </a:schemeClr>
                </a:solidFill>
              </a:rPr>
              <a:t>&lt;?</a:t>
            </a:r>
            <a:r>
              <a:rPr lang="es-ES" sz="1300" dirty="0" err="1">
                <a:solidFill>
                  <a:schemeClr val="bg2">
                    <a:lumMod val="50000"/>
                  </a:schemeClr>
                </a:solidFill>
              </a:rPr>
              <a:t>xml</a:t>
            </a:r>
            <a:r>
              <a:rPr lang="es-ES" sz="13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s-ES" sz="1300" dirty="0" err="1">
                <a:solidFill>
                  <a:schemeClr val="bg2">
                    <a:lumMod val="50000"/>
                  </a:schemeClr>
                </a:solidFill>
              </a:rPr>
              <a:t>version</a:t>
            </a:r>
            <a:r>
              <a:rPr lang="es-ES" sz="1300" dirty="0">
                <a:solidFill>
                  <a:schemeClr val="bg2">
                    <a:lumMod val="50000"/>
                  </a:schemeClr>
                </a:solidFill>
              </a:rPr>
              <a:t>= "1.0" </a:t>
            </a:r>
            <a:r>
              <a:rPr lang="es-ES" sz="1300" dirty="0" err="1">
                <a:solidFill>
                  <a:schemeClr val="bg2">
                    <a:lumMod val="50000"/>
                  </a:schemeClr>
                </a:solidFill>
              </a:rPr>
              <a:t>encoding</a:t>
            </a:r>
            <a:r>
              <a:rPr lang="es-ES" sz="1300" dirty="0">
                <a:solidFill>
                  <a:schemeClr val="bg2">
                    <a:lumMod val="50000"/>
                  </a:schemeClr>
                </a:solidFill>
              </a:rPr>
              <a:t>="ISO-8859-1"?&gt;</a:t>
            </a:r>
            <a:endParaRPr lang="es-ES" sz="13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29156" y="45760"/>
            <a:ext cx="7392988" cy="563563"/>
          </a:xfrm>
        </p:spPr>
        <p:txBody>
          <a:bodyPr/>
          <a:lstStyle/>
          <a:p>
            <a:r>
              <a:rPr lang="en-US" dirty="0" err="1"/>
              <a:t>Hacer</a:t>
            </a:r>
            <a:r>
              <a:rPr lang="en-US" dirty="0"/>
              <a:t> </a:t>
            </a:r>
            <a:r>
              <a:rPr lang="en-US" dirty="0" err="1"/>
              <a:t>referencia</a:t>
            </a:r>
            <a:r>
              <a:rPr lang="en-US" dirty="0"/>
              <a:t> </a:t>
            </a:r>
            <a:r>
              <a:rPr lang="en-US" dirty="0" err="1"/>
              <a:t>desde</a:t>
            </a:r>
            <a:r>
              <a:rPr lang="en-US" dirty="0"/>
              <a:t> XML al XSD</a:t>
            </a:r>
            <a:endParaRPr lang="en-US" sz="1400" dirty="0"/>
          </a:p>
        </p:txBody>
      </p:sp>
      <p:grpSp>
        <p:nvGrpSpPr>
          <p:cNvPr id="37" name="Grupo 36"/>
          <p:cNvGrpSpPr/>
          <p:nvPr/>
        </p:nvGrpSpPr>
        <p:grpSpPr>
          <a:xfrm>
            <a:off x="6771126" y="1947366"/>
            <a:ext cx="1882115" cy="2239697"/>
            <a:chOff x="118702" y="2395860"/>
            <a:chExt cx="4896544" cy="2820404"/>
          </a:xfrm>
        </p:grpSpPr>
        <p:sp>
          <p:nvSpPr>
            <p:cNvPr id="38" name="24 Esquina doblada"/>
            <p:cNvSpPr/>
            <p:nvPr/>
          </p:nvSpPr>
          <p:spPr bwMode="auto">
            <a:xfrm>
              <a:off x="781909" y="2395860"/>
              <a:ext cx="3570135" cy="2266954"/>
            </a:xfrm>
            <a:prstGeom prst="foldedCorner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_tradnl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9" name="CuadroTexto 38"/>
            <p:cNvSpPr txBox="1"/>
            <p:nvPr/>
          </p:nvSpPr>
          <p:spPr>
            <a:xfrm>
              <a:off x="118702" y="4789930"/>
              <a:ext cx="4896544" cy="4263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b="1" dirty="0">
                  <a:solidFill>
                    <a:srgbClr val="000000"/>
                  </a:solidFill>
                </a:rPr>
                <a:t>alumnos.xsd</a:t>
              </a:r>
            </a:p>
          </p:txBody>
        </p:sp>
      </p:grpSp>
      <p:sp>
        <p:nvSpPr>
          <p:cNvPr id="42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971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4" name="CuadroTexto 43"/>
          <p:cNvSpPr txBox="1"/>
          <p:nvPr/>
        </p:nvSpPr>
        <p:spPr>
          <a:xfrm>
            <a:off x="1926272" y="6498700"/>
            <a:ext cx="26820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rgbClr val="000000"/>
                </a:solidFill>
              </a:rPr>
              <a:t>alumnos.xml</a:t>
            </a:r>
          </a:p>
        </p:txBody>
      </p:sp>
      <p:sp>
        <p:nvSpPr>
          <p:cNvPr id="45" name="CuadroTexto 44"/>
          <p:cNvSpPr txBox="1"/>
          <p:nvPr/>
        </p:nvSpPr>
        <p:spPr>
          <a:xfrm>
            <a:off x="938481" y="3305055"/>
            <a:ext cx="433480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&lt;alumno&gt;</a:t>
            </a:r>
          </a:p>
          <a:p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     &lt;matricula&gt;</a:t>
            </a:r>
            <a:r>
              <a:rPr lang="es-ES" sz="1400" dirty="0">
                <a:solidFill>
                  <a:srgbClr val="FF0000"/>
                </a:solidFill>
              </a:rPr>
              <a:t>0001</a:t>
            </a:r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&lt;/matricula&gt;</a:t>
            </a:r>
          </a:p>
          <a:p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     &lt;nombre&gt;</a:t>
            </a:r>
            <a:r>
              <a:rPr lang="es-ES" sz="1400" dirty="0">
                <a:solidFill>
                  <a:srgbClr val="FF0000"/>
                </a:solidFill>
              </a:rPr>
              <a:t>Ramón López</a:t>
            </a:r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&lt;/nombre&gt;</a:t>
            </a:r>
          </a:p>
          <a:p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     &lt;</a:t>
            </a:r>
            <a:r>
              <a:rPr lang="es-ES" sz="14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movil</a:t>
            </a:r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&gt;</a:t>
            </a:r>
            <a:r>
              <a:rPr lang="es-ES" sz="1400" dirty="0">
                <a:solidFill>
                  <a:srgbClr val="FF0000"/>
                </a:solidFill>
              </a:rPr>
              <a:t>666 555 444</a:t>
            </a:r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</a:t>
            </a:r>
            <a:r>
              <a:rPr lang="es-ES" sz="14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movil</a:t>
            </a:r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&gt;</a:t>
            </a:r>
          </a:p>
          <a:p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&lt;/alumno&gt;</a:t>
            </a:r>
          </a:p>
          <a:p>
            <a:endParaRPr lang="es-ES" sz="1400" dirty="0"/>
          </a:p>
          <a:p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 &lt;alumno&gt;</a:t>
            </a:r>
          </a:p>
          <a:p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     &lt;matricula&gt;</a:t>
            </a:r>
            <a:r>
              <a:rPr lang="es-ES" sz="1400" dirty="0">
                <a:solidFill>
                  <a:srgbClr val="FF0000"/>
                </a:solidFill>
              </a:rPr>
              <a:t>0002</a:t>
            </a:r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&lt;/matricula&gt;</a:t>
            </a:r>
          </a:p>
          <a:p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     &lt;nombre&gt;</a:t>
            </a:r>
            <a:r>
              <a:rPr lang="es-ES" sz="1400" dirty="0">
                <a:solidFill>
                  <a:srgbClr val="FF0000"/>
                </a:solidFill>
              </a:rPr>
              <a:t>María Ruiz</a:t>
            </a:r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&lt;/nombre&gt;</a:t>
            </a:r>
          </a:p>
          <a:p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     &lt;</a:t>
            </a:r>
            <a:r>
              <a:rPr lang="es-ES" sz="14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movil</a:t>
            </a:r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&gt;</a:t>
            </a:r>
            <a:r>
              <a:rPr lang="es-ES" sz="1400" dirty="0">
                <a:solidFill>
                  <a:srgbClr val="FF0000"/>
                </a:solidFill>
              </a:rPr>
              <a:t>677 123 456</a:t>
            </a:r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</a:t>
            </a:r>
            <a:r>
              <a:rPr lang="es-ES" sz="14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movil</a:t>
            </a:r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&gt;</a:t>
            </a:r>
          </a:p>
          <a:p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&lt;/alumno&gt;</a:t>
            </a:r>
          </a:p>
          <a:p>
            <a:endParaRPr lang="es-ES" sz="1400" dirty="0"/>
          </a:p>
          <a:p>
            <a:endParaRPr lang="es-ES" sz="14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</a:t>
            </a:r>
            <a:r>
              <a:rPr lang="es-ES" sz="14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BDAlumnos</a:t>
            </a:r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&gt;</a:t>
            </a:r>
          </a:p>
        </p:txBody>
      </p:sp>
      <p:sp>
        <p:nvSpPr>
          <p:cNvPr id="48" name="CuadroTexto 47"/>
          <p:cNvSpPr txBox="1"/>
          <p:nvPr/>
        </p:nvSpPr>
        <p:spPr>
          <a:xfrm>
            <a:off x="938482" y="2349748"/>
            <a:ext cx="5632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</a:t>
            </a:r>
            <a:r>
              <a:rPr lang="es-ES" sz="14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BDAlumnos</a:t>
            </a:r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 </a:t>
            </a:r>
            <a:r>
              <a:rPr lang="es-ES" sz="1400" dirty="0" err="1">
                <a:solidFill>
                  <a:srgbClr val="00B050"/>
                </a:solidFill>
              </a:rPr>
              <a:t>xmlns:xsi</a:t>
            </a:r>
            <a:r>
              <a:rPr lang="es-ES" sz="1400" dirty="0">
                <a:solidFill>
                  <a:srgbClr val="00B050"/>
                </a:solidFill>
              </a:rPr>
              <a:t>="http://www.w3.org/2001/XMLSchema-instance"</a:t>
            </a:r>
          </a:p>
          <a:p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                                                                                             &gt;</a:t>
            </a:r>
          </a:p>
        </p:txBody>
      </p:sp>
      <p:sp>
        <p:nvSpPr>
          <p:cNvPr id="49" name="CuadroTexto 48"/>
          <p:cNvSpPr txBox="1"/>
          <p:nvPr/>
        </p:nvSpPr>
        <p:spPr>
          <a:xfrm>
            <a:off x="1173173" y="2778718"/>
            <a:ext cx="51098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err="1">
                <a:solidFill>
                  <a:srgbClr val="00B050"/>
                </a:solidFill>
              </a:rPr>
              <a:t>xsi:noNamespaceSchemaLocation</a:t>
            </a:r>
            <a:r>
              <a:rPr lang="es-ES" sz="1400" dirty="0">
                <a:solidFill>
                  <a:srgbClr val="00B050"/>
                </a:solidFill>
              </a:rPr>
              <a:t>="alumnos.xsd"</a:t>
            </a:r>
          </a:p>
        </p:txBody>
      </p:sp>
      <p:sp>
        <p:nvSpPr>
          <p:cNvPr id="47" name="CuadroTexto 46"/>
          <p:cNvSpPr txBox="1"/>
          <p:nvPr/>
        </p:nvSpPr>
        <p:spPr>
          <a:xfrm>
            <a:off x="939164" y="2348579"/>
            <a:ext cx="13924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</a:t>
            </a:r>
            <a:r>
              <a:rPr lang="es-ES" sz="14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BDAlumnos</a:t>
            </a:r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&gt;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931" y="4378005"/>
            <a:ext cx="1373817" cy="1870377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616" y="4491047"/>
            <a:ext cx="1637378" cy="1637378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90EBC000-CE9E-4F27-B7C4-660616ABB5A9}"/>
              </a:ext>
            </a:extLst>
          </p:cNvPr>
          <p:cNvSpPr/>
          <p:nvPr/>
        </p:nvSpPr>
        <p:spPr>
          <a:xfrm>
            <a:off x="1475656" y="773021"/>
            <a:ext cx="583264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s-ES" sz="1600" dirty="0">
                <a:solidFill>
                  <a:srgbClr val="000000"/>
                </a:solidFill>
              </a:rPr>
              <a:t>Para indicar que un archivo XML sigue las</a:t>
            </a:r>
          </a:p>
          <a:p>
            <a:pPr algn="ctr">
              <a:spcAft>
                <a:spcPts val="0"/>
              </a:spcAft>
            </a:pPr>
            <a:r>
              <a:rPr lang="es-ES" sz="1600" dirty="0">
                <a:solidFill>
                  <a:srgbClr val="000000"/>
                </a:solidFill>
              </a:rPr>
              <a:t>normas establecidas en un determinado XSD, se incluye una propiedad en el elemento raíz</a:t>
            </a:r>
          </a:p>
        </p:txBody>
      </p:sp>
    </p:spTree>
    <p:extLst>
      <p:ext uri="{BB962C8B-B14F-4D97-AF65-F5344CB8AC3E}">
        <p14:creationId xmlns:p14="http://schemas.microsoft.com/office/powerpoint/2010/main" val="2728850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48" grpId="0"/>
      <p:bldP spid="49" grpId="0"/>
      <p:bldP spid="49" grpId="1"/>
      <p:bldP spid="4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24 Esquina doblada"/>
          <p:cNvSpPr/>
          <p:nvPr/>
        </p:nvSpPr>
        <p:spPr bwMode="auto">
          <a:xfrm>
            <a:off x="539552" y="2259073"/>
            <a:ext cx="7900654" cy="3065123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31194" y="1137245"/>
            <a:ext cx="7392988" cy="563563"/>
          </a:xfrm>
        </p:spPr>
        <p:txBody>
          <a:bodyPr/>
          <a:lstStyle/>
          <a:p>
            <a:r>
              <a:rPr lang="en-US" dirty="0" err="1">
                <a:solidFill>
                  <a:schemeClr val="accent4"/>
                </a:solidFill>
              </a:rPr>
              <a:t>Realización</a:t>
            </a:r>
            <a:r>
              <a:rPr lang="en-US" dirty="0">
                <a:solidFill>
                  <a:schemeClr val="accent4"/>
                </a:solidFill>
              </a:rPr>
              <a:t> de un Schema</a:t>
            </a:r>
            <a:br>
              <a:rPr lang="en-US" dirty="0">
                <a:solidFill>
                  <a:schemeClr val="accent4"/>
                </a:solidFill>
              </a:rPr>
            </a:br>
            <a:r>
              <a:rPr lang="en-US" dirty="0" err="1">
                <a:solidFill>
                  <a:schemeClr val="accent4"/>
                </a:solidFill>
              </a:rPr>
              <a:t>desde</a:t>
            </a:r>
            <a:r>
              <a:rPr lang="en-US" dirty="0">
                <a:solidFill>
                  <a:schemeClr val="accent4"/>
                </a:solidFill>
              </a:rPr>
              <a:t> XML Copy Editor</a:t>
            </a:r>
            <a:endParaRPr lang="en-US" sz="1400" dirty="0">
              <a:solidFill>
                <a:schemeClr val="accent4"/>
              </a:solidFill>
            </a:endParaRPr>
          </a:p>
        </p:txBody>
      </p:sp>
      <p:sp>
        <p:nvSpPr>
          <p:cNvPr id="60" name="CuadroTexto 59"/>
          <p:cNvSpPr txBox="1"/>
          <p:nvPr/>
        </p:nvSpPr>
        <p:spPr>
          <a:xfrm>
            <a:off x="655474" y="2461874"/>
            <a:ext cx="83090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Crea un nuevo archivo alumnos.xml y copia el código del ejemplo.</a:t>
            </a:r>
          </a:p>
          <a:p>
            <a:pPr marL="342900" indent="-342900">
              <a:buAutoNum type="arabicPeriod"/>
            </a:pPr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Crea un nuevo documento XSD (Fichero &gt; Nuevo &gt; XML </a:t>
            </a:r>
            <a:r>
              <a:rPr lang="es-ES" sz="1800" dirty="0" err="1">
                <a:solidFill>
                  <a:schemeClr val="bg1">
                    <a:lumMod val="50000"/>
                  </a:schemeClr>
                </a:solidFill>
              </a:rPr>
              <a:t>Schema</a:t>
            </a:r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).</a:t>
            </a:r>
          </a:p>
          <a:p>
            <a:pPr marL="342900" indent="-342900">
              <a:buAutoNum type="arabicPeriod"/>
            </a:pPr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Copia el código XSD en ese documento.</a:t>
            </a:r>
          </a:p>
          <a:p>
            <a:pPr marL="342900" indent="-342900">
              <a:buAutoNum type="arabicPeriod"/>
            </a:pPr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Guárdalo en la misma carpeta que alumnos.xml como alumnos.xsd.</a:t>
            </a:r>
          </a:p>
          <a:p>
            <a:pPr marL="342900" indent="-342900">
              <a:buAutoNum type="arabicPeriod"/>
            </a:pPr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Abre la pestaña de alumnos.xml</a:t>
            </a:r>
          </a:p>
          <a:p>
            <a:pPr marL="342900" indent="-342900">
              <a:buAutoNum type="arabicPeriod"/>
            </a:pPr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Asocia el esquema al XML mediante:</a:t>
            </a:r>
            <a:br>
              <a:rPr lang="es-ES" sz="18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XML -&gt; Asociar -&gt; XML </a:t>
            </a:r>
            <a:r>
              <a:rPr lang="es-ES" sz="1800" dirty="0" err="1">
                <a:solidFill>
                  <a:schemeClr val="bg1">
                    <a:lumMod val="50000"/>
                  </a:schemeClr>
                </a:solidFill>
              </a:rPr>
              <a:t>Schema</a:t>
            </a:r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…</a:t>
            </a:r>
          </a:p>
          <a:p>
            <a:pPr marL="342900" indent="-342900">
              <a:buAutoNum type="arabicPeriod"/>
            </a:pPr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Guarda el documento</a:t>
            </a:r>
          </a:p>
          <a:p>
            <a:pPr marL="342900" indent="-342900">
              <a:buAutoNum type="arabicPeriod"/>
            </a:pPr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Valida el XML con el botón de validación (</a:t>
            </a:r>
            <a:r>
              <a:rPr lang="es-ES" sz="1800" dirty="0" err="1">
                <a:solidFill>
                  <a:schemeClr val="bg1">
                    <a:lumMod val="50000"/>
                  </a:schemeClr>
                </a:solidFill>
              </a:rPr>
              <a:t>check</a:t>
            </a:r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 verde).</a:t>
            </a:r>
          </a:p>
          <a:p>
            <a:pPr marL="342900" indent="-342900">
              <a:buAutoNum type="arabicPeriod"/>
            </a:pPr>
            <a:endParaRPr lang="es-ES" sz="1800" dirty="0">
              <a:solidFill>
                <a:srgbClr val="000000"/>
              </a:solidFill>
            </a:endParaRPr>
          </a:p>
        </p:txBody>
      </p:sp>
      <p:sp>
        <p:nvSpPr>
          <p:cNvPr id="5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715448" y="6500663"/>
            <a:ext cx="7624481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Realiza los ejercicios 0 y 1</a:t>
            </a:r>
          </a:p>
        </p:txBody>
      </p:sp>
    </p:spTree>
    <p:extLst>
      <p:ext uri="{BB962C8B-B14F-4D97-AF65-F5344CB8AC3E}">
        <p14:creationId xmlns:p14="http://schemas.microsoft.com/office/powerpoint/2010/main" val="559251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24 Esquina doblada"/>
          <p:cNvSpPr/>
          <p:nvPr/>
        </p:nvSpPr>
        <p:spPr bwMode="auto">
          <a:xfrm>
            <a:off x="755576" y="1394977"/>
            <a:ext cx="7632848" cy="3906231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29156" y="45760"/>
            <a:ext cx="7392988" cy="563563"/>
          </a:xfrm>
        </p:spPr>
        <p:txBody>
          <a:bodyPr/>
          <a:lstStyle/>
          <a:p>
            <a:r>
              <a:rPr lang="en-US" dirty="0" err="1"/>
              <a:t>Raíz</a:t>
            </a:r>
            <a:r>
              <a:rPr lang="en-US" dirty="0"/>
              <a:t> de un </a:t>
            </a:r>
            <a:r>
              <a:rPr lang="en-US" dirty="0" err="1"/>
              <a:t>Esquema</a:t>
            </a:r>
            <a:endParaRPr lang="en-US" sz="1400" dirty="0"/>
          </a:p>
        </p:txBody>
      </p:sp>
      <p:sp>
        <p:nvSpPr>
          <p:cNvPr id="60" name="CuadroTexto 59"/>
          <p:cNvSpPr txBox="1"/>
          <p:nvPr/>
        </p:nvSpPr>
        <p:spPr>
          <a:xfrm>
            <a:off x="971600" y="1593766"/>
            <a:ext cx="76560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&lt;?</a:t>
            </a:r>
            <a:r>
              <a:rPr lang="es-ES" sz="1800" dirty="0" err="1">
                <a:solidFill>
                  <a:schemeClr val="bg1">
                    <a:lumMod val="50000"/>
                  </a:schemeClr>
                </a:solidFill>
              </a:rPr>
              <a:t>xml</a:t>
            </a:r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1800" dirty="0" err="1">
                <a:solidFill>
                  <a:schemeClr val="bg1">
                    <a:lumMod val="50000"/>
                  </a:schemeClr>
                </a:solidFill>
              </a:rPr>
              <a:t>version</a:t>
            </a:r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="1.0" ?&gt;</a:t>
            </a:r>
          </a:p>
          <a:p>
            <a:endParaRPr lang="es-ES" sz="1800" dirty="0">
              <a:solidFill>
                <a:srgbClr val="000000"/>
              </a:solidFill>
            </a:endParaRPr>
          </a:p>
          <a:p>
            <a:r>
              <a:rPr lang="es-ES" sz="1800" dirty="0">
                <a:solidFill>
                  <a:srgbClr val="000000"/>
                </a:solidFill>
              </a:rPr>
              <a:t>&lt;</a:t>
            </a:r>
            <a:r>
              <a:rPr lang="es-ES" sz="1800" dirty="0" err="1">
                <a:solidFill>
                  <a:srgbClr val="000000"/>
                </a:solidFill>
              </a:rPr>
              <a:t>xs:schema</a:t>
            </a:r>
            <a:r>
              <a:rPr lang="es-ES" sz="1800" dirty="0">
                <a:solidFill>
                  <a:srgbClr val="000000"/>
                </a:solidFill>
              </a:rPr>
              <a:t> </a:t>
            </a:r>
            <a:r>
              <a:rPr lang="es-ES" sz="1800" dirty="0" err="1">
                <a:solidFill>
                  <a:schemeClr val="bg1">
                    <a:lumMod val="50000"/>
                  </a:schemeClr>
                </a:solidFill>
              </a:rPr>
              <a:t>xmlns:xs</a:t>
            </a:r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="http://www.w3.org/2001/XMLSchema"</a:t>
            </a:r>
            <a:r>
              <a:rPr lang="es-ES" sz="1800" dirty="0">
                <a:solidFill>
                  <a:srgbClr val="000000"/>
                </a:solidFill>
              </a:rPr>
              <a:t>&gt;</a:t>
            </a:r>
          </a:p>
          <a:p>
            <a:endParaRPr lang="es-ES" sz="1800" dirty="0">
              <a:solidFill>
                <a:srgbClr val="000000"/>
              </a:solidFill>
            </a:endParaRPr>
          </a:p>
          <a:p>
            <a:endParaRPr lang="es-ES" sz="1800" dirty="0">
              <a:solidFill>
                <a:srgbClr val="000000"/>
              </a:solidFill>
            </a:endParaRPr>
          </a:p>
          <a:p>
            <a:endParaRPr lang="es-ES" sz="1800" dirty="0">
              <a:solidFill>
                <a:srgbClr val="000000"/>
              </a:solidFill>
            </a:endParaRPr>
          </a:p>
          <a:p>
            <a:pPr lvl="1"/>
            <a:r>
              <a:rPr lang="es-ES" sz="2400" dirty="0">
                <a:solidFill>
                  <a:srgbClr val="000000"/>
                </a:solidFill>
              </a:rPr>
              <a:t>…</a:t>
            </a:r>
          </a:p>
          <a:p>
            <a:pPr lvl="1"/>
            <a:endParaRPr lang="es-ES" sz="2400" dirty="0">
              <a:solidFill>
                <a:srgbClr val="000000"/>
              </a:solidFill>
            </a:endParaRPr>
          </a:p>
          <a:p>
            <a:pPr lvl="1"/>
            <a:endParaRPr lang="es-ES" sz="2400" dirty="0">
              <a:solidFill>
                <a:srgbClr val="000000"/>
              </a:solidFill>
            </a:endParaRPr>
          </a:p>
          <a:p>
            <a:endParaRPr lang="es-ES" sz="1800" dirty="0">
              <a:solidFill>
                <a:srgbClr val="000000"/>
              </a:solidFill>
            </a:endParaRPr>
          </a:p>
          <a:p>
            <a:r>
              <a:rPr lang="es-ES" sz="1800" dirty="0">
                <a:solidFill>
                  <a:srgbClr val="000000"/>
                </a:solidFill>
              </a:rPr>
              <a:t>&lt;/</a:t>
            </a:r>
            <a:r>
              <a:rPr lang="es-ES" sz="1800" dirty="0" err="1">
                <a:solidFill>
                  <a:srgbClr val="000000"/>
                </a:solidFill>
              </a:rPr>
              <a:t>xs:schema</a:t>
            </a:r>
            <a:r>
              <a:rPr lang="es-ES" sz="1800" dirty="0">
                <a:solidFill>
                  <a:srgbClr val="000000"/>
                </a:solidFill>
              </a:rPr>
              <a:t>&gt;</a:t>
            </a:r>
          </a:p>
        </p:txBody>
      </p:sp>
      <p:sp>
        <p:nvSpPr>
          <p:cNvPr id="5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8298CD32-2263-46F6-A276-9F9F3D7D2BA5}"/>
              </a:ext>
            </a:extLst>
          </p:cNvPr>
          <p:cNvGrpSpPr/>
          <p:nvPr/>
        </p:nvGrpSpPr>
        <p:grpSpPr>
          <a:xfrm>
            <a:off x="2411760" y="5264234"/>
            <a:ext cx="3720516" cy="1098011"/>
            <a:chOff x="4667908" y="5722860"/>
            <a:chExt cx="3720516" cy="1098011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5980B38C-61C8-422A-A0EA-C72E4A118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7908" y="5781893"/>
              <a:ext cx="3720516" cy="1038978"/>
            </a:xfrm>
            <a:prstGeom prst="rect">
              <a:avLst/>
            </a:prstGeom>
          </p:spPr>
        </p:pic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71084EFC-00ED-4F38-94C5-B91CBA4FCBA9}"/>
                </a:ext>
              </a:extLst>
            </p:cNvPr>
            <p:cNvSpPr txBox="1"/>
            <p:nvPr/>
          </p:nvSpPr>
          <p:spPr>
            <a:xfrm>
              <a:off x="6004264" y="5722860"/>
              <a:ext cx="1104790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500" dirty="0" err="1">
                  <a:solidFill>
                    <a:schemeClr val="bg1"/>
                  </a:solidFill>
                </a:rPr>
                <a:t>xs:schema</a:t>
              </a:r>
              <a:endParaRPr lang="es-ES" sz="1500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E72D66E-6803-4DA7-AF45-F29F9B1A1EF1}"/>
              </a:ext>
            </a:extLst>
          </p:cNvPr>
          <p:cNvSpPr txBox="1"/>
          <p:nvPr/>
        </p:nvSpPr>
        <p:spPr>
          <a:xfrm>
            <a:off x="3957008" y="6192968"/>
            <a:ext cx="63001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rgbClr val="000000"/>
                </a:solidFill>
                <a:latin typeface="Comic Sans MS" panose="030F0702030302020204" pitchFamily="66" charset="0"/>
              </a:rPr>
              <a:t>raíz</a:t>
            </a:r>
            <a:endParaRPr lang="es-ES" sz="1300" b="1" dirty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309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29156" y="45760"/>
            <a:ext cx="7487260" cy="563563"/>
          </a:xfrm>
        </p:spPr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Simples</a:t>
            </a:r>
            <a:endParaRPr lang="en-US" sz="1400" dirty="0"/>
          </a:p>
        </p:txBody>
      </p:sp>
      <p:sp>
        <p:nvSpPr>
          <p:cNvPr id="42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6" name="Grupo 5"/>
          <p:cNvGrpSpPr/>
          <p:nvPr/>
        </p:nvGrpSpPr>
        <p:grpSpPr>
          <a:xfrm>
            <a:off x="1763688" y="1700808"/>
            <a:ext cx="5616624" cy="338554"/>
            <a:chOff x="1763688" y="1700808"/>
            <a:chExt cx="5616624" cy="338554"/>
          </a:xfrm>
        </p:grpSpPr>
        <p:sp>
          <p:nvSpPr>
            <p:cNvPr id="2" name="Rectángulo 1"/>
            <p:cNvSpPr/>
            <p:nvPr/>
          </p:nvSpPr>
          <p:spPr bwMode="auto">
            <a:xfrm>
              <a:off x="1763688" y="1700808"/>
              <a:ext cx="5616624" cy="338554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8" name="CuadroTexto 47"/>
            <p:cNvSpPr txBox="1"/>
            <p:nvPr/>
          </p:nvSpPr>
          <p:spPr>
            <a:xfrm>
              <a:off x="2176126" y="1700808"/>
              <a:ext cx="47933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 &lt;edad&gt;</a:t>
              </a:r>
              <a:r>
                <a:rPr lang="es-ES" sz="1600" dirty="0">
                  <a:solidFill>
                    <a:srgbClr val="FF0000"/>
                  </a:solidFill>
                </a:rPr>
                <a:t>19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&lt;/edad&gt;</a:t>
              </a:r>
            </a:p>
          </p:txBody>
        </p:sp>
      </p:grpSp>
      <p:sp>
        <p:nvSpPr>
          <p:cNvPr id="8" name="CuadroTexto 7"/>
          <p:cNvSpPr txBox="1"/>
          <p:nvPr/>
        </p:nvSpPr>
        <p:spPr>
          <a:xfrm>
            <a:off x="1152406" y="888263"/>
            <a:ext cx="6840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b="1" dirty="0">
                <a:solidFill>
                  <a:srgbClr val="FF0000"/>
                </a:solidFill>
              </a:rPr>
              <a:t>No</a:t>
            </a:r>
            <a:r>
              <a:rPr lang="es-ES" sz="1800" dirty="0">
                <a:solidFill>
                  <a:srgbClr val="000000"/>
                </a:solidFill>
              </a:rPr>
              <a:t> tienen </a:t>
            </a:r>
            <a:r>
              <a:rPr lang="es-ES" sz="1800" b="1" dirty="0">
                <a:solidFill>
                  <a:srgbClr val="FF0000"/>
                </a:solidFill>
              </a:rPr>
              <a:t>elementos hijo </a:t>
            </a:r>
            <a:r>
              <a:rPr lang="es-ES" sz="1800" dirty="0">
                <a:solidFill>
                  <a:srgbClr val="000000"/>
                </a:solidFill>
              </a:rPr>
              <a:t>ni </a:t>
            </a:r>
            <a:r>
              <a:rPr lang="es-ES" sz="1800" b="1" dirty="0">
                <a:solidFill>
                  <a:srgbClr val="FF0000"/>
                </a:solidFill>
              </a:rPr>
              <a:t>atributos</a:t>
            </a:r>
            <a:r>
              <a:rPr lang="es-ES" sz="1800" dirty="0">
                <a:solidFill>
                  <a:srgbClr val="000000"/>
                </a:solidFill>
              </a:rPr>
              <a:t>.</a:t>
            </a:r>
          </a:p>
          <a:p>
            <a:pPr algn="ctr"/>
            <a:r>
              <a:rPr lang="es-ES" sz="1800" dirty="0">
                <a:solidFill>
                  <a:srgbClr val="000000"/>
                </a:solidFill>
              </a:rPr>
              <a:t>Sólo tienen hijos de </a:t>
            </a:r>
            <a:r>
              <a:rPr lang="es-ES" sz="1800" b="1" dirty="0">
                <a:solidFill>
                  <a:srgbClr val="00CC00"/>
                </a:solidFill>
              </a:rPr>
              <a:t>tipo valor</a:t>
            </a:r>
          </a:p>
        </p:txBody>
      </p:sp>
      <p:grpSp>
        <p:nvGrpSpPr>
          <p:cNvPr id="4" name="Grupo 3"/>
          <p:cNvGrpSpPr/>
          <p:nvPr/>
        </p:nvGrpSpPr>
        <p:grpSpPr>
          <a:xfrm>
            <a:off x="1763688" y="2174004"/>
            <a:ext cx="5616624" cy="338554"/>
            <a:chOff x="1763688" y="2174004"/>
            <a:chExt cx="5616624" cy="338554"/>
          </a:xfrm>
        </p:grpSpPr>
        <p:sp>
          <p:nvSpPr>
            <p:cNvPr id="13" name="Rectángulo 12"/>
            <p:cNvSpPr/>
            <p:nvPr/>
          </p:nvSpPr>
          <p:spPr bwMode="auto">
            <a:xfrm>
              <a:off x="1763688" y="2174004"/>
              <a:ext cx="5616624" cy="338554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" name="CuadroTexto 9"/>
            <p:cNvSpPr txBox="1"/>
            <p:nvPr/>
          </p:nvSpPr>
          <p:spPr>
            <a:xfrm>
              <a:off x="2176126" y="2174004"/>
              <a:ext cx="47933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 &lt;matricula </a:t>
              </a:r>
              <a:r>
                <a:rPr lang="es-ES" sz="1600" dirty="0" err="1">
                  <a:solidFill>
                    <a:srgbClr val="33CC33"/>
                  </a:solidFill>
                </a:rPr>
                <a:t>pais</a:t>
              </a:r>
              <a:r>
                <a:rPr lang="es-ES" sz="1600" dirty="0">
                  <a:solidFill>
                    <a:srgbClr val="33CC33"/>
                  </a:solidFill>
                </a:rPr>
                <a:t>="</a:t>
              </a:r>
              <a:r>
                <a:rPr lang="es-ES" sz="1600" dirty="0" err="1">
                  <a:solidFill>
                    <a:srgbClr val="33CC33"/>
                  </a:solidFill>
                </a:rPr>
                <a:t>esp</a:t>
              </a:r>
              <a:r>
                <a:rPr lang="es-ES" sz="1600" dirty="0">
                  <a:solidFill>
                    <a:srgbClr val="33CC33"/>
                  </a:solidFill>
                </a:rPr>
                <a:t>"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  <a:r>
                <a:rPr lang="es-ES" sz="1600" dirty="0">
                  <a:solidFill>
                    <a:srgbClr val="FF0000"/>
                  </a:solidFill>
                </a:rPr>
                <a:t>5674-CFR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&lt;/matricula&gt;</a:t>
              </a:r>
            </a:p>
          </p:txBody>
        </p:sp>
      </p:grpSp>
      <p:grpSp>
        <p:nvGrpSpPr>
          <p:cNvPr id="5" name="Grupo 4"/>
          <p:cNvGrpSpPr/>
          <p:nvPr/>
        </p:nvGrpSpPr>
        <p:grpSpPr>
          <a:xfrm>
            <a:off x="1763688" y="2651165"/>
            <a:ext cx="5616624" cy="855186"/>
            <a:chOff x="1763688" y="2651165"/>
            <a:chExt cx="5616624" cy="855186"/>
          </a:xfrm>
        </p:grpSpPr>
        <p:sp>
          <p:nvSpPr>
            <p:cNvPr id="14" name="Rectángulo 13"/>
            <p:cNvSpPr/>
            <p:nvPr/>
          </p:nvSpPr>
          <p:spPr bwMode="auto">
            <a:xfrm>
              <a:off x="1763688" y="2651165"/>
              <a:ext cx="5616624" cy="855186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" name="CuadroTexto 10"/>
            <p:cNvSpPr txBox="1"/>
            <p:nvPr/>
          </p:nvSpPr>
          <p:spPr>
            <a:xfrm>
              <a:off x="2176126" y="2662778"/>
              <a:ext cx="47933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&lt;padre&gt;</a:t>
              </a:r>
            </a:p>
            <a:p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    &lt;hijo&gt;</a:t>
              </a:r>
              <a:r>
                <a:rPr lang="es-ES" sz="1600" dirty="0">
                  <a:solidFill>
                    <a:srgbClr val="FF0000"/>
                  </a:solidFill>
                </a:rPr>
                <a:t>5674-CFR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&lt;/hijo&gt;</a:t>
              </a:r>
              <a:endParaRPr lang="es-ES" sz="1600" dirty="0">
                <a:solidFill>
                  <a:srgbClr val="FF0000"/>
                </a:solidFill>
              </a:endParaRPr>
            </a:p>
            <a:p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&lt;/padre&gt;</a:t>
              </a:r>
            </a:p>
          </p:txBody>
        </p:sp>
      </p:grpSp>
      <p:sp>
        <p:nvSpPr>
          <p:cNvPr id="16" name="24 Esquina doblada"/>
          <p:cNvSpPr/>
          <p:nvPr/>
        </p:nvSpPr>
        <p:spPr bwMode="auto">
          <a:xfrm>
            <a:off x="1152406" y="4149080"/>
            <a:ext cx="6840760" cy="1728192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1390018" y="4332782"/>
            <a:ext cx="63821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000000"/>
                </a:solidFill>
              </a:rPr>
              <a:t>&lt;?</a:t>
            </a:r>
            <a:r>
              <a:rPr lang="es-ES" sz="1600" dirty="0" err="1">
                <a:solidFill>
                  <a:srgbClr val="000000"/>
                </a:solidFill>
              </a:rPr>
              <a:t>xml</a:t>
            </a:r>
            <a:r>
              <a:rPr lang="es-ES" sz="1600" dirty="0">
                <a:solidFill>
                  <a:srgbClr val="000000"/>
                </a:solidFill>
              </a:rPr>
              <a:t> </a:t>
            </a:r>
            <a:r>
              <a:rPr lang="es-ES" sz="1600" dirty="0" err="1">
                <a:solidFill>
                  <a:srgbClr val="000000"/>
                </a:solidFill>
              </a:rPr>
              <a:t>version</a:t>
            </a:r>
            <a:r>
              <a:rPr lang="es-ES" sz="1600" dirty="0">
                <a:solidFill>
                  <a:srgbClr val="000000"/>
                </a:solidFill>
              </a:rPr>
              <a:t>="1.0" ?&gt;</a:t>
            </a:r>
          </a:p>
          <a:p>
            <a:endParaRPr lang="es-ES" sz="1600" dirty="0">
              <a:solidFill>
                <a:srgbClr val="000000"/>
              </a:solidFill>
            </a:endParaRPr>
          </a:p>
          <a:p>
            <a:r>
              <a:rPr lang="es-ES" sz="1600" b="1" dirty="0">
                <a:solidFill>
                  <a:srgbClr val="000000"/>
                </a:solidFill>
              </a:rPr>
              <a:t>&lt;</a:t>
            </a:r>
            <a:r>
              <a:rPr lang="es-ES" sz="1600" b="1" dirty="0" err="1">
                <a:solidFill>
                  <a:srgbClr val="000000"/>
                </a:solidFill>
              </a:rPr>
              <a:t>xs:schema</a:t>
            </a:r>
            <a:r>
              <a:rPr lang="es-ES" sz="1600" b="1" dirty="0">
                <a:solidFill>
                  <a:srgbClr val="000000"/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50000"/>
                  </a:schemeClr>
                </a:solidFill>
              </a:rPr>
              <a:t>xmlns:xs</a:t>
            </a:r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="http://www.w3.org/2001/XMLSchema"</a:t>
            </a:r>
            <a:r>
              <a:rPr lang="es-ES" sz="1600" b="1" dirty="0">
                <a:solidFill>
                  <a:srgbClr val="000000"/>
                </a:solidFill>
              </a:rPr>
              <a:t>&gt;</a:t>
            </a:r>
          </a:p>
          <a:p>
            <a:r>
              <a:rPr lang="es-ES" sz="1600" dirty="0">
                <a:solidFill>
                  <a:srgbClr val="0070C0"/>
                </a:solidFill>
              </a:rPr>
              <a:t>        &lt;</a:t>
            </a:r>
            <a:r>
              <a:rPr lang="es-ES" sz="1600" dirty="0" err="1">
                <a:solidFill>
                  <a:srgbClr val="0070C0"/>
                </a:solidFill>
              </a:rPr>
              <a:t>xs:element</a:t>
            </a:r>
            <a:r>
              <a:rPr lang="es-ES" sz="1600" dirty="0">
                <a:solidFill>
                  <a:srgbClr val="0070C0"/>
                </a:solidFill>
              </a:rPr>
              <a:t>  </a:t>
            </a:r>
            <a:r>
              <a:rPr lang="es-ES" sz="1600" dirty="0" err="1">
                <a:solidFill>
                  <a:srgbClr val="00CC00"/>
                </a:solidFill>
              </a:rPr>
              <a:t>name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>
                <a:solidFill>
                  <a:srgbClr val="FF9900"/>
                </a:solidFill>
              </a:rPr>
              <a:t>edad</a:t>
            </a:r>
            <a:r>
              <a:rPr lang="es-ES" sz="1600" dirty="0">
                <a:solidFill>
                  <a:srgbClr val="00CC00"/>
                </a:solidFill>
              </a:rPr>
              <a:t>" </a:t>
            </a:r>
            <a:r>
              <a:rPr lang="es-ES" sz="16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600" b="1" dirty="0">
                <a:solidFill>
                  <a:srgbClr val="000000"/>
                </a:solidFill>
              </a:rPr>
              <a:t>&lt;/</a:t>
            </a:r>
            <a:r>
              <a:rPr lang="es-ES" sz="1600" b="1" dirty="0" err="1">
                <a:solidFill>
                  <a:srgbClr val="000000"/>
                </a:solidFill>
              </a:rPr>
              <a:t>xs:schema</a:t>
            </a:r>
            <a:r>
              <a:rPr lang="es-ES" sz="1600" b="1" dirty="0">
                <a:solidFill>
                  <a:srgbClr val="000000"/>
                </a:solidFill>
              </a:rPr>
              <a:t>&gt;</a:t>
            </a:r>
          </a:p>
        </p:txBody>
      </p:sp>
      <p:sp>
        <p:nvSpPr>
          <p:cNvPr id="15" name="52 CuadroTexto"/>
          <p:cNvSpPr txBox="1"/>
          <p:nvPr/>
        </p:nvSpPr>
        <p:spPr>
          <a:xfrm>
            <a:off x="3419872" y="1668785"/>
            <a:ext cx="4074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rgbClr val="00B050"/>
                </a:solidFill>
                <a:latin typeface="+mn-lt"/>
              </a:rPr>
              <a:t>√</a:t>
            </a:r>
          </a:p>
        </p:txBody>
      </p:sp>
      <p:sp>
        <p:nvSpPr>
          <p:cNvPr id="17" name="53 Rectángulo"/>
          <p:cNvSpPr/>
          <p:nvPr/>
        </p:nvSpPr>
        <p:spPr>
          <a:xfrm>
            <a:off x="2267744" y="2143816"/>
            <a:ext cx="364202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100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9" name="53 Rectángulo"/>
          <p:cNvSpPr/>
          <p:nvPr/>
        </p:nvSpPr>
        <p:spPr>
          <a:xfrm>
            <a:off x="1904124" y="2634088"/>
            <a:ext cx="364202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100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3" name="52 CuadroTexto">
            <a:extLst>
              <a:ext uri="{FF2B5EF4-FFF2-40B4-BE49-F238E27FC236}">
                <a16:creationId xmlns:a16="http://schemas.microsoft.com/office/drawing/2014/main" id="{E3FDAE84-A5F1-88C1-29EB-4DC1616572F4}"/>
              </a:ext>
            </a:extLst>
          </p:cNvPr>
          <p:cNvSpPr txBox="1"/>
          <p:nvPr/>
        </p:nvSpPr>
        <p:spPr>
          <a:xfrm>
            <a:off x="2339752" y="2878221"/>
            <a:ext cx="4074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rgbClr val="00B050"/>
                </a:solidFill>
                <a:latin typeface="+mn-lt"/>
              </a:rPr>
              <a:t>√</a:t>
            </a:r>
          </a:p>
        </p:txBody>
      </p:sp>
    </p:spTree>
    <p:extLst>
      <p:ext uri="{BB962C8B-B14F-4D97-AF65-F5344CB8AC3E}">
        <p14:creationId xmlns:p14="http://schemas.microsoft.com/office/powerpoint/2010/main" val="1244107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/>
      <p:bldP spid="15" grpId="0"/>
      <p:bldP spid="17" grpId="0"/>
      <p:bldP spid="19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 bwMode="auto">
          <a:xfrm>
            <a:off x="1764474" y="1201470"/>
            <a:ext cx="5616624" cy="338554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29156" y="45760"/>
            <a:ext cx="7487260" cy="563563"/>
          </a:xfrm>
        </p:spPr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Simples</a:t>
            </a:r>
            <a:endParaRPr lang="en-US" sz="1400" dirty="0"/>
          </a:p>
        </p:txBody>
      </p:sp>
      <p:sp>
        <p:nvSpPr>
          <p:cNvPr id="42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411761" y="1201470"/>
            <a:ext cx="4315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&lt;edad&gt;</a:t>
            </a:r>
            <a:r>
              <a:rPr lang="es-ES" sz="1600" dirty="0">
                <a:solidFill>
                  <a:srgbClr val="FF0000"/>
                </a:solidFill>
              </a:rPr>
              <a:t>blanco</a:t>
            </a:r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&lt;/edad&gt;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1152406" y="692696"/>
            <a:ext cx="6840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>
                <a:solidFill>
                  <a:srgbClr val="000000"/>
                </a:solidFill>
              </a:rPr>
              <a:t>tipos de datos predefinidos </a:t>
            </a:r>
          </a:p>
        </p:txBody>
      </p:sp>
      <p:sp>
        <p:nvSpPr>
          <p:cNvPr id="16" name="24 Esquina doblada"/>
          <p:cNvSpPr/>
          <p:nvPr/>
        </p:nvSpPr>
        <p:spPr bwMode="auto">
          <a:xfrm>
            <a:off x="1152406" y="1705526"/>
            <a:ext cx="6840760" cy="1531884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1390018" y="1835859"/>
            <a:ext cx="63821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000000"/>
                </a:solidFill>
              </a:rPr>
              <a:t>&lt;?</a:t>
            </a:r>
            <a:r>
              <a:rPr lang="es-ES" sz="1600" dirty="0" err="1">
                <a:solidFill>
                  <a:srgbClr val="000000"/>
                </a:solidFill>
              </a:rPr>
              <a:t>xml</a:t>
            </a:r>
            <a:r>
              <a:rPr lang="es-ES" sz="1600" dirty="0">
                <a:solidFill>
                  <a:srgbClr val="000000"/>
                </a:solidFill>
              </a:rPr>
              <a:t> </a:t>
            </a:r>
            <a:r>
              <a:rPr lang="es-ES" sz="1600" dirty="0" err="1">
                <a:solidFill>
                  <a:srgbClr val="000000"/>
                </a:solidFill>
              </a:rPr>
              <a:t>version</a:t>
            </a:r>
            <a:r>
              <a:rPr lang="es-ES" sz="1600" dirty="0">
                <a:solidFill>
                  <a:srgbClr val="000000"/>
                </a:solidFill>
              </a:rPr>
              <a:t>="1.0" ?&gt;</a:t>
            </a:r>
          </a:p>
          <a:p>
            <a:endParaRPr lang="es-ES" sz="1600" dirty="0">
              <a:solidFill>
                <a:srgbClr val="000000"/>
              </a:solidFill>
            </a:endParaRPr>
          </a:p>
          <a:p>
            <a:r>
              <a:rPr lang="es-ES" sz="1600" b="1" dirty="0">
                <a:solidFill>
                  <a:srgbClr val="000000"/>
                </a:solidFill>
              </a:rPr>
              <a:t>&lt;</a:t>
            </a:r>
            <a:r>
              <a:rPr lang="es-ES" sz="1600" b="1" dirty="0" err="1">
                <a:solidFill>
                  <a:srgbClr val="000000"/>
                </a:solidFill>
              </a:rPr>
              <a:t>xs:schema</a:t>
            </a:r>
            <a:r>
              <a:rPr lang="es-ES" sz="1600" b="1" dirty="0">
                <a:solidFill>
                  <a:srgbClr val="000000"/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50000"/>
                  </a:schemeClr>
                </a:solidFill>
              </a:rPr>
              <a:t>xmlns:xs</a:t>
            </a:r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="http://www.w3.org/2001/XMLSchema"</a:t>
            </a:r>
            <a:r>
              <a:rPr lang="es-ES" sz="1600" b="1" dirty="0">
                <a:solidFill>
                  <a:srgbClr val="000000"/>
                </a:solidFill>
              </a:rPr>
              <a:t>&gt;</a:t>
            </a:r>
          </a:p>
          <a:p>
            <a:endParaRPr lang="es-ES" sz="1600" b="1" dirty="0">
              <a:solidFill>
                <a:srgbClr val="000000"/>
              </a:solidFill>
            </a:endParaRPr>
          </a:p>
          <a:p>
            <a:r>
              <a:rPr lang="es-ES" sz="1600" b="1" dirty="0">
                <a:solidFill>
                  <a:srgbClr val="000000"/>
                </a:solidFill>
              </a:rPr>
              <a:t>&lt;/</a:t>
            </a:r>
            <a:r>
              <a:rPr lang="es-ES" sz="1600" b="1" dirty="0" err="1">
                <a:solidFill>
                  <a:srgbClr val="000000"/>
                </a:solidFill>
              </a:rPr>
              <a:t>xs:schema</a:t>
            </a:r>
            <a:r>
              <a:rPr lang="es-ES" sz="1600" b="1" dirty="0">
                <a:solidFill>
                  <a:srgbClr val="000000"/>
                </a:solidFill>
              </a:rPr>
              <a:t>&gt;</a:t>
            </a:r>
          </a:p>
        </p:txBody>
      </p:sp>
      <p:sp>
        <p:nvSpPr>
          <p:cNvPr id="15" name="CuadroTexto 14"/>
          <p:cNvSpPr txBox="1"/>
          <p:nvPr/>
        </p:nvSpPr>
        <p:spPr>
          <a:xfrm>
            <a:off x="1906918" y="2578875"/>
            <a:ext cx="5474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0070C0"/>
                </a:solidFill>
              </a:rPr>
              <a:t>&lt;</a:t>
            </a:r>
            <a:r>
              <a:rPr lang="es-ES" sz="1600" dirty="0" err="1">
                <a:solidFill>
                  <a:srgbClr val="0070C0"/>
                </a:solidFill>
              </a:rPr>
              <a:t>xs:element</a:t>
            </a:r>
            <a:r>
              <a:rPr lang="es-ES" sz="1600" dirty="0">
                <a:solidFill>
                  <a:srgbClr val="0070C0"/>
                </a:solidFill>
              </a:rPr>
              <a:t>  </a:t>
            </a:r>
            <a:r>
              <a:rPr lang="es-ES" sz="1600" dirty="0" err="1">
                <a:solidFill>
                  <a:srgbClr val="00CC00"/>
                </a:solidFill>
              </a:rPr>
              <a:t>name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>
                <a:solidFill>
                  <a:srgbClr val="FF9900"/>
                </a:solidFill>
              </a:rPr>
              <a:t>edad</a:t>
            </a:r>
            <a:r>
              <a:rPr lang="es-ES" sz="1600" dirty="0">
                <a:solidFill>
                  <a:srgbClr val="00CC00"/>
                </a:solidFill>
              </a:rPr>
              <a:t>"  </a:t>
            </a:r>
            <a:r>
              <a:rPr lang="es-ES" sz="1600" b="1" dirty="0" err="1">
                <a:solidFill>
                  <a:srgbClr val="00CC00"/>
                </a:solidFill>
              </a:rPr>
              <a:t>type</a:t>
            </a:r>
            <a:r>
              <a:rPr lang="es-ES" sz="1600" b="1" dirty="0">
                <a:solidFill>
                  <a:srgbClr val="00CC00"/>
                </a:solidFill>
              </a:rPr>
              <a:t>="</a:t>
            </a:r>
            <a:r>
              <a:rPr lang="es-ES" sz="1600" b="1" dirty="0" err="1">
                <a:solidFill>
                  <a:srgbClr val="FF9900"/>
                </a:solidFill>
              </a:rPr>
              <a:t>xs:integer</a:t>
            </a:r>
            <a:r>
              <a:rPr lang="es-ES" sz="1600" b="1" dirty="0">
                <a:solidFill>
                  <a:srgbClr val="00CC00"/>
                </a:solidFill>
              </a:rPr>
              <a:t>"</a:t>
            </a:r>
            <a:r>
              <a:rPr lang="es-ES" sz="1600" dirty="0">
                <a:solidFill>
                  <a:srgbClr val="0070C0"/>
                </a:solidFill>
              </a:rPr>
              <a:t>/&gt;</a:t>
            </a:r>
            <a:endParaRPr lang="es-ES" sz="1600" b="1" dirty="0">
              <a:solidFill>
                <a:srgbClr val="000000"/>
              </a:solidFill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1906918" y="2578875"/>
            <a:ext cx="30971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0070C0"/>
                </a:solidFill>
              </a:rPr>
              <a:t>&lt;</a:t>
            </a:r>
            <a:r>
              <a:rPr lang="es-ES" sz="1600" dirty="0" err="1">
                <a:solidFill>
                  <a:srgbClr val="0070C0"/>
                </a:solidFill>
              </a:rPr>
              <a:t>xs:element</a:t>
            </a:r>
            <a:r>
              <a:rPr lang="es-ES" sz="1600" dirty="0">
                <a:solidFill>
                  <a:srgbClr val="0070C0"/>
                </a:solidFill>
              </a:rPr>
              <a:t>  </a:t>
            </a:r>
            <a:r>
              <a:rPr lang="es-ES" sz="1600" dirty="0" err="1">
                <a:solidFill>
                  <a:srgbClr val="00CC00"/>
                </a:solidFill>
              </a:rPr>
              <a:t>name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>
                <a:solidFill>
                  <a:srgbClr val="FF9900"/>
                </a:solidFill>
              </a:rPr>
              <a:t>edad</a:t>
            </a:r>
            <a:r>
              <a:rPr lang="es-ES" sz="1600" dirty="0">
                <a:solidFill>
                  <a:srgbClr val="00CC00"/>
                </a:solidFill>
              </a:rPr>
              <a:t>" </a:t>
            </a:r>
            <a:r>
              <a:rPr lang="es-ES" sz="1600" dirty="0">
                <a:solidFill>
                  <a:srgbClr val="0070C0"/>
                </a:solidFill>
              </a:rPr>
              <a:t>/&gt;</a:t>
            </a:r>
            <a:endParaRPr lang="es-ES" sz="1600" b="1" dirty="0">
              <a:solidFill>
                <a:srgbClr val="000000"/>
              </a:solidFill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3563889" y="1201470"/>
            <a:ext cx="2011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&lt;edad&gt;</a:t>
            </a:r>
            <a:r>
              <a:rPr lang="es-ES" sz="1600" dirty="0">
                <a:solidFill>
                  <a:srgbClr val="FF0000"/>
                </a:solidFill>
              </a:rPr>
              <a:t>19</a:t>
            </a:r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&lt;/edad&gt;</a:t>
            </a: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907903"/>
              </p:ext>
            </p:extLst>
          </p:nvPr>
        </p:nvGraphicFramePr>
        <p:xfrm>
          <a:off x="1317261" y="3514449"/>
          <a:ext cx="6504383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5551">
                  <a:extLst>
                    <a:ext uri="{9D8B030D-6E8A-4147-A177-3AD203B41FA5}">
                      <a16:colId xmlns:a16="http://schemas.microsoft.com/office/drawing/2014/main" val="3674340075"/>
                    </a:ext>
                  </a:extLst>
                </a:gridCol>
                <a:gridCol w="1755212">
                  <a:extLst>
                    <a:ext uri="{9D8B030D-6E8A-4147-A177-3AD203B41FA5}">
                      <a16:colId xmlns:a16="http://schemas.microsoft.com/office/drawing/2014/main" val="1312801429"/>
                    </a:ext>
                  </a:extLst>
                </a:gridCol>
                <a:gridCol w="3033620">
                  <a:extLst>
                    <a:ext uri="{9D8B030D-6E8A-4147-A177-3AD203B41FA5}">
                      <a16:colId xmlns:a16="http://schemas.microsoft.com/office/drawing/2014/main" val="3309800485"/>
                    </a:ext>
                  </a:extLst>
                </a:gridCol>
              </a:tblGrid>
              <a:tr h="263691">
                <a:tc>
                  <a:txBody>
                    <a:bodyPr/>
                    <a:lstStyle/>
                    <a:p>
                      <a:r>
                        <a:rPr lang="es-ES" sz="1300" dirty="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/>
                        <a:t>ejemplo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/>
                        <a:t>explicación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248673"/>
                  </a:ext>
                </a:extLst>
              </a:tr>
              <a:tr h="263691">
                <a:tc>
                  <a:txBody>
                    <a:bodyPr/>
                    <a:lstStyle/>
                    <a:p>
                      <a:r>
                        <a:rPr lang="es-ES" sz="1300" dirty="0" err="1">
                          <a:solidFill>
                            <a:srgbClr val="009900"/>
                          </a:solidFill>
                          <a:latin typeface="+mj-lt"/>
                        </a:rPr>
                        <a:t>integer</a:t>
                      </a:r>
                      <a:endParaRPr lang="es-ES" sz="1300" dirty="0">
                        <a:solidFill>
                          <a:srgbClr val="00990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>
                          <a:solidFill>
                            <a:srgbClr val="FF0000"/>
                          </a:solidFill>
                          <a:latin typeface="+mj-lt"/>
                        </a:rPr>
                        <a:t>45004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b="0" dirty="0">
                          <a:latin typeface="+mj-lt"/>
                        </a:rPr>
                        <a:t>enteros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091826"/>
                  </a:ext>
                </a:extLst>
              </a:tr>
              <a:tr h="263691">
                <a:tc>
                  <a:txBody>
                    <a:bodyPr/>
                    <a:lstStyle/>
                    <a:p>
                      <a:r>
                        <a:rPr lang="es-ES" sz="1300" dirty="0" err="1">
                          <a:solidFill>
                            <a:srgbClr val="009900"/>
                          </a:solidFill>
                          <a:latin typeface="+mj-lt"/>
                        </a:rPr>
                        <a:t>positiveInteger</a:t>
                      </a:r>
                      <a:endParaRPr lang="es-ES" sz="1300" dirty="0">
                        <a:solidFill>
                          <a:srgbClr val="00990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>
                          <a:solidFill>
                            <a:srgbClr val="FF0000"/>
                          </a:solidFill>
                          <a:latin typeface="+mj-lt"/>
                        </a:rPr>
                        <a:t>5345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b="0" dirty="0">
                          <a:latin typeface="+mj-lt"/>
                        </a:rPr>
                        <a:t>enteros mayores</a:t>
                      </a:r>
                      <a:r>
                        <a:rPr lang="es-ES" sz="1300" b="0" baseline="0" dirty="0">
                          <a:latin typeface="+mj-lt"/>
                        </a:rPr>
                        <a:t> que 0</a:t>
                      </a:r>
                      <a:endParaRPr lang="es-ES" sz="1300" b="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478059"/>
                  </a:ext>
                </a:extLst>
              </a:tr>
              <a:tr h="263691">
                <a:tc>
                  <a:txBody>
                    <a:bodyPr/>
                    <a:lstStyle/>
                    <a:p>
                      <a:r>
                        <a:rPr lang="es-ES" sz="1300" dirty="0" err="1">
                          <a:solidFill>
                            <a:srgbClr val="009900"/>
                          </a:solidFill>
                          <a:latin typeface="+mj-lt"/>
                        </a:rPr>
                        <a:t>negativeInteger</a:t>
                      </a:r>
                      <a:endParaRPr lang="es-ES" sz="1300" dirty="0">
                        <a:solidFill>
                          <a:srgbClr val="00990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>
                          <a:solidFill>
                            <a:srgbClr val="FF0000"/>
                          </a:solidFill>
                          <a:latin typeface="+mj-lt"/>
                        </a:rPr>
                        <a:t>-45245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b="0" dirty="0">
                          <a:latin typeface="+mj-lt"/>
                        </a:rPr>
                        <a:t>enteros menores que</a:t>
                      </a:r>
                      <a:r>
                        <a:rPr lang="es-ES" sz="1300" b="0" baseline="0" dirty="0">
                          <a:latin typeface="+mj-lt"/>
                        </a:rPr>
                        <a:t> 0</a:t>
                      </a:r>
                      <a:endParaRPr lang="es-ES" sz="1300" b="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936550"/>
                  </a:ext>
                </a:extLst>
              </a:tr>
              <a:tr h="263691">
                <a:tc>
                  <a:txBody>
                    <a:bodyPr/>
                    <a:lstStyle/>
                    <a:p>
                      <a:r>
                        <a:rPr lang="es-ES" sz="1300" dirty="0">
                          <a:solidFill>
                            <a:srgbClr val="009900"/>
                          </a:solidFill>
                          <a:latin typeface="+mj-lt"/>
                        </a:rPr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>
                          <a:solidFill>
                            <a:srgbClr val="FF0000"/>
                          </a:solidFill>
                          <a:latin typeface="+mj-lt"/>
                        </a:rPr>
                        <a:t>23.45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b="0" dirty="0">
                          <a:latin typeface="+mj-lt"/>
                        </a:rPr>
                        <a:t>reales</a:t>
                      </a:r>
                      <a:r>
                        <a:rPr lang="es-ES" sz="1300" b="0" baseline="0" dirty="0">
                          <a:latin typeface="+mj-lt"/>
                        </a:rPr>
                        <a:t> coma fijo</a:t>
                      </a:r>
                      <a:endParaRPr lang="es-ES" sz="1300" b="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166885"/>
                  </a:ext>
                </a:extLst>
              </a:tr>
              <a:tr h="263691">
                <a:tc>
                  <a:txBody>
                    <a:bodyPr/>
                    <a:lstStyle/>
                    <a:p>
                      <a:r>
                        <a:rPr lang="es-ES" sz="1300" dirty="0">
                          <a:solidFill>
                            <a:srgbClr val="009900"/>
                          </a:solidFill>
                          <a:latin typeface="+mj-lt"/>
                        </a:rPr>
                        <a:t>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>
                          <a:solidFill>
                            <a:srgbClr val="FF0000"/>
                          </a:solidFill>
                          <a:latin typeface="+mj-lt"/>
                        </a:rP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b="0" dirty="0">
                          <a:latin typeface="+mj-lt"/>
                        </a:rPr>
                        <a:t>enteros 8 bits (-128 a 127)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401913"/>
                  </a:ext>
                </a:extLst>
              </a:tr>
              <a:tr h="263691">
                <a:tc>
                  <a:txBody>
                    <a:bodyPr/>
                    <a:lstStyle/>
                    <a:p>
                      <a:r>
                        <a:rPr lang="es-ES" sz="1300" dirty="0">
                          <a:solidFill>
                            <a:srgbClr val="009900"/>
                          </a:solidFill>
                          <a:latin typeface="+mj-lt"/>
                        </a:rPr>
                        <a:t>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>
                          <a:solidFill>
                            <a:srgbClr val="FF0000"/>
                          </a:solidFill>
                          <a:latin typeface="+mj-lt"/>
                        </a:rPr>
                        <a:t>30534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b="0" dirty="0">
                          <a:latin typeface="+mj-lt"/>
                        </a:rPr>
                        <a:t>enteros 16 bits</a:t>
                      </a:r>
                      <a:r>
                        <a:rPr lang="es-ES" sz="1300" b="0" baseline="0" dirty="0">
                          <a:latin typeface="+mj-lt"/>
                        </a:rPr>
                        <a:t> ±32.768</a:t>
                      </a:r>
                      <a:endParaRPr lang="es-ES" sz="1300" b="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436227"/>
                  </a:ext>
                </a:extLst>
              </a:tr>
              <a:tr h="263691">
                <a:tc>
                  <a:txBody>
                    <a:bodyPr/>
                    <a:lstStyle/>
                    <a:p>
                      <a:r>
                        <a:rPr lang="es-ES" sz="1300" dirty="0" err="1">
                          <a:solidFill>
                            <a:srgbClr val="009900"/>
                          </a:solidFill>
                          <a:latin typeface="+mj-lt"/>
                        </a:rPr>
                        <a:t>long</a:t>
                      </a:r>
                      <a:endParaRPr lang="es-ES" sz="1300" dirty="0">
                        <a:solidFill>
                          <a:srgbClr val="00990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300">
                          <a:solidFill>
                            <a:srgbClr val="FF0000"/>
                          </a:solidFill>
                          <a:latin typeface="+mj-lt"/>
                        </a:rPr>
                        <a:t>-1250368547</a:t>
                      </a:r>
                      <a:endParaRPr lang="es-ES" sz="1300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300" b="0" dirty="0">
                          <a:latin typeface="+mj-lt"/>
                        </a:rPr>
                        <a:t>enteros 64 bits</a:t>
                      </a:r>
                      <a:r>
                        <a:rPr lang="es-ES" sz="1300" b="0" baseline="0" dirty="0">
                          <a:latin typeface="+mj-lt"/>
                        </a:rPr>
                        <a:t> ±2.147.483.647</a:t>
                      </a:r>
                      <a:endParaRPr lang="es-ES" sz="1300" b="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939711"/>
                  </a:ext>
                </a:extLst>
              </a:tr>
              <a:tr h="263691">
                <a:tc>
                  <a:txBody>
                    <a:bodyPr/>
                    <a:lstStyle/>
                    <a:p>
                      <a:r>
                        <a:rPr lang="es-ES" sz="1300" dirty="0" err="1">
                          <a:solidFill>
                            <a:srgbClr val="009900"/>
                          </a:solidFill>
                          <a:latin typeface="+mj-lt"/>
                        </a:rPr>
                        <a:t>float</a:t>
                      </a:r>
                      <a:endParaRPr lang="es-ES" sz="1300" dirty="0">
                        <a:solidFill>
                          <a:srgbClr val="00990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>
                          <a:solidFill>
                            <a:srgbClr val="FF0000"/>
                          </a:solidFill>
                          <a:latin typeface="+mj-lt"/>
                        </a:rPr>
                        <a:t>45.765993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b="0" dirty="0">
                          <a:latin typeface="+mj-lt"/>
                        </a:rPr>
                        <a:t>reales coma flotante 32 bits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888217"/>
                  </a:ext>
                </a:extLst>
              </a:tr>
              <a:tr h="263691">
                <a:tc>
                  <a:txBody>
                    <a:bodyPr/>
                    <a:lstStyle/>
                    <a:p>
                      <a:r>
                        <a:rPr lang="es-ES" sz="1300" dirty="0" err="1">
                          <a:solidFill>
                            <a:srgbClr val="009900"/>
                          </a:solidFill>
                          <a:latin typeface="+mj-lt"/>
                        </a:rPr>
                        <a:t>double</a:t>
                      </a:r>
                      <a:endParaRPr lang="es-ES" sz="1300" dirty="0">
                        <a:solidFill>
                          <a:srgbClr val="00990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>
                          <a:solidFill>
                            <a:srgbClr val="FF0000"/>
                          </a:solidFill>
                          <a:latin typeface="+mj-lt"/>
                        </a:rPr>
                        <a:t>45.76599276865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300" b="0" dirty="0">
                          <a:latin typeface="+mj-lt"/>
                        </a:rPr>
                        <a:t>reales coma flotante 64 bits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021074"/>
                  </a:ext>
                </a:extLst>
              </a:tr>
            </a:tbl>
          </a:graphicData>
        </a:graphic>
      </p:graphicFrame>
      <p:sp>
        <p:nvSpPr>
          <p:cNvPr id="4" name="Flecha derecha 3"/>
          <p:cNvSpPr/>
          <p:nvPr/>
        </p:nvSpPr>
        <p:spPr bwMode="auto">
          <a:xfrm>
            <a:off x="1034093" y="3843118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Flecha derecha 19"/>
          <p:cNvSpPr/>
          <p:nvPr/>
        </p:nvSpPr>
        <p:spPr bwMode="auto">
          <a:xfrm>
            <a:off x="1034093" y="4132265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Flecha derecha 20"/>
          <p:cNvSpPr/>
          <p:nvPr/>
        </p:nvSpPr>
        <p:spPr bwMode="auto">
          <a:xfrm>
            <a:off x="1034093" y="4421412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Flecha derecha 21"/>
          <p:cNvSpPr/>
          <p:nvPr/>
        </p:nvSpPr>
        <p:spPr bwMode="auto">
          <a:xfrm>
            <a:off x="1034093" y="4710559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Flecha derecha 22"/>
          <p:cNvSpPr/>
          <p:nvPr/>
        </p:nvSpPr>
        <p:spPr bwMode="auto">
          <a:xfrm>
            <a:off x="1034093" y="4999706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Flecha derecha 23"/>
          <p:cNvSpPr/>
          <p:nvPr/>
        </p:nvSpPr>
        <p:spPr bwMode="auto">
          <a:xfrm>
            <a:off x="1034093" y="5288853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Flecha derecha 24"/>
          <p:cNvSpPr/>
          <p:nvPr/>
        </p:nvSpPr>
        <p:spPr bwMode="auto">
          <a:xfrm>
            <a:off x="1034093" y="5578000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Flecha derecha 25"/>
          <p:cNvSpPr/>
          <p:nvPr/>
        </p:nvSpPr>
        <p:spPr bwMode="auto">
          <a:xfrm>
            <a:off x="1034093" y="5867147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Flecha derecha 26"/>
          <p:cNvSpPr/>
          <p:nvPr/>
        </p:nvSpPr>
        <p:spPr bwMode="auto">
          <a:xfrm>
            <a:off x="1034093" y="6156297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173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15" grpId="0"/>
      <p:bldP spid="17" grpId="0"/>
      <p:bldP spid="19" grpId="0"/>
      <p:bldP spid="4" grpId="0" animBg="1"/>
      <p:bldP spid="4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29156" y="45760"/>
            <a:ext cx="7487260" cy="563563"/>
          </a:xfrm>
        </p:spPr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Simples</a:t>
            </a:r>
            <a:endParaRPr lang="en-US" sz="1400" dirty="0"/>
          </a:p>
        </p:txBody>
      </p:sp>
      <p:sp>
        <p:nvSpPr>
          <p:cNvPr id="42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1152406" y="692696"/>
            <a:ext cx="6840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>
                <a:solidFill>
                  <a:srgbClr val="000000"/>
                </a:solidFill>
              </a:rPr>
              <a:t>tipos de datos predefinidos </a:t>
            </a: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066902"/>
              </p:ext>
            </p:extLst>
          </p:nvPr>
        </p:nvGraphicFramePr>
        <p:xfrm>
          <a:off x="1317261" y="1340768"/>
          <a:ext cx="6504383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5551">
                  <a:extLst>
                    <a:ext uri="{9D8B030D-6E8A-4147-A177-3AD203B41FA5}">
                      <a16:colId xmlns:a16="http://schemas.microsoft.com/office/drawing/2014/main" val="3674340075"/>
                    </a:ext>
                  </a:extLst>
                </a:gridCol>
                <a:gridCol w="1920799">
                  <a:extLst>
                    <a:ext uri="{9D8B030D-6E8A-4147-A177-3AD203B41FA5}">
                      <a16:colId xmlns:a16="http://schemas.microsoft.com/office/drawing/2014/main" val="1312801429"/>
                    </a:ext>
                  </a:extLst>
                </a:gridCol>
                <a:gridCol w="2868033">
                  <a:extLst>
                    <a:ext uri="{9D8B030D-6E8A-4147-A177-3AD203B41FA5}">
                      <a16:colId xmlns:a16="http://schemas.microsoft.com/office/drawing/2014/main" val="3309800485"/>
                    </a:ext>
                  </a:extLst>
                </a:gridCol>
              </a:tblGrid>
              <a:tr h="263691">
                <a:tc>
                  <a:txBody>
                    <a:bodyPr/>
                    <a:lstStyle/>
                    <a:p>
                      <a:r>
                        <a:rPr lang="es-ES" sz="1300" dirty="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/>
                        <a:t>ejemplo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/>
                        <a:t>explicación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248673"/>
                  </a:ext>
                </a:extLst>
              </a:tr>
              <a:tr h="263691">
                <a:tc>
                  <a:txBody>
                    <a:bodyPr/>
                    <a:lstStyle/>
                    <a:p>
                      <a:r>
                        <a:rPr lang="es-ES" sz="1300" dirty="0" err="1">
                          <a:solidFill>
                            <a:srgbClr val="009900"/>
                          </a:solidFill>
                          <a:latin typeface="+mj-lt"/>
                        </a:rPr>
                        <a:t>string</a:t>
                      </a:r>
                      <a:endParaRPr lang="es-ES" sz="1300" dirty="0">
                        <a:solidFill>
                          <a:srgbClr val="00990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>
                          <a:solidFill>
                            <a:srgbClr val="FF0000"/>
                          </a:solidFill>
                          <a:latin typeface="+mj-lt"/>
                        </a:rPr>
                        <a:t>CFR - 5674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>
                          <a:latin typeface="+mj-lt"/>
                        </a:rPr>
                        <a:t>cadenas de</a:t>
                      </a:r>
                      <a:r>
                        <a:rPr lang="es-ES" sz="1300" baseline="0" dirty="0">
                          <a:latin typeface="+mj-lt"/>
                        </a:rPr>
                        <a:t> texto</a:t>
                      </a:r>
                      <a:endParaRPr lang="es-ES" sz="13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51842"/>
                  </a:ext>
                </a:extLst>
              </a:tr>
              <a:tr h="263691">
                <a:tc>
                  <a:txBody>
                    <a:bodyPr/>
                    <a:lstStyle/>
                    <a:p>
                      <a:r>
                        <a:rPr lang="es-ES" sz="1300" dirty="0" err="1">
                          <a:solidFill>
                            <a:srgbClr val="009900"/>
                          </a:solidFill>
                          <a:latin typeface="+mj-lt"/>
                        </a:rPr>
                        <a:t>boolean</a:t>
                      </a:r>
                      <a:endParaRPr lang="es-ES" sz="1300" dirty="0">
                        <a:solidFill>
                          <a:srgbClr val="00990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>
                          <a:solidFill>
                            <a:srgbClr val="FF0000"/>
                          </a:solidFill>
                          <a:latin typeface="+mj-lt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>
                          <a:latin typeface="+mj-lt"/>
                        </a:rPr>
                        <a:t>true o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091826"/>
                  </a:ext>
                </a:extLst>
              </a:tr>
              <a:tr h="263691">
                <a:tc>
                  <a:txBody>
                    <a:bodyPr/>
                    <a:lstStyle/>
                    <a:p>
                      <a:r>
                        <a:rPr lang="es-ES" sz="1300" dirty="0">
                          <a:solidFill>
                            <a:srgbClr val="009900"/>
                          </a:solidFill>
                          <a:latin typeface="+mj-lt"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>
                          <a:solidFill>
                            <a:srgbClr val="FF0000"/>
                          </a:solidFill>
                          <a:latin typeface="+mj-lt"/>
                        </a:rPr>
                        <a:t>2017-10-30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>
                          <a:latin typeface="+mj-lt"/>
                        </a:rPr>
                        <a:t>fecha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478059"/>
                  </a:ext>
                </a:extLst>
              </a:tr>
              <a:tr h="263691">
                <a:tc>
                  <a:txBody>
                    <a:bodyPr/>
                    <a:lstStyle/>
                    <a:p>
                      <a:r>
                        <a:rPr lang="es-ES" sz="1300" dirty="0">
                          <a:solidFill>
                            <a:srgbClr val="009900"/>
                          </a:solidFill>
                          <a:latin typeface="+mj-lt"/>
                        </a:rP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>
                          <a:solidFill>
                            <a:srgbClr val="FF0000"/>
                          </a:solidFill>
                          <a:latin typeface="+mj-lt"/>
                        </a:rPr>
                        <a:t>15:45:33.5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>
                          <a:latin typeface="+mj-lt"/>
                        </a:rPr>
                        <a:t>hora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936550"/>
                  </a:ext>
                </a:extLst>
              </a:tr>
              <a:tr h="263691">
                <a:tc>
                  <a:txBody>
                    <a:bodyPr/>
                    <a:lstStyle/>
                    <a:p>
                      <a:r>
                        <a:rPr lang="es-ES" sz="1300" dirty="0" err="1">
                          <a:solidFill>
                            <a:srgbClr val="009900"/>
                          </a:solidFill>
                          <a:latin typeface="+mj-lt"/>
                        </a:rPr>
                        <a:t>dateTime</a:t>
                      </a:r>
                      <a:endParaRPr lang="es-ES" sz="1300" dirty="0">
                        <a:solidFill>
                          <a:srgbClr val="00990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300" kern="1200" dirty="0">
                          <a:solidFill>
                            <a:srgbClr val="FF0000"/>
                          </a:solidFill>
                          <a:latin typeface="+mj-lt"/>
                          <a:ea typeface="+mn-ea"/>
                          <a:cs typeface="+mn-cs"/>
                        </a:rPr>
                        <a:t>2017-11-15T15:45:33.5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>
                          <a:latin typeface="+mj-lt"/>
                        </a:rPr>
                        <a:t>fecha y hora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166885"/>
                  </a:ext>
                </a:extLst>
              </a:tr>
              <a:tr h="263691">
                <a:tc>
                  <a:txBody>
                    <a:bodyPr/>
                    <a:lstStyle/>
                    <a:p>
                      <a:r>
                        <a:rPr lang="es-ES" sz="1300" dirty="0" err="1">
                          <a:solidFill>
                            <a:srgbClr val="009900"/>
                          </a:solidFill>
                          <a:latin typeface="+mj-lt"/>
                        </a:rPr>
                        <a:t>gMonthDay</a:t>
                      </a:r>
                      <a:endParaRPr lang="es-ES" sz="1300" dirty="0">
                        <a:solidFill>
                          <a:srgbClr val="00990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>
                          <a:solidFill>
                            <a:srgbClr val="FF0000"/>
                          </a:solidFill>
                          <a:latin typeface="+mj-lt"/>
                        </a:rPr>
                        <a:t>10-30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>
                          <a:latin typeface="+mj-lt"/>
                        </a:rPr>
                        <a:t>mes y día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401913"/>
                  </a:ext>
                </a:extLst>
              </a:tr>
              <a:tr h="263691">
                <a:tc>
                  <a:txBody>
                    <a:bodyPr/>
                    <a:lstStyle/>
                    <a:p>
                      <a:r>
                        <a:rPr lang="es-ES" sz="1300" dirty="0" err="1">
                          <a:solidFill>
                            <a:srgbClr val="009900"/>
                          </a:solidFill>
                          <a:latin typeface="+mj-lt"/>
                        </a:rPr>
                        <a:t>gYearMonth</a:t>
                      </a:r>
                      <a:endParaRPr lang="es-ES" sz="1300" dirty="0">
                        <a:solidFill>
                          <a:srgbClr val="00990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>
                          <a:solidFill>
                            <a:srgbClr val="FF0000"/>
                          </a:solidFill>
                          <a:latin typeface="+mj-lt"/>
                        </a:rPr>
                        <a:t>2017-10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>
                          <a:latin typeface="+mj-lt"/>
                        </a:rPr>
                        <a:t>año y 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436227"/>
                  </a:ext>
                </a:extLst>
              </a:tr>
              <a:tr h="263691">
                <a:tc>
                  <a:txBody>
                    <a:bodyPr/>
                    <a:lstStyle/>
                    <a:p>
                      <a:r>
                        <a:rPr lang="es-ES" sz="1300" dirty="0" err="1">
                          <a:solidFill>
                            <a:srgbClr val="009900"/>
                          </a:solidFill>
                          <a:latin typeface="+mj-lt"/>
                        </a:rPr>
                        <a:t>gDay</a:t>
                      </a:r>
                      <a:endParaRPr lang="es-ES" sz="1300" dirty="0">
                        <a:solidFill>
                          <a:srgbClr val="00990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300" dirty="0">
                          <a:solidFill>
                            <a:srgbClr val="FF0000"/>
                          </a:solidFill>
                          <a:latin typeface="+mj-lt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300" dirty="0">
                          <a:latin typeface="+mj-lt"/>
                        </a:rPr>
                        <a:t>día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939711"/>
                  </a:ext>
                </a:extLst>
              </a:tr>
              <a:tr h="263691">
                <a:tc>
                  <a:txBody>
                    <a:bodyPr/>
                    <a:lstStyle/>
                    <a:p>
                      <a:r>
                        <a:rPr lang="es-ES" sz="1300" dirty="0" err="1">
                          <a:solidFill>
                            <a:srgbClr val="009900"/>
                          </a:solidFill>
                          <a:latin typeface="+mj-lt"/>
                        </a:rPr>
                        <a:t>gMonth</a:t>
                      </a:r>
                      <a:endParaRPr lang="es-ES" sz="1300" dirty="0">
                        <a:solidFill>
                          <a:srgbClr val="00990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>
                          <a:solidFill>
                            <a:srgbClr val="FF0000"/>
                          </a:solidFill>
                          <a:latin typeface="+mj-lt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>
                          <a:latin typeface="+mj-lt"/>
                        </a:rPr>
                        <a:t>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888217"/>
                  </a:ext>
                </a:extLst>
              </a:tr>
              <a:tr h="263691">
                <a:tc>
                  <a:txBody>
                    <a:bodyPr/>
                    <a:lstStyle/>
                    <a:p>
                      <a:r>
                        <a:rPr lang="es-ES" sz="1300" dirty="0" err="1">
                          <a:solidFill>
                            <a:srgbClr val="009900"/>
                          </a:solidFill>
                          <a:latin typeface="+mj-lt"/>
                        </a:rPr>
                        <a:t>gYear</a:t>
                      </a:r>
                      <a:endParaRPr lang="es-ES" sz="1300" dirty="0">
                        <a:solidFill>
                          <a:srgbClr val="00990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>
                          <a:solidFill>
                            <a:srgbClr val="FF0000"/>
                          </a:solidFill>
                          <a:latin typeface="+mj-lt"/>
                        </a:rP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>
                          <a:latin typeface="+mj-lt"/>
                        </a:rPr>
                        <a:t>año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906958"/>
                  </a:ext>
                </a:extLst>
              </a:tr>
              <a:tr h="263691">
                <a:tc>
                  <a:txBody>
                    <a:bodyPr/>
                    <a:lstStyle/>
                    <a:p>
                      <a:r>
                        <a:rPr lang="es-ES" sz="1300" dirty="0" err="1">
                          <a:solidFill>
                            <a:srgbClr val="009900"/>
                          </a:solidFill>
                          <a:latin typeface="+mj-lt"/>
                        </a:rPr>
                        <a:t>hexBinary</a:t>
                      </a:r>
                      <a:endParaRPr lang="es-ES" sz="1300" dirty="0">
                        <a:solidFill>
                          <a:srgbClr val="00990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>
                          <a:solidFill>
                            <a:srgbClr val="FF0000"/>
                          </a:solidFill>
                          <a:latin typeface="+mj-lt"/>
                        </a:rPr>
                        <a:t>75714af95ea7cc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>
                          <a:latin typeface="+mj-lt"/>
                        </a:rPr>
                        <a:t>hexadecimal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538286"/>
                  </a:ext>
                </a:extLst>
              </a:tr>
              <a:tr h="263691">
                <a:tc>
                  <a:txBody>
                    <a:bodyPr/>
                    <a:lstStyle/>
                    <a:p>
                      <a:r>
                        <a:rPr lang="es-ES" sz="1300" dirty="0">
                          <a:solidFill>
                            <a:srgbClr val="009900"/>
                          </a:solidFill>
                          <a:latin typeface="+mj-lt"/>
                        </a:rPr>
                        <a:t>base64Binary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>
                          <a:solidFill>
                            <a:srgbClr val="FF0000"/>
                          </a:solidFill>
                          <a:latin typeface="+mj-lt"/>
                        </a:rPr>
                        <a:t>cnRjbGNyZW9scg==…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>
                          <a:latin typeface="+mj-lt"/>
                        </a:rPr>
                        <a:t>base</a:t>
                      </a:r>
                      <a:r>
                        <a:rPr lang="es-ES" sz="1300" baseline="0" dirty="0">
                          <a:latin typeface="+mj-lt"/>
                        </a:rPr>
                        <a:t> 64</a:t>
                      </a:r>
                      <a:endParaRPr lang="es-ES" sz="13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01422"/>
                  </a:ext>
                </a:extLst>
              </a:tr>
              <a:tr h="263691">
                <a:tc>
                  <a:txBody>
                    <a:bodyPr/>
                    <a:lstStyle/>
                    <a:p>
                      <a:r>
                        <a:rPr lang="es-ES" sz="1300" dirty="0" err="1">
                          <a:solidFill>
                            <a:srgbClr val="009900"/>
                          </a:solidFill>
                          <a:latin typeface="+mj-lt"/>
                        </a:rPr>
                        <a:t>anyURI</a:t>
                      </a:r>
                      <a:endParaRPr lang="es-ES" sz="1300" dirty="0">
                        <a:solidFill>
                          <a:srgbClr val="00990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>
                          <a:solidFill>
                            <a:srgbClr val="FF0000"/>
                          </a:solidFill>
                          <a:latin typeface="+mj-lt"/>
                        </a:rPr>
                        <a:t>http://www.w3c.com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dirty="0" err="1">
                          <a:latin typeface="+mj-lt"/>
                        </a:rPr>
                        <a:t>url</a:t>
                      </a:r>
                      <a:endParaRPr lang="es-ES" sz="13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264973"/>
                  </a:ext>
                </a:extLst>
              </a:tr>
            </a:tbl>
          </a:graphicData>
        </a:graphic>
      </p:graphicFrame>
      <p:sp>
        <p:nvSpPr>
          <p:cNvPr id="7" name="Flecha derecha 6"/>
          <p:cNvSpPr/>
          <p:nvPr/>
        </p:nvSpPr>
        <p:spPr bwMode="auto">
          <a:xfrm>
            <a:off x="1034093" y="1673913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Flecha derecha 8"/>
          <p:cNvSpPr/>
          <p:nvPr/>
        </p:nvSpPr>
        <p:spPr bwMode="auto">
          <a:xfrm>
            <a:off x="1034093" y="1963694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Flecha derecha 9"/>
          <p:cNvSpPr/>
          <p:nvPr/>
        </p:nvSpPr>
        <p:spPr bwMode="auto">
          <a:xfrm>
            <a:off x="1034093" y="2253475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Flecha derecha 10"/>
          <p:cNvSpPr/>
          <p:nvPr/>
        </p:nvSpPr>
        <p:spPr bwMode="auto">
          <a:xfrm>
            <a:off x="1034093" y="2543256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Flecha derecha 11"/>
          <p:cNvSpPr/>
          <p:nvPr/>
        </p:nvSpPr>
        <p:spPr bwMode="auto">
          <a:xfrm>
            <a:off x="1034093" y="2833037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Flecha derecha 12"/>
          <p:cNvSpPr/>
          <p:nvPr/>
        </p:nvSpPr>
        <p:spPr bwMode="auto">
          <a:xfrm>
            <a:off x="1034093" y="3122818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Flecha derecha 13"/>
          <p:cNvSpPr/>
          <p:nvPr/>
        </p:nvSpPr>
        <p:spPr bwMode="auto">
          <a:xfrm>
            <a:off x="1034093" y="3412599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Flecha derecha 14"/>
          <p:cNvSpPr/>
          <p:nvPr/>
        </p:nvSpPr>
        <p:spPr bwMode="auto">
          <a:xfrm>
            <a:off x="1034093" y="3702380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Flecha derecha 15"/>
          <p:cNvSpPr/>
          <p:nvPr/>
        </p:nvSpPr>
        <p:spPr bwMode="auto">
          <a:xfrm>
            <a:off x="1034093" y="3992161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Flecha derecha 16"/>
          <p:cNvSpPr/>
          <p:nvPr/>
        </p:nvSpPr>
        <p:spPr bwMode="auto">
          <a:xfrm>
            <a:off x="1043608" y="4281942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Flecha derecha 17"/>
          <p:cNvSpPr/>
          <p:nvPr/>
        </p:nvSpPr>
        <p:spPr bwMode="auto">
          <a:xfrm>
            <a:off x="1043608" y="4571723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Flecha derecha 18"/>
          <p:cNvSpPr/>
          <p:nvPr/>
        </p:nvSpPr>
        <p:spPr bwMode="auto">
          <a:xfrm>
            <a:off x="1043608" y="4861504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Flecha derecha 19"/>
          <p:cNvSpPr/>
          <p:nvPr/>
        </p:nvSpPr>
        <p:spPr bwMode="auto">
          <a:xfrm>
            <a:off x="1043608" y="5151284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993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24 Esquina doblada"/>
          <p:cNvSpPr/>
          <p:nvPr/>
        </p:nvSpPr>
        <p:spPr bwMode="auto">
          <a:xfrm>
            <a:off x="1835696" y="1664795"/>
            <a:ext cx="5328592" cy="4146125"/>
          </a:xfrm>
          <a:prstGeom prst="foldedCorner">
            <a:avLst/>
          </a:prstGeom>
          <a:solidFill>
            <a:srgbClr val="FFFFCC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29156" y="45760"/>
            <a:ext cx="7487260" cy="563563"/>
          </a:xfrm>
        </p:spPr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Simples</a:t>
            </a:r>
            <a:endParaRPr lang="en-US" sz="1400" dirty="0"/>
          </a:p>
        </p:txBody>
      </p:sp>
      <p:sp>
        <p:nvSpPr>
          <p:cNvPr id="42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4" name="CuadroTexto 43"/>
          <p:cNvSpPr txBox="1"/>
          <p:nvPr/>
        </p:nvSpPr>
        <p:spPr>
          <a:xfrm>
            <a:off x="1835696" y="1268760"/>
            <a:ext cx="5328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rgbClr val="000000"/>
                </a:solidFill>
              </a:rPr>
              <a:t>ticket_parking.xml</a:t>
            </a:r>
          </a:p>
        </p:txBody>
      </p:sp>
      <p:sp>
        <p:nvSpPr>
          <p:cNvPr id="48" name="CuadroTexto 47"/>
          <p:cNvSpPr txBox="1"/>
          <p:nvPr/>
        </p:nvSpPr>
        <p:spPr>
          <a:xfrm>
            <a:off x="1984933" y="1840602"/>
            <a:ext cx="50813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chemeClr val="bg2">
                    <a:lumMod val="50000"/>
                  </a:schemeClr>
                </a:solidFill>
              </a:rPr>
              <a:t>&lt;?</a:t>
            </a:r>
            <a:r>
              <a:rPr lang="es-ES" sz="1400" dirty="0" err="1">
                <a:solidFill>
                  <a:schemeClr val="bg2">
                    <a:lumMod val="50000"/>
                  </a:schemeClr>
                </a:solidFill>
              </a:rPr>
              <a:t>xml</a:t>
            </a:r>
            <a:r>
              <a:rPr lang="es-E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s-ES" sz="1400" dirty="0" err="1">
                <a:solidFill>
                  <a:schemeClr val="bg2">
                    <a:lumMod val="50000"/>
                  </a:schemeClr>
                </a:solidFill>
              </a:rPr>
              <a:t>version</a:t>
            </a:r>
            <a:r>
              <a:rPr lang="es-ES" sz="1400" dirty="0">
                <a:solidFill>
                  <a:schemeClr val="bg2">
                    <a:lumMod val="50000"/>
                  </a:schemeClr>
                </a:solidFill>
              </a:rPr>
              <a:t>= "1.0" </a:t>
            </a:r>
            <a:r>
              <a:rPr lang="es-ES" sz="1400" dirty="0" err="1">
                <a:solidFill>
                  <a:schemeClr val="bg2">
                    <a:lumMod val="50000"/>
                  </a:schemeClr>
                </a:solidFill>
              </a:rPr>
              <a:t>encoding</a:t>
            </a:r>
            <a:r>
              <a:rPr lang="es-ES" sz="1400" dirty="0">
                <a:solidFill>
                  <a:schemeClr val="bg2">
                    <a:lumMod val="50000"/>
                  </a:schemeClr>
                </a:solidFill>
              </a:rPr>
              <a:t>="ISO-8859-1"?&gt;</a:t>
            </a:r>
            <a:endParaRPr lang="es-ES" sz="14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endParaRPr lang="es-ES" sz="14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</a:t>
            </a:r>
            <a:r>
              <a:rPr lang="es-ES" sz="14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ticket_parking</a:t>
            </a:r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 </a:t>
            </a:r>
            <a:r>
              <a:rPr lang="es-ES" sz="1400" dirty="0" err="1">
                <a:solidFill>
                  <a:srgbClr val="00B050"/>
                </a:solidFill>
              </a:rPr>
              <a:t>xmlns:xsi</a:t>
            </a:r>
            <a:r>
              <a:rPr lang="es-ES" sz="1400" dirty="0">
                <a:solidFill>
                  <a:srgbClr val="00B050"/>
                </a:solidFill>
              </a:rPr>
              <a:t>="http://www.w3.org/2001/XMLSchema-instance"</a:t>
            </a:r>
          </a:p>
          <a:p>
            <a:r>
              <a:rPr lang="es-ES" sz="1400" dirty="0">
                <a:solidFill>
                  <a:srgbClr val="00B050"/>
                </a:solidFill>
              </a:rPr>
              <a:t>     </a:t>
            </a:r>
            <a:r>
              <a:rPr lang="es-ES" sz="1400" dirty="0" err="1">
                <a:solidFill>
                  <a:srgbClr val="00B050"/>
                </a:solidFill>
              </a:rPr>
              <a:t>xsi:noNamespaceSchemaLocation</a:t>
            </a:r>
            <a:r>
              <a:rPr lang="es-ES" sz="1400" dirty="0">
                <a:solidFill>
                  <a:srgbClr val="00B050"/>
                </a:solidFill>
              </a:rPr>
              <a:t>="ticket_parking.xsd"</a:t>
            </a:r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&gt;</a:t>
            </a:r>
          </a:p>
          <a:p>
            <a:endParaRPr lang="es-ES" sz="14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 &lt;matricula&gt;</a:t>
            </a:r>
            <a:r>
              <a:rPr lang="es-ES" sz="1400" dirty="0">
                <a:solidFill>
                  <a:srgbClr val="FF0000"/>
                </a:solidFill>
              </a:rPr>
              <a:t>5674-CFR</a:t>
            </a:r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&lt;/matricula&gt;</a:t>
            </a:r>
          </a:p>
          <a:p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 &lt;bono&gt;</a:t>
            </a:r>
            <a:r>
              <a:rPr lang="es-ES" sz="1400" dirty="0">
                <a:solidFill>
                  <a:srgbClr val="FF0000"/>
                </a:solidFill>
              </a:rPr>
              <a:t>true</a:t>
            </a:r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&lt;/bono&gt;</a:t>
            </a:r>
          </a:p>
          <a:p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 &lt;</a:t>
            </a:r>
            <a:r>
              <a:rPr lang="es-ES" sz="14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fecha_entr</a:t>
            </a:r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&gt;</a:t>
            </a:r>
            <a:r>
              <a:rPr lang="es-ES" sz="1400" dirty="0">
                <a:solidFill>
                  <a:srgbClr val="FF0000"/>
                </a:solidFill>
              </a:rPr>
              <a:t>2017-11-14</a:t>
            </a:r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</a:t>
            </a:r>
            <a:r>
              <a:rPr lang="es-ES" sz="14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fecha_entr</a:t>
            </a:r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&gt;</a:t>
            </a:r>
          </a:p>
          <a:p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 &lt;</a:t>
            </a:r>
            <a:r>
              <a:rPr lang="es-ES" sz="14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hora_entr</a:t>
            </a:r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&gt;</a:t>
            </a:r>
            <a:r>
              <a:rPr lang="es-ES" sz="1400" dirty="0">
                <a:solidFill>
                  <a:srgbClr val="FF0000"/>
                </a:solidFill>
              </a:rPr>
              <a:t>10:45:13.5</a:t>
            </a:r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</a:t>
            </a:r>
            <a:r>
              <a:rPr lang="es-ES" sz="14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hora_entr</a:t>
            </a:r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&gt;</a:t>
            </a:r>
          </a:p>
          <a:p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 &lt;salida&gt;</a:t>
            </a:r>
            <a:r>
              <a:rPr lang="es-ES" sz="1400" dirty="0">
                <a:solidFill>
                  <a:srgbClr val="FF0000"/>
                </a:solidFill>
              </a:rPr>
              <a:t>2017-11-14</a:t>
            </a:r>
            <a:r>
              <a:rPr lang="es-ES" sz="1400" dirty="0">
                <a:solidFill>
                  <a:srgbClr val="C00000"/>
                </a:solidFill>
              </a:rPr>
              <a:t>T</a:t>
            </a:r>
            <a:r>
              <a:rPr lang="es-ES" sz="1400" dirty="0">
                <a:solidFill>
                  <a:srgbClr val="FF0000"/>
                </a:solidFill>
              </a:rPr>
              <a:t>11:50:05</a:t>
            </a:r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&lt;salida&gt;</a:t>
            </a:r>
          </a:p>
          <a:p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 &lt;minutos&gt;</a:t>
            </a:r>
            <a:r>
              <a:rPr lang="es-ES" sz="1400" dirty="0">
                <a:solidFill>
                  <a:srgbClr val="FF0000"/>
                </a:solidFill>
              </a:rPr>
              <a:t>65</a:t>
            </a:r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&lt;/minutos&gt;</a:t>
            </a:r>
            <a:endParaRPr lang="es-ES" sz="1400" dirty="0">
              <a:solidFill>
                <a:srgbClr val="FFC000"/>
              </a:solidFill>
            </a:endParaRPr>
          </a:p>
          <a:p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 &lt;importe&gt;</a:t>
            </a:r>
            <a:r>
              <a:rPr lang="es-ES" sz="1400" dirty="0">
                <a:solidFill>
                  <a:srgbClr val="FF0000"/>
                </a:solidFill>
              </a:rPr>
              <a:t>5.65</a:t>
            </a:r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&lt;/importe&gt;</a:t>
            </a:r>
          </a:p>
          <a:p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 &lt;foto&gt;</a:t>
            </a:r>
            <a:r>
              <a:rPr lang="es-ES" sz="1400" dirty="0">
                <a:solidFill>
                  <a:srgbClr val="FF0000"/>
                </a:solidFill>
              </a:rPr>
              <a:t>cnRjbGNyZW9scg==</a:t>
            </a:r>
            <a:r>
              <a:rPr lang="es-ES" sz="1400" dirty="0">
                <a:solidFill>
                  <a:srgbClr val="00B050"/>
                </a:solidFill>
              </a:rPr>
              <a:t>…</a:t>
            </a:r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&lt;/foto&gt;</a:t>
            </a:r>
          </a:p>
          <a:p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 &lt;huella&gt;</a:t>
            </a:r>
            <a:r>
              <a:rPr lang="es-ES" sz="1400" dirty="0">
                <a:solidFill>
                  <a:srgbClr val="FF0000"/>
                </a:solidFill>
              </a:rPr>
              <a:t>75714af95ea7cc</a:t>
            </a:r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…&lt;/huella&gt;</a:t>
            </a:r>
          </a:p>
          <a:p>
            <a:endParaRPr lang="es-ES" sz="14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</a:t>
            </a:r>
            <a:r>
              <a:rPr lang="es-ES" sz="14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ticket_parking</a:t>
            </a:r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&gt;</a:t>
            </a:r>
          </a:p>
          <a:p>
            <a:endParaRPr lang="es-ES" sz="14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5665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611560" y="1340768"/>
            <a:ext cx="6264696" cy="5055802"/>
            <a:chOff x="251521" y="2564904"/>
            <a:chExt cx="4896544" cy="4240089"/>
          </a:xfrm>
        </p:grpSpPr>
        <p:sp>
          <p:nvSpPr>
            <p:cNvPr id="45" name="24 Esquina doblada"/>
            <p:cNvSpPr/>
            <p:nvPr/>
          </p:nvSpPr>
          <p:spPr bwMode="auto">
            <a:xfrm>
              <a:off x="251521" y="2564904"/>
              <a:ext cx="4896544" cy="3906231"/>
            </a:xfrm>
            <a:prstGeom prst="foldedCorner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_tradnl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0" name="CuadroTexto 29"/>
            <p:cNvSpPr txBox="1"/>
            <p:nvPr/>
          </p:nvSpPr>
          <p:spPr>
            <a:xfrm>
              <a:off x="1127465" y="6466439"/>
              <a:ext cx="26820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b="1" dirty="0">
                  <a:solidFill>
                    <a:srgbClr val="000000"/>
                  </a:solidFill>
                </a:rPr>
                <a:t>ticket_parking.xsd</a:t>
              </a:r>
            </a:p>
          </p:txBody>
        </p:sp>
      </p:grp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29156" y="45760"/>
            <a:ext cx="7487260" cy="563563"/>
          </a:xfrm>
        </p:spPr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Simples</a:t>
            </a:r>
            <a:endParaRPr lang="en-US" sz="1400" dirty="0"/>
          </a:p>
        </p:txBody>
      </p:sp>
      <p:sp>
        <p:nvSpPr>
          <p:cNvPr id="60" name="CuadroTexto 59"/>
          <p:cNvSpPr txBox="1"/>
          <p:nvPr/>
        </p:nvSpPr>
        <p:spPr>
          <a:xfrm>
            <a:off x="854168" y="1477164"/>
            <a:ext cx="631012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000000"/>
                </a:solidFill>
              </a:rPr>
              <a:t>&lt;?</a:t>
            </a:r>
            <a:r>
              <a:rPr lang="es-ES" sz="1400" dirty="0" err="1">
                <a:solidFill>
                  <a:srgbClr val="000000"/>
                </a:solidFill>
              </a:rPr>
              <a:t>xml</a:t>
            </a:r>
            <a:r>
              <a:rPr lang="es-ES" sz="1400" dirty="0">
                <a:solidFill>
                  <a:srgbClr val="000000"/>
                </a:solidFill>
              </a:rPr>
              <a:t> </a:t>
            </a:r>
            <a:r>
              <a:rPr lang="es-ES" sz="1400" dirty="0" err="1">
                <a:solidFill>
                  <a:srgbClr val="000000"/>
                </a:solidFill>
              </a:rPr>
              <a:t>version</a:t>
            </a:r>
            <a:r>
              <a:rPr lang="es-ES" sz="1400" dirty="0">
                <a:solidFill>
                  <a:srgbClr val="000000"/>
                </a:solidFill>
              </a:rPr>
              <a:t>="1.0" ?&gt;</a:t>
            </a:r>
          </a:p>
          <a:p>
            <a:endParaRPr lang="es-ES" sz="1400" dirty="0">
              <a:solidFill>
                <a:srgbClr val="000000"/>
              </a:solidFill>
            </a:endParaRPr>
          </a:p>
          <a:p>
            <a:r>
              <a:rPr lang="es-ES" sz="1400" b="1" dirty="0">
                <a:solidFill>
                  <a:srgbClr val="000000"/>
                </a:solidFill>
              </a:rPr>
              <a:t>&lt;</a:t>
            </a:r>
            <a:r>
              <a:rPr lang="es-ES" sz="1400" b="1" dirty="0" err="1">
                <a:solidFill>
                  <a:srgbClr val="000000"/>
                </a:solidFill>
              </a:rPr>
              <a:t>xs:schema</a:t>
            </a:r>
            <a:r>
              <a:rPr lang="es-ES" sz="1400" b="1" dirty="0">
                <a:solidFill>
                  <a:srgbClr val="000000"/>
                </a:solidFill>
              </a:rPr>
              <a:t> </a:t>
            </a:r>
            <a:r>
              <a:rPr lang="es-ES" sz="1200" dirty="0" err="1">
                <a:solidFill>
                  <a:schemeClr val="bg1">
                    <a:lumMod val="50000"/>
                  </a:schemeClr>
                </a:solidFill>
              </a:rPr>
              <a:t>xmlns:xs</a:t>
            </a:r>
            <a:r>
              <a:rPr lang="es-ES" sz="1200" dirty="0">
                <a:solidFill>
                  <a:schemeClr val="bg1">
                    <a:lumMod val="50000"/>
                  </a:schemeClr>
                </a:solidFill>
              </a:rPr>
              <a:t>="http://www.w3.org/2001/XMLSchema"</a:t>
            </a:r>
            <a:r>
              <a:rPr lang="es-ES" sz="1400" b="1" dirty="0">
                <a:solidFill>
                  <a:srgbClr val="000000"/>
                </a:solidFill>
              </a:rPr>
              <a:t>&gt;</a:t>
            </a:r>
          </a:p>
          <a:p>
            <a:r>
              <a:rPr lang="es-ES" sz="1400" dirty="0">
                <a:solidFill>
                  <a:srgbClr val="002060"/>
                </a:solidFill>
              </a:rPr>
              <a:t>   &lt;</a:t>
            </a:r>
            <a:r>
              <a:rPr lang="es-ES" sz="1400" dirty="0" err="1">
                <a:solidFill>
                  <a:srgbClr val="002060"/>
                </a:solidFill>
              </a:rPr>
              <a:t>xs:element</a:t>
            </a:r>
            <a:r>
              <a:rPr lang="es-ES" sz="1400" dirty="0">
                <a:solidFill>
                  <a:srgbClr val="002060"/>
                </a:solidFill>
              </a:rPr>
              <a:t> </a:t>
            </a:r>
            <a:r>
              <a:rPr lang="es-ES" sz="1400" dirty="0" err="1">
                <a:solidFill>
                  <a:srgbClr val="002060"/>
                </a:solidFill>
              </a:rPr>
              <a:t>name</a:t>
            </a:r>
            <a:r>
              <a:rPr lang="es-ES" sz="1400" dirty="0">
                <a:solidFill>
                  <a:srgbClr val="002060"/>
                </a:solidFill>
              </a:rPr>
              <a:t>="</a:t>
            </a:r>
            <a:r>
              <a:rPr lang="es-ES" sz="1400" dirty="0" err="1">
                <a:solidFill>
                  <a:srgbClr val="002060"/>
                </a:solidFill>
              </a:rPr>
              <a:t>ticket_parking</a:t>
            </a:r>
            <a:r>
              <a:rPr lang="es-ES" sz="1400" dirty="0">
                <a:solidFill>
                  <a:srgbClr val="002060"/>
                </a:solidFill>
              </a:rPr>
              <a:t>"&gt;</a:t>
            </a:r>
          </a:p>
          <a:p>
            <a:r>
              <a:rPr lang="es-ES" sz="1400" dirty="0">
                <a:solidFill>
                  <a:srgbClr val="002060"/>
                </a:solidFill>
              </a:rPr>
              <a:t>      &lt;</a:t>
            </a:r>
            <a:r>
              <a:rPr lang="es-ES" sz="1400" dirty="0" err="1">
                <a:solidFill>
                  <a:srgbClr val="002060"/>
                </a:solidFill>
              </a:rPr>
              <a:t>xs:complexType</a:t>
            </a:r>
            <a:r>
              <a:rPr lang="es-ES" sz="1400" dirty="0">
                <a:solidFill>
                  <a:srgbClr val="002060"/>
                </a:solidFill>
              </a:rPr>
              <a:t>&gt;</a:t>
            </a:r>
          </a:p>
          <a:p>
            <a:r>
              <a:rPr lang="es-ES" sz="1400" dirty="0">
                <a:solidFill>
                  <a:srgbClr val="002060"/>
                </a:solidFill>
              </a:rPr>
              <a:t>         &lt;</a:t>
            </a:r>
            <a:r>
              <a:rPr lang="es-ES" sz="1400" dirty="0" err="1">
                <a:solidFill>
                  <a:srgbClr val="002060"/>
                </a:solidFill>
              </a:rPr>
              <a:t>xs:sequence</a:t>
            </a:r>
            <a:r>
              <a:rPr lang="es-ES" sz="1400" dirty="0">
                <a:solidFill>
                  <a:srgbClr val="002060"/>
                </a:solidFill>
              </a:rPr>
              <a:t>&gt;</a:t>
            </a:r>
          </a:p>
          <a:p>
            <a:r>
              <a:rPr lang="es-ES" sz="1400" dirty="0">
                <a:solidFill>
                  <a:srgbClr val="0070C0"/>
                </a:solidFill>
              </a:rPr>
              <a:t>             &lt;</a:t>
            </a:r>
            <a:r>
              <a:rPr lang="es-ES" sz="1400" dirty="0" err="1">
                <a:solidFill>
                  <a:srgbClr val="0070C0"/>
                </a:solidFill>
              </a:rPr>
              <a:t>xs:element</a:t>
            </a:r>
            <a:r>
              <a:rPr lang="es-ES" sz="1400" dirty="0">
                <a:solidFill>
                  <a:srgbClr val="0070C0"/>
                </a:solidFill>
              </a:rPr>
              <a:t> 	</a:t>
            </a:r>
            <a:r>
              <a:rPr lang="es-ES" sz="1400" dirty="0" err="1">
                <a:solidFill>
                  <a:srgbClr val="00CC00"/>
                </a:solidFill>
              </a:rPr>
              <a:t>name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>
                <a:solidFill>
                  <a:srgbClr val="FF9900"/>
                </a:solidFill>
              </a:rPr>
              <a:t>matricula</a:t>
            </a:r>
            <a:r>
              <a:rPr lang="es-ES" sz="1400" dirty="0">
                <a:solidFill>
                  <a:srgbClr val="00CC00"/>
                </a:solidFill>
              </a:rPr>
              <a:t>"	</a:t>
            </a:r>
            <a:r>
              <a:rPr lang="es-ES" sz="1400" dirty="0" err="1">
                <a:solidFill>
                  <a:srgbClr val="00CC00"/>
                </a:solidFill>
              </a:rPr>
              <a:t>type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 err="1">
                <a:solidFill>
                  <a:srgbClr val="C00000"/>
                </a:solidFill>
              </a:rPr>
              <a:t>xs:</a:t>
            </a:r>
            <a:r>
              <a:rPr lang="es-ES" sz="1400" dirty="0" err="1">
                <a:solidFill>
                  <a:srgbClr val="FF9900"/>
                </a:solidFill>
              </a:rPr>
              <a:t>string</a:t>
            </a:r>
            <a:r>
              <a:rPr lang="es-ES" sz="1400" dirty="0">
                <a:solidFill>
                  <a:srgbClr val="00CC00"/>
                </a:solidFill>
              </a:rPr>
              <a:t>"	 </a:t>
            </a:r>
            <a:r>
              <a:rPr lang="es-ES" sz="14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400" dirty="0">
                <a:solidFill>
                  <a:srgbClr val="0070C0"/>
                </a:solidFill>
              </a:rPr>
              <a:t>             &lt;</a:t>
            </a:r>
            <a:r>
              <a:rPr lang="es-ES" sz="1400" dirty="0" err="1">
                <a:solidFill>
                  <a:srgbClr val="0070C0"/>
                </a:solidFill>
              </a:rPr>
              <a:t>xs:element</a:t>
            </a:r>
            <a:r>
              <a:rPr lang="es-ES" sz="1400" dirty="0">
                <a:solidFill>
                  <a:srgbClr val="0070C0"/>
                </a:solidFill>
              </a:rPr>
              <a:t> 	</a:t>
            </a:r>
            <a:r>
              <a:rPr lang="es-ES" sz="1400" dirty="0" err="1">
                <a:solidFill>
                  <a:srgbClr val="00CC00"/>
                </a:solidFill>
              </a:rPr>
              <a:t>name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>
                <a:solidFill>
                  <a:srgbClr val="FF9900"/>
                </a:solidFill>
              </a:rPr>
              <a:t>bono</a:t>
            </a:r>
            <a:r>
              <a:rPr lang="es-ES" sz="1400" dirty="0">
                <a:solidFill>
                  <a:srgbClr val="00CC00"/>
                </a:solidFill>
              </a:rPr>
              <a:t>"	</a:t>
            </a:r>
            <a:r>
              <a:rPr lang="es-ES" sz="1400" dirty="0" err="1">
                <a:solidFill>
                  <a:srgbClr val="00CC00"/>
                </a:solidFill>
              </a:rPr>
              <a:t>type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 err="1">
                <a:solidFill>
                  <a:srgbClr val="C00000"/>
                </a:solidFill>
              </a:rPr>
              <a:t>xs:</a:t>
            </a:r>
            <a:r>
              <a:rPr lang="es-ES" sz="1400" dirty="0" err="1">
                <a:solidFill>
                  <a:srgbClr val="FF9900"/>
                </a:solidFill>
              </a:rPr>
              <a:t>boolean</a:t>
            </a:r>
            <a:r>
              <a:rPr lang="es-ES" sz="1400" dirty="0">
                <a:solidFill>
                  <a:srgbClr val="00CC00"/>
                </a:solidFill>
              </a:rPr>
              <a:t>"	 </a:t>
            </a:r>
            <a:r>
              <a:rPr lang="es-ES" sz="14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400" dirty="0">
                <a:solidFill>
                  <a:srgbClr val="0070C0"/>
                </a:solidFill>
              </a:rPr>
              <a:t>             &lt;</a:t>
            </a:r>
            <a:r>
              <a:rPr lang="es-ES" sz="1400" dirty="0" err="1">
                <a:solidFill>
                  <a:srgbClr val="0070C0"/>
                </a:solidFill>
              </a:rPr>
              <a:t>xs:element</a:t>
            </a:r>
            <a:r>
              <a:rPr lang="es-ES" sz="1400" dirty="0">
                <a:solidFill>
                  <a:srgbClr val="0070C0"/>
                </a:solidFill>
              </a:rPr>
              <a:t> 	</a:t>
            </a:r>
            <a:r>
              <a:rPr lang="es-ES" sz="1400" dirty="0" err="1">
                <a:solidFill>
                  <a:srgbClr val="00CC00"/>
                </a:solidFill>
              </a:rPr>
              <a:t>name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 err="1">
                <a:solidFill>
                  <a:srgbClr val="FF9900"/>
                </a:solidFill>
              </a:rPr>
              <a:t>fecha_entr</a:t>
            </a:r>
            <a:r>
              <a:rPr lang="es-ES" sz="1400" dirty="0">
                <a:solidFill>
                  <a:srgbClr val="00CC00"/>
                </a:solidFill>
              </a:rPr>
              <a:t>" 	</a:t>
            </a:r>
            <a:r>
              <a:rPr lang="es-ES" sz="1400" dirty="0" err="1">
                <a:solidFill>
                  <a:srgbClr val="00CC00"/>
                </a:solidFill>
              </a:rPr>
              <a:t>type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 err="1">
                <a:solidFill>
                  <a:srgbClr val="C00000"/>
                </a:solidFill>
              </a:rPr>
              <a:t>xs:</a:t>
            </a:r>
            <a:r>
              <a:rPr lang="es-ES" sz="1400" dirty="0" err="1">
                <a:solidFill>
                  <a:srgbClr val="FF9900"/>
                </a:solidFill>
              </a:rPr>
              <a:t>date</a:t>
            </a:r>
            <a:r>
              <a:rPr lang="es-ES" sz="1400" dirty="0">
                <a:solidFill>
                  <a:srgbClr val="00CC00"/>
                </a:solidFill>
              </a:rPr>
              <a:t>"	 </a:t>
            </a:r>
            <a:r>
              <a:rPr lang="es-ES" sz="14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400" dirty="0">
                <a:solidFill>
                  <a:srgbClr val="0070C0"/>
                </a:solidFill>
              </a:rPr>
              <a:t>             &lt;</a:t>
            </a:r>
            <a:r>
              <a:rPr lang="es-ES" sz="1400" dirty="0" err="1">
                <a:solidFill>
                  <a:srgbClr val="0070C0"/>
                </a:solidFill>
              </a:rPr>
              <a:t>xs:element</a:t>
            </a:r>
            <a:r>
              <a:rPr lang="es-ES" sz="1400" dirty="0">
                <a:solidFill>
                  <a:srgbClr val="0070C0"/>
                </a:solidFill>
              </a:rPr>
              <a:t> 	</a:t>
            </a:r>
            <a:r>
              <a:rPr lang="es-ES" sz="1400" dirty="0" err="1">
                <a:solidFill>
                  <a:srgbClr val="00CC00"/>
                </a:solidFill>
              </a:rPr>
              <a:t>name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 err="1">
                <a:solidFill>
                  <a:srgbClr val="FF9900"/>
                </a:solidFill>
              </a:rPr>
              <a:t>hora_entr</a:t>
            </a:r>
            <a:r>
              <a:rPr lang="es-ES" sz="1400" dirty="0">
                <a:solidFill>
                  <a:srgbClr val="00CC00"/>
                </a:solidFill>
              </a:rPr>
              <a:t>" 	</a:t>
            </a:r>
            <a:r>
              <a:rPr lang="es-ES" sz="1400" dirty="0" err="1">
                <a:solidFill>
                  <a:srgbClr val="00CC00"/>
                </a:solidFill>
              </a:rPr>
              <a:t>type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 err="1">
                <a:solidFill>
                  <a:srgbClr val="C00000"/>
                </a:solidFill>
              </a:rPr>
              <a:t>xs:</a:t>
            </a:r>
            <a:r>
              <a:rPr lang="es-ES" sz="1400" dirty="0" err="1">
                <a:solidFill>
                  <a:srgbClr val="FF9900"/>
                </a:solidFill>
              </a:rPr>
              <a:t>time</a:t>
            </a:r>
            <a:r>
              <a:rPr lang="es-ES" sz="1400" dirty="0">
                <a:solidFill>
                  <a:srgbClr val="00CC00"/>
                </a:solidFill>
              </a:rPr>
              <a:t>"	 </a:t>
            </a:r>
            <a:r>
              <a:rPr lang="es-ES" sz="14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400" dirty="0">
                <a:solidFill>
                  <a:srgbClr val="0070C0"/>
                </a:solidFill>
              </a:rPr>
              <a:t>             &lt;</a:t>
            </a:r>
            <a:r>
              <a:rPr lang="es-ES" sz="1400" dirty="0" err="1">
                <a:solidFill>
                  <a:srgbClr val="0070C0"/>
                </a:solidFill>
              </a:rPr>
              <a:t>xs:element</a:t>
            </a:r>
            <a:r>
              <a:rPr lang="es-ES" sz="1400" dirty="0">
                <a:solidFill>
                  <a:srgbClr val="0070C0"/>
                </a:solidFill>
              </a:rPr>
              <a:t> 	</a:t>
            </a:r>
            <a:r>
              <a:rPr lang="es-ES" sz="1400" dirty="0" err="1">
                <a:solidFill>
                  <a:srgbClr val="00CC00"/>
                </a:solidFill>
              </a:rPr>
              <a:t>name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>
                <a:solidFill>
                  <a:srgbClr val="FF9900"/>
                </a:solidFill>
              </a:rPr>
              <a:t>salida</a:t>
            </a:r>
            <a:r>
              <a:rPr lang="es-ES" sz="1400" dirty="0">
                <a:solidFill>
                  <a:srgbClr val="00CC00"/>
                </a:solidFill>
              </a:rPr>
              <a:t>" 	</a:t>
            </a:r>
            <a:r>
              <a:rPr lang="es-ES" sz="1400" dirty="0" err="1">
                <a:solidFill>
                  <a:srgbClr val="00CC00"/>
                </a:solidFill>
              </a:rPr>
              <a:t>type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 err="1">
                <a:solidFill>
                  <a:srgbClr val="C00000"/>
                </a:solidFill>
              </a:rPr>
              <a:t>xs:</a:t>
            </a:r>
            <a:r>
              <a:rPr lang="es-ES" sz="1400" dirty="0" err="1">
                <a:solidFill>
                  <a:srgbClr val="FF9900"/>
                </a:solidFill>
              </a:rPr>
              <a:t>datetime</a:t>
            </a:r>
            <a:r>
              <a:rPr lang="es-ES" sz="1400" dirty="0">
                <a:solidFill>
                  <a:srgbClr val="00CC00"/>
                </a:solidFill>
              </a:rPr>
              <a:t>"	 </a:t>
            </a:r>
            <a:r>
              <a:rPr lang="es-ES" sz="14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400" dirty="0">
                <a:solidFill>
                  <a:srgbClr val="0070C0"/>
                </a:solidFill>
              </a:rPr>
              <a:t>             &lt;</a:t>
            </a:r>
            <a:r>
              <a:rPr lang="es-ES" sz="1400" dirty="0" err="1">
                <a:solidFill>
                  <a:srgbClr val="0070C0"/>
                </a:solidFill>
              </a:rPr>
              <a:t>xs:element</a:t>
            </a:r>
            <a:r>
              <a:rPr lang="es-ES" sz="1400" dirty="0">
                <a:solidFill>
                  <a:srgbClr val="0070C0"/>
                </a:solidFill>
              </a:rPr>
              <a:t> 	</a:t>
            </a:r>
            <a:r>
              <a:rPr lang="es-ES" sz="1400" dirty="0" err="1">
                <a:solidFill>
                  <a:srgbClr val="00CC00"/>
                </a:solidFill>
              </a:rPr>
              <a:t>name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>
                <a:solidFill>
                  <a:srgbClr val="FF9900"/>
                </a:solidFill>
              </a:rPr>
              <a:t>minutos</a:t>
            </a:r>
            <a:r>
              <a:rPr lang="es-ES" sz="1400" dirty="0">
                <a:solidFill>
                  <a:srgbClr val="00CC00"/>
                </a:solidFill>
              </a:rPr>
              <a:t>" 	</a:t>
            </a:r>
            <a:r>
              <a:rPr lang="es-ES" sz="1400" dirty="0" err="1">
                <a:solidFill>
                  <a:srgbClr val="00CC00"/>
                </a:solidFill>
              </a:rPr>
              <a:t>type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 err="1">
                <a:solidFill>
                  <a:srgbClr val="C00000"/>
                </a:solidFill>
              </a:rPr>
              <a:t>xs:</a:t>
            </a:r>
            <a:r>
              <a:rPr lang="es-ES" sz="1400" dirty="0" err="1">
                <a:solidFill>
                  <a:srgbClr val="FF9900"/>
                </a:solidFill>
              </a:rPr>
              <a:t>integer</a:t>
            </a:r>
            <a:r>
              <a:rPr lang="es-ES" sz="1400" dirty="0">
                <a:solidFill>
                  <a:srgbClr val="00CC00"/>
                </a:solidFill>
              </a:rPr>
              <a:t>"	 </a:t>
            </a:r>
            <a:r>
              <a:rPr lang="es-ES" sz="14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400" dirty="0">
                <a:solidFill>
                  <a:srgbClr val="0070C0"/>
                </a:solidFill>
              </a:rPr>
              <a:t>             &lt;</a:t>
            </a:r>
            <a:r>
              <a:rPr lang="es-ES" sz="1400" dirty="0" err="1">
                <a:solidFill>
                  <a:srgbClr val="0070C0"/>
                </a:solidFill>
              </a:rPr>
              <a:t>xs:element</a:t>
            </a:r>
            <a:r>
              <a:rPr lang="es-ES" sz="1400" dirty="0">
                <a:solidFill>
                  <a:srgbClr val="0070C0"/>
                </a:solidFill>
              </a:rPr>
              <a:t> 	</a:t>
            </a:r>
            <a:r>
              <a:rPr lang="es-ES" sz="1400" dirty="0" err="1">
                <a:solidFill>
                  <a:srgbClr val="00CC00"/>
                </a:solidFill>
              </a:rPr>
              <a:t>name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>
                <a:solidFill>
                  <a:srgbClr val="FF9900"/>
                </a:solidFill>
              </a:rPr>
              <a:t>importe</a:t>
            </a:r>
            <a:r>
              <a:rPr lang="es-ES" sz="1400" dirty="0">
                <a:solidFill>
                  <a:srgbClr val="00CC00"/>
                </a:solidFill>
              </a:rPr>
              <a:t>" 	</a:t>
            </a:r>
            <a:r>
              <a:rPr lang="es-ES" sz="1400" dirty="0" err="1">
                <a:solidFill>
                  <a:srgbClr val="00CC00"/>
                </a:solidFill>
              </a:rPr>
              <a:t>type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 err="1">
                <a:solidFill>
                  <a:srgbClr val="C00000"/>
                </a:solidFill>
              </a:rPr>
              <a:t>xs:</a:t>
            </a:r>
            <a:r>
              <a:rPr lang="es-ES" sz="1400" dirty="0" err="1">
                <a:solidFill>
                  <a:srgbClr val="FF9900"/>
                </a:solidFill>
              </a:rPr>
              <a:t>decimal</a:t>
            </a:r>
            <a:r>
              <a:rPr lang="es-ES" sz="1400" dirty="0">
                <a:solidFill>
                  <a:srgbClr val="00CC00"/>
                </a:solidFill>
              </a:rPr>
              <a:t>"	 </a:t>
            </a:r>
            <a:r>
              <a:rPr lang="es-ES" sz="14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400" dirty="0">
                <a:solidFill>
                  <a:srgbClr val="0070C0"/>
                </a:solidFill>
              </a:rPr>
              <a:t>             &lt;</a:t>
            </a:r>
            <a:r>
              <a:rPr lang="es-ES" sz="1400" dirty="0" err="1">
                <a:solidFill>
                  <a:srgbClr val="0070C0"/>
                </a:solidFill>
              </a:rPr>
              <a:t>xs:element</a:t>
            </a:r>
            <a:r>
              <a:rPr lang="es-ES" sz="1400" dirty="0">
                <a:solidFill>
                  <a:srgbClr val="0070C0"/>
                </a:solidFill>
              </a:rPr>
              <a:t> 	</a:t>
            </a:r>
            <a:r>
              <a:rPr lang="es-ES" sz="1400" dirty="0" err="1">
                <a:solidFill>
                  <a:srgbClr val="00CC00"/>
                </a:solidFill>
              </a:rPr>
              <a:t>name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>
                <a:solidFill>
                  <a:srgbClr val="FF9900"/>
                </a:solidFill>
              </a:rPr>
              <a:t>foto</a:t>
            </a:r>
            <a:r>
              <a:rPr lang="es-ES" sz="1400" dirty="0">
                <a:solidFill>
                  <a:srgbClr val="00CC00"/>
                </a:solidFill>
              </a:rPr>
              <a:t>" 	</a:t>
            </a:r>
            <a:r>
              <a:rPr lang="es-ES" sz="1400" dirty="0" err="1">
                <a:solidFill>
                  <a:srgbClr val="00CC00"/>
                </a:solidFill>
              </a:rPr>
              <a:t>type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350" dirty="0">
                <a:solidFill>
                  <a:srgbClr val="C00000"/>
                </a:solidFill>
              </a:rPr>
              <a:t>xs:</a:t>
            </a:r>
            <a:r>
              <a:rPr lang="es-ES" sz="1350" dirty="0">
                <a:solidFill>
                  <a:srgbClr val="FF9900"/>
                </a:solidFill>
              </a:rPr>
              <a:t>base64Binary</a:t>
            </a:r>
            <a:r>
              <a:rPr lang="es-ES" sz="1400" dirty="0">
                <a:solidFill>
                  <a:srgbClr val="00CC00"/>
                </a:solidFill>
              </a:rPr>
              <a:t>" </a:t>
            </a:r>
            <a:r>
              <a:rPr lang="es-ES" sz="14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400" dirty="0">
                <a:solidFill>
                  <a:srgbClr val="0070C0"/>
                </a:solidFill>
              </a:rPr>
              <a:t>             &lt;</a:t>
            </a:r>
            <a:r>
              <a:rPr lang="es-ES" sz="1400" dirty="0" err="1">
                <a:solidFill>
                  <a:srgbClr val="0070C0"/>
                </a:solidFill>
              </a:rPr>
              <a:t>xs:element</a:t>
            </a:r>
            <a:r>
              <a:rPr lang="es-ES" sz="1400" dirty="0">
                <a:solidFill>
                  <a:srgbClr val="0070C0"/>
                </a:solidFill>
              </a:rPr>
              <a:t> 	</a:t>
            </a:r>
            <a:r>
              <a:rPr lang="es-ES" sz="1400" dirty="0" err="1">
                <a:solidFill>
                  <a:srgbClr val="00CC00"/>
                </a:solidFill>
              </a:rPr>
              <a:t>name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>
                <a:solidFill>
                  <a:srgbClr val="FF9900"/>
                </a:solidFill>
              </a:rPr>
              <a:t>huella</a:t>
            </a:r>
            <a:r>
              <a:rPr lang="es-ES" sz="1400" dirty="0">
                <a:solidFill>
                  <a:srgbClr val="00CC00"/>
                </a:solidFill>
              </a:rPr>
              <a:t>" 	</a:t>
            </a:r>
            <a:r>
              <a:rPr lang="es-ES" sz="1400" dirty="0" err="1">
                <a:solidFill>
                  <a:srgbClr val="00CC00"/>
                </a:solidFill>
              </a:rPr>
              <a:t>type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 err="1">
                <a:solidFill>
                  <a:srgbClr val="C00000"/>
                </a:solidFill>
              </a:rPr>
              <a:t>xs:</a:t>
            </a:r>
            <a:r>
              <a:rPr lang="es-ES" sz="1400" dirty="0" err="1">
                <a:solidFill>
                  <a:srgbClr val="FF9900"/>
                </a:solidFill>
              </a:rPr>
              <a:t>hexBinary</a:t>
            </a:r>
            <a:r>
              <a:rPr lang="es-ES" sz="1400" dirty="0">
                <a:solidFill>
                  <a:srgbClr val="00CC00"/>
                </a:solidFill>
              </a:rPr>
              <a:t>"	 </a:t>
            </a:r>
            <a:r>
              <a:rPr lang="es-ES" sz="1400" dirty="0">
                <a:solidFill>
                  <a:srgbClr val="0070C0"/>
                </a:solidFill>
              </a:rPr>
              <a:t>/&gt;</a:t>
            </a:r>
            <a:endParaRPr lang="es-ES" sz="1400" dirty="0">
              <a:solidFill>
                <a:srgbClr val="00B050"/>
              </a:solidFill>
            </a:endParaRPr>
          </a:p>
          <a:p>
            <a:r>
              <a:rPr lang="es-ES" sz="1400" dirty="0">
                <a:solidFill>
                  <a:srgbClr val="002060"/>
                </a:solidFill>
              </a:rPr>
              <a:t>          &lt;/</a:t>
            </a:r>
            <a:r>
              <a:rPr lang="es-ES" sz="1400" dirty="0" err="1">
                <a:solidFill>
                  <a:srgbClr val="002060"/>
                </a:solidFill>
              </a:rPr>
              <a:t>xs:sequence</a:t>
            </a:r>
            <a:r>
              <a:rPr lang="es-ES" sz="1400" dirty="0">
                <a:solidFill>
                  <a:srgbClr val="002060"/>
                </a:solidFill>
              </a:rPr>
              <a:t>&gt;</a:t>
            </a:r>
          </a:p>
          <a:p>
            <a:r>
              <a:rPr lang="es-ES" sz="1400" dirty="0">
                <a:solidFill>
                  <a:srgbClr val="002060"/>
                </a:solidFill>
              </a:rPr>
              <a:t>       &lt;/</a:t>
            </a:r>
            <a:r>
              <a:rPr lang="es-ES" sz="1400" dirty="0" err="1">
                <a:solidFill>
                  <a:srgbClr val="002060"/>
                </a:solidFill>
              </a:rPr>
              <a:t>xs:complexType</a:t>
            </a:r>
            <a:r>
              <a:rPr lang="es-ES" sz="1400" dirty="0">
                <a:solidFill>
                  <a:srgbClr val="002060"/>
                </a:solidFill>
              </a:rPr>
              <a:t>&gt;</a:t>
            </a:r>
          </a:p>
          <a:p>
            <a:r>
              <a:rPr lang="es-ES" sz="1400" dirty="0">
                <a:solidFill>
                  <a:srgbClr val="002060"/>
                </a:solidFill>
              </a:rPr>
              <a:t>    &lt;/</a:t>
            </a:r>
            <a:r>
              <a:rPr lang="es-ES" sz="1400" dirty="0" err="1">
                <a:solidFill>
                  <a:srgbClr val="002060"/>
                </a:solidFill>
              </a:rPr>
              <a:t>xs:element</a:t>
            </a:r>
            <a:r>
              <a:rPr lang="es-ES" sz="1400" dirty="0">
                <a:solidFill>
                  <a:srgbClr val="002060"/>
                </a:solidFill>
              </a:rPr>
              <a:t>&gt;</a:t>
            </a:r>
          </a:p>
          <a:p>
            <a:r>
              <a:rPr lang="es-ES" sz="1400" b="1" dirty="0">
                <a:solidFill>
                  <a:srgbClr val="000000"/>
                </a:solidFill>
              </a:rPr>
              <a:t>&lt;/</a:t>
            </a:r>
            <a:r>
              <a:rPr lang="es-ES" sz="1400" b="1" dirty="0" err="1">
                <a:solidFill>
                  <a:srgbClr val="000000"/>
                </a:solidFill>
              </a:rPr>
              <a:t>xs:schema</a:t>
            </a:r>
            <a:r>
              <a:rPr lang="es-ES" sz="1400" b="1" dirty="0">
                <a:solidFill>
                  <a:srgbClr val="000000"/>
                </a:solidFill>
              </a:rPr>
              <a:t>&gt;</a:t>
            </a:r>
          </a:p>
        </p:txBody>
      </p:sp>
      <p:sp>
        <p:nvSpPr>
          <p:cNvPr id="37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5" name="CuadroTexto 74"/>
          <p:cNvSpPr txBox="1"/>
          <p:nvPr/>
        </p:nvSpPr>
        <p:spPr>
          <a:xfrm>
            <a:off x="6897800" y="2756051"/>
            <a:ext cx="20743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FF0000"/>
                </a:solidFill>
              </a:rPr>
              <a:t>5674-CFR</a:t>
            </a:r>
            <a:endParaRPr lang="es-ES" sz="14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r>
              <a:rPr lang="es-ES" sz="1400" dirty="0">
                <a:solidFill>
                  <a:srgbClr val="FF0000"/>
                </a:solidFill>
              </a:rPr>
              <a:t>true</a:t>
            </a:r>
          </a:p>
          <a:p>
            <a:r>
              <a:rPr lang="es-ES" sz="1400" dirty="0">
                <a:solidFill>
                  <a:srgbClr val="FF0000"/>
                </a:solidFill>
              </a:rPr>
              <a:t>2017-11-14</a:t>
            </a:r>
            <a:endParaRPr lang="es-ES" sz="14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r>
              <a:rPr lang="es-ES" sz="1400" dirty="0">
                <a:solidFill>
                  <a:srgbClr val="FF0000"/>
                </a:solidFill>
              </a:rPr>
              <a:t>10:45:13.5</a:t>
            </a:r>
          </a:p>
          <a:p>
            <a:r>
              <a:rPr lang="es-ES" sz="1400" dirty="0">
                <a:solidFill>
                  <a:srgbClr val="FF0000"/>
                </a:solidFill>
              </a:rPr>
              <a:t>2017-11-14</a:t>
            </a:r>
            <a:r>
              <a:rPr lang="es-ES" sz="1400" dirty="0">
                <a:solidFill>
                  <a:srgbClr val="C00000"/>
                </a:solidFill>
              </a:rPr>
              <a:t>T</a:t>
            </a:r>
            <a:r>
              <a:rPr lang="es-ES" sz="1400" dirty="0">
                <a:solidFill>
                  <a:srgbClr val="FF0000"/>
                </a:solidFill>
              </a:rPr>
              <a:t>11:50:05</a:t>
            </a:r>
            <a:endParaRPr lang="es-ES" sz="14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r>
              <a:rPr lang="es-ES" sz="1400" dirty="0">
                <a:solidFill>
                  <a:srgbClr val="FF0000"/>
                </a:solidFill>
              </a:rPr>
              <a:t>65</a:t>
            </a:r>
            <a:endParaRPr lang="es-ES" sz="1400" dirty="0">
              <a:solidFill>
                <a:srgbClr val="FFC000"/>
              </a:solidFill>
            </a:endParaRPr>
          </a:p>
          <a:p>
            <a:r>
              <a:rPr lang="es-ES" sz="1400" dirty="0">
                <a:solidFill>
                  <a:srgbClr val="FF0000"/>
                </a:solidFill>
              </a:rPr>
              <a:t>5.65</a:t>
            </a:r>
            <a:endParaRPr lang="es-ES" sz="14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r>
              <a:rPr lang="es-ES" sz="1400" dirty="0">
                <a:solidFill>
                  <a:srgbClr val="FF0000"/>
                </a:solidFill>
              </a:rPr>
              <a:t>cnRjbGNyZW9scg==</a:t>
            </a:r>
            <a:r>
              <a:rPr lang="es-ES" sz="1400" dirty="0">
                <a:solidFill>
                  <a:srgbClr val="00B050"/>
                </a:solidFill>
              </a:rPr>
              <a:t>…</a:t>
            </a:r>
            <a:endParaRPr lang="es-ES" sz="14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r>
              <a:rPr lang="es-ES" sz="1400" dirty="0">
                <a:solidFill>
                  <a:srgbClr val="FF0000"/>
                </a:solidFill>
              </a:rPr>
              <a:t>75714af95ea7cc</a:t>
            </a:r>
            <a:r>
              <a:rPr lang="es-E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…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715448" y="6500663"/>
            <a:ext cx="7624481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Realiza los ejercicios 2 a 4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1152406" y="692696"/>
            <a:ext cx="6840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>
                <a:solidFill>
                  <a:srgbClr val="000000"/>
                </a:solidFill>
              </a:rPr>
              <a:t>ejemplo de </a:t>
            </a:r>
            <a:r>
              <a:rPr lang="es-ES" sz="1800" dirty="0" err="1">
                <a:solidFill>
                  <a:srgbClr val="000000"/>
                </a:solidFill>
              </a:rPr>
              <a:t>squema</a:t>
            </a:r>
            <a:endParaRPr lang="es-ES" sz="1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391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6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6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6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6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6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6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6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uiExpand="1" build="p"/>
      <p:bldP spid="75" grpId="0" build="allAtOnce"/>
      <p:bldP spid="75" grpId="1" uiExpand="1" build="p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24 Esquina doblada"/>
          <p:cNvSpPr/>
          <p:nvPr/>
        </p:nvSpPr>
        <p:spPr bwMode="auto">
          <a:xfrm>
            <a:off x="1638318" y="4221088"/>
            <a:ext cx="5976664" cy="2383606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Rectángulo 24"/>
          <p:cNvSpPr/>
          <p:nvPr/>
        </p:nvSpPr>
        <p:spPr bwMode="auto">
          <a:xfrm>
            <a:off x="2151002" y="4814596"/>
            <a:ext cx="4576144" cy="1492898"/>
          </a:xfrm>
          <a:prstGeom prst="rect">
            <a:avLst/>
          </a:prstGeom>
          <a:solidFill>
            <a:srgbClr val="99FF99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Rectángulo 23"/>
          <p:cNvSpPr/>
          <p:nvPr/>
        </p:nvSpPr>
        <p:spPr bwMode="auto">
          <a:xfrm>
            <a:off x="2444621" y="5038531"/>
            <a:ext cx="3937126" cy="1054359"/>
          </a:xfrm>
          <a:prstGeom prst="rect">
            <a:avLst/>
          </a:prstGeom>
          <a:solidFill>
            <a:srgbClr val="FFE1FF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24 Esquina doblada"/>
          <p:cNvSpPr/>
          <p:nvPr/>
        </p:nvSpPr>
        <p:spPr bwMode="auto">
          <a:xfrm>
            <a:off x="1603100" y="1693466"/>
            <a:ext cx="6011882" cy="2383606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Rectángulo 21"/>
          <p:cNvSpPr/>
          <p:nvPr/>
        </p:nvSpPr>
        <p:spPr bwMode="auto">
          <a:xfrm>
            <a:off x="2177060" y="2312432"/>
            <a:ext cx="4550085" cy="217780"/>
          </a:xfrm>
          <a:prstGeom prst="rect">
            <a:avLst/>
          </a:prstGeom>
          <a:solidFill>
            <a:srgbClr val="99FF99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Rectángulo 22"/>
          <p:cNvSpPr/>
          <p:nvPr/>
        </p:nvSpPr>
        <p:spPr bwMode="auto">
          <a:xfrm>
            <a:off x="2177060" y="2593020"/>
            <a:ext cx="4550085" cy="1030169"/>
          </a:xfrm>
          <a:prstGeom prst="rect">
            <a:avLst/>
          </a:prstGeom>
          <a:solidFill>
            <a:srgbClr val="FFE1FF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1829083" y="1765637"/>
            <a:ext cx="549786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000000"/>
                </a:solidFill>
              </a:rPr>
              <a:t>&lt;?</a:t>
            </a:r>
            <a:r>
              <a:rPr lang="es-ES" sz="1400" dirty="0" err="1">
                <a:solidFill>
                  <a:srgbClr val="000000"/>
                </a:solidFill>
              </a:rPr>
              <a:t>xml</a:t>
            </a:r>
            <a:r>
              <a:rPr lang="es-ES" sz="1400" dirty="0">
                <a:solidFill>
                  <a:srgbClr val="000000"/>
                </a:solidFill>
              </a:rPr>
              <a:t> </a:t>
            </a:r>
            <a:r>
              <a:rPr lang="es-ES" sz="1400" dirty="0" err="1">
                <a:solidFill>
                  <a:srgbClr val="000000"/>
                </a:solidFill>
              </a:rPr>
              <a:t>version</a:t>
            </a:r>
            <a:r>
              <a:rPr lang="es-ES" sz="1400" dirty="0">
                <a:solidFill>
                  <a:srgbClr val="000000"/>
                </a:solidFill>
              </a:rPr>
              <a:t>="1.0" ?&gt;</a:t>
            </a:r>
          </a:p>
          <a:p>
            <a:r>
              <a:rPr lang="es-ES" sz="1400" b="1" dirty="0">
                <a:solidFill>
                  <a:srgbClr val="000000"/>
                </a:solidFill>
              </a:rPr>
              <a:t>&lt;</a:t>
            </a:r>
            <a:r>
              <a:rPr lang="es-ES" sz="1400" b="1" dirty="0" err="1">
                <a:solidFill>
                  <a:srgbClr val="000000"/>
                </a:solidFill>
              </a:rPr>
              <a:t>xs:schema</a:t>
            </a:r>
            <a:r>
              <a:rPr lang="es-ES" sz="1400" b="1" dirty="0">
                <a:solidFill>
                  <a:srgbClr val="000000"/>
                </a:solidFill>
              </a:rPr>
              <a:t> </a:t>
            </a:r>
            <a:r>
              <a:rPr lang="es-ES" sz="1400" dirty="0" err="1">
                <a:solidFill>
                  <a:schemeClr val="bg1">
                    <a:lumMod val="50000"/>
                  </a:schemeClr>
                </a:solidFill>
              </a:rPr>
              <a:t>xmlns:xs</a:t>
            </a:r>
            <a:r>
              <a:rPr lang="es-ES" sz="1400" dirty="0">
                <a:solidFill>
                  <a:schemeClr val="bg1">
                    <a:lumMod val="50000"/>
                  </a:schemeClr>
                </a:solidFill>
              </a:rPr>
              <a:t>="http://www.w3.org/2001/XMLSchema"</a:t>
            </a:r>
            <a:r>
              <a:rPr lang="es-ES" sz="1400" b="1" dirty="0">
                <a:solidFill>
                  <a:srgbClr val="000000"/>
                </a:solidFill>
              </a:rPr>
              <a:t>&gt;</a:t>
            </a: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r>
              <a:rPr lang="es-ES" sz="1400" b="1" dirty="0">
                <a:solidFill>
                  <a:srgbClr val="000000"/>
                </a:solidFill>
              </a:rPr>
              <a:t>&lt;/</a:t>
            </a:r>
            <a:r>
              <a:rPr lang="es-ES" sz="1400" b="1" dirty="0" err="1">
                <a:solidFill>
                  <a:srgbClr val="000000"/>
                </a:solidFill>
              </a:rPr>
              <a:t>xs:schema</a:t>
            </a:r>
            <a:r>
              <a:rPr lang="es-ES" sz="1400" b="1" dirty="0">
                <a:solidFill>
                  <a:srgbClr val="000000"/>
                </a:solidFill>
              </a:rPr>
              <a:t>&gt;</a:t>
            </a:r>
          </a:p>
        </p:txBody>
      </p:sp>
      <p:sp>
        <p:nvSpPr>
          <p:cNvPr id="17" name="CuadroTexto 16"/>
          <p:cNvSpPr txBox="1"/>
          <p:nvPr/>
        </p:nvSpPr>
        <p:spPr>
          <a:xfrm>
            <a:off x="2357612" y="2260728"/>
            <a:ext cx="5474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0070C0"/>
                </a:solidFill>
              </a:rPr>
              <a:t>&lt;</a:t>
            </a:r>
            <a:r>
              <a:rPr lang="es-ES" sz="1400" dirty="0" err="1">
                <a:solidFill>
                  <a:srgbClr val="0070C0"/>
                </a:solidFill>
              </a:rPr>
              <a:t>xs:element</a:t>
            </a:r>
            <a:r>
              <a:rPr lang="es-ES" sz="1400" dirty="0">
                <a:solidFill>
                  <a:srgbClr val="0070C0"/>
                </a:solidFill>
              </a:rPr>
              <a:t>  </a:t>
            </a:r>
            <a:r>
              <a:rPr lang="es-ES" sz="1400" dirty="0" err="1">
                <a:solidFill>
                  <a:srgbClr val="00CC00"/>
                </a:solidFill>
              </a:rPr>
              <a:t>name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>
                <a:solidFill>
                  <a:srgbClr val="FF9900"/>
                </a:solidFill>
              </a:rPr>
              <a:t>edad</a:t>
            </a:r>
            <a:r>
              <a:rPr lang="es-ES" sz="1400" dirty="0">
                <a:solidFill>
                  <a:srgbClr val="00CC00"/>
                </a:solidFill>
              </a:rPr>
              <a:t>"  </a:t>
            </a:r>
            <a:r>
              <a:rPr lang="es-ES" sz="1400" dirty="0" err="1">
                <a:solidFill>
                  <a:srgbClr val="00CC00"/>
                </a:solidFill>
              </a:rPr>
              <a:t>type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 err="1">
                <a:solidFill>
                  <a:srgbClr val="FF9900"/>
                </a:solidFill>
              </a:rPr>
              <a:t>mayorEdad</a:t>
            </a:r>
            <a:r>
              <a:rPr lang="es-ES" sz="1400" dirty="0">
                <a:solidFill>
                  <a:srgbClr val="00CC00"/>
                </a:solidFill>
              </a:rPr>
              <a:t>"</a:t>
            </a:r>
            <a:r>
              <a:rPr lang="es-ES" sz="1400" dirty="0">
                <a:solidFill>
                  <a:srgbClr val="0070C0"/>
                </a:solidFill>
              </a:rPr>
              <a:t>/&gt;</a:t>
            </a:r>
            <a:endParaRPr lang="es-ES" sz="1400" b="1" dirty="0">
              <a:solidFill>
                <a:srgbClr val="000000"/>
              </a:solidFill>
            </a:endParaRPr>
          </a:p>
        </p:txBody>
      </p:sp>
      <p:sp>
        <p:nvSpPr>
          <p:cNvPr id="2" name="Rectángulo 1"/>
          <p:cNvSpPr/>
          <p:nvPr/>
        </p:nvSpPr>
        <p:spPr bwMode="auto">
          <a:xfrm>
            <a:off x="1764474" y="1268760"/>
            <a:ext cx="5616624" cy="338554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29156" y="45760"/>
            <a:ext cx="7487260" cy="563563"/>
          </a:xfrm>
        </p:spPr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Simples</a:t>
            </a:r>
            <a:endParaRPr lang="en-US" sz="1400" dirty="0"/>
          </a:p>
        </p:txBody>
      </p:sp>
      <p:sp>
        <p:nvSpPr>
          <p:cNvPr id="42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411761" y="1268760"/>
            <a:ext cx="4315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&lt;edad&gt;</a:t>
            </a:r>
            <a:r>
              <a:rPr lang="es-ES" sz="1600" dirty="0">
                <a:solidFill>
                  <a:srgbClr val="FF0000"/>
                </a:solidFill>
              </a:rPr>
              <a:t>19</a:t>
            </a:r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&lt;/edad&gt;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1152406" y="836712"/>
            <a:ext cx="6840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>
                <a:solidFill>
                  <a:srgbClr val="000000"/>
                </a:solidFill>
              </a:rPr>
              <a:t>tipos de datos definidos por el usuario </a:t>
            </a:r>
          </a:p>
        </p:txBody>
      </p:sp>
      <p:sp>
        <p:nvSpPr>
          <p:cNvPr id="15" name="CuadroTexto 14"/>
          <p:cNvSpPr txBox="1"/>
          <p:nvPr/>
        </p:nvSpPr>
        <p:spPr>
          <a:xfrm>
            <a:off x="2357612" y="2260728"/>
            <a:ext cx="4249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0070C0"/>
                </a:solidFill>
              </a:rPr>
              <a:t>&lt;</a:t>
            </a:r>
            <a:r>
              <a:rPr lang="es-ES" sz="1400" dirty="0" err="1">
                <a:solidFill>
                  <a:srgbClr val="0070C0"/>
                </a:solidFill>
              </a:rPr>
              <a:t>xs:element</a:t>
            </a:r>
            <a:r>
              <a:rPr lang="es-ES" sz="1400" dirty="0">
                <a:solidFill>
                  <a:srgbClr val="0070C0"/>
                </a:solidFill>
              </a:rPr>
              <a:t>  </a:t>
            </a:r>
            <a:r>
              <a:rPr lang="es-ES" sz="1400" dirty="0" err="1">
                <a:solidFill>
                  <a:srgbClr val="00CC00"/>
                </a:solidFill>
              </a:rPr>
              <a:t>name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>
                <a:solidFill>
                  <a:srgbClr val="FF9900"/>
                </a:solidFill>
              </a:rPr>
              <a:t>edad</a:t>
            </a:r>
            <a:r>
              <a:rPr lang="es-ES" sz="1400" dirty="0">
                <a:solidFill>
                  <a:srgbClr val="00CC00"/>
                </a:solidFill>
              </a:rPr>
              <a:t>"  </a:t>
            </a:r>
            <a:r>
              <a:rPr lang="es-ES" sz="1400" dirty="0" err="1">
                <a:solidFill>
                  <a:srgbClr val="00CC00"/>
                </a:solidFill>
              </a:rPr>
              <a:t>type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 err="1">
                <a:solidFill>
                  <a:srgbClr val="FF9900"/>
                </a:solidFill>
              </a:rPr>
              <a:t>xs:integer</a:t>
            </a:r>
            <a:r>
              <a:rPr lang="es-ES" sz="1400" dirty="0">
                <a:solidFill>
                  <a:srgbClr val="00CC00"/>
                </a:solidFill>
              </a:rPr>
              <a:t>"</a:t>
            </a:r>
            <a:r>
              <a:rPr lang="es-ES" sz="1400" dirty="0">
                <a:solidFill>
                  <a:srgbClr val="0070C0"/>
                </a:solidFill>
              </a:rPr>
              <a:t>/&gt;</a:t>
            </a:r>
            <a:endParaRPr lang="es-ES" sz="1400" b="1" dirty="0">
              <a:solidFill>
                <a:srgbClr val="000000"/>
              </a:solidFill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2357612" y="2510826"/>
            <a:ext cx="482022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F51BBC"/>
                </a:solidFill>
              </a:rPr>
              <a:t>&lt;</a:t>
            </a:r>
            <a:r>
              <a:rPr lang="es-ES" sz="1400" dirty="0" err="1">
                <a:solidFill>
                  <a:srgbClr val="F51BBC"/>
                </a:solidFill>
              </a:rPr>
              <a:t>xs:simpleType</a:t>
            </a:r>
            <a:r>
              <a:rPr lang="es-ES" sz="1400" dirty="0">
                <a:solidFill>
                  <a:srgbClr val="F51BBC"/>
                </a:solidFill>
              </a:rPr>
              <a:t>  </a:t>
            </a:r>
            <a:r>
              <a:rPr lang="es-ES" sz="1400" dirty="0" err="1">
                <a:solidFill>
                  <a:srgbClr val="00CC00"/>
                </a:solidFill>
              </a:rPr>
              <a:t>name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 err="1">
                <a:solidFill>
                  <a:srgbClr val="FF9900"/>
                </a:solidFill>
              </a:rPr>
              <a:t>mayorEdad</a:t>
            </a:r>
            <a:r>
              <a:rPr lang="es-ES" sz="1400" dirty="0">
                <a:solidFill>
                  <a:srgbClr val="00CC00"/>
                </a:solidFill>
              </a:rPr>
              <a:t>"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400" dirty="0">
                <a:solidFill>
                  <a:srgbClr val="0070C0"/>
                </a:solidFill>
              </a:rPr>
              <a:t>        </a:t>
            </a:r>
            <a:r>
              <a:rPr lang="es-ES" sz="1400" dirty="0">
                <a:solidFill>
                  <a:srgbClr val="F51BBC"/>
                </a:solidFill>
              </a:rPr>
              <a:t>&lt;</a:t>
            </a:r>
            <a:r>
              <a:rPr lang="es-ES" sz="1400" dirty="0" err="1">
                <a:solidFill>
                  <a:srgbClr val="F51BBC"/>
                </a:solidFill>
              </a:rPr>
              <a:t>xs:restriction</a:t>
            </a:r>
            <a:r>
              <a:rPr lang="es-ES" sz="1400" dirty="0">
                <a:solidFill>
                  <a:srgbClr val="F51BBC"/>
                </a:solidFill>
              </a:rPr>
              <a:t> </a:t>
            </a:r>
            <a:r>
              <a:rPr lang="es-ES" sz="1400" dirty="0">
                <a:solidFill>
                  <a:srgbClr val="00CC00"/>
                </a:solidFill>
              </a:rPr>
              <a:t>base="</a:t>
            </a:r>
            <a:r>
              <a:rPr lang="es-ES" sz="1400" dirty="0" err="1">
                <a:solidFill>
                  <a:srgbClr val="FF9900"/>
                </a:solidFill>
              </a:rPr>
              <a:t>xs:integer</a:t>
            </a:r>
            <a:r>
              <a:rPr lang="es-ES" sz="1400" dirty="0">
                <a:solidFill>
                  <a:srgbClr val="00CC00"/>
                </a:solidFill>
              </a:rPr>
              <a:t>"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400" dirty="0">
                <a:solidFill>
                  <a:srgbClr val="0070C0"/>
                </a:solidFill>
              </a:rPr>
              <a:t> 	</a:t>
            </a:r>
            <a:r>
              <a:rPr lang="es-ES" sz="1400" b="1" dirty="0">
                <a:solidFill>
                  <a:srgbClr val="F51BBC"/>
                </a:solidFill>
              </a:rPr>
              <a:t>&lt;</a:t>
            </a:r>
            <a:r>
              <a:rPr lang="es-ES" sz="1400" b="1" dirty="0" err="1">
                <a:solidFill>
                  <a:srgbClr val="F51BBC"/>
                </a:solidFill>
              </a:rPr>
              <a:t>xs:minInclusive</a:t>
            </a:r>
            <a:r>
              <a:rPr lang="es-ES" sz="1400" b="1" dirty="0">
                <a:solidFill>
                  <a:srgbClr val="F51BBC"/>
                </a:solidFill>
              </a:rPr>
              <a:t> </a:t>
            </a:r>
            <a:r>
              <a:rPr lang="es-ES" sz="1400" b="1" dirty="0" err="1">
                <a:solidFill>
                  <a:srgbClr val="00CC00"/>
                </a:solidFill>
              </a:rPr>
              <a:t>value</a:t>
            </a:r>
            <a:r>
              <a:rPr lang="es-ES" sz="1400" b="1" dirty="0">
                <a:solidFill>
                  <a:srgbClr val="00CC00"/>
                </a:solidFill>
              </a:rPr>
              <a:t>="</a:t>
            </a:r>
            <a:r>
              <a:rPr lang="es-ES" sz="1400" b="1" dirty="0">
                <a:solidFill>
                  <a:srgbClr val="FF9900"/>
                </a:solidFill>
              </a:rPr>
              <a:t>18</a:t>
            </a:r>
            <a:r>
              <a:rPr lang="es-ES" sz="1400" b="1" dirty="0">
                <a:solidFill>
                  <a:srgbClr val="00CC00"/>
                </a:solidFill>
              </a:rPr>
              <a:t>"</a:t>
            </a:r>
            <a:r>
              <a:rPr lang="es-ES" sz="1400" b="1" dirty="0">
                <a:solidFill>
                  <a:srgbClr val="F51BBC"/>
                </a:solidFill>
              </a:rPr>
              <a:t>/&gt;</a:t>
            </a:r>
          </a:p>
          <a:p>
            <a:r>
              <a:rPr lang="es-ES" sz="1400" dirty="0">
                <a:solidFill>
                  <a:srgbClr val="F51BBC"/>
                </a:solidFill>
              </a:rPr>
              <a:t>        &lt;/</a:t>
            </a:r>
            <a:r>
              <a:rPr lang="es-ES" sz="1400" dirty="0" err="1">
                <a:solidFill>
                  <a:srgbClr val="F51BBC"/>
                </a:solidFill>
              </a:rPr>
              <a:t>xs:restriction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400" dirty="0">
                <a:solidFill>
                  <a:srgbClr val="F51BBC"/>
                </a:solidFill>
              </a:rPr>
              <a:t>&lt;/</a:t>
            </a:r>
            <a:r>
              <a:rPr lang="es-ES" sz="1400" dirty="0" err="1">
                <a:solidFill>
                  <a:srgbClr val="F51BBC"/>
                </a:solidFill>
              </a:rPr>
              <a:t>xs:simpleType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  <a:endParaRPr lang="es-ES" sz="1400" b="1" dirty="0">
              <a:solidFill>
                <a:srgbClr val="F51BBC"/>
              </a:solidFill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2502414" y="4963021"/>
            <a:ext cx="330240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F51BBC"/>
                </a:solidFill>
              </a:rPr>
              <a:t>&lt;</a:t>
            </a:r>
            <a:r>
              <a:rPr lang="es-ES" sz="1400" dirty="0" err="1">
                <a:solidFill>
                  <a:srgbClr val="F51BBC"/>
                </a:solidFill>
              </a:rPr>
              <a:t>xs:simpleType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400" dirty="0">
                <a:solidFill>
                  <a:srgbClr val="F51BBC"/>
                </a:solidFill>
              </a:rPr>
              <a:t>     &lt;</a:t>
            </a:r>
            <a:r>
              <a:rPr lang="es-ES" sz="1400" dirty="0" err="1">
                <a:solidFill>
                  <a:srgbClr val="F51BBC"/>
                </a:solidFill>
              </a:rPr>
              <a:t>xs:restriction</a:t>
            </a:r>
            <a:r>
              <a:rPr lang="es-ES" sz="1400" dirty="0">
                <a:solidFill>
                  <a:srgbClr val="F51BBC"/>
                </a:solidFill>
              </a:rPr>
              <a:t> </a:t>
            </a:r>
            <a:r>
              <a:rPr lang="es-ES" sz="1400" dirty="0">
                <a:solidFill>
                  <a:srgbClr val="00CC00"/>
                </a:solidFill>
              </a:rPr>
              <a:t>base="</a:t>
            </a:r>
            <a:r>
              <a:rPr lang="es-ES" sz="1400" dirty="0" err="1">
                <a:solidFill>
                  <a:srgbClr val="FF9900"/>
                </a:solidFill>
              </a:rPr>
              <a:t>xs:integer</a:t>
            </a:r>
            <a:r>
              <a:rPr lang="es-ES" sz="1400" dirty="0">
                <a:solidFill>
                  <a:srgbClr val="00CC00"/>
                </a:solidFill>
              </a:rPr>
              <a:t>"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400" b="1" dirty="0">
                <a:solidFill>
                  <a:srgbClr val="F51BBC"/>
                </a:solidFill>
              </a:rPr>
              <a:t>          &lt;</a:t>
            </a:r>
            <a:r>
              <a:rPr lang="es-ES" sz="1400" b="1" dirty="0" err="1">
                <a:solidFill>
                  <a:srgbClr val="F51BBC"/>
                </a:solidFill>
              </a:rPr>
              <a:t>xs:minInclusive</a:t>
            </a:r>
            <a:r>
              <a:rPr lang="es-ES" sz="1400" b="1" dirty="0">
                <a:solidFill>
                  <a:srgbClr val="F51BBC"/>
                </a:solidFill>
              </a:rPr>
              <a:t> </a:t>
            </a:r>
            <a:r>
              <a:rPr lang="es-ES" sz="1400" b="1" dirty="0" err="1">
                <a:solidFill>
                  <a:srgbClr val="00CC00"/>
                </a:solidFill>
              </a:rPr>
              <a:t>value</a:t>
            </a:r>
            <a:r>
              <a:rPr lang="es-ES" sz="1400" b="1" dirty="0">
                <a:solidFill>
                  <a:srgbClr val="00CC00"/>
                </a:solidFill>
              </a:rPr>
              <a:t>="</a:t>
            </a:r>
            <a:r>
              <a:rPr lang="es-ES" sz="1400" b="1" dirty="0">
                <a:solidFill>
                  <a:srgbClr val="FF9900"/>
                </a:solidFill>
              </a:rPr>
              <a:t>18</a:t>
            </a:r>
            <a:r>
              <a:rPr lang="es-ES" sz="1400" b="1" dirty="0">
                <a:solidFill>
                  <a:srgbClr val="00CC00"/>
                </a:solidFill>
              </a:rPr>
              <a:t>"</a:t>
            </a:r>
            <a:r>
              <a:rPr lang="es-ES" sz="1400" b="1" dirty="0">
                <a:solidFill>
                  <a:srgbClr val="F51BBC"/>
                </a:solidFill>
              </a:rPr>
              <a:t>/&gt;</a:t>
            </a:r>
          </a:p>
          <a:p>
            <a:r>
              <a:rPr lang="es-ES" sz="1400" dirty="0">
                <a:solidFill>
                  <a:srgbClr val="F51BBC"/>
                </a:solidFill>
              </a:rPr>
              <a:t>     &lt;/</a:t>
            </a:r>
            <a:r>
              <a:rPr lang="es-ES" sz="1400" dirty="0" err="1">
                <a:solidFill>
                  <a:srgbClr val="F51BBC"/>
                </a:solidFill>
              </a:rPr>
              <a:t>xs:restriction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400" dirty="0">
                <a:solidFill>
                  <a:srgbClr val="F51BBC"/>
                </a:solidFill>
              </a:rPr>
              <a:t>&lt;/</a:t>
            </a:r>
            <a:r>
              <a:rPr lang="es-ES" sz="1400" dirty="0" err="1">
                <a:solidFill>
                  <a:srgbClr val="F51BBC"/>
                </a:solidFill>
              </a:rPr>
              <a:t>xs:simpleType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  <a:endParaRPr lang="es-ES" sz="1400" b="1" dirty="0">
              <a:solidFill>
                <a:srgbClr val="000000"/>
              </a:solidFill>
            </a:endParaRPr>
          </a:p>
        </p:txBody>
      </p:sp>
      <p:grpSp>
        <p:nvGrpSpPr>
          <p:cNvPr id="5" name="Grupo 4"/>
          <p:cNvGrpSpPr/>
          <p:nvPr/>
        </p:nvGrpSpPr>
        <p:grpSpPr>
          <a:xfrm>
            <a:off x="467544" y="5342736"/>
            <a:ext cx="2524706" cy="353943"/>
            <a:chOff x="467544" y="5342736"/>
            <a:chExt cx="2524706" cy="353943"/>
          </a:xfrm>
        </p:grpSpPr>
        <p:sp>
          <p:nvSpPr>
            <p:cNvPr id="4" name="CuadroTexto 3"/>
            <p:cNvSpPr txBox="1"/>
            <p:nvPr/>
          </p:nvSpPr>
          <p:spPr>
            <a:xfrm>
              <a:off x="467544" y="5342736"/>
              <a:ext cx="854721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700" dirty="0">
                  <a:solidFill>
                    <a:srgbClr val="33CC33"/>
                  </a:solidFill>
                  <a:latin typeface="Comic Sans MS" panose="030F0702030302020204" pitchFamily="66" charset="0"/>
                </a:rPr>
                <a:t>faceta</a:t>
              </a:r>
            </a:p>
          </p:txBody>
        </p:sp>
        <p:sp>
          <p:nvSpPr>
            <p:cNvPr id="7" name="Flecha derecha 6"/>
            <p:cNvSpPr/>
            <p:nvPr/>
          </p:nvSpPr>
          <p:spPr bwMode="auto">
            <a:xfrm>
              <a:off x="1296280" y="5450604"/>
              <a:ext cx="1695970" cy="155137"/>
            </a:xfrm>
            <a:prstGeom prst="rightArrow">
              <a:avLst>
                <a:gd name="adj1" fmla="val 37188"/>
                <a:gd name="adj2" fmla="val 98045"/>
              </a:avLst>
            </a:prstGeom>
            <a:solidFill>
              <a:srgbClr val="00CC00"/>
            </a:solidFill>
            <a:ln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6" name="CuadroTexto 25"/>
          <p:cNvSpPr txBox="1"/>
          <p:nvPr/>
        </p:nvSpPr>
        <p:spPr>
          <a:xfrm>
            <a:off x="6381747" y="2815562"/>
            <a:ext cx="2171355" cy="92333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800" dirty="0">
                <a:solidFill>
                  <a:srgbClr val="000000"/>
                </a:solidFill>
              </a:rPr>
              <a:t>Definición </a:t>
            </a:r>
            <a:r>
              <a:rPr lang="es-ES" sz="1800" dirty="0">
                <a:solidFill>
                  <a:srgbClr val="0070C0"/>
                </a:solidFill>
              </a:rPr>
              <a:t>externa</a:t>
            </a:r>
            <a:r>
              <a:rPr lang="es-ES" sz="1800" dirty="0">
                <a:solidFill>
                  <a:srgbClr val="000000"/>
                </a:solidFill>
              </a:rPr>
              <a:t> al elemento, </a:t>
            </a:r>
          </a:p>
          <a:p>
            <a:pPr algn="ctr"/>
            <a:r>
              <a:rPr lang="es-ES" sz="1800" dirty="0">
                <a:solidFill>
                  <a:srgbClr val="000000"/>
                </a:solidFill>
              </a:rPr>
              <a:t>o con </a:t>
            </a:r>
            <a:r>
              <a:rPr lang="es-ES" sz="1800" dirty="0">
                <a:solidFill>
                  <a:srgbClr val="0070C0"/>
                </a:solidFill>
              </a:rPr>
              <a:t>nombre</a:t>
            </a:r>
          </a:p>
        </p:txBody>
      </p:sp>
      <p:sp>
        <p:nvSpPr>
          <p:cNvPr id="27" name="CuadroTexto 26"/>
          <p:cNvSpPr txBox="1"/>
          <p:nvPr/>
        </p:nvSpPr>
        <p:spPr>
          <a:xfrm>
            <a:off x="6145061" y="5213247"/>
            <a:ext cx="2171355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800" dirty="0">
                <a:solidFill>
                  <a:srgbClr val="000000"/>
                </a:solidFill>
              </a:rPr>
              <a:t>Definición </a:t>
            </a:r>
            <a:r>
              <a:rPr lang="es-ES" sz="1800" dirty="0">
                <a:solidFill>
                  <a:srgbClr val="0070C0"/>
                </a:solidFill>
              </a:rPr>
              <a:t>incrustada</a:t>
            </a:r>
            <a:r>
              <a:rPr lang="es-ES" sz="1800" dirty="0">
                <a:solidFill>
                  <a:srgbClr val="000000"/>
                </a:solidFill>
              </a:rPr>
              <a:t> en el elemento, </a:t>
            </a:r>
            <a:r>
              <a:rPr lang="es-ES" sz="1800" dirty="0">
                <a:solidFill>
                  <a:srgbClr val="0070C0"/>
                </a:solidFill>
              </a:rPr>
              <a:t>anidada o anónima</a:t>
            </a:r>
          </a:p>
        </p:txBody>
      </p:sp>
      <p:grpSp>
        <p:nvGrpSpPr>
          <p:cNvPr id="28" name="Grupo 27"/>
          <p:cNvGrpSpPr/>
          <p:nvPr/>
        </p:nvGrpSpPr>
        <p:grpSpPr>
          <a:xfrm>
            <a:off x="540094" y="2913419"/>
            <a:ext cx="2524706" cy="353943"/>
            <a:chOff x="467544" y="5342736"/>
            <a:chExt cx="2524706" cy="353943"/>
          </a:xfrm>
        </p:grpSpPr>
        <p:sp>
          <p:nvSpPr>
            <p:cNvPr id="29" name="CuadroTexto 28"/>
            <p:cNvSpPr txBox="1"/>
            <p:nvPr/>
          </p:nvSpPr>
          <p:spPr>
            <a:xfrm>
              <a:off x="467544" y="5342736"/>
              <a:ext cx="854721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700" dirty="0">
                  <a:solidFill>
                    <a:srgbClr val="33CC33"/>
                  </a:solidFill>
                  <a:latin typeface="Comic Sans MS" panose="030F0702030302020204" pitchFamily="66" charset="0"/>
                </a:rPr>
                <a:t>faceta</a:t>
              </a:r>
            </a:p>
          </p:txBody>
        </p:sp>
        <p:sp>
          <p:nvSpPr>
            <p:cNvPr id="30" name="Flecha derecha 29"/>
            <p:cNvSpPr/>
            <p:nvPr/>
          </p:nvSpPr>
          <p:spPr bwMode="auto">
            <a:xfrm>
              <a:off x="1296280" y="5450604"/>
              <a:ext cx="1695970" cy="155137"/>
            </a:xfrm>
            <a:prstGeom prst="rightArrow">
              <a:avLst>
                <a:gd name="adj1" fmla="val 37188"/>
                <a:gd name="adj2" fmla="val 98045"/>
              </a:avLst>
            </a:prstGeom>
            <a:solidFill>
              <a:srgbClr val="00CC00"/>
            </a:solidFill>
            <a:ln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31" name="CuadroTexto 30"/>
          <p:cNvSpPr txBox="1"/>
          <p:nvPr/>
        </p:nvSpPr>
        <p:spPr>
          <a:xfrm>
            <a:off x="1826802" y="4327170"/>
            <a:ext cx="572734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000000"/>
                </a:solidFill>
              </a:rPr>
              <a:t>&lt;?</a:t>
            </a:r>
            <a:r>
              <a:rPr lang="es-ES" sz="1400" dirty="0" err="1">
                <a:solidFill>
                  <a:srgbClr val="000000"/>
                </a:solidFill>
              </a:rPr>
              <a:t>xml</a:t>
            </a:r>
            <a:r>
              <a:rPr lang="es-ES" sz="1400" dirty="0">
                <a:solidFill>
                  <a:srgbClr val="000000"/>
                </a:solidFill>
              </a:rPr>
              <a:t> </a:t>
            </a:r>
            <a:r>
              <a:rPr lang="es-ES" sz="1400" dirty="0" err="1">
                <a:solidFill>
                  <a:srgbClr val="000000"/>
                </a:solidFill>
              </a:rPr>
              <a:t>version</a:t>
            </a:r>
            <a:r>
              <a:rPr lang="es-ES" sz="1400" dirty="0">
                <a:solidFill>
                  <a:srgbClr val="000000"/>
                </a:solidFill>
              </a:rPr>
              <a:t>="1.0" ?&gt;</a:t>
            </a:r>
          </a:p>
          <a:p>
            <a:r>
              <a:rPr lang="es-ES" sz="1400" b="1" dirty="0">
                <a:solidFill>
                  <a:srgbClr val="000000"/>
                </a:solidFill>
              </a:rPr>
              <a:t>&lt;</a:t>
            </a:r>
            <a:r>
              <a:rPr lang="es-ES" sz="1400" b="1" dirty="0" err="1">
                <a:solidFill>
                  <a:srgbClr val="000000"/>
                </a:solidFill>
              </a:rPr>
              <a:t>xs:schema</a:t>
            </a:r>
            <a:r>
              <a:rPr lang="es-ES" sz="1400" b="1" dirty="0">
                <a:solidFill>
                  <a:srgbClr val="000000"/>
                </a:solidFill>
              </a:rPr>
              <a:t> </a:t>
            </a:r>
            <a:r>
              <a:rPr lang="es-ES" sz="1400" dirty="0" err="1">
                <a:solidFill>
                  <a:schemeClr val="bg1">
                    <a:lumMod val="50000"/>
                  </a:schemeClr>
                </a:solidFill>
              </a:rPr>
              <a:t>xmlns:xs</a:t>
            </a:r>
            <a:r>
              <a:rPr lang="es-ES" sz="1400" dirty="0">
                <a:solidFill>
                  <a:schemeClr val="bg1">
                    <a:lumMod val="50000"/>
                  </a:schemeClr>
                </a:solidFill>
              </a:rPr>
              <a:t>="http://www.w3.org/2001/XMLSchema"</a:t>
            </a:r>
            <a:r>
              <a:rPr lang="es-ES" sz="1400" b="1" dirty="0">
                <a:solidFill>
                  <a:srgbClr val="000000"/>
                </a:solidFill>
              </a:rPr>
              <a:t>&gt;</a:t>
            </a:r>
          </a:p>
          <a:p>
            <a:r>
              <a:rPr lang="es-ES" sz="1400" dirty="0">
                <a:solidFill>
                  <a:srgbClr val="0070C0"/>
                </a:solidFill>
              </a:rPr>
              <a:t>        &lt;</a:t>
            </a:r>
            <a:r>
              <a:rPr lang="es-ES" sz="1400" dirty="0" err="1">
                <a:solidFill>
                  <a:srgbClr val="0070C0"/>
                </a:solidFill>
              </a:rPr>
              <a:t>xs:element</a:t>
            </a:r>
            <a:r>
              <a:rPr lang="es-ES" sz="1400" dirty="0">
                <a:solidFill>
                  <a:srgbClr val="0070C0"/>
                </a:solidFill>
              </a:rPr>
              <a:t>  </a:t>
            </a:r>
            <a:r>
              <a:rPr lang="es-ES" sz="1400" dirty="0" err="1">
                <a:solidFill>
                  <a:srgbClr val="00CC00"/>
                </a:solidFill>
              </a:rPr>
              <a:t>name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>
                <a:solidFill>
                  <a:srgbClr val="FF9900"/>
                </a:solidFill>
              </a:rPr>
              <a:t>edad</a:t>
            </a:r>
            <a:r>
              <a:rPr lang="es-ES" sz="1400" dirty="0">
                <a:solidFill>
                  <a:srgbClr val="00CC00"/>
                </a:solidFill>
              </a:rPr>
              <a:t>" </a:t>
            </a:r>
            <a:r>
              <a:rPr lang="es-ES" sz="1400" dirty="0">
                <a:solidFill>
                  <a:srgbClr val="0070C0"/>
                </a:solidFill>
              </a:rPr>
              <a:t>&gt;</a:t>
            </a:r>
          </a:p>
          <a:p>
            <a:endParaRPr lang="es-ES" sz="1400" dirty="0">
              <a:solidFill>
                <a:srgbClr val="0070C0"/>
              </a:solidFill>
            </a:endParaRPr>
          </a:p>
          <a:p>
            <a:endParaRPr lang="es-ES" sz="1400" dirty="0">
              <a:solidFill>
                <a:srgbClr val="0070C0"/>
              </a:solidFill>
            </a:endParaRPr>
          </a:p>
          <a:p>
            <a:endParaRPr lang="es-ES" sz="1400" dirty="0">
              <a:solidFill>
                <a:srgbClr val="0070C0"/>
              </a:solidFill>
            </a:endParaRPr>
          </a:p>
          <a:p>
            <a:endParaRPr lang="es-ES" sz="1400" dirty="0">
              <a:solidFill>
                <a:srgbClr val="0070C0"/>
              </a:solidFill>
            </a:endParaRPr>
          </a:p>
          <a:p>
            <a:endParaRPr lang="es-ES" sz="1400" dirty="0">
              <a:solidFill>
                <a:srgbClr val="0070C0"/>
              </a:solidFill>
            </a:endParaRPr>
          </a:p>
          <a:p>
            <a:r>
              <a:rPr lang="es-ES" sz="1400" dirty="0">
                <a:solidFill>
                  <a:srgbClr val="0070C0"/>
                </a:solidFill>
              </a:rPr>
              <a:t>        &lt;/</a:t>
            </a:r>
            <a:r>
              <a:rPr lang="es-ES" sz="1400" dirty="0" err="1">
                <a:solidFill>
                  <a:srgbClr val="0070C0"/>
                </a:solidFill>
              </a:rPr>
              <a:t>xs:element</a:t>
            </a:r>
            <a:r>
              <a:rPr lang="es-ES" sz="1400" dirty="0">
                <a:solidFill>
                  <a:srgbClr val="0070C0"/>
                </a:solidFill>
              </a:rPr>
              <a:t>&gt;</a:t>
            </a:r>
            <a:endParaRPr lang="es-ES" sz="1400" b="1" dirty="0">
              <a:solidFill>
                <a:srgbClr val="000000"/>
              </a:solidFill>
            </a:endParaRPr>
          </a:p>
          <a:p>
            <a:r>
              <a:rPr lang="es-ES" sz="1400" b="1" dirty="0">
                <a:solidFill>
                  <a:srgbClr val="000000"/>
                </a:solidFill>
              </a:rPr>
              <a:t>&lt;/</a:t>
            </a:r>
            <a:r>
              <a:rPr lang="es-ES" sz="1400" b="1" dirty="0" err="1">
                <a:solidFill>
                  <a:srgbClr val="000000"/>
                </a:solidFill>
              </a:rPr>
              <a:t>xs:schema</a:t>
            </a:r>
            <a:r>
              <a:rPr lang="es-ES" sz="1400" b="1" dirty="0">
                <a:solidFill>
                  <a:srgbClr val="000000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578460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5" grpId="0" animBg="1"/>
      <p:bldP spid="24" grpId="0" animBg="1"/>
      <p:bldP spid="22" grpId="0" animBg="1"/>
      <p:bldP spid="23" grpId="0" animBg="1"/>
      <p:bldP spid="17" grpId="0"/>
      <p:bldP spid="15" grpId="0"/>
      <p:bldP spid="14" grpId="0"/>
      <p:bldP spid="21" grpId="0"/>
      <p:bldP spid="26" grpId="0" animBg="1"/>
      <p:bldP spid="27" grpId="0" animBg="1"/>
      <p:bldP spid="3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24 Esquina doblada"/>
          <p:cNvSpPr/>
          <p:nvPr/>
        </p:nvSpPr>
        <p:spPr bwMode="auto">
          <a:xfrm>
            <a:off x="1603100" y="2341538"/>
            <a:ext cx="6011882" cy="4183806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Rectángulo 19"/>
          <p:cNvSpPr/>
          <p:nvPr/>
        </p:nvSpPr>
        <p:spPr bwMode="auto">
          <a:xfrm>
            <a:off x="2043181" y="2996952"/>
            <a:ext cx="5049099" cy="3024336"/>
          </a:xfrm>
          <a:prstGeom prst="rect">
            <a:avLst/>
          </a:prstGeom>
          <a:solidFill>
            <a:srgbClr val="99FF99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Rectángulo 18"/>
          <p:cNvSpPr/>
          <p:nvPr/>
        </p:nvSpPr>
        <p:spPr bwMode="auto">
          <a:xfrm>
            <a:off x="2269164" y="3256280"/>
            <a:ext cx="4568144" cy="1391776"/>
          </a:xfrm>
          <a:prstGeom prst="rect">
            <a:avLst/>
          </a:prstGeom>
          <a:solidFill>
            <a:srgbClr val="FFE1FF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1829083" y="2413709"/>
            <a:ext cx="549786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000000"/>
                </a:solidFill>
              </a:rPr>
              <a:t>&lt;?</a:t>
            </a:r>
            <a:r>
              <a:rPr lang="es-ES" sz="1400" dirty="0" err="1">
                <a:solidFill>
                  <a:srgbClr val="000000"/>
                </a:solidFill>
              </a:rPr>
              <a:t>xml</a:t>
            </a:r>
            <a:r>
              <a:rPr lang="es-ES" sz="1400" dirty="0">
                <a:solidFill>
                  <a:srgbClr val="000000"/>
                </a:solidFill>
              </a:rPr>
              <a:t> </a:t>
            </a:r>
            <a:r>
              <a:rPr lang="es-ES" sz="1400" dirty="0" err="1">
                <a:solidFill>
                  <a:srgbClr val="000000"/>
                </a:solidFill>
              </a:rPr>
              <a:t>version</a:t>
            </a:r>
            <a:r>
              <a:rPr lang="es-ES" sz="1400" dirty="0">
                <a:solidFill>
                  <a:srgbClr val="000000"/>
                </a:solidFill>
              </a:rPr>
              <a:t>="1.0" ?&gt;</a:t>
            </a:r>
          </a:p>
          <a:p>
            <a:r>
              <a:rPr lang="es-ES" sz="1400" b="1" dirty="0">
                <a:solidFill>
                  <a:srgbClr val="000000"/>
                </a:solidFill>
              </a:rPr>
              <a:t>&lt;</a:t>
            </a:r>
            <a:r>
              <a:rPr lang="es-ES" sz="1400" b="1" dirty="0" err="1">
                <a:solidFill>
                  <a:srgbClr val="000000"/>
                </a:solidFill>
              </a:rPr>
              <a:t>xs:schema</a:t>
            </a:r>
            <a:r>
              <a:rPr lang="es-ES" sz="1400" b="1" dirty="0">
                <a:solidFill>
                  <a:srgbClr val="000000"/>
                </a:solidFill>
              </a:rPr>
              <a:t> </a:t>
            </a:r>
            <a:r>
              <a:rPr lang="es-ES" sz="1400" dirty="0" err="1">
                <a:solidFill>
                  <a:schemeClr val="bg1">
                    <a:lumMod val="50000"/>
                  </a:schemeClr>
                </a:solidFill>
              </a:rPr>
              <a:t>xmlns:xs</a:t>
            </a:r>
            <a:r>
              <a:rPr lang="es-ES" sz="1400" dirty="0">
                <a:solidFill>
                  <a:schemeClr val="bg1">
                    <a:lumMod val="50000"/>
                  </a:schemeClr>
                </a:solidFill>
              </a:rPr>
              <a:t>="http://www.w3.org/2001/XMLSchema"</a:t>
            </a:r>
            <a:r>
              <a:rPr lang="es-ES" sz="1400" b="1" dirty="0">
                <a:solidFill>
                  <a:srgbClr val="000000"/>
                </a:solidFill>
              </a:rPr>
              <a:t>&gt;</a:t>
            </a: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r>
              <a:rPr lang="es-ES" sz="1400" b="1" dirty="0">
                <a:solidFill>
                  <a:srgbClr val="000000"/>
                </a:solidFill>
              </a:rPr>
              <a:t>&lt;/</a:t>
            </a:r>
            <a:r>
              <a:rPr lang="es-ES" sz="1400" b="1" dirty="0" err="1">
                <a:solidFill>
                  <a:srgbClr val="000000"/>
                </a:solidFill>
              </a:rPr>
              <a:t>xs:schema</a:t>
            </a:r>
            <a:r>
              <a:rPr lang="es-ES" sz="1400" b="1" dirty="0">
                <a:solidFill>
                  <a:srgbClr val="000000"/>
                </a:solidFill>
              </a:rPr>
              <a:t>&gt;</a:t>
            </a:r>
          </a:p>
        </p:txBody>
      </p:sp>
      <p:sp>
        <p:nvSpPr>
          <p:cNvPr id="17" name="CuadroTexto 16"/>
          <p:cNvSpPr txBox="1"/>
          <p:nvPr/>
        </p:nvSpPr>
        <p:spPr>
          <a:xfrm>
            <a:off x="2069580" y="2996952"/>
            <a:ext cx="52573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0070C0"/>
                </a:solidFill>
              </a:rPr>
              <a:t>&lt;</a:t>
            </a:r>
            <a:r>
              <a:rPr lang="es-ES" sz="1400" dirty="0" err="1">
                <a:solidFill>
                  <a:srgbClr val="0070C0"/>
                </a:solidFill>
              </a:rPr>
              <a:t>xs:element</a:t>
            </a:r>
            <a:r>
              <a:rPr lang="es-ES" sz="1400" dirty="0">
                <a:solidFill>
                  <a:srgbClr val="0070C0"/>
                </a:solidFill>
              </a:rPr>
              <a:t> </a:t>
            </a:r>
            <a:r>
              <a:rPr lang="es-ES" sz="1400" dirty="0" err="1">
                <a:solidFill>
                  <a:srgbClr val="00CC00"/>
                </a:solidFill>
              </a:rPr>
              <a:t>name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 err="1">
                <a:solidFill>
                  <a:srgbClr val="FF9900"/>
                </a:solidFill>
              </a:rPr>
              <a:t>vehiculo</a:t>
            </a:r>
            <a:r>
              <a:rPr lang="es-ES" sz="1400" dirty="0">
                <a:solidFill>
                  <a:srgbClr val="00CC00"/>
                </a:solidFill>
              </a:rPr>
              <a:t>"</a:t>
            </a:r>
            <a:r>
              <a:rPr lang="es-ES" sz="1400" dirty="0">
                <a:solidFill>
                  <a:srgbClr val="0070C0"/>
                </a:solidFill>
              </a:rPr>
              <a:t>&gt;</a:t>
            </a:r>
          </a:p>
          <a:p>
            <a:r>
              <a:rPr lang="es-ES" sz="1400" dirty="0">
                <a:solidFill>
                  <a:srgbClr val="002060"/>
                </a:solidFill>
              </a:rPr>
              <a:t>    &lt;</a:t>
            </a:r>
            <a:r>
              <a:rPr lang="es-ES" sz="1400" dirty="0" err="1">
                <a:solidFill>
                  <a:srgbClr val="002060"/>
                </a:solidFill>
              </a:rPr>
              <a:t>xs:complexType</a:t>
            </a:r>
            <a:r>
              <a:rPr lang="es-ES" sz="1400" dirty="0">
                <a:solidFill>
                  <a:srgbClr val="002060"/>
                </a:solidFill>
              </a:rPr>
              <a:t>&gt;</a:t>
            </a:r>
          </a:p>
          <a:p>
            <a:r>
              <a:rPr lang="es-ES" sz="1400" dirty="0">
                <a:solidFill>
                  <a:srgbClr val="002060"/>
                </a:solidFill>
              </a:rPr>
              <a:t>         &lt;</a:t>
            </a:r>
            <a:r>
              <a:rPr lang="es-ES" sz="1400" dirty="0" err="1">
                <a:solidFill>
                  <a:srgbClr val="002060"/>
                </a:solidFill>
              </a:rPr>
              <a:t>xs:sequence</a:t>
            </a:r>
            <a:r>
              <a:rPr lang="es-ES" sz="1400" dirty="0">
                <a:solidFill>
                  <a:srgbClr val="002060"/>
                </a:solidFill>
              </a:rPr>
              <a:t>&gt;</a:t>
            </a:r>
          </a:p>
        </p:txBody>
      </p:sp>
      <p:sp>
        <p:nvSpPr>
          <p:cNvPr id="2" name="Rectángulo 1"/>
          <p:cNvSpPr/>
          <p:nvPr/>
        </p:nvSpPr>
        <p:spPr bwMode="auto">
          <a:xfrm>
            <a:off x="1764474" y="1117402"/>
            <a:ext cx="5616624" cy="1077218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29156" y="45760"/>
            <a:ext cx="7487260" cy="563563"/>
          </a:xfrm>
        </p:spPr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Simples</a:t>
            </a:r>
            <a:endParaRPr lang="en-US" sz="1400" dirty="0"/>
          </a:p>
        </p:txBody>
      </p:sp>
      <p:sp>
        <p:nvSpPr>
          <p:cNvPr id="42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411761" y="1129043"/>
            <a:ext cx="43153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</a:t>
            </a:r>
            <a:r>
              <a:rPr lang="es-ES" sz="16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vehiculo</a:t>
            </a:r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&gt;</a:t>
            </a:r>
          </a:p>
          <a:p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&lt;matrícula&gt;</a:t>
            </a:r>
            <a:r>
              <a:rPr lang="es-ES" sz="1600" dirty="0">
                <a:solidFill>
                  <a:srgbClr val="FF0000"/>
                </a:solidFill>
              </a:rPr>
              <a:t>6736GRL</a:t>
            </a:r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&lt;/matrícula&gt;</a:t>
            </a:r>
          </a:p>
          <a:p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&lt;propietario&gt;</a:t>
            </a:r>
            <a:r>
              <a:rPr lang="es-ES" sz="1600" dirty="0">
                <a:solidFill>
                  <a:srgbClr val="FF0000"/>
                </a:solidFill>
              </a:rPr>
              <a:t>Eduardo Prieto</a:t>
            </a:r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&lt;/propietario&gt;</a:t>
            </a:r>
          </a:p>
          <a:p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</a:t>
            </a:r>
            <a:r>
              <a:rPr lang="es-ES" sz="16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vehiculo</a:t>
            </a:r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&gt;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1152406" y="757362"/>
            <a:ext cx="6840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>
                <a:solidFill>
                  <a:srgbClr val="000000"/>
                </a:solidFill>
              </a:rPr>
              <a:t>tipos de datos definidos por el usuario 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2732706" y="3932183"/>
            <a:ext cx="482022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F51BBC"/>
                </a:solidFill>
              </a:rPr>
              <a:t>&lt;</a:t>
            </a:r>
            <a:r>
              <a:rPr lang="es-ES" sz="1400" dirty="0" err="1">
                <a:solidFill>
                  <a:srgbClr val="F51BBC"/>
                </a:solidFill>
              </a:rPr>
              <a:t>xs:simpleType</a:t>
            </a:r>
            <a:r>
              <a:rPr lang="es-ES" sz="1400" dirty="0">
                <a:solidFill>
                  <a:srgbClr val="F51BBC"/>
                </a:solidFill>
              </a:rPr>
              <a:t>  </a:t>
            </a:r>
            <a:r>
              <a:rPr lang="es-ES" sz="1400" dirty="0" err="1">
                <a:solidFill>
                  <a:srgbClr val="00CC00"/>
                </a:solidFill>
              </a:rPr>
              <a:t>name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 err="1">
                <a:solidFill>
                  <a:srgbClr val="FF9900"/>
                </a:solidFill>
              </a:rPr>
              <a:t>t_matri</a:t>
            </a:r>
            <a:r>
              <a:rPr lang="es-ES" sz="1400" dirty="0">
                <a:solidFill>
                  <a:srgbClr val="00CC00"/>
                </a:solidFill>
              </a:rPr>
              <a:t>"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400" dirty="0">
                <a:solidFill>
                  <a:srgbClr val="0070C0"/>
                </a:solidFill>
              </a:rPr>
              <a:t>        </a:t>
            </a:r>
            <a:r>
              <a:rPr lang="es-ES" sz="1400" dirty="0">
                <a:solidFill>
                  <a:srgbClr val="F51BBC"/>
                </a:solidFill>
              </a:rPr>
              <a:t>&lt;</a:t>
            </a:r>
            <a:r>
              <a:rPr lang="es-ES" sz="1400" dirty="0" err="1">
                <a:solidFill>
                  <a:srgbClr val="F51BBC"/>
                </a:solidFill>
              </a:rPr>
              <a:t>xs:restriction</a:t>
            </a:r>
            <a:r>
              <a:rPr lang="es-ES" sz="1400" dirty="0">
                <a:solidFill>
                  <a:srgbClr val="F51BBC"/>
                </a:solidFill>
              </a:rPr>
              <a:t> </a:t>
            </a:r>
            <a:r>
              <a:rPr lang="es-ES" sz="1400" dirty="0">
                <a:solidFill>
                  <a:srgbClr val="00CC00"/>
                </a:solidFill>
              </a:rPr>
              <a:t>base="</a:t>
            </a:r>
            <a:r>
              <a:rPr lang="es-ES" sz="1400" dirty="0" err="1">
                <a:solidFill>
                  <a:srgbClr val="C00000"/>
                </a:solidFill>
              </a:rPr>
              <a:t>xs:</a:t>
            </a:r>
            <a:r>
              <a:rPr lang="es-ES" sz="1400" dirty="0" err="1">
                <a:solidFill>
                  <a:srgbClr val="FF9900"/>
                </a:solidFill>
              </a:rPr>
              <a:t>string</a:t>
            </a:r>
            <a:r>
              <a:rPr lang="es-ES" sz="1400" dirty="0">
                <a:solidFill>
                  <a:srgbClr val="00CC00"/>
                </a:solidFill>
              </a:rPr>
              <a:t>"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400" dirty="0">
                <a:solidFill>
                  <a:srgbClr val="0070C0"/>
                </a:solidFill>
              </a:rPr>
              <a:t> 	</a:t>
            </a:r>
            <a:r>
              <a:rPr lang="es-ES" sz="1400" b="1" dirty="0">
                <a:solidFill>
                  <a:srgbClr val="F51BBC"/>
                </a:solidFill>
              </a:rPr>
              <a:t>&lt;</a:t>
            </a:r>
            <a:r>
              <a:rPr lang="es-ES" sz="1400" b="1" dirty="0" err="1">
                <a:solidFill>
                  <a:srgbClr val="F51BBC"/>
                </a:solidFill>
              </a:rPr>
              <a:t>xs:length</a:t>
            </a:r>
            <a:r>
              <a:rPr lang="es-ES" sz="1400" b="1" dirty="0">
                <a:solidFill>
                  <a:srgbClr val="F51BBC"/>
                </a:solidFill>
              </a:rPr>
              <a:t> </a:t>
            </a:r>
            <a:r>
              <a:rPr lang="es-ES" sz="1400" b="1" dirty="0" err="1">
                <a:solidFill>
                  <a:srgbClr val="00CC00"/>
                </a:solidFill>
              </a:rPr>
              <a:t>value</a:t>
            </a:r>
            <a:r>
              <a:rPr lang="es-ES" sz="1400" b="1" dirty="0">
                <a:solidFill>
                  <a:srgbClr val="00CC00"/>
                </a:solidFill>
              </a:rPr>
              <a:t>="</a:t>
            </a:r>
            <a:r>
              <a:rPr lang="es-ES" sz="1400" b="1" dirty="0">
                <a:solidFill>
                  <a:srgbClr val="FF9900"/>
                </a:solidFill>
              </a:rPr>
              <a:t>7</a:t>
            </a:r>
            <a:r>
              <a:rPr lang="es-ES" sz="1400" b="1" dirty="0">
                <a:solidFill>
                  <a:srgbClr val="00CC00"/>
                </a:solidFill>
              </a:rPr>
              <a:t>"</a:t>
            </a:r>
            <a:r>
              <a:rPr lang="es-ES" sz="1400" b="1" dirty="0">
                <a:solidFill>
                  <a:srgbClr val="F51BBC"/>
                </a:solidFill>
              </a:rPr>
              <a:t>/&gt;</a:t>
            </a:r>
          </a:p>
          <a:p>
            <a:r>
              <a:rPr lang="es-ES" sz="1400" dirty="0">
                <a:solidFill>
                  <a:srgbClr val="F51BBC"/>
                </a:solidFill>
              </a:rPr>
              <a:t>        &lt;/</a:t>
            </a:r>
            <a:r>
              <a:rPr lang="es-ES" sz="1400" dirty="0" err="1">
                <a:solidFill>
                  <a:srgbClr val="F51BBC"/>
                </a:solidFill>
              </a:rPr>
              <a:t>xs:restriction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400" dirty="0">
                <a:solidFill>
                  <a:srgbClr val="F51BBC"/>
                </a:solidFill>
              </a:rPr>
              <a:t>&lt;/</a:t>
            </a:r>
            <a:r>
              <a:rPr lang="es-ES" sz="1400" dirty="0" err="1">
                <a:solidFill>
                  <a:srgbClr val="F51BBC"/>
                </a:solidFill>
              </a:rPr>
              <a:t>xs:simpleType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  <a:endParaRPr lang="es-ES" sz="1400" b="1" dirty="0">
              <a:solidFill>
                <a:srgbClr val="F51BBC"/>
              </a:solidFill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2064914" y="5297356"/>
            <a:ext cx="47723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002060"/>
                </a:solidFill>
              </a:rPr>
              <a:t>         &lt;/</a:t>
            </a:r>
            <a:r>
              <a:rPr lang="es-ES" sz="1400" dirty="0" err="1">
                <a:solidFill>
                  <a:srgbClr val="002060"/>
                </a:solidFill>
              </a:rPr>
              <a:t>xs:sequence</a:t>
            </a:r>
            <a:r>
              <a:rPr lang="es-ES" sz="1400" dirty="0">
                <a:solidFill>
                  <a:srgbClr val="002060"/>
                </a:solidFill>
              </a:rPr>
              <a:t>&gt;</a:t>
            </a:r>
            <a:endParaRPr lang="es-ES" sz="1400" b="1" dirty="0">
              <a:solidFill>
                <a:srgbClr val="0070C0"/>
              </a:solidFill>
            </a:endParaRPr>
          </a:p>
          <a:p>
            <a:r>
              <a:rPr lang="es-ES" sz="1400" dirty="0">
                <a:solidFill>
                  <a:srgbClr val="002060"/>
                </a:solidFill>
              </a:rPr>
              <a:t>    &lt;/</a:t>
            </a:r>
            <a:r>
              <a:rPr lang="es-ES" sz="1400" dirty="0" err="1">
                <a:solidFill>
                  <a:srgbClr val="002060"/>
                </a:solidFill>
              </a:rPr>
              <a:t>xs:complexType</a:t>
            </a:r>
            <a:r>
              <a:rPr lang="es-ES" sz="1400" dirty="0">
                <a:solidFill>
                  <a:srgbClr val="002060"/>
                </a:solidFill>
              </a:rPr>
              <a:t>&gt;</a:t>
            </a:r>
          </a:p>
          <a:p>
            <a:r>
              <a:rPr lang="es-ES" sz="1400" dirty="0">
                <a:solidFill>
                  <a:srgbClr val="0070C0"/>
                </a:solidFill>
              </a:rPr>
              <a:t>&lt;/</a:t>
            </a:r>
            <a:r>
              <a:rPr lang="es-ES" sz="1400" dirty="0" err="1">
                <a:solidFill>
                  <a:srgbClr val="0070C0"/>
                </a:solidFill>
              </a:rPr>
              <a:t>xs:element</a:t>
            </a:r>
            <a:r>
              <a:rPr lang="es-ES" sz="1400" dirty="0">
                <a:solidFill>
                  <a:srgbClr val="0070C0"/>
                </a:solidFill>
              </a:rPr>
              <a:t>&gt;</a:t>
            </a:r>
          </a:p>
          <a:p>
            <a:endParaRPr lang="es-ES" sz="1400" dirty="0">
              <a:solidFill>
                <a:srgbClr val="002060"/>
              </a:solidFill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2722945" y="5065547"/>
            <a:ext cx="4635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0070C0"/>
                </a:solidFill>
              </a:rPr>
              <a:t>&lt;</a:t>
            </a:r>
            <a:r>
              <a:rPr lang="es-ES" sz="1400" dirty="0" err="1">
                <a:solidFill>
                  <a:srgbClr val="0070C0"/>
                </a:solidFill>
              </a:rPr>
              <a:t>xs:element</a:t>
            </a:r>
            <a:r>
              <a:rPr lang="es-ES" sz="1400" dirty="0">
                <a:solidFill>
                  <a:srgbClr val="0070C0"/>
                </a:solidFill>
              </a:rPr>
              <a:t>  </a:t>
            </a:r>
            <a:r>
              <a:rPr lang="es-ES" sz="1400" dirty="0" err="1">
                <a:solidFill>
                  <a:srgbClr val="00CC00"/>
                </a:solidFill>
              </a:rPr>
              <a:t>name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>
                <a:solidFill>
                  <a:srgbClr val="FF9900"/>
                </a:solidFill>
              </a:rPr>
              <a:t>propietario</a:t>
            </a:r>
            <a:r>
              <a:rPr lang="es-ES" sz="1400" dirty="0">
                <a:solidFill>
                  <a:srgbClr val="00CC00"/>
                </a:solidFill>
              </a:rPr>
              <a:t>"  </a:t>
            </a:r>
            <a:r>
              <a:rPr lang="es-ES" sz="1400" dirty="0" err="1">
                <a:solidFill>
                  <a:srgbClr val="00CC00"/>
                </a:solidFill>
              </a:rPr>
              <a:t>type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 err="1">
                <a:solidFill>
                  <a:srgbClr val="C00000"/>
                </a:solidFill>
              </a:rPr>
              <a:t>xs:</a:t>
            </a:r>
            <a:r>
              <a:rPr lang="es-ES" sz="1400" dirty="0" err="1">
                <a:solidFill>
                  <a:srgbClr val="FF9900"/>
                </a:solidFill>
              </a:rPr>
              <a:t>string</a:t>
            </a:r>
            <a:r>
              <a:rPr lang="es-ES" sz="1400" dirty="0">
                <a:solidFill>
                  <a:srgbClr val="00CC00"/>
                </a:solidFill>
              </a:rPr>
              <a:t>"</a:t>
            </a:r>
            <a:r>
              <a:rPr lang="es-ES" sz="1400" dirty="0">
                <a:solidFill>
                  <a:srgbClr val="0070C0"/>
                </a:solidFill>
              </a:rPr>
              <a:t>/&gt;  </a:t>
            </a:r>
            <a:endParaRPr lang="es-ES" sz="1400" b="1" dirty="0">
              <a:solidFill>
                <a:srgbClr val="0070C0"/>
              </a:solidFill>
            </a:endParaRPr>
          </a:p>
        </p:txBody>
      </p:sp>
      <p:grpSp>
        <p:nvGrpSpPr>
          <p:cNvPr id="9" name="Grupo 8"/>
          <p:cNvGrpSpPr/>
          <p:nvPr/>
        </p:nvGrpSpPr>
        <p:grpSpPr>
          <a:xfrm>
            <a:off x="3677424" y="1100146"/>
            <a:ext cx="1152128" cy="349976"/>
            <a:chOff x="3677424" y="963472"/>
            <a:chExt cx="1152128" cy="349976"/>
          </a:xfrm>
        </p:grpSpPr>
        <p:sp>
          <p:nvSpPr>
            <p:cNvPr id="6" name="Cerrar llave 5"/>
            <p:cNvSpPr/>
            <p:nvPr/>
          </p:nvSpPr>
          <p:spPr bwMode="auto">
            <a:xfrm rot="16200000">
              <a:off x="4166756" y="821338"/>
              <a:ext cx="120124" cy="864096"/>
            </a:xfrm>
            <a:prstGeom prst="rightBrace">
              <a:avLst>
                <a:gd name="adj1" fmla="val 29497"/>
                <a:gd name="adj2" fmla="val 49471"/>
              </a:avLst>
            </a:prstGeom>
            <a:ln>
              <a:solidFill>
                <a:srgbClr val="0099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4" name="CuadroTexto 23"/>
            <p:cNvSpPr txBox="1"/>
            <p:nvPr/>
          </p:nvSpPr>
          <p:spPr>
            <a:xfrm>
              <a:off x="3677424" y="963472"/>
              <a:ext cx="1152128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00" dirty="0">
                  <a:solidFill>
                    <a:srgbClr val="009900"/>
                  </a:solidFill>
                </a:rPr>
                <a:t>7 caracteres</a:t>
              </a:r>
            </a:p>
          </p:txBody>
        </p:sp>
      </p:grpSp>
      <p:sp>
        <p:nvSpPr>
          <p:cNvPr id="25" name="CuadroTexto 24"/>
          <p:cNvSpPr txBox="1"/>
          <p:nvPr/>
        </p:nvSpPr>
        <p:spPr>
          <a:xfrm>
            <a:off x="2719999" y="3667085"/>
            <a:ext cx="4277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0070C0"/>
                </a:solidFill>
              </a:rPr>
              <a:t>&lt;</a:t>
            </a:r>
            <a:r>
              <a:rPr lang="es-ES" sz="1400" dirty="0" err="1">
                <a:solidFill>
                  <a:srgbClr val="0070C0"/>
                </a:solidFill>
              </a:rPr>
              <a:t>xs:element</a:t>
            </a:r>
            <a:r>
              <a:rPr lang="es-ES" sz="1400" dirty="0">
                <a:solidFill>
                  <a:srgbClr val="0070C0"/>
                </a:solidFill>
              </a:rPr>
              <a:t>  </a:t>
            </a:r>
            <a:r>
              <a:rPr lang="es-ES" sz="1400" dirty="0" err="1">
                <a:solidFill>
                  <a:srgbClr val="00CC00"/>
                </a:solidFill>
              </a:rPr>
              <a:t>name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>
                <a:solidFill>
                  <a:srgbClr val="FF9900"/>
                </a:solidFill>
              </a:rPr>
              <a:t>matricula</a:t>
            </a:r>
            <a:r>
              <a:rPr lang="es-ES" sz="1400" dirty="0">
                <a:solidFill>
                  <a:srgbClr val="00CC00"/>
                </a:solidFill>
              </a:rPr>
              <a:t>"  </a:t>
            </a:r>
            <a:r>
              <a:rPr lang="es-ES" sz="1400" dirty="0" err="1">
                <a:solidFill>
                  <a:srgbClr val="00CC00"/>
                </a:solidFill>
              </a:rPr>
              <a:t>type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 err="1">
                <a:solidFill>
                  <a:srgbClr val="FF9900"/>
                </a:solidFill>
              </a:rPr>
              <a:t>t_matri</a:t>
            </a:r>
            <a:r>
              <a:rPr lang="es-ES" sz="1400" dirty="0">
                <a:solidFill>
                  <a:srgbClr val="00CC00"/>
                </a:solidFill>
              </a:rPr>
              <a:t>"</a:t>
            </a:r>
            <a:r>
              <a:rPr lang="es-ES" sz="1400" dirty="0">
                <a:solidFill>
                  <a:srgbClr val="0070C0"/>
                </a:solidFill>
              </a:rPr>
              <a:t>/&gt;</a:t>
            </a:r>
            <a:endParaRPr lang="es-ES" sz="1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01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4.81481E-6 L -0.07014 0.13542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07" y="6759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1.85185E-6 L -0.00105 -0.16644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8333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1.11111E-6 L 4.72222E-6 -0.16759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3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19" grpId="0" animBg="1"/>
      <p:bldP spid="18" grpId="0"/>
      <p:bldP spid="17" grpId="0"/>
      <p:bldP spid="14" grpId="0"/>
      <p:bldP spid="14" grpId="1"/>
      <p:bldP spid="22" grpId="0"/>
      <p:bldP spid="22" grpId="1"/>
      <p:bldP spid="23" grpId="0"/>
      <p:bldP spid="23" grpId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24 Esquina doblada"/>
          <p:cNvSpPr/>
          <p:nvPr/>
        </p:nvSpPr>
        <p:spPr bwMode="auto">
          <a:xfrm>
            <a:off x="1603100" y="2341538"/>
            <a:ext cx="6011882" cy="4183806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Rectángulo 19"/>
          <p:cNvSpPr/>
          <p:nvPr/>
        </p:nvSpPr>
        <p:spPr bwMode="auto">
          <a:xfrm>
            <a:off x="2069580" y="3409464"/>
            <a:ext cx="4878683" cy="1341388"/>
          </a:xfrm>
          <a:prstGeom prst="rect">
            <a:avLst/>
          </a:prstGeom>
          <a:solidFill>
            <a:srgbClr val="FFE1FF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tángulo 20"/>
          <p:cNvSpPr/>
          <p:nvPr/>
        </p:nvSpPr>
        <p:spPr bwMode="auto">
          <a:xfrm>
            <a:off x="2080727" y="2996952"/>
            <a:ext cx="4867536" cy="307777"/>
          </a:xfrm>
          <a:prstGeom prst="rect">
            <a:avLst/>
          </a:prstGeom>
          <a:solidFill>
            <a:srgbClr val="99FF99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Rectángulo 25"/>
          <p:cNvSpPr/>
          <p:nvPr/>
        </p:nvSpPr>
        <p:spPr bwMode="auto">
          <a:xfrm>
            <a:off x="2069580" y="4855587"/>
            <a:ext cx="4867536" cy="1120915"/>
          </a:xfrm>
          <a:prstGeom prst="rect">
            <a:avLst/>
          </a:prstGeom>
          <a:solidFill>
            <a:srgbClr val="FFE4C9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1829083" y="2413709"/>
            <a:ext cx="549786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000000"/>
                </a:solidFill>
              </a:rPr>
              <a:t>&lt;?</a:t>
            </a:r>
            <a:r>
              <a:rPr lang="es-ES" sz="1400" dirty="0" err="1">
                <a:solidFill>
                  <a:srgbClr val="000000"/>
                </a:solidFill>
              </a:rPr>
              <a:t>xml</a:t>
            </a:r>
            <a:r>
              <a:rPr lang="es-ES" sz="1400" dirty="0">
                <a:solidFill>
                  <a:srgbClr val="000000"/>
                </a:solidFill>
              </a:rPr>
              <a:t> </a:t>
            </a:r>
            <a:r>
              <a:rPr lang="es-ES" sz="1400" dirty="0" err="1">
                <a:solidFill>
                  <a:srgbClr val="000000"/>
                </a:solidFill>
              </a:rPr>
              <a:t>version</a:t>
            </a:r>
            <a:r>
              <a:rPr lang="es-ES" sz="1400" dirty="0">
                <a:solidFill>
                  <a:srgbClr val="000000"/>
                </a:solidFill>
              </a:rPr>
              <a:t>="1.0" ?&gt;</a:t>
            </a:r>
          </a:p>
          <a:p>
            <a:r>
              <a:rPr lang="es-ES" sz="1400" b="1" dirty="0">
                <a:solidFill>
                  <a:srgbClr val="000000"/>
                </a:solidFill>
              </a:rPr>
              <a:t>&lt;</a:t>
            </a:r>
            <a:r>
              <a:rPr lang="es-ES" sz="1400" b="1" dirty="0" err="1">
                <a:solidFill>
                  <a:srgbClr val="000000"/>
                </a:solidFill>
              </a:rPr>
              <a:t>xs:schema</a:t>
            </a:r>
            <a:r>
              <a:rPr lang="es-ES" sz="1400" b="1" dirty="0">
                <a:solidFill>
                  <a:srgbClr val="000000"/>
                </a:solidFill>
              </a:rPr>
              <a:t> </a:t>
            </a:r>
            <a:r>
              <a:rPr lang="es-ES" sz="1400" dirty="0" err="1">
                <a:solidFill>
                  <a:schemeClr val="bg1">
                    <a:lumMod val="50000"/>
                  </a:schemeClr>
                </a:solidFill>
              </a:rPr>
              <a:t>xmlns:xs</a:t>
            </a:r>
            <a:r>
              <a:rPr lang="es-ES" sz="1400" dirty="0">
                <a:solidFill>
                  <a:schemeClr val="bg1">
                    <a:lumMod val="50000"/>
                  </a:schemeClr>
                </a:solidFill>
              </a:rPr>
              <a:t>="http://www.w3.org/2001/XMLSchema"</a:t>
            </a:r>
            <a:r>
              <a:rPr lang="es-ES" sz="1400" b="1" dirty="0">
                <a:solidFill>
                  <a:srgbClr val="000000"/>
                </a:solidFill>
              </a:rPr>
              <a:t>&gt;</a:t>
            </a: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r>
              <a:rPr lang="es-ES" sz="1400" b="1" dirty="0">
                <a:solidFill>
                  <a:srgbClr val="000000"/>
                </a:solidFill>
              </a:rPr>
              <a:t>&lt;/</a:t>
            </a:r>
            <a:r>
              <a:rPr lang="es-ES" sz="1400" b="1" dirty="0" err="1">
                <a:solidFill>
                  <a:srgbClr val="000000"/>
                </a:solidFill>
              </a:rPr>
              <a:t>xs:schema</a:t>
            </a:r>
            <a:r>
              <a:rPr lang="es-ES" sz="1400" b="1" dirty="0">
                <a:solidFill>
                  <a:srgbClr val="000000"/>
                </a:solidFill>
              </a:rPr>
              <a:t>&gt;</a:t>
            </a:r>
          </a:p>
        </p:txBody>
      </p:sp>
      <p:sp>
        <p:nvSpPr>
          <p:cNvPr id="17" name="CuadroTexto 16"/>
          <p:cNvSpPr txBox="1"/>
          <p:nvPr/>
        </p:nvSpPr>
        <p:spPr>
          <a:xfrm>
            <a:off x="2069580" y="2996952"/>
            <a:ext cx="5257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0070C0"/>
                </a:solidFill>
              </a:rPr>
              <a:t>&lt;</a:t>
            </a:r>
            <a:r>
              <a:rPr lang="es-ES" sz="1400" dirty="0" err="1">
                <a:solidFill>
                  <a:srgbClr val="0070C0"/>
                </a:solidFill>
              </a:rPr>
              <a:t>xs:element</a:t>
            </a:r>
            <a:r>
              <a:rPr lang="es-ES" sz="1400" dirty="0">
                <a:solidFill>
                  <a:srgbClr val="0070C0"/>
                </a:solidFill>
              </a:rPr>
              <a:t> </a:t>
            </a:r>
            <a:r>
              <a:rPr lang="es-ES" sz="1400" dirty="0" err="1">
                <a:solidFill>
                  <a:srgbClr val="00CC00"/>
                </a:solidFill>
              </a:rPr>
              <a:t>name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 err="1">
                <a:solidFill>
                  <a:srgbClr val="FF9900"/>
                </a:solidFill>
              </a:rPr>
              <a:t>vehiculo</a:t>
            </a:r>
            <a:r>
              <a:rPr lang="es-ES" sz="1400" dirty="0">
                <a:solidFill>
                  <a:srgbClr val="00CC00"/>
                </a:solidFill>
              </a:rPr>
              <a:t>" </a:t>
            </a:r>
            <a:r>
              <a:rPr lang="es-ES" sz="1400" dirty="0" err="1">
                <a:solidFill>
                  <a:srgbClr val="00CC00"/>
                </a:solidFill>
              </a:rPr>
              <a:t>type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 err="1">
                <a:solidFill>
                  <a:srgbClr val="FF9900"/>
                </a:solidFill>
              </a:rPr>
              <a:t>t_vehículo</a:t>
            </a:r>
            <a:r>
              <a:rPr lang="es-ES" sz="1400" dirty="0">
                <a:solidFill>
                  <a:srgbClr val="00CC00"/>
                </a:solidFill>
              </a:rPr>
              <a:t>"/</a:t>
            </a:r>
            <a:r>
              <a:rPr lang="es-ES" sz="1400" dirty="0">
                <a:solidFill>
                  <a:srgbClr val="0070C0"/>
                </a:solidFill>
              </a:rPr>
              <a:t>&gt;</a:t>
            </a:r>
          </a:p>
        </p:txBody>
      </p:sp>
      <p:sp>
        <p:nvSpPr>
          <p:cNvPr id="2" name="Rectángulo 1"/>
          <p:cNvSpPr/>
          <p:nvPr/>
        </p:nvSpPr>
        <p:spPr bwMode="auto">
          <a:xfrm>
            <a:off x="1764474" y="1117402"/>
            <a:ext cx="5616624" cy="1077218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29156" y="45760"/>
            <a:ext cx="7487260" cy="563563"/>
          </a:xfrm>
        </p:spPr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Simples</a:t>
            </a:r>
            <a:endParaRPr lang="en-US" sz="1400" dirty="0"/>
          </a:p>
        </p:txBody>
      </p:sp>
      <p:sp>
        <p:nvSpPr>
          <p:cNvPr id="42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411761" y="1129043"/>
            <a:ext cx="43153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</a:t>
            </a:r>
            <a:r>
              <a:rPr lang="es-ES" sz="16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vehiculo</a:t>
            </a:r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&gt;</a:t>
            </a:r>
          </a:p>
          <a:p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&lt;matrícula&gt;</a:t>
            </a:r>
            <a:r>
              <a:rPr lang="es-ES" sz="1600" dirty="0">
                <a:solidFill>
                  <a:srgbClr val="FF0000"/>
                </a:solidFill>
              </a:rPr>
              <a:t>6736GRL</a:t>
            </a:r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&lt;/matrícula&gt;</a:t>
            </a:r>
          </a:p>
          <a:p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&lt;propietario&gt;</a:t>
            </a:r>
            <a:r>
              <a:rPr lang="es-ES" sz="1600" dirty="0">
                <a:solidFill>
                  <a:srgbClr val="FF0000"/>
                </a:solidFill>
              </a:rPr>
              <a:t>Eduardo Prieto</a:t>
            </a:r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&lt;/propietario&gt;</a:t>
            </a:r>
          </a:p>
          <a:p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</a:t>
            </a:r>
            <a:r>
              <a:rPr lang="es-ES" sz="16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vehiculo</a:t>
            </a:r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&gt;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1152406" y="757362"/>
            <a:ext cx="6840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>
                <a:solidFill>
                  <a:srgbClr val="000000"/>
                </a:solidFill>
              </a:rPr>
              <a:t>tipos de datos definidos por el usuario 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2069580" y="4806951"/>
            <a:ext cx="482022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F51BBC"/>
                </a:solidFill>
              </a:rPr>
              <a:t>&lt;</a:t>
            </a:r>
            <a:r>
              <a:rPr lang="es-ES" sz="1400" dirty="0" err="1">
                <a:solidFill>
                  <a:srgbClr val="F51BBC"/>
                </a:solidFill>
              </a:rPr>
              <a:t>xs:simpleType</a:t>
            </a:r>
            <a:r>
              <a:rPr lang="es-ES" sz="1400" dirty="0">
                <a:solidFill>
                  <a:srgbClr val="F51BBC"/>
                </a:solidFill>
              </a:rPr>
              <a:t>  </a:t>
            </a:r>
            <a:r>
              <a:rPr lang="es-ES" sz="1400" dirty="0" err="1">
                <a:solidFill>
                  <a:srgbClr val="00CC00"/>
                </a:solidFill>
              </a:rPr>
              <a:t>name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 err="1">
                <a:solidFill>
                  <a:srgbClr val="FF9900"/>
                </a:solidFill>
              </a:rPr>
              <a:t>t_matri</a:t>
            </a:r>
            <a:r>
              <a:rPr lang="es-ES" sz="1400" dirty="0">
                <a:solidFill>
                  <a:srgbClr val="00CC00"/>
                </a:solidFill>
              </a:rPr>
              <a:t>"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400" dirty="0">
                <a:solidFill>
                  <a:srgbClr val="0070C0"/>
                </a:solidFill>
              </a:rPr>
              <a:t>        </a:t>
            </a:r>
            <a:r>
              <a:rPr lang="es-ES" sz="1400" dirty="0">
                <a:solidFill>
                  <a:srgbClr val="F51BBC"/>
                </a:solidFill>
              </a:rPr>
              <a:t>&lt;</a:t>
            </a:r>
            <a:r>
              <a:rPr lang="es-ES" sz="1400" dirty="0" err="1">
                <a:solidFill>
                  <a:srgbClr val="F51BBC"/>
                </a:solidFill>
              </a:rPr>
              <a:t>xs:restriction</a:t>
            </a:r>
            <a:r>
              <a:rPr lang="es-ES" sz="1400" dirty="0">
                <a:solidFill>
                  <a:srgbClr val="F51BBC"/>
                </a:solidFill>
              </a:rPr>
              <a:t> </a:t>
            </a:r>
            <a:r>
              <a:rPr lang="es-ES" sz="1400" dirty="0">
                <a:solidFill>
                  <a:srgbClr val="00CC00"/>
                </a:solidFill>
              </a:rPr>
              <a:t>base="</a:t>
            </a:r>
            <a:r>
              <a:rPr lang="es-ES" sz="1400" dirty="0" err="1">
                <a:solidFill>
                  <a:srgbClr val="C00000"/>
                </a:solidFill>
              </a:rPr>
              <a:t>xs:</a:t>
            </a:r>
            <a:r>
              <a:rPr lang="es-ES" sz="1400" dirty="0" err="1">
                <a:solidFill>
                  <a:srgbClr val="FF9900"/>
                </a:solidFill>
              </a:rPr>
              <a:t>string</a:t>
            </a:r>
            <a:r>
              <a:rPr lang="es-ES" sz="1400" dirty="0">
                <a:solidFill>
                  <a:srgbClr val="00CC00"/>
                </a:solidFill>
              </a:rPr>
              <a:t>"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400" dirty="0">
                <a:solidFill>
                  <a:srgbClr val="0070C0"/>
                </a:solidFill>
              </a:rPr>
              <a:t> 	</a:t>
            </a:r>
            <a:r>
              <a:rPr lang="es-ES" sz="1400" b="1" dirty="0">
                <a:solidFill>
                  <a:srgbClr val="F51BBC"/>
                </a:solidFill>
              </a:rPr>
              <a:t>&lt;</a:t>
            </a:r>
            <a:r>
              <a:rPr lang="es-ES" sz="1400" b="1" dirty="0" err="1">
                <a:solidFill>
                  <a:srgbClr val="F51BBC"/>
                </a:solidFill>
              </a:rPr>
              <a:t>xs:length</a:t>
            </a:r>
            <a:r>
              <a:rPr lang="es-ES" sz="1400" b="1" dirty="0">
                <a:solidFill>
                  <a:srgbClr val="F51BBC"/>
                </a:solidFill>
              </a:rPr>
              <a:t> </a:t>
            </a:r>
            <a:r>
              <a:rPr lang="es-ES" sz="1400" b="1" dirty="0" err="1">
                <a:solidFill>
                  <a:srgbClr val="00CC00"/>
                </a:solidFill>
              </a:rPr>
              <a:t>value</a:t>
            </a:r>
            <a:r>
              <a:rPr lang="es-ES" sz="1400" b="1" dirty="0">
                <a:solidFill>
                  <a:srgbClr val="00CC00"/>
                </a:solidFill>
              </a:rPr>
              <a:t>="</a:t>
            </a:r>
            <a:r>
              <a:rPr lang="es-ES" sz="1400" b="1" dirty="0">
                <a:solidFill>
                  <a:srgbClr val="FF9900"/>
                </a:solidFill>
              </a:rPr>
              <a:t>7</a:t>
            </a:r>
            <a:r>
              <a:rPr lang="es-ES" sz="1400" b="1" dirty="0">
                <a:solidFill>
                  <a:srgbClr val="00CC00"/>
                </a:solidFill>
              </a:rPr>
              <a:t>"</a:t>
            </a:r>
            <a:r>
              <a:rPr lang="es-ES" sz="1400" b="1" dirty="0">
                <a:solidFill>
                  <a:srgbClr val="F51BBC"/>
                </a:solidFill>
              </a:rPr>
              <a:t>/&gt;</a:t>
            </a:r>
          </a:p>
          <a:p>
            <a:r>
              <a:rPr lang="es-ES" sz="1400" dirty="0">
                <a:solidFill>
                  <a:srgbClr val="F51BBC"/>
                </a:solidFill>
              </a:rPr>
              <a:t>        &lt;/</a:t>
            </a:r>
            <a:r>
              <a:rPr lang="es-ES" sz="1400" dirty="0" err="1">
                <a:solidFill>
                  <a:srgbClr val="F51BBC"/>
                </a:solidFill>
              </a:rPr>
              <a:t>xs:restriction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400" dirty="0">
                <a:solidFill>
                  <a:srgbClr val="F51BBC"/>
                </a:solidFill>
              </a:rPr>
              <a:t>&lt;/</a:t>
            </a:r>
            <a:r>
              <a:rPr lang="es-ES" sz="1400" dirty="0" err="1">
                <a:solidFill>
                  <a:srgbClr val="F51BBC"/>
                </a:solidFill>
              </a:rPr>
              <a:t>xs:simpleType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  <a:endParaRPr lang="es-ES" sz="1400" b="1" dirty="0">
              <a:solidFill>
                <a:srgbClr val="F51BBC"/>
              </a:solidFill>
            </a:endParaRPr>
          </a:p>
        </p:txBody>
      </p:sp>
      <p:grpSp>
        <p:nvGrpSpPr>
          <p:cNvPr id="9" name="Grupo 8"/>
          <p:cNvGrpSpPr/>
          <p:nvPr/>
        </p:nvGrpSpPr>
        <p:grpSpPr>
          <a:xfrm>
            <a:off x="3677424" y="1100146"/>
            <a:ext cx="1152128" cy="349976"/>
            <a:chOff x="3677424" y="963472"/>
            <a:chExt cx="1152128" cy="349976"/>
          </a:xfrm>
        </p:grpSpPr>
        <p:sp>
          <p:nvSpPr>
            <p:cNvPr id="6" name="Cerrar llave 5"/>
            <p:cNvSpPr/>
            <p:nvPr/>
          </p:nvSpPr>
          <p:spPr bwMode="auto">
            <a:xfrm rot="16200000">
              <a:off x="4166756" y="821338"/>
              <a:ext cx="120124" cy="864096"/>
            </a:xfrm>
            <a:prstGeom prst="rightBrace">
              <a:avLst>
                <a:gd name="adj1" fmla="val 29497"/>
                <a:gd name="adj2" fmla="val 49471"/>
              </a:avLst>
            </a:prstGeom>
            <a:ln>
              <a:solidFill>
                <a:srgbClr val="0099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4" name="CuadroTexto 23"/>
            <p:cNvSpPr txBox="1"/>
            <p:nvPr/>
          </p:nvSpPr>
          <p:spPr>
            <a:xfrm>
              <a:off x="3677424" y="963472"/>
              <a:ext cx="1152128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00" dirty="0">
                  <a:solidFill>
                    <a:srgbClr val="009900"/>
                  </a:solidFill>
                </a:rPr>
                <a:t>7 caracteres</a:t>
              </a:r>
            </a:p>
          </p:txBody>
        </p:sp>
      </p:grpSp>
      <p:sp>
        <p:nvSpPr>
          <p:cNvPr id="19" name="CuadroTexto 18"/>
          <p:cNvSpPr txBox="1"/>
          <p:nvPr/>
        </p:nvSpPr>
        <p:spPr>
          <a:xfrm>
            <a:off x="2083041" y="3365857"/>
            <a:ext cx="52573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002060"/>
                </a:solidFill>
              </a:rPr>
              <a:t>&lt;</a:t>
            </a:r>
            <a:r>
              <a:rPr lang="es-ES" sz="1400" dirty="0" err="1">
                <a:solidFill>
                  <a:srgbClr val="002060"/>
                </a:solidFill>
              </a:rPr>
              <a:t>xs:complexType</a:t>
            </a:r>
            <a:r>
              <a:rPr lang="es-ES" sz="1400" dirty="0">
                <a:solidFill>
                  <a:srgbClr val="002060"/>
                </a:solidFill>
              </a:rPr>
              <a:t> </a:t>
            </a:r>
            <a:r>
              <a:rPr lang="es-ES" sz="1400" dirty="0" err="1">
                <a:solidFill>
                  <a:srgbClr val="00CC00"/>
                </a:solidFill>
              </a:rPr>
              <a:t>name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 err="1">
                <a:solidFill>
                  <a:srgbClr val="FF9900"/>
                </a:solidFill>
              </a:rPr>
              <a:t>t_vehiculo</a:t>
            </a:r>
            <a:r>
              <a:rPr lang="es-ES" sz="1400" dirty="0">
                <a:solidFill>
                  <a:srgbClr val="00CC00"/>
                </a:solidFill>
              </a:rPr>
              <a:t>" </a:t>
            </a:r>
            <a:r>
              <a:rPr lang="es-ES" sz="1400" dirty="0">
                <a:solidFill>
                  <a:srgbClr val="002060"/>
                </a:solidFill>
              </a:rPr>
              <a:t>&gt;</a:t>
            </a:r>
          </a:p>
          <a:p>
            <a:r>
              <a:rPr lang="es-ES" sz="1400" dirty="0">
                <a:solidFill>
                  <a:srgbClr val="002060"/>
                </a:solidFill>
              </a:rPr>
              <a:t>      &lt;</a:t>
            </a:r>
            <a:r>
              <a:rPr lang="es-ES" sz="1400" dirty="0" err="1">
                <a:solidFill>
                  <a:srgbClr val="002060"/>
                </a:solidFill>
              </a:rPr>
              <a:t>xs:sequence</a:t>
            </a:r>
            <a:r>
              <a:rPr lang="es-ES" sz="1400" dirty="0">
                <a:solidFill>
                  <a:srgbClr val="002060"/>
                </a:solidFill>
              </a:rPr>
              <a:t>&gt;</a:t>
            </a:r>
          </a:p>
          <a:p>
            <a:r>
              <a:rPr lang="es-ES" sz="1400" dirty="0">
                <a:solidFill>
                  <a:srgbClr val="0070C0"/>
                </a:solidFill>
              </a:rPr>
              <a:t>            &lt;</a:t>
            </a:r>
            <a:r>
              <a:rPr lang="es-ES" sz="1400" dirty="0" err="1">
                <a:solidFill>
                  <a:srgbClr val="0070C0"/>
                </a:solidFill>
              </a:rPr>
              <a:t>xs:element</a:t>
            </a:r>
            <a:r>
              <a:rPr lang="es-ES" sz="1400" dirty="0">
                <a:solidFill>
                  <a:srgbClr val="0070C0"/>
                </a:solidFill>
              </a:rPr>
              <a:t>  </a:t>
            </a:r>
            <a:r>
              <a:rPr lang="es-ES" sz="1400" dirty="0" err="1">
                <a:solidFill>
                  <a:srgbClr val="00CC00"/>
                </a:solidFill>
              </a:rPr>
              <a:t>name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>
                <a:solidFill>
                  <a:srgbClr val="FF9900"/>
                </a:solidFill>
              </a:rPr>
              <a:t>matricula</a:t>
            </a:r>
            <a:r>
              <a:rPr lang="es-ES" sz="1400" dirty="0">
                <a:solidFill>
                  <a:srgbClr val="00CC00"/>
                </a:solidFill>
              </a:rPr>
              <a:t>"  </a:t>
            </a:r>
            <a:r>
              <a:rPr lang="es-ES" sz="1400" dirty="0" err="1">
                <a:solidFill>
                  <a:srgbClr val="00CC00"/>
                </a:solidFill>
              </a:rPr>
              <a:t>type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 err="1">
                <a:solidFill>
                  <a:srgbClr val="FF9900"/>
                </a:solidFill>
              </a:rPr>
              <a:t>t_matri</a:t>
            </a:r>
            <a:r>
              <a:rPr lang="es-ES" sz="1400" dirty="0">
                <a:solidFill>
                  <a:srgbClr val="00CC00"/>
                </a:solidFill>
              </a:rPr>
              <a:t>"</a:t>
            </a:r>
            <a:r>
              <a:rPr lang="es-ES" sz="14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400" dirty="0">
                <a:solidFill>
                  <a:srgbClr val="0070C0"/>
                </a:solidFill>
              </a:rPr>
              <a:t>            &lt;</a:t>
            </a:r>
            <a:r>
              <a:rPr lang="es-ES" sz="1400" dirty="0" err="1">
                <a:solidFill>
                  <a:srgbClr val="0070C0"/>
                </a:solidFill>
              </a:rPr>
              <a:t>xs:element</a:t>
            </a:r>
            <a:r>
              <a:rPr lang="es-ES" sz="1400" dirty="0">
                <a:solidFill>
                  <a:srgbClr val="0070C0"/>
                </a:solidFill>
              </a:rPr>
              <a:t>  </a:t>
            </a:r>
            <a:r>
              <a:rPr lang="es-ES" sz="1400" dirty="0" err="1">
                <a:solidFill>
                  <a:srgbClr val="00CC00"/>
                </a:solidFill>
              </a:rPr>
              <a:t>name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>
                <a:solidFill>
                  <a:srgbClr val="FF9900"/>
                </a:solidFill>
              </a:rPr>
              <a:t>propietario</a:t>
            </a:r>
            <a:r>
              <a:rPr lang="es-ES" sz="1400" dirty="0">
                <a:solidFill>
                  <a:srgbClr val="00CC00"/>
                </a:solidFill>
              </a:rPr>
              <a:t>"  </a:t>
            </a:r>
            <a:r>
              <a:rPr lang="es-ES" sz="1400" dirty="0" err="1">
                <a:solidFill>
                  <a:srgbClr val="00CC00"/>
                </a:solidFill>
              </a:rPr>
              <a:t>type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 err="1">
                <a:solidFill>
                  <a:srgbClr val="C00000"/>
                </a:solidFill>
              </a:rPr>
              <a:t>xs:</a:t>
            </a:r>
            <a:r>
              <a:rPr lang="es-ES" sz="1400" dirty="0" err="1">
                <a:solidFill>
                  <a:srgbClr val="FF9900"/>
                </a:solidFill>
              </a:rPr>
              <a:t>string</a:t>
            </a:r>
            <a:r>
              <a:rPr lang="es-ES" sz="1400" dirty="0">
                <a:solidFill>
                  <a:srgbClr val="00CC00"/>
                </a:solidFill>
              </a:rPr>
              <a:t>"</a:t>
            </a:r>
            <a:r>
              <a:rPr lang="es-ES" sz="14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400" dirty="0">
                <a:solidFill>
                  <a:srgbClr val="002060"/>
                </a:solidFill>
              </a:rPr>
              <a:t>     &lt;/</a:t>
            </a:r>
            <a:r>
              <a:rPr lang="es-ES" sz="1400" dirty="0" err="1">
                <a:solidFill>
                  <a:srgbClr val="002060"/>
                </a:solidFill>
              </a:rPr>
              <a:t>xs:sequence</a:t>
            </a:r>
            <a:r>
              <a:rPr lang="es-ES" sz="1400" dirty="0">
                <a:solidFill>
                  <a:srgbClr val="002060"/>
                </a:solidFill>
              </a:rPr>
              <a:t>&gt;</a:t>
            </a:r>
            <a:endParaRPr lang="es-ES" sz="1400" b="1" dirty="0">
              <a:solidFill>
                <a:srgbClr val="0070C0"/>
              </a:solidFill>
            </a:endParaRPr>
          </a:p>
          <a:p>
            <a:r>
              <a:rPr lang="es-ES" sz="1400" dirty="0">
                <a:solidFill>
                  <a:srgbClr val="002060"/>
                </a:solidFill>
              </a:rPr>
              <a:t>&lt;/</a:t>
            </a:r>
            <a:r>
              <a:rPr lang="es-ES" sz="1400" dirty="0" err="1">
                <a:solidFill>
                  <a:srgbClr val="002060"/>
                </a:solidFill>
              </a:rPr>
              <a:t>xs:complexType</a:t>
            </a:r>
            <a:r>
              <a:rPr lang="es-ES" sz="1400" dirty="0">
                <a:solidFill>
                  <a:srgbClr val="002060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80419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29156" y="45760"/>
            <a:ext cx="7487260" cy="563563"/>
          </a:xfrm>
        </p:spPr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Simples</a:t>
            </a:r>
            <a:endParaRPr lang="en-US" sz="1400" dirty="0"/>
          </a:p>
        </p:txBody>
      </p:sp>
      <p:sp>
        <p:nvSpPr>
          <p:cNvPr id="42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1152406" y="884286"/>
            <a:ext cx="6840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>
                <a:solidFill>
                  <a:srgbClr val="000000"/>
                </a:solidFill>
              </a:rPr>
              <a:t>tipos de datos definidos por el usuario</a:t>
            </a:r>
          </a:p>
          <a:p>
            <a:pPr algn="ctr"/>
            <a:r>
              <a:rPr lang="es-ES" sz="1800" dirty="0">
                <a:solidFill>
                  <a:srgbClr val="FFC000"/>
                </a:solidFill>
              </a:rPr>
              <a:t>FACETAS </a:t>
            </a: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565171"/>
              </p:ext>
            </p:extLst>
          </p:nvPr>
        </p:nvGraphicFramePr>
        <p:xfrm>
          <a:off x="514199" y="1553865"/>
          <a:ext cx="8408521" cy="4693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28392">
                  <a:extLst>
                    <a:ext uri="{9D8B030D-6E8A-4147-A177-3AD203B41FA5}">
                      <a16:colId xmlns:a16="http://schemas.microsoft.com/office/drawing/2014/main" val="2619109260"/>
                    </a:ext>
                  </a:extLst>
                </a:gridCol>
                <a:gridCol w="3921263">
                  <a:extLst>
                    <a:ext uri="{9D8B030D-6E8A-4147-A177-3AD203B41FA5}">
                      <a16:colId xmlns:a16="http://schemas.microsoft.com/office/drawing/2014/main" val="3418588457"/>
                    </a:ext>
                  </a:extLst>
                </a:gridCol>
                <a:gridCol w="958866">
                  <a:extLst>
                    <a:ext uri="{9D8B030D-6E8A-4147-A177-3AD203B41FA5}">
                      <a16:colId xmlns:a16="http://schemas.microsoft.com/office/drawing/2014/main" val="2285622690"/>
                    </a:ext>
                  </a:extLst>
                </a:gridCol>
              </a:tblGrid>
              <a:tr h="258259"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&lt;</a:t>
                      </a:r>
                      <a:r>
                        <a:rPr lang="es-ES" sz="1400" dirty="0" err="1">
                          <a:solidFill>
                            <a:srgbClr val="F51BBC"/>
                          </a:solidFill>
                        </a:rPr>
                        <a:t>xs:minInclusive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rgbClr val="00CC00"/>
                          </a:solidFill>
                        </a:rPr>
                        <a:t>value</a:t>
                      </a:r>
                      <a:r>
                        <a:rPr lang="es-ES" sz="1400" dirty="0">
                          <a:solidFill>
                            <a:srgbClr val="00CC00"/>
                          </a:solidFill>
                        </a:rPr>
                        <a:t>="</a:t>
                      </a:r>
                      <a:r>
                        <a:rPr lang="es-ES" sz="1400" dirty="0">
                          <a:solidFill>
                            <a:srgbClr val="FF9900"/>
                          </a:solidFill>
                        </a:rPr>
                        <a:t>18</a:t>
                      </a:r>
                      <a:r>
                        <a:rPr lang="es-ES" sz="1400" dirty="0">
                          <a:solidFill>
                            <a:srgbClr val="00CC00"/>
                          </a:solidFill>
                        </a:rPr>
                        <a:t>"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/&gt;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mayor o igual que 18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s-ES" sz="1300" dirty="0"/>
                        <a:t>números</a:t>
                      </a:r>
                    </a:p>
                    <a:p>
                      <a:pPr algn="ctr"/>
                      <a:r>
                        <a:rPr lang="es-ES" sz="1300" dirty="0"/>
                        <a:t>fechas</a:t>
                      </a:r>
                    </a:p>
                    <a:p>
                      <a:pPr algn="ctr"/>
                      <a:r>
                        <a:rPr lang="es-ES" sz="1300" dirty="0"/>
                        <a:t>horas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8902088"/>
                  </a:ext>
                </a:extLst>
              </a:tr>
              <a:tr h="270557"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&lt;</a:t>
                      </a:r>
                      <a:r>
                        <a:rPr lang="es-ES" sz="1400" dirty="0" err="1">
                          <a:solidFill>
                            <a:srgbClr val="F51BBC"/>
                          </a:solidFill>
                        </a:rPr>
                        <a:t>xs:maxInclusive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rgbClr val="00CC00"/>
                          </a:solidFill>
                        </a:rPr>
                        <a:t>value</a:t>
                      </a:r>
                      <a:r>
                        <a:rPr lang="es-ES" sz="1400" dirty="0">
                          <a:solidFill>
                            <a:srgbClr val="00CC00"/>
                          </a:solidFill>
                        </a:rPr>
                        <a:t>="</a:t>
                      </a:r>
                      <a:r>
                        <a:rPr lang="es-ES" sz="1400" dirty="0">
                          <a:solidFill>
                            <a:srgbClr val="FF9900"/>
                          </a:solidFill>
                        </a:rPr>
                        <a:t>65</a:t>
                      </a:r>
                      <a:r>
                        <a:rPr lang="es-ES" sz="1400" dirty="0">
                          <a:solidFill>
                            <a:srgbClr val="00CC00"/>
                          </a:solidFill>
                        </a:rPr>
                        <a:t>"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/&gt;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menor o igual que 65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s-E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2240025"/>
                  </a:ext>
                </a:extLst>
              </a:tr>
              <a:tr h="258259"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&lt;</a:t>
                      </a:r>
                      <a:r>
                        <a:rPr lang="es-ES" sz="1400" dirty="0" err="1">
                          <a:solidFill>
                            <a:srgbClr val="F51BBC"/>
                          </a:solidFill>
                        </a:rPr>
                        <a:t>xs:minExclusive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rgbClr val="00CC00"/>
                          </a:solidFill>
                        </a:rPr>
                        <a:t>value</a:t>
                      </a:r>
                      <a:r>
                        <a:rPr lang="es-ES" sz="1400" dirty="0">
                          <a:solidFill>
                            <a:srgbClr val="00CC00"/>
                          </a:solidFill>
                        </a:rPr>
                        <a:t>="</a:t>
                      </a:r>
                      <a:r>
                        <a:rPr lang="es-ES" sz="1400" dirty="0">
                          <a:solidFill>
                            <a:srgbClr val="FF9900"/>
                          </a:solidFill>
                        </a:rPr>
                        <a:t>17</a:t>
                      </a:r>
                      <a:r>
                        <a:rPr lang="es-ES" sz="1400" dirty="0">
                          <a:solidFill>
                            <a:srgbClr val="00CC00"/>
                          </a:solidFill>
                        </a:rPr>
                        <a:t>"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/&gt;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mayor que 17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s-E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245552"/>
                  </a:ext>
                </a:extLst>
              </a:tr>
              <a:tr h="270557"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&lt;</a:t>
                      </a:r>
                      <a:r>
                        <a:rPr lang="es-ES" sz="1400" dirty="0" err="1">
                          <a:solidFill>
                            <a:srgbClr val="F51BBC"/>
                          </a:solidFill>
                        </a:rPr>
                        <a:t>xs:maxExclusive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rgbClr val="00CC00"/>
                          </a:solidFill>
                        </a:rPr>
                        <a:t>value</a:t>
                      </a:r>
                      <a:r>
                        <a:rPr lang="es-ES" sz="1400" dirty="0">
                          <a:solidFill>
                            <a:srgbClr val="00CC00"/>
                          </a:solidFill>
                        </a:rPr>
                        <a:t>="</a:t>
                      </a:r>
                      <a:r>
                        <a:rPr lang="es-ES" sz="1400" dirty="0">
                          <a:solidFill>
                            <a:srgbClr val="FF9900"/>
                          </a:solidFill>
                        </a:rPr>
                        <a:t>65</a:t>
                      </a:r>
                      <a:r>
                        <a:rPr lang="es-ES" sz="1400" dirty="0">
                          <a:solidFill>
                            <a:srgbClr val="00CC00"/>
                          </a:solidFill>
                        </a:rPr>
                        <a:t>"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/&gt;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menor que 65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s-E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975436"/>
                  </a:ext>
                </a:extLst>
              </a:tr>
              <a:tr h="442730"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&lt;</a:t>
                      </a:r>
                      <a:r>
                        <a:rPr lang="es-ES" sz="1400" dirty="0" err="1">
                          <a:solidFill>
                            <a:srgbClr val="F51BBC"/>
                          </a:solidFill>
                        </a:rPr>
                        <a:t>xs:enumeration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rgbClr val="00CC00"/>
                          </a:solidFill>
                        </a:rPr>
                        <a:t>value</a:t>
                      </a:r>
                      <a:r>
                        <a:rPr lang="es-ES" sz="1400" dirty="0">
                          <a:solidFill>
                            <a:srgbClr val="00CC00"/>
                          </a:solidFill>
                        </a:rPr>
                        <a:t>="</a:t>
                      </a:r>
                      <a:r>
                        <a:rPr lang="es-ES" sz="1400" dirty="0">
                          <a:solidFill>
                            <a:srgbClr val="FF9900"/>
                          </a:solidFill>
                        </a:rPr>
                        <a:t>Hombre</a:t>
                      </a:r>
                      <a:r>
                        <a:rPr lang="es-ES" sz="1400" dirty="0">
                          <a:solidFill>
                            <a:srgbClr val="00CC00"/>
                          </a:solidFill>
                        </a:rPr>
                        <a:t>"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/&gt;</a:t>
                      </a:r>
                    </a:p>
                    <a:p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&lt;</a:t>
                      </a:r>
                      <a:r>
                        <a:rPr lang="es-ES" sz="1400" dirty="0" err="1">
                          <a:solidFill>
                            <a:srgbClr val="F51BBC"/>
                          </a:solidFill>
                        </a:rPr>
                        <a:t>xs:enumeration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rgbClr val="00CC00"/>
                          </a:solidFill>
                        </a:rPr>
                        <a:t>value</a:t>
                      </a:r>
                      <a:r>
                        <a:rPr lang="es-ES" sz="1400" dirty="0">
                          <a:solidFill>
                            <a:srgbClr val="00CC00"/>
                          </a:solidFill>
                        </a:rPr>
                        <a:t>="</a:t>
                      </a:r>
                      <a:r>
                        <a:rPr lang="es-ES" sz="1400" dirty="0">
                          <a:solidFill>
                            <a:srgbClr val="FF9900"/>
                          </a:solidFill>
                        </a:rPr>
                        <a:t>Mujer</a:t>
                      </a:r>
                      <a:r>
                        <a:rPr lang="es-ES" sz="1400" dirty="0">
                          <a:solidFill>
                            <a:srgbClr val="00CC00"/>
                          </a:solidFill>
                        </a:rPr>
                        <a:t>"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/&gt;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"Hombre" o "Mujer"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300" dirty="0"/>
                        <a:t>cualquier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6692200"/>
                  </a:ext>
                </a:extLst>
              </a:tr>
              <a:tr h="258259"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&lt;</a:t>
                      </a:r>
                      <a:r>
                        <a:rPr lang="es-ES" sz="1400" dirty="0" err="1">
                          <a:solidFill>
                            <a:srgbClr val="F51BBC"/>
                          </a:solidFill>
                        </a:rPr>
                        <a:t>xs:pattern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rgbClr val="00CC00"/>
                          </a:solidFill>
                        </a:rPr>
                        <a:t>value</a:t>
                      </a:r>
                      <a:r>
                        <a:rPr lang="es-ES" sz="1400" dirty="0">
                          <a:solidFill>
                            <a:srgbClr val="00CC00"/>
                          </a:solidFill>
                        </a:rPr>
                        <a:t>="</a:t>
                      </a:r>
                      <a:r>
                        <a:rPr lang="es-ES" sz="1400" dirty="0">
                          <a:solidFill>
                            <a:srgbClr val="FF9900"/>
                          </a:solidFill>
                        </a:rPr>
                        <a:t>[A-Z] [0-9]</a:t>
                      </a:r>
                      <a:r>
                        <a:rPr lang="es-ES" sz="1400" dirty="0">
                          <a:solidFill>
                            <a:srgbClr val="00CC00"/>
                          </a:solidFill>
                        </a:rPr>
                        <a:t>"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/&gt;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una letra</a:t>
                      </a:r>
                      <a:r>
                        <a:rPr lang="es-ES" sz="1400" baseline="0" dirty="0"/>
                        <a:t> mayúscula seguida de un dígito</a:t>
                      </a:r>
                      <a:endParaRPr lang="es-ES" sz="1400" dirty="0"/>
                    </a:p>
                  </a:txBody>
                  <a:tcPr anchor="ctr"/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lang="es-ES" sz="1300" dirty="0" err="1"/>
                        <a:t>String</a:t>
                      </a:r>
                      <a:endParaRPr lang="es-ES" sz="13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0330011"/>
                  </a:ext>
                </a:extLst>
              </a:tr>
              <a:tr h="258259"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&lt;</a:t>
                      </a:r>
                      <a:r>
                        <a:rPr lang="es-ES" sz="1400" dirty="0" err="1">
                          <a:solidFill>
                            <a:srgbClr val="F51BBC"/>
                          </a:solidFill>
                        </a:rPr>
                        <a:t>xs:whiteSpace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rgbClr val="00CC00"/>
                          </a:solidFill>
                        </a:rPr>
                        <a:t>value</a:t>
                      </a:r>
                      <a:r>
                        <a:rPr lang="es-ES" sz="1400" dirty="0">
                          <a:solidFill>
                            <a:srgbClr val="00CC00"/>
                          </a:solidFill>
                        </a:rPr>
                        <a:t>="</a:t>
                      </a:r>
                      <a:r>
                        <a:rPr lang="es-ES" sz="1400" dirty="0" err="1">
                          <a:solidFill>
                            <a:srgbClr val="FF9900"/>
                          </a:solidFill>
                        </a:rPr>
                        <a:t>replace</a:t>
                      </a:r>
                      <a:r>
                        <a:rPr lang="es-ES" sz="1400" dirty="0">
                          <a:solidFill>
                            <a:srgbClr val="00CC00"/>
                          </a:solidFill>
                        </a:rPr>
                        <a:t>"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/&gt;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elimina ESPACIOS ("</a:t>
                      </a:r>
                      <a:r>
                        <a:rPr lang="es-ES" sz="1400" baseline="0" dirty="0"/>
                        <a:t> "</a:t>
                      </a:r>
                      <a:r>
                        <a:rPr lang="es-ES" sz="1400" dirty="0"/>
                        <a:t>, TAB,     ) 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s-E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171667"/>
                  </a:ext>
                </a:extLst>
              </a:tr>
              <a:tr h="2582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&lt;</a:t>
                      </a:r>
                      <a:r>
                        <a:rPr lang="es-ES" sz="1400" dirty="0" err="1">
                          <a:solidFill>
                            <a:srgbClr val="F51BBC"/>
                          </a:solidFill>
                        </a:rPr>
                        <a:t>xs:whiteSpace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rgbClr val="00CC00"/>
                          </a:solidFill>
                        </a:rPr>
                        <a:t>value</a:t>
                      </a:r>
                      <a:r>
                        <a:rPr lang="es-ES" sz="1400" dirty="0">
                          <a:solidFill>
                            <a:srgbClr val="00CC00"/>
                          </a:solidFill>
                        </a:rPr>
                        <a:t>="</a:t>
                      </a:r>
                      <a:r>
                        <a:rPr lang="es-ES" sz="1400" dirty="0" err="1">
                          <a:solidFill>
                            <a:srgbClr val="FF9900"/>
                          </a:solidFill>
                        </a:rPr>
                        <a:t>collapse</a:t>
                      </a:r>
                      <a:r>
                        <a:rPr lang="es-ES" sz="1400" dirty="0">
                          <a:solidFill>
                            <a:srgbClr val="00CC00"/>
                          </a:solidFill>
                        </a:rPr>
                        <a:t>"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/&gt;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elimina ESP</a:t>
                      </a:r>
                      <a:r>
                        <a:rPr lang="es-ES" sz="1400" baseline="0" dirty="0"/>
                        <a:t> exteriores y colapsa interiores</a:t>
                      </a:r>
                      <a:endParaRPr lang="es-ES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s-E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4960726"/>
                  </a:ext>
                </a:extLst>
              </a:tr>
              <a:tr h="2582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&lt;</a:t>
                      </a:r>
                      <a:r>
                        <a:rPr lang="es-ES" sz="1400" dirty="0" err="1">
                          <a:solidFill>
                            <a:srgbClr val="F51BBC"/>
                          </a:solidFill>
                        </a:rPr>
                        <a:t>xs:whiteSpace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rgbClr val="00CC00"/>
                          </a:solidFill>
                        </a:rPr>
                        <a:t>value</a:t>
                      </a:r>
                      <a:r>
                        <a:rPr lang="es-ES" sz="1400" dirty="0">
                          <a:solidFill>
                            <a:srgbClr val="00CC00"/>
                          </a:solidFill>
                        </a:rPr>
                        <a:t>="</a:t>
                      </a:r>
                      <a:r>
                        <a:rPr lang="es-ES" sz="1400" dirty="0">
                          <a:solidFill>
                            <a:srgbClr val="FF9900"/>
                          </a:solidFill>
                        </a:rPr>
                        <a:t>preserve</a:t>
                      </a:r>
                      <a:r>
                        <a:rPr lang="es-ES" sz="1400" dirty="0">
                          <a:solidFill>
                            <a:srgbClr val="00CC00"/>
                          </a:solidFill>
                        </a:rPr>
                        <a:t>"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/&gt;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mantiene los ESPACIOS</a:t>
                      </a:r>
                      <a:r>
                        <a:rPr lang="es-ES" sz="1400" baseline="0" dirty="0"/>
                        <a:t> (</a:t>
                      </a:r>
                      <a:r>
                        <a:rPr lang="es-ES" sz="1400" baseline="0" dirty="0" err="1"/>
                        <a:t>v.por</a:t>
                      </a:r>
                      <a:r>
                        <a:rPr lang="es-ES" sz="1400" baseline="0" dirty="0"/>
                        <a:t> defecto)</a:t>
                      </a:r>
                      <a:endParaRPr lang="es-ES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s-E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611521"/>
                  </a:ext>
                </a:extLst>
              </a:tr>
              <a:tr h="2582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&lt;</a:t>
                      </a:r>
                      <a:r>
                        <a:rPr lang="es-ES" sz="1400" dirty="0" err="1">
                          <a:solidFill>
                            <a:srgbClr val="F51BBC"/>
                          </a:solidFill>
                        </a:rPr>
                        <a:t>xs:length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rgbClr val="00CC00"/>
                          </a:solidFill>
                        </a:rPr>
                        <a:t>value</a:t>
                      </a:r>
                      <a:r>
                        <a:rPr lang="es-ES" sz="1400" dirty="0">
                          <a:solidFill>
                            <a:srgbClr val="00CC00"/>
                          </a:solidFill>
                        </a:rPr>
                        <a:t>="</a:t>
                      </a:r>
                      <a:r>
                        <a:rPr lang="es-ES" sz="1400" dirty="0">
                          <a:solidFill>
                            <a:srgbClr val="FF9900"/>
                          </a:solidFill>
                        </a:rPr>
                        <a:t>8</a:t>
                      </a:r>
                      <a:r>
                        <a:rPr lang="es-ES" sz="1400" dirty="0">
                          <a:solidFill>
                            <a:srgbClr val="00CC00"/>
                          </a:solidFill>
                        </a:rPr>
                        <a:t>"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/&gt;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longitud</a:t>
                      </a:r>
                      <a:r>
                        <a:rPr lang="es-ES" sz="1400" baseline="0" dirty="0"/>
                        <a:t> de la cadena: 8 caracteres</a:t>
                      </a:r>
                      <a:endParaRPr lang="es-ES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s-E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5753406"/>
                  </a:ext>
                </a:extLst>
              </a:tr>
              <a:tr h="2582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&lt;</a:t>
                      </a:r>
                      <a:r>
                        <a:rPr lang="es-ES" sz="1400" dirty="0" err="1">
                          <a:solidFill>
                            <a:srgbClr val="F51BBC"/>
                          </a:solidFill>
                        </a:rPr>
                        <a:t>xs:minLength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rgbClr val="00CC00"/>
                          </a:solidFill>
                        </a:rPr>
                        <a:t>value</a:t>
                      </a:r>
                      <a:r>
                        <a:rPr lang="es-ES" sz="1400" dirty="0">
                          <a:solidFill>
                            <a:srgbClr val="00CC00"/>
                          </a:solidFill>
                        </a:rPr>
                        <a:t>="</a:t>
                      </a:r>
                      <a:r>
                        <a:rPr lang="es-ES" sz="1400" dirty="0">
                          <a:solidFill>
                            <a:srgbClr val="FF9900"/>
                          </a:solidFill>
                        </a:rPr>
                        <a:t>3</a:t>
                      </a:r>
                      <a:r>
                        <a:rPr lang="es-ES" sz="1400" dirty="0">
                          <a:solidFill>
                            <a:srgbClr val="00CC00"/>
                          </a:solidFill>
                        </a:rPr>
                        <a:t>"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/&gt;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longitud</a:t>
                      </a:r>
                      <a:r>
                        <a:rPr lang="es-ES" sz="1400" baseline="0" dirty="0"/>
                        <a:t> cadena: mínimo 3 caracteres</a:t>
                      </a:r>
                      <a:endParaRPr lang="es-ES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855805"/>
                  </a:ext>
                </a:extLst>
              </a:tr>
              <a:tr h="2582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&lt;</a:t>
                      </a:r>
                      <a:r>
                        <a:rPr lang="es-ES" sz="1400" dirty="0" err="1">
                          <a:solidFill>
                            <a:srgbClr val="F51BBC"/>
                          </a:solidFill>
                        </a:rPr>
                        <a:t>xs:maxLength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rgbClr val="00CC00"/>
                          </a:solidFill>
                        </a:rPr>
                        <a:t>value</a:t>
                      </a:r>
                      <a:r>
                        <a:rPr lang="es-ES" sz="1400" dirty="0">
                          <a:solidFill>
                            <a:srgbClr val="00CC00"/>
                          </a:solidFill>
                        </a:rPr>
                        <a:t>="</a:t>
                      </a:r>
                      <a:r>
                        <a:rPr lang="es-ES" sz="1400" dirty="0">
                          <a:solidFill>
                            <a:srgbClr val="FF9900"/>
                          </a:solidFill>
                        </a:rPr>
                        <a:t>8</a:t>
                      </a:r>
                      <a:r>
                        <a:rPr lang="es-ES" sz="1400" dirty="0">
                          <a:solidFill>
                            <a:srgbClr val="00CC00"/>
                          </a:solidFill>
                        </a:rPr>
                        <a:t>"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/&gt;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longitud</a:t>
                      </a:r>
                      <a:r>
                        <a:rPr lang="es-ES" sz="1400" baseline="0" dirty="0"/>
                        <a:t> cadena: máximo 8 caracteres</a:t>
                      </a:r>
                      <a:endParaRPr lang="es-ES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6514006"/>
                  </a:ext>
                </a:extLst>
              </a:tr>
              <a:tr h="2582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&lt;</a:t>
                      </a:r>
                      <a:r>
                        <a:rPr lang="es-ES" sz="1400" dirty="0" err="1">
                          <a:solidFill>
                            <a:srgbClr val="F51BBC"/>
                          </a:solidFill>
                        </a:rPr>
                        <a:t>xs:fractionDigits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rgbClr val="00CC00"/>
                          </a:solidFill>
                        </a:rPr>
                        <a:t>value</a:t>
                      </a:r>
                      <a:r>
                        <a:rPr lang="es-ES" sz="1400" dirty="0">
                          <a:solidFill>
                            <a:srgbClr val="00CC00"/>
                          </a:solidFill>
                        </a:rPr>
                        <a:t>="</a:t>
                      </a:r>
                      <a:r>
                        <a:rPr lang="es-ES" sz="1400" dirty="0">
                          <a:solidFill>
                            <a:srgbClr val="FF9900"/>
                          </a:solidFill>
                        </a:rPr>
                        <a:t>2</a:t>
                      </a:r>
                      <a:r>
                        <a:rPr lang="es-ES" sz="1400" dirty="0">
                          <a:solidFill>
                            <a:srgbClr val="00CC00"/>
                          </a:solidFill>
                        </a:rPr>
                        <a:t>"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/&gt;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como</a:t>
                      </a:r>
                      <a:r>
                        <a:rPr lang="es-ES" sz="1400" baseline="0" dirty="0"/>
                        <a:t> máximo 2 dígitos decimales</a:t>
                      </a:r>
                      <a:endParaRPr lang="es-ES" sz="14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" sz="1300" dirty="0"/>
                        <a:t>números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405923"/>
                  </a:ext>
                </a:extLst>
              </a:tr>
              <a:tr h="2582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&lt;</a:t>
                      </a:r>
                      <a:r>
                        <a:rPr lang="es-ES" sz="1400" dirty="0" err="1">
                          <a:solidFill>
                            <a:srgbClr val="F51BBC"/>
                          </a:solidFill>
                        </a:rPr>
                        <a:t>xs:totalDigits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rgbClr val="00CC00"/>
                          </a:solidFill>
                        </a:rPr>
                        <a:t>value</a:t>
                      </a:r>
                      <a:r>
                        <a:rPr lang="es-ES" sz="1400" dirty="0">
                          <a:solidFill>
                            <a:srgbClr val="00CC00"/>
                          </a:solidFill>
                        </a:rPr>
                        <a:t>="</a:t>
                      </a:r>
                      <a:r>
                        <a:rPr lang="es-ES" sz="1400" dirty="0">
                          <a:solidFill>
                            <a:srgbClr val="FF9900"/>
                          </a:solidFill>
                        </a:rPr>
                        <a:t>8</a:t>
                      </a:r>
                      <a:r>
                        <a:rPr lang="es-ES" sz="1400" dirty="0">
                          <a:solidFill>
                            <a:srgbClr val="00CC00"/>
                          </a:solidFill>
                        </a:rPr>
                        <a:t>"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/&gt;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número</a:t>
                      </a:r>
                      <a:r>
                        <a:rPr lang="es-ES" sz="1400" baseline="0" dirty="0"/>
                        <a:t> con un máximo de 8 dígitos</a:t>
                      </a:r>
                      <a:endParaRPr lang="es-ES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s-E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917743"/>
                  </a:ext>
                </a:extLst>
              </a:tr>
            </a:tbl>
          </a:graphicData>
        </a:graphic>
      </p:graphicFrame>
      <p:sp>
        <p:nvSpPr>
          <p:cNvPr id="4" name="Flecha doblada hacia arriba 3"/>
          <p:cNvSpPr/>
          <p:nvPr/>
        </p:nvSpPr>
        <p:spPr bwMode="auto">
          <a:xfrm rot="5400000" flipV="1">
            <a:off x="7103514" y="3641566"/>
            <a:ext cx="193557" cy="216024"/>
          </a:xfrm>
          <a:prstGeom prst="bentUpArrow">
            <a:avLst>
              <a:gd name="adj1" fmla="val 25000"/>
              <a:gd name="adj2" fmla="val 33893"/>
              <a:gd name="adj3" fmla="val 49899"/>
            </a:avLst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Flecha derecha 8"/>
          <p:cNvSpPr/>
          <p:nvPr/>
        </p:nvSpPr>
        <p:spPr bwMode="auto">
          <a:xfrm>
            <a:off x="226167" y="1610582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Flecha derecha 9"/>
          <p:cNvSpPr/>
          <p:nvPr/>
        </p:nvSpPr>
        <p:spPr bwMode="auto">
          <a:xfrm>
            <a:off x="226167" y="1936223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Flecha derecha 10"/>
          <p:cNvSpPr/>
          <p:nvPr/>
        </p:nvSpPr>
        <p:spPr bwMode="auto">
          <a:xfrm>
            <a:off x="226167" y="2261864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Flecha derecha 11"/>
          <p:cNvSpPr/>
          <p:nvPr/>
        </p:nvSpPr>
        <p:spPr bwMode="auto">
          <a:xfrm>
            <a:off x="226167" y="2587505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Flecha derecha 12"/>
          <p:cNvSpPr/>
          <p:nvPr/>
        </p:nvSpPr>
        <p:spPr bwMode="auto">
          <a:xfrm>
            <a:off x="226167" y="3027786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Flecha derecha 13"/>
          <p:cNvSpPr/>
          <p:nvPr/>
        </p:nvSpPr>
        <p:spPr bwMode="auto">
          <a:xfrm>
            <a:off x="226167" y="3356992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Flecha derecha 14"/>
          <p:cNvSpPr/>
          <p:nvPr/>
        </p:nvSpPr>
        <p:spPr bwMode="auto">
          <a:xfrm>
            <a:off x="226167" y="3673557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Flecha derecha 15"/>
          <p:cNvSpPr/>
          <p:nvPr/>
        </p:nvSpPr>
        <p:spPr bwMode="auto">
          <a:xfrm>
            <a:off x="226167" y="3990122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Flecha derecha 16"/>
          <p:cNvSpPr/>
          <p:nvPr/>
        </p:nvSpPr>
        <p:spPr bwMode="auto">
          <a:xfrm>
            <a:off x="226167" y="4429496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Flecha derecha 17"/>
          <p:cNvSpPr/>
          <p:nvPr/>
        </p:nvSpPr>
        <p:spPr bwMode="auto">
          <a:xfrm>
            <a:off x="226167" y="4746061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Flecha derecha 18"/>
          <p:cNvSpPr/>
          <p:nvPr/>
        </p:nvSpPr>
        <p:spPr bwMode="auto">
          <a:xfrm>
            <a:off x="226167" y="5062626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Flecha derecha 19"/>
          <p:cNvSpPr/>
          <p:nvPr/>
        </p:nvSpPr>
        <p:spPr bwMode="auto">
          <a:xfrm>
            <a:off x="226167" y="5379191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Flecha derecha 20"/>
          <p:cNvSpPr/>
          <p:nvPr/>
        </p:nvSpPr>
        <p:spPr bwMode="auto">
          <a:xfrm>
            <a:off x="226167" y="5695756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Flecha derecha 21"/>
          <p:cNvSpPr/>
          <p:nvPr/>
        </p:nvSpPr>
        <p:spPr bwMode="auto">
          <a:xfrm>
            <a:off x="226167" y="6012323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690095" y="6500663"/>
            <a:ext cx="7624481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Realiza los ejercicios 5 y 6</a:t>
            </a:r>
          </a:p>
        </p:txBody>
      </p:sp>
    </p:spTree>
    <p:extLst>
      <p:ext uri="{BB962C8B-B14F-4D97-AF65-F5344CB8AC3E}">
        <p14:creationId xmlns:p14="http://schemas.microsoft.com/office/powerpoint/2010/main" val="3444559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29156" y="45760"/>
            <a:ext cx="7487260" cy="563563"/>
          </a:xfrm>
        </p:spPr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Simples</a:t>
            </a:r>
            <a:endParaRPr lang="en-US" sz="1400" dirty="0"/>
          </a:p>
        </p:txBody>
      </p:sp>
      <p:sp>
        <p:nvSpPr>
          <p:cNvPr id="42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1152406" y="620688"/>
            <a:ext cx="6840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>
                <a:solidFill>
                  <a:srgbClr val="000000"/>
                </a:solidFill>
              </a:rPr>
              <a:t>tipos de datos definidos por el usuario</a:t>
            </a:r>
          </a:p>
          <a:p>
            <a:pPr algn="ctr"/>
            <a:r>
              <a:rPr lang="es-ES" sz="1800" b="1" dirty="0">
                <a:solidFill>
                  <a:srgbClr val="FFC000"/>
                </a:solidFill>
              </a:rPr>
              <a:t>FACETAS - PATTERN</a:t>
            </a: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134146"/>
              </p:ext>
            </p:extLst>
          </p:nvPr>
        </p:nvGraphicFramePr>
        <p:xfrm>
          <a:off x="1115616" y="2708920"/>
          <a:ext cx="6912768" cy="383300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95255">
                  <a:extLst>
                    <a:ext uri="{9D8B030D-6E8A-4147-A177-3AD203B41FA5}">
                      <a16:colId xmlns:a16="http://schemas.microsoft.com/office/drawing/2014/main" val="2619109260"/>
                    </a:ext>
                  </a:extLst>
                </a:gridCol>
                <a:gridCol w="5317513">
                  <a:extLst>
                    <a:ext uri="{9D8B030D-6E8A-4147-A177-3AD203B41FA5}">
                      <a16:colId xmlns:a16="http://schemas.microsoft.com/office/drawing/2014/main" val="3418588457"/>
                    </a:ext>
                  </a:extLst>
                </a:gridCol>
              </a:tblGrid>
              <a:tr h="295808">
                <a:tc>
                  <a:txBody>
                    <a:bodyPr/>
                    <a:lstStyle/>
                    <a:p>
                      <a:r>
                        <a:rPr lang="es-ES" sz="1300" dirty="0">
                          <a:solidFill>
                            <a:srgbClr val="F51BBC"/>
                          </a:solidFill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300" dirty="0"/>
                        <a:t>1 carácter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171667"/>
                  </a:ext>
                </a:extLst>
              </a:tr>
              <a:tr h="2958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300" dirty="0">
                          <a:solidFill>
                            <a:srgbClr val="F51BBC"/>
                          </a:solidFill>
                        </a:rPr>
                        <a:t>\w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300" dirty="0"/>
                        <a:t>1 letra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4960726"/>
                  </a:ext>
                </a:extLst>
              </a:tr>
              <a:tr h="2958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300" dirty="0">
                          <a:solidFill>
                            <a:srgbClr val="F51BBC"/>
                          </a:solidFill>
                        </a:rPr>
                        <a:t>\d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300" dirty="0"/>
                        <a:t>1</a:t>
                      </a:r>
                      <a:r>
                        <a:rPr lang="es-ES" sz="1300" baseline="0" dirty="0"/>
                        <a:t> dígito</a:t>
                      </a:r>
                      <a:endParaRPr lang="es-ES" sz="13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611521"/>
                  </a:ext>
                </a:extLst>
              </a:tr>
              <a:tr h="2958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300" dirty="0">
                          <a:solidFill>
                            <a:srgbClr val="F51BBC"/>
                          </a:solidFill>
                        </a:rPr>
                        <a:t>\D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300" dirty="0"/>
                        <a:t>1 carácter no dígito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5753406"/>
                  </a:ext>
                </a:extLst>
              </a:tr>
              <a:tr h="2958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300" dirty="0">
                          <a:solidFill>
                            <a:srgbClr val="F51BBC"/>
                          </a:solidFill>
                        </a:rPr>
                        <a:t>\s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300" dirty="0"/>
                        <a:t>1 carácter de espaciado (espacio, tabulador…)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855805"/>
                  </a:ext>
                </a:extLst>
              </a:tr>
              <a:tr h="2958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300" dirty="0">
                          <a:solidFill>
                            <a:srgbClr val="F51BBC"/>
                          </a:solidFill>
                        </a:rPr>
                        <a:t>\S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300" dirty="0"/>
                        <a:t>1 carácter que</a:t>
                      </a:r>
                      <a:r>
                        <a:rPr lang="es-ES" sz="1300" baseline="0" dirty="0"/>
                        <a:t> no sea d</a:t>
                      </a:r>
                      <a:r>
                        <a:rPr lang="es-ES" sz="1300" dirty="0"/>
                        <a:t>e espaciado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4765082"/>
                  </a:ext>
                </a:extLst>
              </a:tr>
              <a:tr h="2958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300" dirty="0">
                          <a:solidFill>
                            <a:srgbClr val="F51BBC"/>
                          </a:solidFill>
                        </a:rPr>
                        <a:t>[</a:t>
                      </a:r>
                      <a:r>
                        <a:rPr lang="es-ES" sz="1300" dirty="0" err="1">
                          <a:solidFill>
                            <a:srgbClr val="F51BBC"/>
                          </a:solidFill>
                        </a:rPr>
                        <a:t>aeiou</a:t>
                      </a:r>
                      <a:r>
                        <a:rPr lang="es-ES" sz="1300" dirty="0">
                          <a:solidFill>
                            <a:srgbClr val="F51BBC"/>
                          </a:solidFill>
                        </a:rPr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300" dirty="0"/>
                        <a:t>1 vocal</a:t>
                      </a:r>
                      <a:r>
                        <a:rPr lang="es-ES" sz="1300" baseline="0" dirty="0"/>
                        <a:t> en minúscula</a:t>
                      </a:r>
                      <a:endParaRPr lang="es-ES" sz="13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5522181"/>
                  </a:ext>
                </a:extLst>
              </a:tr>
              <a:tr h="295808">
                <a:tc>
                  <a:txBody>
                    <a:bodyPr/>
                    <a:lstStyle/>
                    <a:p>
                      <a:r>
                        <a:rPr lang="es-ES" sz="1300" dirty="0">
                          <a:solidFill>
                            <a:srgbClr val="F51BBC"/>
                          </a:solidFill>
                        </a:rPr>
                        <a:t>[G-Z]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300" dirty="0"/>
                        <a:t>1</a:t>
                      </a:r>
                      <a:r>
                        <a:rPr lang="es-ES" sz="1300" baseline="0" dirty="0"/>
                        <a:t> letra mayúscula comprendida entre la G y la Z</a:t>
                      </a:r>
                      <a:endParaRPr lang="es-ES" sz="13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3144728"/>
                  </a:ext>
                </a:extLst>
              </a:tr>
              <a:tr h="2958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300" dirty="0">
                          <a:solidFill>
                            <a:srgbClr val="F51BBC"/>
                          </a:solidFill>
                        </a:rPr>
                        <a:t>[0-9]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300" dirty="0"/>
                        <a:t>1 dígito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743327"/>
                  </a:ext>
                </a:extLst>
              </a:tr>
              <a:tr h="2958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300" dirty="0">
                          <a:solidFill>
                            <a:srgbClr val="F51BBC"/>
                          </a:solidFill>
                        </a:rPr>
                        <a:t>[G-Z5-7]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300" dirty="0"/>
                        <a:t>Una letra mayúscula de la G a la Z o un dígito entre</a:t>
                      </a:r>
                      <a:r>
                        <a:rPr lang="es-ES" sz="1300" baseline="0" dirty="0"/>
                        <a:t> 5 y 7</a:t>
                      </a:r>
                      <a:endParaRPr lang="es-ES" sz="13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2536452"/>
                  </a:ext>
                </a:extLst>
              </a:tr>
              <a:tr h="2958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300" dirty="0">
                          <a:solidFill>
                            <a:srgbClr val="F51BBC"/>
                          </a:solidFill>
                        </a:rPr>
                        <a:t>[^</a:t>
                      </a:r>
                      <a:r>
                        <a:rPr lang="es-ES" sz="1300" dirty="0" err="1">
                          <a:solidFill>
                            <a:srgbClr val="F51BBC"/>
                          </a:solidFill>
                        </a:rPr>
                        <a:t>aeiouAEIOU</a:t>
                      </a:r>
                      <a:r>
                        <a:rPr lang="es-ES" sz="1300" dirty="0">
                          <a:solidFill>
                            <a:srgbClr val="F51BBC"/>
                          </a:solidFill>
                        </a:rPr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300" dirty="0"/>
                        <a:t>1</a:t>
                      </a:r>
                      <a:r>
                        <a:rPr lang="es-ES" sz="1300" baseline="0" dirty="0"/>
                        <a:t> carácter que no sea una vocal</a:t>
                      </a:r>
                      <a:endParaRPr lang="es-ES" sz="13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5071790"/>
                  </a:ext>
                </a:extLst>
              </a:tr>
              <a:tr h="1479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300" dirty="0">
                          <a:solidFill>
                            <a:srgbClr val="F51BBC"/>
                          </a:solidFill>
                        </a:rPr>
                        <a:t>[\d-[0]]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300" dirty="0"/>
                        <a:t>1</a:t>
                      </a:r>
                      <a:r>
                        <a:rPr lang="es-ES" sz="1300" baseline="0" dirty="0"/>
                        <a:t> dígito excepto el 0</a:t>
                      </a:r>
                      <a:endParaRPr lang="es-ES" sz="13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4629281"/>
                  </a:ext>
                </a:extLst>
              </a:tr>
              <a:tr h="1479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300" dirty="0">
                          <a:solidFill>
                            <a:srgbClr val="F51BBC"/>
                          </a:solidFill>
                        </a:rPr>
                        <a:t>([0-9]|[</a:t>
                      </a:r>
                      <a:r>
                        <a:rPr lang="es-ES" sz="1300" dirty="0" err="1">
                          <a:solidFill>
                            <a:srgbClr val="F51BBC"/>
                          </a:solidFill>
                        </a:rPr>
                        <a:t>aeiou</a:t>
                      </a:r>
                      <a:r>
                        <a:rPr lang="es-ES" sz="1300" dirty="0">
                          <a:solidFill>
                            <a:srgbClr val="F51BBC"/>
                          </a:solidFill>
                        </a:rPr>
                        <a:t>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300" dirty="0"/>
                        <a:t>1 dígito o 1 vocal minúscula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9074258"/>
                  </a:ext>
                </a:extLst>
              </a:tr>
            </a:tbl>
          </a:graphicData>
        </a:graphic>
      </p:graphicFrame>
      <p:sp>
        <p:nvSpPr>
          <p:cNvPr id="9" name="24 Esquina doblada"/>
          <p:cNvSpPr/>
          <p:nvPr/>
        </p:nvSpPr>
        <p:spPr bwMode="auto">
          <a:xfrm>
            <a:off x="2016502" y="1268760"/>
            <a:ext cx="5003770" cy="1281665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71800" y="1330687"/>
            <a:ext cx="424847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F51BBC"/>
                </a:solidFill>
              </a:rPr>
              <a:t>&lt;</a:t>
            </a:r>
            <a:r>
              <a:rPr lang="es-ES" sz="1400" dirty="0" err="1">
                <a:solidFill>
                  <a:srgbClr val="F51BBC"/>
                </a:solidFill>
              </a:rPr>
              <a:t>xs:simpleType</a:t>
            </a:r>
            <a:r>
              <a:rPr lang="es-ES" sz="1400" dirty="0">
                <a:solidFill>
                  <a:srgbClr val="F51BBC"/>
                </a:solidFill>
              </a:rPr>
              <a:t>  </a:t>
            </a:r>
            <a:r>
              <a:rPr lang="es-ES" sz="1400" dirty="0" err="1">
                <a:solidFill>
                  <a:srgbClr val="00CC00"/>
                </a:solidFill>
              </a:rPr>
              <a:t>name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 err="1">
                <a:solidFill>
                  <a:srgbClr val="FF9900"/>
                </a:solidFill>
              </a:rPr>
              <a:t>contrasena</a:t>
            </a:r>
            <a:r>
              <a:rPr lang="es-ES" sz="1400" dirty="0">
                <a:solidFill>
                  <a:srgbClr val="00CC00"/>
                </a:solidFill>
              </a:rPr>
              <a:t>"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400" dirty="0">
                <a:solidFill>
                  <a:srgbClr val="0070C0"/>
                </a:solidFill>
              </a:rPr>
              <a:t>        </a:t>
            </a:r>
            <a:r>
              <a:rPr lang="es-ES" sz="1400" dirty="0">
                <a:solidFill>
                  <a:srgbClr val="F51BBC"/>
                </a:solidFill>
              </a:rPr>
              <a:t>&lt;</a:t>
            </a:r>
            <a:r>
              <a:rPr lang="es-ES" sz="1400" dirty="0" err="1">
                <a:solidFill>
                  <a:srgbClr val="F51BBC"/>
                </a:solidFill>
              </a:rPr>
              <a:t>xs:restriction</a:t>
            </a:r>
            <a:r>
              <a:rPr lang="es-ES" sz="1400" dirty="0">
                <a:solidFill>
                  <a:srgbClr val="F51BBC"/>
                </a:solidFill>
              </a:rPr>
              <a:t> </a:t>
            </a:r>
            <a:r>
              <a:rPr lang="es-ES" sz="1400" dirty="0">
                <a:solidFill>
                  <a:srgbClr val="00CC00"/>
                </a:solidFill>
              </a:rPr>
              <a:t>base="</a:t>
            </a:r>
            <a:r>
              <a:rPr lang="es-ES" sz="1400" dirty="0" err="1">
                <a:solidFill>
                  <a:srgbClr val="FF9900"/>
                </a:solidFill>
              </a:rPr>
              <a:t>xs:string</a:t>
            </a:r>
            <a:r>
              <a:rPr lang="es-ES" sz="1400" dirty="0">
                <a:solidFill>
                  <a:srgbClr val="00CC00"/>
                </a:solidFill>
              </a:rPr>
              <a:t>"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400" dirty="0">
                <a:solidFill>
                  <a:srgbClr val="0070C0"/>
                </a:solidFill>
              </a:rPr>
              <a:t> 	</a:t>
            </a:r>
            <a:r>
              <a:rPr lang="es-ES" sz="1400" b="1" dirty="0">
                <a:solidFill>
                  <a:srgbClr val="F51BBC"/>
                </a:solidFill>
              </a:rPr>
              <a:t>&lt;</a:t>
            </a:r>
            <a:r>
              <a:rPr lang="es-ES" sz="1400" b="1" dirty="0" err="1">
                <a:solidFill>
                  <a:srgbClr val="F51BBC"/>
                </a:solidFill>
              </a:rPr>
              <a:t>xs:pattern</a:t>
            </a:r>
            <a:r>
              <a:rPr lang="es-ES" sz="1400" b="1" dirty="0">
                <a:solidFill>
                  <a:srgbClr val="F51BBC"/>
                </a:solidFill>
              </a:rPr>
              <a:t> </a:t>
            </a:r>
            <a:r>
              <a:rPr lang="es-ES" sz="1400" b="1" dirty="0" err="1">
                <a:solidFill>
                  <a:srgbClr val="00CC00"/>
                </a:solidFill>
              </a:rPr>
              <a:t>value</a:t>
            </a:r>
            <a:r>
              <a:rPr lang="es-ES" sz="1400" b="1" dirty="0">
                <a:solidFill>
                  <a:srgbClr val="00CC00"/>
                </a:solidFill>
              </a:rPr>
              <a:t>="</a:t>
            </a:r>
            <a:r>
              <a:rPr lang="es-ES" sz="1400" b="1" dirty="0">
                <a:solidFill>
                  <a:srgbClr val="FF9900"/>
                </a:solidFill>
              </a:rPr>
              <a:t>[A-Z] [0-9]</a:t>
            </a:r>
            <a:r>
              <a:rPr lang="es-ES" sz="1400" b="1" dirty="0">
                <a:solidFill>
                  <a:srgbClr val="00CC00"/>
                </a:solidFill>
              </a:rPr>
              <a:t>"</a:t>
            </a:r>
            <a:r>
              <a:rPr lang="es-ES" sz="1400" b="1" dirty="0">
                <a:solidFill>
                  <a:srgbClr val="F51BBC"/>
                </a:solidFill>
              </a:rPr>
              <a:t>/&gt;</a:t>
            </a:r>
          </a:p>
          <a:p>
            <a:r>
              <a:rPr lang="es-ES" sz="1400" dirty="0">
                <a:solidFill>
                  <a:srgbClr val="F51BBC"/>
                </a:solidFill>
              </a:rPr>
              <a:t>        &lt;/</a:t>
            </a:r>
            <a:r>
              <a:rPr lang="es-ES" sz="1400" dirty="0" err="1">
                <a:solidFill>
                  <a:srgbClr val="F51BBC"/>
                </a:solidFill>
              </a:rPr>
              <a:t>xs:restriction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400" dirty="0">
                <a:solidFill>
                  <a:srgbClr val="F51BBC"/>
                </a:solidFill>
              </a:rPr>
              <a:t>&lt;/</a:t>
            </a:r>
            <a:r>
              <a:rPr lang="es-ES" sz="1400" dirty="0" err="1">
                <a:solidFill>
                  <a:srgbClr val="F51BBC"/>
                </a:solidFill>
              </a:rPr>
              <a:t>xs:simpleType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  <a:endParaRPr lang="es-ES" sz="1400" b="1" dirty="0">
              <a:solidFill>
                <a:srgbClr val="F51BBC"/>
              </a:solidFill>
            </a:endParaRPr>
          </a:p>
        </p:txBody>
      </p:sp>
      <p:sp>
        <p:nvSpPr>
          <p:cNvPr id="11" name="Flecha derecha 10"/>
          <p:cNvSpPr/>
          <p:nvPr/>
        </p:nvSpPr>
        <p:spPr bwMode="auto">
          <a:xfrm>
            <a:off x="755576" y="2757325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Flecha derecha 11"/>
          <p:cNvSpPr/>
          <p:nvPr/>
        </p:nvSpPr>
        <p:spPr bwMode="auto">
          <a:xfrm>
            <a:off x="755576" y="3052352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Flecha derecha 12"/>
          <p:cNvSpPr/>
          <p:nvPr/>
        </p:nvSpPr>
        <p:spPr bwMode="auto">
          <a:xfrm>
            <a:off x="755576" y="3347379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Flecha derecha 13"/>
          <p:cNvSpPr/>
          <p:nvPr/>
        </p:nvSpPr>
        <p:spPr bwMode="auto">
          <a:xfrm>
            <a:off x="755576" y="3642406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Flecha derecha 14"/>
          <p:cNvSpPr/>
          <p:nvPr/>
        </p:nvSpPr>
        <p:spPr bwMode="auto">
          <a:xfrm>
            <a:off x="755576" y="3937433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Flecha derecha 15"/>
          <p:cNvSpPr/>
          <p:nvPr/>
        </p:nvSpPr>
        <p:spPr bwMode="auto">
          <a:xfrm>
            <a:off x="755576" y="4232460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Flecha derecha 16"/>
          <p:cNvSpPr/>
          <p:nvPr/>
        </p:nvSpPr>
        <p:spPr bwMode="auto">
          <a:xfrm>
            <a:off x="755576" y="4527487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Flecha derecha 17"/>
          <p:cNvSpPr/>
          <p:nvPr/>
        </p:nvSpPr>
        <p:spPr bwMode="auto">
          <a:xfrm>
            <a:off x="755576" y="4822514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Flecha derecha 18"/>
          <p:cNvSpPr/>
          <p:nvPr/>
        </p:nvSpPr>
        <p:spPr bwMode="auto">
          <a:xfrm>
            <a:off x="755576" y="5117541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Flecha derecha 19"/>
          <p:cNvSpPr/>
          <p:nvPr/>
        </p:nvSpPr>
        <p:spPr bwMode="auto">
          <a:xfrm>
            <a:off x="765091" y="5412568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Flecha derecha 20"/>
          <p:cNvSpPr/>
          <p:nvPr/>
        </p:nvSpPr>
        <p:spPr bwMode="auto">
          <a:xfrm>
            <a:off x="765091" y="5707595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Flecha derecha 21"/>
          <p:cNvSpPr/>
          <p:nvPr/>
        </p:nvSpPr>
        <p:spPr bwMode="auto">
          <a:xfrm>
            <a:off x="765091" y="6002626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715448" y="6500663"/>
            <a:ext cx="7624481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Realiza el ejercicio 7</a:t>
            </a:r>
          </a:p>
        </p:txBody>
      </p:sp>
      <p:sp>
        <p:nvSpPr>
          <p:cNvPr id="23" name="Flecha derecha 22"/>
          <p:cNvSpPr/>
          <p:nvPr/>
        </p:nvSpPr>
        <p:spPr bwMode="auto">
          <a:xfrm>
            <a:off x="764907" y="6285660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510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4" grpId="0"/>
      <p:bldP spid="23" grpId="0" animBg="1"/>
      <p:bldP spid="23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29156" y="45760"/>
            <a:ext cx="7487260" cy="563563"/>
          </a:xfrm>
        </p:spPr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Simples</a:t>
            </a:r>
            <a:endParaRPr lang="en-US" sz="1400" dirty="0"/>
          </a:p>
        </p:txBody>
      </p:sp>
      <p:sp>
        <p:nvSpPr>
          <p:cNvPr id="42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1152406" y="884286"/>
            <a:ext cx="6840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>
                <a:solidFill>
                  <a:srgbClr val="000000"/>
                </a:solidFill>
              </a:rPr>
              <a:t>tipos de datos definidos por el usuario</a:t>
            </a:r>
          </a:p>
          <a:p>
            <a:pPr algn="ctr"/>
            <a:r>
              <a:rPr lang="es-ES" sz="1800" b="1" dirty="0">
                <a:solidFill>
                  <a:srgbClr val="FFC000"/>
                </a:solidFill>
              </a:rPr>
              <a:t>FACETAS - PATTERN</a:t>
            </a: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317298"/>
              </p:ext>
            </p:extLst>
          </p:nvPr>
        </p:nvGraphicFramePr>
        <p:xfrm>
          <a:off x="1115616" y="1628800"/>
          <a:ext cx="6912768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2619109260"/>
                    </a:ext>
                  </a:extLst>
                </a:gridCol>
                <a:gridCol w="5184576">
                  <a:extLst>
                    <a:ext uri="{9D8B030D-6E8A-4147-A177-3AD203B41FA5}">
                      <a16:colId xmlns:a16="http://schemas.microsoft.com/office/drawing/2014/main" val="3418588457"/>
                    </a:ext>
                  </a:extLst>
                </a:gridCol>
              </a:tblGrid>
              <a:tr h="215751"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\w\d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1 letra seguida de un dígito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171667"/>
                  </a:ext>
                </a:extLst>
              </a:tr>
              <a:tr h="2157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[</a:t>
                      </a:r>
                      <a:r>
                        <a:rPr lang="es-ES" sz="1400" dirty="0" err="1">
                          <a:solidFill>
                            <a:srgbClr val="F51BBC"/>
                          </a:solidFill>
                        </a:rPr>
                        <a:t>aeiou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]\d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1 vocal minúscula seguida de un dígito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4960726"/>
                  </a:ext>
                </a:extLst>
              </a:tr>
              <a:tr h="2157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[A-Z][0-9][0-9]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1 letras mayúscula</a:t>
                      </a:r>
                      <a:r>
                        <a:rPr lang="es-ES" sz="1400" baseline="0" dirty="0"/>
                        <a:t> seguida de 2 dígitos</a:t>
                      </a:r>
                      <a:endParaRPr lang="es-E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611521"/>
                  </a:ext>
                </a:extLst>
              </a:tr>
              <a:tr h="215751"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\d</a:t>
                      </a:r>
                      <a:r>
                        <a:rPr lang="es-ES" sz="1400" b="1" dirty="0">
                          <a:solidFill>
                            <a:srgbClr val="009900"/>
                          </a:solidFill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 o 1 dígito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5753406"/>
                  </a:ext>
                </a:extLst>
              </a:tr>
              <a:tr h="2157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[</a:t>
                      </a:r>
                      <a:r>
                        <a:rPr lang="es-ES" sz="1400" dirty="0" err="1">
                          <a:solidFill>
                            <a:srgbClr val="F51BBC"/>
                          </a:solidFill>
                        </a:rPr>
                        <a:t>aeiou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]</a:t>
                      </a:r>
                      <a:r>
                        <a:rPr lang="es-ES" sz="1400" b="1" dirty="0">
                          <a:solidFill>
                            <a:srgbClr val="009900"/>
                          </a:solidFill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 o 1</a:t>
                      </a:r>
                      <a:r>
                        <a:rPr lang="es-ES" sz="1400" baseline="0" dirty="0"/>
                        <a:t> vocal</a:t>
                      </a:r>
                      <a:endParaRPr lang="es-E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855805"/>
                  </a:ext>
                </a:extLst>
              </a:tr>
              <a:tr h="2157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una</a:t>
                      </a:r>
                      <a:r>
                        <a:rPr lang="es-ES" sz="1400" b="1" dirty="0">
                          <a:solidFill>
                            <a:srgbClr val="009900"/>
                          </a:solidFill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'un' o 'una'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4765082"/>
                  </a:ext>
                </a:extLst>
              </a:tr>
              <a:tr h="215751">
                <a:tc>
                  <a:txBody>
                    <a:bodyPr/>
                    <a:lstStyle/>
                    <a:p>
                      <a:r>
                        <a:rPr lang="es-ES" sz="1400" dirty="0" err="1">
                          <a:solidFill>
                            <a:srgbClr val="F51BBC"/>
                          </a:solidFill>
                        </a:rPr>
                        <a:t>avion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(eta)</a:t>
                      </a:r>
                      <a:r>
                        <a:rPr lang="es-ES" sz="1400" b="1" dirty="0">
                          <a:solidFill>
                            <a:srgbClr val="009900"/>
                          </a:solidFill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'</a:t>
                      </a:r>
                      <a:r>
                        <a:rPr lang="es-ES" sz="1400" dirty="0" err="1"/>
                        <a:t>avion</a:t>
                      </a:r>
                      <a:r>
                        <a:rPr lang="es-ES" sz="1400" dirty="0"/>
                        <a:t>' o 'avioneta'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5522181"/>
                  </a:ext>
                </a:extLst>
              </a:tr>
              <a:tr h="2157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[</a:t>
                      </a:r>
                      <a:r>
                        <a:rPr lang="es-ES" sz="1400" dirty="0" err="1">
                          <a:solidFill>
                            <a:srgbClr val="F51BBC"/>
                          </a:solidFill>
                        </a:rPr>
                        <a:t>aeiou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]</a:t>
                      </a:r>
                      <a:r>
                        <a:rPr lang="es-ES" sz="1400" b="1" dirty="0">
                          <a:solidFill>
                            <a:srgbClr val="009900"/>
                          </a:solidFill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 o más vocales minúsculas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3144728"/>
                  </a:ext>
                </a:extLst>
              </a:tr>
              <a:tr h="2157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[A-Z]\w</a:t>
                      </a:r>
                      <a:r>
                        <a:rPr lang="es-ES" sz="1400" b="1" dirty="0">
                          <a:solidFill>
                            <a:srgbClr val="009900"/>
                          </a:solidFill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una</a:t>
                      </a:r>
                      <a:r>
                        <a:rPr lang="es-ES" sz="1400" baseline="0" dirty="0"/>
                        <a:t> mayúscula seguida de 0 o más letras</a:t>
                      </a:r>
                      <a:endParaRPr lang="es-E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743327"/>
                  </a:ext>
                </a:extLst>
              </a:tr>
              <a:tr h="2157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[0-9]</a:t>
                      </a:r>
                      <a:r>
                        <a:rPr lang="es-ES" sz="1400" b="1" dirty="0">
                          <a:solidFill>
                            <a:srgbClr val="009900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1 o más dígitos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2536452"/>
                  </a:ext>
                </a:extLst>
              </a:tr>
              <a:tr h="2157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[A-Z]</a:t>
                      </a:r>
                      <a:r>
                        <a:rPr lang="es-ES" sz="1400" b="1" dirty="0">
                          <a:solidFill>
                            <a:srgbClr val="009900"/>
                          </a:solidFill>
                        </a:rPr>
                        <a:t>{5}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una</a:t>
                      </a:r>
                      <a:r>
                        <a:rPr lang="es-ES" sz="1400" baseline="0" dirty="0"/>
                        <a:t> palabra mayúscula de 5 letras</a:t>
                      </a:r>
                      <a:endParaRPr lang="es-E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5071790"/>
                  </a:ext>
                </a:extLst>
              </a:tr>
              <a:tr h="2157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\d</a:t>
                      </a:r>
                      <a:r>
                        <a:rPr lang="es-ES" sz="1400" b="1" dirty="0">
                          <a:solidFill>
                            <a:srgbClr val="009900"/>
                          </a:solidFill>
                        </a:rPr>
                        <a:t>{3,6}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un numero entero de entre</a:t>
                      </a:r>
                      <a:r>
                        <a:rPr lang="es-ES" sz="1400" baseline="0" dirty="0"/>
                        <a:t> 3 y 6 dígitos</a:t>
                      </a:r>
                      <a:endParaRPr lang="es-E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4629281"/>
                  </a:ext>
                </a:extLst>
              </a:tr>
              <a:tr h="2157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\d</a:t>
                      </a:r>
                      <a:r>
                        <a:rPr lang="es-ES" sz="1400" b="1" dirty="0">
                          <a:solidFill>
                            <a:srgbClr val="009900"/>
                          </a:solidFill>
                        </a:rPr>
                        <a:t>{3,}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un numero entero de </a:t>
                      </a:r>
                      <a:r>
                        <a:rPr lang="es-ES" sz="1400" baseline="0" dirty="0"/>
                        <a:t>3 dígitos o más</a:t>
                      </a:r>
                      <a:endParaRPr lang="es-E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4295378"/>
                  </a:ext>
                </a:extLst>
              </a:tr>
              <a:tr h="2157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dirty="0">
                          <a:solidFill>
                            <a:srgbClr val="FF0000"/>
                          </a:solidFill>
                        </a:rPr>
                        <a:t>\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un asterisco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401526"/>
                  </a:ext>
                </a:extLst>
              </a:tr>
              <a:tr h="2157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(</a:t>
                      </a:r>
                      <a:r>
                        <a:rPr lang="es-ES" sz="1400" b="1" dirty="0">
                          <a:solidFill>
                            <a:srgbClr val="FF0000"/>
                          </a:solidFill>
                        </a:rPr>
                        <a:t>\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.</a:t>
                      </a:r>
                      <a:r>
                        <a:rPr lang="es-ES" sz="1400" b="1" dirty="0">
                          <a:solidFill>
                            <a:srgbClr val="009900"/>
                          </a:solidFill>
                        </a:rPr>
                        <a:t>|</a:t>
                      </a:r>
                      <a:r>
                        <a:rPr lang="es-ES" sz="1400" b="1" dirty="0">
                          <a:solidFill>
                            <a:srgbClr val="FF0000"/>
                          </a:solidFill>
                        </a:rPr>
                        <a:t>\</a:t>
                      </a:r>
                      <a:r>
                        <a:rPr lang="es-ES" sz="1400" dirty="0">
                          <a:solidFill>
                            <a:srgbClr val="F51BBC"/>
                          </a:solidFill>
                        </a:rPr>
                        <a:t>-)</a:t>
                      </a:r>
                      <a:r>
                        <a:rPr lang="es-ES" sz="1400" b="1" dirty="0">
                          <a:solidFill>
                            <a:srgbClr val="009900"/>
                          </a:solidFill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una secuencia de puntos y guiones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2053225"/>
                  </a:ext>
                </a:extLst>
              </a:tr>
            </a:tbl>
          </a:graphicData>
        </a:graphic>
      </p:graphicFrame>
      <p:sp>
        <p:nvSpPr>
          <p:cNvPr id="7" name="CuadroTexto 6"/>
          <p:cNvSpPr txBox="1"/>
          <p:nvPr/>
        </p:nvSpPr>
        <p:spPr>
          <a:xfrm>
            <a:off x="715448" y="6500663"/>
            <a:ext cx="7624481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Realiza el ejercicio 8</a:t>
            </a:r>
          </a:p>
        </p:txBody>
      </p:sp>
      <p:sp>
        <p:nvSpPr>
          <p:cNvPr id="9" name="Flecha derecha 8"/>
          <p:cNvSpPr/>
          <p:nvPr/>
        </p:nvSpPr>
        <p:spPr bwMode="auto">
          <a:xfrm>
            <a:off x="755576" y="1669276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Flecha derecha 9"/>
          <p:cNvSpPr/>
          <p:nvPr/>
        </p:nvSpPr>
        <p:spPr bwMode="auto">
          <a:xfrm>
            <a:off x="755576" y="1973971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Flecha derecha 10"/>
          <p:cNvSpPr/>
          <p:nvPr/>
        </p:nvSpPr>
        <p:spPr bwMode="auto">
          <a:xfrm>
            <a:off x="755576" y="2278666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Flecha derecha 11"/>
          <p:cNvSpPr/>
          <p:nvPr/>
        </p:nvSpPr>
        <p:spPr bwMode="auto">
          <a:xfrm>
            <a:off x="755576" y="2583361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Flecha derecha 12"/>
          <p:cNvSpPr/>
          <p:nvPr/>
        </p:nvSpPr>
        <p:spPr bwMode="auto">
          <a:xfrm>
            <a:off x="755576" y="2888056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Flecha derecha 13"/>
          <p:cNvSpPr/>
          <p:nvPr/>
        </p:nvSpPr>
        <p:spPr bwMode="auto">
          <a:xfrm>
            <a:off x="755576" y="3192751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Flecha derecha 14"/>
          <p:cNvSpPr/>
          <p:nvPr/>
        </p:nvSpPr>
        <p:spPr bwMode="auto">
          <a:xfrm>
            <a:off x="755576" y="3497446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Flecha derecha 15"/>
          <p:cNvSpPr/>
          <p:nvPr/>
        </p:nvSpPr>
        <p:spPr bwMode="auto">
          <a:xfrm>
            <a:off x="755576" y="3802141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Flecha derecha 16"/>
          <p:cNvSpPr/>
          <p:nvPr/>
        </p:nvSpPr>
        <p:spPr bwMode="auto">
          <a:xfrm>
            <a:off x="755576" y="4106836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Flecha derecha 17"/>
          <p:cNvSpPr/>
          <p:nvPr/>
        </p:nvSpPr>
        <p:spPr bwMode="auto">
          <a:xfrm>
            <a:off x="765091" y="4411531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Flecha derecha 18"/>
          <p:cNvSpPr/>
          <p:nvPr/>
        </p:nvSpPr>
        <p:spPr bwMode="auto">
          <a:xfrm>
            <a:off x="765091" y="4716226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Flecha derecha 19"/>
          <p:cNvSpPr/>
          <p:nvPr/>
        </p:nvSpPr>
        <p:spPr bwMode="auto">
          <a:xfrm>
            <a:off x="765091" y="5020919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Flecha derecha 20"/>
          <p:cNvSpPr/>
          <p:nvPr/>
        </p:nvSpPr>
        <p:spPr bwMode="auto">
          <a:xfrm>
            <a:off x="755576" y="5339892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Flecha derecha 21"/>
          <p:cNvSpPr/>
          <p:nvPr/>
        </p:nvSpPr>
        <p:spPr bwMode="auto">
          <a:xfrm>
            <a:off x="755576" y="5644587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Flecha derecha 22"/>
          <p:cNvSpPr/>
          <p:nvPr/>
        </p:nvSpPr>
        <p:spPr bwMode="auto">
          <a:xfrm>
            <a:off x="755576" y="5949280"/>
            <a:ext cx="216024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640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29156" y="45760"/>
            <a:ext cx="7487260" cy="563563"/>
          </a:xfrm>
        </p:spPr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Simples</a:t>
            </a:r>
            <a:endParaRPr lang="en-US" sz="1400" dirty="0"/>
          </a:p>
        </p:txBody>
      </p:sp>
      <p:sp>
        <p:nvSpPr>
          <p:cNvPr id="42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1152406" y="884286"/>
            <a:ext cx="6840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>
                <a:solidFill>
                  <a:srgbClr val="000000"/>
                </a:solidFill>
              </a:rPr>
              <a:t>tipos de datos definidos por el usuario</a:t>
            </a:r>
          </a:p>
          <a:p>
            <a:pPr algn="ctr"/>
            <a:r>
              <a:rPr lang="es-ES" sz="1800" b="1" dirty="0">
                <a:solidFill>
                  <a:srgbClr val="FFC000"/>
                </a:solidFill>
              </a:rPr>
              <a:t>UNION</a:t>
            </a:r>
          </a:p>
        </p:txBody>
      </p:sp>
      <p:sp>
        <p:nvSpPr>
          <p:cNvPr id="16" name="Rectángulo 15"/>
          <p:cNvSpPr/>
          <p:nvPr/>
        </p:nvSpPr>
        <p:spPr bwMode="auto">
          <a:xfrm>
            <a:off x="1764474" y="1556792"/>
            <a:ext cx="2447486" cy="338554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1738161" y="1556792"/>
            <a:ext cx="2473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&lt;casado&gt;</a:t>
            </a:r>
            <a:r>
              <a:rPr lang="es-ES" sz="1600" dirty="0">
                <a:solidFill>
                  <a:srgbClr val="FF0000"/>
                </a:solidFill>
              </a:rPr>
              <a:t>Sí</a:t>
            </a:r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&lt;/casado&gt;</a:t>
            </a:r>
          </a:p>
        </p:txBody>
      </p:sp>
      <p:sp>
        <p:nvSpPr>
          <p:cNvPr id="21" name="24 Esquina doblada"/>
          <p:cNvSpPr/>
          <p:nvPr/>
        </p:nvSpPr>
        <p:spPr bwMode="auto">
          <a:xfrm>
            <a:off x="1152406" y="2053506"/>
            <a:ext cx="6659954" cy="4183806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1378389" y="2284056"/>
            <a:ext cx="638212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000000"/>
                </a:solidFill>
              </a:rPr>
              <a:t>&lt;?</a:t>
            </a:r>
            <a:r>
              <a:rPr lang="es-ES" sz="1400" dirty="0" err="1">
                <a:solidFill>
                  <a:srgbClr val="000000"/>
                </a:solidFill>
              </a:rPr>
              <a:t>xml</a:t>
            </a:r>
            <a:r>
              <a:rPr lang="es-ES" sz="1400" dirty="0">
                <a:solidFill>
                  <a:srgbClr val="000000"/>
                </a:solidFill>
              </a:rPr>
              <a:t> </a:t>
            </a:r>
            <a:r>
              <a:rPr lang="es-ES" sz="1400" dirty="0" err="1">
                <a:solidFill>
                  <a:srgbClr val="000000"/>
                </a:solidFill>
              </a:rPr>
              <a:t>version</a:t>
            </a:r>
            <a:r>
              <a:rPr lang="es-ES" sz="1400" dirty="0">
                <a:solidFill>
                  <a:srgbClr val="000000"/>
                </a:solidFill>
              </a:rPr>
              <a:t>="1.0" ?&gt;</a:t>
            </a:r>
          </a:p>
          <a:p>
            <a:r>
              <a:rPr lang="es-ES" sz="1400" b="1" dirty="0">
                <a:solidFill>
                  <a:srgbClr val="000000"/>
                </a:solidFill>
              </a:rPr>
              <a:t>&lt;</a:t>
            </a:r>
            <a:r>
              <a:rPr lang="es-ES" sz="1400" b="1" dirty="0" err="1">
                <a:solidFill>
                  <a:srgbClr val="000000"/>
                </a:solidFill>
              </a:rPr>
              <a:t>xs:schema</a:t>
            </a:r>
            <a:r>
              <a:rPr lang="es-ES" sz="1400" b="1" dirty="0">
                <a:solidFill>
                  <a:srgbClr val="000000"/>
                </a:solidFill>
              </a:rPr>
              <a:t> </a:t>
            </a:r>
            <a:r>
              <a:rPr lang="es-ES" sz="1400" dirty="0" err="1">
                <a:solidFill>
                  <a:schemeClr val="bg1">
                    <a:lumMod val="50000"/>
                  </a:schemeClr>
                </a:solidFill>
              </a:rPr>
              <a:t>xmlns:xs</a:t>
            </a:r>
            <a:r>
              <a:rPr lang="es-ES" sz="1400" dirty="0">
                <a:solidFill>
                  <a:schemeClr val="bg1">
                    <a:lumMod val="50000"/>
                  </a:schemeClr>
                </a:solidFill>
              </a:rPr>
              <a:t>="http://www.w3.org/2001/XMLSchema"</a:t>
            </a:r>
            <a:r>
              <a:rPr lang="es-ES" sz="1400" b="1" dirty="0">
                <a:solidFill>
                  <a:srgbClr val="000000"/>
                </a:solidFill>
              </a:rPr>
              <a:t>&gt;</a:t>
            </a: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endParaRPr lang="es-ES" sz="1400" b="1" dirty="0">
              <a:solidFill>
                <a:srgbClr val="000000"/>
              </a:solidFill>
            </a:endParaRPr>
          </a:p>
          <a:p>
            <a:r>
              <a:rPr lang="es-ES" sz="1400" b="1" dirty="0">
                <a:solidFill>
                  <a:srgbClr val="000000"/>
                </a:solidFill>
              </a:rPr>
              <a:t>&lt;/</a:t>
            </a:r>
            <a:r>
              <a:rPr lang="es-ES" sz="1400" b="1" dirty="0" err="1">
                <a:solidFill>
                  <a:srgbClr val="000000"/>
                </a:solidFill>
              </a:rPr>
              <a:t>xs:schema</a:t>
            </a:r>
            <a:r>
              <a:rPr lang="es-ES" sz="1400" b="1" dirty="0">
                <a:solidFill>
                  <a:srgbClr val="000000"/>
                </a:solidFill>
              </a:rPr>
              <a:t>&gt;</a:t>
            </a:r>
          </a:p>
        </p:txBody>
      </p:sp>
      <p:sp>
        <p:nvSpPr>
          <p:cNvPr id="23" name="CuadroTexto 22"/>
          <p:cNvSpPr txBox="1"/>
          <p:nvPr/>
        </p:nvSpPr>
        <p:spPr>
          <a:xfrm>
            <a:off x="1906918" y="2915147"/>
            <a:ext cx="5474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0070C0"/>
                </a:solidFill>
              </a:rPr>
              <a:t>&lt;</a:t>
            </a:r>
            <a:r>
              <a:rPr lang="es-ES" sz="1400" dirty="0" err="1">
                <a:solidFill>
                  <a:srgbClr val="0070C0"/>
                </a:solidFill>
              </a:rPr>
              <a:t>xs:element</a:t>
            </a:r>
            <a:r>
              <a:rPr lang="es-ES" sz="1400" dirty="0">
                <a:solidFill>
                  <a:srgbClr val="0070C0"/>
                </a:solidFill>
              </a:rPr>
              <a:t>  </a:t>
            </a:r>
            <a:r>
              <a:rPr lang="es-ES" sz="1400" dirty="0" err="1">
                <a:solidFill>
                  <a:srgbClr val="00CC00"/>
                </a:solidFill>
              </a:rPr>
              <a:t>name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>
                <a:solidFill>
                  <a:srgbClr val="FF9900"/>
                </a:solidFill>
              </a:rPr>
              <a:t>casado</a:t>
            </a:r>
            <a:r>
              <a:rPr lang="es-ES" sz="1400" dirty="0">
                <a:solidFill>
                  <a:srgbClr val="00CC00"/>
                </a:solidFill>
              </a:rPr>
              <a:t>"  </a:t>
            </a:r>
            <a:r>
              <a:rPr lang="es-ES" sz="1400" dirty="0" err="1">
                <a:solidFill>
                  <a:srgbClr val="00CC00"/>
                </a:solidFill>
              </a:rPr>
              <a:t>type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 err="1">
                <a:solidFill>
                  <a:srgbClr val="FF9900"/>
                </a:solidFill>
              </a:rPr>
              <a:t>decision</a:t>
            </a:r>
            <a:r>
              <a:rPr lang="es-ES" sz="1400" dirty="0">
                <a:solidFill>
                  <a:srgbClr val="00CC00"/>
                </a:solidFill>
              </a:rPr>
              <a:t>"</a:t>
            </a:r>
            <a:r>
              <a:rPr lang="es-ES" sz="1400" dirty="0">
                <a:solidFill>
                  <a:srgbClr val="0070C0"/>
                </a:solidFill>
              </a:rPr>
              <a:t>/&gt;</a:t>
            </a:r>
            <a:endParaRPr lang="es-ES" sz="1400" b="1" dirty="0">
              <a:solidFill>
                <a:srgbClr val="000000"/>
              </a:solidFill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1906918" y="4191425"/>
            <a:ext cx="56894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F51BBC"/>
                </a:solidFill>
              </a:rPr>
              <a:t>&lt;</a:t>
            </a:r>
            <a:r>
              <a:rPr lang="es-ES" sz="1400" dirty="0" err="1">
                <a:solidFill>
                  <a:srgbClr val="F51BBC"/>
                </a:solidFill>
              </a:rPr>
              <a:t>xs:simpleType</a:t>
            </a:r>
            <a:r>
              <a:rPr lang="es-ES" sz="1400" dirty="0">
                <a:solidFill>
                  <a:srgbClr val="F51BBC"/>
                </a:solidFill>
              </a:rPr>
              <a:t>  </a:t>
            </a:r>
            <a:r>
              <a:rPr lang="es-ES" sz="1400" dirty="0" err="1">
                <a:solidFill>
                  <a:srgbClr val="00CC00"/>
                </a:solidFill>
              </a:rPr>
              <a:t>name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>
                <a:solidFill>
                  <a:srgbClr val="FF9900"/>
                </a:solidFill>
              </a:rPr>
              <a:t>sino</a:t>
            </a:r>
            <a:r>
              <a:rPr lang="es-ES" sz="1400" dirty="0">
                <a:solidFill>
                  <a:srgbClr val="00CC00"/>
                </a:solidFill>
              </a:rPr>
              <a:t>"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400" dirty="0">
                <a:solidFill>
                  <a:srgbClr val="0070C0"/>
                </a:solidFill>
              </a:rPr>
              <a:t>        </a:t>
            </a:r>
            <a:r>
              <a:rPr lang="es-ES" sz="1400" dirty="0">
                <a:solidFill>
                  <a:srgbClr val="F51BBC"/>
                </a:solidFill>
              </a:rPr>
              <a:t>&lt;</a:t>
            </a:r>
            <a:r>
              <a:rPr lang="es-ES" sz="1400" dirty="0" err="1">
                <a:solidFill>
                  <a:srgbClr val="F51BBC"/>
                </a:solidFill>
              </a:rPr>
              <a:t>xs:restriction</a:t>
            </a:r>
            <a:r>
              <a:rPr lang="es-ES" sz="1400" dirty="0">
                <a:solidFill>
                  <a:srgbClr val="F51BBC"/>
                </a:solidFill>
              </a:rPr>
              <a:t> </a:t>
            </a:r>
            <a:r>
              <a:rPr lang="es-ES" sz="1400" dirty="0">
                <a:solidFill>
                  <a:srgbClr val="00CC00"/>
                </a:solidFill>
              </a:rPr>
              <a:t>base="</a:t>
            </a:r>
            <a:r>
              <a:rPr lang="es-ES" sz="1400" dirty="0" err="1">
                <a:solidFill>
                  <a:srgbClr val="FF9900"/>
                </a:solidFill>
              </a:rPr>
              <a:t>xs:string</a:t>
            </a:r>
            <a:r>
              <a:rPr lang="es-ES" sz="1400" dirty="0">
                <a:solidFill>
                  <a:srgbClr val="00CC00"/>
                </a:solidFill>
              </a:rPr>
              <a:t>"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400" dirty="0">
                <a:solidFill>
                  <a:srgbClr val="0070C0"/>
                </a:solidFill>
              </a:rPr>
              <a:t> 	</a:t>
            </a:r>
            <a:r>
              <a:rPr lang="es-ES" sz="1400" dirty="0">
                <a:solidFill>
                  <a:srgbClr val="F51BBC"/>
                </a:solidFill>
              </a:rPr>
              <a:t>&lt;</a:t>
            </a:r>
            <a:r>
              <a:rPr lang="es-ES" sz="1400" dirty="0" err="1">
                <a:solidFill>
                  <a:srgbClr val="F51BBC"/>
                </a:solidFill>
              </a:rPr>
              <a:t>xs:enumeration</a:t>
            </a:r>
            <a:r>
              <a:rPr lang="es-ES" sz="1400" dirty="0">
                <a:solidFill>
                  <a:srgbClr val="F51BBC"/>
                </a:solidFill>
              </a:rPr>
              <a:t> </a:t>
            </a:r>
            <a:r>
              <a:rPr lang="es-ES" sz="1400" dirty="0" err="1">
                <a:solidFill>
                  <a:srgbClr val="00CC00"/>
                </a:solidFill>
              </a:rPr>
              <a:t>value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>
                <a:solidFill>
                  <a:srgbClr val="FF9900"/>
                </a:solidFill>
              </a:rPr>
              <a:t>Sí</a:t>
            </a:r>
            <a:r>
              <a:rPr lang="es-ES" sz="1400" dirty="0">
                <a:solidFill>
                  <a:srgbClr val="00CC00"/>
                </a:solidFill>
              </a:rPr>
              <a:t>"</a:t>
            </a:r>
            <a:r>
              <a:rPr lang="es-ES" sz="1400" dirty="0">
                <a:solidFill>
                  <a:srgbClr val="F51BBC"/>
                </a:solidFill>
              </a:rPr>
              <a:t>/&gt;</a:t>
            </a:r>
          </a:p>
          <a:p>
            <a:r>
              <a:rPr lang="es-ES" sz="1400" dirty="0">
                <a:solidFill>
                  <a:srgbClr val="F51BBC"/>
                </a:solidFill>
              </a:rPr>
              <a:t>	&lt;</a:t>
            </a:r>
            <a:r>
              <a:rPr lang="es-ES" sz="1400" dirty="0" err="1">
                <a:solidFill>
                  <a:srgbClr val="F51BBC"/>
                </a:solidFill>
              </a:rPr>
              <a:t>xs:enumeration</a:t>
            </a:r>
            <a:r>
              <a:rPr lang="es-ES" sz="1400" dirty="0">
                <a:solidFill>
                  <a:srgbClr val="F51BBC"/>
                </a:solidFill>
              </a:rPr>
              <a:t> </a:t>
            </a:r>
            <a:r>
              <a:rPr lang="es-ES" sz="1400" dirty="0" err="1">
                <a:solidFill>
                  <a:srgbClr val="00CC00"/>
                </a:solidFill>
              </a:rPr>
              <a:t>value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>
                <a:solidFill>
                  <a:srgbClr val="FF9900"/>
                </a:solidFill>
              </a:rPr>
              <a:t>No</a:t>
            </a:r>
            <a:r>
              <a:rPr lang="es-ES" sz="1400" dirty="0">
                <a:solidFill>
                  <a:srgbClr val="00CC00"/>
                </a:solidFill>
              </a:rPr>
              <a:t>"</a:t>
            </a:r>
            <a:r>
              <a:rPr lang="es-ES" sz="1400" dirty="0">
                <a:solidFill>
                  <a:srgbClr val="F51BBC"/>
                </a:solidFill>
              </a:rPr>
              <a:t>/&gt;</a:t>
            </a:r>
          </a:p>
          <a:p>
            <a:r>
              <a:rPr lang="es-ES" sz="1400" dirty="0">
                <a:solidFill>
                  <a:srgbClr val="F51BBC"/>
                </a:solidFill>
              </a:rPr>
              <a:t>        &lt;/</a:t>
            </a:r>
            <a:r>
              <a:rPr lang="es-ES" sz="1400" dirty="0" err="1">
                <a:solidFill>
                  <a:srgbClr val="F51BBC"/>
                </a:solidFill>
              </a:rPr>
              <a:t>xs:restriction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400" dirty="0">
                <a:solidFill>
                  <a:srgbClr val="F51BBC"/>
                </a:solidFill>
              </a:rPr>
              <a:t>&lt;/</a:t>
            </a:r>
            <a:r>
              <a:rPr lang="es-ES" sz="1400" dirty="0" err="1">
                <a:solidFill>
                  <a:srgbClr val="F51BBC"/>
                </a:solidFill>
              </a:rPr>
              <a:t>xs:simpleType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  <a:endParaRPr lang="es-ES" sz="1400" b="1" dirty="0">
              <a:solidFill>
                <a:srgbClr val="F51BBC"/>
              </a:solidFill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1881802" y="3312496"/>
            <a:ext cx="56894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F51BBC"/>
                </a:solidFill>
              </a:rPr>
              <a:t>&lt;</a:t>
            </a:r>
            <a:r>
              <a:rPr lang="es-ES" sz="1400" dirty="0" err="1">
                <a:solidFill>
                  <a:srgbClr val="F51BBC"/>
                </a:solidFill>
              </a:rPr>
              <a:t>xs:simpleType</a:t>
            </a:r>
            <a:r>
              <a:rPr lang="es-ES" sz="1400" dirty="0">
                <a:solidFill>
                  <a:srgbClr val="F51BBC"/>
                </a:solidFill>
              </a:rPr>
              <a:t>  </a:t>
            </a:r>
            <a:r>
              <a:rPr lang="es-ES" sz="1400" dirty="0" err="1">
                <a:solidFill>
                  <a:srgbClr val="00CC00"/>
                </a:solidFill>
              </a:rPr>
              <a:t>name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 err="1">
                <a:solidFill>
                  <a:srgbClr val="FF9900"/>
                </a:solidFill>
              </a:rPr>
              <a:t>decision</a:t>
            </a:r>
            <a:r>
              <a:rPr lang="es-ES" sz="1400" dirty="0">
                <a:solidFill>
                  <a:srgbClr val="00CC00"/>
                </a:solidFill>
              </a:rPr>
              <a:t>"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400" dirty="0">
                <a:solidFill>
                  <a:srgbClr val="0070C0"/>
                </a:solidFill>
              </a:rPr>
              <a:t>        </a:t>
            </a:r>
            <a:r>
              <a:rPr lang="es-ES" sz="1400" dirty="0">
                <a:solidFill>
                  <a:srgbClr val="F51BBC"/>
                </a:solidFill>
              </a:rPr>
              <a:t>&lt;</a:t>
            </a:r>
            <a:r>
              <a:rPr lang="es-ES" sz="1400" dirty="0" err="1">
                <a:solidFill>
                  <a:srgbClr val="F51BBC"/>
                </a:solidFill>
              </a:rPr>
              <a:t>xs:union</a:t>
            </a:r>
            <a:r>
              <a:rPr lang="es-ES" sz="1400" dirty="0">
                <a:solidFill>
                  <a:srgbClr val="F51BBC"/>
                </a:solidFill>
              </a:rPr>
              <a:t> </a:t>
            </a:r>
            <a:r>
              <a:rPr lang="es-ES" sz="1400" dirty="0" err="1">
                <a:solidFill>
                  <a:srgbClr val="00CC00"/>
                </a:solidFill>
              </a:rPr>
              <a:t>memberTypes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 err="1">
                <a:solidFill>
                  <a:srgbClr val="FF9900"/>
                </a:solidFill>
              </a:rPr>
              <a:t>xs:boolean</a:t>
            </a:r>
            <a:r>
              <a:rPr lang="es-ES" sz="1400" dirty="0">
                <a:solidFill>
                  <a:srgbClr val="FF9900"/>
                </a:solidFill>
              </a:rPr>
              <a:t> sino</a:t>
            </a:r>
            <a:r>
              <a:rPr lang="es-ES" sz="1400" dirty="0">
                <a:solidFill>
                  <a:srgbClr val="00CC00"/>
                </a:solidFill>
              </a:rPr>
              <a:t>"</a:t>
            </a:r>
            <a:r>
              <a:rPr lang="es-ES" sz="1400" dirty="0">
                <a:solidFill>
                  <a:srgbClr val="F51BBC"/>
                </a:solidFill>
              </a:rPr>
              <a:t>/&gt;</a:t>
            </a:r>
          </a:p>
          <a:p>
            <a:r>
              <a:rPr lang="es-ES" sz="1400" dirty="0">
                <a:solidFill>
                  <a:srgbClr val="F51BBC"/>
                </a:solidFill>
              </a:rPr>
              <a:t>&lt;/</a:t>
            </a:r>
            <a:r>
              <a:rPr lang="es-ES" sz="1400" dirty="0" err="1">
                <a:solidFill>
                  <a:srgbClr val="F51BBC"/>
                </a:solidFill>
              </a:rPr>
              <a:t>xs:simpleType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  <a:endParaRPr lang="es-ES" sz="1400" b="1" dirty="0">
              <a:solidFill>
                <a:srgbClr val="F51BBC"/>
              </a:solidFill>
            </a:endParaRPr>
          </a:p>
        </p:txBody>
      </p:sp>
      <p:sp>
        <p:nvSpPr>
          <p:cNvPr id="27" name="Rectángulo 26"/>
          <p:cNvSpPr/>
          <p:nvPr/>
        </p:nvSpPr>
        <p:spPr bwMode="auto">
          <a:xfrm>
            <a:off x="4977651" y="1556792"/>
            <a:ext cx="2447486" cy="338554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8" name="CuadroTexto 27"/>
          <p:cNvSpPr txBox="1"/>
          <p:nvPr/>
        </p:nvSpPr>
        <p:spPr>
          <a:xfrm>
            <a:off x="4951338" y="1556792"/>
            <a:ext cx="2473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&lt;casado&gt;</a:t>
            </a:r>
            <a:r>
              <a:rPr lang="es-ES" sz="1600" dirty="0">
                <a:solidFill>
                  <a:srgbClr val="FF0000"/>
                </a:solidFill>
              </a:rPr>
              <a:t>true</a:t>
            </a:r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&lt;/casado&gt;</a:t>
            </a:r>
          </a:p>
        </p:txBody>
      </p:sp>
      <p:sp>
        <p:nvSpPr>
          <p:cNvPr id="15" name="CuadroTexto 14"/>
          <p:cNvSpPr txBox="1"/>
          <p:nvPr/>
        </p:nvSpPr>
        <p:spPr>
          <a:xfrm>
            <a:off x="715448" y="6500663"/>
            <a:ext cx="7624481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Realiza el ejercicio 9</a:t>
            </a:r>
          </a:p>
        </p:txBody>
      </p:sp>
    </p:spTree>
    <p:extLst>
      <p:ext uri="{BB962C8B-B14F-4D97-AF65-F5344CB8AC3E}">
        <p14:creationId xmlns:p14="http://schemas.microsoft.com/office/powerpoint/2010/main" val="1103624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2" grpId="0" uiExpand="1" build="p"/>
      <p:bldP spid="23" grpId="0" uiExpand="1" build="p"/>
      <p:bldP spid="25" grpId="0" uiExpand="1" build="p"/>
      <p:bldP spid="26" grpId="0" uiExpand="1" build="p"/>
      <p:bldP spid="28" grpId="0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29156" y="45760"/>
            <a:ext cx="7487260" cy="563563"/>
          </a:xfrm>
        </p:spPr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Simples</a:t>
            </a:r>
            <a:endParaRPr lang="en-US" sz="1400" dirty="0"/>
          </a:p>
        </p:txBody>
      </p:sp>
      <p:sp>
        <p:nvSpPr>
          <p:cNvPr id="42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1152406" y="884286"/>
            <a:ext cx="6840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>
                <a:solidFill>
                  <a:srgbClr val="000000"/>
                </a:solidFill>
              </a:rPr>
              <a:t>tipos de datos definidos por el usuario</a:t>
            </a:r>
          </a:p>
          <a:p>
            <a:pPr algn="ctr"/>
            <a:r>
              <a:rPr lang="es-ES" sz="1800" b="1" dirty="0">
                <a:solidFill>
                  <a:srgbClr val="FFC000"/>
                </a:solidFill>
              </a:rPr>
              <a:t>LISTA</a:t>
            </a:r>
          </a:p>
        </p:txBody>
      </p:sp>
      <p:sp>
        <p:nvSpPr>
          <p:cNvPr id="16" name="Rectángulo 15"/>
          <p:cNvSpPr/>
          <p:nvPr/>
        </p:nvSpPr>
        <p:spPr bwMode="auto">
          <a:xfrm>
            <a:off x="1764474" y="1556792"/>
            <a:ext cx="5471822" cy="338554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1738161" y="1556792"/>
            <a:ext cx="5498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&lt;bingo&gt;</a:t>
            </a:r>
            <a:r>
              <a:rPr lang="es-ES" sz="1600" dirty="0">
                <a:solidFill>
                  <a:srgbClr val="FF0000"/>
                </a:solidFill>
              </a:rPr>
              <a:t>2 7 19 34 42 60 63 73</a:t>
            </a:r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&lt;/bingo&gt;</a:t>
            </a:r>
          </a:p>
        </p:txBody>
      </p:sp>
      <p:sp>
        <p:nvSpPr>
          <p:cNvPr id="21" name="24 Esquina doblada"/>
          <p:cNvSpPr/>
          <p:nvPr/>
        </p:nvSpPr>
        <p:spPr bwMode="auto">
          <a:xfrm>
            <a:off x="1152406" y="2125514"/>
            <a:ext cx="6659954" cy="3031678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1378389" y="2356064"/>
            <a:ext cx="638212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000000"/>
                </a:solidFill>
              </a:rPr>
              <a:t>&lt;?</a:t>
            </a:r>
            <a:r>
              <a:rPr lang="es-ES" sz="1600" dirty="0" err="1">
                <a:solidFill>
                  <a:srgbClr val="000000"/>
                </a:solidFill>
              </a:rPr>
              <a:t>xml</a:t>
            </a:r>
            <a:r>
              <a:rPr lang="es-ES" sz="1600" dirty="0">
                <a:solidFill>
                  <a:srgbClr val="000000"/>
                </a:solidFill>
              </a:rPr>
              <a:t> </a:t>
            </a:r>
            <a:r>
              <a:rPr lang="es-ES" sz="1600" dirty="0" err="1">
                <a:solidFill>
                  <a:srgbClr val="000000"/>
                </a:solidFill>
              </a:rPr>
              <a:t>version</a:t>
            </a:r>
            <a:r>
              <a:rPr lang="es-ES" sz="1600" dirty="0">
                <a:solidFill>
                  <a:srgbClr val="000000"/>
                </a:solidFill>
              </a:rPr>
              <a:t>="1.0" ?&gt;</a:t>
            </a:r>
          </a:p>
          <a:p>
            <a:r>
              <a:rPr lang="es-ES" sz="1600" b="1" dirty="0">
                <a:solidFill>
                  <a:srgbClr val="000000"/>
                </a:solidFill>
              </a:rPr>
              <a:t>&lt;</a:t>
            </a:r>
            <a:r>
              <a:rPr lang="es-ES" sz="1600" b="1" dirty="0" err="1">
                <a:solidFill>
                  <a:srgbClr val="000000"/>
                </a:solidFill>
              </a:rPr>
              <a:t>xs:schema</a:t>
            </a:r>
            <a:r>
              <a:rPr lang="es-ES" sz="1600" b="1" dirty="0">
                <a:solidFill>
                  <a:srgbClr val="000000"/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50000"/>
                  </a:schemeClr>
                </a:solidFill>
              </a:rPr>
              <a:t>xmlns:xs</a:t>
            </a:r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="http://www.w3.org/2001/XMLSchema"</a:t>
            </a:r>
            <a:r>
              <a:rPr lang="es-ES" sz="1600" b="1" dirty="0">
                <a:solidFill>
                  <a:srgbClr val="000000"/>
                </a:solidFill>
              </a:rPr>
              <a:t>&gt;</a:t>
            </a: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r>
              <a:rPr lang="es-ES" sz="1600" b="1" dirty="0">
                <a:solidFill>
                  <a:srgbClr val="000000"/>
                </a:solidFill>
              </a:rPr>
              <a:t>&lt;/</a:t>
            </a:r>
            <a:r>
              <a:rPr lang="es-ES" sz="1600" b="1" dirty="0" err="1">
                <a:solidFill>
                  <a:srgbClr val="000000"/>
                </a:solidFill>
              </a:rPr>
              <a:t>xs:schema</a:t>
            </a:r>
            <a:r>
              <a:rPr lang="es-ES" sz="1600" b="1" dirty="0">
                <a:solidFill>
                  <a:srgbClr val="000000"/>
                </a:solidFill>
              </a:rPr>
              <a:t>&gt;</a:t>
            </a:r>
          </a:p>
        </p:txBody>
      </p:sp>
      <p:sp>
        <p:nvSpPr>
          <p:cNvPr id="23" name="CuadroTexto 22"/>
          <p:cNvSpPr txBox="1"/>
          <p:nvPr/>
        </p:nvSpPr>
        <p:spPr>
          <a:xfrm>
            <a:off x="1906918" y="2987155"/>
            <a:ext cx="5474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0070C0"/>
                </a:solidFill>
              </a:rPr>
              <a:t>&lt;</a:t>
            </a:r>
            <a:r>
              <a:rPr lang="es-ES" sz="1600" dirty="0" err="1">
                <a:solidFill>
                  <a:srgbClr val="0070C0"/>
                </a:solidFill>
              </a:rPr>
              <a:t>xs:element</a:t>
            </a:r>
            <a:r>
              <a:rPr lang="es-ES" sz="1600" dirty="0">
                <a:solidFill>
                  <a:srgbClr val="0070C0"/>
                </a:solidFill>
              </a:rPr>
              <a:t>  </a:t>
            </a:r>
            <a:r>
              <a:rPr lang="es-ES" sz="1600" dirty="0" err="1">
                <a:solidFill>
                  <a:srgbClr val="00CC00"/>
                </a:solidFill>
              </a:rPr>
              <a:t>name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>
                <a:solidFill>
                  <a:srgbClr val="FF9900"/>
                </a:solidFill>
              </a:rPr>
              <a:t>bingo</a:t>
            </a:r>
            <a:r>
              <a:rPr lang="es-ES" sz="1600" dirty="0">
                <a:solidFill>
                  <a:srgbClr val="00CC00"/>
                </a:solidFill>
              </a:rPr>
              <a:t>"  </a:t>
            </a:r>
            <a:r>
              <a:rPr lang="es-ES" sz="1600" dirty="0" err="1">
                <a:solidFill>
                  <a:srgbClr val="00CC00"/>
                </a:solidFill>
              </a:rPr>
              <a:t>type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 err="1">
                <a:solidFill>
                  <a:srgbClr val="FF9900"/>
                </a:solidFill>
              </a:rPr>
              <a:t>numerosBingo</a:t>
            </a:r>
            <a:r>
              <a:rPr lang="es-ES" sz="1600" dirty="0">
                <a:solidFill>
                  <a:srgbClr val="00CC00"/>
                </a:solidFill>
              </a:rPr>
              <a:t>"</a:t>
            </a:r>
            <a:r>
              <a:rPr lang="es-ES" sz="1600" dirty="0">
                <a:solidFill>
                  <a:srgbClr val="0070C0"/>
                </a:solidFill>
              </a:rPr>
              <a:t>/&gt;</a:t>
            </a:r>
            <a:endParaRPr lang="es-ES" sz="1600" b="1" dirty="0">
              <a:solidFill>
                <a:srgbClr val="000000"/>
              </a:solidFill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1906918" y="3524919"/>
            <a:ext cx="56894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F51BBC"/>
                </a:solidFill>
              </a:rPr>
              <a:t>&lt;</a:t>
            </a:r>
            <a:r>
              <a:rPr lang="es-ES" sz="1600" dirty="0" err="1">
                <a:solidFill>
                  <a:srgbClr val="F51BBC"/>
                </a:solidFill>
              </a:rPr>
              <a:t>xs:simpleType</a:t>
            </a:r>
            <a:r>
              <a:rPr lang="es-ES" sz="1600" dirty="0">
                <a:solidFill>
                  <a:srgbClr val="F51BBC"/>
                </a:solidFill>
              </a:rPr>
              <a:t> </a:t>
            </a:r>
            <a:r>
              <a:rPr lang="es-ES" sz="1600" dirty="0" err="1">
                <a:solidFill>
                  <a:srgbClr val="00CC00"/>
                </a:solidFill>
              </a:rPr>
              <a:t>name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 err="1">
                <a:solidFill>
                  <a:srgbClr val="FF9900"/>
                </a:solidFill>
              </a:rPr>
              <a:t>numerosBingo</a:t>
            </a:r>
            <a:r>
              <a:rPr lang="es-ES" sz="1600" dirty="0">
                <a:solidFill>
                  <a:srgbClr val="00CC00"/>
                </a:solidFill>
              </a:rPr>
              <a:t>"</a:t>
            </a:r>
            <a:r>
              <a:rPr lang="es-ES" sz="16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600" dirty="0">
                <a:solidFill>
                  <a:srgbClr val="F51BBC"/>
                </a:solidFill>
              </a:rPr>
              <a:t>      &lt;</a:t>
            </a:r>
            <a:r>
              <a:rPr lang="es-ES" sz="1600" dirty="0" err="1">
                <a:solidFill>
                  <a:srgbClr val="F51BBC"/>
                </a:solidFill>
              </a:rPr>
              <a:t>xs:list</a:t>
            </a:r>
            <a:r>
              <a:rPr lang="es-ES" sz="1600" dirty="0">
                <a:solidFill>
                  <a:srgbClr val="F51BBC"/>
                </a:solidFill>
              </a:rPr>
              <a:t> </a:t>
            </a:r>
            <a:r>
              <a:rPr lang="es-ES" sz="1600" dirty="0" err="1">
                <a:solidFill>
                  <a:srgbClr val="00CC00"/>
                </a:solidFill>
              </a:rPr>
              <a:t>itemType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 err="1">
                <a:solidFill>
                  <a:srgbClr val="F51BBC"/>
                </a:solidFill>
              </a:rPr>
              <a:t>xs:integer</a:t>
            </a:r>
            <a:r>
              <a:rPr lang="es-ES" sz="1600" dirty="0">
                <a:solidFill>
                  <a:srgbClr val="00CC00"/>
                </a:solidFill>
              </a:rPr>
              <a:t>"</a:t>
            </a:r>
            <a:r>
              <a:rPr lang="es-ES" sz="1600" dirty="0">
                <a:solidFill>
                  <a:srgbClr val="F51BBC"/>
                </a:solidFill>
              </a:rPr>
              <a:t>/&gt;</a:t>
            </a:r>
          </a:p>
          <a:p>
            <a:r>
              <a:rPr lang="es-ES" sz="1600" dirty="0">
                <a:solidFill>
                  <a:srgbClr val="F51BBC"/>
                </a:solidFill>
              </a:rPr>
              <a:t>&lt;/</a:t>
            </a:r>
            <a:r>
              <a:rPr lang="es-ES" sz="1600" dirty="0" err="1">
                <a:solidFill>
                  <a:srgbClr val="F51BBC"/>
                </a:solidFill>
              </a:rPr>
              <a:t>xs:simpleType</a:t>
            </a:r>
            <a:r>
              <a:rPr lang="es-ES" sz="1600" dirty="0">
                <a:solidFill>
                  <a:srgbClr val="F51BBC"/>
                </a:solidFill>
              </a:rPr>
              <a:t>&gt;</a:t>
            </a:r>
            <a:endParaRPr lang="es-ES" sz="1600" b="1" dirty="0">
              <a:solidFill>
                <a:srgbClr val="F51BB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00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2" grpId="0" uiExpand="1" build="p"/>
      <p:bldP spid="23" grpId="0" uiExpand="1" build="p"/>
      <p:bldP spid="25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29156" y="45760"/>
            <a:ext cx="7487260" cy="563563"/>
          </a:xfrm>
        </p:spPr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Simples</a:t>
            </a:r>
            <a:endParaRPr lang="en-US" sz="1400" dirty="0"/>
          </a:p>
        </p:txBody>
      </p:sp>
      <p:sp>
        <p:nvSpPr>
          <p:cNvPr id="42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1152406" y="884286"/>
            <a:ext cx="6840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>
                <a:solidFill>
                  <a:srgbClr val="000000"/>
                </a:solidFill>
              </a:rPr>
              <a:t>tipos de datos definidos por el usuario</a:t>
            </a:r>
          </a:p>
          <a:p>
            <a:pPr algn="ctr"/>
            <a:r>
              <a:rPr lang="es-ES" sz="1800" b="1" dirty="0">
                <a:solidFill>
                  <a:srgbClr val="FFC000"/>
                </a:solidFill>
              </a:rPr>
              <a:t>LISTA</a:t>
            </a:r>
          </a:p>
        </p:txBody>
      </p:sp>
      <p:sp>
        <p:nvSpPr>
          <p:cNvPr id="16" name="Rectángulo 15"/>
          <p:cNvSpPr/>
          <p:nvPr/>
        </p:nvSpPr>
        <p:spPr bwMode="auto">
          <a:xfrm>
            <a:off x="1764474" y="1556792"/>
            <a:ext cx="5471822" cy="338554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1738161" y="1556792"/>
            <a:ext cx="5498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&lt;bingo&gt;</a:t>
            </a:r>
            <a:r>
              <a:rPr lang="es-ES" sz="1600" dirty="0">
                <a:solidFill>
                  <a:srgbClr val="FF0000"/>
                </a:solidFill>
              </a:rPr>
              <a:t>2 7 19 34 42 60 63 73</a:t>
            </a:r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&lt;/bingo&gt;</a:t>
            </a:r>
          </a:p>
        </p:txBody>
      </p:sp>
      <p:sp>
        <p:nvSpPr>
          <p:cNvPr id="21" name="24 Esquina doblada"/>
          <p:cNvSpPr/>
          <p:nvPr/>
        </p:nvSpPr>
        <p:spPr bwMode="auto">
          <a:xfrm>
            <a:off x="1242023" y="2280988"/>
            <a:ext cx="6659954" cy="4172348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1502240" y="2511538"/>
            <a:ext cx="638212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000000"/>
                </a:solidFill>
              </a:rPr>
              <a:t>&lt;?</a:t>
            </a:r>
            <a:r>
              <a:rPr lang="es-ES" sz="1600" dirty="0" err="1">
                <a:solidFill>
                  <a:srgbClr val="000000"/>
                </a:solidFill>
              </a:rPr>
              <a:t>xml</a:t>
            </a:r>
            <a:r>
              <a:rPr lang="es-ES" sz="1600" dirty="0">
                <a:solidFill>
                  <a:srgbClr val="000000"/>
                </a:solidFill>
              </a:rPr>
              <a:t> </a:t>
            </a:r>
            <a:r>
              <a:rPr lang="es-ES" sz="1600" dirty="0" err="1">
                <a:solidFill>
                  <a:srgbClr val="000000"/>
                </a:solidFill>
              </a:rPr>
              <a:t>version</a:t>
            </a:r>
            <a:r>
              <a:rPr lang="es-ES" sz="1600" dirty="0">
                <a:solidFill>
                  <a:srgbClr val="000000"/>
                </a:solidFill>
              </a:rPr>
              <a:t>="1.0" ?&gt;</a:t>
            </a:r>
          </a:p>
          <a:p>
            <a:r>
              <a:rPr lang="es-ES" sz="1600" b="1" dirty="0">
                <a:solidFill>
                  <a:srgbClr val="000000"/>
                </a:solidFill>
              </a:rPr>
              <a:t>&lt;</a:t>
            </a:r>
            <a:r>
              <a:rPr lang="es-ES" sz="1600" b="1" dirty="0" err="1">
                <a:solidFill>
                  <a:srgbClr val="000000"/>
                </a:solidFill>
              </a:rPr>
              <a:t>xs:schema</a:t>
            </a:r>
            <a:r>
              <a:rPr lang="es-ES" sz="1600" b="1" dirty="0">
                <a:solidFill>
                  <a:srgbClr val="000000"/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50000"/>
                  </a:schemeClr>
                </a:solidFill>
              </a:rPr>
              <a:t>xmlns:xs</a:t>
            </a:r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="http://www.w3.org/2001/XMLSchema"</a:t>
            </a:r>
            <a:r>
              <a:rPr lang="es-ES" sz="1600" b="1" dirty="0">
                <a:solidFill>
                  <a:srgbClr val="000000"/>
                </a:solidFill>
              </a:rPr>
              <a:t>&gt;</a:t>
            </a: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r>
              <a:rPr lang="es-ES" sz="1600" b="1" dirty="0">
                <a:solidFill>
                  <a:srgbClr val="000000"/>
                </a:solidFill>
              </a:rPr>
              <a:t>&lt;/</a:t>
            </a:r>
            <a:r>
              <a:rPr lang="es-ES" sz="1600" b="1" dirty="0" err="1">
                <a:solidFill>
                  <a:srgbClr val="000000"/>
                </a:solidFill>
              </a:rPr>
              <a:t>xs:schema</a:t>
            </a:r>
            <a:r>
              <a:rPr lang="es-ES" sz="1600" b="1" dirty="0">
                <a:solidFill>
                  <a:srgbClr val="000000"/>
                </a:solidFill>
              </a:rPr>
              <a:t>&gt;</a:t>
            </a:r>
          </a:p>
        </p:txBody>
      </p:sp>
      <p:sp>
        <p:nvSpPr>
          <p:cNvPr id="23" name="CuadroTexto 22"/>
          <p:cNvSpPr txBox="1"/>
          <p:nvPr/>
        </p:nvSpPr>
        <p:spPr>
          <a:xfrm>
            <a:off x="1906918" y="3142629"/>
            <a:ext cx="5474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0070C0"/>
                </a:solidFill>
              </a:rPr>
              <a:t>&lt;</a:t>
            </a:r>
            <a:r>
              <a:rPr lang="es-ES" sz="1600" dirty="0" err="1">
                <a:solidFill>
                  <a:srgbClr val="0070C0"/>
                </a:solidFill>
              </a:rPr>
              <a:t>xs:element</a:t>
            </a:r>
            <a:r>
              <a:rPr lang="es-ES" sz="1600" dirty="0">
                <a:solidFill>
                  <a:srgbClr val="0070C0"/>
                </a:solidFill>
              </a:rPr>
              <a:t>  </a:t>
            </a:r>
            <a:r>
              <a:rPr lang="es-ES" sz="1600" dirty="0" err="1">
                <a:solidFill>
                  <a:srgbClr val="00CC00"/>
                </a:solidFill>
              </a:rPr>
              <a:t>name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>
                <a:solidFill>
                  <a:srgbClr val="FF9900"/>
                </a:solidFill>
              </a:rPr>
              <a:t>bingo</a:t>
            </a:r>
            <a:r>
              <a:rPr lang="es-ES" sz="1600" dirty="0">
                <a:solidFill>
                  <a:srgbClr val="00CC00"/>
                </a:solidFill>
              </a:rPr>
              <a:t>"  </a:t>
            </a:r>
            <a:r>
              <a:rPr lang="es-ES" sz="1600" dirty="0" err="1">
                <a:solidFill>
                  <a:srgbClr val="00CC00"/>
                </a:solidFill>
              </a:rPr>
              <a:t>type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 err="1">
                <a:solidFill>
                  <a:srgbClr val="FF9900"/>
                </a:solidFill>
              </a:rPr>
              <a:t>numerosBingo</a:t>
            </a:r>
            <a:r>
              <a:rPr lang="es-ES" sz="1600" dirty="0">
                <a:solidFill>
                  <a:srgbClr val="00CC00"/>
                </a:solidFill>
              </a:rPr>
              <a:t>"</a:t>
            </a:r>
            <a:r>
              <a:rPr lang="es-ES" sz="1600" dirty="0">
                <a:solidFill>
                  <a:srgbClr val="0070C0"/>
                </a:solidFill>
              </a:rPr>
              <a:t>/&gt;</a:t>
            </a:r>
            <a:endParaRPr lang="es-ES" sz="1600" b="1" dirty="0">
              <a:solidFill>
                <a:srgbClr val="000000"/>
              </a:solidFill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1906918" y="3591801"/>
            <a:ext cx="56894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F51BBC"/>
                </a:solidFill>
              </a:rPr>
              <a:t>&lt;</a:t>
            </a:r>
            <a:r>
              <a:rPr lang="es-ES" sz="1600" dirty="0" err="1">
                <a:solidFill>
                  <a:srgbClr val="F51BBC"/>
                </a:solidFill>
              </a:rPr>
              <a:t>xs:simpleType</a:t>
            </a:r>
            <a:r>
              <a:rPr lang="es-ES" sz="1600" dirty="0">
                <a:solidFill>
                  <a:srgbClr val="F51BBC"/>
                </a:solidFill>
              </a:rPr>
              <a:t>  </a:t>
            </a:r>
            <a:r>
              <a:rPr lang="es-ES" sz="1600" dirty="0" err="1">
                <a:solidFill>
                  <a:srgbClr val="00CC00"/>
                </a:solidFill>
              </a:rPr>
              <a:t>name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 err="1">
                <a:solidFill>
                  <a:srgbClr val="FF9900"/>
                </a:solidFill>
              </a:rPr>
              <a:t>numeroBingo</a:t>
            </a:r>
            <a:r>
              <a:rPr lang="es-ES" sz="1600" dirty="0">
                <a:solidFill>
                  <a:srgbClr val="00CC00"/>
                </a:solidFill>
              </a:rPr>
              <a:t>"</a:t>
            </a:r>
            <a:r>
              <a:rPr lang="es-ES" sz="16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600" dirty="0">
                <a:solidFill>
                  <a:srgbClr val="0070C0"/>
                </a:solidFill>
              </a:rPr>
              <a:t>        </a:t>
            </a:r>
            <a:r>
              <a:rPr lang="es-ES" sz="1600" dirty="0">
                <a:solidFill>
                  <a:srgbClr val="F51BBC"/>
                </a:solidFill>
              </a:rPr>
              <a:t>&lt;</a:t>
            </a:r>
            <a:r>
              <a:rPr lang="es-ES" sz="1600" dirty="0" err="1">
                <a:solidFill>
                  <a:srgbClr val="F51BBC"/>
                </a:solidFill>
              </a:rPr>
              <a:t>xs:restriction</a:t>
            </a:r>
            <a:r>
              <a:rPr lang="es-ES" sz="1600" dirty="0">
                <a:solidFill>
                  <a:srgbClr val="F51BBC"/>
                </a:solidFill>
              </a:rPr>
              <a:t> </a:t>
            </a:r>
            <a:r>
              <a:rPr lang="es-ES" sz="1600" dirty="0">
                <a:solidFill>
                  <a:srgbClr val="00CC00"/>
                </a:solidFill>
              </a:rPr>
              <a:t>base="</a:t>
            </a:r>
            <a:r>
              <a:rPr lang="es-ES" sz="1600" dirty="0" err="1">
                <a:solidFill>
                  <a:srgbClr val="FF9900"/>
                </a:solidFill>
              </a:rPr>
              <a:t>xs:positiveInteger</a:t>
            </a:r>
            <a:r>
              <a:rPr lang="es-ES" sz="1600" dirty="0">
                <a:solidFill>
                  <a:srgbClr val="00CC00"/>
                </a:solidFill>
              </a:rPr>
              <a:t>"</a:t>
            </a:r>
            <a:r>
              <a:rPr lang="es-ES" sz="16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600" dirty="0">
                <a:solidFill>
                  <a:srgbClr val="0070C0"/>
                </a:solidFill>
              </a:rPr>
              <a:t> 	</a:t>
            </a:r>
            <a:r>
              <a:rPr lang="es-ES" sz="1600" dirty="0">
                <a:solidFill>
                  <a:srgbClr val="F51BBC"/>
                </a:solidFill>
              </a:rPr>
              <a:t>&lt;</a:t>
            </a:r>
            <a:r>
              <a:rPr lang="es-ES" sz="1600" dirty="0" err="1">
                <a:solidFill>
                  <a:srgbClr val="F51BBC"/>
                </a:solidFill>
              </a:rPr>
              <a:t>xs:maxInclusive</a:t>
            </a:r>
            <a:r>
              <a:rPr lang="es-ES" sz="1600" dirty="0">
                <a:solidFill>
                  <a:srgbClr val="F51BBC"/>
                </a:solidFill>
              </a:rPr>
              <a:t> </a:t>
            </a:r>
            <a:r>
              <a:rPr lang="es-ES" sz="1600" dirty="0" err="1">
                <a:solidFill>
                  <a:srgbClr val="00CC00"/>
                </a:solidFill>
              </a:rPr>
              <a:t>value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>
                <a:solidFill>
                  <a:srgbClr val="FF9900"/>
                </a:solidFill>
              </a:rPr>
              <a:t>90</a:t>
            </a:r>
            <a:r>
              <a:rPr lang="es-ES" sz="1600" dirty="0">
                <a:solidFill>
                  <a:srgbClr val="00CC00"/>
                </a:solidFill>
              </a:rPr>
              <a:t>"</a:t>
            </a:r>
            <a:r>
              <a:rPr lang="es-ES" sz="1600" dirty="0">
                <a:solidFill>
                  <a:srgbClr val="F51BBC"/>
                </a:solidFill>
              </a:rPr>
              <a:t>/&gt;</a:t>
            </a:r>
          </a:p>
          <a:p>
            <a:r>
              <a:rPr lang="es-ES" sz="1600" dirty="0">
                <a:solidFill>
                  <a:srgbClr val="F51BBC"/>
                </a:solidFill>
              </a:rPr>
              <a:t>        &lt;/</a:t>
            </a:r>
            <a:r>
              <a:rPr lang="es-ES" sz="1600" dirty="0" err="1">
                <a:solidFill>
                  <a:srgbClr val="F51BBC"/>
                </a:solidFill>
              </a:rPr>
              <a:t>xs:restriction</a:t>
            </a:r>
            <a:r>
              <a:rPr lang="es-ES" sz="16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600" dirty="0">
                <a:solidFill>
                  <a:srgbClr val="F51BBC"/>
                </a:solidFill>
              </a:rPr>
              <a:t>&lt;/</a:t>
            </a:r>
            <a:r>
              <a:rPr lang="es-ES" sz="1600" dirty="0" err="1">
                <a:solidFill>
                  <a:srgbClr val="F51BBC"/>
                </a:solidFill>
              </a:rPr>
              <a:t>xs:simpleType</a:t>
            </a:r>
            <a:r>
              <a:rPr lang="es-ES" sz="1600" dirty="0">
                <a:solidFill>
                  <a:srgbClr val="F51BBC"/>
                </a:solidFill>
              </a:rPr>
              <a:t>&gt;</a:t>
            </a:r>
            <a:endParaRPr lang="es-ES" sz="1600" b="1" dirty="0">
              <a:solidFill>
                <a:srgbClr val="F51BBC"/>
              </a:solidFill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1906917" y="4932789"/>
            <a:ext cx="56894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F51BBC"/>
                </a:solidFill>
              </a:rPr>
              <a:t>&lt;</a:t>
            </a:r>
            <a:r>
              <a:rPr lang="es-ES" sz="1600" dirty="0" err="1">
                <a:solidFill>
                  <a:srgbClr val="F51BBC"/>
                </a:solidFill>
              </a:rPr>
              <a:t>xs:simpleType</a:t>
            </a:r>
            <a:r>
              <a:rPr lang="es-ES" sz="1600" dirty="0">
                <a:solidFill>
                  <a:srgbClr val="F51BBC"/>
                </a:solidFill>
              </a:rPr>
              <a:t> </a:t>
            </a:r>
            <a:r>
              <a:rPr lang="es-ES" sz="1600" dirty="0" err="1">
                <a:solidFill>
                  <a:srgbClr val="00CC00"/>
                </a:solidFill>
              </a:rPr>
              <a:t>name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 err="1">
                <a:solidFill>
                  <a:srgbClr val="FF9900"/>
                </a:solidFill>
              </a:rPr>
              <a:t>numerosBingo</a:t>
            </a:r>
            <a:r>
              <a:rPr lang="es-ES" sz="1600" dirty="0">
                <a:solidFill>
                  <a:srgbClr val="00CC00"/>
                </a:solidFill>
              </a:rPr>
              <a:t>"</a:t>
            </a:r>
            <a:r>
              <a:rPr lang="es-ES" sz="16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600" dirty="0">
                <a:solidFill>
                  <a:srgbClr val="F51BBC"/>
                </a:solidFill>
              </a:rPr>
              <a:t>      &lt;</a:t>
            </a:r>
            <a:r>
              <a:rPr lang="es-ES" sz="1600" dirty="0" err="1">
                <a:solidFill>
                  <a:srgbClr val="F51BBC"/>
                </a:solidFill>
              </a:rPr>
              <a:t>xs:list</a:t>
            </a:r>
            <a:r>
              <a:rPr lang="es-ES" sz="1600" dirty="0">
                <a:solidFill>
                  <a:srgbClr val="F51BBC"/>
                </a:solidFill>
              </a:rPr>
              <a:t> </a:t>
            </a:r>
            <a:r>
              <a:rPr lang="es-ES" sz="1600" dirty="0" err="1">
                <a:solidFill>
                  <a:srgbClr val="00CC00"/>
                </a:solidFill>
              </a:rPr>
              <a:t>itemType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 err="1">
                <a:solidFill>
                  <a:srgbClr val="F51BBC"/>
                </a:solidFill>
              </a:rPr>
              <a:t>numeroBingo</a:t>
            </a:r>
            <a:r>
              <a:rPr lang="es-ES" sz="1600" dirty="0">
                <a:solidFill>
                  <a:srgbClr val="00CC00"/>
                </a:solidFill>
              </a:rPr>
              <a:t>"</a:t>
            </a:r>
            <a:r>
              <a:rPr lang="es-ES" sz="1600" dirty="0">
                <a:solidFill>
                  <a:srgbClr val="F51BBC"/>
                </a:solidFill>
              </a:rPr>
              <a:t>/&gt;</a:t>
            </a:r>
          </a:p>
          <a:p>
            <a:r>
              <a:rPr lang="es-ES" sz="1600" dirty="0">
                <a:solidFill>
                  <a:srgbClr val="F51BBC"/>
                </a:solidFill>
              </a:rPr>
              <a:t>&lt;/</a:t>
            </a:r>
            <a:r>
              <a:rPr lang="es-ES" sz="1600" dirty="0" err="1">
                <a:solidFill>
                  <a:srgbClr val="F51BBC"/>
                </a:solidFill>
              </a:rPr>
              <a:t>xs:simpleType</a:t>
            </a:r>
            <a:r>
              <a:rPr lang="es-ES" sz="1600" dirty="0">
                <a:solidFill>
                  <a:srgbClr val="F51BBC"/>
                </a:solidFill>
              </a:rPr>
              <a:t>&gt;</a:t>
            </a:r>
            <a:endParaRPr lang="es-ES" sz="1600" b="1" dirty="0">
              <a:solidFill>
                <a:srgbClr val="F51BBC"/>
              </a:solidFill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3402263" y="1941097"/>
            <a:ext cx="216024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300" dirty="0">
                <a:solidFill>
                  <a:srgbClr val="009900"/>
                </a:solidFill>
              </a:rPr>
              <a:t>Cada número entre 0 y 90</a:t>
            </a:r>
          </a:p>
        </p:txBody>
      </p:sp>
    </p:spTree>
    <p:extLst>
      <p:ext uri="{BB962C8B-B14F-4D97-AF65-F5344CB8AC3E}">
        <p14:creationId xmlns:p14="http://schemas.microsoft.com/office/powerpoint/2010/main" val="1556925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2" grpId="0" uiExpand="1" build="p"/>
      <p:bldP spid="23" grpId="0" uiExpand="1" build="p"/>
      <p:bldP spid="25" grpId="0" uiExpand="1" build="p"/>
      <p:bldP spid="1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29156" y="45760"/>
            <a:ext cx="7487260" cy="563563"/>
          </a:xfrm>
        </p:spPr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Simples</a:t>
            </a:r>
            <a:endParaRPr lang="en-US" sz="1400" dirty="0"/>
          </a:p>
        </p:txBody>
      </p:sp>
      <p:sp>
        <p:nvSpPr>
          <p:cNvPr id="42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1152406" y="884286"/>
            <a:ext cx="6840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>
                <a:solidFill>
                  <a:srgbClr val="000000"/>
                </a:solidFill>
              </a:rPr>
              <a:t>tipos de datos definidos por el usuario</a:t>
            </a:r>
          </a:p>
          <a:p>
            <a:pPr algn="ctr"/>
            <a:r>
              <a:rPr lang="es-ES" sz="1800" b="1" dirty="0">
                <a:solidFill>
                  <a:srgbClr val="FFC000"/>
                </a:solidFill>
              </a:rPr>
              <a:t>LISTA</a:t>
            </a:r>
          </a:p>
        </p:txBody>
      </p:sp>
      <p:sp>
        <p:nvSpPr>
          <p:cNvPr id="16" name="Rectángulo 15"/>
          <p:cNvSpPr/>
          <p:nvPr/>
        </p:nvSpPr>
        <p:spPr bwMode="auto">
          <a:xfrm>
            <a:off x="1764474" y="1556792"/>
            <a:ext cx="5471822" cy="338554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1738161" y="1556792"/>
            <a:ext cx="5498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&lt;frutas&gt;</a:t>
            </a:r>
            <a:r>
              <a:rPr lang="es-ES" sz="1600" dirty="0">
                <a:solidFill>
                  <a:srgbClr val="FF0000"/>
                </a:solidFill>
              </a:rPr>
              <a:t>Naranja Plátano</a:t>
            </a:r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&lt;/frutas&gt;</a:t>
            </a:r>
          </a:p>
        </p:txBody>
      </p:sp>
      <p:sp>
        <p:nvSpPr>
          <p:cNvPr id="21" name="24 Esquina doblada"/>
          <p:cNvSpPr/>
          <p:nvPr/>
        </p:nvSpPr>
        <p:spPr bwMode="auto">
          <a:xfrm>
            <a:off x="1152406" y="2125513"/>
            <a:ext cx="6659954" cy="4491267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1291319" y="2125513"/>
            <a:ext cx="638212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000000"/>
                </a:solidFill>
              </a:rPr>
              <a:t>&lt;?</a:t>
            </a:r>
            <a:r>
              <a:rPr lang="es-ES" sz="1600" dirty="0" err="1">
                <a:solidFill>
                  <a:srgbClr val="000000"/>
                </a:solidFill>
              </a:rPr>
              <a:t>xml</a:t>
            </a:r>
            <a:r>
              <a:rPr lang="es-ES" sz="1600" dirty="0">
                <a:solidFill>
                  <a:srgbClr val="000000"/>
                </a:solidFill>
              </a:rPr>
              <a:t> </a:t>
            </a:r>
            <a:r>
              <a:rPr lang="es-ES" sz="1600" dirty="0" err="1">
                <a:solidFill>
                  <a:srgbClr val="000000"/>
                </a:solidFill>
              </a:rPr>
              <a:t>version</a:t>
            </a:r>
            <a:r>
              <a:rPr lang="es-ES" sz="1600" dirty="0">
                <a:solidFill>
                  <a:srgbClr val="000000"/>
                </a:solidFill>
              </a:rPr>
              <a:t>="1.0" ?&gt;</a:t>
            </a:r>
          </a:p>
          <a:p>
            <a:r>
              <a:rPr lang="es-ES" sz="1600" b="1" dirty="0">
                <a:solidFill>
                  <a:srgbClr val="000000"/>
                </a:solidFill>
              </a:rPr>
              <a:t>&lt;</a:t>
            </a:r>
            <a:r>
              <a:rPr lang="es-ES" sz="1600" b="1" dirty="0" err="1">
                <a:solidFill>
                  <a:srgbClr val="000000"/>
                </a:solidFill>
              </a:rPr>
              <a:t>xs:schema</a:t>
            </a:r>
            <a:r>
              <a:rPr lang="es-ES" sz="1600" b="1" dirty="0">
                <a:solidFill>
                  <a:srgbClr val="000000"/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50000"/>
                  </a:schemeClr>
                </a:solidFill>
              </a:rPr>
              <a:t>xmlns:xs</a:t>
            </a:r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="http://www.w3.org/2001/XMLSchema"</a:t>
            </a:r>
            <a:r>
              <a:rPr lang="es-ES" sz="1600" b="1" dirty="0">
                <a:solidFill>
                  <a:srgbClr val="000000"/>
                </a:solidFill>
              </a:rPr>
              <a:t>&gt;</a:t>
            </a: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r>
              <a:rPr lang="es-ES" sz="1600" b="1" dirty="0">
                <a:solidFill>
                  <a:srgbClr val="000000"/>
                </a:solidFill>
              </a:rPr>
              <a:t>&lt;/</a:t>
            </a:r>
            <a:r>
              <a:rPr lang="es-ES" sz="1600" b="1" dirty="0" err="1">
                <a:solidFill>
                  <a:srgbClr val="000000"/>
                </a:solidFill>
              </a:rPr>
              <a:t>xs:schema</a:t>
            </a:r>
            <a:r>
              <a:rPr lang="es-ES" sz="1600" b="1" dirty="0">
                <a:solidFill>
                  <a:srgbClr val="000000"/>
                </a:solidFill>
              </a:rPr>
              <a:t>&gt;</a:t>
            </a:r>
          </a:p>
        </p:txBody>
      </p:sp>
      <p:sp>
        <p:nvSpPr>
          <p:cNvPr id="23" name="CuadroTexto 22"/>
          <p:cNvSpPr txBox="1"/>
          <p:nvPr/>
        </p:nvSpPr>
        <p:spPr>
          <a:xfrm>
            <a:off x="1764474" y="2666364"/>
            <a:ext cx="5474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0070C0"/>
                </a:solidFill>
              </a:rPr>
              <a:t>&lt;</a:t>
            </a:r>
            <a:r>
              <a:rPr lang="es-ES" sz="1600" dirty="0" err="1">
                <a:solidFill>
                  <a:srgbClr val="0070C0"/>
                </a:solidFill>
              </a:rPr>
              <a:t>xs:element</a:t>
            </a:r>
            <a:r>
              <a:rPr lang="es-ES" sz="1600" dirty="0">
                <a:solidFill>
                  <a:srgbClr val="0070C0"/>
                </a:solidFill>
              </a:rPr>
              <a:t>  </a:t>
            </a:r>
            <a:r>
              <a:rPr lang="es-ES" sz="1600" dirty="0" err="1">
                <a:solidFill>
                  <a:srgbClr val="00CC00"/>
                </a:solidFill>
              </a:rPr>
              <a:t>name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>
                <a:solidFill>
                  <a:srgbClr val="FF9900"/>
                </a:solidFill>
              </a:rPr>
              <a:t>frutas</a:t>
            </a:r>
            <a:r>
              <a:rPr lang="es-ES" sz="1600" dirty="0">
                <a:solidFill>
                  <a:srgbClr val="00CC00"/>
                </a:solidFill>
              </a:rPr>
              <a:t>"  </a:t>
            </a:r>
            <a:r>
              <a:rPr lang="es-ES" sz="1600" dirty="0" err="1">
                <a:solidFill>
                  <a:srgbClr val="00CC00"/>
                </a:solidFill>
              </a:rPr>
              <a:t>type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 err="1">
                <a:solidFill>
                  <a:srgbClr val="FF9900"/>
                </a:solidFill>
              </a:rPr>
              <a:t>listaFrutas</a:t>
            </a:r>
            <a:r>
              <a:rPr lang="es-ES" sz="1600" dirty="0">
                <a:solidFill>
                  <a:srgbClr val="00CC00"/>
                </a:solidFill>
              </a:rPr>
              <a:t>"</a:t>
            </a:r>
            <a:r>
              <a:rPr lang="es-ES" sz="1600" dirty="0">
                <a:solidFill>
                  <a:srgbClr val="0070C0"/>
                </a:solidFill>
              </a:rPr>
              <a:t>/&gt;</a:t>
            </a:r>
            <a:endParaRPr lang="es-ES" sz="1600" b="1" dirty="0">
              <a:solidFill>
                <a:srgbClr val="000000"/>
              </a:solidFill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1764474" y="3101065"/>
            <a:ext cx="56894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F51BBC"/>
                </a:solidFill>
              </a:rPr>
              <a:t>&lt;</a:t>
            </a:r>
            <a:r>
              <a:rPr lang="es-ES" sz="1600" dirty="0" err="1">
                <a:solidFill>
                  <a:srgbClr val="F51BBC"/>
                </a:solidFill>
              </a:rPr>
              <a:t>xs:simpleType</a:t>
            </a:r>
            <a:r>
              <a:rPr lang="es-ES" sz="1600" dirty="0">
                <a:solidFill>
                  <a:srgbClr val="F51BBC"/>
                </a:solidFill>
              </a:rPr>
              <a:t> </a:t>
            </a:r>
            <a:r>
              <a:rPr lang="es-ES" sz="1600" dirty="0" err="1">
                <a:solidFill>
                  <a:srgbClr val="00CC00"/>
                </a:solidFill>
              </a:rPr>
              <a:t>name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 err="1">
                <a:solidFill>
                  <a:srgbClr val="FF9900"/>
                </a:solidFill>
              </a:rPr>
              <a:t>listaFrutas</a:t>
            </a:r>
            <a:r>
              <a:rPr lang="es-ES" sz="1600" dirty="0">
                <a:solidFill>
                  <a:srgbClr val="00CC00"/>
                </a:solidFill>
              </a:rPr>
              <a:t>"</a:t>
            </a:r>
            <a:r>
              <a:rPr lang="es-ES" sz="16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600" dirty="0">
                <a:solidFill>
                  <a:srgbClr val="F51BBC"/>
                </a:solidFill>
              </a:rPr>
              <a:t>      &lt;</a:t>
            </a:r>
            <a:r>
              <a:rPr lang="es-ES" sz="1600" dirty="0" err="1">
                <a:solidFill>
                  <a:srgbClr val="F51BBC"/>
                </a:solidFill>
              </a:rPr>
              <a:t>xs:list</a:t>
            </a:r>
            <a:r>
              <a:rPr lang="es-ES" sz="1600" dirty="0">
                <a:solidFill>
                  <a:srgbClr val="F51BBC"/>
                </a:solidFill>
              </a:rPr>
              <a:t> </a:t>
            </a:r>
            <a:r>
              <a:rPr lang="es-ES" sz="1600" dirty="0" err="1">
                <a:solidFill>
                  <a:srgbClr val="00CC00"/>
                </a:solidFill>
              </a:rPr>
              <a:t>itemType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>
                <a:solidFill>
                  <a:srgbClr val="FF9900"/>
                </a:solidFill>
              </a:rPr>
              <a:t>fruta</a:t>
            </a:r>
            <a:r>
              <a:rPr lang="es-ES" sz="1600" dirty="0">
                <a:solidFill>
                  <a:srgbClr val="00CC00"/>
                </a:solidFill>
              </a:rPr>
              <a:t>"</a:t>
            </a:r>
            <a:r>
              <a:rPr lang="es-ES" sz="1600" dirty="0">
                <a:solidFill>
                  <a:srgbClr val="F51BBC"/>
                </a:solidFill>
              </a:rPr>
              <a:t>/&gt;</a:t>
            </a:r>
          </a:p>
          <a:p>
            <a:r>
              <a:rPr lang="es-ES" sz="1600" dirty="0">
                <a:solidFill>
                  <a:srgbClr val="F51BBC"/>
                </a:solidFill>
              </a:rPr>
              <a:t>&lt;/</a:t>
            </a:r>
            <a:r>
              <a:rPr lang="es-ES" sz="1600" dirty="0" err="1">
                <a:solidFill>
                  <a:srgbClr val="F51BBC"/>
                </a:solidFill>
              </a:rPr>
              <a:t>xs:simpleType</a:t>
            </a:r>
            <a:r>
              <a:rPr lang="es-ES" sz="1600" dirty="0">
                <a:solidFill>
                  <a:srgbClr val="F51BBC"/>
                </a:solidFill>
              </a:rPr>
              <a:t>&gt;</a:t>
            </a:r>
            <a:endParaRPr lang="es-ES" sz="1600" b="1" dirty="0">
              <a:solidFill>
                <a:srgbClr val="F51BBC"/>
              </a:solidFill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1764474" y="4005064"/>
            <a:ext cx="56894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F51BBC"/>
                </a:solidFill>
              </a:rPr>
              <a:t>&lt;</a:t>
            </a:r>
            <a:r>
              <a:rPr lang="es-ES" sz="1600" dirty="0" err="1">
                <a:solidFill>
                  <a:srgbClr val="F51BBC"/>
                </a:solidFill>
              </a:rPr>
              <a:t>xs:simpleType</a:t>
            </a:r>
            <a:r>
              <a:rPr lang="es-ES" sz="1600" dirty="0">
                <a:solidFill>
                  <a:srgbClr val="F51BBC"/>
                </a:solidFill>
              </a:rPr>
              <a:t>  </a:t>
            </a:r>
            <a:r>
              <a:rPr lang="es-ES" sz="1600" dirty="0" err="1">
                <a:solidFill>
                  <a:srgbClr val="00CC00"/>
                </a:solidFill>
              </a:rPr>
              <a:t>name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>
                <a:solidFill>
                  <a:srgbClr val="FF9900"/>
                </a:solidFill>
              </a:rPr>
              <a:t>fruta</a:t>
            </a:r>
            <a:r>
              <a:rPr lang="es-ES" sz="1600" dirty="0">
                <a:solidFill>
                  <a:srgbClr val="00CC00"/>
                </a:solidFill>
              </a:rPr>
              <a:t>"</a:t>
            </a:r>
            <a:r>
              <a:rPr lang="es-ES" sz="16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600" dirty="0">
                <a:solidFill>
                  <a:srgbClr val="0070C0"/>
                </a:solidFill>
              </a:rPr>
              <a:t>        </a:t>
            </a:r>
            <a:r>
              <a:rPr lang="es-ES" sz="1600" dirty="0">
                <a:solidFill>
                  <a:srgbClr val="F51BBC"/>
                </a:solidFill>
              </a:rPr>
              <a:t>&lt;</a:t>
            </a:r>
            <a:r>
              <a:rPr lang="es-ES" sz="1600" dirty="0" err="1">
                <a:solidFill>
                  <a:srgbClr val="F51BBC"/>
                </a:solidFill>
              </a:rPr>
              <a:t>xs:restriction</a:t>
            </a:r>
            <a:r>
              <a:rPr lang="es-ES" sz="1600" dirty="0">
                <a:solidFill>
                  <a:srgbClr val="F51BBC"/>
                </a:solidFill>
              </a:rPr>
              <a:t> </a:t>
            </a:r>
            <a:r>
              <a:rPr lang="es-ES" sz="1600" dirty="0">
                <a:solidFill>
                  <a:srgbClr val="00CC00"/>
                </a:solidFill>
              </a:rPr>
              <a:t>base="</a:t>
            </a:r>
            <a:r>
              <a:rPr lang="es-ES" sz="1600" dirty="0" err="1">
                <a:solidFill>
                  <a:srgbClr val="FF9900"/>
                </a:solidFill>
              </a:rPr>
              <a:t>xs:string</a:t>
            </a:r>
            <a:r>
              <a:rPr lang="es-ES" sz="1600" dirty="0">
                <a:solidFill>
                  <a:srgbClr val="00CC00"/>
                </a:solidFill>
              </a:rPr>
              <a:t>"</a:t>
            </a:r>
            <a:r>
              <a:rPr lang="es-ES" sz="16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600" dirty="0">
                <a:solidFill>
                  <a:srgbClr val="0070C0"/>
                </a:solidFill>
              </a:rPr>
              <a:t> 	</a:t>
            </a:r>
            <a:r>
              <a:rPr lang="es-ES" sz="1600" dirty="0">
                <a:solidFill>
                  <a:srgbClr val="F51BBC"/>
                </a:solidFill>
              </a:rPr>
              <a:t>&lt;</a:t>
            </a:r>
            <a:r>
              <a:rPr lang="es-ES" sz="1600" dirty="0" err="1">
                <a:solidFill>
                  <a:srgbClr val="F51BBC"/>
                </a:solidFill>
              </a:rPr>
              <a:t>xs:enumeration</a:t>
            </a:r>
            <a:r>
              <a:rPr lang="es-ES" sz="1600" dirty="0">
                <a:solidFill>
                  <a:srgbClr val="F51BBC"/>
                </a:solidFill>
              </a:rPr>
              <a:t> </a:t>
            </a:r>
            <a:r>
              <a:rPr lang="es-ES" sz="1600" dirty="0" err="1">
                <a:solidFill>
                  <a:srgbClr val="00CC00"/>
                </a:solidFill>
              </a:rPr>
              <a:t>value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>
                <a:solidFill>
                  <a:srgbClr val="FF9900"/>
                </a:solidFill>
              </a:rPr>
              <a:t>Manzana</a:t>
            </a:r>
            <a:r>
              <a:rPr lang="es-ES" sz="1600" dirty="0">
                <a:solidFill>
                  <a:srgbClr val="00CC00"/>
                </a:solidFill>
              </a:rPr>
              <a:t>"</a:t>
            </a:r>
            <a:r>
              <a:rPr lang="es-ES" sz="1600" dirty="0">
                <a:solidFill>
                  <a:srgbClr val="F51BBC"/>
                </a:solidFill>
              </a:rPr>
              <a:t>/&gt;</a:t>
            </a:r>
          </a:p>
          <a:p>
            <a:r>
              <a:rPr lang="es-ES" sz="1600" dirty="0">
                <a:solidFill>
                  <a:srgbClr val="F51BBC"/>
                </a:solidFill>
              </a:rPr>
              <a:t>	&lt;</a:t>
            </a:r>
            <a:r>
              <a:rPr lang="es-ES" sz="1600" dirty="0" err="1">
                <a:solidFill>
                  <a:srgbClr val="F51BBC"/>
                </a:solidFill>
              </a:rPr>
              <a:t>xs:enumeration</a:t>
            </a:r>
            <a:r>
              <a:rPr lang="es-ES" sz="1600" dirty="0">
                <a:solidFill>
                  <a:srgbClr val="F51BBC"/>
                </a:solidFill>
              </a:rPr>
              <a:t> </a:t>
            </a:r>
            <a:r>
              <a:rPr lang="es-ES" sz="1600" dirty="0" err="1">
                <a:solidFill>
                  <a:srgbClr val="00CC00"/>
                </a:solidFill>
              </a:rPr>
              <a:t>value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>
                <a:solidFill>
                  <a:srgbClr val="FF9900"/>
                </a:solidFill>
              </a:rPr>
              <a:t>Melón</a:t>
            </a:r>
            <a:r>
              <a:rPr lang="es-ES" sz="1600" dirty="0">
                <a:solidFill>
                  <a:srgbClr val="00CC00"/>
                </a:solidFill>
              </a:rPr>
              <a:t>"</a:t>
            </a:r>
            <a:r>
              <a:rPr lang="es-ES" sz="1600" dirty="0">
                <a:solidFill>
                  <a:srgbClr val="F51BBC"/>
                </a:solidFill>
              </a:rPr>
              <a:t>/&gt;</a:t>
            </a:r>
          </a:p>
          <a:p>
            <a:r>
              <a:rPr lang="es-ES" sz="1600" dirty="0">
                <a:solidFill>
                  <a:srgbClr val="F51BBC"/>
                </a:solidFill>
              </a:rPr>
              <a:t>	&lt;</a:t>
            </a:r>
            <a:r>
              <a:rPr lang="es-ES" sz="1600" dirty="0" err="1">
                <a:solidFill>
                  <a:srgbClr val="F51BBC"/>
                </a:solidFill>
              </a:rPr>
              <a:t>xs:enumeration</a:t>
            </a:r>
            <a:r>
              <a:rPr lang="es-ES" sz="1600" dirty="0">
                <a:solidFill>
                  <a:srgbClr val="F51BBC"/>
                </a:solidFill>
              </a:rPr>
              <a:t> </a:t>
            </a:r>
            <a:r>
              <a:rPr lang="es-ES" sz="1600" dirty="0" err="1">
                <a:solidFill>
                  <a:srgbClr val="00CC00"/>
                </a:solidFill>
              </a:rPr>
              <a:t>value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>
                <a:solidFill>
                  <a:srgbClr val="FF9900"/>
                </a:solidFill>
              </a:rPr>
              <a:t>Plátano</a:t>
            </a:r>
            <a:r>
              <a:rPr lang="es-ES" sz="1600" dirty="0">
                <a:solidFill>
                  <a:srgbClr val="00CC00"/>
                </a:solidFill>
              </a:rPr>
              <a:t>"</a:t>
            </a:r>
            <a:r>
              <a:rPr lang="es-ES" sz="1600" dirty="0">
                <a:solidFill>
                  <a:srgbClr val="F51BBC"/>
                </a:solidFill>
              </a:rPr>
              <a:t>/&gt;</a:t>
            </a:r>
          </a:p>
          <a:p>
            <a:r>
              <a:rPr lang="es-ES" sz="1600" dirty="0">
                <a:solidFill>
                  <a:srgbClr val="F51BBC"/>
                </a:solidFill>
              </a:rPr>
              <a:t>	&lt;</a:t>
            </a:r>
            <a:r>
              <a:rPr lang="es-ES" sz="1600" dirty="0" err="1">
                <a:solidFill>
                  <a:srgbClr val="F51BBC"/>
                </a:solidFill>
              </a:rPr>
              <a:t>xs:enumeration</a:t>
            </a:r>
            <a:r>
              <a:rPr lang="es-ES" sz="1600" dirty="0">
                <a:solidFill>
                  <a:srgbClr val="F51BBC"/>
                </a:solidFill>
              </a:rPr>
              <a:t> </a:t>
            </a:r>
            <a:r>
              <a:rPr lang="es-ES" sz="1600" dirty="0" err="1">
                <a:solidFill>
                  <a:srgbClr val="00CC00"/>
                </a:solidFill>
              </a:rPr>
              <a:t>value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>
                <a:solidFill>
                  <a:srgbClr val="FF9900"/>
                </a:solidFill>
              </a:rPr>
              <a:t>Sandía</a:t>
            </a:r>
            <a:r>
              <a:rPr lang="es-ES" sz="1600" dirty="0">
                <a:solidFill>
                  <a:srgbClr val="00CC00"/>
                </a:solidFill>
              </a:rPr>
              <a:t>"</a:t>
            </a:r>
            <a:r>
              <a:rPr lang="es-ES" sz="1600" dirty="0">
                <a:solidFill>
                  <a:srgbClr val="F51BBC"/>
                </a:solidFill>
              </a:rPr>
              <a:t>/&gt;</a:t>
            </a:r>
          </a:p>
          <a:p>
            <a:r>
              <a:rPr lang="es-ES" sz="1600" dirty="0">
                <a:solidFill>
                  <a:srgbClr val="F51BBC"/>
                </a:solidFill>
              </a:rPr>
              <a:t>	&lt;</a:t>
            </a:r>
            <a:r>
              <a:rPr lang="es-ES" sz="1600" dirty="0" err="1">
                <a:solidFill>
                  <a:srgbClr val="F51BBC"/>
                </a:solidFill>
              </a:rPr>
              <a:t>xs:enumeration</a:t>
            </a:r>
            <a:r>
              <a:rPr lang="es-ES" sz="1600" dirty="0">
                <a:solidFill>
                  <a:srgbClr val="F51BBC"/>
                </a:solidFill>
              </a:rPr>
              <a:t> </a:t>
            </a:r>
            <a:r>
              <a:rPr lang="es-ES" sz="1600" dirty="0" err="1">
                <a:solidFill>
                  <a:srgbClr val="00CC00"/>
                </a:solidFill>
              </a:rPr>
              <a:t>value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>
                <a:solidFill>
                  <a:srgbClr val="FF9900"/>
                </a:solidFill>
              </a:rPr>
              <a:t>Naranja</a:t>
            </a:r>
            <a:r>
              <a:rPr lang="es-ES" sz="1600" dirty="0">
                <a:solidFill>
                  <a:srgbClr val="00CC00"/>
                </a:solidFill>
              </a:rPr>
              <a:t>"</a:t>
            </a:r>
            <a:r>
              <a:rPr lang="es-ES" sz="1600" dirty="0">
                <a:solidFill>
                  <a:srgbClr val="F51BBC"/>
                </a:solidFill>
              </a:rPr>
              <a:t>/&gt;</a:t>
            </a:r>
          </a:p>
          <a:p>
            <a:r>
              <a:rPr lang="es-ES" sz="1600" dirty="0">
                <a:solidFill>
                  <a:srgbClr val="F51BBC"/>
                </a:solidFill>
              </a:rPr>
              <a:t>        &lt;/</a:t>
            </a:r>
            <a:r>
              <a:rPr lang="es-ES" sz="1600" dirty="0" err="1">
                <a:solidFill>
                  <a:srgbClr val="F51BBC"/>
                </a:solidFill>
              </a:rPr>
              <a:t>xs:restriction</a:t>
            </a:r>
            <a:r>
              <a:rPr lang="es-ES" sz="16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600" dirty="0">
                <a:solidFill>
                  <a:srgbClr val="F51BBC"/>
                </a:solidFill>
              </a:rPr>
              <a:t>&lt;/</a:t>
            </a:r>
            <a:r>
              <a:rPr lang="es-ES" sz="1600" dirty="0" err="1">
                <a:solidFill>
                  <a:srgbClr val="F51BBC"/>
                </a:solidFill>
              </a:rPr>
              <a:t>xs:simpleType</a:t>
            </a:r>
            <a:r>
              <a:rPr lang="es-ES" sz="1600" dirty="0">
                <a:solidFill>
                  <a:srgbClr val="F51BBC"/>
                </a:solidFill>
              </a:rPr>
              <a:t>&gt;</a:t>
            </a:r>
            <a:endParaRPr lang="es-ES" sz="1600" b="1" dirty="0">
              <a:solidFill>
                <a:srgbClr val="F51BB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8356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23" grpId="0" uiExpand="1" build="p"/>
      <p:bldP spid="13" grpId="0" uiExpand="1" build="p"/>
      <p:bldP spid="25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29156" y="45760"/>
            <a:ext cx="7487260" cy="563563"/>
          </a:xfrm>
        </p:spPr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Simples</a:t>
            </a:r>
            <a:endParaRPr lang="en-US" sz="1400" dirty="0"/>
          </a:p>
        </p:txBody>
      </p:sp>
      <p:sp>
        <p:nvSpPr>
          <p:cNvPr id="42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1152406" y="884286"/>
            <a:ext cx="6840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>
                <a:solidFill>
                  <a:srgbClr val="000000"/>
                </a:solidFill>
              </a:rPr>
              <a:t>tipos de datos definidos por el usuario</a:t>
            </a:r>
          </a:p>
          <a:p>
            <a:pPr algn="ctr"/>
            <a:r>
              <a:rPr lang="es-ES" sz="1800" b="1" dirty="0">
                <a:solidFill>
                  <a:srgbClr val="FFC000"/>
                </a:solidFill>
              </a:rPr>
              <a:t>LISTA</a:t>
            </a:r>
          </a:p>
        </p:txBody>
      </p:sp>
      <p:sp>
        <p:nvSpPr>
          <p:cNvPr id="16" name="Rectángulo 15"/>
          <p:cNvSpPr/>
          <p:nvPr/>
        </p:nvSpPr>
        <p:spPr bwMode="auto">
          <a:xfrm>
            <a:off x="1764474" y="1556792"/>
            <a:ext cx="5471822" cy="338554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1738161" y="1556792"/>
            <a:ext cx="5498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&lt;bingo&gt;</a:t>
            </a:r>
            <a:r>
              <a:rPr lang="es-ES" sz="1600" dirty="0">
                <a:solidFill>
                  <a:srgbClr val="FF0000"/>
                </a:solidFill>
              </a:rPr>
              <a:t>2 7 19 34 42 60 63 73</a:t>
            </a:r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&lt;/bingo&gt;</a:t>
            </a:r>
          </a:p>
        </p:txBody>
      </p:sp>
      <p:sp>
        <p:nvSpPr>
          <p:cNvPr id="21" name="24 Esquina doblada"/>
          <p:cNvSpPr/>
          <p:nvPr/>
        </p:nvSpPr>
        <p:spPr bwMode="auto">
          <a:xfrm>
            <a:off x="1152406" y="2413546"/>
            <a:ext cx="6659954" cy="3823766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1378389" y="2644096"/>
            <a:ext cx="638212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000000"/>
                </a:solidFill>
              </a:rPr>
              <a:t>&lt;?</a:t>
            </a:r>
            <a:r>
              <a:rPr lang="es-ES" sz="1600" dirty="0" err="1">
                <a:solidFill>
                  <a:srgbClr val="000000"/>
                </a:solidFill>
              </a:rPr>
              <a:t>xml</a:t>
            </a:r>
            <a:r>
              <a:rPr lang="es-ES" sz="1600" dirty="0">
                <a:solidFill>
                  <a:srgbClr val="000000"/>
                </a:solidFill>
              </a:rPr>
              <a:t> </a:t>
            </a:r>
            <a:r>
              <a:rPr lang="es-ES" sz="1600" dirty="0" err="1">
                <a:solidFill>
                  <a:srgbClr val="000000"/>
                </a:solidFill>
              </a:rPr>
              <a:t>version</a:t>
            </a:r>
            <a:r>
              <a:rPr lang="es-ES" sz="1600" dirty="0">
                <a:solidFill>
                  <a:srgbClr val="000000"/>
                </a:solidFill>
              </a:rPr>
              <a:t>="1.0" ?&gt;</a:t>
            </a:r>
          </a:p>
          <a:p>
            <a:r>
              <a:rPr lang="es-ES" sz="1600" b="1" dirty="0">
                <a:solidFill>
                  <a:srgbClr val="000000"/>
                </a:solidFill>
              </a:rPr>
              <a:t>&lt;</a:t>
            </a:r>
            <a:r>
              <a:rPr lang="es-ES" sz="1600" b="1" dirty="0" err="1">
                <a:solidFill>
                  <a:srgbClr val="000000"/>
                </a:solidFill>
              </a:rPr>
              <a:t>xs:schema</a:t>
            </a:r>
            <a:r>
              <a:rPr lang="es-ES" sz="1600" b="1" dirty="0">
                <a:solidFill>
                  <a:srgbClr val="000000"/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50000"/>
                  </a:schemeClr>
                </a:solidFill>
              </a:rPr>
              <a:t>xmlns:xs</a:t>
            </a:r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="http://www.w3.org/2001/XMLSchema"</a:t>
            </a:r>
            <a:r>
              <a:rPr lang="es-ES" sz="1600" b="1" dirty="0">
                <a:solidFill>
                  <a:srgbClr val="000000"/>
                </a:solidFill>
              </a:rPr>
              <a:t>&gt;</a:t>
            </a: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endParaRPr lang="es-ES" sz="1600" b="1" dirty="0">
              <a:solidFill>
                <a:srgbClr val="000000"/>
              </a:solidFill>
            </a:endParaRPr>
          </a:p>
          <a:p>
            <a:r>
              <a:rPr lang="es-ES" sz="1600" b="1" dirty="0">
                <a:solidFill>
                  <a:srgbClr val="000000"/>
                </a:solidFill>
              </a:rPr>
              <a:t>&lt;/</a:t>
            </a:r>
            <a:r>
              <a:rPr lang="es-ES" sz="1600" b="1" dirty="0" err="1">
                <a:solidFill>
                  <a:srgbClr val="000000"/>
                </a:solidFill>
              </a:rPr>
              <a:t>xs:schema</a:t>
            </a:r>
            <a:r>
              <a:rPr lang="es-ES" sz="1600" b="1" dirty="0">
                <a:solidFill>
                  <a:srgbClr val="000000"/>
                </a:solidFill>
              </a:rPr>
              <a:t>&gt;</a:t>
            </a:r>
          </a:p>
        </p:txBody>
      </p:sp>
      <p:sp>
        <p:nvSpPr>
          <p:cNvPr id="23" name="CuadroTexto 22"/>
          <p:cNvSpPr txBox="1"/>
          <p:nvPr/>
        </p:nvSpPr>
        <p:spPr>
          <a:xfrm>
            <a:off x="1906918" y="3275187"/>
            <a:ext cx="5474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0070C0"/>
                </a:solidFill>
              </a:rPr>
              <a:t>&lt;</a:t>
            </a:r>
            <a:r>
              <a:rPr lang="es-ES" sz="1600" dirty="0" err="1">
                <a:solidFill>
                  <a:srgbClr val="0070C0"/>
                </a:solidFill>
              </a:rPr>
              <a:t>xs:element</a:t>
            </a:r>
            <a:r>
              <a:rPr lang="es-ES" sz="1600" dirty="0">
                <a:solidFill>
                  <a:srgbClr val="0070C0"/>
                </a:solidFill>
              </a:rPr>
              <a:t>  </a:t>
            </a:r>
            <a:r>
              <a:rPr lang="es-ES" sz="1600" dirty="0" err="1">
                <a:solidFill>
                  <a:srgbClr val="00CC00"/>
                </a:solidFill>
              </a:rPr>
              <a:t>name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>
                <a:solidFill>
                  <a:srgbClr val="FF9900"/>
                </a:solidFill>
              </a:rPr>
              <a:t>bingo</a:t>
            </a:r>
            <a:r>
              <a:rPr lang="es-ES" sz="1600" dirty="0">
                <a:solidFill>
                  <a:srgbClr val="00CC00"/>
                </a:solidFill>
              </a:rPr>
              <a:t>"  </a:t>
            </a:r>
            <a:r>
              <a:rPr lang="es-ES" sz="1600" dirty="0" err="1">
                <a:solidFill>
                  <a:srgbClr val="00CC00"/>
                </a:solidFill>
              </a:rPr>
              <a:t>type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 err="1">
                <a:solidFill>
                  <a:srgbClr val="FF9900"/>
                </a:solidFill>
              </a:rPr>
              <a:t>numerosBingo</a:t>
            </a:r>
            <a:r>
              <a:rPr lang="es-ES" sz="1600" dirty="0">
                <a:solidFill>
                  <a:srgbClr val="00CC00"/>
                </a:solidFill>
              </a:rPr>
              <a:t>"</a:t>
            </a:r>
            <a:r>
              <a:rPr lang="es-ES" sz="1600" dirty="0">
                <a:solidFill>
                  <a:srgbClr val="0070C0"/>
                </a:solidFill>
              </a:rPr>
              <a:t>/&gt;</a:t>
            </a:r>
            <a:endParaRPr lang="es-ES" sz="1600" b="1" dirty="0">
              <a:solidFill>
                <a:srgbClr val="000000"/>
              </a:solidFill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1906918" y="3812951"/>
            <a:ext cx="56894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F51BBC"/>
                </a:solidFill>
              </a:rPr>
              <a:t>&lt;</a:t>
            </a:r>
            <a:r>
              <a:rPr lang="es-ES" sz="1600" dirty="0" err="1">
                <a:solidFill>
                  <a:srgbClr val="F51BBC"/>
                </a:solidFill>
              </a:rPr>
              <a:t>xs:simpleType</a:t>
            </a:r>
            <a:r>
              <a:rPr lang="es-ES" sz="1600" dirty="0">
                <a:solidFill>
                  <a:srgbClr val="F51BBC"/>
                </a:solidFill>
              </a:rPr>
              <a:t> </a:t>
            </a:r>
            <a:r>
              <a:rPr lang="es-ES" sz="1600" dirty="0" err="1">
                <a:solidFill>
                  <a:srgbClr val="00CC00"/>
                </a:solidFill>
              </a:rPr>
              <a:t>name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 err="1">
                <a:solidFill>
                  <a:srgbClr val="FF9900"/>
                </a:solidFill>
              </a:rPr>
              <a:t>numerosBingo</a:t>
            </a:r>
            <a:r>
              <a:rPr lang="es-ES" sz="1600" dirty="0">
                <a:solidFill>
                  <a:srgbClr val="00CC00"/>
                </a:solidFill>
              </a:rPr>
              <a:t>"</a:t>
            </a:r>
            <a:r>
              <a:rPr lang="es-ES" sz="16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600" dirty="0">
                <a:solidFill>
                  <a:srgbClr val="F51BBC"/>
                </a:solidFill>
              </a:rPr>
              <a:t>        &lt;</a:t>
            </a:r>
            <a:r>
              <a:rPr lang="es-ES" sz="1600" dirty="0" err="1">
                <a:solidFill>
                  <a:srgbClr val="F51BBC"/>
                </a:solidFill>
              </a:rPr>
              <a:t>xs:list</a:t>
            </a:r>
            <a:r>
              <a:rPr lang="es-ES" sz="1600" dirty="0">
                <a:solidFill>
                  <a:srgbClr val="F51BBC"/>
                </a:solidFill>
              </a:rPr>
              <a:t> </a:t>
            </a:r>
            <a:r>
              <a:rPr lang="es-ES" sz="1600" dirty="0" err="1">
                <a:solidFill>
                  <a:srgbClr val="00CC00"/>
                </a:solidFill>
              </a:rPr>
              <a:t>itemType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 err="1">
                <a:solidFill>
                  <a:srgbClr val="F51BBC"/>
                </a:solidFill>
              </a:rPr>
              <a:t>xs:integer</a:t>
            </a:r>
            <a:r>
              <a:rPr lang="es-ES" sz="1600" dirty="0">
                <a:solidFill>
                  <a:srgbClr val="00CC00"/>
                </a:solidFill>
              </a:rPr>
              <a:t>"</a:t>
            </a:r>
            <a:r>
              <a:rPr lang="es-ES" sz="16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600" dirty="0">
                <a:solidFill>
                  <a:srgbClr val="F51BBC"/>
                </a:solidFill>
              </a:rPr>
              <a:t>	&lt;</a:t>
            </a:r>
            <a:r>
              <a:rPr lang="es-ES" sz="1600" dirty="0" err="1">
                <a:solidFill>
                  <a:srgbClr val="F51BBC"/>
                </a:solidFill>
              </a:rPr>
              <a:t>xs:minLength</a:t>
            </a:r>
            <a:r>
              <a:rPr lang="es-ES" sz="1600" dirty="0">
                <a:solidFill>
                  <a:srgbClr val="F51BBC"/>
                </a:solidFill>
              </a:rPr>
              <a:t> </a:t>
            </a:r>
            <a:r>
              <a:rPr lang="es-ES" sz="1600" dirty="0" err="1">
                <a:solidFill>
                  <a:srgbClr val="33CC33"/>
                </a:solidFill>
              </a:rPr>
              <a:t>value</a:t>
            </a:r>
            <a:r>
              <a:rPr lang="es-ES" sz="1600" dirty="0">
                <a:solidFill>
                  <a:srgbClr val="33CC33"/>
                </a:solidFill>
              </a:rPr>
              <a:t>="</a:t>
            </a:r>
            <a:r>
              <a:rPr lang="es-ES" sz="1600" dirty="0">
                <a:solidFill>
                  <a:srgbClr val="F51BBC"/>
                </a:solidFill>
              </a:rPr>
              <a:t>5</a:t>
            </a:r>
            <a:r>
              <a:rPr lang="es-ES" sz="1600" dirty="0">
                <a:solidFill>
                  <a:srgbClr val="33CC33"/>
                </a:solidFill>
              </a:rPr>
              <a:t>"</a:t>
            </a:r>
            <a:r>
              <a:rPr lang="es-ES" sz="1600" dirty="0">
                <a:solidFill>
                  <a:srgbClr val="F51BBC"/>
                </a:solidFill>
              </a:rPr>
              <a:t> /&gt;</a:t>
            </a:r>
          </a:p>
          <a:p>
            <a:r>
              <a:rPr lang="es-ES" sz="1600" dirty="0">
                <a:solidFill>
                  <a:srgbClr val="F51BBC"/>
                </a:solidFill>
              </a:rPr>
              <a:t>	&lt;</a:t>
            </a:r>
            <a:r>
              <a:rPr lang="es-ES" sz="1600" dirty="0" err="1">
                <a:solidFill>
                  <a:srgbClr val="F51BBC"/>
                </a:solidFill>
              </a:rPr>
              <a:t>xs:maxLength</a:t>
            </a:r>
            <a:r>
              <a:rPr lang="es-ES" sz="1600" dirty="0">
                <a:solidFill>
                  <a:srgbClr val="F51BBC"/>
                </a:solidFill>
              </a:rPr>
              <a:t> </a:t>
            </a:r>
            <a:r>
              <a:rPr lang="es-ES" sz="1600" dirty="0" err="1">
                <a:solidFill>
                  <a:srgbClr val="33CC33"/>
                </a:solidFill>
              </a:rPr>
              <a:t>value</a:t>
            </a:r>
            <a:r>
              <a:rPr lang="es-ES" sz="1600" dirty="0">
                <a:solidFill>
                  <a:srgbClr val="33CC33"/>
                </a:solidFill>
              </a:rPr>
              <a:t>="</a:t>
            </a:r>
            <a:r>
              <a:rPr lang="es-ES" sz="1600" dirty="0">
                <a:solidFill>
                  <a:srgbClr val="F51BBC"/>
                </a:solidFill>
              </a:rPr>
              <a:t>16</a:t>
            </a:r>
            <a:r>
              <a:rPr lang="es-ES" sz="1600" dirty="0">
                <a:solidFill>
                  <a:srgbClr val="33CC33"/>
                </a:solidFill>
              </a:rPr>
              <a:t>"</a:t>
            </a:r>
            <a:r>
              <a:rPr lang="es-ES" sz="1600" dirty="0">
                <a:solidFill>
                  <a:srgbClr val="F51BBC"/>
                </a:solidFill>
              </a:rPr>
              <a:t> /&gt;</a:t>
            </a:r>
          </a:p>
          <a:p>
            <a:r>
              <a:rPr lang="es-ES" sz="1600" dirty="0">
                <a:solidFill>
                  <a:srgbClr val="F51BBC"/>
                </a:solidFill>
              </a:rPr>
              <a:t>        &lt;/</a:t>
            </a:r>
            <a:r>
              <a:rPr lang="es-ES" sz="1600" dirty="0" err="1">
                <a:solidFill>
                  <a:srgbClr val="F51BBC"/>
                </a:solidFill>
              </a:rPr>
              <a:t>xs:list</a:t>
            </a:r>
            <a:r>
              <a:rPr lang="es-ES" sz="16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600" dirty="0">
                <a:solidFill>
                  <a:srgbClr val="F51BBC"/>
                </a:solidFill>
              </a:rPr>
              <a:t>&lt;/</a:t>
            </a:r>
            <a:r>
              <a:rPr lang="es-ES" sz="1600" dirty="0" err="1">
                <a:solidFill>
                  <a:srgbClr val="F51BBC"/>
                </a:solidFill>
              </a:rPr>
              <a:t>xs:simpleType</a:t>
            </a:r>
            <a:r>
              <a:rPr lang="es-ES" sz="1600" dirty="0">
                <a:solidFill>
                  <a:srgbClr val="F51BBC"/>
                </a:solidFill>
              </a:rPr>
              <a:t>&gt;</a:t>
            </a:r>
            <a:endParaRPr lang="es-ES" sz="1600" b="1" dirty="0">
              <a:solidFill>
                <a:srgbClr val="F51BBC"/>
              </a:solidFill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715448" y="6500663"/>
            <a:ext cx="7624481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Realiza los ejercicios 10 y 11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3491880" y="1921329"/>
            <a:ext cx="1944216" cy="496955"/>
            <a:chOff x="3491880" y="1921329"/>
            <a:chExt cx="1944216" cy="496955"/>
          </a:xfrm>
        </p:grpSpPr>
        <p:sp>
          <p:nvSpPr>
            <p:cNvPr id="14" name="Cerrar llave 13"/>
            <p:cNvSpPr/>
            <p:nvPr/>
          </p:nvSpPr>
          <p:spPr bwMode="auto">
            <a:xfrm rot="16200000" flipH="1">
              <a:off x="4345304" y="1067905"/>
              <a:ext cx="237368" cy="1944216"/>
            </a:xfrm>
            <a:prstGeom prst="rightBrace">
              <a:avLst>
                <a:gd name="adj1" fmla="val 29497"/>
                <a:gd name="adj2" fmla="val 49471"/>
              </a:avLst>
            </a:prstGeom>
            <a:ln>
              <a:solidFill>
                <a:srgbClr val="0099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5" name="CuadroTexto 14"/>
            <p:cNvSpPr txBox="1"/>
            <p:nvPr/>
          </p:nvSpPr>
          <p:spPr>
            <a:xfrm>
              <a:off x="3491880" y="2125896"/>
              <a:ext cx="1944216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300" dirty="0">
                  <a:solidFill>
                    <a:srgbClr val="009900"/>
                  </a:solidFill>
                </a:rPr>
                <a:t>Entre 5 y 16 elementos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73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uiExpand="1" build="p"/>
      <p:bldP spid="23" grpId="0" uiExpand="1" build="p"/>
      <p:bldP spid="25" grpId="0" uiExpand="1" build="p"/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 bwMode="auto">
          <a:xfrm>
            <a:off x="1764474" y="1268760"/>
            <a:ext cx="5616624" cy="338554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29156" y="45760"/>
            <a:ext cx="7487260" cy="563563"/>
          </a:xfrm>
        </p:spPr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Simples</a:t>
            </a:r>
            <a:endParaRPr lang="en-US" sz="1400" dirty="0"/>
          </a:p>
        </p:txBody>
      </p:sp>
      <p:sp>
        <p:nvSpPr>
          <p:cNvPr id="42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411761" y="1268760"/>
            <a:ext cx="4315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&lt;edad&gt;</a:t>
            </a:r>
            <a:r>
              <a:rPr lang="es-ES" sz="1600" dirty="0">
                <a:solidFill>
                  <a:srgbClr val="FF0000"/>
                </a:solidFill>
              </a:rPr>
              <a:t>19</a:t>
            </a:r>
            <a:r>
              <a:rPr lang="es-ES" sz="1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&lt;/edad&gt;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1152406" y="836712"/>
            <a:ext cx="6840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>
                <a:solidFill>
                  <a:srgbClr val="000000"/>
                </a:solidFill>
              </a:rPr>
              <a:t>Resumen de formas de establecer tipos de datos</a:t>
            </a:r>
          </a:p>
        </p:txBody>
      </p:sp>
      <p:grpSp>
        <p:nvGrpSpPr>
          <p:cNvPr id="12" name="Grupo 11"/>
          <p:cNvGrpSpPr/>
          <p:nvPr/>
        </p:nvGrpSpPr>
        <p:grpSpPr>
          <a:xfrm>
            <a:off x="1629353" y="4705558"/>
            <a:ext cx="5976664" cy="1863276"/>
            <a:chOff x="1629353" y="4705558"/>
            <a:chExt cx="5976664" cy="1863276"/>
          </a:xfrm>
        </p:grpSpPr>
        <p:sp>
          <p:nvSpPr>
            <p:cNvPr id="20" name="24 Esquina doblada"/>
            <p:cNvSpPr/>
            <p:nvPr/>
          </p:nvSpPr>
          <p:spPr bwMode="auto">
            <a:xfrm>
              <a:off x="1629353" y="4705558"/>
              <a:ext cx="5976664" cy="1863276"/>
            </a:xfrm>
            <a:prstGeom prst="foldedCorner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_tradn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1" name="CuadroTexto 20"/>
            <p:cNvSpPr txBox="1"/>
            <p:nvPr/>
          </p:nvSpPr>
          <p:spPr>
            <a:xfrm>
              <a:off x="1917109" y="4743621"/>
              <a:ext cx="5286757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dirty="0">
                  <a:solidFill>
                    <a:srgbClr val="0070C0"/>
                  </a:solidFill>
                </a:rPr>
                <a:t>&lt;</a:t>
              </a:r>
              <a:r>
                <a:rPr lang="es-ES" sz="1400" dirty="0" err="1">
                  <a:solidFill>
                    <a:srgbClr val="0070C0"/>
                  </a:solidFill>
                </a:rPr>
                <a:t>xs:element</a:t>
              </a:r>
              <a:r>
                <a:rPr lang="es-ES" sz="1400" dirty="0">
                  <a:solidFill>
                    <a:srgbClr val="0070C0"/>
                  </a:solidFill>
                </a:rPr>
                <a:t>  </a:t>
              </a:r>
              <a:r>
                <a:rPr lang="es-ES" sz="1400" dirty="0" err="1">
                  <a:solidFill>
                    <a:srgbClr val="00CC00"/>
                  </a:solidFill>
                </a:rPr>
                <a:t>name</a:t>
              </a:r>
              <a:r>
                <a:rPr lang="es-ES" sz="1400" dirty="0">
                  <a:solidFill>
                    <a:srgbClr val="00CC00"/>
                  </a:solidFill>
                </a:rPr>
                <a:t>="</a:t>
              </a:r>
              <a:r>
                <a:rPr lang="es-ES" sz="1400" dirty="0">
                  <a:solidFill>
                    <a:srgbClr val="FF9900"/>
                  </a:solidFill>
                </a:rPr>
                <a:t>edad</a:t>
              </a:r>
              <a:r>
                <a:rPr lang="es-ES" sz="1400" dirty="0">
                  <a:solidFill>
                    <a:srgbClr val="00CC00"/>
                  </a:solidFill>
                </a:rPr>
                <a:t>" </a:t>
              </a:r>
              <a:r>
                <a:rPr lang="es-ES" sz="1400" dirty="0">
                  <a:solidFill>
                    <a:srgbClr val="0070C0"/>
                  </a:solidFill>
                </a:rPr>
                <a:t>&gt;</a:t>
              </a:r>
            </a:p>
            <a:p>
              <a:endParaRPr lang="es-ES" sz="1400" dirty="0">
                <a:solidFill>
                  <a:srgbClr val="0070C0"/>
                </a:solidFill>
              </a:endParaRPr>
            </a:p>
            <a:p>
              <a:endParaRPr lang="es-ES" sz="1400" dirty="0">
                <a:solidFill>
                  <a:srgbClr val="0070C0"/>
                </a:solidFill>
              </a:endParaRPr>
            </a:p>
            <a:p>
              <a:endParaRPr lang="es-ES" sz="1400" dirty="0">
                <a:solidFill>
                  <a:srgbClr val="0070C0"/>
                </a:solidFill>
              </a:endParaRPr>
            </a:p>
            <a:p>
              <a:endParaRPr lang="es-ES" sz="1400" dirty="0">
                <a:solidFill>
                  <a:srgbClr val="0070C0"/>
                </a:solidFill>
              </a:endParaRPr>
            </a:p>
            <a:p>
              <a:endParaRPr lang="es-ES" sz="1400" dirty="0">
                <a:solidFill>
                  <a:srgbClr val="0070C0"/>
                </a:solidFill>
              </a:endParaRPr>
            </a:p>
            <a:p>
              <a:endParaRPr lang="es-ES" sz="1400" dirty="0">
                <a:solidFill>
                  <a:srgbClr val="0070C0"/>
                </a:solidFill>
              </a:endParaRPr>
            </a:p>
            <a:p>
              <a:r>
                <a:rPr lang="es-ES" sz="1400" dirty="0">
                  <a:solidFill>
                    <a:srgbClr val="0070C0"/>
                  </a:solidFill>
                </a:rPr>
                <a:t>&lt;/</a:t>
              </a:r>
              <a:r>
                <a:rPr lang="es-ES" sz="1400" dirty="0" err="1">
                  <a:solidFill>
                    <a:srgbClr val="0070C0"/>
                  </a:solidFill>
                </a:rPr>
                <a:t>xs:element</a:t>
              </a:r>
              <a:r>
                <a:rPr lang="es-ES" sz="1400" dirty="0">
                  <a:solidFill>
                    <a:srgbClr val="0070C0"/>
                  </a:solidFill>
                </a:rPr>
                <a:t>&gt;</a:t>
              </a:r>
              <a:endParaRPr lang="es-ES" sz="14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9" name="Grupo 8"/>
          <p:cNvGrpSpPr/>
          <p:nvPr/>
        </p:nvGrpSpPr>
        <p:grpSpPr>
          <a:xfrm>
            <a:off x="1603100" y="1693466"/>
            <a:ext cx="6011882" cy="439390"/>
            <a:chOff x="1603100" y="1693466"/>
            <a:chExt cx="6011882" cy="439390"/>
          </a:xfrm>
        </p:grpSpPr>
        <p:sp>
          <p:nvSpPr>
            <p:cNvPr id="16" name="24 Esquina doblada"/>
            <p:cNvSpPr/>
            <p:nvPr/>
          </p:nvSpPr>
          <p:spPr bwMode="auto">
            <a:xfrm>
              <a:off x="1603100" y="1693466"/>
              <a:ext cx="6011882" cy="439390"/>
            </a:xfrm>
            <a:prstGeom prst="foldedCorner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_tradn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" name="CuadroTexto 21"/>
            <p:cNvSpPr txBox="1"/>
            <p:nvPr/>
          </p:nvSpPr>
          <p:spPr>
            <a:xfrm>
              <a:off x="1917109" y="1765240"/>
              <a:ext cx="2736304" cy="2797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dirty="0">
                  <a:solidFill>
                    <a:srgbClr val="0070C0"/>
                  </a:solidFill>
                </a:rPr>
                <a:t>&lt;</a:t>
              </a:r>
              <a:r>
                <a:rPr lang="es-ES" sz="1400" dirty="0" err="1">
                  <a:solidFill>
                    <a:srgbClr val="0070C0"/>
                  </a:solidFill>
                </a:rPr>
                <a:t>xs:element</a:t>
              </a:r>
              <a:r>
                <a:rPr lang="es-ES" sz="1400" dirty="0">
                  <a:solidFill>
                    <a:srgbClr val="0070C0"/>
                  </a:solidFill>
                </a:rPr>
                <a:t>  </a:t>
              </a:r>
              <a:r>
                <a:rPr lang="es-ES" sz="1400" dirty="0" err="1">
                  <a:solidFill>
                    <a:srgbClr val="00CC00"/>
                  </a:solidFill>
                </a:rPr>
                <a:t>name</a:t>
              </a:r>
              <a:r>
                <a:rPr lang="es-ES" sz="1400" dirty="0">
                  <a:solidFill>
                    <a:srgbClr val="00CC00"/>
                  </a:solidFill>
                </a:rPr>
                <a:t>="</a:t>
              </a:r>
              <a:r>
                <a:rPr lang="es-ES" sz="1400" dirty="0">
                  <a:solidFill>
                    <a:srgbClr val="FF9900"/>
                  </a:solidFill>
                </a:rPr>
                <a:t>edad</a:t>
              </a:r>
              <a:r>
                <a:rPr lang="es-ES" sz="1400" dirty="0">
                  <a:solidFill>
                    <a:srgbClr val="00CC00"/>
                  </a:solidFill>
                </a:rPr>
                <a:t>" </a:t>
              </a:r>
              <a:r>
                <a:rPr lang="es-ES" sz="1400" dirty="0">
                  <a:solidFill>
                    <a:srgbClr val="0070C0"/>
                  </a:solidFill>
                </a:rPr>
                <a:t>/&gt;</a:t>
              </a:r>
              <a:endParaRPr lang="es-ES" sz="14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0" name="Grupo 9"/>
          <p:cNvGrpSpPr/>
          <p:nvPr/>
        </p:nvGrpSpPr>
        <p:grpSpPr>
          <a:xfrm>
            <a:off x="1603100" y="2265723"/>
            <a:ext cx="6011882" cy="439390"/>
            <a:chOff x="1603100" y="2265723"/>
            <a:chExt cx="6011882" cy="439390"/>
          </a:xfrm>
        </p:grpSpPr>
        <p:sp>
          <p:nvSpPr>
            <p:cNvPr id="24" name="24 Esquina doblada"/>
            <p:cNvSpPr/>
            <p:nvPr/>
          </p:nvSpPr>
          <p:spPr bwMode="auto">
            <a:xfrm>
              <a:off x="1603100" y="2265723"/>
              <a:ext cx="6011882" cy="439390"/>
            </a:xfrm>
            <a:prstGeom prst="foldedCorner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_tradn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5" name="CuadroTexto 24"/>
            <p:cNvSpPr txBox="1"/>
            <p:nvPr/>
          </p:nvSpPr>
          <p:spPr>
            <a:xfrm>
              <a:off x="1917109" y="2339396"/>
              <a:ext cx="54741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dirty="0">
                  <a:solidFill>
                    <a:srgbClr val="0070C0"/>
                  </a:solidFill>
                </a:rPr>
                <a:t>&lt;</a:t>
              </a:r>
              <a:r>
                <a:rPr lang="es-ES" sz="1400" dirty="0" err="1">
                  <a:solidFill>
                    <a:srgbClr val="0070C0"/>
                  </a:solidFill>
                </a:rPr>
                <a:t>xs:element</a:t>
              </a:r>
              <a:r>
                <a:rPr lang="es-ES" sz="1400" dirty="0">
                  <a:solidFill>
                    <a:srgbClr val="0070C0"/>
                  </a:solidFill>
                </a:rPr>
                <a:t>  </a:t>
              </a:r>
              <a:r>
                <a:rPr lang="es-ES" sz="1400" dirty="0" err="1">
                  <a:solidFill>
                    <a:srgbClr val="00CC00"/>
                  </a:solidFill>
                </a:rPr>
                <a:t>name</a:t>
              </a:r>
              <a:r>
                <a:rPr lang="es-ES" sz="1400" dirty="0">
                  <a:solidFill>
                    <a:srgbClr val="00CC00"/>
                  </a:solidFill>
                </a:rPr>
                <a:t>="</a:t>
              </a:r>
              <a:r>
                <a:rPr lang="es-ES" sz="1400" dirty="0">
                  <a:solidFill>
                    <a:srgbClr val="FF9900"/>
                  </a:solidFill>
                </a:rPr>
                <a:t>edad</a:t>
              </a:r>
              <a:r>
                <a:rPr lang="es-ES" sz="1400" dirty="0">
                  <a:solidFill>
                    <a:srgbClr val="00CC00"/>
                  </a:solidFill>
                </a:rPr>
                <a:t>"  </a:t>
              </a:r>
              <a:r>
                <a:rPr lang="es-ES" sz="1400" dirty="0" err="1">
                  <a:solidFill>
                    <a:srgbClr val="00CC00"/>
                  </a:solidFill>
                </a:rPr>
                <a:t>type</a:t>
              </a:r>
              <a:r>
                <a:rPr lang="es-ES" sz="1400" dirty="0">
                  <a:solidFill>
                    <a:srgbClr val="00CC00"/>
                  </a:solidFill>
                </a:rPr>
                <a:t>="</a:t>
              </a:r>
              <a:r>
                <a:rPr lang="es-ES" sz="1400" dirty="0" err="1">
                  <a:solidFill>
                    <a:srgbClr val="FF9900"/>
                  </a:solidFill>
                </a:rPr>
                <a:t>xs:integer</a:t>
              </a:r>
              <a:r>
                <a:rPr lang="es-ES" sz="1400" dirty="0">
                  <a:solidFill>
                    <a:srgbClr val="00CC00"/>
                  </a:solidFill>
                </a:rPr>
                <a:t>"</a:t>
              </a:r>
              <a:r>
                <a:rPr lang="es-ES" sz="1400" dirty="0">
                  <a:solidFill>
                    <a:srgbClr val="0070C0"/>
                  </a:solidFill>
                </a:rPr>
                <a:t>/&gt;</a:t>
              </a:r>
              <a:endParaRPr lang="es-ES" sz="14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1" name="Grupo 10"/>
          <p:cNvGrpSpPr/>
          <p:nvPr/>
        </p:nvGrpSpPr>
        <p:grpSpPr>
          <a:xfrm>
            <a:off x="1602492" y="2826720"/>
            <a:ext cx="6011882" cy="1754407"/>
            <a:chOff x="1602492" y="2826720"/>
            <a:chExt cx="6011882" cy="1754407"/>
          </a:xfrm>
        </p:grpSpPr>
        <p:sp>
          <p:nvSpPr>
            <p:cNvPr id="26" name="24 Esquina doblada"/>
            <p:cNvSpPr/>
            <p:nvPr/>
          </p:nvSpPr>
          <p:spPr bwMode="auto">
            <a:xfrm>
              <a:off x="1602492" y="2826720"/>
              <a:ext cx="6011882" cy="1754407"/>
            </a:xfrm>
            <a:prstGeom prst="foldedCorner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_tradn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" name="CuadroTexto 26"/>
            <p:cNvSpPr txBox="1"/>
            <p:nvPr/>
          </p:nvSpPr>
          <p:spPr>
            <a:xfrm>
              <a:off x="1917109" y="2908931"/>
              <a:ext cx="54741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dirty="0">
                  <a:solidFill>
                    <a:srgbClr val="0070C0"/>
                  </a:solidFill>
                </a:rPr>
                <a:t>&lt;</a:t>
              </a:r>
              <a:r>
                <a:rPr lang="es-ES" sz="1400" dirty="0" err="1">
                  <a:solidFill>
                    <a:srgbClr val="0070C0"/>
                  </a:solidFill>
                </a:rPr>
                <a:t>xs:element</a:t>
              </a:r>
              <a:r>
                <a:rPr lang="es-ES" sz="1400" dirty="0">
                  <a:solidFill>
                    <a:srgbClr val="0070C0"/>
                  </a:solidFill>
                </a:rPr>
                <a:t>  </a:t>
              </a:r>
              <a:r>
                <a:rPr lang="es-ES" sz="1400" dirty="0" err="1">
                  <a:solidFill>
                    <a:srgbClr val="00CC00"/>
                  </a:solidFill>
                </a:rPr>
                <a:t>name</a:t>
              </a:r>
              <a:r>
                <a:rPr lang="es-ES" sz="1400" dirty="0">
                  <a:solidFill>
                    <a:srgbClr val="00CC00"/>
                  </a:solidFill>
                </a:rPr>
                <a:t>="</a:t>
              </a:r>
              <a:r>
                <a:rPr lang="es-ES" sz="1400" dirty="0">
                  <a:solidFill>
                    <a:srgbClr val="FF9900"/>
                  </a:solidFill>
                </a:rPr>
                <a:t>edad</a:t>
              </a:r>
              <a:r>
                <a:rPr lang="es-ES" sz="1400" dirty="0">
                  <a:solidFill>
                    <a:srgbClr val="00CC00"/>
                  </a:solidFill>
                </a:rPr>
                <a:t>"  </a:t>
              </a:r>
              <a:r>
                <a:rPr lang="es-ES" sz="1400" dirty="0" err="1">
                  <a:solidFill>
                    <a:srgbClr val="00CC00"/>
                  </a:solidFill>
                </a:rPr>
                <a:t>type</a:t>
              </a:r>
              <a:r>
                <a:rPr lang="es-ES" sz="1400" dirty="0">
                  <a:solidFill>
                    <a:srgbClr val="00CC00"/>
                  </a:solidFill>
                </a:rPr>
                <a:t>="</a:t>
              </a:r>
              <a:r>
                <a:rPr lang="es-ES" sz="1400" dirty="0" err="1">
                  <a:solidFill>
                    <a:srgbClr val="FF9900"/>
                  </a:solidFill>
                </a:rPr>
                <a:t>mayorEdad</a:t>
              </a:r>
              <a:r>
                <a:rPr lang="es-ES" sz="1400" dirty="0">
                  <a:solidFill>
                    <a:srgbClr val="00CC00"/>
                  </a:solidFill>
                </a:rPr>
                <a:t>"</a:t>
              </a:r>
              <a:r>
                <a:rPr lang="es-ES" sz="1400" dirty="0">
                  <a:solidFill>
                    <a:srgbClr val="0070C0"/>
                  </a:solidFill>
                </a:rPr>
                <a:t>/&gt;</a:t>
              </a:r>
              <a:endParaRPr lang="es-ES" sz="1400" b="1" dirty="0">
                <a:solidFill>
                  <a:srgbClr val="000000"/>
                </a:solidFill>
              </a:endParaRPr>
            </a:p>
          </p:txBody>
        </p:sp>
      </p:grpSp>
      <p:sp>
        <p:nvSpPr>
          <p:cNvPr id="28" name="CuadroTexto 27"/>
          <p:cNvSpPr txBox="1"/>
          <p:nvPr/>
        </p:nvSpPr>
        <p:spPr>
          <a:xfrm>
            <a:off x="2402796" y="5052420"/>
            <a:ext cx="371746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F51BBC"/>
                </a:solidFill>
              </a:rPr>
              <a:t>&lt;</a:t>
            </a:r>
            <a:r>
              <a:rPr lang="es-ES" sz="1400" dirty="0" err="1">
                <a:solidFill>
                  <a:srgbClr val="F51BBC"/>
                </a:solidFill>
              </a:rPr>
              <a:t>xs:simpleType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400" dirty="0">
                <a:solidFill>
                  <a:srgbClr val="F51BBC"/>
                </a:solidFill>
              </a:rPr>
              <a:t>          &lt;</a:t>
            </a:r>
            <a:r>
              <a:rPr lang="es-ES" sz="1400" dirty="0" err="1">
                <a:solidFill>
                  <a:srgbClr val="F51BBC"/>
                </a:solidFill>
              </a:rPr>
              <a:t>xs:restriction</a:t>
            </a:r>
            <a:r>
              <a:rPr lang="es-ES" sz="1400" dirty="0">
                <a:solidFill>
                  <a:srgbClr val="F51BBC"/>
                </a:solidFill>
              </a:rPr>
              <a:t> </a:t>
            </a:r>
            <a:r>
              <a:rPr lang="es-ES" sz="1400" dirty="0">
                <a:solidFill>
                  <a:srgbClr val="00CC00"/>
                </a:solidFill>
              </a:rPr>
              <a:t>base="</a:t>
            </a:r>
            <a:r>
              <a:rPr lang="es-ES" sz="1400" dirty="0" err="1">
                <a:solidFill>
                  <a:srgbClr val="FF9900"/>
                </a:solidFill>
              </a:rPr>
              <a:t>xs:integer</a:t>
            </a:r>
            <a:r>
              <a:rPr lang="es-ES" sz="1400" dirty="0">
                <a:solidFill>
                  <a:srgbClr val="00CC00"/>
                </a:solidFill>
              </a:rPr>
              <a:t>"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400" b="1" dirty="0">
                <a:solidFill>
                  <a:srgbClr val="F51BBC"/>
                </a:solidFill>
              </a:rPr>
              <a:t>               &lt;</a:t>
            </a:r>
            <a:r>
              <a:rPr lang="es-ES" sz="1400" b="1" dirty="0" err="1">
                <a:solidFill>
                  <a:srgbClr val="F51BBC"/>
                </a:solidFill>
              </a:rPr>
              <a:t>xs:minInclusive</a:t>
            </a:r>
            <a:r>
              <a:rPr lang="es-ES" sz="1400" b="1" dirty="0">
                <a:solidFill>
                  <a:srgbClr val="F51BBC"/>
                </a:solidFill>
              </a:rPr>
              <a:t> </a:t>
            </a:r>
            <a:r>
              <a:rPr lang="es-ES" sz="1400" b="1" dirty="0" err="1">
                <a:solidFill>
                  <a:srgbClr val="00CC00"/>
                </a:solidFill>
              </a:rPr>
              <a:t>value</a:t>
            </a:r>
            <a:r>
              <a:rPr lang="es-ES" sz="1400" b="1" dirty="0">
                <a:solidFill>
                  <a:srgbClr val="00CC00"/>
                </a:solidFill>
              </a:rPr>
              <a:t>="</a:t>
            </a:r>
            <a:r>
              <a:rPr lang="es-ES" sz="1400" b="1" dirty="0">
                <a:solidFill>
                  <a:srgbClr val="FF9900"/>
                </a:solidFill>
              </a:rPr>
              <a:t>18</a:t>
            </a:r>
            <a:r>
              <a:rPr lang="es-ES" sz="1400" b="1" dirty="0">
                <a:solidFill>
                  <a:srgbClr val="00CC00"/>
                </a:solidFill>
              </a:rPr>
              <a:t>"</a:t>
            </a:r>
            <a:r>
              <a:rPr lang="es-ES" sz="1400" b="1" dirty="0">
                <a:solidFill>
                  <a:srgbClr val="F51BBC"/>
                </a:solidFill>
              </a:rPr>
              <a:t>/&gt;</a:t>
            </a:r>
          </a:p>
          <a:p>
            <a:r>
              <a:rPr lang="es-ES" sz="1400" dirty="0">
                <a:solidFill>
                  <a:srgbClr val="F51BBC"/>
                </a:solidFill>
              </a:rPr>
              <a:t>          &lt;/</a:t>
            </a:r>
            <a:r>
              <a:rPr lang="es-ES" sz="1400" dirty="0" err="1">
                <a:solidFill>
                  <a:srgbClr val="F51BBC"/>
                </a:solidFill>
              </a:rPr>
              <a:t>xs:restriction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400" dirty="0">
                <a:solidFill>
                  <a:srgbClr val="F51BBC"/>
                </a:solidFill>
              </a:rPr>
              <a:t>&lt;/</a:t>
            </a:r>
            <a:r>
              <a:rPr lang="es-ES" sz="1400" dirty="0" err="1">
                <a:solidFill>
                  <a:srgbClr val="F51BBC"/>
                </a:solidFill>
              </a:rPr>
              <a:t>xs:simpleType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</a:p>
        </p:txBody>
      </p:sp>
      <p:sp>
        <p:nvSpPr>
          <p:cNvPr id="29" name="CuadroTexto 28"/>
          <p:cNvSpPr txBox="1"/>
          <p:nvPr/>
        </p:nvSpPr>
        <p:spPr>
          <a:xfrm>
            <a:off x="1917109" y="3254771"/>
            <a:ext cx="482022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F51BBC"/>
                </a:solidFill>
              </a:rPr>
              <a:t>&lt;</a:t>
            </a:r>
            <a:r>
              <a:rPr lang="es-ES" sz="1400" dirty="0" err="1">
                <a:solidFill>
                  <a:srgbClr val="F51BBC"/>
                </a:solidFill>
              </a:rPr>
              <a:t>xs:simpleType</a:t>
            </a:r>
            <a:r>
              <a:rPr lang="es-ES" sz="1400" dirty="0">
                <a:solidFill>
                  <a:srgbClr val="F51BBC"/>
                </a:solidFill>
              </a:rPr>
              <a:t>  </a:t>
            </a:r>
            <a:r>
              <a:rPr lang="es-ES" sz="1400" dirty="0" err="1">
                <a:solidFill>
                  <a:srgbClr val="00CC00"/>
                </a:solidFill>
              </a:rPr>
              <a:t>name</a:t>
            </a:r>
            <a:r>
              <a:rPr lang="es-ES" sz="1400" dirty="0">
                <a:solidFill>
                  <a:srgbClr val="00CC00"/>
                </a:solidFill>
              </a:rPr>
              <a:t>="</a:t>
            </a:r>
            <a:r>
              <a:rPr lang="es-ES" sz="1400" dirty="0" err="1">
                <a:solidFill>
                  <a:srgbClr val="FF9900"/>
                </a:solidFill>
              </a:rPr>
              <a:t>mayorEdad</a:t>
            </a:r>
            <a:r>
              <a:rPr lang="es-ES" sz="1400" dirty="0">
                <a:solidFill>
                  <a:srgbClr val="00CC00"/>
                </a:solidFill>
              </a:rPr>
              <a:t>"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400" dirty="0">
                <a:solidFill>
                  <a:srgbClr val="0070C0"/>
                </a:solidFill>
              </a:rPr>
              <a:t>        </a:t>
            </a:r>
            <a:r>
              <a:rPr lang="es-ES" sz="1400" dirty="0">
                <a:solidFill>
                  <a:srgbClr val="F51BBC"/>
                </a:solidFill>
              </a:rPr>
              <a:t>&lt;</a:t>
            </a:r>
            <a:r>
              <a:rPr lang="es-ES" sz="1400" dirty="0" err="1">
                <a:solidFill>
                  <a:srgbClr val="F51BBC"/>
                </a:solidFill>
              </a:rPr>
              <a:t>xs:restriction</a:t>
            </a:r>
            <a:r>
              <a:rPr lang="es-ES" sz="1400" dirty="0">
                <a:solidFill>
                  <a:srgbClr val="F51BBC"/>
                </a:solidFill>
              </a:rPr>
              <a:t> </a:t>
            </a:r>
            <a:r>
              <a:rPr lang="es-ES" sz="1400" dirty="0">
                <a:solidFill>
                  <a:srgbClr val="00CC00"/>
                </a:solidFill>
              </a:rPr>
              <a:t>base="</a:t>
            </a:r>
            <a:r>
              <a:rPr lang="es-ES" sz="1400" dirty="0" err="1">
                <a:solidFill>
                  <a:srgbClr val="FF9900"/>
                </a:solidFill>
              </a:rPr>
              <a:t>xs:integer</a:t>
            </a:r>
            <a:r>
              <a:rPr lang="es-ES" sz="1400" dirty="0">
                <a:solidFill>
                  <a:srgbClr val="00CC00"/>
                </a:solidFill>
              </a:rPr>
              <a:t>"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400" dirty="0">
                <a:solidFill>
                  <a:srgbClr val="0070C0"/>
                </a:solidFill>
              </a:rPr>
              <a:t> 	</a:t>
            </a:r>
            <a:r>
              <a:rPr lang="es-ES" sz="1400" b="1" dirty="0">
                <a:solidFill>
                  <a:srgbClr val="F51BBC"/>
                </a:solidFill>
              </a:rPr>
              <a:t>&lt;</a:t>
            </a:r>
            <a:r>
              <a:rPr lang="es-ES" sz="1400" b="1" dirty="0" err="1">
                <a:solidFill>
                  <a:srgbClr val="F51BBC"/>
                </a:solidFill>
              </a:rPr>
              <a:t>xs:minInclusive</a:t>
            </a:r>
            <a:r>
              <a:rPr lang="es-ES" sz="1400" b="1" dirty="0">
                <a:solidFill>
                  <a:srgbClr val="F51BBC"/>
                </a:solidFill>
              </a:rPr>
              <a:t> </a:t>
            </a:r>
            <a:r>
              <a:rPr lang="es-ES" sz="1400" b="1" dirty="0" err="1">
                <a:solidFill>
                  <a:srgbClr val="00CC00"/>
                </a:solidFill>
              </a:rPr>
              <a:t>value</a:t>
            </a:r>
            <a:r>
              <a:rPr lang="es-ES" sz="1400" b="1" dirty="0">
                <a:solidFill>
                  <a:srgbClr val="00CC00"/>
                </a:solidFill>
              </a:rPr>
              <a:t>="</a:t>
            </a:r>
            <a:r>
              <a:rPr lang="es-ES" sz="1400" b="1" dirty="0">
                <a:solidFill>
                  <a:srgbClr val="FF9900"/>
                </a:solidFill>
              </a:rPr>
              <a:t>18</a:t>
            </a:r>
            <a:r>
              <a:rPr lang="es-ES" sz="1400" b="1" dirty="0">
                <a:solidFill>
                  <a:srgbClr val="00CC00"/>
                </a:solidFill>
              </a:rPr>
              <a:t>"</a:t>
            </a:r>
            <a:r>
              <a:rPr lang="es-ES" sz="1400" b="1" dirty="0">
                <a:solidFill>
                  <a:srgbClr val="F51BBC"/>
                </a:solidFill>
              </a:rPr>
              <a:t>/&gt;</a:t>
            </a:r>
          </a:p>
          <a:p>
            <a:r>
              <a:rPr lang="es-ES" sz="1400" dirty="0">
                <a:solidFill>
                  <a:srgbClr val="F51BBC"/>
                </a:solidFill>
              </a:rPr>
              <a:t>        &lt;/</a:t>
            </a:r>
            <a:r>
              <a:rPr lang="es-ES" sz="1400" dirty="0" err="1">
                <a:solidFill>
                  <a:srgbClr val="F51BBC"/>
                </a:solidFill>
              </a:rPr>
              <a:t>xs:restriction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</a:p>
          <a:p>
            <a:r>
              <a:rPr lang="es-ES" sz="1400" dirty="0">
                <a:solidFill>
                  <a:srgbClr val="F51BBC"/>
                </a:solidFill>
              </a:rPr>
              <a:t>&lt;/</a:t>
            </a:r>
            <a:r>
              <a:rPr lang="es-ES" sz="1400" dirty="0" err="1">
                <a:solidFill>
                  <a:srgbClr val="F51BBC"/>
                </a:solidFill>
              </a:rPr>
              <a:t>xs:simpleType</a:t>
            </a:r>
            <a:r>
              <a:rPr lang="es-ES" sz="1400" dirty="0">
                <a:solidFill>
                  <a:srgbClr val="F51BBC"/>
                </a:solidFill>
              </a:rPr>
              <a:t>&gt;</a:t>
            </a:r>
            <a:endParaRPr lang="es-ES" sz="1400" b="1" dirty="0">
              <a:solidFill>
                <a:srgbClr val="F51BB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248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29156" y="45760"/>
            <a:ext cx="7487260" cy="563563"/>
          </a:xfrm>
        </p:spPr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Complejos</a:t>
            </a:r>
            <a:endParaRPr lang="en-US" sz="1400" dirty="0"/>
          </a:p>
        </p:txBody>
      </p:sp>
      <p:sp>
        <p:nvSpPr>
          <p:cNvPr id="42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6" name="Grupo 5"/>
          <p:cNvGrpSpPr/>
          <p:nvPr/>
        </p:nvGrpSpPr>
        <p:grpSpPr>
          <a:xfrm>
            <a:off x="2123728" y="1810452"/>
            <a:ext cx="5616624" cy="338554"/>
            <a:chOff x="1763688" y="1700808"/>
            <a:chExt cx="5616624" cy="338554"/>
          </a:xfrm>
        </p:grpSpPr>
        <p:sp>
          <p:nvSpPr>
            <p:cNvPr id="2" name="Rectángulo 1"/>
            <p:cNvSpPr/>
            <p:nvPr/>
          </p:nvSpPr>
          <p:spPr bwMode="auto">
            <a:xfrm>
              <a:off x="1763688" y="1700808"/>
              <a:ext cx="5616624" cy="338554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8" name="CuadroTexto 47"/>
            <p:cNvSpPr txBox="1"/>
            <p:nvPr/>
          </p:nvSpPr>
          <p:spPr>
            <a:xfrm>
              <a:off x="2332551" y="1700808"/>
              <a:ext cx="245547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&lt;edad&gt;</a:t>
              </a:r>
              <a:r>
                <a:rPr lang="es-ES" sz="1600" dirty="0">
                  <a:solidFill>
                    <a:srgbClr val="FF0000"/>
                  </a:solidFill>
                </a:rPr>
                <a:t>19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&lt;/edad&gt;</a:t>
              </a:r>
            </a:p>
          </p:txBody>
        </p:sp>
      </p:grpSp>
      <p:sp>
        <p:nvSpPr>
          <p:cNvPr id="8" name="CuadroTexto 7"/>
          <p:cNvSpPr txBox="1"/>
          <p:nvPr/>
        </p:nvSpPr>
        <p:spPr>
          <a:xfrm>
            <a:off x="1475656" y="1187460"/>
            <a:ext cx="6840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b="1" dirty="0"/>
              <a:t>T</a:t>
            </a:r>
            <a:r>
              <a:rPr lang="es-ES" sz="1800" dirty="0">
                <a:solidFill>
                  <a:srgbClr val="000000"/>
                </a:solidFill>
              </a:rPr>
              <a:t>ienen </a:t>
            </a:r>
            <a:r>
              <a:rPr lang="es-ES" sz="1800" b="1" dirty="0">
                <a:solidFill>
                  <a:srgbClr val="FF0000"/>
                </a:solidFill>
              </a:rPr>
              <a:t>atributos </a:t>
            </a:r>
            <a:r>
              <a:rPr lang="es-ES" sz="1800" b="1" dirty="0"/>
              <a:t>o</a:t>
            </a:r>
            <a:r>
              <a:rPr lang="es-ES" sz="1800" b="1" dirty="0">
                <a:solidFill>
                  <a:srgbClr val="FF0000"/>
                </a:solidFill>
              </a:rPr>
              <a:t> elementos hijo </a:t>
            </a:r>
            <a:r>
              <a:rPr lang="es-ES" sz="1800" dirty="0">
                <a:solidFill>
                  <a:srgbClr val="000000"/>
                </a:solidFill>
              </a:rPr>
              <a:t>o </a:t>
            </a:r>
            <a:r>
              <a:rPr lang="es-ES" sz="1800" b="1" dirty="0">
                <a:solidFill>
                  <a:srgbClr val="FF0000"/>
                </a:solidFill>
              </a:rPr>
              <a:t>ambos</a:t>
            </a:r>
          </a:p>
        </p:txBody>
      </p:sp>
      <p:grpSp>
        <p:nvGrpSpPr>
          <p:cNvPr id="4" name="Grupo 3"/>
          <p:cNvGrpSpPr/>
          <p:nvPr/>
        </p:nvGrpSpPr>
        <p:grpSpPr>
          <a:xfrm>
            <a:off x="2123728" y="2270266"/>
            <a:ext cx="5616624" cy="338554"/>
            <a:chOff x="1763688" y="2174004"/>
            <a:chExt cx="5616624" cy="338554"/>
          </a:xfrm>
        </p:grpSpPr>
        <p:sp>
          <p:nvSpPr>
            <p:cNvPr id="13" name="Rectángulo 12"/>
            <p:cNvSpPr/>
            <p:nvPr/>
          </p:nvSpPr>
          <p:spPr bwMode="auto">
            <a:xfrm>
              <a:off x="1763688" y="2174004"/>
              <a:ext cx="5616624" cy="338554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" name="CuadroTexto 9"/>
            <p:cNvSpPr txBox="1"/>
            <p:nvPr/>
          </p:nvSpPr>
          <p:spPr>
            <a:xfrm>
              <a:off x="2320142" y="2174004"/>
              <a:ext cx="43400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&lt;matricula </a:t>
              </a:r>
              <a:r>
                <a:rPr lang="es-ES" sz="1600" dirty="0" err="1">
                  <a:solidFill>
                    <a:srgbClr val="33CC33"/>
                  </a:solidFill>
                </a:rPr>
                <a:t>pais</a:t>
              </a:r>
              <a:r>
                <a:rPr lang="es-ES" sz="1600" dirty="0">
                  <a:solidFill>
                    <a:srgbClr val="33CC33"/>
                  </a:solidFill>
                </a:rPr>
                <a:t>="</a:t>
              </a:r>
              <a:r>
                <a:rPr lang="es-ES" sz="1600" dirty="0" err="1">
                  <a:solidFill>
                    <a:srgbClr val="33CC33"/>
                  </a:solidFill>
                </a:rPr>
                <a:t>esp</a:t>
              </a:r>
              <a:r>
                <a:rPr lang="es-ES" sz="1600" dirty="0">
                  <a:solidFill>
                    <a:srgbClr val="33CC33"/>
                  </a:solidFill>
                </a:rPr>
                <a:t>"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  <a:r>
                <a:rPr lang="es-ES" sz="1600" dirty="0">
                  <a:solidFill>
                    <a:srgbClr val="FF0000"/>
                  </a:solidFill>
                </a:rPr>
                <a:t>5674-CFR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&lt;/matricula&gt;</a:t>
              </a:r>
            </a:p>
          </p:txBody>
        </p:sp>
      </p:grpSp>
      <p:grpSp>
        <p:nvGrpSpPr>
          <p:cNvPr id="5" name="Grupo 4"/>
          <p:cNvGrpSpPr/>
          <p:nvPr/>
        </p:nvGrpSpPr>
        <p:grpSpPr>
          <a:xfrm>
            <a:off x="2123728" y="2760858"/>
            <a:ext cx="5616624" cy="855186"/>
            <a:chOff x="1763688" y="2651165"/>
            <a:chExt cx="5616624" cy="855186"/>
          </a:xfrm>
        </p:grpSpPr>
        <p:sp>
          <p:nvSpPr>
            <p:cNvPr id="14" name="Rectángulo 13"/>
            <p:cNvSpPr/>
            <p:nvPr/>
          </p:nvSpPr>
          <p:spPr bwMode="auto">
            <a:xfrm>
              <a:off x="1763688" y="2651165"/>
              <a:ext cx="5616624" cy="855186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" name="CuadroTexto 10"/>
            <p:cNvSpPr txBox="1"/>
            <p:nvPr/>
          </p:nvSpPr>
          <p:spPr>
            <a:xfrm>
              <a:off x="2339752" y="2662778"/>
              <a:ext cx="47933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&lt;padre&gt;</a:t>
              </a:r>
            </a:p>
            <a:p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    &lt;hijo&gt;</a:t>
              </a:r>
              <a:r>
                <a:rPr lang="es-ES" sz="1600" dirty="0">
                  <a:solidFill>
                    <a:srgbClr val="FF0000"/>
                  </a:solidFill>
                </a:rPr>
                <a:t>5674-CFR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&lt;/hijo&gt;</a:t>
              </a:r>
              <a:endParaRPr lang="es-ES" sz="1600" dirty="0">
                <a:solidFill>
                  <a:srgbClr val="FF0000"/>
                </a:solidFill>
              </a:endParaRPr>
            </a:p>
            <a:p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&lt;/padre&gt;</a:t>
              </a:r>
            </a:p>
          </p:txBody>
        </p:sp>
      </p:grpSp>
      <p:sp>
        <p:nvSpPr>
          <p:cNvPr id="15" name="52 CuadroTexto"/>
          <p:cNvSpPr txBox="1"/>
          <p:nvPr/>
        </p:nvSpPr>
        <p:spPr>
          <a:xfrm>
            <a:off x="2132291" y="2239488"/>
            <a:ext cx="4074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rgbClr val="00B050"/>
                </a:solidFill>
                <a:latin typeface="+mn-lt"/>
              </a:rPr>
              <a:t>√</a:t>
            </a:r>
          </a:p>
        </p:txBody>
      </p:sp>
      <p:sp>
        <p:nvSpPr>
          <p:cNvPr id="17" name="53 Rectángulo"/>
          <p:cNvSpPr/>
          <p:nvPr/>
        </p:nvSpPr>
        <p:spPr>
          <a:xfrm>
            <a:off x="2153932" y="1783458"/>
            <a:ext cx="364202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100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0" name="52 CuadroTexto"/>
          <p:cNvSpPr txBox="1"/>
          <p:nvPr/>
        </p:nvSpPr>
        <p:spPr>
          <a:xfrm>
            <a:off x="2132291" y="2731413"/>
            <a:ext cx="4074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rgbClr val="00B050"/>
                </a:solidFill>
                <a:latin typeface="+mn-lt"/>
              </a:rPr>
              <a:t>√</a:t>
            </a:r>
          </a:p>
        </p:txBody>
      </p:sp>
      <p:sp>
        <p:nvSpPr>
          <p:cNvPr id="21" name="53 Rectángulo"/>
          <p:cNvSpPr/>
          <p:nvPr/>
        </p:nvSpPr>
        <p:spPr>
          <a:xfrm>
            <a:off x="2153932" y="2977381"/>
            <a:ext cx="364202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100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2" name="CuadroTexto 21"/>
          <p:cNvSpPr txBox="1"/>
          <p:nvPr/>
        </p:nvSpPr>
        <p:spPr>
          <a:xfrm>
            <a:off x="409488" y="2239488"/>
            <a:ext cx="146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b="1" dirty="0">
                <a:solidFill>
                  <a:srgbClr val="FF0000"/>
                </a:solidFill>
              </a:rPr>
              <a:t>atributos</a:t>
            </a:r>
          </a:p>
        </p:txBody>
      </p:sp>
      <p:sp>
        <p:nvSpPr>
          <p:cNvPr id="23" name="CuadroTexto 22"/>
          <p:cNvSpPr txBox="1"/>
          <p:nvPr/>
        </p:nvSpPr>
        <p:spPr>
          <a:xfrm>
            <a:off x="232269" y="2746802"/>
            <a:ext cx="1917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b="1" dirty="0">
                <a:solidFill>
                  <a:srgbClr val="FF0000"/>
                </a:solidFill>
              </a:rPr>
              <a:t>elementos hijo</a:t>
            </a:r>
          </a:p>
        </p:txBody>
      </p:sp>
      <p:grpSp>
        <p:nvGrpSpPr>
          <p:cNvPr id="24" name="Grupo 23"/>
          <p:cNvGrpSpPr/>
          <p:nvPr/>
        </p:nvGrpSpPr>
        <p:grpSpPr>
          <a:xfrm>
            <a:off x="2123728" y="3756706"/>
            <a:ext cx="5616624" cy="1184462"/>
            <a:chOff x="1763688" y="2651165"/>
            <a:chExt cx="5616624" cy="1184462"/>
          </a:xfrm>
        </p:grpSpPr>
        <p:sp>
          <p:nvSpPr>
            <p:cNvPr id="25" name="Rectángulo 24"/>
            <p:cNvSpPr/>
            <p:nvPr/>
          </p:nvSpPr>
          <p:spPr bwMode="auto">
            <a:xfrm>
              <a:off x="1763688" y="2651165"/>
              <a:ext cx="5616624" cy="1184462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6" name="CuadroTexto 25"/>
            <p:cNvSpPr txBox="1"/>
            <p:nvPr/>
          </p:nvSpPr>
          <p:spPr>
            <a:xfrm>
              <a:off x="2339752" y="2662778"/>
              <a:ext cx="479332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&lt;medidas </a:t>
              </a:r>
              <a:r>
                <a:rPr lang="es-ES" sz="1600" dirty="0">
                  <a:solidFill>
                    <a:srgbClr val="33CC33"/>
                  </a:solidFill>
                </a:rPr>
                <a:t>unidad="cm"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</a:p>
            <a:p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    &lt;ancho&gt;</a:t>
              </a:r>
              <a:r>
                <a:rPr lang="es-ES" sz="1600" dirty="0">
                  <a:solidFill>
                    <a:srgbClr val="FF0000"/>
                  </a:solidFill>
                </a:rPr>
                <a:t>54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&lt;/alto&gt;</a:t>
              </a:r>
            </a:p>
            <a:p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    &lt;alto&gt;</a:t>
              </a:r>
              <a:r>
                <a:rPr lang="es-ES" sz="1600" dirty="0">
                  <a:solidFill>
                    <a:srgbClr val="FF0000"/>
                  </a:solidFill>
                </a:rPr>
                <a:t>15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&lt;/alto&gt;</a:t>
              </a:r>
              <a:endParaRPr lang="es-ES" sz="1600" dirty="0">
                <a:solidFill>
                  <a:srgbClr val="FF0000"/>
                </a:solidFill>
              </a:endParaRPr>
            </a:p>
            <a:p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&lt;/padre&gt;</a:t>
              </a:r>
            </a:p>
          </p:txBody>
        </p:sp>
      </p:grpSp>
      <p:sp>
        <p:nvSpPr>
          <p:cNvPr id="27" name="52 CuadroTexto"/>
          <p:cNvSpPr txBox="1"/>
          <p:nvPr/>
        </p:nvSpPr>
        <p:spPr>
          <a:xfrm>
            <a:off x="2132291" y="3727261"/>
            <a:ext cx="4074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rgbClr val="00B050"/>
                </a:solidFill>
                <a:latin typeface="+mn-lt"/>
              </a:rPr>
              <a:t>√</a:t>
            </a:r>
          </a:p>
        </p:txBody>
      </p:sp>
      <p:sp>
        <p:nvSpPr>
          <p:cNvPr id="29" name="CuadroTexto 28"/>
          <p:cNvSpPr txBox="1"/>
          <p:nvPr/>
        </p:nvSpPr>
        <p:spPr>
          <a:xfrm>
            <a:off x="194240" y="3587429"/>
            <a:ext cx="1955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b="1" dirty="0">
                <a:solidFill>
                  <a:srgbClr val="FF0000"/>
                </a:solidFill>
              </a:rPr>
              <a:t>elementos hijo </a:t>
            </a:r>
            <a:br>
              <a:rPr lang="es-ES" sz="1800" b="1" dirty="0">
                <a:solidFill>
                  <a:srgbClr val="FF0000"/>
                </a:solidFill>
              </a:rPr>
            </a:br>
            <a:r>
              <a:rPr lang="es-ES" sz="1800" dirty="0">
                <a:solidFill>
                  <a:srgbClr val="000000"/>
                </a:solidFill>
              </a:rPr>
              <a:t>y </a:t>
            </a:r>
            <a:r>
              <a:rPr lang="es-ES" sz="1800" b="1" dirty="0">
                <a:solidFill>
                  <a:srgbClr val="FF0000"/>
                </a:solidFill>
              </a:rPr>
              <a:t>atributos</a:t>
            </a:r>
          </a:p>
        </p:txBody>
      </p:sp>
      <p:sp>
        <p:nvSpPr>
          <p:cNvPr id="30" name="53 Rectángulo"/>
          <p:cNvSpPr/>
          <p:nvPr/>
        </p:nvSpPr>
        <p:spPr>
          <a:xfrm>
            <a:off x="2149651" y="3972817"/>
            <a:ext cx="364202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100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31" name="53 Rectángulo"/>
          <p:cNvSpPr/>
          <p:nvPr/>
        </p:nvSpPr>
        <p:spPr>
          <a:xfrm>
            <a:off x="2150623" y="4175975"/>
            <a:ext cx="364202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100" b="1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834455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20" grpId="0"/>
      <p:bldP spid="21" grpId="0"/>
      <p:bldP spid="22" grpId="0"/>
      <p:bldP spid="23" grpId="0"/>
      <p:bldP spid="27" grpId="0"/>
      <p:bldP spid="29" grpId="0"/>
      <p:bldP spid="30" grpId="0"/>
      <p:bldP spid="3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/>
          <p:cNvGrpSpPr/>
          <p:nvPr/>
        </p:nvGrpSpPr>
        <p:grpSpPr>
          <a:xfrm>
            <a:off x="1150834" y="3827116"/>
            <a:ext cx="7200800" cy="2338188"/>
            <a:chOff x="1150834" y="3827116"/>
            <a:chExt cx="7200800" cy="2338188"/>
          </a:xfrm>
        </p:grpSpPr>
        <p:grpSp>
          <p:nvGrpSpPr>
            <p:cNvPr id="4" name="Grupo 3"/>
            <p:cNvGrpSpPr/>
            <p:nvPr/>
          </p:nvGrpSpPr>
          <p:grpSpPr>
            <a:xfrm>
              <a:off x="1150834" y="3827116"/>
              <a:ext cx="7200800" cy="2338188"/>
              <a:chOff x="1150834" y="3827116"/>
              <a:chExt cx="7200800" cy="2338188"/>
            </a:xfrm>
          </p:grpSpPr>
          <p:sp>
            <p:nvSpPr>
              <p:cNvPr id="44" name="24 Esquina doblada"/>
              <p:cNvSpPr/>
              <p:nvPr/>
            </p:nvSpPr>
            <p:spPr bwMode="auto">
              <a:xfrm>
                <a:off x="1150834" y="4689253"/>
                <a:ext cx="6373494" cy="1476051"/>
              </a:xfrm>
              <a:prstGeom prst="foldedCorner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57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_tradnl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grpSp>
            <p:nvGrpSpPr>
              <p:cNvPr id="13" name="Grupo 12"/>
              <p:cNvGrpSpPr/>
              <p:nvPr/>
            </p:nvGrpSpPr>
            <p:grpSpPr>
              <a:xfrm>
                <a:off x="1511660" y="4170472"/>
                <a:ext cx="5616624" cy="338554"/>
                <a:chOff x="1295636" y="3738424"/>
                <a:chExt cx="5616624" cy="338554"/>
              </a:xfrm>
            </p:grpSpPr>
            <p:sp>
              <p:nvSpPr>
                <p:cNvPr id="40" name="Rectángulo 39"/>
                <p:cNvSpPr/>
                <p:nvPr/>
              </p:nvSpPr>
              <p:spPr bwMode="auto">
                <a:xfrm>
                  <a:off x="1295636" y="3738424"/>
                  <a:ext cx="5616624" cy="338554"/>
                </a:xfrm>
                <a:prstGeom prst="rect">
                  <a:avLst/>
                </a:prstGeom>
                <a:solidFill>
                  <a:srgbClr val="FFFFCC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57263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s-ES" sz="19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1" name="CuadroTexto 40"/>
                <p:cNvSpPr txBox="1"/>
                <p:nvPr/>
              </p:nvSpPr>
              <p:spPr>
                <a:xfrm>
                  <a:off x="1942923" y="3738424"/>
                  <a:ext cx="431538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1600" dirty="0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</a:rPr>
                    <a:t>&lt;edad </a:t>
                  </a:r>
                  <a:r>
                    <a:rPr lang="es-ES" sz="1600" dirty="0">
                      <a:solidFill>
                        <a:srgbClr val="00CC00"/>
                      </a:solidFill>
                    </a:rPr>
                    <a:t>unidad="</a:t>
                  </a:r>
                  <a:r>
                    <a:rPr lang="es-ES" sz="1600" dirty="0">
                      <a:solidFill>
                        <a:srgbClr val="FF9900"/>
                      </a:solidFill>
                    </a:rPr>
                    <a:t>años</a:t>
                  </a:r>
                  <a:r>
                    <a:rPr lang="es-ES" sz="1600" dirty="0">
                      <a:solidFill>
                        <a:srgbClr val="00CC00"/>
                      </a:solidFill>
                    </a:rPr>
                    <a:t>"</a:t>
                  </a:r>
                  <a:r>
                    <a:rPr lang="es-ES" sz="1600" dirty="0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</a:rPr>
                    <a:t>&gt;</a:t>
                  </a:r>
                  <a:r>
                    <a:rPr lang="es-ES" sz="1600" dirty="0">
                      <a:solidFill>
                        <a:srgbClr val="FF0000"/>
                      </a:solidFill>
                    </a:rPr>
                    <a:t>15</a:t>
                  </a:r>
                  <a:r>
                    <a:rPr lang="es-ES" sz="1600" dirty="0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</a:rPr>
                    <a:t>&lt;/edad&gt;</a:t>
                  </a:r>
                </a:p>
              </p:txBody>
            </p:sp>
          </p:grpSp>
          <p:sp>
            <p:nvSpPr>
              <p:cNvPr id="45" name="Rectángulo 44"/>
              <p:cNvSpPr/>
              <p:nvPr/>
            </p:nvSpPr>
            <p:spPr>
              <a:xfrm>
                <a:off x="1383430" y="4833460"/>
                <a:ext cx="6968204" cy="12448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s-ES" sz="1400" dirty="0">
                    <a:solidFill>
                      <a:srgbClr val="005FF3"/>
                    </a:solidFill>
                    <a:latin typeface="+mj-lt"/>
                    <a:ea typeface="Calibri" panose="020F0502020204030204" pitchFamily="34" charset="0"/>
                    <a:cs typeface="CourierNewPSMT-Identity-H"/>
                  </a:rPr>
                  <a:t>&lt;</a:t>
                </a:r>
                <a:r>
                  <a:rPr lang="es-ES" sz="1400" dirty="0" err="1">
                    <a:solidFill>
                      <a:srgbClr val="003297"/>
                    </a:solidFill>
                    <a:latin typeface="+mj-lt"/>
                    <a:ea typeface="Calibri" panose="020F0502020204030204" pitchFamily="34" charset="0"/>
                    <a:cs typeface="CourierNewPSMT-Identity-H"/>
                  </a:rPr>
                  <a:t>xs:element</a:t>
                </a:r>
                <a:r>
                  <a:rPr lang="es-ES" sz="1400" dirty="0">
                    <a:solidFill>
                      <a:srgbClr val="003297"/>
                    </a:solidFill>
                    <a:latin typeface="+mj-lt"/>
                    <a:ea typeface="Calibri" panose="020F0502020204030204" pitchFamily="34" charset="0"/>
                    <a:cs typeface="CourierNewPSMT-Identity-H"/>
                  </a:rPr>
                  <a:t> </a:t>
                </a:r>
                <a:r>
                  <a:rPr lang="es-ES" sz="1400" dirty="0" err="1">
                    <a:solidFill>
                      <a:srgbClr val="00CC00"/>
                    </a:solidFill>
                    <a:latin typeface="+mj-lt"/>
                    <a:ea typeface="Calibri" panose="020F0502020204030204" pitchFamily="34" charset="0"/>
                    <a:cs typeface="CourierNewPSMT-Identity-H"/>
                  </a:rPr>
                  <a:t>name</a:t>
                </a:r>
                <a:r>
                  <a:rPr lang="es-ES" sz="1400" dirty="0">
                    <a:solidFill>
                      <a:srgbClr val="00CC00"/>
                    </a:solidFill>
                    <a:latin typeface="+mj-lt"/>
                    <a:ea typeface="Calibri" panose="020F0502020204030204" pitchFamily="34" charset="0"/>
                    <a:cs typeface="CourierNewPSMT-Identity-H"/>
                  </a:rPr>
                  <a:t>="</a:t>
                </a:r>
                <a:r>
                  <a:rPr lang="es-ES" sz="1400" dirty="0">
                    <a:solidFill>
                      <a:srgbClr val="FF9900"/>
                    </a:solidFill>
                    <a:latin typeface="+mj-lt"/>
                    <a:ea typeface="Calibri" panose="020F0502020204030204" pitchFamily="34" charset="0"/>
                    <a:cs typeface="CourierNewPSMT-Identity-H"/>
                  </a:rPr>
                  <a:t>edad</a:t>
                </a:r>
                <a:r>
                  <a:rPr lang="es-ES" sz="1400" dirty="0">
                    <a:solidFill>
                      <a:srgbClr val="00CC00"/>
                    </a:solidFill>
                    <a:latin typeface="+mj-lt"/>
                    <a:ea typeface="Calibri" panose="020F0502020204030204" pitchFamily="34" charset="0"/>
                    <a:cs typeface="CourierNewPSMT-Identity-H"/>
                  </a:rPr>
                  <a:t>"</a:t>
                </a:r>
                <a:r>
                  <a:rPr lang="es-ES" sz="1400" dirty="0">
                    <a:solidFill>
                      <a:srgbClr val="005FF3"/>
                    </a:solidFill>
                    <a:latin typeface="+mj-lt"/>
                    <a:ea typeface="Calibri" panose="020F0502020204030204" pitchFamily="34" charset="0"/>
                    <a:cs typeface="CourierNewPSMT-Identity-H"/>
                  </a:rPr>
                  <a:t>&gt;</a:t>
                </a:r>
                <a:endParaRPr lang="es-ES" sz="1400" dirty="0">
                  <a:latin typeface="+mj-lt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s-ES" sz="1400" dirty="0">
                    <a:solidFill>
                      <a:srgbClr val="005FF3"/>
                    </a:solidFill>
                    <a:latin typeface="+mj-lt"/>
                    <a:ea typeface="Calibri" panose="020F0502020204030204" pitchFamily="34" charset="0"/>
                    <a:cs typeface="CourierNewPSMT-Identity-H"/>
                  </a:rPr>
                  <a:t>      &lt;</a:t>
                </a:r>
                <a:r>
                  <a:rPr lang="es-ES" sz="1400" dirty="0" err="1">
                    <a:solidFill>
                      <a:srgbClr val="003297"/>
                    </a:solidFill>
                    <a:latin typeface="+mj-lt"/>
                    <a:ea typeface="Calibri" panose="020F0502020204030204" pitchFamily="34" charset="0"/>
                    <a:cs typeface="CourierNewPSMT-Identity-H"/>
                  </a:rPr>
                  <a:t>xs:</a:t>
                </a:r>
                <a:r>
                  <a:rPr lang="es-ES" sz="1400" dirty="0" err="1">
                    <a:solidFill>
                      <a:srgbClr val="00B0F0"/>
                    </a:solidFill>
                    <a:latin typeface="+mj-lt"/>
                    <a:ea typeface="Calibri" panose="020F0502020204030204" pitchFamily="34" charset="0"/>
                    <a:cs typeface="CourierNewPSMT-Identity-H"/>
                  </a:rPr>
                  <a:t>complexType</a:t>
                </a:r>
                <a:r>
                  <a:rPr lang="es-ES" sz="1400" dirty="0">
                    <a:solidFill>
                      <a:srgbClr val="003297"/>
                    </a:solidFill>
                    <a:latin typeface="+mj-lt"/>
                    <a:ea typeface="Calibri" panose="020F0502020204030204" pitchFamily="34" charset="0"/>
                    <a:cs typeface="CourierNewPSMT-Identity-H"/>
                  </a:rPr>
                  <a:t>                         </a:t>
                </a:r>
                <a:r>
                  <a:rPr lang="es-ES" sz="1400" dirty="0">
                    <a:solidFill>
                      <a:srgbClr val="005FF3"/>
                    </a:solidFill>
                    <a:latin typeface="+mj-lt"/>
                    <a:ea typeface="Calibri" panose="020F0502020204030204" pitchFamily="34" charset="0"/>
                    <a:cs typeface="CourierNewPSMT-Identity-H"/>
                  </a:rPr>
                  <a:t>&gt;</a:t>
                </a:r>
                <a:endParaRPr lang="es-ES" sz="1400" dirty="0">
                  <a:latin typeface="+mj-lt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s-ES" sz="1400" dirty="0">
                    <a:solidFill>
                      <a:srgbClr val="00CC00"/>
                    </a:solidFill>
                    <a:latin typeface="+mj-lt"/>
                    <a:ea typeface="Calibri" panose="020F0502020204030204" pitchFamily="34" charset="0"/>
                    <a:cs typeface="CourierNewPSMT-Identity-H"/>
                  </a:rPr>
                  <a:t>                                 </a:t>
                </a:r>
                <a:endParaRPr lang="es-ES" sz="1400" dirty="0">
                  <a:latin typeface="+mj-lt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s-ES" sz="1400" dirty="0">
                    <a:solidFill>
                      <a:srgbClr val="005FF3"/>
                    </a:solidFill>
                    <a:latin typeface="+mj-lt"/>
                    <a:ea typeface="Calibri" panose="020F0502020204030204" pitchFamily="34" charset="0"/>
                    <a:cs typeface="CourierNewPSMT-Identity-H"/>
                  </a:rPr>
                  <a:t>      &lt;/</a:t>
                </a:r>
                <a:r>
                  <a:rPr lang="es-ES" sz="1400" dirty="0" err="1">
                    <a:solidFill>
                      <a:srgbClr val="003297"/>
                    </a:solidFill>
                    <a:latin typeface="+mj-lt"/>
                    <a:ea typeface="Calibri" panose="020F0502020204030204" pitchFamily="34" charset="0"/>
                    <a:cs typeface="CourierNewPSMT-Identity-H"/>
                  </a:rPr>
                  <a:t>xs:complexType</a:t>
                </a:r>
                <a:r>
                  <a:rPr lang="es-ES" sz="1400" dirty="0">
                    <a:solidFill>
                      <a:srgbClr val="005FF3"/>
                    </a:solidFill>
                    <a:latin typeface="+mj-lt"/>
                    <a:ea typeface="Calibri" panose="020F0502020204030204" pitchFamily="34" charset="0"/>
                    <a:cs typeface="CourierNewPSMT-Identity-H"/>
                  </a:rPr>
                  <a:t>&gt;</a:t>
                </a:r>
                <a:endParaRPr lang="es-ES" sz="1400" dirty="0">
                  <a:latin typeface="+mj-lt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s-ES" sz="1400" dirty="0">
                    <a:solidFill>
                      <a:srgbClr val="005FF3"/>
                    </a:solidFill>
                    <a:latin typeface="+mj-lt"/>
                    <a:ea typeface="Calibri" panose="020F0502020204030204" pitchFamily="34" charset="0"/>
                    <a:cs typeface="CourierNewPSMT-Identity-H"/>
                  </a:rPr>
                  <a:t>&lt;/</a:t>
                </a:r>
                <a:r>
                  <a:rPr lang="es-ES" sz="1400" dirty="0" err="1">
                    <a:solidFill>
                      <a:srgbClr val="003297"/>
                    </a:solidFill>
                    <a:latin typeface="+mj-lt"/>
                    <a:ea typeface="Calibri" panose="020F0502020204030204" pitchFamily="34" charset="0"/>
                    <a:cs typeface="CourierNewPSMT-Identity-H"/>
                  </a:rPr>
                  <a:t>xs:element</a:t>
                </a:r>
                <a:r>
                  <a:rPr lang="es-ES" sz="1400" dirty="0">
                    <a:solidFill>
                      <a:srgbClr val="005FF3"/>
                    </a:solidFill>
                    <a:latin typeface="+mj-lt"/>
                    <a:ea typeface="Calibri" panose="020F0502020204030204" pitchFamily="34" charset="0"/>
                    <a:cs typeface="CourierNewPSMT-Identity-H"/>
                  </a:rPr>
                  <a:t>&gt;</a:t>
                </a:r>
                <a:endParaRPr lang="es-ES" sz="1400" dirty="0">
                  <a:latin typeface="+mj-lt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CuadroTexto 33"/>
              <p:cNvSpPr txBox="1"/>
              <p:nvPr/>
            </p:nvSpPr>
            <p:spPr>
              <a:xfrm>
                <a:off x="1529734" y="3827116"/>
                <a:ext cx="561662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600" dirty="0"/>
                  <a:t>Contenido genérico (sin tipo)</a:t>
                </a:r>
              </a:p>
            </p:txBody>
          </p:sp>
        </p:grpSp>
        <p:sp>
          <p:nvSpPr>
            <p:cNvPr id="63" name="Rectángulo 62"/>
            <p:cNvSpPr/>
            <p:nvPr/>
          </p:nvSpPr>
          <p:spPr>
            <a:xfrm>
              <a:off x="1386460" y="5302601"/>
              <a:ext cx="6228692" cy="3228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0"/>
                </a:spcAft>
              </a:pPr>
              <a:r>
                <a:rPr lang="es-ES" sz="1400" dirty="0">
                  <a:solidFill>
                    <a:srgbClr val="005FF3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            &lt;</a:t>
              </a:r>
              <a:r>
                <a:rPr lang="es-ES" sz="1400" dirty="0" err="1">
                  <a:solidFill>
                    <a:srgbClr val="003297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xs:attribute</a:t>
              </a:r>
              <a:r>
                <a:rPr lang="es-ES" sz="1400" dirty="0">
                  <a:solidFill>
                    <a:srgbClr val="003297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 </a:t>
              </a:r>
              <a:r>
                <a:rPr lang="es-ES" sz="1400" dirty="0" err="1">
                  <a:solidFill>
                    <a:srgbClr val="00CC00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name</a:t>
              </a:r>
              <a:r>
                <a:rPr lang="es-ES" sz="1400" dirty="0">
                  <a:solidFill>
                    <a:srgbClr val="00CC00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="</a:t>
              </a:r>
              <a:r>
                <a:rPr lang="es-ES" sz="1400" dirty="0">
                  <a:solidFill>
                    <a:srgbClr val="FF9900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unidad</a:t>
              </a:r>
              <a:r>
                <a:rPr lang="es-ES" sz="1400" dirty="0">
                  <a:solidFill>
                    <a:srgbClr val="00CC00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" </a:t>
              </a:r>
              <a:r>
                <a:rPr lang="es-ES" sz="1400" dirty="0" err="1">
                  <a:solidFill>
                    <a:srgbClr val="00CC00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type</a:t>
              </a:r>
              <a:r>
                <a:rPr lang="es-ES" sz="1400" dirty="0">
                  <a:solidFill>
                    <a:srgbClr val="00CC00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="</a:t>
              </a:r>
              <a:r>
                <a:rPr lang="es-ES" sz="1400" dirty="0" err="1">
                  <a:solidFill>
                    <a:srgbClr val="FF9900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xs:string</a:t>
              </a:r>
              <a:r>
                <a:rPr lang="es-ES" sz="1400" dirty="0">
                  <a:solidFill>
                    <a:srgbClr val="00CC00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"                               </a:t>
              </a:r>
              <a:r>
                <a:rPr lang="es-ES" sz="1400" dirty="0">
                  <a:solidFill>
                    <a:srgbClr val="005FF3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/&gt;</a:t>
              </a:r>
              <a:endParaRPr lang="es-ES" sz="14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45760"/>
            <a:ext cx="7487260" cy="563563"/>
          </a:xfrm>
        </p:spPr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Complejos</a:t>
            </a:r>
            <a:endParaRPr lang="en-US" sz="1400" dirty="0"/>
          </a:p>
        </p:txBody>
      </p:sp>
      <p:sp>
        <p:nvSpPr>
          <p:cNvPr id="42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1511660" y="1597687"/>
            <a:ext cx="5616624" cy="338554"/>
            <a:chOff x="1764474" y="1268760"/>
            <a:chExt cx="5616624" cy="338554"/>
          </a:xfrm>
        </p:grpSpPr>
        <p:sp>
          <p:nvSpPr>
            <p:cNvPr id="2" name="Rectángulo 1"/>
            <p:cNvSpPr/>
            <p:nvPr/>
          </p:nvSpPr>
          <p:spPr bwMode="auto">
            <a:xfrm>
              <a:off x="1764474" y="1268760"/>
              <a:ext cx="5616624" cy="338554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8" name="CuadroTexto 47"/>
            <p:cNvSpPr txBox="1"/>
            <p:nvPr/>
          </p:nvSpPr>
          <p:spPr>
            <a:xfrm>
              <a:off x="2411761" y="1268760"/>
              <a:ext cx="43153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&lt;edad </a:t>
              </a:r>
              <a:r>
                <a:rPr lang="es-ES" sz="1600" dirty="0">
                  <a:solidFill>
                    <a:srgbClr val="00CC00"/>
                  </a:solidFill>
                </a:rPr>
                <a:t>unidad="</a:t>
              </a:r>
              <a:r>
                <a:rPr lang="es-ES" sz="1600" dirty="0">
                  <a:solidFill>
                    <a:srgbClr val="FF9900"/>
                  </a:solidFill>
                </a:rPr>
                <a:t>años</a:t>
              </a:r>
              <a:r>
                <a:rPr lang="es-ES" sz="1600" dirty="0">
                  <a:solidFill>
                    <a:srgbClr val="00CC00"/>
                  </a:solidFill>
                </a:rPr>
                <a:t>"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&gt;&lt;/edad&gt;</a:t>
              </a:r>
            </a:p>
          </p:txBody>
        </p:sp>
      </p:grpSp>
      <p:sp>
        <p:nvSpPr>
          <p:cNvPr id="8" name="CuadroTexto 7"/>
          <p:cNvSpPr txBox="1"/>
          <p:nvPr/>
        </p:nvSpPr>
        <p:spPr>
          <a:xfrm>
            <a:off x="1547664" y="657764"/>
            <a:ext cx="5616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rgbClr val="00B0F0"/>
                </a:solidFill>
              </a:rPr>
              <a:t>Por tener atributo</a:t>
            </a:r>
          </a:p>
        </p:txBody>
      </p:sp>
      <p:sp>
        <p:nvSpPr>
          <p:cNvPr id="16" name="24 Esquina doblada"/>
          <p:cNvSpPr/>
          <p:nvPr/>
        </p:nvSpPr>
        <p:spPr bwMode="auto">
          <a:xfrm>
            <a:off x="1134262" y="2094401"/>
            <a:ext cx="6390066" cy="1476051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1366858" y="2238608"/>
            <a:ext cx="5531340" cy="12448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4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4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xs:element</a:t>
            </a:r>
            <a:r>
              <a:rPr lang="es-ES" sz="1400" dirty="0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</a:t>
            </a:r>
            <a:r>
              <a:rPr lang="es-ES" sz="1400" dirty="0" err="1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name</a:t>
            </a:r>
            <a:r>
              <a:rPr lang="es-ES" sz="14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="</a:t>
            </a:r>
            <a:r>
              <a:rPr lang="es-ES" sz="1400" dirty="0">
                <a:solidFill>
                  <a:srgbClr val="FF99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edad</a:t>
            </a:r>
            <a:r>
              <a:rPr lang="es-ES" sz="14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"</a:t>
            </a:r>
            <a:r>
              <a:rPr lang="es-ES" sz="14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4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4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    &lt;</a:t>
            </a:r>
            <a:r>
              <a:rPr lang="es-ES" sz="14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</a:t>
            </a:r>
            <a:r>
              <a:rPr lang="es-ES" sz="1400" b="1" dirty="0" err="1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complexType</a:t>
            </a:r>
            <a:r>
              <a:rPr lang="es-ES" sz="14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4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4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          &lt;</a:t>
            </a:r>
            <a:r>
              <a:rPr lang="es-ES" sz="14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xs:attribute</a:t>
            </a:r>
            <a:r>
              <a:rPr lang="es-ES" sz="1400" dirty="0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</a:t>
            </a:r>
            <a:r>
              <a:rPr lang="es-ES" sz="1400" dirty="0" err="1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name</a:t>
            </a:r>
            <a:r>
              <a:rPr lang="es-ES" sz="14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="</a:t>
            </a:r>
            <a:r>
              <a:rPr lang="es-ES" sz="1400" dirty="0">
                <a:solidFill>
                  <a:srgbClr val="FF99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unidad</a:t>
            </a:r>
            <a:r>
              <a:rPr lang="es-ES" sz="14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" </a:t>
            </a:r>
            <a:r>
              <a:rPr lang="es-ES" sz="1400" dirty="0" err="1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type</a:t>
            </a:r>
            <a:r>
              <a:rPr lang="es-ES" sz="14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="</a:t>
            </a:r>
            <a:r>
              <a:rPr lang="es-ES" sz="1400" dirty="0" err="1">
                <a:solidFill>
                  <a:srgbClr val="FF99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xs:string</a:t>
            </a:r>
            <a:r>
              <a:rPr lang="es-ES" sz="14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"</a:t>
            </a:r>
            <a:r>
              <a:rPr lang="es-ES" sz="14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/&gt;</a:t>
            </a:r>
            <a:endParaRPr lang="es-ES" sz="14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4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    &lt;/</a:t>
            </a:r>
            <a:r>
              <a:rPr lang="es-ES" sz="14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xs:complexType</a:t>
            </a:r>
            <a:r>
              <a:rPr lang="es-ES" sz="14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4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4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&lt;/</a:t>
            </a:r>
            <a:r>
              <a:rPr lang="es-ES" sz="14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xs:element</a:t>
            </a:r>
            <a:r>
              <a:rPr lang="es-ES" sz="14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4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3" name="CuadroTexto 32"/>
          <p:cNvSpPr txBox="1"/>
          <p:nvPr/>
        </p:nvSpPr>
        <p:spPr>
          <a:xfrm>
            <a:off x="1511804" y="1268760"/>
            <a:ext cx="56166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/>
              <a:t>Sin contenido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3140163" y="5057363"/>
            <a:ext cx="1695659" cy="293495"/>
            <a:chOff x="3140163" y="5057363"/>
            <a:chExt cx="1695659" cy="293495"/>
          </a:xfrm>
        </p:grpSpPr>
        <p:sp>
          <p:nvSpPr>
            <p:cNvPr id="46" name="Rectángulo 45"/>
            <p:cNvSpPr/>
            <p:nvPr/>
          </p:nvSpPr>
          <p:spPr>
            <a:xfrm>
              <a:off x="3140163" y="5057363"/>
              <a:ext cx="1695659" cy="2934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0"/>
                </a:spcAft>
              </a:pPr>
              <a:r>
                <a:rPr lang="es-ES" sz="1400" b="1" dirty="0" err="1">
                  <a:solidFill>
                    <a:srgbClr val="00CC00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mixed</a:t>
              </a:r>
              <a:r>
                <a:rPr lang="es-ES" sz="1400" b="1" dirty="0">
                  <a:solidFill>
                    <a:srgbClr val="00CC00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="</a:t>
              </a:r>
              <a:r>
                <a:rPr lang="es-ES" sz="1400" b="1" dirty="0">
                  <a:solidFill>
                    <a:srgbClr val="FF9900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true</a:t>
              </a:r>
              <a:r>
                <a:rPr lang="es-ES" sz="1400" b="1" dirty="0">
                  <a:solidFill>
                    <a:srgbClr val="00CC00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"</a:t>
              </a:r>
              <a:endParaRPr lang="es-ES" sz="14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Conector recto 8"/>
            <p:cNvCxnSpPr/>
            <p:nvPr/>
          </p:nvCxnSpPr>
          <p:spPr bwMode="auto">
            <a:xfrm>
              <a:off x="3221778" y="5315657"/>
              <a:ext cx="1134198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2" name="Rectángulo 51"/>
          <p:cNvSpPr/>
          <p:nvPr/>
        </p:nvSpPr>
        <p:spPr>
          <a:xfrm>
            <a:off x="5652121" y="5100842"/>
            <a:ext cx="1695659" cy="3061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400" b="1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use="</a:t>
            </a:r>
            <a:r>
              <a:rPr lang="es-ES" sz="1400" b="1" dirty="0" err="1">
                <a:solidFill>
                  <a:srgbClr val="FF99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required</a:t>
            </a:r>
            <a:r>
              <a:rPr lang="es-ES" sz="1400" b="1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"</a:t>
            </a:r>
            <a:endParaRPr lang="es-ES" sz="14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3" name="Rectángulo 52"/>
          <p:cNvSpPr/>
          <p:nvPr/>
        </p:nvSpPr>
        <p:spPr>
          <a:xfrm>
            <a:off x="5652120" y="5299339"/>
            <a:ext cx="1695659" cy="293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400" b="1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default="</a:t>
            </a:r>
            <a:r>
              <a:rPr lang="es-ES" sz="1400" b="1" dirty="0">
                <a:solidFill>
                  <a:srgbClr val="FF99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años</a:t>
            </a:r>
            <a:r>
              <a:rPr lang="es-ES" sz="1400" b="1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"</a:t>
            </a:r>
            <a:endParaRPr lang="es-ES" sz="14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4" name="Rectángulo 53"/>
          <p:cNvSpPr/>
          <p:nvPr/>
        </p:nvSpPr>
        <p:spPr>
          <a:xfrm>
            <a:off x="5657239" y="5512567"/>
            <a:ext cx="1695659" cy="3061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400" b="1" dirty="0" err="1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fixed</a:t>
            </a:r>
            <a:r>
              <a:rPr lang="es-ES" sz="1400" b="1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="</a:t>
            </a:r>
            <a:r>
              <a:rPr lang="es-ES" sz="1400" b="1" dirty="0">
                <a:solidFill>
                  <a:srgbClr val="FF99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años</a:t>
            </a:r>
            <a:r>
              <a:rPr lang="es-ES" sz="1400" b="1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"</a:t>
            </a:r>
            <a:endParaRPr lang="es-ES" sz="14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7446716" y="5092473"/>
            <a:ext cx="1445764" cy="322845"/>
            <a:chOff x="7396798" y="4660425"/>
            <a:chExt cx="1445764" cy="322845"/>
          </a:xfrm>
        </p:grpSpPr>
        <p:sp>
          <p:nvSpPr>
            <p:cNvPr id="55" name="Flecha abajo 54"/>
            <p:cNvSpPr/>
            <p:nvPr/>
          </p:nvSpPr>
          <p:spPr bwMode="auto">
            <a:xfrm rot="5400000" flipV="1">
              <a:off x="7426512" y="4706264"/>
              <a:ext cx="156596" cy="216024"/>
            </a:xfrm>
            <a:prstGeom prst="downArrow">
              <a:avLst/>
            </a:prstGeom>
            <a:solidFill>
              <a:srgbClr val="CC0099"/>
            </a:solidFill>
            <a:ln w="9525" cap="flat" cmpd="sng" algn="ctr">
              <a:solidFill>
                <a:srgbClr val="CC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6" name="Rectángulo 55"/>
            <p:cNvSpPr/>
            <p:nvPr/>
          </p:nvSpPr>
          <p:spPr>
            <a:xfrm>
              <a:off x="7617504" y="4660425"/>
              <a:ext cx="1225058" cy="3228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0"/>
                </a:spcAft>
              </a:pPr>
              <a:r>
                <a:rPr lang="es-ES" sz="1400" dirty="0">
                  <a:solidFill>
                    <a:srgbClr val="CC0099"/>
                  </a:solidFill>
                  <a:latin typeface="Comic Sans MS" panose="030F0702030302020204" pitchFamily="66" charset="0"/>
                  <a:ea typeface="Calibri" panose="020F0502020204030204" pitchFamily="34" charset="0"/>
                  <a:cs typeface="CourierNewPSMT-Identity-H"/>
                </a:rPr>
                <a:t>Obligatorio</a:t>
              </a:r>
              <a:endParaRPr lang="es-ES" sz="1400" dirty="0">
                <a:solidFill>
                  <a:srgbClr val="CC0099"/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7" name="Grupo 56"/>
          <p:cNvGrpSpPr/>
          <p:nvPr/>
        </p:nvGrpSpPr>
        <p:grpSpPr>
          <a:xfrm>
            <a:off x="7452320" y="5301208"/>
            <a:ext cx="1445764" cy="310341"/>
            <a:chOff x="7396798" y="4660425"/>
            <a:chExt cx="1445764" cy="310341"/>
          </a:xfrm>
        </p:grpSpPr>
        <p:sp>
          <p:nvSpPr>
            <p:cNvPr id="58" name="Flecha abajo 57"/>
            <p:cNvSpPr/>
            <p:nvPr/>
          </p:nvSpPr>
          <p:spPr bwMode="auto">
            <a:xfrm rot="5400000" flipV="1">
              <a:off x="7426512" y="4706264"/>
              <a:ext cx="156596" cy="216024"/>
            </a:xfrm>
            <a:prstGeom prst="downArrow">
              <a:avLst/>
            </a:prstGeom>
            <a:solidFill>
              <a:srgbClr val="CC0099"/>
            </a:solidFill>
            <a:ln w="9525" cap="flat" cmpd="sng" algn="ctr">
              <a:solidFill>
                <a:srgbClr val="CC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9" name="Rectángulo 58"/>
            <p:cNvSpPr/>
            <p:nvPr/>
          </p:nvSpPr>
          <p:spPr>
            <a:xfrm>
              <a:off x="7617504" y="4660425"/>
              <a:ext cx="1225058" cy="3103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0"/>
                </a:spcAft>
              </a:pPr>
              <a:r>
                <a:rPr lang="es-ES" sz="1400" dirty="0">
                  <a:solidFill>
                    <a:srgbClr val="CC0099"/>
                  </a:solidFill>
                  <a:latin typeface="Comic Sans MS" panose="030F0702030302020204" pitchFamily="66" charset="0"/>
                  <a:ea typeface="Calibri" panose="020F0502020204030204" pitchFamily="34" charset="0"/>
                  <a:cs typeface="CourierNewPSMT-Identity-H"/>
                </a:rPr>
                <a:t>Por defecto</a:t>
              </a:r>
              <a:endParaRPr lang="es-ES" sz="1400" dirty="0">
                <a:solidFill>
                  <a:srgbClr val="CC0099"/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0" name="Grupo 59"/>
          <p:cNvGrpSpPr/>
          <p:nvPr/>
        </p:nvGrpSpPr>
        <p:grpSpPr>
          <a:xfrm>
            <a:off x="7457438" y="5512459"/>
            <a:ext cx="1445764" cy="310341"/>
            <a:chOff x="7396798" y="4660425"/>
            <a:chExt cx="1445764" cy="310341"/>
          </a:xfrm>
        </p:grpSpPr>
        <p:sp>
          <p:nvSpPr>
            <p:cNvPr id="61" name="Flecha abajo 60"/>
            <p:cNvSpPr/>
            <p:nvPr/>
          </p:nvSpPr>
          <p:spPr bwMode="auto">
            <a:xfrm rot="5400000" flipV="1">
              <a:off x="7426512" y="4706264"/>
              <a:ext cx="156596" cy="216024"/>
            </a:xfrm>
            <a:prstGeom prst="downArrow">
              <a:avLst/>
            </a:prstGeom>
            <a:solidFill>
              <a:srgbClr val="CC0099"/>
            </a:solidFill>
            <a:ln w="9525" cap="flat" cmpd="sng" algn="ctr">
              <a:solidFill>
                <a:srgbClr val="CC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2" name="Rectángulo 61"/>
            <p:cNvSpPr/>
            <p:nvPr/>
          </p:nvSpPr>
          <p:spPr>
            <a:xfrm>
              <a:off x="7617504" y="4660425"/>
              <a:ext cx="1225058" cy="3103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0"/>
                </a:spcAft>
              </a:pPr>
              <a:r>
                <a:rPr lang="es-ES" sz="1400" dirty="0">
                  <a:solidFill>
                    <a:srgbClr val="CC0099"/>
                  </a:solidFill>
                  <a:latin typeface="Comic Sans MS" panose="030F0702030302020204" pitchFamily="66" charset="0"/>
                  <a:ea typeface="Calibri" panose="020F0502020204030204" pitchFamily="34" charset="0"/>
                  <a:cs typeface="CourierNewPSMT-Identity-H"/>
                </a:rPr>
                <a:t>Fijo</a:t>
              </a:r>
              <a:endParaRPr lang="es-ES" sz="1400" dirty="0">
                <a:solidFill>
                  <a:srgbClr val="CC0099"/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154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  <p:bldP spid="5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24 Esquina doblada"/>
          <p:cNvSpPr/>
          <p:nvPr/>
        </p:nvSpPr>
        <p:spPr bwMode="auto">
          <a:xfrm>
            <a:off x="1511660" y="2094401"/>
            <a:ext cx="5616624" cy="1476051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0" name="Rectángulo 49"/>
          <p:cNvSpPr/>
          <p:nvPr/>
        </p:nvSpPr>
        <p:spPr bwMode="auto">
          <a:xfrm>
            <a:off x="1992988" y="2234337"/>
            <a:ext cx="4618086" cy="1249164"/>
          </a:xfrm>
          <a:prstGeom prst="rect">
            <a:avLst/>
          </a:prstGeom>
          <a:solidFill>
            <a:srgbClr val="99FF99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ectángulo 11"/>
          <p:cNvSpPr/>
          <p:nvPr/>
        </p:nvSpPr>
        <p:spPr bwMode="auto">
          <a:xfrm>
            <a:off x="2218586" y="2521611"/>
            <a:ext cx="4176464" cy="678885"/>
          </a:xfrm>
          <a:prstGeom prst="rect">
            <a:avLst/>
          </a:prstGeom>
          <a:solidFill>
            <a:srgbClr val="FFE1FF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45760"/>
            <a:ext cx="7487260" cy="563563"/>
          </a:xfrm>
        </p:spPr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Complejos</a:t>
            </a:r>
            <a:endParaRPr lang="en-US" sz="1400" dirty="0"/>
          </a:p>
        </p:txBody>
      </p:sp>
      <p:sp>
        <p:nvSpPr>
          <p:cNvPr id="42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1511660" y="1597687"/>
            <a:ext cx="5616624" cy="338554"/>
            <a:chOff x="1764474" y="1268760"/>
            <a:chExt cx="5616624" cy="338554"/>
          </a:xfrm>
        </p:grpSpPr>
        <p:sp>
          <p:nvSpPr>
            <p:cNvPr id="2" name="Rectángulo 1"/>
            <p:cNvSpPr/>
            <p:nvPr/>
          </p:nvSpPr>
          <p:spPr bwMode="auto">
            <a:xfrm>
              <a:off x="1764474" y="1268760"/>
              <a:ext cx="5616624" cy="338554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8" name="CuadroTexto 47"/>
            <p:cNvSpPr txBox="1"/>
            <p:nvPr/>
          </p:nvSpPr>
          <p:spPr>
            <a:xfrm>
              <a:off x="2411761" y="1268760"/>
              <a:ext cx="43153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&lt;edad </a:t>
              </a:r>
              <a:r>
                <a:rPr lang="es-ES" sz="1600" dirty="0">
                  <a:solidFill>
                    <a:srgbClr val="00CC00"/>
                  </a:solidFill>
                </a:rPr>
                <a:t>unidad="</a:t>
              </a:r>
              <a:r>
                <a:rPr lang="es-ES" sz="1600" dirty="0">
                  <a:solidFill>
                    <a:srgbClr val="FF9900"/>
                  </a:solidFill>
                </a:rPr>
                <a:t>años</a:t>
              </a:r>
              <a:r>
                <a:rPr lang="es-ES" sz="1600" dirty="0">
                  <a:solidFill>
                    <a:srgbClr val="00CC00"/>
                  </a:solidFill>
                </a:rPr>
                <a:t>"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&gt;&lt;/edad&gt;</a:t>
              </a:r>
            </a:p>
          </p:txBody>
        </p:sp>
      </p:grpSp>
      <p:sp>
        <p:nvSpPr>
          <p:cNvPr id="8" name="CuadroTexto 7"/>
          <p:cNvSpPr txBox="1"/>
          <p:nvPr/>
        </p:nvSpPr>
        <p:spPr>
          <a:xfrm>
            <a:off x="1547664" y="657764"/>
            <a:ext cx="5616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rgbClr val="00B0F0"/>
                </a:solidFill>
              </a:rPr>
              <a:t>Por tener atributo</a:t>
            </a:r>
          </a:p>
        </p:txBody>
      </p:sp>
      <p:sp>
        <p:nvSpPr>
          <p:cNvPr id="33" name="CuadroTexto 32"/>
          <p:cNvSpPr txBox="1"/>
          <p:nvPr/>
        </p:nvSpPr>
        <p:spPr>
          <a:xfrm>
            <a:off x="1511804" y="1268760"/>
            <a:ext cx="56166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/>
              <a:t>Sin contenido</a:t>
            </a:r>
          </a:p>
        </p:txBody>
      </p:sp>
      <p:sp>
        <p:nvSpPr>
          <p:cNvPr id="47" name="Rectángulo 46"/>
          <p:cNvSpPr/>
          <p:nvPr/>
        </p:nvSpPr>
        <p:spPr>
          <a:xfrm>
            <a:off x="1965772" y="2238608"/>
            <a:ext cx="4573294" cy="12448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4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4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xs:element</a:t>
            </a:r>
            <a:r>
              <a:rPr lang="es-ES" sz="1400" dirty="0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</a:t>
            </a:r>
            <a:r>
              <a:rPr lang="es-ES" sz="1400" dirty="0" err="1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name</a:t>
            </a:r>
            <a:r>
              <a:rPr lang="es-ES" sz="14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="</a:t>
            </a:r>
            <a:r>
              <a:rPr lang="es-ES" sz="1400" dirty="0">
                <a:solidFill>
                  <a:srgbClr val="FF99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edad</a:t>
            </a:r>
            <a:r>
              <a:rPr lang="es-ES" sz="14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"</a:t>
            </a:r>
            <a:r>
              <a:rPr lang="es-ES" sz="14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4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4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    &lt;</a:t>
            </a:r>
            <a:r>
              <a:rPr lang="es-ES" sz="14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</a:t>
            </a:r>
            <a:r>
              <a:rPr lang="es-ES" sz="1400" b="1" dirty="0" err="1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complexType</a:t>
            </a:r>
            <a:r>
              <a:rPr lang="es-ES" sz="14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4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4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          &lt;</a:t>
            </a:r>
            <a:r>
              <a:rPr lang="es-ES" sz="14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xs:attribute</a:t>
            </a:r>
            <a:r>
              <a:rPr lang="es-ES" sz="1400" dirty="0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</a:t>
            </a:r>
            <a:r>
              <a:rPr lang="es-ES" sz="1400" dirty="0" err="1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name</a:t>
            </a:r>
            <a:r>
              <a:rPr lang="es-ES" sz="14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="</a:t>
            </a:r>
            <a:r>
              <a:rPr lang="es-ES" sz="1400" dirty="0">
                <a:solidFill>
                  <a:srgbClr val="FF99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unidad</a:t>
            </a:r>
            <a:r>
              <a:rPr lang="es-ES" sz="14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" </a:t>
            </a:r>
            <a:r>
              <a:rPr lang="es-ES" sz="1400" dirty="0" err="1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type</a:t>
            </a:r>
            <a:r>
              <a:rPr lang="es-ES" sz="14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="</a:t>
            </a:r>
            <a:r>
              <a:rPr lang="es-ES" sz="1400" dirty="0" err="1">
                <a:solidFill>
                  <a:srgbClr val="FF99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xs:string</a:t>
            </a:r>
            <a:r>
              <a:rPr lang="es-ES" sz="14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"</a:t>
            </a:r>
            <a:r>
              <a:rPr lang="es-ES" sz="14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/&gt;</a:t>
            </a:r>
            <a:endParaRPr lang="es-ES" sz="14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4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    &lt;/</a:t>
            </a:r>
            <a:r>
              <a:rPr lang="es-ES" sz="14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xs:complexType</a:t>
            </a:r>
            <a:r>
              <a:rPr lang="es-ES" sz="14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4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4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&lt;/</a:t>
            </a:r>
            <a:r>
              <a:rPr lang="es-ES" sz="14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xs:element</a:t>
            </a:r>
            <a:r>
              <a:rPr lang="es-ES" sz="14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4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6" name="Grupo 5"/>
          <p:cNvGrpSpPr/>
          <p:nvPr/>
        </p:nvGrpSpPr>
        <p:grpSpPr>
          <a:xfrm>
            <a:off x="1511658" y="4098495"/>
            <a:ext cx="5652630" cy="2098922"/>
            <a:chOff x="1511658" y="4098495"/>
            <a:chExt cx="5652630" cy="2098922"/>
          </a:xfrm>
        </p:grpSpPr>
        <p:sp>
          <p:nvSpPr>
            <p:cNvPr id="37" name="24 Esquina doblada"/>
            <p:cNvSpPr/>
            <p:nvPr/>
          </p:nvSpPr>
          <p:spPr bwMode="auto">
            <a:xfrm>
              <a:off x="1511659" y="4098495"/>
              <a:ext cx="5652629" cy="1766647"/>
            </a:xfrm>
            <a:prstGeom prst="foldedCorner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_tradn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4" name="Rectángulo 63"/>
            <p:cNvSpPr/>
            <p:nvPr/>
          </p:nvSpPr>
          <p:spPr bwMode="auto">
            <a:xfrm>
              <a:off x="2042146" y="4791332"/>
              <a:ext cx="4618086" cy="778775"/>
            </a:xfrm>
            <a:prstGeom prst="rect">
              <a:avLst/>
            </a:prstGeom>
            <a:solidFill>
              <a:srgbClr val="FFCCFF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1" name="Rectángulo 50"/>
            <p:cNvSpPr/>
            <p:nvPr/>
          </p:nvSpPr>
          <p:spPr bwMode="auto">
            <a:xfrm>
              <a:off x="2042146" y="4300716"/>
              <a:ext cx="4618086" cy="369175"/>
            </a:xfrm>
            <a:prstGeom prst="rect">
              <a:avLst/>
            </a:prstGeom>
            <a:solidFill>
              <a:srgbClr val="99FF99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" name="Rectángulo 4"/>
            <p:cNvSpPr/>
            <p:nvPr/>
          </p:nvSpPr>
          <p:spPr>
            <a:xfrm>
              <a:off x="2114154" y="4325214"/>
              <a:ext cx="4690094" cy="12448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0"/>
                </a:spcAft>
              </a:pPr>
              <a:r>
                <a:rPr lang="es-ES" sz="1400" dirty="0">
                  <a:solidFill>
                    <a:srgbClr val="005FF3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&lt;</a:t>
              </a:r>
              <a:r>
                <a:rPr lang="es-ES" sz="1400" dirty="0" err="1">
                  <a:solidFill>
                    <a:srgbClr val="003297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xs:element</a:t>
              </a:r>
              <a:r>
                <a:rPr lang="es-ES" sz="1400" dirty="0">
                  <a:solidFill>
                    <a:srgbClr val="003297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 </a:t>
              </a:r>
              <a:r>
                <a:rPr lang="es-ES" sz="1400" dirty="0" err="1">
                  <a:solidFill>
                    <a:srgbClr val="00CC00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name</a:t>
              </a:r>
              <a:r>
                <a:rPr lang="es-ES" sz="1400" dirty="0">
                  <a:solidFill>
                    <a:srgbClr val="00CC00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="</a:t>
              </a:r>
              <a:r>
                <a:rPr lang="es-ES" sz="1400" dirty="0">
                  <a:solidFill>
                    <a:srgbClr val="FF9900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edad</a:t>
              </a:r>
              <a:r>
                <a:rPr lang="es-ES" sz="1400" dirty="0">
                  <a:solidFill>
                    <a:srgbClr val="00CC00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" </a:t>
              </a:r>
              <a:r>
                <a:rPr lang="es-ES" sz="1400" dirty="0" err="1">
                  <a:solidFill>
                    <a:srgbClr val="00CC00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type</a:t>
              </a:r>
              <a:r>
                <a:rPr lang="es-ES" sz="1400" dirty="0">
                  <a:solidFill>
                    <a:srgbClr val="00CC00"/>
                  </a:solidFill>
                  <a:ea typeface="Calibri" panose="020F0502020204030204" pitchFamily="34" charset="0"/>
                  <a:cs typeface="CourierNewPSMT-Identity-H"/>
                </a:rPr>
                <a:t>="</a:t>
              </a:r>
              <a:r>
                <a:rPr lang="es-ES" sz="1400" dirty="0" err="1">
                  <a:solidFill>
                    <a:srgbClr val="FF9900"/>
                  </a:solidFill>
                  <a:ea typeface="Calibri" panose="020F0502020204030204" pitchFamily="34" charset="0"/>
                  <a:cs typeface="CourierNewPSMT-Identity-H"/>
                </a:rPr>
                <a:t>t_edad</a:t>
              </a:r>
              <a:r>
                <a:rPr lang="es-ES" sz="1400" dirty="0">
                  <a:solidFill>
                    <a:srgbClr val="00CC00"/>
                  </a:solidFill>
                  <a:ea typeface="Calibri" panose="020F0502020204030204" pitchFamily="34" charset="0"/>
                  <a:cs typeface="CourierNewPSMT-Identity-H"/>
                </a:rPr>
                <a:t>"</a:t>
              </a:r>
              <a:r>
                <a:rPr lang="es-ES" sz="1400" dirty="0">
                  <a:solidFill>
                    <a:srgbClr val="005FF3"/>
                  </a:solidFill>
                  <a:ea typeface="Calibri" panose="020F0502020204030204" pitchFamily="34" charset="0"/>
                  <a:cs typeface="CourierNewPSMT-Identity-H"/>
                </a:rPr>
                <a:t>/</a:t>
              </a:r>
              <a:r>
                <a:rPr lang="es-ES" sz="1400" dirty="0">
                  <a:solidFill>
                    <a:srgbClr val="005FF3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&gt;</a:t>
              </a:r>
            </a:p>
            <a:p>
              <a:pPr>
                <a:lnSpc>
                  <a:spcPct val="107000"/>
                </a:lnSpc>
                <a:spcAft>
                  <a:spcPts val="0"/>
                </a:spcAft>
              </a:pPr>
              <a:endParaRPr lang="es-ES" sz="14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0"/>
                </a:spcAft>
              </a:pPr>
              <a:r>
                <a:rPr lang="es-ES" sz="1400" dirty="0">
                  <a:solidFill>
                    <a:srgbClr val="005FF3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&lt;</a:t>
              </a:r>
              <a:r>
                <a:rPr lang="es-ES" sz="1400" dirty="0" err="1">
                  <a:solidFill>
                    <a:srgbClr val="003297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xs:</a:t>
              </a:r>
              <a:r>
                <a:rPr lang="es-ES" sz="1400" b="1" dirty="0" err="1">
                  <a:solidFill>
                    <a:srgbClr val="00B0F0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complexType</a:t>
              </a:r>
              <a:r>
                <a:rPr lang="es-ES" sz="1400" b="1" dirty="0">
                  <a:solidFill>
                    <a:srgbClr val="00B0F0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 </a:t>
              </a:r>
              <a:r>
                <a:rPr lang="es-ES" sz="1400" dirty="0" err="1">
                  <a:solidFill>
                    <a:srgbClr val="00CC00"/>
                  </a:solidFill>
                  <a:ea typeface="Calibri" panose="020F0502020204030204" pitchFamily="34" charset="0"/>
                  <a:cs typeface="CourierNewPSMT-Identity-H"/>
                </a:rPr>
                <a:t>name</a:t>
              </a:r>
              <a:r>
                <a:rPr lang="es-ES" sz="1400" dirty="0">
                  <a:solidFill>
                    <a:srgbClr val="00CC00"/>
                  </a:solidFill>
                  <a:ea typeface="Calibri" panose="020F0502020204030204" pitchFamily="34" charset="0"/>
                  <a:cs typeface="CourierNewPSMT-Identity-H"/>
                </a:rPr>
                <a:t>="</a:t>
              </a:r>
              <a:r>
                <a:rPr lang="es-ES" sz="1400" dirty="0" err="1">
                  <a:solidFill>
                    <a:srgbClr val="FF9900"/>
                  </a:solidFill>
                  <a:ea typeface="Calibri" panose="020F0502020204030204" pitchFamily="34" charset="0"/>
                  <a:cs typeface="CourierNewPSMT-Identity-H"/>
                </a:rPr>
                <a:t>t_edad</a:t>
              </a:r>
              <a:r>
                <a:rPr lang="es-ES" sz="1400" dirty="0">
                  <a:solidFill>
                    <a:srgbClr val="00CC00"/>
                  </a:solidFill>
                  <a:ea typeface="Calibri" panose="020F0502020204030204" pitchFamily="34" charset="0"/>
                  <a:cs typeface="CourierNewPSMT-Identity-H"/>
                </a:rPr>
                <a:t>"</a:t>
              </a:r>
              <a:r>
                <a:rPr lang="es-ES" sz="1400" dirty="0">
                  <a:solidFill>
                    <a:srgbClr val="005FF3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&gt;</a:t>
              </a:r>
              <a:endParaRPr lang="es-ES" sz="14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0"/>
                </a:spcAft>
              </a:pPr>
              <a:r>
                <a:rPr lang="es-ES" sz="1400" dirty="0">
                  <a:solidFill>
                    <a:srgbClr val="005FF3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      &lt;</a:t>
              </a:r>
              <a:r>
                <a:rPr lang="es-ES" sz="1400" dirty="0" err="1">
                  <a:solidFill>
                    <a:srgbClr val="003297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xs:attribute</a:t>
              </a:r>
              <a:r>
                <a:rPr lang="es-ES" sz="1400" dirty="0">
                  <a:solidFill>
                    <a:srgbClr val="003297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 </a:t>
              </a:r>
              <a:r>
                <a:rPr lang="es-ES" sz="1400" dirty="0" err="1">
                  <a:solidFill>
                    <a:srgbClr val="00CC00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name</a:t>
              </a:r>
              <a:r>
                <a:rPr lang="es-ES" sz="1400" dirty="0">
                  <a:solidFill>
                    <a:srgbClr val="00CC00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="</a:t>
              </a:r>
              <a:r>
                <a:rPr lang="es-ES" sz="1400" dirty="0">
                  <a:solidFill>
                    <a:srgbClr val="FF9900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unidad</a:t>
              </a:r>
              <a:r>
                <a:rPr lang="es-ES" sz="1400" dirty="0">
                  <a:solidFill>
                    <a:srgbClr val="00CC00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" </a:t>
              </a:r>
              <a:r>
                <a:rPr lang="es-ES" sz="1400" dirty="0" err="1">
                  <a:solidFill>
                    <a:srgbClr val="00CC00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type</a:t>
              </a:r>
              <a:r>
                <a:rPr lang="es-ES" sz="1400" dirty="0">
                  <a:solidFill>
                    <a:srgbClr val="00CC00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="</a:t>
              </a:r>
              <a:r>
                <a:rPr lang="es-ES" sz="1400" dirty="0" err="1">
                  <a:solidFill>
                    <a:srgbClr val="FF9900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xs:string</a:t>
              </a:r>
              <a:r>
                <a:rPr lang="es-ES" sz="1400" dirty="0">
                  <a:solidFill>
                    <a:srgbClr val="00CC00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"</a:t>
              </a:r>
              <a:r>
                <a:rPr lang="es-ES" sz="1400" dirty="0">
                  <a:solidFill>
                    <a:srgbClr val="005FF3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/&gt;</a:t>
              </a:r>
              <a:endParaRPr lang="es-ES" sz="14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0"/>
                </a:spcAft>
              </a:pPr>
              <a:r>
                <a:rPr lang="es-ES" sz="1400" dirty="0">
                  <a:solidFill>
                    <a:srgbClr val="005FF3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&lt;/</a:t>
              </a:r>
              <a:r>
                <a:rPr lang="es-ES" sz="1400" dirty="0" err="1">
                  <a:solidFill>
                    <a:srgbClr val="003297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xs:complexType</a:t>
              </a:r>
              <a:r>
                <a:rPr lang="es-ES" sz="1400" dirty="0">
                  <a:solidFill>
                    <a:srgbClr val="005FF3"/>
                  </a:solidFill>
                  <a:latin typeface="+mj-lt"/>
                  <a:ea typeface="Calibri" panose="020F0502020204030204" pitchFamily="34" charset="0"/>
                  <a:cs typeface="CourierNewPSMT-Identity-H"/>
                </a:rPr>
                <a:t>&gt;</a:t>
              </a:r>
              <a:endParaRPr lang="es-ES" sz="14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CuadroTexto 64"/>
            <p:cNvSpPr txBox="1"/>
            <p:nvPr/>
          </p:nvSpPr>
          <p:spPr>
            <a:xfrm>
              <a:off x="1511658" y="5889640"/>
              <a:ext cx="56526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400" dirty="0"/>
                <a:t>Definición de tipo externa (con nombre)</a:t>
              </a:r>
            </a:p>
          </p:txBody>
        </p:sp>
      </p:grpSp>
      <p:sp>
        <p:nvSpPr>
          <p:cNvPr id="22" name="CuadroTexto 21"/>
          <p:cNvSpPr txBox="1"/>
          <p:nvPr/>
        </p:nvSpPr>
        <p:spPr>
          <a:xfrm>
            <a:off x="1547664" y="3574723"/>
            <a:ext cx="5580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Definición de tipo incrustada (anónima)</a:t>
            </a:r>
          </a:p>
        </p:txBody>
      </p:sp>
    </p:spTree>
    <p:extLst>
      <p:ext uri="{BB962C8B-B14F-4D97-AF65-F5344CB8AC3E}">
        <p14:creationId xmlns:p14="http://schemas.microsoft.com/office/powerpoint/2010/main" val="537718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12" grpId="0" animBg="1"/>
      <p:bldP spid="2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24 Esquina doblada"/>
          <p:cNvSpPr/>
          <p:nvPr/>
        </p:nvSpPr>
        <p:spPr bwMode="auto">
          <a:xfrm>
            <a:off x="1043608" y="2346921"/>
            <a:ext cx="6911196" cy="3404382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tángulo 13"/>
          <p:cNvSpPr/>
          <p:nvPr/>
        </p:nvSpPr>
        <p:spPr bwMode="auto">
          <a:xfrm>
            <a:off x="1331641" y="2485294"/>
            <a:ext cx="6120680" cy="3103946"/>
          </a:xfrm>
          <a:prstGeom prst="rect">
            <a:avLst/>
          </a:prstGeom>
          <a:solidFill>
            <a:srgbClr val="99FF99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Rectángulo 14"/>
          <p:cNvSpPr/>
          <p:nvPr/>
        </p:nvSpPr>
        <p:spPr bwMode="auto">
          <a:xfrm>
            <a:off x="1563451" y="2941321"/>
            <a:ext cx="5600838" cy="2071855"/>
          </a:xfrm>
          <a:prstGeom prst="rect">
            <a:avLst/>
          </a:prstGeom>
          <a:solidFill>
            <a:srgbClr val="FFCCFF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45760"/>
            <a:ext cx="7487260" cy="563563"/>
          </a:xfrm>
        </p:spPr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Complejos</a:t>
            </a:r>
            <a:endParaRPr lang="en-US" sz="1400" dirty="0"/>
          </a:p>
        </p:txBody>
      </p:sp>
      <p:sp>
        <p:nvSpPr>
          <p:cNvPr id="42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1547664" y="657764"/>
            <a:ext cx="5616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rgbClr val="00B0F0"/>
                </a:solidFill>
              </a:rPr>
              <a:t>Por tener atributo</a:t>
            </a:r>
          </a:p>
        </p:txBody>
      </p:sp>
      <p:grpSp>
        <p:nvGrpSpPr>
          <p:cNvPr id="13" name="Grupo 12"/>
          <p:cNvGrpSpPr/>
          <p:nvPr/>
        </p:nvGrpSpPr>
        <p:grpSpPr>
          <a:xfrm>
            <a:off x="1511660" y="1828139"/>
            <a:ext cx="6012668" cy="354291"/>
            <a:chOff x="1295636" y="3738424"/>
            <a:chExt cx="5616624" cy="338554"/>
          </a:xfrm>
        </p:grpSpPr>
        <p:sp>
          <p:nvSpPr>
            <p:cNvPr id="40" name="Rectángulo 39"/>
            <p:cNvSpPr/>
            <p:nvPr/>
          </p:nvSpPr>
          <p:spPr bwMode="auto">
            <a:xfrm>
              <a:off x="1295636" y="3738424"/>
              <a:ext cx="5616624" cy="338554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1" name="CuadroTexto 40"/>
            <p:cNvSpPr txBox="1"/>
            <p:nvPr/>
          </p:nvSpPr>
          <p:spPr>
            <a:xfrm>
              <a:off x="1942923" y="3738424"/>
              <a:ext cx="43153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&lt;edad </a:t>
              </a:r>
              <a:r>
                <a:rPr lang="es-ES" sz="1600" dirty="0">
                  <a:solidFill>
                    <a:srgbClr val="00CC00"/>
                  </a:solidFill>
                </a:rPr>
                <a:t>unidad="</a:t>
              </a:r>
              <a:r>
                <a:rPr lang="es-ES" sz="1600" dirty="0">
                  <a:solidFill>
                    <a:srgbClr val="FF9900"/>
                  </a:solidFill>
                </a:rPr>
                <a:t>años</a:t>
              </a:r>
              <a:r>
                <a:rPr lang="es-ES" sz="1600" dirty="0">
                  <a:solidFill>
                    <a:srgbClr val="00CC00"/>
                  </a:solidFill>
                </a:rPr>
                <a:t>"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  <a:r>
                <a:rPr lang="es-ES" sz="1600" dirty="0">
                  <a:solidFill>
                    <a:srgbClr val="FF0000"/>
                  </a:solidFill>
                </a:rPr>
                <a:t>15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&lt;/edad&gt;</a:t>
              </a:r>
            </a:p>
          </p:txBody>
        </p:sp>
      </p:grpSp>
      <p:sp>
        <p:nvSpPr>
          <p:cNvPr id="45" name="Rectángulo 44"/>
          <p:cNvSpPr/>
          <p:nvPr/>
        </p:nvSpPr>
        <p:spPr>
          <a:xfrm>
            <a:off x="1563450" y="2491128"/>
            <a:ext cx="2936542" cy="2990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6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xs:element</a:t>
            </a:r>
            <a:r>
              <a:rPr lang="es-ES" sz="1600" dirty="0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</a:t>
            </a:r>
            <a:r>
              <a:rPr lang="es-ES" sz="1600" dirty="0" err="1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name</a:t>
            </a:r>
            <a:r>
              <a:rPr lang="es-ES" sz="16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="</a:t>
            </a:r>
            <a:r>
              <a:rPr lang="es-ES" sz="1600" dirty="0">
                <a:solidFill>
                  <a:srgbClr val="FF99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edad</a:t>
            </a:r>
            <a:r>
              <a:rPr lang="es-ES" sz="16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"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s-ES" sz="1600" dirty="0">
              <a:solidFill>
                <a:srgbClr val="00B0F0"/>
              </a:solidFill>
              <a:latin typeface="+mj-lt"/>
              <a:ea typeface="Calibri" panose="020F0502020204030204" pitchFamily="34" charset="0"/>
              <a:cs typeface="CourierNewPSMT-Identity-H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600" dirty="0">
                <a:solidFill>
                  <a:srgbClr val="005FF3"/>
                </a:solidFill>
                <a:ea typeface="Calibri" panose="020F0502020204030204" pitchFamily="34" charset="0"/>
                <a:cs typeface="CourierNewPSMT-Identity-H"/>
              </a:rPr>
              <a:t>    </a:t>
            </a:r>
            <a:r>
              <a:rPr lang="es-ES" sz="1600" dirty="0">
                <a:solidFill>
                  <a:srgbClr val="00B0F0"/>
                </a:solidFill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600" dirty="0" err="1">
                <a:solidFill>
                  <a:srgbClr val="003297"/>
                </a:solidFill>
                <a:ea typeface="Calibri" panose="020F0502020204030204" pitchFamily="34" charset="0"/>
                <a:cs typeface="CourierNewPSMT-Identity-H"/>
              </a:rPr>
              <a:t>xs:</a:t>
            </a:r>
            <a:r>
              <a:rPr lang="es-ES" sz="1600" dirty="0" err="1">
                <a:ea typeface="Calibri" panose="020F0502020204030204" pitchFamily="34" charset="0"/>
                <a:cs typeface="CourierNewPSMT-Identity-H"/>
              </a:rPr>
              <a:t>complexType</a:t>
            </a:r>
            <a:r>
              <a:rPr lang="es-ES" sz="1600" dirty="0">
                <a:solidFill>
                  <a:srgbClr val="00B0F0"/>
                </a:solidFill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600" dirty="0">
              <a:solidFill>
                <a:srgbClr val="00B0F0"/>
              </a:solidFill>
              <a:latin typeface="+mj-lt"/>
              <a:ea typeface="Calibri" panose="020F0502020204030204" pitchFamily="34" charset="0"/>
              <a:cs typeface="CourierNewPSMT-Identity-H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s-ES" sz="16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6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   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s-ES" sz="1600" dirty="0">
              <a:solidFill>
                <a:srgbClr val="005FF3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s-ES" sz="1600" dirty="0">
              <a:solidFill>
                <a:srgbClr val="005FF3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s-ES" sz="1600" dirty="0">
              <a:solidFill>
                <a:srgbClr val="005FF3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600" dirty="0">
                <a:solidFill>
                  <a:srgbClr val="005FF3"/>
                </a:solidFill>
                <a:ea typeface="Calibri" panose="020F0502020204030204" pitchFamily="34" charset="0"/>
                <a:cs typeface="CourierNewPSMT-Identity-H"/>
              </a:rPr>
              <a:t>     </a:t>
            </a:r>
            <a:r>
              <a:rPr lang="es-ES" sz="1600" dirty="0">
                <a:solidFill>
                  <a:srgbClr val="00B0F0"/>
                </a:solidFill>
                <a:ea typeface="Calibri" panose="020F0502020204030204" pitchFamily="34" charset="0"/>
                <a:cs typeface="CourierNewPSMT-Identity-H"/>
              </a:rPr>
              <a:t>&lt;/</a:t>
            </a:r>
            <a:r>
              <a:rPr lang="es-ES" sz="1600" dirty="0" err="1">
                <a:solidFill>
                  <a:srgbClr val="003297"/>
                </a:solidFill>
                <a:ea typeface="Calibri" panose="020F0502020204030204" pitchFamily="34" charset="0"/>
                <a:cs typeface="CourierNewPSMT-Identity-H"/>
              </a:rPr>
              <a:t>xs:complexType</a:t>
            </a:r>
            <a:r>
              <a:rPr lang="es-ES" sz="1600" dirty="0">
                <a:solidFill>
                  <a:srgbClr val="00B0F0"/>
                </a:solidFill>
                <a:ea typeface="Calibri" panose="020F0502020204030204" pitchFamily="34" charset="0"/>
                <a:cs typeface="CourierNewPSMT-Identity-H"/>
              </a:rPr>
              <a:t>&gt;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s-ES" sz="1600" dirty="0">
              <a:solidFill>
                <a:srgbClr val="00B0F0"/>
              </a:solidFill>
              <a:latin typeface="+mj-lt"/>
              <a:ea typeface="Calibri" panose="020F0502020204030204" pitchFamily="34" charset="0"/>
              <a:cs typeface="CourierNewPSMT-Identity-H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6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/</a:t>
            </a:r>
            <a:r>
              <a:rPr lang="es-ES" sz="16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xs:element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600" dirty="0">
              <a:solidFill>
                <a:srgbClr val="00B0F0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1529734" y="1340768"/>
            <a:ext cx="56166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/>
              <a:t>Contenido de un tipo específico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2752188" y="5853105"/>
            <a:ext cx="34106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Definición de tipo incrustada (anónima)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2123098" y="3281536"/>
            <a:ext cx="5257214" cy="14096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6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s-ES" sz="16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xs:simpleContent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br>
              <a:rPr lang="es-ES" sz="16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ES" sz="16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s-ES" sz="16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xs:extension</a:t>
            </a:r>
            <a:r>
              <a:rPr lang="es-ES" sz="16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6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base="</a:t>
            </a:r>
            <a:r>
              <a:rPr lang="es-ES" sz="1600" dirty="0" err="1">
                <a:solidFill>
                  <a:srgbClr val="FF990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xs:integer</a:t>
            </a:r>
            <a:r>
              <a:rPr lang="es-ES" sz="16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6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      </a:t>
            </a:r>
            <a:r>
              <a:rPr lang="es-ES" sz="1600" dirty="0">
                <a:solidFill>
                  <a:srgbClr val="005FF3"/>
                </a:solidFill>
                <a:ea typeface="Calibri" panose="020F0502020204030204" pitchFamily="34" charset="0"/>
                <a:cs typeface="CourierNewPSMT-Identity-H"/>
              </a:rPr>
              <a:t>     &lt;</a:t>
            </a:r>
            <a:r>
              <a:rPr lang="es-ES" sz="1600" dirty="0" err="1">
                <a:solidFill>
                  <a:srgbClr val="003297"/>
                </a:solidFill>
                <a:ea typeface="Calibri" panose="020F0502020204030204" pitchFamily="34" charset="0"/>
                <a:cs typeface="CourierNewPSMT-Identity-H"/>
              </a:rPr>
              <a:t>xs:attribute</a:t>
            </a:r>
            <a:r>
              <a:rPr lang="es-ES" sz="1600" dirty="0">
                <a:solidFill>
                  <a:srgbClr val="003297"/>
                </a:solidFill>
                <a:ea typeface="Calibri" panose="020F0502020204030204" pitchFamily="34" charset="0"/>
                <a:cs typeface="CourierNewPSMT-Identity-H"/>
              </a:rPr>
              <a:t> </a:t>
            </a:r>
            <a:r>
              <a:rPr lang="es-ES" sz="1600" dirty="0" err="1">
                <a:solidFill>
                  <a:srgbClr val="00CC00"/>
                </a:solidFill>
                <a:ea typeface="Calibri" panose="020F0502020204030204" pitchFamily="34" charset="0"/>
                <a:cs typeface="CourierNewPSMT-Identity-H"/>
              </a:rPr>
              <a:t>name</a:t>
            </a:r>
            <a:r>
              <a:rPr lang="es-ES" sz="1600" dirty="0">
                <a:solidFill>
                  <a:srgbClr val="00CC00"/>
                </a:solidFill>
                <a:ea typeface="Calibri" panose="020F0502020204030204" pitchFamily="34" charset="0"/>
                <a:cs typeface="CourierNewPSMT-Identity-H"/>
              </a:rPr>
              <a:t>="</a:t>
            </a:r>
            <a:r>
              <a:rPr lang="es-ES" sz="1600" dirty="0">
                <a:solidFill>
                  <a:srgbClr val="FF9900"/>
                </a:solidFill>
                <a:ea typeface="Calibri" panose="020F0502020204030204" pitchFamily="34" charset="0"/>
                <a:cs typeface="CourierNewPSMT-Identity-H"/>
              </a:rPr>
              <a:t>unidad</a:t>
            </a:r>
            <a:r>
              <a:rPr lang="es-ES" sz="1600" dirty="0">
                <a:solidFill>
                  <a:srgbClr val="00CC00"/>
                </a:solidFill>
                <a:ea typeface="Calibri" panose="020F0502020204030204" pitchFamily="34" charset="0"/>
                <a:cs typeface="CourierNewPSMT-Identity-H"/>
              </a:rPr>
              <a:t>" </a:t>
            </a:r>
            <a:r>
              <a:rPr lang="es-ES" sz="1600" dirty="0" err="1">
                <a:solidFill>
                  <a:srgbClr val="00CC00"/>
                </a:solidFill>
                <a:ea typeface="Calibri" panose="020F0502020204030204" pitchFamily="34" charset="0"/>
                <a:cs typeface="CourierNewPSMT-Identity-H"/>
              </a:rPr>
              <a:t>type</a:t>
            </a:r>
            <a:r>
              <a:rPr lang="es-ES" sz="1600" dirty="0">
                <a:solidFill>
                  <a:srgbClr val="00CC00"/>
                </a:solidFill>
                <a:ea typeface="Calibri" panose="020F0502020204030204" pitchFamily="34" charset="0"/>
                <a:cs typeface="CourierNewPSMT-Identity-H"/>
              </a:rPr>
              <a:t>="</a:t>
            </a:r>
            <a:r>
              <a:rPr lang="es-ES" sz="1600" dirty="0" err="1">
                <a:solidFill>
                  <a:srgbClr val="FF9900"/>
                </a:solidFill>
                <a:ea typeface="Calibri" panose="020F0502020204030204" pitchFamily="34" charset="0"/>
                <a:cs typeface="CourierNewPSMT-Identity-H"/>
              </a:rPr>
              <a:t>xs:string</a:t>
            </a:r>
            <a:r>
              <a:rPr lang="es-ES" sz="1600" dirty="0">
                <a:solidFill>
                  <a:srgbClr val="00CC00"/>
                </a:solidFill>
                <a:ea typeface="Calibri" panose="020F0502020204030204" pitchFamily="34" charset="0"/>
                <a:cs typeface="CourierNewPSMT-Identity-H"/>
              </a:rPr>
              <a:t>" </a:t>
            </a:r>
            <a:r>
              <a:rPr lang="es-ES" sz="1600" dirty="0">
                <a:solidFill>
                  <a:srgbClr val="005FF3"/>
                </a:solidFill>
                <a:ea typeface="Calibri" panose="020F0502020204030204" pitchFamily="34" charset="0"/>
                <a:cs typeface="CourierNewPSMT-Identity-H"/>
              </a:rPr>
              <a:t>/</a:t>
            </a:r>
            <a:r>
              <a:rPr lang="es-ES" sz="1600" dirty="0">
                <a:solidFill>
                  <a:srgbClr val="00B0F0"/>
                </a:solidFill>
                <a:ea typeface="Calibri" panose="020F0502020204030204" pitchFamily="34" charset="0"/>
                <a:cs typeface="CourierNewPSMT-Identity-H"/>
              </a:rPr>
              <a:t>&gt;</a:t>
            </a:r>
            <a:r>
              <a:rPr lang="es-ES" sz="16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</a:t>
            </a:r>
            <a:br>
              <a:rPr lang="es-ES" sz="16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</a:br>
            <a:r>
              <a:rPr lang="es-ES" sz="1600" dirty="0">
                <a:latin typeface="+mj-lt"/>
                <a:ea typeface="Calibri" panose="020F0502020204030204" pitchFamily="34" charset="0"/>
                <a:cs typeface="CourierNewPSMT-Identity-H"/>
              </a:rPr>
              <a:t>        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600" dirty="0">
                <a:latin typeface="+mj-lt"/>
                <a:ea typeface="Calibri" panose="020F0502020204030204" pitchFamily="34" charset="0"/>
                <a:cs typeface="CourierNewPSMT-Identity-H"/>
              </a:rPr>
              <a:t>/</a:t>
            </a:r>
            <a:r>
              <a:rPr lang="es-ES" sz="1600" dirty="0" err="1">
                <a:latin typeface="+mj-lt"/>
                <a:ea typeface="Calibri" panose="020F0502020204030204" pitchFamily="34" charset="0"/>
                <a:cs typeface="CourierNewPSMT-Identity-H"/>
              </a:rPr>
              <a:t>xs:extension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br>
              <a:rPr lang="es-ES" sz="1600" dirty="0">
                <a:latin typeface="+mj-lt"/>
                <a:ea typeface="Calibri" panose="020F0502020204030204" pitchFamily="34" charset="0"/>
                <a:cs typeface="CourierNewPSMT-Identity-H"/>
              </a:rPr>
            </a:b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600" dirty="0">
                <a:latin typeface="+mj-lt"/>
                <a:ea typeface="Calibri" panose="020F0502020204030204" pitchFamily="34" charset="0"/>
                <a:cs typeface="CourierNewPSMT-Identity-H"/>
              </a:rPr>
              <a:t>/</a:t>
            </a:r>
            <a:r>
              <a:rPr lang="es-ES" sz="1600" dirty="0" err="1">
                <a:latin typeface="+mj-lt"/>
                <a:ea typeface="Calibri" panose="020F0502020204030204" pitchFamily="34" charset="0"/>
                <a:cs typeface="CourierNewPSMT-Identity-H"/>
              </a:rPr>
              <a:t>xs:simpleContent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r>
              <a:rPr lang="es-ES" sz="1600" dirty="0">
                <a:latin typeface="+mj-lt"/>
                <a:ea typeface="Calibri" panose="020F0502020204030204" pitchFamily="34" charset="0"/>
                <a:cs typeface="CourierNewPSMT-Identity-H"/>
              </a:rPr>
              <a:t>                        </a:t>
            </a:r>
            <a:endParaRPr lang="es-ES" sz="16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741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45" grpId="0"/>
      <p:bldP spid="16" grpId="0"/>
      <p:bldP spid="1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24 Esquina doblada"/>
          <p:cNvSpPr/>
          <p:nvPr/>
        </p:nvSpPr>
        <p:spPr bwMode="auto">
          <a:xfrm>
            <a:off x="1187624" y="2346921"/>
            <a:ext cx="6408712" cy="2810271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Rectángulo 14"/>
          <p:cNvSpPr/>
          <p:nvPr/>
        </p:nvSpPr>
        <p:spPr bwMode="auto">
          <a:xfrm>
            <a:off x="1547664" y="2485294"/>
            <a:ext cx="5688632" cy="369175"/>
          </a:xfrm>
          <a:prstGeom prst="rect">
            <a:avLst/>
          </a:prstGeom>
          <a:solidFill>
            <a:srgbClr val="99FF99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Rectángulo 15"/>
          <p:cNvSpPr/>
          <p:nvPr/>
        </p:nvSpPr>
        <p:spPr bwMode="auto">
          <a:xfrm>
            <a:off x="1547664" y="2984397"/>
            <a:ext cx="5688632" cy="2036187"/>
          </a:xfrm>
          <a:prstGeom prst="rect">
            <a:avLst/>
          </a:prstGeom>
          <a:solidFill>
            <a:srgbClr val="FFCCFF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45760"/>
            <a:ext cx="7487260" cy="563563"/>
          </a:xfrm>
        </p:spPr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Complejos</a:t>
            </a:r>
            <a:endParaRPr lang="en-US" sz="1400" dirty="0"/>
          </a:p>
        </p:txBody>
      </p:sp>
      <p:sp>
        <p:nvSpPr>
          <p:cNvPr id="42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1547664" y="657764"/>
            <a:ext cx="5616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rgbClr val="00B0F0"/>
                </a:solidFill>
              </a:rPr>
              <a:t>Por tener atributo</a:t>
            </a:r>
          </a:p>
        </p:txBody>
      </p:sp>
      <p:grpSp>
        <p:nvGrpSpPr>
          <p:cNvPr id="13" name="Grupo 12"/>
          <p:cNvGrpSpPr/>
          <p:nvPr/>
        </p:nvGrpSpPr>
        <p:grpSpPr>
          <a:xfrm>
            <a:off x="1511660" y="1828140"/>
            <a:ext cx="5796644" cy="338554"/>
            <a:chOff x="1295636" y="3738424"/>
            <a:chExt cx="5616624" cy="338554"/>
          </a:xfrm>
        </p:grpSpPr>
        <p:sp>
          <p:nvSpPr>
            <p:cNvPr id="40" name="Rectángulo 39"/>
            <p:cNvSpPr/>
            <p:nvPr/>
          </p:nvSpPr>
          <p:spPr bwMode="auto">
            <a:xfrm>
              <a:off x="1295636" y="3738424"/>
              <a:ext cx="5616624" cy="338554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1" name="CuadroTexto 40"/>
            <p:cNvSpPr txBox="1"/>
            <p:nvPr/>
          </p:nvSpPr>
          <p:spPr>
            <a:xfrm>
              <a:off x="1942923" y="3738424"/>
              <a:ext cx="43153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&lt;edad </a:t>
              </a:r>
              <a:r>
                <a:rPr lang="es-ES" sz="1600" dirty="0">
                  <a:solidFill>
                    <a:srgbClr val="00CC00"/>
                  </a:solidFill>
                </a:rPr>
                <a:t>unidad="</a:t>
              </a:r>
              <a:r>
                <a:rPr lang="es-ES" sz="1600" dirty="0">
                  <a:solidFill>
                    <a:srgbClr val="FF9900"/>
                  </a:solidFill>
                </a:rPr>
                <a:t>años</a:t>
              </a:r>
              <a:r>
                <a:rPr lang="es-ES" sz="1600" dirty="0">
                  <a:solidFill>
                    <a:srgbClr val="00CC00"/>
                  </a:solidFill>
                </a:rPr>
                <a:t>"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  <a:r>
                <a:rPr lang="es-ES" sz="1600" dirty="0">
                  <a:solidFill>
                    <a:srgbClr val="FF0000"/>
                  </a:solidFill>
                </a:rPr>
                <a:t>15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&lt;/edad&gt;</a:t>
              </a:r>
            </a:p>
          </p:txBody>
        </p:sp>
      </p:grpSp>
      <p:sp>
        <p:nvSpPr>
          <p:cNvPr id="45" name="Rectángulo 44"/>
          <p:cNvSpPr/>
          <p:nvPr/>
        </p:nvSpPr>
        <p:spPr>
          <a:xfrm>
            <a:off x="1826365" y="2491128"/>
            <a:ext cx="5240798" cy="3558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4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6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xs:element</a:t>
            </a:r>
            <a:r>
              <a:rPr lang="es-ES" sz="1400" dirty="0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</a:t>
            </a:r>
            <a:r>
              <a:rPr lang="es-ES" sz="1400" dirty="0" err="1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name</a:t>
            </a:r>
            <a:r>
              <a:rPr lang="es-ES" sz="14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="</a:t>
            </a:r>
            <a:r>
              <a:rPr lang="es-ES" sz="1400" dirty="0">
                <a:solidFill>
                  <a:srgbClr val="FF99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edad</a:t>
            </a:r>
            <a:r>
              <a:rPr lang="es-ES" sz="14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" </a:t>
            </a:r>
            <a:r>
              <a:rPr lang="es-ES" sz="1400" dirty="0" err="1">
                <a:solidFill>
                  <a:srgbClr val="00CC00"/>
                </a:solidFill>
                <a:ea typeface="Calibri" panose="020F0502020204030204" pitchFamily="34" charset="0"/>
                <a:cs typeface="CourierNewPSMT-Identity-H"/>
              </a:rPr>
              <a:t>type</a:t>
            </a:r>
            <a:r>
              <a:rPr lang="es-ES" sz="1400" dirty="0">
                <a:solidFill>
                  <a:srgbClr val="00CC00"/>
                </a:solidFill>
                <a:ea typeface="Calibri" panose="020F0502020204030204" pitchFamily="34" charset="0"/>
                <a:cs typeface="CourierNewPSMT-Identity-H"/>
              </a:rPr>
              <a:t>="</a:t>
            </a:r>
            <a:r>
              <a:rPr lang="es-ES" sz="1400" dirty="0" err="1">
                <a:solidFill>
                  <a:srgbClr val="FF9900"/>
                </a:solidFill>
                <a:ea typeface="Calibri" panose="020F0502020204030204" pitchFamily="34" charset="0"/>
                <a:cs typeface="CourierNewPSMT-Identity-H"/>
              </a:rPr>
              <a:t>t_edad</a:t>
            </a:r>
            <a:r>
              <a:rPr lang="es-ES" sz="1400" dirty="0">
                <a:solidFill>
                  <a:srgbClr val="00CC00"/>
                </a:solidFill>
                <a:ea typeface="Calibri" panose="020F0502020204030204" pitchFamily="34" charset="0"/>
                <a:cs typeface="CourierNewPSMT-Identity-H"/>
              </a:rPr>
              <a:t>"</a:t>
            </a:r>
            <a:r>
              <a:rPr lang="es-ES" sz="1400" dirty="0">
                <a:solidFill>
                  <a:srgbClr val="005FF3"/>
                </a:solidFill>
                <a:ea typeface="Calibri" panose="020F0502020204030204" pitchFamily="34" charset="0"/>
                <a:cs typeface="CourierNewPSMT-Identity-H"/>
              </a:rPr>
              <a:t>/</a:t>
            </a:r>
            <a:r>
              <a:rPr lang="es-ES" sz="14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400" dirty="0">
              <a:solidFill>
                <a:srgbClr val="00B0F0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1529734" y="1340768"/>
            <a:ext cx="56166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/>
              <a:t>Contenido de un tipo específico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715448" y="6500663"/>
            <a:ext cx="7624481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Realiza el ejercicio 12</a:t>
            </a:r>
          </a:p>
        </p:txBody>
      </p:sp>
      <p:sp>
        <p:nvSpPr>
          <p:cNvPr id="14" name="Rectángulo 13"/>
          <p:cNvSpPr/>
          <p:nvPr/>
        </p:nvSpPr>
        <p:spPr>
          <a:xfrm>
            <a:off x="1447544" y="3034276"/>
            <a:ext cx="5816863" cy="1936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6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    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6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</a:t>
            </a:r>
            <a:r>
              <a:rPr lang="es-ES" sz="1600" dirty="0" err="1">
                <a:latin typeface="+mj-lt"/>
                <a:ea typeface="Calibri" panose="020F0502020204030204" pitchFamily="34" charset="0"/>
                <a:cs typeface="CourierNewPSMT-Identity-H"/>
              </a:rPr>
              <a:t>complexType</a:t>
            </a:r>
            <a:r>
              <a:rPr lang="es-ES" sz="1600" dirty="0">
                <a:latin typeface="+mj-lt"/>
                <a:ea typeface="Calibri" panose="020F0502020204030204" pitchFamily="34" charset="0"/>
                <a:cs typeface="CourierNewPSMT-Identity-H"/>
              </a:rPr>
              <a:t> </a:t>
            </a:r>
            <a:r>
              <a:rPr lang="es-ES" sz="1600" dirty="0" err="1">
                <a:solidFill>
                  <a:srgbClr val="00CC00"/>
                </a:solidFill>
                <a:ea typeface="Calibri" panose="020F0502020204030204" pitchFamily="34" charset="0"/>
                <a:cs typeface="CourierNewPSMT-Identity-H"/>
              </a:rPr>
              <a:t>name</a:t>
            </a:r>
            <a:r>
              <a:rPr lang="es-ES" sz="1600" dirty="0">
                <a:solidFill>
                  <a:srgbClr val="00CC00"/>
                </a:solidFill>
                <a:ea typeface="Calibri" panose="020F0502020204030204" pitchFamily="34" charset="0"/>
                <a:cs typeface="CourierNewPSMT-Identity-H"/>
              </a:rPr>
              <a:t>="</a:t>
            </a:r>
            <a:r>
              <a:rPr lang="es-ES" sz="1600" dirty="0" err="1">
                <a:solidFill>
                  <a:srgbClr val="FF9900"/>
                </a:solidFill>
                <a:ea typeface="Calibri" panose="020F0502020204030204" pitchFamily="34" charset="0"/>
                <a:cs typeface="CourierNewPSMT-Identity-H"/>
              </a:rPr>
              <a:t>t_edad</a:t>
            </a:r>
            <a:r>
              <a:rPr lang="es-ES" sz="1600" dirty="0">
                <a:solidFill>
                  <a:srgbClr val="00CC00"/>
                </a:solidFill>
                <a:ea typeface="Calibri" panose="020F0502020204030204" pitchFamily="34" charset="0"/>
                <a:cs typeface="CourierNewPSMT-Identity-H"/>
              </a:rPr>
              <a:t>"</a:t>
            </a:r>
            <a:r>
              <a:rPr lang="es-ES" sz="1600" dirty="0">
                <a:solidFill>
                  <a:srgbClr val="005FF3"/>
                </a:solidFill>
                <a:ea typeface="Calibri" panose="020F0502020204030204" pitchFamily="34" charset="0"/>
                <a:cs typeface="CourierNewPSMT-Identity-H"/>
              </a:rPr>
              <a:t>/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6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          &lt;</a:t>
            </a:r>
            <a:r>
              <a:rPr lang="es-ES" sz="16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xs:simpleContent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br>
              <a:rPr lang="es-ES" sz="16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ES" sz="16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               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s-ES" sz="16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xs:extension</a:t>
            </a:r>
            <a:r>
              <a:rPr lang="es-ES" sz="16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6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base="</a:t>
            </a:r>
            <a:r>
              <a:rPr lang="es-ES" sz="1600" dirty="0" err="1">
                <a:solidFill>
                  <a:srgbClr val="FF990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xs:integer</a:t>
            </a:r>
            <a:r>
              <a:rPr lang="es-ES" sz="16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6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      </a:t>
            </a:r>
            <a:r>
              <a:rPr lang="es-ES" sz="1600" dirty="0">
                <a:solidFill>
                  <a:srgbClr val="005FF3"/>
                </a:solidFill>
                <a:ea typeface="Calibri" panose="020F0502020204030204" pitchFamily="34" charset="0"/>
                <a:cs typeface="CourierNewPSMT-Identity-H"/>
              </a:rPr>
              <a:t>            &lt;</a:t>
            </a:r>
            <a:r>
              <a:rPr lang="es-ES" sz="1600" dirty="0" err="1">
                <a:solidFill>
                  <a:srgbClr val="003297"/>
                </a:solidFill>
                <a:ea typeface="Calibri" panose="020F0502020204030204" pitchFamily="34" charset="0"/>
                <a:cs typeface="CourierNewPSMT-Identity-H"/>
              </a:rPr>
              <a:t>xs:attribute</a:t>
            </a:r>
            <a:r>
              <a:rPr lang="es-ES" sz="1600" dirty="0">
                <a:solidFill>
                  <a:srgbClr val="003297"/>
                </a:solidFill>
                <a:ea typeface="Calibri" panose="020F0502020204030204" pitchFamily="34" charset="0"/>
                <a:cs typeface="CourierNewPSMT-Identity-H"/>
              </a:rPr>
              <a:t> </a:t>
            </a:r>
            <a:r>
              <a:rPr lang="es-ES" sz="1600" dirty="0" err="1">
                <a:solidFill>
                  <a:srgbClr val="00CC00"/>
                </a:solidFill>
                <a:ea typeface="Calibri" panose="020F0502020204030204" pitchFamily="34" charset="0"/>
                <a:cs typeface="CourierNewPSMT-Identity-H"/>
              </a:rPr>
              <a:t>name</a:t>
            </a:r>
            <a:r>
              <a:rPr lang="es-ES" sz="1600" dirty="0">
                <a:solidFill>
                  <a:srgbClr val="00CC00"/>
                </a:solidFill>
                <a:ea typeface="Calibri" panose="020F0502020204030204" pitchFamily="34" charset="0"/>
                <a:cs typeface="CourierNewPSMT-Identity-H"/>
              </a:rPr>
              <a:t>="</a:t>
            </a:r>
            <a:r>
              <a:rPr lang="es-ES" sz="1600" dirty="0">
                <a:solidFill>
                  <a:srgbClr val="FF9900"/>
                </a:solidFill>
                <a:ea typeface="Calibri" panose="020F0502020204030204" pitchFamily="34" charset="0"/>
                <a:cs typeface="CourierNewPSMT-Identity-H"/>
              </a:rPr>
              <a:t>unidad</a:t>
            </a:r>
            <a:r>
              <a:rPr lang="es-ES" sz="1600" dirty="0">
                <a:solidFill>
                  <a:srgbClr val="00CC00"/>
                </a:solidFill>
                <a:ea typeface="Calibri" panose="020F0502020204030204" pitchFamily="34" charset="0"/>
                <a:cs typeface="CourierNewPSMT-Identity-H"/>
              </a:rPr>
              <a:t>" </a:t>
            </a:r>
            <a:r>
              <a:rPr lang="es-ES" sz="1600" dirty="0" err="1">
                <a:solidFill>
                  <a:srgbClr val="00CC00"/>
                </a:solidFill>
                <a:ea typeface="Calibri" panose="020F0502020204030204" pitchFamily="34" charset="0"/>
                <a:cs typeface="CourierNewPSMT-Identity-H"/>
              </a:rPr>
              <a:t>type</a:t>
            </a:r>
            <a:r>
              <a:rPr lang="es-ES" sz="1600" dirty="0">
                <a:solidFill>
                  <a:srgbClr val="00CC00"/>
                </a:solidFill>
                <a:ea typeface="Calibri" panose="020F0502020204030204" pitchFamily="34" charset="0"/>
                <a:cs typeface="CourierNewPSMT-Identity-H"/>
              </a:rPr>
              <a:t>="</a:t>
            </a:r>
            <a:r>
              <a:rPr lang="es-ES" sz="1600" dirty="0" err="1">
                <a:solidFill>
                  <a:srgbClr val="FF9900"/>
                </a:solidFill>
                <a:ea typeface="Calibri" panose="020F0502020204030204" pitchFamily="34" charset="0"/>
                <a:cs typeface="CourierNewPSMT-Identity-H"/>
              </a:rPr>
              <a:t>xs:string</a:t>
            </a:r>
            <a:r>
              <a:rPr lang="es-ES" sz="1600" dirty="0">
                <a:solidFill>
                  <a:srgbClr val="00CC00"/>
                </a:solidFill>
                <a:ea typeface="Calibri" panose="020F0502020204030204" pitchFamily="34" charset="0"/>
                <a:cs typeface="CourierNewPSMT-Identity-H"/>
              </a:rPr>
              <a:t>" </a:t>
            </a:r>
            <a:r>
              <a:rPr lang="es-ES" sz="1600" dirty="0">
                <a:solidFill>
                  <a:srgbClr val="005FF3"/>
                </a:solidFill>
                <a:ea typeface="Calibri" panose="020F0502020204030204" pitchFamily="34" charset="0"/>
                <a:cs typeface="CourierNewPSMT-Identity-H"/>
              </a:rPr>
              <a:t>/</a:t>
            </a:r>
            <a:r>
              <a:rPr lang="es-ES" sz="1600" dirty="0">
                <a:solidFill>
                  <a:srgbClr val="00B0F0"/>
                </a:solidFill>
                <a:ea typeface="Calibri" panose="020F0502020204030204" pitchFamily="34" charset="0"/>
                <a:cs typeface="CourierNewPSMT-Identity-H"/>
              </a:rPr>
              <a:t>&gt;</a:t>
            </a:r>
            <a:r>
              <a:rPr lang="es-ES" sz="16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</a:t>
            </a:r>
            <a:br>
              <a:rPr lang="es-ES" sz="16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</a:br>
            <a:r>
              <a:rPr lang="es-ES" sz="1600" dirty="0">
                <a:latin typeface="+mj-lt"/>
                <a:ea typeface="Calibri" panose="020F0502020204030204" pitchFamily="34" charset="0"/>
                <a:cs typeface="CourierNewPSMT-Identity-H"/>
              </a:rPr>
              <a:t>                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600" dirty="0">
                <a:latin typeface="+mj-lt"/>
                <a:ea typeface="Calibri" panose="020F0502020204030204" pitchFamily="34" charset="0"/>
                <a:cs typeface="CourierNewPSMT-Identity-H"/>
              </a:rPr>
              <a:t>/</a:t>
            </a:r>
            <a:r>
              <a:rPr lang="es-ES" sz="1600" dirty="0" err="1">
                <a:latin typeface="+mj-lt"/>
                <a:ea typeface="Calibri" panose="020F0502020204030204" pitchFamily="34" charset="0"/>
                <a:cs typeface="CourierNewPSMT-Identity-H"/>
              </a:rPr>
              <a:t>xs:extension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br>
              <a:rPr lang="es-ES" sz="1600" dirty="0">
                <a:latin typeface="+mj-lt"/>
                <a:ea typeface="Calibri" panose="020F0502020204030204" pitchFamily="34" charset="0"/>
                <a:cs typeface="CourierNewPSMT-Identity-H"/>
              </a:rPr>
            </a:br>
            <a:r>
              <a:rPr lang="es-ES" sz="1600" dirty="0">
                <a:latin typeface="+mj-lt"/>
                <a:ea typeface="Calibri" panose="020F0502020204030204" pitchFamily="34" charset="0"/>
                <a:cs typeface="CourierNewPSMT-Identity-H"/>
              </a:rPr>
              <a:t>            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600" dirty="0">
                <a:latin typeface="+mj-lt"/>
                <a:ea typeface="Calibri" panose="020F0502020204030204" pitchFamily="34" charset="0"/>
                <a:cs typeface="CourierNewPSMT-Identity-H"/>
              </a:rPr>
              <a:t>/</a:t>
            </a:r>
            <a:r>
              <a:rPr lang="es-ES" sz="1600" dirty="0" err="1">
                <a:latin typeface="+mj-lt"/>
                <a:ea typeface="Calibri" panose="020F0502020204030204" pitchFamily="34" charset="0"/>
                <a:cs typeface="CourierNewPSMT-Identity-H"/>
              </a:rPr>
              <a:t>xs:simpleContent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r>
              <a:rPr lang="es-ES" sz="1600" dirty="0">
                <a:latin typeface="+mj-lt"/>
                <a:ea typeface="Calibri" panose="020F0502020204030204" pitchFamily="34" charset="0"/>
                <a:cs typeface="CourierNewPSMT-Identity-H"/>
              </a:rPr>
              <a:t>                        </a:t>
            </a:r>
            <a:endParaRPr lang="es-ES" sz="16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6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    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&lt;/</a:t>
            </a:r>
            <a:r>
              <a:rPr lang="es-ES" sz="16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xs:complexType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</a:p>
        </p:txBody>
      </p:sp>
      <p:sp>
        <p:nvSpPr>
          <p:cNvPr id="17" name="CuadroTexto 16"/>
          <p:cNvSpPr txBox="1"/>
          <p:nvPr/>
        </p:nvSpPr>
        <p:spPr>
          <a:xfrm>
            <a:off x="2670795" y="5221902"/>
            <a:ext cx="35589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500" dirty="0"/>
              <a:t>Definición de tipo externa (con nombre)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1285024" y="5944266"/>
            <a:ext cx="64283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hlinkClick r:id="rId3"/>
              </a:rPr>
              <a:t>Más información sobre: Incrustación (o anidamiento), nombrado y referencias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415156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45760"/>
            <a:ext cx="7487260" cy="563563"/>
          </a:xfrm>
        </p:spPr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Complejos</a:t>
            </a:r>
            <a:endParaRPr lang="en-US" sz="1400" dirty="0"/>
          </a:p>
        </p:txBody>
      </p:sp>
      <p:sp>
        <p:nvSpPr>
          <p:cNvPr id="42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1547664" y="735087"/>
            <a:ext cx="5616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rgbClr val="00B0F0"/>
                </a:solidFill>
              </a:rPr>
              <a:t>Por tener elementos hijos</a:t>
            </a:r>
          </a:p>
        </p:txBody>
      </p:sp>
      <p:grpSp>
        <p:nvGrpSpPr>
          <p:cNvPr id="13" name="Grupo 12"/>
          <p:cNvGrpSpPr/>
          <p:nvPr/>
        </p:nvGrpSpPr>
        <p:grpSpPr>
          <a:xfrm>
            <a:off x="1511660" y="1690400"/>
            <a:ext cx="5868652" cy="1738600"/>
            <a:chOff x="1295636" y="3738424"/>
            <a:chExt cx="5616624" cy="501858"/>
          </a:xfrm>
        </p:grpSpPr>
        <p:sp>
          <p:nvSpPr>
            <p:cNvPr id="40" name="Rectángulo 39"/>
            <p:cNvSpPr/>
            <p:nvPr/>
          </p:nvSpPr>
          <p:spPr bwMode="auto">
            <a:xfrm>
              <a:off x="1295636" y="3738424"/>
              <a:ext cx="5616624" cy="501858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1" name="CuadroTexto 40"/>
            <p:cNvSpPr txBox="1"/>
            <p:nvPr/>
          </p:nvSpPr>
          <p:spPr>
            <a:xfrm>
              <a:off x="1942923" y="3761022"/>
              <a:ext cx="4315384" cy="4530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</a:t>
              </a:r>
              <a:r>
                <a:rPr lang="es-ES" sz="1600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direccion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</a:p>
            <a:p>
              <a:r>
                <a:rPr lang="es-ES" sz="1600" dirty="0">
                  <a:solidFill>
                    <a:srgbClr val="FF0000"/>
                  </a:solidFill>
                </a:rPr>
                <a:t>      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</a:t>
              </a:r>
              <a:r>
                <a:rPr lang="es-ES" sz="1600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via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  <a:r>
                <a:rPr lang="es-ES" sz="1600" dirty="0">
                  <a:solidFill>
                    <a:srgbClr val="FF0000"/>
                  </a:solidFill>
                </a:rPr>
                <a:t>Santa Cecilia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</a:t>
              </a:r>
              <a:r>
                <a:rPr lang="es-ES" sz="1600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via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</a:p>
            <a:p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  &lt;numero&gt;</a:t>
              </a:r>
              <a:r>
                <a:rPr lang="es-ES" sz="1600" dirty="0">
                  <a:solidFill>
                    <a:srgbClr val="FF0000"/>
                  </a:solidFill>
                </a:rPr>
                <a:t>16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&lt;/numero&gt;</a:t>
              </a:r>
            </a:p>
            <a:p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  &lt;piso&gt;</a:t>
              </a:r>
              <a:r>
                <a:rPr lang="es-ES" sz="1600" dirty="0">
                  <a:solidFill>
                    <a:srgbClr val="FF0000"/>
                  </a:solidFill>
                </a:rPr>
                <a:t>3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&lt;/piso&gt;</a:t>
              </a:r>
            </a:p>
            <a:p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  &lt;letra&gt;</a:t>
              </a:r>
              <a:r>
                <a:rPr lang="es-ES" sz="1600" dirty="0">
                  <a:solidFill>
                    <a:srgbClr val="FF0000"/>
                  </a:solidFill>
                </a:rPr>
                <a:t>B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&lt;/letra&gt;</a:t>
              </a:r>
            </a:p>
            <a:p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</a:t>
              </a:r>
              <a:r>
                <a:rPr lang="es-ES" sz="1600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direccion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</a:p>
          </p:txBody>
        </p:sp>
      </p:grpSp>
      <p:sp>
        <p:nvSpPr>
          <p:cNvPr id="44" name="24 Esquina doblada"/>
          <p:cNvSpPr/>
          <p:nvPr/>
        </p:nvSpPr>
        <p:spPr bwMode="auto">
          <a:xfrm>
            <a:off x="1115616" y="3571058"/>
            <a:ext cx="6768752" cy="2750498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5" name="Rectángulo 44"/>
          <p:cNvSpPr/>
          <p:nvPr/>
        </p:nvSpPr>
        <p:spPr>
          <a:xfrm>
            <a:off x="1777594" y="3643161"/>
            <a:ext cx="6647390" cy="2606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6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xs:element</a:t>
            </a:r>
            <a:r>
              <a:rPr lang="es-ES" sz="1600" dirty="0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</a:t>
            </a:r>
            <a:r>
              <a:rPr lang="es-ES" sz="1600" dirty="0" err="1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name</a:t>
            </a:r>
            <a:r>
              <a:rPr lang="es-ES" sz="16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="</a:t>
            </a:r>
            <a:r>
              <a:rPr lang="es-ES" sz="1600" dirty="0" err="1">
                <a:solidFill>
                  <a:srgbClr val="FF99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direccion</a:t>
            </a:r>
            <a:r>
              <a:rPr lang="es-ES" sz="16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"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6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6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    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6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</a:t>
            </a:r>
            <a:r>
              <a:rPr lang="es-ES" sz="1600" dirty="0" err="1">
                <a:latin typeface="+mj-lt"/>
                <a:ea typeface="Calibri" panose="020F0502020204030204" pitchFamily="34" charset="0"/>
                <a:cs typeface="CourierNewPSMT-Identity-H"/>
              </a:rPr>
              <a:t>complexType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</a:p>
          <a:p>
            <a:r>
              <a:rPr lang="es-ES" sz="1600" dirty="0">
                <a:solidFill>
                  <a:srgbClr val="CC6600"/>
                </a:solidFill>
              </a:rPr>
              <a:t>            &lt;</a:t>
            </a:r>
            <a:r>
              <a:rPr lang="es-ES" sz="1600" dirty="0" err="1">
                <a:solidFill>
                  <a:srgbClr val="CC6600"/>
                </a:solidFill>
              </a:rPr>
              <a:t>xs:sequence</a:t>
            </a:r>
            <a:r>
              <a:rPr lang="es-ES" sz="1600" dirty="0">
                <a:solidFill>
                  <a:srgbClr val="CC6600"/>
                </a:solidFill>
              </a:rPr>
              <a:t>&gt;</a:t>
            </a:r>
          </a:p>
          <a:p>
            <a:r>
              <a:rPr lang="es-ES" sz="1600" dirty="0">
                <a:solidFill>
                  <a:srgbClr val="00B050"/>
                </a:solidFill>
              </a:rPr>
              <a:t>                   </a:t>
            </a:r>
            <a:r>
              <a:rPr lang="es-ES" sz="1600" dirty="0">
                <a:solidFill>
                  <a:srgbClr val="0070C0"/>
                </a:solidFill>
              </a:rPr>
              <a:t>&lt;</a:t>
            </a:r>
            <a:r>
              <a:rPr lang="es-ES" sz="1600" dirty="0" err="1">
                <a:solidFill>
                  <a:srgbClr val="0070C0"/>
                </a:solidFill>
              </a:rPr>
              <a:t>xs:element</a:t>
            </a:r>
            <a:r>
              <a:rPr lang="es-ES" sz="1600" dirty="0">
                <a:solidFill>
                  <a:srgbClr val="0070C0"/>
                </a:solidFill>
              </a:rPr>
              <a:t> </a:t>
            </a:r>
            <a:r>
              <a:rPr lang="es-ES" sz="1600" dirty="0" err="1">
                <a:solidFill>
                  <a:srgbClr val="00B050"/>
                </a:solidFill>
              </a:rPr>
              <a:t>name</a:t>
            </a:r>
            <a:r>
              <a:rPr lang="es-ES" sz="1600" dirty="0">
                <a:solidFill>
                  <a:srgbClr val="00B050"/>
                </a:solidFill>
              </a:rPr>
              <a:t>="</a:t>
            </a:r>
            <a:r>
              <a:rPr lang="es-ES" sz="1600" dirty="0" err="1">
                <a:solidFill>
                  <a:srgbClr val="00B050"/>
                </a:solidFill>
              </a:rPr>
              <a:t>via</a:t>
            </a:r>
            <a:r>
              <a:rPr lang="es-ES" sz="1600" dirty="0">
                <a:solidFill>
                  <a:srgbClr val="00B050"/>
                </a:solidFill>
              </a:rPr>
              <a:t>" 	     </a:t>
            </a:r>
            <a:r>
              <a:rPr lang="es-ES" sz="1600" dirty="0" err="1">
                <a:solidFill>
                  <a:srgbClr val="FF0000"/>
                </a:solidFill>
              </a:rPr>
              <a:t>type</a:t>
            </a:r>
            <a:r>
              <a:rPr lang="es-ES" sz="1600" dirty="0">
                <a:solidFill>
                  <a:srgbClr val="FF0000"/>
                </a:solidFill>
              </a:rPr>
              <a:t>="</a:t>
            </a:r>
            <a:r>
              <a:rPr lang="es-ES" sz="1600" dirty="0" err="1">
                <a:solidFill>
                  <a:srgbClr val="FF0000"/>
                </a:solidFill>
              </a:rPr>
              <a:t>xs:string</a:t>
            </a:r>
            <a:r>
              <a:rPr lang="es-ES" sz="1600" dirty="0">
                <a:solidFill>
                  <a:srgbClr val="FF0000"/>
                </a:solidFill>
              </a:rPr>
              <a:t>"</a:t>
            </a:r>
            <a:r>
              <a:rPr lang="es-ES" sz="16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600" dirty="0">
                <a:solidFill>
                  <a:srgbClr val="0070C0"/>
                </a:solidFill>
              </a:rPr>
              <a:t>                   &lt;</a:t>
            </a:r>
            <a:r>
              <a:rPr lang="es-ES" sz="1600" dirty="0" err="1">
                <a:solidFill>
                  <a:srgbClr val="0070C0"/>
                </a:solidFill>
              </a:rPr>
              <a:t>xs:element</a:t>
            </a:r>
            <a:r>
              <a:rPr lang="es-ES" sz="1600" dirty="0">
                <a:solidFill>
                  <a:srgbClr val="0070C0"/>
                </a:solidFill>
              </a:rPr>
              <a:t> </a:t>
            </a:r>
            <a:r>
              <a:rPr lang="es-ES" sz="1600" dirty="0" err="1">
                <a:solidFill>
                  <a:srgbClr val="00B050"/>
                </a:solidFill>
              </a:rPr>
              <a:t>name</a:t>
            </a:r>
            <a:r>
              <a:rPr lang="es-ES" sz="1600" dirty="0">
                <a:solidFill>
                  <a:srgbClr val="00B050"/>
                </a:solidFill>
              </a:rPr>
              <a:t>="numero"    </a:t>
            </a:r>
            <a:r>
              <a:rPr lang="es-ES" sz="1600" dirty="0" err="1">
                <a:solidFill>
                  <a:srgbClr val="FF0000"/>
                </a:solidFill>
              </a:rPr>
              <a:t>type</a:t>
            </a:r>
            <a:r>
              <a:rPr lang="es-ES" sz="1600" dirty="0">
                <a:solidFill>
                  <a:srgbClr val="FF0000"/>
                </a:solidFill>
              </a:rPr>
              <a:t>="</a:t>
            </a:r>
            <a:r>
              <a:rPr lang="es-ES" sz="1600" dirty="0" err="1">
                <a:solidFill>
                  <a:srgbClr val="FF0000"/>
                </a:solidFill>
              </a:rPr>
              <a:t>xs:integer</a:t>
            </a:r>
            <a:r>
              <a:rPr lang="es-ES" sz="1600" dirty="0">
                <a:solidFill>
                  <a:srgbClr val="FF0000"/>
                </a:solidFill>
              </a:rPr>
              <a:t>"</a:t>
            </a:r>
            <a:r>
              <a:rPr lang="es-ES" sz="16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600" dirty="0">
                <a:solidFill>
                  <a:srgbClr val="00B050"/>
                </a:solidFill>
              </a:rPr>
              <a:t>                   </a:t>
            </a:r>
            <a:r>
              <a:rPr lang="es-ES" sz="1600" dirty="0">
                <a:solidFill>
                  <a:srgbClr val="0070C0"/>
                </a:solidFill>
              </a:rPr>
              <a:t>&lt;</a:t>
            </a:r>
            <a:r>
              <a:rPr lang="es-ES" sz="1600" dirty="0" err="1">
                <a:solidFill>
                  <a:srgbClr val="0070C0"/>
                </a:solidFill>
              </a:rPr>
              <a:t>xs:element</a:t>
            </a:r>
            <a:r>
              <a:rPr lang="es-ES" sz="1600" dirty="0">
                <a:solidFill>
                  <a:srgbClr val="0070C0"/>
                </a:solidFill>
              </a:rPr>
              <a:t> </a:t>
            </a:r>
            <a:r>
              <a:rPr lang="es-ES" sz="1600" dirty="0" err="1">
                <a:solidFill>
                  <a:srgbClr val="00B050"/>
                </a:solidFill>
              </a:rPr>
              <a:t>name</a:t>
            </a:r>
            <a:r>
              <a:rPr lang="es-ES" sz="1600" dirty="0">
                <a:solidFill>
                  <a:srgbClr val="00B050"/>
                </a:solidFill>
              </a:rPr>
              <a:t>="piso" 	     </a:t>
            </a:r>
            <a:r>
              <a:rPr lang="es-ES" sz="1600" dirty="0" err="1">
                <a:solidFill>
                  <a:srgbClr val="FF0000"/>
                </a:solidFill>
              </a:rPr>
              <a:t>type</a:t>
            </a:r>
            <a:r>
              <a:rPr lang="es-ES" sz="1600" dirty="0">
                <a:solidFill>
                  <a:srgbClr val="FF0000"/>
                </a:solidFill>
              </a:rPr>
              <a:t>="</a:t>
            </a:r>
            <a:r>
              <a:rPr lang="es-ES" sz="1600" dirty="0" err="1">
                <a:solidFill>
                  <a:srgbClr val="FF0000"/>
                </a:solidFill>
              </a:rPr>
              <a:t>xs:byte</a:t>
            </a:r>
            <a:r>
              <a:rPr lang="es-ES" sz="1600" dirty="0">
                <a:solidFill>
                  <a:srgbClr val="FF0000"/>
                </a:solidFill>
              </a:rPr>
              <a:t>"</a:t>
            </a:r>
            <a:r>
              <a:rPr lang="es-ES" sz="16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600" dirty="0">
                <a:solidFill>
                  <a:srgbClr val="0070C0"/>
                </a:solidFill>
              </a:rPr>
              <a:t>	   &lt;</a:t>
            </a:r>
            <a:r>
              <a:rPr lang="es-ES" sz="1600" dirty="0" err="1">
                <a:solidFill>
                  <a:srgbClr val="0070C0"/>
                </a:solidFill>
              </a:rPr>
              <a:t>xs:element</a:t>
            </a:r>
            <a:r>
              <a:rPr lang="es-ES" sz="1600" dirty="0">
                <a:solidFill>
                  <a:srgbClr val="0070C0"/>
                </a:solidFill>
              </a:rPr>
              <a:t> </a:t>
            </a:r>
            <a:r>
              <a:rPr lang="es-ES" sz="1600" dirty="0" err="1">
                <a:solidFill>
                  <a:srgbClr val="00B050"/>
                </a:solidFill>
              </a:rPr>
              <a:t>name</a:t>
            </a:r>
            <a:r>
              <a:rPr lang="es-ES" sz="1600" dirty="0">
                <a:solidFill>
                  <a:srgbClr val="00B050"/>
                </a:solidFill>
              </a:rPr>
              <a:t>="letra" 	     </a:t>
            </a:r>
            <a:r>
              <a:rPr lang="es-ES" sz="1600" dirty="0" err="1">
                <a:solidFill>
                  <a:srgbClr val="FF0000"/>
                </a:solidFill>
              </a:rPr>
              <a:t>type</a:t>
            </a:r>
            <a:r>
              <a:rPr lang="es-ES" sz="1600" dirty="0">
                <a:solidFill>
                  <a:srgbClr val="FF0000"/>
                </a:solidFill>
              </a:rPr>
              <a:t>="</a:t>
            </a:r>
            <a:r>
              <a:rPr lang="es-ES" sz="1600" dirty="0" err="1">
                <a:solidFill>
                  <a:srgbClr val="FF0000"/>
                </a:solidFill>
              </a:rPr>
              <a:t>xs:string</a:t>
            </a:r>
            <a:r>
              <a:rPr lang="es-ES" sz="1600" dirty="0">
                <a:solidFill>
                  <a:srgbClr val="FF0000"/>
                </a:solidFill>
              </a:rPr>
              <a:t>"</a:t>
            </a:r>
            <a:r>
              <a:rPr lang="es-ES" sz="16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600" dirty="0">
                <a:solidFill>
                  <a:srgbClr val="CC6600"/>
                </a:solidFill>
              </a:rPr>
              <a:t>             &lt;/</a:t>
            </a:r>
            <a:r>
              <a:rPr lang="es-ES" sz="1600" dirty="0" err="1">
                <a:solidFill>
                  <a:srgbClr val="CC6600"/>
                </a:solidFill>
              </a:rPr>
              <a:t>xs:sequence</a:t>
            </a:r>
            <a:r>
              <a:rPr lang="es-ES" sz="1600" dirty="0">
                <a:solidFill>
                  <a:srgbClr val="CC6600"/>
                </a:solidFill>
              </a:rPr>
              <a:t>&gt;</a:t>
            </a:r>
          </a:p>
          <a:p>
            <a:r>
              <a:rPr lang="es-ES" sz="16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    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&lt;/</a:t>
            </a:r>
            <a:r>
              <a:rPr lang="es-ES" sz="16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xs:complexType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6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6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/</a:t>
            </a:r>
            <a:r>
              <a:rPr lang="es-ES" sz="16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xs:element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600" dirty="0">
              <a:solidFill>
                <a:srgbClr val="00B0F0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1529734" y="1275040"/>
            <a:ext cx="56166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/>
              <a:t>Secuencia ordenada</a:t>
            </a:r>
          </a:p>
        </p:txBody>
      </p:sp>
    </p:spTree>
    <p:extLst>
      <p:ext uri="{BB962C8B-B14F-4D97-AF65-F5344CB8AC3E}">
        <p14:creationId xmlns:p14="http://schemas.microsoft.com/office/powerpoint/2010/main" val="2766679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45760"/>
            <a:ext cx="7487260" cy="563563"/>
          </a:xfrm>
        </p:spPr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Complejos</a:t>
            </a:r>
            <a:endParaRPr lang="en-US" sz="1400" dirty="0"/>
          </a:p>
        </p:txBody>
      </p:sp>
      <p:sp>
        <p:nvSpPr>
          <p:cNvPr id="42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1547664" y="735087"/>
            <a:ext cx="5616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rgbClr val="00B0F0"/>
                </a:solidFill>
              </a:rPr>
              <a:t>Por tener elementos hijos</a:t>
            </a:r>
          </a:p>
        </p:txBody>
      </p:sp>
      <p:grpSp>
        <p:nvGrpSpPr>
          <p:cNvPr id="13" name="Grupo 12"/>
          <p:cNvGrpSpPr/>
          <p:nvPr/>
        </p:nvGrpSpPr>
        <p:grpSpPr>
          <a:xfrm>
            <a:off x="405645" y="1544330"/>
            <a:ext cx="4104456" cy="1738600"/>
            <a:chOff x="1295636" y="3738424"/>
            <a:chExt cx="5616624" cy="501858"/>
          </a:xfrm>
        </p:grpSpPr>
        <p:sp>
          <p:nvSpPr>
            <p:cNvPr id="40" name="Rectángulo 39"/>
            <p:cNvSpPr/>
            <p:nvPr/>
          </p:nvSpPr>
          <p:spPr bwMode="auto">
            <a:xfrm>
              <a:off x="1295636" y="3738424"/>
              <a:ext cx="5616624" cy="501858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1" name="CuadroTexto 40"/>
            <p:cNvSpPr txBox="1"/>
            <p:nvPr/>
          </p:nvSpPr>
          <p:spPr>
            <a:xfrm>
              <a:off x="1445661" y="3761022"/>
              <a:ext cx="5185766" cy="426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&lt;contacto&gt;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&lt;</a:t>
              </a:r>
              <a:r>
                <a:rPr lang="es-ES" sz="1500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movil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  <a:r>
                <a:rPr lang="es-ES" sz="1500" dirty="0">
                  <a:solidFill>
                    <a:srgbClr val="FF0000"/>
                  </a:solidFill>
                </a:rPr>
                <a:t>675345624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</a:t>
              </a:r>
              <a:r>
                <a:rPr lang="es-ES" sz="1500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movil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&lt;fijo&gt;</a:t>
              </a:r>
              <a:r>
                <a:rPr lang="es-ES" sz="1500" dirty="0">
                  <a:solidFill>
                    <a:srgbClr val="FF0000"/>
                  </a:solidFill>
                </a:rPr>
                <a:t>956345627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&lt;/fijo&gt;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&lt;email&gt;</a:t>
              </a:r>
              <a:r>
                <a:rPr lang="es-ES" sz="1500" dirty="0">
                  <a:solidFill>
                    <a:srgbClr val="FF0000"/>
                  </a:solidFill>
                </a:rPr>
                <a:t>santi_tizon@gmail.com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&lt;/email&gt;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&lt;web&gt;</a:t>
              </a:r>
              <a:r>
                <a:rPr lang="es-ES" sz="1500" dirty="0">
                  <a:solidFill>
                    <a:srgbClr val="FF0000"/>
                  </a:solidFill>
                </a:rPr>
                <a:t>www.santi_tizon.es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&lt;/web&gt;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&lt;/contacto&gt;</a:t>
              </a:r>
            </a:p>
          </p:txBody>
        </p:sp>
      </p:grpSp>
      <p:sp>
        <p:nvSpPr>
          <p:cNvPr id="44" name="24 Esquina doblada"/>
          <p:cNvSpPr/>
          <p:nvPr/>
        </p:nvSpPr>
        <p:spPr bwMode="auto">
          <a:xfrm>
            <a:off x="1511660" y="3501008"/>
            <a:ext cx="6516724" cy="2952328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5" name="Rectángulo 44"/>
          <p:cNvSpPr/>
          <p:nvPr/>
        </p:nvSpPr>
        <p:spPr>
          <a:xfrm>
            <a:off x="1763688" y="3617879"/>
            <a:ext cx="6439198" cy="27634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7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xs:element</a:t>
            </a:r>
            <a:r>
              <a:rPr lang="es-ES" sz="1700" dirty="0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</a:t>
            </a:r>
            <a:r>
              <a:rPr lang="es-ES" sz="1700" dirty="0" err="1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name</a:t>
            </a:r>
            <a:r>
              <a:rPr lang="es-ES" sz="17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="</a:t>
            </a:r>
            <a:r>
              <a:rPr lang="es-ES" sz="1700" dirty="0">
                <a:solidFill>
                  <a:srgbClr val="FF99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contacto</a:t>
            </a:r>
            <a:r>
              <a:rPr lang="es-ES" sz="17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"</a:t>
            </a: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7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7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    </a:t>
            </a: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7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</a:t>
            </a:r>
            <a:r>
              <a:rPr lang="es-ES" sz="1700" dirty="0" err="1">
                <a:latin typeface="+mj-lt"/>
                <a:ea typeface="Calibri" panose="020F0502020204030204" pitchFamily="34" charset="0"/>
                <a:cs typeface="CourierNewPSMT-Identity-H"/>
              </a:rPr>
              <a:t>complexType</a:t>
            </a: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</a:p>
          <a:p>
            <a:r>
              <a:rPr lang="es-ES" sz="1700" dirty="0">
                <a:solidFill>
                  <a:srgbClr val="CC6600"/>
                </a:solidFill>
              </a:rPr>
              <a:t>            &lt;</a:t>
            </a:r>
            <a:r>
              <a:rPr lang="es-ES" sz="1700" dirty="0" err="1">
                <a:solidFill>
                  <a:srgbClr val="CC6600"/>
                </a:solidFill>
              </a:rPr>
              <a:t>xs:all</a:t>
            </a:r>
            <a:r>
              <a:rPr lang="es-ES" sz="1700" dirty="0">
                <a:solidFill>
                  <a:srgbClr val="CC6600"/>
                </a:solidFill>
              </a:rPr>
              <a:t>&gt;</a:t>
            </a:r>
          </a:p>
          <a:p>
            <a:r>
              <a:rPr lang="es-ES" sz="1700" dirty="0">
                <a:solidFill>
                  <a:srgbClr val="00B050"/>
                </a:solidFill>
              </a:rPr>
              <a:t>                    </a:t>
            </a:r>
            <a:r>
              <a:rPr lang="es-ES" sz="1700" dirty="0">
                <a:solidFill>
                  <a:srgbClr val="0070C0"/>
                </a:solidFill>
              </a:rPr>
              <a:t>&lt;</a:t>
            </a:r>
            <a:r>
              <a:rPr lang="es-ES" sz="1700" dirty="0" err="1">
                <a:solidFill>
                  <a:srgbClr val="0070C0"/>
                </a:solidFill>
              </a:rPr>
              <a:t>xs:element</a:t>
            </a:r>
            <a:r>
              <a:rPr lang="es-ES" sz="1700" dirty="0">
                <a:solidFill>
                  <a:srgbClr val="0070C0"/>
                </a:solidFill>
              </a:rPr>
              <a:t> </a:t>
            </a:r>
            <a:r>
              <a:rPr lang="es-ES" sz="1700" dirty="0" err="1">
                <a:solidFill>
                  <a:srgbClr val="00B050"/>
                </a:solidFill>
              </a:rPr>
              <a:t>name</a:t>
            </a:r>
            <a:r>
              <a:rPr lang="es-ES" sz="1700" dirty="0">
                <a:solidFill>
                  <a:srgbClr val="00B050"/>
                </a:solidFill>
              </a:rPr>
              <a:t>="</a:t>
            </a:r>
            <a:r>
              <a:rPr lang="es-ES" sz="1700" dirty="0" err="1">
                <a:solidFill>
                  <a:srgbClr val="00B050"/>
                </a:solidFill>
              </a:rPr>
              <a:t>movil</a:t>
            </a:r>
            <a:r>
              <a:rPr lang="es-ES" sz="1700" dirty="0">
                <a:solidFill>
                  <a:srgbClr val="00B050"/>
                </a:solidFill>
              </a:rPr>
              <a:t>" </a:t>
            </a:r>
            <a:r>
              <a:rPr lang="es-ES" sz="1700" dirty="0" err="1">
                <a:solidFill>
                  <a:srgbClr val="FF0000"/>
                </a:solidFill>
              </a:rPr>
              <a:t>type</a:t>
            </a:r>
            <a:r>
              <a:rPr lang="es-ES" sz="1700" dirty="0">
                <a:solidFill>
                  <a:srgbClr val="FF0000"/>
                </a:solidFill>
              </a:rPr>
              <a:t>="</a:t>
            </a:r>
            <a:r>
              <a:rPr lang="es-ES" sz="1700" dirty="0" err="1">
                <a:solidFill>
                  <a:srgbClr val="FF0000"/>
                </a:solidFill>
              </a:rPr>
              <a:t>xs:integer</a:t>
            </a:r>
            <a:r>
              <a:rPr lang="es-ES" sz="1700" dirty="0">
                <a:solidFill>
                  <a:srgbClr val="FF0000"/>
                </a:solidFill>
              </a:rPr>
              <a:t>"</a:t>
            </a:r>
            <a:r>
              <a:rPr lang="es-ES" sz="17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700" dirty="0">
                <a:solidFill>
                  <a:srgbClr val="0070C0"/>
                </a:solidFill>
              </a:rPr>
              <a:t>                    &lt;</a:t>
            </a:r>
            <a:r>
              <a:rPr lang="es-ES" sz="1700" dirty="0" err="1">
                <a:solidFill>
                  <a:srgbClr val="0070C0"/>
                </a:solidFill>
              </a:rPr>
              <a:t>xs:element</a:t>
            </a:r>
            <a:r>
              <a:rPr lang="es-ES" sz="1700" dirty="0">
                <a:solidFill>
                  <a:srgbClr val="0070C0"/>
                </a:solidFill>
              </a:rPr>
              <a:t> </a:t>
            </a:r>
            <a:r>
              <a:rPr lang="es-ES" sz="1700" dirty="0" err="1">
                <a:solidFill>
                  <a:srgbClr val="00B050"/>
                </a:solidFill>
              </a:rPr>
              <a:t>name</a:t>
            </a:r>
            <a:r>
              <a:rPr lang="es-ES" sz="1700" dirty="0">
                <a:solidFill>
                  <a:srgbClr val="00B050"/>
                </a:solidFill>
              </a:rPr>
              <a:t>="fijo"     </a:t>
            </a:r>
            <a:r>
              <a:rPr lang="es-ES" sz="1700" dirty="0" err="1">
                <a:solidFill>
                  <a:srgbClr val="FF0000"/>
                </a:solidFill>
              </a:rPr>
              <a:t>type</a:t>
            </a:r>
            <a:r>
              <a:rPr lang="es-ES" sz="1700" dirty="0">
                <a:solidFill>
                  <a:srgbClr val="FF0000"/>
                </a:solidFill>
              </a:rPr>
              <a:t>="</a:t>
            </a:r>
            <a:r>
              <a:rPr lang="es-ES" sz="1700" dirty="0" err="1">
                <a:solidFill>
                  <a:srgbClr val="FF0000"/>
                </a:solidFill>
              </a:rPr>
              <a:t>xs:integer</a:t>
            </a:r>
            <a:r>
              <a:rPr lang="es-ES" sz="1700" dirty="0">
                <a:solidFill>
                  <a:srgbClr val="FF0000"/>
                </a:solidFill>
              </a:rPr>
              <a:t>"</a:t>
            </a:r>
            <a:r>
              <a:rPr lang="es-ES" sz="17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700" dirty="0">
                <a:solidFill>
                  <a:srgbClr val="00B050"/>
                </a:solidFill>
              </a:rPr>
              <a:t>                    </a:t>
            </a:r>
            <a:r>
              <a:rPr lang="es-ES" sz="1700" dirty="0">
                <a:solidFill>
                  <a:srgbClr val="0070C0"/>
                </a:solidFill>
              </a:rPr>
              <a:t>&lt;</a:t>
            </a:r>
            <a:r>
              <a:rPr lang="es-ES" sz="1700" dirty="0" err="1">
                <a:solidFill>
                  <a:srgbClr val="0070C0"/>
                </a:solidFill>
              </a:rPr>
              <a:t>xs:element</a:t>
            </a:r>
            <a:r>
              <a:rPr lang="es-ES" sz="1700" dirty="0">
                <a:solidFill>
                  <a:srgbClr val="0070C0"/>
                </a:solidFill>
              </a:rPr>
              <a:t> </a:t>
            </a:r>
            <a:r>
              <a:rPr lang="es-ES" sz="1700" dirty="0" err="1">
                <a:solidFill>
                  <a:srgbClr val="00B050"/>
                </a:solidFill>
              </a:rPr>
              <a:t>name</a:t>
            </a:r>
            <a:r>
              <a:rPr lang="es-ES" sz="1700" dirty="0">
                <a:solidFill>
                  <a:srgbClr val="00B050"/>
                </a:solidFill>
              </a:rPr>
              <a:t>="email" </a:t>
            </a:r>
            <a:r>
              <a:rPr lang="es-ES" sz="1700" dirty="0" err="1">
                <a:solidFill>
                  <a:srgbClr val="FF0000"/>
                </a:solidFill>
              </a:rPr>
              <a:t>type</a:t>
            </a:r>
            <a:r>
              <a:rPr lang="es-ES" sz="1700" dirty="0">
                <a:solidFill>
                  <a:srgbClr val="FF0000"/>
                </a:solidFill>
              </a:rPr>
              <a:t>="</a:t>
            </a:r>
            <a:r>
              <a:rPr lang="es-ES" sz="1700" dirty="0" err="1">
                <a:solidFill>
                  <a:srgbClr val="FF0000"/>
                </a:solidFill>
              </a:rPr>
              <a:t>xs:anyURI</a:t>
            </a:r>
            <a:r>
              <a:rPr lang="es-ES" sz="1700" dirty="0">
                <a:solidFill>
                  <a:srgbClr val="FF0000"/>
                </a:solidFill>
              </a:rPr>
              <a:t>"</a:t>
            </a:r>
            <a:r>
              <a:rPr lang="es-ES" sz="17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700" dirty="0">
                <a:solidFill>
                  <a:srgbClr val="0070C0"/>
                </a:solidFill>
              </a:rPr>
              <a:t>	     &lt;</a:t>
            </a:r>
            <a:r>
              <a:rPr lang="es-ES" sz="1700" dirty="0" err="1">
                <a:solidFill>
                  <a:srgbClr val="0070C0"/>
                </a:solidFill>
              </a:rPr>
              <a:t>xs:element</a:t>
            </a:r>
            <a:r>
              <a:rPr lang="es-ES" sz="1700" dirty="0">
                <a:solidFill>
                  <a:srgbClr val="0070C0"/>
                </a:solidFill>
              </a:rPr>
              <a:t> </a:t>
            </a:r>
            <a:r>
              <a:rPr lang="es-ES" sz="1700" dirty="0" err="1">
                <a:solidFill>
                  <a:srgbClr val="00B050"/>
                </a:solidFill>
              </a:rPr>
              <a:t>name</a:t>
            </a:r>
            <a:r>
              <a:rPr lang="es-ES" sz="1700" dirty="0">
                <a:solidFill>
                  <a:srgbClr val="00B050"/>
                </a:solidFill>
              </a:rPr>
              <a:t>="web"   </a:t>
            </a:r>
            <a:r>
              <a:rPr lang="es-ES" sz="1700" dirty="0" err="1">
                <a:solidFill>
                  <a:srgbClr val="FF0000"/>
                </a:solidFill>
              </a:rPr>
              <a:t>type</a:t>
            </a:r>
            <a:r>
              <a:rPr lang="es-ES" sz="1700" dirty="0">
                <a:solidFill>
                  <a:srgbClr val="FF0000"/>
                </a:solidFill>
              </a:rPr>
              <a:t>="</a:t>
            </a:r>
            <a:r>
              <a:rPr lang="es-ES" sz="1700" dirty="0" err="1">
                <a:solidFill>
                  <a:srgbClr val="FF0000"/>
                </a:solidFill>
              </a:rPr>
              <a:t>xs:anyURI</a:t>
            </a:r>
            <a:r>
              <a:rPr lang="es-ES" sz="1700" dirty="0">
                <a:solidFill>
                  <a:srgbClr val="FF0000"/>
                </a:solidFill>
              </a:rPr>
              <a:t>"</a:t>
            </a:r>
            <a:r>
              <a:rPr lang="es-ES" sz="17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700" dirty="0">
                <a:solidFill>
                  <a:srgbClr val="CC6600"/>
                </a:solidFill>
              </a:rPr>
              <a:t>             &lt;/</a:t>
            </a:r>
            <a:r>
              <a:rPr lang="es-ES" sz="1700" dirty="0" err="1">
                <a:solidFill>
                  <a:srgbClr val="CC6600"/>
                </a:solidFill>
              </a:rPr>
              <a:t>xs:all</a:t>
            </a:r>
            <a:r>
              <a:rPr lang="es-ES" sz="1700" dirty="0">
                <a:solidFill>
                  <a:srgbClr val="CC6600"/>
                </a:solidFill>
              </a:rPr>
              <a:t>&gt;</a:t>
            </a:r>
          </a:p>
          <a:p>
            <a:r>
              <a:rPr lang="es-ES" sz="17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    </a:t>
            </a: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&lt;/</a:t>
            </a:r>
            <a:r>
              <a:rPr lang="es-ES" sz="17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xs:complexType</a:t>
            </a: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7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7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/</a:t>
            </a:r>
            <a:r>
              <a:rPr lang="es-ES" sz="17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xs:element</a:t>
            </a: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700" dirty="0">
              <a:solidFill>
                <a:srgbClr val="00B0F0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1690894" y="1196752"/>
            <a:ext cx="56166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/>
              <a:t>Secuencia desordenada</a:t>
            </a:r>
          </a:p>
        </p:txBody>
      </p:sp>
      <p:grpSp>
        <p:nvGrpSpPr>
          <p:cNvPr id="12" name="Grupo 11"/>
          <p:cNvGrpSpPr/>
          <p:nvPr/>
        </p:nvGrpSpPr>
        <p:grpSpPr>
          <a:xfrm>
            <a:off x="4716016" y="1538581"/>
            <a:ext cx="4104456" cy="1738597"/>
            <a:chOff x="1295636" y="3739368"/>
            <a:chExt cx="5616624" cy="501857"/>
          </a:xfrm>
        </p:grpSpPr>
        <p:sp>
          <p:nvSpPr>
            <p:cNvPr id="14" name="Rectángulo 13"/>
            <p:cNvSpPr/>
            <p:nvPr/>
          </p:nvSpPr>
          <p:spPr bwMode="auto">
            <a:xfrm>
              <a:off x="1295636" y="3739368"/>
              <a:ext cx="5616624" cy="501857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5" name="CuadroTexto 14"/>
            <p:cNvSpPr txBox="1"/>
            <p:nvPr/>
          </p:nvSpPr>
          <p:spPr>
            <a:xfrm>
              <a:off x="1445661" y="3761022"/>
              <a:ext cx="5185766" cy="426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&lt;contacto&gt;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&lt;email&gt;</a:t>
              </a:r>
              <a:r>
                <a:rPr lang="es-ES" sz="1500" dirty="0">
                  <a:solidFill>
                    <a:srgbClr val="FF0000"/>
                  </a:solidFill>
                </a:rPr>
                <a:t>santi_tizon@gmail.com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&lt;/email&gt;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&lt;</a:t>
              </a:r>
              <a:r>
                <a:rPr lang="es-ES" sz="1500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movil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  <a:r>
                <a:rPr lang="es-ES" sz="1500" dirty="0">
                  <a:solidFill>
                    <a:srgbClr val="FF0000"/>
                  </a:solidFill>
                </a:rPr>
                <a:t>675345624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</a:t>
              </a:r>
              <a:r>
                <a:rPr lang="es-ES" sz="1500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movil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&lt;web&gt;</a:t>
              </a:r>
              <a:r>
                <a:rPr lang="es-ES" sz="1500" dirty="0">
                  <a:solidFill>
                    <a:srgbClr val="FF0000"/>
                  </a:solidFill>
                </a:rPr>
                <a:t>www.santi_tizon.es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&lt;/web&gt;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&lt;fijo&gt;</a:t>
              </a:r>
              <a:r>
                <a:rPr lang="es-ES" sz="1500" dirty="0">
                  <a:solidFill>
                    <a:srgbClr val="FF0000"/>
                  </a:solidFill>
                </a:rPr>
                <a:t>956345627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&lt;/fijo&gt;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&lt;/contacto&gt;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4378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45760"/>
            <a:ext cx="7487260" cy="563563"/>
          </a:xfrm>
        </p:spPr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Complejos</a:t>
            </a:r>
            <a:endParaRPr lang="en-US" sz="1400" dirty="0"/>
          </a:p>
        </p:txBody>
      </p:sp>
      <p:sp>
        <p:nvSpPr>
          <p:cNvPr id="42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1547664" y="735087"/>
            <a:ext cx="5616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rgbClr val="00B0F0"/>
                </a:solidFill>
              </a:rPr>
              <a:t>Por tener elementos hijos</a:t>
            </a:r>
          </a:p>
        </p:txBody>
      </p:sp>
      <p:grpSp>
        <p:nvGrpSpPr>
          <p:cNvPr id="13" name="Grupo 12"/>
          <p:cNvGrpSpPr/>
          <p:nvPr/>
        </p:nvGrpSpPr>
        <p:grpSpPr>
          <a:xfrm>
            <a:off x="539552" y="1634549"/>
            <a:ext cx="3662299" cy="854098"/>
            <a:chOff x="1295636" y="3738424"/>
            <a:chExt cx="5616624" cy="501858"/>
          </a:xfrm>
        </p:grpSpPr>
        <p:sp>
          <p:nvSpPr>
            <p:cNvPr id="40" name="Rectángulo 39"/>
            <p:cNvSpPr/>
            <p:nvPr/>
          </p:nvSpPr>
          <p:spPr bwMode="auto">
            <a:xfrm>
              <a:off x="1295636" y="3738424"/>
              <a:ext cx="5616624" cy="501858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1" name="CuadroTexto 40"/>
            <p:cNvSpPr txBox="1"/>
            <p:nvPr/>
          </p:nvSpPr>
          <p:spPr>
            <a:xfrm>
              <a:off x="1445661" y="3761022"/>
              <a:ext cx="5185766" cy="4611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&lt;contacto&gt;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&lt;</a:t>
              </a:r>
              <a:r>
                <a:rPr lang="es-ES" sz="1500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movil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  <a:r>
                <a:rPr lang="es-ES" sz="1500" dirty="0">
                  <a:solidFill>
                    <a:srgbClr val="FF0000"/>
                  </a:solidFill>
                </a:rPr>
                <a:t>675345624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</a:t>
              </a:r>
              <a:r>
                <a:rPr lang="es-ES" sz="1500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movil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&lt;/contacto&gt;</a:t>
              </a:r>
            </a:p>
          </p:txBody>
        </p:sp>
      </p:grpSp>
      <p:sp>
        <p:nvSpPr>
          <p:cNvPr id="44" name="24 Esquina doblada"/>
          <p:cNvSpPr/>
          <p:nvPr/>
        </p:nvSpPr>
        <p:spPr bwMode="auto">
          <a:xfrm>
            <a:off x="1511660" y="3571057"/>
            <a:ext cx="6156684" cy="2738263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5" name="Rectángulo 44"/>
          <p:cNvSpPr/>
          <p:nvPr/>
        </p:nvSpPr>
        <p:spPr>
          <a:xfrm>
            <a:off x="1753434" y="3646629"/>
            <a:ext cx="5888870" cy="25871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6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xs:element</a:t>
            </a:r>
            <a:r>
              <a:rPr lang="es-ES" sz="1600" dirty="0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</a:t>
            </a:r>
            <a:r>
              <a:rPr lang="es-ES" sz="1600" dirty="0" err="1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name</a:t>
            </a:r>
            <a:r>
              <a:rPr lang="es-ES" sz="16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="</a:t>
            </a:r>
            <a:r>
              <a:rPr lang="es-ES" sz="1600" dirty="0">
                <a:solidFill>
                  <a:srgbClr val="FF99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contacto</a:t>
            </a:r>
            <a:r>
              <a:rPr lang="es-ES" sz="16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"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6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6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    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6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</a:t>
            </a:r>
            <a:r>
              <a:rPr lang="es-ES" sz="1600" dirty="0" err="1">
                <a:latin typeface="+mj-lt"/>
                <a:ea typeface="Calibri" panose="020F0502020204030204" pitchFamily="34" charset="0"/>
                <a:cs typeface="CourierNewPSMT-Identity-H"/>
              </a:rPr>
              <a:t>complexType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</a:p>
          <a:p>
            <a:r>
              <a:rPr lang="es-ES" sz="1600" dirty="0">
                <a:solidFill>
                  <a:srgbClr val="CC6600"/>
                </a:solidFill>
              </a:rPr>
              <a:t>            &lt;</a:t>
            </a:r>
            <a:r>
              <a:rPr lang="es-ES" sz="1600" dirty="0" err="1">
                <a:solidFill>
                  <a:srgbClr val="CC6600"/>
                </a:solidFill>
              </a:rPr>
              <a:t>xs:choice</a:t>
            </a:r>
            <a:r>
              <a:rPr lang="es-ES" sz="1600" dirty="0">
                <a:solidFill>
                  <a:srgbClr val="CC6600"/>
                </a:solidFill>
              </a:rPr>
              <a:t>&gt;</a:t>
            </a:r>
          </a:p>
          <a:p>
            <a:r>
              <a:rPr lang="es-ES" sz="1600" dirty="0">
                <a:solidFill>
                  <a:srgbClr val="00B050"/>
                </a:solidFill>
              </a:rPr>
              <a:t>                   </a:t>
            </a:r>
            <a:r>
              <a:rPr lang="es-ES" sz="1600" dirty="0">
                <a:solidFill>
                  <a:srgbClr val="0070C0"/>
                </a:solidFill>
              </a:rPr>
              <a:t>&lt;</a:t>
            </a:r>
            <a:r>
              <a:rPr lang="es-ES" sz="1600" dirty="0" err="1">
                <a:solidFill>
                  <a:srgbClr val="0070C0"/>
                </a:solidFill>
              </a:rPr>
              <a:t>xs:element</a:t>
            </a:r>
            <a:r>
              <a:rPr lang="es-ES" sz="1600" dirty="0">
                <a:solidFill>
                  <a:srgbClr val="0070C0"/>
                </a:solidFill>
              </a:rPr>
              <a:t> </a:t>
            </a:r>
            <a:r>
              <a:rPr lang="es-ES" sz="1600" dirty="0" err="1">
                <a:solidFill>
                  <a:srgbClr val="00B050"/>
                </a:solidFill>
              </a:rPr>
              <a:t>name</a:t>
            </a:r>
            <a:r>
              <a:rPr lang="es-ES" sz="1600" dirty="0">
                <a:solidFill>
                  <a:srgbClr val="00B050"/>
                </a:solidFill>
              </a:rPr>
              <a:t>="</a:t>
            </a:r>
            <a:r>
              <a:rPr lang="es-ES" sz="1600" dirty="0" err="1">
                <a:solidFill>
                  <a:srgbClr val="00B050"/>
                </a:solidFill>
              </a:rPr>
              <a:t>movil</a:t>
            </a:r>
            <a:r>
              <a:rPr lang="es-ES" sz="1600" dirty="0">
                <a:solidFill>
                  <a:srgbClr val="00B050"/>
                </a:solidFill>
              </a:rPr>
              <a:t>"   </a:t>
            </a:r>
            <a:r>
              <a:rPr lang="es-ES" sz="1600" dirty="0" err="1">
                <a:solidFill>
                  <a:srgbClr val="FF0000"/>
                </a:solidFill>
              </a:rPr>
              <a:t>type</a:t>
            </a:r>
            <a:r>
              <a:rPr lang="es-ES" sz="1600" dirty="0">
                <a:solidFill>
                  <a:srgbClr val="FF0000"/>
                </a:solidFill>
              </a:rPr>
              <a:t>="</a:t>
            </a:r>
            <a:r>
              <a:rPr lang="es-ES" sz="1600" dirty="0" err="1">
                <a:solidFill>
                  <a:srgbClr val="FF0000"/>
                </a:solidFill>
              </a:rPr>
              <a:t>xs:integer</a:t>
            </a:r>
            <a:r>
              <a:rPr lang="es-ES" sz="1600" dirty="0">
                <a:solidFill>
                  <a:srgbClr val="FF0000"/>
                </a:solidFill>
              </a:rPr>
              <a:t>"</a:t>
            </a:r>
            <a:r>
              <a:rPr lang="es-ES" sz="16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600" dirty="0">
                <a:solidFill>
                  <a:srgbClr val="0070C0"/>
                </a:solidFill>
              </a:rPr>
              <a:t>                   &lt;</a:t>
            </a:r>
            <a:r>
              <a:rPr lang="es-ES" sz="1600" dirty="0" err="1">
                <a:solidFill>
                  <a:srgbClr val="0070C0"/>
                </a:solidFill>
              </a:rPr>
              <a:t>xs:element</a:t>
            </a:r>
            <a:r>
              <a:rPr lang="es-ES" sz="1600" dirty="0">
                <a:solidFill>
                  <a:srgbClr val="0070C0"/>
                </a:solidFill>
              </a:rPr>
              <a:t> </a:t>
            </a:r>
            <a:r>
              <a:rPr lang="es-ES" sz="1600" dirty="0" err="1">
                <a:solidFill>
                  <a:srgbClr val="00B050"/>
                </a:solidFill>
              </a:rPr>
              <a:t>name</a:t>
            </a:r>
            <a:r>
              <a:rPr lang="es-ES" sz="1600" dirty="0">
                <a:solidFill>
                  <a:srgbClr val="00B050"/>
                </a:solidFill>
              </a:rPr>
              <a:t>="fijo" 	</a:t>
            </a:r>
            <a:r>
              <a:rPr lang="es-ES" sz="1600" dirty="0" err="1">
                <a:solidFill>
                  <a:srgbClr val="FF0000"/>
                </a:solidFill>
              </a:rPr>
              <a:t>type</a:t>
            </a:r>
            <a:r>
              <a:rPr lang="es-ES" sz="1600" dirty="0">
                <a:solidFill>
                  <a:srgbClr val="FF0000"/>
                </a:solidFill>
              </a:rPr>
              <a:t>="</a:t>
            </a:r>
            <a:r>
              <a:rPr lang="es-ES" sz="1600" dirty="0" err="1">
                <a:solidFill>
                  <a:srgbClr val="FF0000"/>
                </a:solidFill>
              </a:rPr>
              <a:t>xs:integer</a:t>
            </a:r>
            <a:r>
              <a:rPr lang="es-ES" sz="1600" dirty="0">
                <a:solidFill>
                  <a:srgbClr val="FF0000"/>
                </a:solidFill>
              </a:rPr>
              <a:t>"</a:t>
            </a:r>
            <a:r>
              <a:rPr lang="es-ES" sz="16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600" dirty="0">
                <a:solidFill>
                  <a:srgbClr val="00B050"/>
                </a:solidFill>
              </a:rPr>
              <a:t>                   </a:t>
            </a:r>
            <a:r>
              <a:rPr lang="es-ES" sz="1600" dirty="0">
                <a:solidFill>
                  <a:srgbClr val="0070C0"/>
                </a:solidFill>
              </a:rPr>
              <a:t>&lt;</a:t>
            </a:r>
            <a:r>
              <a:rPr lang="es-ES" sz="1600" dirty="0" err="1">
                <a:solidFill>
                  <a:srgbClr val="0070C0"/>
                </a:solidFill>
              </a:rPr>
              <a:t>xs:element</a:t>
            </a:r>
            <a:r>
              <a:rPr lang="es-ES" sz="1600" dirty="0">
                <a:solidFill>
                  <a:srgbClr val="0070C0"/>
                </a:solidFill>
              </a:rPr>
              <a:t> </a:t>
            </a:r>
            <a:r>
              <a:rPr lang="es-ES" sz="1600" dirty="0" err="1">
                <a:solidFill>
                  <a:srgbClr val="00B050"/>
                </a:solidFill>
              </a:rPr>
              <a:t>name</a:t>
            </a:r>
            <a:r>
              <a:rPr lang="es-ES" sz="1600" dirty="0">
                <a:solidFill>
                  <a:srgbClr val="00B050"/>
                </a:solidFill>
              </a:rPr>
              <a:t>="email"   </a:t>
            </a:r>
            <a:r>
              <a:rPr lang="es-ES" sz="1600" dirty="0" err="1">
                <a:solidFill>
                  <a:srgbClr val="FF0000"/>
                </a:solidFill>
              </a:rPr>
              <a:t>type</a:t>
            </a:r>
            <a:r>
              <a:rPr lang="es-ES" sz="1600" dirty="0">
                <a:solidFill>
                  <a:srgbClr val="FF0000"/>
                </a:solidFill>
              </a:rPr>
              <a:t>="</a:t>
            </a:r>
            <a:r>
              <a:rPr lang="es-ES" sz="1600" dirty="0" err="1">
                <a:solidFill>
                  <a:srgbClr val="FF0000"/>
                </a:solidFill>
              </a:rPr>
              <a:t>xs:anyURI</a:t>
            </a:r>
            <a:r>
              <a:rPr lang="es-ES" sz="1600" dirty="0">
                <a:solidFill>
                  <a:srgbClr val="FF0000"/>
                </a:solidFill>
              </a:rPr>
              <a:t>"</a:t>
            </a:r>
            <a:r>
              <a:rPr lang="es-ES" sz="16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600" dirty="0">
                <a:solidFill>
                  <a:srgbClr val="0070C0"/>
                </a:solidFill>
              </a:rPr>
              <a:t>	   &lt;</a:t>
            </a:r>
            <a:r>
              <a:rPr lang="es-ES" sz="1600" dirty="0" err="1">
                <a:solidFill>
                  <a:srgbClr val="0070C0"/>
                </a:solidFill>
              </a:rPr>
              <a:t>xs:element</a:t>
            </a:r>
            <a:r>
              <a:rPr lang="es-ES" sz="1600" dirty="0">
                <a:solidFill>
                  <a:srgbClr val="0070C0"/>
                </a:solidFill>
              </a:rPr>
              <a:t> </a:t>
            </a:r>
            <a:r>
              <a:rPr lang="es-ES" sz="1600" dirty="0" err="1">
                <a:solidFill>
                  <a:srgbClr val="00B050"/>
                </a:solidFill>
              </a:rPr>
              <a:t>name</a:t>
            </a:r>
            <a:r>
              <a:rPr lang="es-ES" sz="1600" dirty="0">
                <a:solidFill>
                  <a:srgbClr val="00B050"/>
                </a:solidFill>
              </a:rPr>
              <a:t>="web" 	</a:t>
            </a:r>
            <a:r>
              <a:rPr lang="es-ES" sz="1600" dirty="0" err="1">
                <a:solidFill>
                  <a:srgbClr val="FF0000"/>
                </a:solidFill>
              </a:rPr>
              <a:t>type</a:t>
            </a:r>
            <a:r>
              <a:rPr lang="es-ES" sz="1600" dirty="0">
                <a:solidFill>
                  <a:srgbClr val="FF0000"/>
                </a:solidFill>
              </a:rPr>
              <a:t>="</a:t>
            </a:r>
            <a:r>
              <a:rPr lang="es-ES" sz="1600" dirty="0" err="1">
                <a:solidFill>
                  <a:srgbClr val="FF0000"/>
                </a:solidFill>
              </a:rPr>
              <a:t>xs:anyURI</a:t>
            </a:r>
            <a:r>
              <a:rPr lang="es-ES" sz="1600" dirty="0">
                <a:solidFill>
                  <a:srgbClr val="FF0000"/>
                </a:solidFill>
              </a:rPr>
              <a:t>"</a:t>
            </a:r>
            <a:r>
              <a:rPr lang="es-ES" sz="16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600" dirty="0">
                <a:solidFill>
                  <a:srgbClr val="CC6600"/>
                </a:solidFill>
              </a:rPr>
              <a:t>             &lt;/</a:t>
            </a:r>
            <a:r>
              <a:rPr lang="es-ES" sz="1600" dirty="0" err="1">
                <a:solidFill>
                  <a:srgbClr val="CC6600"/>
                </a:solidFill>
              </a:rPr>
              <a:t>xs:choice</a:t>
            </a:r>
            <a:r>
              <a:rPr lang="es-ES" sz="1600" dirty="0">
                <a:solidFill>
                  <a:srgbClr val="CC6600"/>
                </a:solidFill>
              </a:rPr>
              <a:t>&gt;</a:t>
            </a:r>
          </a:p>
          <a:p>
            <a:r>
              <a:rPr lang="es-ES" sz="16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    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&lt;/</a:t>
            </a:r>
            <a:r>
              <a:rPr lang="es-ES" sz="16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xs:complexType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6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6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/</a:t>
            </a:r>
            <a:r>
              <a:rPr lang="es-ES" sz="16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xs:element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600" dirty="0">
              <a:solidFill>
                <a:srgbClr val="00B0F0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1690894" y="1196752"/>
            <a:ext cx="56166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/>
              <a:t>Sólo uno de entre varios</a:t>
            </a:r>
          </a:p>
        </p:txBody>
      </p:sp>
      <p:grpSp>
        <p:nvGrpSpPr>
          <p:cNvPr id="12" name="Grupo 11"/>
          <p:cNvGrpSpPr/>
          <p:nvPr/>
        </p:nvGrpSpPr>
        <p:grpSpPr>
          <a:xfrm>
            <a:off x="4499992" y="1628800"/>
            <a:ext cx="4104456" cy="859847"/>
            <a:chOff x="1295636" y="3739368"/>
            <a:chExt cx="5616624" cy="501857"/>
          </a:xfrm>
        </p:grpSpPr>
        <p:sp>
          <p:nvSpPr>
            <p:cNvPr id="14" name="Rectángulo 13"/>
            <p:cNvSpPr/>
            <p:nvPr/>
          </p:nvSpPr>
          <p:spPr bwMode="auto">
            <a:xfrm>
              <a:off x="1295636" y="3739368"/>
              <a:ext cx="5616624" cy="501857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5" name="CuadroTexto 14"/>
            <p:cNvSpPr txBox="1"/>
            <p:nvPr/>
          </p:nvSpPr>
          <p:spPr>
            <a:xfrm>
              <a:off x="1445661" y="3761022"/>
              <a:ext cx="5185766" cy="458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&lt;contacto&gt;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&lt;email&gt;</a:t>
              </a:r>
              <a:r>
                <a:rPr lang="es-ES" sz="1500" dirty="0">
                  <a:solidFill>
                    <a:srgbClr val="FF0000"/>
                  </a:solidFill>
                </a:rPr>
                <a:t>santi_tizon@gmail.com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&lt;/email&gt;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&lt;/contacto&gt;</a:t>
              </a:r>
            </a:p>
          </p:txBody>
        </p:sp>
      </p:grpSp>
      <p:grpSp>
        <p:nvGrpSpPr>
          <p:cNvPr id="16" name="Grupo 15"/>
          <p:cNvGrpSpPr/>
          <p:nvPr/>
        </p:nvGrpSpPr>
        <p:grpSpPr>
          <a:xfrm>
            <a:off x="539552" y="2599928"/>
            <a:ext cx="3662299" cy="854098"/>
            <a:chOff x="1295636" y="3738424"/>
            <a:chExt cx="5616624" cy="501858"/>
          </a:xfrm>
        </p:grpSpPr>
        <p:sp>
          <p:nvSpPr>
            <p:cNvPr id="17" name="Rectángulo 16"/>
            <p:cNvSpPr/>
            <p:nvPr/>
          </p:nvSpPr>
          <p:spPr bwMode="auto">
            <a:xfrm>
              <a:off x="1295636" y="3738424"/>
              <a:ext cx="5616624" cy="501858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CuadroTexto 17"/>
            <p:cNvSpPr txBox="1"/>
            <p:nvPr/>
          </p:nvSpPr>
          <p:spPr>
            <a:xfrm>
              <a:off x="1445661" y="3761022"/>
              <a:ext cx="5185766" cy="4611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&lt;contacto&gt;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&lt;fijo&gt;</a:t>
              </a:r>
              <a:r>
                <a:rPr lang="es-ES" sz="1500" dirty="0">
                  <a:solidFill>
                    <a:srgbClr val="FF0000"/>
                  </a:solidFill>
                </a:rPr>
                <a:t>956345627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&lt;/fijo&gt;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&lt;/contacto&gt;</a:t>
              </a:r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4499992" y="2594179"/>
            <a:ext cx="4104456" cy="859847"/>
            <a:chOff x="1295636" y="3739368"/>
            <a:chExt cx="5616624" cy="501857"/>
          </a:xfrm>
        </p:grpSpPr>
        <p:sp>
          <p:nvSpPr>
            <p:cNvPr id="20" name="Rectángulo 19"/>
            <p:cNvSpPr/>
            <p:nvPr/>
          </p:nvSpPr>
          <p:spPr bwMode="auto">
            <a:xfrm>
              <a:off x="1295636" y="3739368"/>
              <a:ext cx="5616624" cy="501857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1" name="CuadroTexto 20"/>
            <p:cNvSpPr txBox="1"/>
            <p:nvPr/>
          </p:nvSpPr>
          <p:spPr>
            <a:xfrm>
              <a:off x="1445661" y="3761022"/>
              <a:ext cx="5185766" cy="458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&lt;contacto&gt;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&lt;web&gt;</a:t>
              </a:r>
              <a:r>
                <a:rPr lang="es-ES" sz="1500" dirty="0">
                  <a:solidFill>
                    <a:srgbClr val="FF0000"/>
                  </a:solidFill>
                </a:rPr>
                <a:t>www.santi_tizon.es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&lt;/web&gt;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&lt;/contacto&gt;</a:t>
              </a:r>
            </a:p>
          </p:txBody>
        </p:sp>
      </p:grpSp>
      <p:sp>
        <p:nvSpPr>
          <p:cNvPr id="23" name="CuadroTexto 22"/>
          <p:cNvSpPr txBox="1"/>
          <p:nvPr/>
        </p:nvSpPr>
        <p:spPr>
          <a:xfrm>
            <a:off x="715448" y="6500663"/>
            <a:ext cx="7624481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Realiza el ejercicio 13</a:t>
            </a:r>
          </a:p>
        </p:txBody>
      </p:sp>
    </p:spTree>
    <p:extLst>
      <p:ext uri="{BB962C8B-B14F-4D97-AF65-F5344CB8AC3E}">
        <p14:creationId xmlns:p14="http://schemas.microsoft.com/office/powerpoint/2010/main" val="3523443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uiExpand="1" build="p"/>
      <p:bldP spid="2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45760"/>
            <a:ext cx="7487260" cy="563563"/>
          </a:xfrm>
        </p:spPr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Complejos</a:t>
            </a:r>
            <a:endParaRPr lang="en-US" sz="1400" dirty="0"/>
          </a:p>
        </p:txBody>
      </p:sp>
      <p:sp>
        <p:nvSpPr>
          <p:cNvPr id="42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1547664" y="735087"/>
            <a:ext cx="5616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rgbClr val="00B0F0"/>
                </a:solidFill>
              </a:rPr>
              <a:t>Por tener elementos hijos</a:t>
            </a:r>
          </a:p>
        </p:txBody>
      </p:sp>
      <p:sp>
        <p:nvSpPr>
          <p:cNvPr id="40" name="Rectángulo 39"/>
          <p:cNvSpPr/>
          <p:nvPr/>
        </p:nvSpPr>
        <p:spPr bwMode="auto">
          <a:xfrm>
            <a:off x="496905" y="1634546"/>
            <a:ext cx="3662299" cy="1306244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1" name="CuadroTexto 40"/>
          <p:cNvSpPr txBox="1"/>
          <p:nvPr/>
        </p:nvSpPr>
        <p:spPr>
          <a:xfrm>
            <a:off x="637374" y="1659982"/>
            <a:ext cx="407864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5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&lt;contacto&gt;</a:t>
            </a:r>
          </a:p>
          <a:p>
            <a:r>
              <a:rPr lang="es-ES" sz="15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&lt;nombre&gt;</a:t>
            </a:r>
            <a:r>
              <a:rPr lang="es-ES" sz="1500" dirty="0">
                <a:solidFill>
                  <a:srgbClr val="FF0000"/>
                </a:solidFill>
              </a:rPr>
              <a:t>Ramón</a:t>
            </a:r>
            <a:r>
              <a:rPr lang="es-ES" sz="15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&lt;/nombre&gt;</a:t>
            </a:r>
          </a:p>
          <a:p>
            <a:r>
              <a:rPr lang="es-ES" sz="15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&lt;</a:t>
            </a:r>
            <a:r>
              <a:rPr lang="es-ES" sz="15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movil</a:t>
            </a:r>
            <a:r>
              <a:rPr lang="es-ES" sz="15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&gt;</a:t>
            </a:r>
            <a:r>
              <a:rPr lang="es-ES" sz="1500" dirty="0">
                <a:solidFill>
                  <a:srgbClr val="FF0000"/>
                </a:solidFill>
              </a:rPr>
              <a:t>675345624</a:t>
            </a:r>
            <a:r>
              <a:rPr lang="es-ES" sz="15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</a:t>
            </a:r>
            <a:r>
              <a:rPr lang="es-ES" sz="15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movil</a:t>
            </a:r>
            <a:r>
              <a:rPr lang="es-ES" sz="15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&gt;</a:t>
            </a:r>
          </a:p>
          <a:p>
            <a:r>
              <a:rPr lang="es-ES" sz="15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&lt;email&gt;</a:t>
            </a:r>
            <a:r>
              <a:rPr lang="es-ES" sz="1500" dirty="0">
                <a:solidFill>
                  <a:srgbClr val="FF0000"/>
                </a:solidFill>
              </a:rPr>
              <a:t>ramon@yahoo.com</a:t>
            </a:r>
            <a:r>
              <a:rPr lang="es-ES" sz="15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&lt;/email&gt;</a:t>
            </a:r>
          </a:p>
          <a:p>
            <a:r>
              <a:rPr lang="es-ES" sz="15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&lt;/contacto&gt;</a:t>
            </a:r>
          </a:p>
        </p:txBody>
      </p:sp>
      <p:sp>
        <p:nvSpPr>
          <p:cNvPr id="44" name="24 Esquina doblada"/>
          <p:cNvSpPr/>
          <p:nvPr/>
        </p:nvSpPr>
        <p:spPr bwMode="auto">
          <a:xfrm>
            <a:off x="1187624" y="3065467"/>
            <a:ext cx="6840760" cy="3379908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5" name="Rectángulo 44"/>
          <p:cNvSpPr/>
          <p:nvPr/>
        </p:nvSpPr>
        <p:spPr>
          <a:xfrm>
            <a:off x="1296421" y="3118145"/>
            <a:ext cx="6839188" cy="32663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7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xs:element</a:t>
            </a:r>
            <a:r>
              <a:rPr lang="es-ES" sz="1700" dirty="0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</a:t>
            </a:r>
            <a:r>
              <a:rPr lang="es-ES" sz="1700" dirty="0" err="1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name</a:t>
            </a:r>
            <a:r>
              <a:rPr lang="es-ES" sz="17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="</a:t>
            </a:r>
            <a:r>
              <a:rPr lang="es-ES" sz="1700" dirty="0">
                <a:solidFill>
                  <a:srgbClr val="FF99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contacto</a:t>
            </a:r>
            <a:r>
              <a:rPr lang="es-ES" sz="17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"</a:t>
            </a: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7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7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    </a:t>
            </a: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7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</a:t>
            </a:r>
            <a:r>
              <a:rPr lang="es-ES" sz="1700" dirty="0" err="1">
                <a:latin typeface="+mj-lt"/>
                <a:ea typeface="Calibri" panose="020F0502020204030204" pitchFamily="34" charset="0"/>
                <a:cs typeface="CourierNewPSMT-Identity-H"/>
              </a:rPr>
              <a:t>complexType</a:t>
            </a: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700" dirty="0">
              <a:solidFill>
                <a:srgbClr val="00B0F0"/>
              </a:solidFill>
              <a:ea typeface="Calibri" panose="020F0502020204030204" pitchFamily="34" charset="0"/>
              <a:cs typeface="CourierNewPSMT-Identity-H"/>
            </a:endParaRPr>
          </a:p>
          <a:p>
            <a:r>
              <a:rPr lang="es-ES" sz="1700" dirty="0">
                <a:solidFill>
                  <a:srgbClr val="CC6600"/>
                </a:solidFill>
              </a:rPr>
              <a:t>            &lt;</a:t>
            </a:r>
            <a:r>
              <a:rPr lang="es-ES" sz="1700" dirty="0" err="1">
                <a:solidFill>
                  <a:srgbClr val="CC6600"/>
                </a:solidFill>
              </a:rPr>
              <a:t>xs:sequence</a:t>
            </a:r>
            <a:r>
              <a:rPr lang="es-ES" sz="1700" dirty="0">
                <a:solidFill>
                  <a:srgbClr val="CC6600"/>
                </a:solidFill>
              </a:rPr>
              <a:t>&gt;</a:t>
            </a:r>
          </a:p>
          <a:p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                </a:t>
            </a:r>
            <a:r>
              <a:rPr lang="es-ES" sz="1700" dirty="0">
                <a:solidFill>
                  <a:srgbClr val="0070C0"/>
                </a:solidFill>
              </a:rPr>
              <a:t>&lt;</a:t>
            </a:r>
            <a:r>
              <a:rPr lang="es-ES" sz="1700" dirty="0" err="1">
                <a:solidFill>
                  <a:srgbClr val="0070C0"/>
                </a:solidFill>
              </a:rPr>
              <a:t>xs:element</a:t>
            </a:r>
            <a:r>
              <a:rPr lang="es-ES" sz="1700" dirty="0">
                <a:solidFill>
                  <a:srgbClr val="0070C0"/>
                </a:solidFill>
              </a:rPr>
              <a:t> </a:t>
            </a:r>
            <a:r>
              <a:rPr lang="es-ES" sz="1700" dirty="0" err="1">
                <a:solidFill>
                  <a:srgbClr val="00B050"/>
                </a:solidFill>
              </a:rPr>
              <a:t>name</a:t>
            </a:r>
            <a:r>
              <a:rPr lang="es-ES" sz="1700" dirty="0">
                <a:solidFill>
                  <a:srgbClr val="00B050"/>
                </a:solidFill>
              </a:rPr>
              <a:t>="nombre" </a:t>
            </a:r>
            <a:r>
              <a:rPr lang="es-ES" sz="1700" dirty="0" err="1">
                <a:solidFill>
                  <a:srgbClr val="FF0000"/>
                </a:solidFill>
              </a:rPr>
              <a:t>type</a:t>
            </a:r>
            <a:r>
              <a:rPr lang="es-ES" sz="1700" dirty="0">
                <a:solidFill>
                  <a:srgbClr val="FF0000"/>
                </a:solidFill>
              </a:rPr>
              <a:t>="</a:t>
            </a:r>
            <a:r>
              <a:rPr lang="es-ES" sz="1700" dirty="0" err="1">
                <a:solidFill>
                  <a:srgbClr val="FF0000"/>
                </a:solidFill>
              </a:rPr>
              <a:t>xs:string</a:t>
            </a:r>
            <a:r>
              <a:rPr lang="es-ES" sz="1700" dirty="0">
                <a:solidFill>
                  <a:srgbClr val="FF0000"/>
                </a:solidFill>
              </a:rPr>
              <a:t>"</a:t>
            </a:r>
            <a:r>
              <a:rPr lang="es-ES" sz="1700" dirty="0">
                <a:solidFill>
                  <a:srgbClr val="0070C0"/>
                </a:solidFill>
              </a:rPr>
              <a:t>/&gt;</a:t>
            </a:r>
            <a:endParaRPr lang="es-ES" sz="1700" dirty="0">
              <a:solidFill>
                <a:srgbClr val="00B0F0"/>
              </a:solidFill>
              <a:latin typeface="+mj-lt"/>
              <a:ea typeface="Calibri" panose="020F0502020204030204" pitchFamily="34" charset="0"/>
              <a:cs typeface="CourierNewPSMT-Identity-H"/>
            </a:endParaRPr>
          </a:p>
          <a:p>
            <a:r>
              <a:rPr lang="es-ES" sz="1700" dirty="0">
                <a:solidFill>
                  <a:srgbClr val="CC6600"/>
                </a:solidFill>
              </a:rPr>
              <a:t>                  &lt;</a:t>
            </a:r>
            <a:r>
              <a:rPr lang="es-ES" sz="1700" dirty="0" err="1">
                <a:solidFill>
                  <a:srgbClr val="CC6600"/>
                </a:solidFill>
              </a:rPr>
              <a:t>xs:choice</a:t>
            </a:r>
            <a:r>
              <a:rPr lang="es-ES" sz="1700" dirty="0">
                <a:solidFill>
                  <a:srgbClr val="CC6600"/>
                </a:solidFill>
              </a:rPr>
              <a:t>&gt;</a:t>
            </a:r>
          </a:p>
          <a:p>
            <a:r>
              <a:rPr lang="es-ES" sz="1700" dirty="0">
                <a:solidFill>
                  <a:srgbClr val="00B050"/>
                </a:solidFill>
              </a:rPr>
              <a:t>                         </a:t>
            </a:r>
            <a:r>
              <a:rPr lang="es-ES" sz="1700" dirty="0">
                <a:solidFill>
                  <a:srgbClr val="0070C0"/>
                </a:solidFill>
              </a:rPr>
              <a:t>&lt;</a:t>
            </a:r>
            <a:r>
              <a:rPr lang="es-ES" sz="1700" dirty="0" err="1">
                <a:solidFill>
                  <a:srgbClr val="0070C0"/>
                </a:solidFill>
              </a:rPr>
              <a:t>xs:element</a:t>
            </a:r>
            <a:r>
              <a:rPr lang="es-ES" sz="1700" dirty="0">
                <a:solidFill>
                  <a:srgbClr val="0070C0"/>
                </a:solidFill>
              </a:rPr>
              <a:t> </a:t>
            </a:r>
            <a:r>
              <a:rPr lang="es-ES" sz="1700" dirty="0" err="1">
                <a:solidFill>
                  <a:srgbClr val="00B050"/>
                </a:solidFill>
              </a:rPr>
              <a:t>name</a:t>
            </a:r>
            <a:r>
              <a:rPr lang="es-ES" sz="1700" dirty="0">
                <a:solidFill>
                  <a:srgbClr val="00B050"/>
                </a:solidFill>
              </a:rPr>
              <a:t>="</a:t>
            </a:r>
            <a:r>
              <a:rPr lang="es-ES" sz="1700" dirty="0" err="1">
                <a:solidFill>
                  <a:srgbClr val="00B050"/>
                </a:solidFill>
              </a:rPr>
              <a:t>movil</a:t>
            </a:r>
            <a:r>
              <a:rPr lang="es-ES" sz="1700" dirty="0">
                <a:solidFill>
                  <a:srgbClr val="00B050"/>
                </a:solidFill>
              </a:rPr>
              <a:t>" </a:t>
            </a:r>
            <a:r>
              <a:rPr lang="es-ES" sz="1700" dirty="0" err="1">
                <a:solidFill>
                  <a:srgbClr val="FF0000"/>
                </a:solidFill>
              </a:rPr>
              <a:t>type</a:t>
            </a:r>
            <a:r>
              <a:rPr lang="es-ES" sz="1700" dirty="0">
                <a:solidFill>
                  <a:srgbClr val="FF0000"/>
                </a:solidFill>
              </a:rPr>
              <a:t>="</a:t>
            </a:r>
            <a:r>
              <a:rPr lang="es-ES" sz="1700" dirty="0" err="1">
                <a:solidFill>
                  <a:srgbClr val="FF0000"/>
                </a:solidFill>
              </a:rPr>
              <a:t>xs:integer</a:t>
            </a:r>
            <a:r>
              <a:rPr lang="es-ES" sz="1700" dirty="0">
                <a:solidFill>
                  <a:srgbClr val="FF0000"/>
                </a:solidFill>
              </a:rPr>
              <a:t>"</a:t>
            </a:r>
            <a:r>
              <a:rPr lang="es-ES" sz="17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700" dirty="0">
                <a:solidFill>
                  <a:srgbClr val="0070C0"/>
                </a:solidFill>
              </a:rPr>
              <a:t>                         &lt;</a:t>
            </a:r>
            <a:r>
              <a:rPr lang="es-ES" sz="1700" dirty="0" err="1">
                <a:solidFill>
                  <a:srgbClr val="0070C0"/>
                </a:solidFill>
              </a:rPr>
              <a:t>xs:element</a:t>
            </a:r>
            <a:r>
              <a:rPr lang="es-ES" sz="1700" dirty="0">
                <a:solidFill>
                  <a:srgbClr val="0070C0"/>
                </a:solidFill>
              </a:rPr>
              <a:t> </a:t>
            </a:r>
            <a:r>
              <a:rPr lang="es-ES" sz="1700" dirty="0" err="1">
                <a:solidFill>
                  <a:srgbClr val="00B050"/>
                </a:solidFill>
              </a:rPr>
              <a:t>name</a:t>
            </a:r>
            <a:r>
              <a:rPr lang="es-ES" sz="1700" dirty="0">
                <a:solidFill>
                  <a:srgbClr val="00B050"/>
                </a:solidFill>
              </a:rPr>
              <a:t>="fijo"     </a:t>
            </a:r>
            <a:r>
              <a:rPr lang="es-ES" sz="1700" dirty="0" err="1">
                <a:solidFill>
                  <a:srgbClr val="FF0000"/>
                </a:solidFill>
              </a:rPr>
              <a:t>type</a:t>
            </a:r>
            <a:r>
              <a:rPr lang="es-ES" sz="1700" dirty="0">
                <a:solidFill>
                  <a:srgbClr val="FF0000"/>
                </a:solidFill>
              </a:rPr>
              <a:t>="</a:t>
            </a:r>
            <a:r>
              <a:rPr lang="es-ES" sz="1700" dirty="0" err="1">
                <a:solidFill>
                  <a:srgbClr val="FF0000"/>
                </a:solidFill>
              </a:rPr>
              <a:t>xs:integer</a:t>
            </a:r>
            <a:r>
              <a:rPr lang="es-ES" sz="1700" dirty="0">
                <a:solidFill>
                  <a:srgbClr val="FF0000"/>
                </a:solidFill>
              </a:rPr>
              <a:t>"</a:t>
            </a:r>
            <a:r>
              <a:rPr lang="es-ES" sz="17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700" dirty="0">
                <a:solidFill>
                  <a:srgbClr val="CC6600"/>
                </a:solidFill>
              </a:rPr>
              <a:t>                  &lt;/</a:t>
            </a:r>
            <a:r>
              <a:rPr lang="es-ES" sz="1700" dirty="0" err="1">
                <a:solidFill>
                  <a:srgbClr val="CC6600"/>
                </a:solidFill>
              </a:rPr>
              <a:t>xs:choice</a:t>
            </a:r>
            <a:r>
              <a:rPr lang="es-ES" sz="1700" dirty="0">
                <a:solidFill>
                  <a:srgbClr val="CC6600"/>
                </a:solidFill>
              </a:rPr>
              <a:t>&gt;</a:t>
            </a:r>
            <a:endParaRPr lang="es-ES" sz="1700" dirty="0">
              <a:solidFill>
                <a:srgbClr val="0070C0"/>
              </a:solidFill>
            </a:endParaRPr>
          </a:p>
          <a:p>
            <a:r>
              <a:rPr lang="es-ES" sz="1700" dirty="0">
                <a:solidFill>
                  <a:srgbClr val="00B050"/>
                </a:solidFill>
              </a:rPr>
              <a:t>                  </a:t>
            </a:r>
            <a:r>
              <a:rPr lang="es-ES" sz="1700" dirty="0">
                <a:solidFill>
                  <a:srgbClr val="0070C0"/>
                </a:solidFill>
              </a:rPr>
              <a:t>&lt;</a:t>
            </a:r>
            <a:r>
              <a:rPr lang="es-ES" sz="1700" dirty="0" err="1">
                <a:solidFill>
                  <a:srgbClr val="0070C0"/>
                </a:solidFill>
              </a:rPr>
              <a:t>xs:element</a:t>
            </a:r>
            <a:r>
              <a:rPr lang="es-ES" sz="1700" dirty="0">
                <a:solidFill>
                  <a:srgbClr val="0070C0"/>
                </a:solidFill>
              </a:rPr>
              <a:t> </a:t>
            </a:r>
            <a:r>
              <a:rPr lang="es-ES" sz="1700" dirty="0" err="1">
                <a:solidFill>
                  <a:srgbClr val="00B050"/>
                </a:solidFill>
              </a:rPr>
              <a:t>name</a:t>
            </a:r>
            <a:r>
              <a:rPr lang="es-ES" sz="1700" dirty="0">
                <a:solidFill>
                  <a:srgbClr val="00B050"/>
                </a:solidFill>
              </a:rPr>
              <a:t>="email"    </a:t>
            </a:r>
            <a:r>
              <a:rPr lang="es-ES" sz="1700" dirty="0" err="1">
                <a:solidFill>
                  <a:srgbClr val="FF0000"/>
                </a:solidFill>
              </a:rPr>
              <a:t>type</a:t>
            </a:r>
            <a:r>
              <a:rPr lang="es-ES" sz="1700" dirty="0">
                <a:solidFill>
                  <a:srgbClr val="FF0000"/>
                </a:solidFill>
              </a:rPr>
              <a:t>="</a:t>
            </a:r>
            <a:r>
              <a:rPr lang="es-ES" sz="1700" dirty="0" err="1">
                <a:solidFill>
                  <a:srgbClr val="FF0000"/>
                </a:solidFill>
              </a:rPr>
              <a:t>xs:anyURI</a:t>
            </a:r>
            <a:r>
              <a:rPr lang="es-ES" sz="1700" dirty="0">
                <a:solidFill>
                  <a:srgbClr val="FF0000"/>
                </a:solidFill>
              </a:rPr>
              <a:t>"</a:t>
            </a:r>
            <a:r>
              <a:rPr lang="es-ES" sz="17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700" dirty="0">
                <a:solidFill>
                  <a:srgbClr val="CC6600"/>
                </a:solidFill>
              </a:rPr>
              <a:t>            &lt;/</a:t>
            </a:r>
            <a:r>
              <a:rPr lang="es-ES" sz="1700" dirty="0" err="1">
                <a:solidFill>
                  <a:srgbClr val="CC6600"/>
                </a:solidFill>
              </a:rPr>
              <a:t>xs:sequence</a:t>
            </a:r>
            <a:r>
              <a:rPr lang="es-ES" sz="1700" dirty="0">
                <a:solidFill>
                  <a:srgbClr val="CC6600"/>
                </a:solidFill>
              </a:rPr>
              <a:t>&gt;</a:t>
            </a:r>
          </a:p>
          <a:p>
            <a:r>
              <a:rPr lang="es-ES" sz="17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    </a:t>
            </a: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&lt;/</a:t>
            </a:r>
            <a:r>
              <a:rPr lang="es-ES" sz="17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xs:complexType</a:t>
            </a: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7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7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/</a:t>
            </a:r>
            <a:r>
              <a:rPr lang="es-ES" sz="17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xs:element</a:t>
            </a: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700" dirty="0">
              <a:solidFill>
                <a:srgbClr val="00B0F0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1690894" y="1196752"/>
            <a:ext cx="56166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/>
              <a:t>CHOICE DENTRO DE SEQUENCE (ANIDAMIENTO) </a:t>
            </a:r>
          </a:p>
        </p:txBody>
      </p:sp>
      <p:sp>
        <p:nvSpPr>
          <p:cNvPr id="14" name="Rectángulo 13"/>
          <p:cNvSpPr/>
          <p:nvPr/>
        </p:nvSpPr>
        <p:spPr bwMode="auto">
          <a:xfrm>
            <a:off x="4499992" y="1628800"/>
            <a:ext cx="4104456" cy="1304571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4609626" y="1639006"/>
            <a:ext cx="3789598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5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&lt;contacto&gt;</a:t>
            </a:r>
          </a:p>
          <a:p>
            <a:r>
              <a:rPr lang="es-ES" sz="15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&lt;nombre&gt;</a:t>
            </a:r>
            <a:r>
              <a:rPr lang="es-ES" sz="1500" dirty="0">
                <a:solidFill>
                  <a:srgbClr val="FF0000"/>
                </a:solidFill>
              </a:rPr>
              <a:t>Ana</a:t>
            </a:r>
            <a:r>
              <a:rPr lang="es-ES" sz="15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&lt;/nombre&gt;</a:t>
            </a:r>
          </a:p>
          <a:p>
            <a:r>
              <a:rPr lang="es-ES" sz="15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&lt;fijo&gt;</a:t>
            </a:r>
            <a:r>
              <a:rPr lang="es-ES" sz="1500" dirty="0">
                <a:solidFill>
                  <a:srgbClr val="FF0000"/>
                </a:solidFill>
              </a:rPr>
              <a:t>956345627</a:t>
            </a:r>
            <a:r>
              <a:rPr lang="es-ES" sz="15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&lt;/fijo&gt;</a:t>
            </a:r>
          </a:p>
          <a:p>
            <a:r>
              <a:rPr lang="es-ES" sz="15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&lt;email&gt;</a:t>
            </a:r>
            <a:r>
              <a:rPr lang="es-ES" sz="1500" dirty="0">
                <a:solidFill>
                  <a:srgbClr val="FF0000"/>
                </a:solidFill>
              </a:rPr>
              <a:t>santi_tizon@gmail.com</a:t>
            </a:r>
            <a:r>
              <a:rPr lang="es-ES" sz="15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&lt;/email&gt;</a:t>
            </a:r>
          </a:p>
          <a:p>
            <a:r>
              <a:rPr lang="es-ES" sz="15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&lt;/contacto&gt;</a:t>
            </a:r>
          </a:p>
        </p:txBody>
      </p:sp>
      <p:sp>
        <p:nvSpPr>
          <p:cNvPr id="22" name="CuadroTexto 21"/>
          <p:cNvSpPr txBox="1"/>
          <p:nvPr/>
        </p:nvSpPr>
        <p:spPr>
          <a:xfrm>
            <a:off x="715448" y="6500663"/>
            <a:ext cx="7624481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Realiza el ejercicio 14</a:t>
            </a:r>
          </a:p>
        </p:txBody>
      </p:sp>
    </p:spTree>
    <p:extLst>
      <p:ext uri="{BB962C8B-B14F-4D97-AF65-F5344CB8AC3E}">
        <p14:creationId xmlns:p14="http://schemas.microsoft.com/office/powerpoint/2010/main" val="3341671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uiExpand="1" build="p"/>
      <p:bldP spid="22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45760"/>
            <a:ext cx="7487260" cy="563563"/>
          </a:xfrm>
        </p:spPr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Complejos</a:t>
            </a:r>
            <a:endParaRPr lang="en-US" sz="1400" dirty="0"/>
          </a:p>
        </p:txBody>
      </p:sp>
      <p:sp>
        <p:nvSpPr>
          <p:cNvPr id="42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1547664" y="909881"/>
            <a:ext cx="56166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dirty="0">
                <a:solidFill>
                  <a:srgbClr val="00B0F0"/>
                </a:solidFill>
              </a:rPr>
              <a:t>Indicadores de ocurrencias - </a:t>
            </a:r>
            <a:r>
              <a:rPr lang="es-ES" sz="2200" dirty="0" err="1">
                <a:solidFill>
                  <a:srgbClr val="0070C0"/>
                </a:solidFill>
              </a:rPr>
              <a:t>sequence</a:t>
            </a:r>
            <a:endParaRPr lang="es-ES" sz="2200" dirty="0">
              <a:solidFill>
                <a:srgbClr val="0070C0"/>
              </a:solidFill>
            </a:endParaRPr>
          </a:p>
        </p:txBody>
      </p:sp>
      <p:grpSp>
        <p:nvGrpSpPr>
          <p:cNvPr id="13" name="Grupo 12"/>
          <p:cNvGrpSpPr/>
          <p:nvPr/>
        </p:nvGrpSpPr>
        <p:grpSpPr>
          <a:xfrm>
            <a:off x="1115616" y="1402368"/>
            <a:ext cx="4000568" cy="1573063"/>
            <a:chOff x="1295636" y="3738424"/>
            <a:chExt cx="5616624" cy="501858"/>
          </a:xfrm>
        </p:grpSpPr>
        <p:sp>
          <p:nvSpPr>
            <p:cNvPr id="40" name="Rectángulo 39"/>
            <p:cNvSpPr/>
            <p:nvPr/>
          </p:nvSpPr>
          <p:spPr bwMode="auto">
            <a:xfrm>
              <a:off x="1295636" y="3738424"/>
              <a:ext cx="5616624" cy="501858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1" name="CuadroTexto 40"/>
            <p:cNvSpPr txBox="1"/>
            <p:nvPr/>
          </p:nvSpPr>
          <p:spPr>
            <a:xfrm>
              <a:off x="1445661" y="3761022"/>
              <a:ext cx="5185766" cy="426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&lt;contacto&gt;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&lt;nombre&gt;</a:t>
              </a:r>
              <a:r>
                <a:rPr lang="es-ES" sz="1500" dirty="0">
                  <a:solidFill>
                    <a:srgbClr val="FF0000"/>
                  </a:solidFill>
                </a:rPr>
                <a:t>Ramón Tejero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&lt;/nombre&gt;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&lt;</a:t>
              </a:r>
              <a:r>
                <a:rPr lang="es-ES" sz="1500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telefono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  <a:r>
                <a:rPr lang="es-ES" sz="1500" dirty="0">
                  <a:solidFill>
                    <a:srgbClr val="FF0000"/>
                  </a:solidFill>
                </a:rPr>
                <a:t>675345624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</a:t>
              </a:r>
              <a:r>
                <a:rPr lang="es-ES" sz="1500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telefono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&lt;</a:t>
              </a:r>
              <a:r>
                <a:rPr lang="es-ES" sz="1500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telefono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  <a:r>
                <a:rPr lang="es-ES" sz="1500" dirty="0">
                  <a:solidFill>
                    <a:srgbClr val="FF0000"/>
                  </a:solidFill>
                </a:rPr>
                <a:t>956345627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</a:t>
              </a:r>
              <a:r>
                <a:rPr lang="es-ES" sz="1500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telefono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&lt;email&gt;</a:t>
              </a:r>
              <a:r>
                <a:rPr lang="es-ES" sz="1500" dirty="0">
                  <a:solidFill>
                    <a:srgbClr val="FF0000"/>
                  </a:solidFill>
                </a:rPr>
                <a:t>ramonte@gmail.com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&lt;/email&gt;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&lt;/contacto&gt;</a:t>
              </a:r>
            </a:p>
          </p:txBody>
        </p:sp>
      </p:grpSp>
      <p:sp>
        <p:nvSpPr>
          <p:cNvPr id="44" name="24 Esquina doblada"/>
          <p:cNvSpPr/>
          <p:nvPr/>
        </p:nvSpPr>
        <p:spPr bwMode="auto">
          <a:xfrm>
            <a:off x="393390" y="4005064"/>
            <a:ext cx="8424936" cy="2664296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5" name="Rectángulo 44"/>
          <p:cNvSpPr/>
          <p:nvPr/>
        </p:nvSpPr>
        <p:spPr>
          <a:xfrm>
            <a:off x="537406" y="4185227"/>
            <a:ext cx="7691507" cy="2360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6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xs:element</a:t>
            </a:r>
            <a:r>
              <a:rPr lang="es-ES" sz="1600" dirty="0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</a:t>
            </a:r>
            <a:r>
              <a:rPr lang="es-ES" sz="1600" dirty="0" err="1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name</a:t>
            </a:r>
            <a:r>
              <a:rPr lang="es-ES" sz="16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="</a:t>
            </a:r>
            <a:r>
              <a:rPr lang="es-ES" sz="1600" dirty="0">
                <a:solidFill>
                  <a:srgbClr val="FF99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contacto</a:t>
            </a:r>
            <a:r>
              <a:rPr lang="es-ES" sz="16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"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6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6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    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6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</a:t>
            </a:r>
            <a:r>
              <a:rPr lang="es-ES" sz="1600" dirty="0" err="1">
                <a:latin typeface="+mj-lt"/>
                <a:ea typeface="Calibri" panose="020F0502020204030204" pitchFamily="34" charset="0"/>
                <a:cs typeface="CourierNewPSMT-Identity-H"/>
              </a:rPr>
              <a:t>complexType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</a:p>
          <a:p>
            <a:r>
              <a:rPr lang="es-ES" sz="1600" dirty="0">
                <a:solidFill>
                  <a:srgbClr val="CC6600"/>
                </a:solidFill>
              </a:rPr>
              <a:t>            &lt;</a:t>
            </a:r>
            <a:r>
              <a:rPr lang="es-ES" sz="1600" dirty="0" err="1">
                <a:solidFill>
                  <a:srgbClr val="CC6600"/>
                </a:solidFill>
              </a:rPr>
              <a:t>xs:sequence</a:t>
            </a:r>
            <a:r>
              <a:rPr lang="es-ES" sz="1600" dirty="0">
                <a:solidFill>
                  <a:srgbClr val="CC6600"/>
                </a:solidFill>
              </a:rPr>
              <a:t>&gt;</a:t>
            </a:r>
          </a:p>
          <a:p>
            <a:r>
              <a:rPr lang="es-ES" sz="1600" dirty="0">
                <a:solidFill>
                  <a:srgbClr val="00B050"/>
                </a:solidFill>
              </a:rPr>
              <a:t>                      </a:t>
            </a:r>
            <a:r>
              <a:rPr lang="es-ES" sz="1600" dirty="0">
                <a:solidFill>
                  <a:srgbClr val="0070C0"/>
                </a:solidFill>
              </a:rPr>
              <a:t>&lt;</a:t>
            </a:r>
            <a:r>
              <a:rPr lang="es-ES" sz="1600" dirty="0" err="1">
                <a:solidFill>
                  <a:srgbClr val="0070C0"/>
                </a:solidFill>
              </a:rPr>
              <a:t>xs:element</a:t>
            </a:r>
            <a:r>
              <a:rPr lang="es-ES" sz="1600" dirty="0">
                <a:solidFill>
                  <a:srgbClr val="0070C0"/>
                </a:solidFill>
              </a:rPr>
              <a:t> </a:t>
            </a:r>
            <a:r>
              <a:rPr lang="es-ES" sz="1600" dirty="0" err="1">
                <a:solidFill>
                  <a:srgbClr val="00B050"/>
                </a:solidFill>
              </a:rPr>
              <a:t>name</a:t>
            </a:r>
            <a:r>
              <a:rPr lang="es-ES" sz="1600" dirty="0">
                <a:solidFill>
                  <a:srgbClr val="00B050"/>
                </a:solidFill>
              </a:rPr>
              <a:t>="</a:t>
            </a:r>
            <a:r>
              <a:rPr lang="es-ES" sz="1600" dirty="0">
                <a:solidFill>
                  <a:srgbClr val="FF9900"/>
                </a:solidFill>
              </a:rPr>
              <a:t>nombre</a:t>
            </a:r>
            <a:r>
              <a:rPr lang="es-ES" sz="1600" dirty="0">
                <a:solidFill>
                  <a:srgbClr val="00CC00"/>
                </a:solidFill>
              </a:rPr>
              <a:t>"  </a:t>
            </a:r>
            <a:r>
              <a:rPr lang="es-ES" sz="1600" dirty="0" err="1">
                <a:solidFill>
                  <a:srgbClr val="00CC00"/>
                </a:solidFill>
              </a:rPr>
              <a:t>type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 err="1">
                <a:solidFill>
                  <a:srgbClr val="FF9900"/>
                </a:solidFill>
              </a:rPr>
              <a:t>xs:string</a:t>
            </a:r>
            <a:r>
              <a:rPr lang="es-ES" sz="1600" dirty="0">
                <a:solidFill>
                  <a:srgbClr val="00CC00"/>
                </a:solidFill>
              </a:rPr>
              <a:t>"</a:t>
            </a:r>
            <a:r>
              <a:rPr lang="es-ES" sz="16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600" dirty="0">
                <a:solidFill>
                  <a:srgbClr val="0070C0"/>
                </a:solidFill>
              </a:rPr>
              <a:t>                      &lt;</a:t>
            </a:r>
            <a:r>
              <a:rPr lang="es-ES" sz="1600" dirty="0" err="1">
                <a:solidFill>
                  <a:srgbClr val="0070C0"/>
                </a:solidFill>
              </a:rPr>
              <a:t>xs:element</a:t>
            </a:r>
            <a:r>
              <a:rPr lang="es-ES" sz="1600" dirty="0">
                <a:solidFill>
                  <a:srgbClr val="0070C0"/>
                </a:solidFill>
              </a:rPr>
              <a:t> </a:t>
            </a:r>
            <a:r>
              <a:rPr lang="es-ES" sz="1600" dirty="0" err="1">
                <a:solidFill>
                  <a:srgbClr val="00B050"/>
                </a:solidFill>
              </a:rPr>
              <a:t>name</a:t>
            </a:r>
            <a:r>
              <a:rPr lang="es-ES" sz="1600" dirty="0">
                <a:solidFill>
                  <a:srgbClr val="00B050"/>
                </a:solidFill>
              </a:rPr>
              <a:t>="</a:t>
            </a:r>
            <a:r>
              <a:rPr lang="es-ES" sz="1600" dirty="0" err="1">
                <a:solidFill>
                  <a:srgbClr val="FF9900"/>
                </a:solidFill>
              </a:rPr>
              <a:t>telefono</a:t>
            </a:r>
            <a:r>
              <a:rPr lang="es-ES" sz="1600" dirty="0">
                <a:solidFill>
                  <a:srgbClr val="00B050"/>
                </a:solidFill>
              </a:rPr>
              <a:t>" </a:t>
            </a:r>
            <a:r>
              <a:rPr lang="es-ES" sz="1600" dirty="0" err="1">
                <a:solidFill>
                  <a:srgbClr val="00CC00"/>
                </a:solidFill>
              </a:rPr>
              <a:t>type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 err="1">
                <a:solidFill>
                  <a:srgbClr val="FF9900"/>
                </a:solidFill>
              </a:rPr>
              <a:t>xs:integer</a:t>
            </a:r>
            <a:r>
              <a:rPr lang="es-ES" sz="1600" dirty="0">
                <a:solidFill>
                  <a:srgbClr val="00CC00"/>
                </a:solidFill>
              </a:rPr>
              <a:t>"</a:t>
            </a:r>
          </a:p>
          <a:p>
            <a:r>
              <a:rPr lang="es-ES" sz="1600" dirty="0">
                <a:solidFill>
                  <a:srgbClr val="00B050"/>
                </a:solidFill>
              </a:rPr>
              <a:t>                      </a:t>
            </a:r>
            <a:r>
              <a:rPr lang="es-ES" sz="1600" dirty="0">
                <a:solidFill>
                  <a:srgbClr val="0070C0"/>
                </a:solidFill>
              </a:rPr>
              <a:t>&lt;</a:t>
            </a:r>
            <a:r>
              <a:rPr lang="es-ES" sz="1600" dirty="0" err="1">
                <a:solidFill>
                  <a:srgbClr val="0070C0"/>
                </a:solidFill>
              </a:rPr>
              <a:t>xs:element</a:t>
            </a:r>
            <a:r>
              <a:rPr lang="es-ES" sz="1600" dirty="0">
                <a:solidFill>
                  <a:srgbClr val="0070C0"/>
                </a:solidFill>
              </a:rPr>
              <a:t> </a:t>
            </a:r>
            <a:r>
              <a:rPr lang="es-ES" sz="1600" dirty="0" err="1">
                <a:solidFill>
                  <a:srgbClr val="00B050"/>
                </a:solidFill>
              </a:rPr>
              <a:t>name</a:t>
            </a:r>
            <a:r>
              <a:rPr lang="es-ES" sz="1600" dirty="0">
                <a:solidFill>
                  <a:srgbClr val="00B050"/>
                </a:solidFill>
              </a:rPr>
              <a:t>="</a:t>
            </a:r>
            <a:r>
              <a:rPr lang="es-ES" sz="1600" dirty="0">
                <a:solidFill>
                  <a:srgbClr val="FF9900"/>
                </a:solidFill>
              </a:rPr>
              <a:t>email</a:t>
            </a:r>
            <a:r>
              <a:rPr lang="es-ES" sz="1600" dirty="0">
                <a:solidFill>
                  <a:srgbClr val="00B050"/>
                </a:solidFill>
              </a:rPr>
              <a:t>"    </a:t>
            </a:r>
            <a:r>
              <a:rPr lang="es-ES" sz="1600" dirty="0">
                <a:solidFill>
                  <a:srgbClr val="00CC00"/>
                </a:solidFill>
              </a:rPr>
              <a:t> </a:t>
            </a:r>
            <a:r>
              <a:rPr lang="es-ES" sz="1600" dirty="0" err="1">
                <a:solidFill>
                  <a:srgbClr val="00CC00"/>
                </a:solidFill>
              </a:rPr>
              <a:t>type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 err="1">
                <a:solidFill>
                  <a:srgbClr val="FF9900"/>
                </a:solidFill>
              </a:rPr>
              <a:t>xs:anyURI</a:t>
            </a:r>
            <a:r>
              <a:rPr lang="es-ES" sz="1600" dirty="0">
                <a:solidFill>
                  <a:srgbClr val="00CC00"/>
                </a:solidFill>
              </a:rPr>
              <a:t>" </a:t>
            </a:r>
            <a:r>
              <a:rPr lang="es-ES" sz="1600" dirty="0" err="1">
                <a:solidFill>
                  <a:srgbClr val="00CC00"/>
                </a:solidFill>
              </a:rPr>
              <a:t>minOccurs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>
                <a:solidFill>
                  <a:srgbClr val="FF9900"/>
                </a:solidFill>
              </a:rPr>
              <a:t>0</a:t>
            </a:r>
            <a:r>
              <a:rPr lang="es-ES" sz="1600" dirty="0">
                <a:solidFill>
                  <a:srgbClr val="00CC00"/>
                </a:solidFill>
              </a:rPr>
              <a:t>"</a:t>
            </a:r>
            <a:r>
              <a:rPr lang="es-ES" sz="16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600" dirty="0">
                <a:solidFill>
                  <a:srgbClr val="CC6600"/>
                </a:solidFill>
              </a:rPr>
              <a:t>            &lt;/</a:t>
            </a:r>
            <a:r>
              <a:rPr lang="es-ES" sz="1600" dirty="0" err="1">
                <a:solidFill>
                  <a:srgbClr val="CC6600"/>
                </a:solidFill>
              </a:rPr>
              <a:t>xs:sequence</a:t>
            </a:r>
            <a:r>
              <a:rPr lang="es-ES" sz="1600" dirty="0">
                <a:solidFill>
                  <a:srgbClr val="CC6600"/>
                </a:solidFill>
              </a:rPr>
              <a:t>&gt;</a:t>
            </a:r>
          </a:p>
          <a:p>
            <a:r>
              <a:rPr lang="es-ES" sz="16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    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&lt;/</a:t>
            </a:r>
            <a:r>
              <a:rPr lang="es-ES" sz="16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xs:complexType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6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6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/</a:t>
            </a:r>
            <a:r>
              <a:rPr lang="es-ES" sz="16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xs:element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600" dirty="0">
              <a:solidFill>
                <a:srgbClr val="00B0F0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/>
          <p:cNvSpPr txBox="1"/>
          <p:nvPr/>
        </p:nvSpPr>
        <p:spPr>
          <a:xfrm>
            <a:off x="5219701" y="2409711"/>
            <a:ext cx="318962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500" dirty="0">
                <a:solidFill>
                  <a:srgbClr val="F51BBC"/>
                </a:solidFill>
              </a:rPr>
              <a:t>email opcional (min 0 y </a:t>
            </a:r>
            <a:r>
              <a:rPr lang="es-ES" sz="1500" dirty="0" err="1">
                <a:solidFill>
                  <a:srgbClr val="F51BBC"/>
                </a:solidFill>
              </a:rPr>
              <a:t>max</a:t>
            </a:r>
            <a:r>
              <a:rPr lang="es-ES" sz="1500" dirty="0">
                <a:solidFill>
                  <a:srgbClr val="F51BBC"/>
                </a:solidFill>
              </a:rPr>
              <a:t> 1)</a:t>
            </a:r>
          </a:p>
        </p:txBody>
      </p:sp>
      <p:sp>
        <p:nvSpPr>
          <p:cNvPr id="17" name="CuadroTexto 16"/>
          <p:cNvSpPr txBox="1"/>
          <p:nvPr/>
        </p:nvSpPr>
        <p:spPr>
          <a:xfrm>
            <a:off x="5219701" y="1747454"/>
            <a:ext cx="318962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500" dirty="0">
                <a:solidFill>
                  <a:srgbClr val="F51BBC"/>
                </a:solidFill>
              </a:rPr>
              <a:t>1 nombre (min 1 y </a:t>
            </a:r>
            <a:r>
              <a:rPr lang="es-ES" sz="1500" dirty="0" err="1">
                <a:solidFill>
                  <a:srgbClr val="F51BBC"/>
                </a:solidFill>
              </a:rPr>
              <a:t>max</a:t>
            </a:r>
            <a:r>
              <a:rPr lang="es-ES" sz="1500" dirty="0">
                <a:solidFill>
                  <a:srgbClr val="F51BBC"/>
                </a:solidFill>
              </a:rPr>
              <a:t> 1)</a:t>
            </a:r>
          </a:p>
        </p:txBody>
      </p:sp>
      <p:sp>
        <p:nvSpPr>
          <p:cNvPr id="18" name="CuadroTexto 17"/>
          <p:cNvSpPr txBox="1"/>
          <p:nvPr/>
        </p:nvSpPr>
        <p:spPr>
          <a:xfrm>
            <a:off x="5230188" y="2078583"/>
            <a:ext cx="336468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500" dirty="0">
                <a:solidFill>
                  <a:srgbClr val="F51BBC"/>
                </a:solidFill>
              </a:rPr>
              <a:t>1 o 2 teléfonos (min 1 y </a:t>
            </a:r>
            <a:r>
              <a:rPr lang="es-ES" sz="1500" dirty="0" err="1">
                <a:solidFill>
                  <a:srgbClr val="F51BBC"/>
                </a:solidFill>
              </a:rPr>
              <a:t>max</a:t>
            </a:r>
            <a:r>
              <a:rPr lang="es-ES" sz="1500" dirty="0">
                <a:solidFill>
                  <a:srgbClr val="F51BBC"/>
                </a:solidFill>
              </a:rPr>
              <a:t> 2)</a:t>
            </a:r>
          </a:p>
        </p:txBody>
      </p:sp>
      <p:sp>
        <p:nvSpPr>
          <p:cNvPr id="19" name="CuadroTexto 18"/>
          <p:cNvSpPr txBox="1"/>
          <p:nvPr/>
        </p:nvSpPr>
        <p:spPr>
          <a:xfrm>
            <a:off x="5290793" y="2070619"/>
            <a:ext cx="38532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500" dirty="0">
                <a:solidFill>
                  <a:srgbClr val="F51BBC"/>
                </a:solidFill>
              </a:rPr>
              <a:t>1 o más teléfonos (min 1, </a:t>
            </a:r>
            <a:r>
              <a:rPr lang="es-ES" sz="1500" dirty="0" err="1">
                <a:solidFill>
                  <a:srgbClr val="F51BBC"/>
                </a:solidFill>
              </a:rPr>
              <a:t>max</a:t>
            </a:r>
            <a:r>
              <a:rPr lang="es-ES" sz="1500" dirty="0">
                <a:solidFill>
                  <a:srgbClr val="F51BBC"/>
                </a:solidFill>
              </a:rPr>
              <a:t> infinito)</a:t>
            </a:r>
          </a:p>
        </p:txBody>
      </p:sp>
      <p:sp>
        <p:nvSpPr>
          <p:cNvPr id="22" name="Rectángulo 21"/>
          <p:cNvSpPr/>
          <p:nvPr/>
        </p:nvSpPr>
        <p:spPr>
          <a:xfrm>
            <a:off x="6123550" y="5190099"/>
            <a:ext cx="2880320" cy="339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600" dirty="0" err="1">
                <a:solidFill>
                  <a:srgbClr val="00CC00"/>
                </a:solidFill>
              </a:rPr>
              <a:t>maxOccurs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 err="1">
                <a:solidFill>
                  <a:srgbClr val="FF9900"/>
                </a:solidFill>
              </a:rPr>
              <a:t>unbounded</a:t>
            </a:r>
            <a:r>
              <a:rPr lang="es-ES" sz="1600" dirty="0">
                <a:solidFill>
                  <a:srgbClr val="00CC00"/>
                </a:solidFill>
              </a:rPr>
              <a:t>"</a:t>
            </a:r>
            <a:r>
              <a:rPr lang="es-ES" sz="1600" dirty="0">
                <a:solidFill>
                  <a:srgbClr val="0070C0"/>
                </a:solidFill>
              </a:rPr>
              <a:t>/&gt;</a:t>
            </a:r>
            <a:endParaRPr lang="es-ES" sz="1600" dirty="0">
              <a:solidFill>
                <a:srgbClr val="00B0F0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Rectángulo 20"/>
          <p:cNvSpPr/>
          <p:nvPr/>
        </p:nvSpPr>
        <p:spPr>
          <a:xfrm>
            <a:off x="6127326" y="5190099"/>
            <a:ext cx="1886823" cy="3558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600" dirty="0" err="1">
                <a:solidFill>
                  <a:srgbClr val="00CC00"/>
                </a:solidFill>
              </a:rPr>
              <a:t>maxOccurs</a:t>
            </a:r>
            <a:r>
              <a:rPr lang="es-ES" sz="1600" dirty="0">
                <a:solidFill>
                  <a:srgbClr val="00CC00"/>
                </a:solidFill>
              </a:rPr>
              <a:t>="</a:t>
            </a:r>
            <a:r>
              <a:rPr lang="es-ES" sz="1600" dirty="0">
                <a:solidFill>
                  <a:srgbClr val="FF9900"/>
                </a:solidFill>
              </a:rPr>
              <a:t>2</a:t>
            </a:r>
            <a:r>
              <a:rPr lang="es-ES" sz="1600" dirty="0">
                <a:solidFill>
                  <a:srgbClr val="00CC00"/>
                </a:solidFill>
              </a:rPr>
              <a:t>"</a:t>
            </a:r>
            <a:r>
              <a:rPr lang="es-ES" sz="1600" dirty="0">
                <a:solidFill>
                  <a:srgbClr val="0070C0"/>
                </a:solidFill>
              </a:rPr>
              <a:t>/&gt;</a:t>
            </a:r>
            <a:endParaRPr lang="es-ES" sz="1600" dirty="0">
              <a:solidFill>
                <a:srgbClr val="00B0F0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5223043" y="1415755"/>
            <a:ext cx="24662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500" dirty="0">
                <a:solidFill>
                  <a:srgbClr val="F51BBC"/>
                </a:solidFill>
              </a:rPr>
              <a:t>elementos ordenados</a:t>
            </a:r>
          </a:p>
        </p:txBody>
      </p:sp>
      <p:sp>
        <p:nvSpPr>
          <p:cNvPr id="4" name="Rectángulo 3"/>
          <p:cNvSpPr/>
          <p:nvPr/>
        </p:nvSpPr>
        <p:spPr bwMode="auto">
          <a:xfrm>
            <a:off x="524963" y="3076211"/>
            <a:ext cx="8211058" cy="813590"/>
          </a:xfrm>
          <a:prstGeom prst="rect">
            <a:avLst/>
          </a:prstGeom>
          <a:solidFill>
            <a:srgbClr val="FFE1FF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rgbClr val="FFE1FF"/>
              </a:solidFill>
              <a:effectLst/>
              <a:latin typeface="Arial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94178" y="3130601"/>
            <a:ext cx="79418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C00000"/>
                </a:solidFill>
              </a:rPr>
              <a:t>Para especificar el máximo y el mínimo de veces que aparece un elemento, se emplean </a:t>
            </a:r>
            <a:r>
              <a:rPr lang="es-ES" sz="1400" dirty="0" err="1">
                <a:solidFill>
                  <a:srgbClr val="009900"/>
                </a:solidFill>
              </a:rPr>
              <a:t>minOccurs</a:t>
            </a:r>
            <a:r>
              <a:rPr lang="es-ES" sz="1400" dirty="0">
                <a:solidFill>
                  <a:srgbClr val="C00000"/>
                </a:solidFill>
              </a:rPr>
              <a:t> y </a:t>
            </a:r>
            <a:r>
              <a:rPr lang="es-ES" sz="1400" dirty="0" err="1">
                <a:solidFill>
                  <a:srgbClr val="009900"/>
                </a:solidFill>
              </a:rPr>
              <a:t>maxOccurs</a:t>
            </a:r>
            <a:r>
              <a:rPr lang="es-ES" sz="1400" dirty="0">
                <a:solidFill>
                  <a:srgbClr val="C00000"/>
                </a:solidFill>
              </a:rPr>
              <a:t>, respectivamente.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C00000"/>
                </a:solidFill>
              </a:rPr>
              <a:t>Sin embargo, si </a:t>
            </a:r>
            <a:r>
              <a:rPr lang="es-ES" sz="1400" dirty="0" err="1">
                <a:solidFill>
                  <a:srgbClr val="009900"/>
                </a:solidFill>
              </a:rPr>
              <a:t>minOccurs</a:t>
            </a:r>
            <a:r>
              <a:rPr lang="es-ES" sz="1400" dirty="0">
                <a:solidFill>
                  <a:srgbClr val="009900"/>
                </a:solidFill>
              </a:rPr>
              <a:t> </a:t>
            </a:r>
            <a:r>
              <a:rPr lang="es-ES" sz="1400" dirty="0">
                <a:solidFill>
                  <a:srgbClr val="C00000"/>
                </a:solidFill>
              </a:rPr>
              <a:t>y/o</a:t>
            </a:r>
            <a:r>
              <a:rPr lang="es-ES" sz="1400" dirty="0">
                <a:solidFill>
                  <a:srgbClr val="009900"/>
                </a:solidFill>
              </a:rPr>
              <a:t> </a:t>
            </a:r>
            <a:r>
              <a:rPr lang="es-ES" sz="1400" dirty="0" err="1">
                <a:solidFill>
                  <a:srgbClr val="009900"/>
                </a:solidFill>
              </a:rPr>
              <a:t>maxOccurs</a:t>
            </a:r>
            <a:r>
              <a:rPr lang="es-ES" sz="1400" dirty="0">
                <a:solidFill>
                  <a:srgbClr val="009900"/>
                </a:solidFill>
              </a:rPr>
              <a:t> </a:t>
            </a:r>
            <a:r>
              <a:rPr lang="es-ES" sz="1400" dirty="0">
                <a:solidFill>
                  <a:srgbClr val="C00000"/>
                </a:solidFill>
              </a:rPr>
              <a:t>valen 1, se omiten.</a:t>
            </a:r>
            <a:endParaRPr lang="es-ES" sz="1400" b="1" dirty="0">
              <a:solidFill>
                <a:srgbClr val="C00000"/>
              </a:solidFill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0FE653C6-CE26-380B-E81A-EBC3671FCA45}"/>
              </a:ext>
            </a:extLst>
          </p:cNvPr>
          <p:cNvGrpSpPr/>
          <p:nvPr/>
        </p:nvGrpSpPr>
        <p:grpSpPr>
          <a:xfrm>
            <a:off x="6299186" y="3889801"/>
            <a:ext cx="2436835" cy="838781"/>
            <a:chOff x="4355977" y="3178232"/>
            <a:chExt cx="1303580" cy="838781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8F65AFF7-7D95-9180-D3DE-48CE11BC2E13}"/>
                </a:ext>
              </a:extLst>
            </p:cNvPr>
            <p:cNvSpPr/>
            <p:nvPr/>
          </p:nvSpPr>
          <p:spPr bwMode="auto">
            <a:xfrm>
              <a:off x="4355977" y="3178232"/>
              <a:ext cx="1303580" cy="813590"/>
            </a:xfrm>
            <a:prstGeom prst="rect">
              <a:avLst/>
            </a:prstGeom>
            <a:solidFill>
              <a:srgbClr val="FFE1FF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rgbClr val="FFE1FF"/>
                </a:solidFill>
                <a:effectLst/>
                <a:latin typeface="Arial" charset="0"/>
              </a:endParaRPr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1B0A16B3-4FBF-AC3B-E065-98803DD55FF7}"/>
                </a:ext>
              </a:extLst>
            </p:cNvPr>
            <p:cNvSpPr txBox="1"/>
            <p:nvPr/>
          </p:nvSpPr>
          <p:spPr>
            <a:xfrm>
              <a:off x="4409635" y="3278349"/>
              <a:ext cx="120752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400" b="1" dirty="0">
                  <a:solidFill>
                    <a:srgbClr val="FFC000"/>
                  </a:solidFill>
                </a:rPr>
                <a:t>Infinito</a:t>
              </a:r>
            </a:p>
            <a:p>
              <a:r>
                <a:rPr lang="es-ES" sz="1400" dirty="0" err="1">
                  <a:solidFill>
                    <a:srgbClr val="009900"/>
                  </a:solidFill>
                </a:rPr>
                <a:t>maxOccurs</a:t>
              </a:r>
              <a:r>
                <a:rPr lang="es-ES" sz="1400" dirty="0">
                  <a:solidFill>
                    <a:srgbClr val="C00000"/>
                  </a:solidFill>
                </a:rPr>
                <a:t>  = </a:t>
              </a:r>
              <a:r>
                <a:rPr lang="es-ES" sz="1400" dirty="0">
                  <a:solidFill>
                    <a:srgbClr val="FFC000"/>
                  </a:solidFill>
                </a:rPr>
                <a:t>"</a:t>
              </a:r>
              <a:r>
                <a:rPr lang="es-ES" sz="1400" dirty="0" err="1">
                  <a:solidFill>
                    <a:srgbClr val="FFC000"/>
                  </a:solidFill>
                </a:rPr>
                <a:t>unbouded</a:t>
              </a:r>
              <a:r>
                <a:rPr lang="es-ES" sz="1400" dirty="0">
                  <a:solidFill>
                    <a:srgbClr val="FFC000"/>
                  </a:solidFill>
                </a:rPr>
                <a:t>"</a:t>
              </a:r>
              <a:endParaRPr lang="es-ES" sz="1400" dirty="0">
                <a:solidFill>
                  <a:srgbClr val="C00000"/>
                </a:solidFill>
              </a:endParaRPr>
            </a:p>
            <a:p>
              <a:endParaRPr lang="es-ES" sz="1400" b="1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0660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uiExpand="1" build="p"/>
      <p:bldP spid="16" grpId="0"/>
      <p:bldP spid="17" grpId="0"/>
      <p:bldP spid="18" grpId="0"/>
      <p:bldP spid="18" grpId="1"/>
      <p:bldP spid="19" grpId="0"/>
      <p:bldP spid="22" grpId="0"/>
      <p:bldP spid="21" grpId="0"/>
      <p:bldP spid="21" grpId="1"/>
      <p:bldP spid="24" grpId="0"/>
      <p:bldP spid="4" grpId="0" animBg="1"/>
      <p:bldP spid="6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24 Esquina doblada"/>
          <p:cNvSpPr/>
          <p:nvPr/>
        </p:nvSpPr>
        <p:spPr bwMode="auto">
          <a:xfrm>
            <a:off x="539552" y="3711593"/>
            <a:ext cx="8280920" cy="2669735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5" name="Rectángulo 44"/>
          <p:cNvSpPr/>
          <p:nvPr/>
        </p:nvSpPr>
        <p:spPr>
          <a:xfrm>
            <a:off x="735357" y="3805062"/>
            <a:ext cx="7691507" cy="24815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7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xs:element</a:t>
            </a:r>
            <a:r>
              <a:rPr lang="es-ES" sz="1700" dirty="0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</a:t>
            </a:r>
            <a:r>
              <a:rPr lang="es-ES" sz="1700" dirty="0" err="1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name</a:t>
            </a:r>
            <a:r>
              <a:rPr lang="es-ES" sz="17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="</a:t>
            </a:r>
            <a:r>
              <a:rPr lang="es-ES" sz="1700" dirty="0">
                <a:solidFill>
                  <a:srgbClr val="FF99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contacto</a:t>
            </a:r>
            <a:r>
              <a:rPr lang="es-ES" sz="17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"</a:t>
            </a: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7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7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    </a:t>
            </a: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7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</a:t>
            </a:r>
            <a:r>
              <a:rPr lang="es-ES" sz="1700" dirty="0" err="1">
                <a:latin typeface="+mj-lt"/>
                <a:ea typeface="Calibri" panose="020F0502020204030204" pitchFamily="34" charset="0"/>
                <a:cs typeface="CourierNewPSMT-Identity-H"/>
              </a:rPr>
              <a:t>complexType</a:t>
            </a: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</a:p>
          <a:p>
            <a:r>
              <a:rPr lang="es-ES" sz="1700" dirty="0">
                <a:solidFill>
                  <a:srgbClr val="CC6600"/>
                </a:solidFill>
              </a:rPr>
              <a:t>            &lt;</a:t>
            </a:r>
            <a:r>
              <a:rPr lang="es-ES" sz="1700" dirty="0" err="1">
                <a:solidFill>
                  <a:srgbClr val="CC6600"/>
                </a:solidFill>
              </a:rPr>
              <a:t>xs:all</a:t>
            </a:r>
            <a:r>
              <a:rPr lang="es-ES" sz="1700" dirty="0">
                <a:solidFill>
                  <a:srgbClr val="CC6600"/>
                </a:solidFill>
              </a:rPr>
              <a:t>&gt;</a:t>
            </a:r>
          </a:p>
          <a:p>
            <a:r>
              <a:rPr lang="es-ES" sz="1700" dirty="0">
                <a:solidFill>
                  <a:srgbClr val="00B050"/>
                </a:solidFill>
              </a:rPr>
              <a:t>                      </a:t>
            </a:r>
            <a:r>
              <a:rPr lang="es-ES" sz="1700" dirty="0">
                <a:solidFill>
                  <a:srgbClr val="0070C0"/>
                </a:solidFill>
              </a:rPr>
              <a:t>&lt;</a:t>
            </a:r>
            <a:r>
              <a:rPr lang="es-ES" sz="1700" dirty="0" err="1">
                <a:solidFill>
                  <a:srgbClr val="0070C0"/>
                </a:solidFill>
              </a:rPr>
              <a:t>xs:element</a:t>
            </a:r>
            <a:r>
              <a:rPr lang="es-ES" sz="1700" dirty="0">
                <a:solidFill>
                  <a:srgbClr val="0070C0"/>
                </a:solidFill>
              </a:rPr>
              <a:t> </a:t>
            </a:r>
            <a:r>
              <a:rPr lang="es-ES" sz="1700" dirty="0" err="1">
                <a:solidFill>
                  <a:srgbClr val="00B050"/>
                </a:solidFill>
              </a:rPr>
              <a:t>name</a:t>
            </a:r>
            <a:r>
              <a:rPr lang="es-ES" sz="1700" dirty="0">
                <a:solidFill>
                  <a:srgbClr val="00B050"/>
                </a:solidFill>
              </a:rPr>
              <a:t>="</a:t>
            </a:r>
            <a:r>
              <a:rPr lang="es-ES" sz="1700" dirty="0" err="1">
                <a:solidFill>
                  <a:srgbClr val="FF9900"/>
                </a:solidFill>
              </a:rPr>
              <a:t>movil</a:t>
            </a:r>
            <a:r>
              <a:rPr lang="es-ES" sz="1700" dirty="0">
                <a:solidFill>
                  <a:srgbClr val="00CC00"/>
                </a:solidFill>
              </a:rPr>
              <a:t>"  </a:t>
            </a:r>
            <a:r>
              <a:rPr lang="es-ES" sz="1700" dirty="0" err="1">
                <a:solidFill>
                  <a:srgbClr val="00CC00"/>
                </a:solidFill>
              </a:rPr>
              <a:t>type</a:t>
            </a:r>
            <a:r>
              <a:rPr lang="es-ES" sz="1700" dirty="0">
                <a:solidFill>
                  <a:srgbClr val="00CC00"/>
                </a:solidFill>
              </a:rPr>
              <a:t>="</a:t>
            </a:r>
            <a:r>
              <a:rPr lang="es-ES" sz="1700" dirty="0" err="1">
                <a:solidFill>
                  <a:srgbClr val="FF9900"/>
                </a:solidFill>
              </a:rPr>
              <a:t>xs:integer</a:t>
            </a:r>
            <a:r>
              <a:rPr lang="es-ES" sz="1700" dirty="0">
                <a:solidFill>
                  <a:srgbClr val="00CC00"/>
                </a:solidFill>
              </a:rPr>
              <a:t>"</a:t>
            </a:r>
            <a:r>
              <a:rPr lang="es-ES" sz="17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700" dirty="0">
                <a:solidFill>
                  <a:srgbClr val="0070C0"/>
                </a:solidFill>
              </a:rPr>
              <a:t>                      &lt;</a:t>
            </a:r>
            <a:r>
              <a:rPr lang="es-ES" sz="1700" dirty="0" err="1">
                <a:solidFill>
                  <a:srgbClr val="0070C0"/>
                </a:solidFill>
              </a:rPr>
              <a:t>xs:element</a:t>
            </a:r>
            <a:r>
              <a:rPr lang="es-ES" sz="1700" dirty="0">
                <a:solidFill>
                  <a:srgbClr val="0070C0"/>
                </a:solidFill>
              </a:rPr>
              <a:t> </a:t>
            </a:r>
            <a:r>
              <a:rPr lang="es-ES" sz="1700" dirty="0" err="1">
                <a:solidFill>
                  <a:srgbClr val="00B050"/>
                </a:solidFill>
              </a:rPr>
              <a:t>name</a:t>
            </a:r>
            <a:r>
              <a:rPr lang="es-ES" sz="1700" dirty="0">
                <a:solidFill>
                  <a:srgbClr val="00B050"/>
                </a:solidFill>
              </a:rPr>
              <a:t>="</a:t>
            </a:r>
            <a:r>
              <a:rPr lang="es-ES" sz="1700" dirty="0">
                <a:solidFill>
                  <a:srgbClr val="FF9900"/>
                </a:solidFill>
              </a:rPr>
              <a:t>fijo</a:t>
            </a:r>
            <a:r>
              <a:rPr lang="es-ES" sz="1700" dirty="0">
                <a:solidFill>
                  <a:srgbClr val="00B050"/>
                </a:solidFill>
              </a:rPr>
              <a:t>"      </a:t>
            </a:r>
            <a:r>
              <a:rPr lang="es-ES" sz="1700" dirty="0" err="1">
                <a:solidFill>
                  <a:srgbClr val="00CC00"/>
                </a:solidFill>
              </a:rPr>
              <a:t>type</a:t>
            </a:r>
            <a:r>
              <a:rPr lang="es-ES" sz="1700" dirty="0">
                <a:solidFill>
                  <a:srgbClr val="00CC00"/>
                </a:solidFill>
              </a:rPr>
              <a:t>="</a:t>
            </a:r>
            <a:r>
              <a:rPr lang="es-ES" sz="1700" dirty="0" err="1">
                <a:solidFill>
                  <a:srgbClr val="FF9900"/>
                </a:solidFill>
              </a:rPr>
              <a:t>xs:integer</a:t>
            </a:r>
            <a:r>
              <a:rPr lang="es-ES" sz="1700" dirty="0">
                <a:solidFill>
                  <a:srgbClr val="00CC00"/>
                </a:solidFill>
              </a:rPr>
              <a:t>" </a:t>
            </a:r>
            <a:r>
              <a:rPr lang="es-ES" sz="1700" dirty="0" err="1">
                <a:solidFill>
                  <a:srgbClr val="00CC00"/>
                </a:solidFill>
              </a:rPr>
              <a:t>minOccurs</a:t>
            </a:r>
            <a:r>
              <a:rPr lang="es-ES" sz="1700" dirty="0">
                <a:solidFill>
                  <a:srgbClr val="00CC00"/>
                </a:solidFill>
              </a:rPr>
              <a:t>="</a:t>
            </a:r>
            <a:r>
              <a:rPr lang="es-ES" sz="1700" dirty="0">
                <a:solidFill>
                  <a:srgbClr val="FF9900"/>
                </a:solidFill>
              </a:rPr>
              <a:t>0</a:t>
            </a:r>
            <a:r>
              <a:rPr lang="es-ES" sz="1700" dirty="0">
                <a:solidFill>
                  <a:srgbClr val="00CC00"/>
                </a:solidFill>
              </a:rPr>
              <a:t>" </a:t>
            </a:r>
            <a:r>
              <a:rPr lang="es-ES" sz="1700" dirty="0">
                <a:solidFill>
                  <a:srgbClr val="0070C0"/>
                </a:solidFill>
              </a:rPr>
              <a:t>/&gt;</a:t>
            </a:r>
            <a:endParaRPr lang="es-ES" sz="1700" dirty="0">
              <a:solidFill>
                <a:srgbClr val="00CC00"/>
              </a:solidFill>
            </a:endParaRPr>
          </a:p>
          <a:p>
            <a:r>
              <a:rPr lang="es-ES" sz="1700" dirty="0">
                <a:solidFill>
                  <a:srgbClr val="00B050"/>
                </a:solidFill>
              </a:rPr>
              <a:t>                      </a:t>
            </a:r>
            <a:r>
              <a:rPr lang="es-ES" sz="1700" dirty="0">
                <a:solidFill>
                  <a:srgbClr val="0070C0"/>
                </a:solidFill>
              </a:rPr>
              <a:t>&lt;</a:t>
            </a:r>
            <a:r>
              <a:rPr lang="es-ES" sz="1700" dirty="0" err="1">
                <a:solidFill>
                  <a:srgbClr val="0070C0"/>
                </a:solidFill>
              </a:rPr>
              <a:t>xs:element</a:t>
            </a:r>
            <a:r>
              <a:rPr lang="es-ES" sz="1700" dirty="0">
                <a:solidFill>
                  <a:srgbClr val="0070C0"/>
                </a:solidFill>
              </a:rPr>
              <a:t> </a:t>
            </a:r>
            <a:r>
              <a:rPr lang="es-ES" sz="1700" dirty="0" err="1">
                <a:solidFill>
                  <a:srgbClr val="00B050"/>
                </a:solidFill>
              </a:rPr>
              <a:t>name</a:t>
            </a:r>
            <a:r>
              <a:rPr lang="es-ES" sz="1700" dirty="0">
                <a:solidFill>
                  <a:srgbClr val="00B050"/>
                </a:solidFill>
              </a:rPr>
              <a:t>="</a:t>
            </a:r>
            <a:r>
              <a:rPr lang="es-ES" sz="1700" dirty="0">
                <a:solidFill>
                  <a:srgbClr val="FF9900"/>
                </a:solidFill>
              </a:rPr>
              <a:t>email</a:t>
            </a:r>
            <a:r>
              <a:rPr lang="es-ES" sz="1700" dirty="0">
                <a:solidFill>
                  <a:srgbClr val="00B050"/>
                </a:solidFill>
              </a:rPr>
              <a:t>"  </a:t>
            </a:r>
            <a:r>
              <a:rPr lang="es-ES" sz="1700" dirty="0" err="1">
                <a:solidFill>
                  <a:srgbClr val="00CC00"/>
                </a:solidFill>
              </a:rPr>
              <a:t>type</a:t>
            </a:r>
            <a:r>
              <a:rPr lang="es-ES" sz="1700" dirty="0">
                <a:solidFill>
                  <a:srgbClr val="00CC00"/>
                </a:solidFill>
              </a:rPr>
              <a:t>="</a:t>
            </a:r>
            <a:r>
              <a:rPr lang="es-ES" sz="1700" dirty="0" err="1">
                <a:solidFill>
                  <a:srgbClr val="FF9900"/>
                </a:solidFill>
              </a:rPr>
              <a:t>xs:anyURI</a:t>
            </a:r>
            <a:r>
              <a:rPr lang="es-ES" sz="1700" dirty="0">
                <a:solidFill>
                  <a:srgbClr val="00CC00"/>
                </a:solidFill>
              </a:rPr>
              <a:t>" </a:t>
            </a:r>
            <a:r>
              <a:rPr lang="es-ES" sz="17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700" dirty="0">
                <a:solidFill>
                  <a:srgbClr val="CC6600"/>
                </a:solidFill>
              </a:rPr>
              <a:t>            &lt;/</a:t>
            </a:r>
            <a:r>
              <a:rPr lang="es-ES" sz="1700" dirty="0" err="1">
                <a:solidFill>
                  <a:srgbClr val="CC6600"/>
                </a:solidFill>
              </a:rPr>
              <a:t>xs:all</a:t>
            </a:r>
            <a:r>
              <a:rPr lang="es-ES" sz="1700" dirty="0">
                <a:solidFill>
                  <a:srgbClr val="CC6600"/>
                </a:solidFill>
              </a:rPr>
              <a:t>&gt;</a:t>
            </a:r>
          </a:p>
          <a:p>
            <a:r>
              <a:rPr lang="es-ES" sz="17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    </a:t>
            </a: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&lt;/</a:t>
            </a:r>
            <a:r>
              <a:rPr lang="es-ES" sz="17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xs:complexType</a:t>
            </a: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7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7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/</a:t>
            </a:r>
            <a:r>
              <a:rPr lang="es-ES" sz="17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xs:element</a:t>
            </a: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700" dirty="0">
              <a:solidFill>
                <a:srgbClr val="00B0F0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45760"/>
            <a:ext cx="7487260" cy="563563"/>
          </a:xfrm>
        </p:spPr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Complejos</a:t>
            </a:r>
            <a:endParaRPr lang="en-US" sz="1400" dirty="0"/>
          </a:p>
        </p:txBody>
      </p:sp>
      <p:sp>
        <p:nvSpPr>
          <p:cNvPr id="42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1547664" y="807095"/>
            <a:ext cx="56166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dirty="0">
                <a:solidFill>
                  <a:srgbClr val="00B0F0"/>
                </a:solidFill>
              </a:rPr>
              <a:t>Indicadores de ocurrencias - </a:t>
            </a:r>
            <a:r>
              <a:rPr lang="es-ES" sz="2200" dirty="0" err="1">
                <a:solidFill>
                  <a:srgbClr val="0070C0"/>
                </a:solidFill>
              </a:rPr>
              <a:t>all</a:t>
            </a:r>
            <a:endParaRPr lang="es-ES" sz="2200" dirty="0">
              <a:solidFill>
                <a:srgbClr val="0070C0"/>
              </a:solidFill>
            </a:endParaRPr>
          </a:p>
        </p:txBody>
      </p:sp>
      <p:grpSp>
        <p:nvGrpSpPr>
          <p:cNvPr id="13" name="Grupo 12"/>
          <p:cNvGrpSpPr/>
          <p:nvPr/>
        </p:nvGrpSpPr>
        <p:grpSpPr>
          <a:xfrm>
            <a:off x="827584" y="1340766"/>
            <a:ext cx="3456384" cy="1349494"/>
            <a:chOff x="1295636" y="3738424"/>
            <a:chExt cx="5616624" cy="466229"/>
          </a:xfrm>
        </p:grpSpPr>
        <p:sp>
          <p:nvSpPr>
            <p:cNvPr id="40" name="Rectángulo 39"/>
            <p:cNvSpPr/>
            <p:nvPr/>
          </p:nvSpPr>
          <p:spPr bwMode="auto">
            <a:xfrm>
              <a:off x="1295636" y="3738424"/>
              <a:ext cx="5616624" cy="466229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1" name="CuadroTexto 40"/>
            <p:cNvSpPr txBox="1"/>
            <p:nvPr/>
          </p:nvSpPr>
          <p:spPr>
            <a:xfrm>
              <a:off x="1445661" y="3761022"/>
              <a:ext cx="5185767" cy="3598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&lt;contacto&gt;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&lt;</a:t>
              </a:r>
              <a:r>
                <a:rPr lang="es-ES" sz="1500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movil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  <a:r>
                <a:rPr lang="es-ES" sz="1500" dirty="0">
                  <a:solidFill>
                    <a:srgbClr val="FF0000"/>
                  </a:solidFill>
                </a:rPr>
                <a:t>Ramón Tejero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</a:t>
              </a:r>
              <a:r>
                <a:rPr lang="es-ES" sz="1500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movil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&lt;fijo&gt;</a:t>
              </a:r>
              <a:r>
                <a:rPr lang="es-ES" sz="1500" dirty="0">
                  <a:solidFill>
                    <a:srgbClr val="FF0000"/>
                  </a:solidFill>
                </a:rPr>
                <a:t>675345624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&lt;/fijo&gt;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&lt;email&gt;</a:t>
              </a:r>
              <a:r>
                <a:rPr lang="es-ES" sz="1500" dirty="0">
                  <a:solidFill>
                    <a:srgbClr val="FF0000"/>
                  </a:solidFill>
                </a:rPr>
                <a:t>956345627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&lt;/email&gt;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&lt;/contacto&gt;</a:t>
              </a:r>
            </a:p>
          </p:txBody>
        </p:sp>
      </p:grpSp>
      <p:sp>
        <p:nvSpPr>
          <p:cNvPr id="18" name="CuadroTexto 17"/>
          <p:cNvSpPr txBox="1"/>
          <p:nvPr/>
        </p:nvSpPr>
        <p:spPr>
          <a:xfrm>
            <a:off x="1070827" y="2850411"/>
            <a:ext cx="22770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500" dirty="0">
                <a:solidFill>
                  <a:srgbClr val="F51BBC"/>
                </a:solidFill>
              </a:rPr>
              <a:t>En cualquier orden.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500" dirty="0">
                <a:solidFill>
                  <a:srgbClr val="F51BBC"/>
                </a:solidFill>
              </a:rPr>
              <a:t>fijo opcional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500" dirty="0">
                <a:solidFill>
                  <a:srgbClr val="F51BBC"/>
                </a:solidFill>
              </a:rPr>
              <a:t>Sólo uno de cada</a:t>
            </a:r>
          </a:p>
          <a:p>
            <a:endParaRPr lang="es-ES" sz="1500" dirty="0">
              <a:solidFill>
                <a:srgbClr val="F51BBC"/>
              </a:solidFill>
            </a:endParaRPr>
          </a:p>
        </p:txBody>
      </p:sp>
      <p:grpSp>
        <p:nvGrpSpPr>
          <p:cNvPr id="20" name="Grupo 19"/>
          <p:cNvGrpSpPr/>
          <p:nvPr/>
        </p:nvGrpSpPr>
        <p:grpSpPr>
          <a:xfrm>
            <a:off x="4932040" y="1345995"/>
            <a:ext cx="3456384" cy="1098393"/>
            <a:chOff x="1295636" y="3738424"/>
            <a:chExt cx="5616624" cy="501858"/>
          </a:xfrm>
        </p:grpSpPr>
        <p:sp>
          <p:nvSpPr>
            <p:cNvPr id="23" name="Rectángulo 22"/>
            <p:cNvSpPr/>
            <p:nvPr/>
          </p:nvSpPr>
          <p:spPr bwMode="auto">
            <a:xfrm>
              <a:off x="1295636" y="3738424"/>
              <a:ext cx="5616624" cy="501858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4" name="CuadroTexto 23"/>
            <p:cNvSpPr txBox="1"/>
            <p:nvPr/>
          </p:nvSpPr>
          <p:spPr>
            <a:xfrm>
              <a:off x="1445661" y="3761022"/>
              <a:ext cx="5185767" cy="350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&lt;contacto&gt;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&lt;email&gt;</a:t>
              </a:r>
              <a:r>
                <a:rPr lang="es-ES" sz="1500" dirty="0">
                  <a:solidFill>
                    <a:srgbClr val="FF0000"/>
                  </a:solidFill>
                </a:rPr>
                <a:t>956345627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&lt;/email&gt;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&lt;</a:t>
              </a:r>
              <a:r>
                <a:rPr lang="es-ES" sz="1500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movil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  <a:r>
                <a:rPr lang="es-ES" sz="1500" dirty="0">
                  <a:solidFill>
                    <a:srgbClr val="FF0000"/>
                  </a:solidFill>
                </a:rPr>
                <a:t>Ramón Tejero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</a:t>
              </a:r>
              <a:r>
                <a:rPr lang="es-ES" sz="1500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movil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&lt;/contacto&gt;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1606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uiExpand="1" build="p"/>
      <p:bldP spid="18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45760"/>
            <a:ext cx="7487260" cy="563563"/>
          </a:xfrm>
        </p:spPr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Complejos</a:t>
            </a:r>
            <a:endParaRPr lang="en-US" sz="1400" dirty="0"/>
          </a:p>
        </p:txBody>
      </p:sp>
      <p:sp>
        <p:nvSpPr>
          <p:cNvPr id="42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3" name="Grupo 12"/>
          <p:cNvGrpSpPr/>
          <p:nvPr/>
        </p:nvGrpSpPr>
        <p:grpSpPr>
          <a:xfrm>
            <a:off x="539552" y="1562535"/>
            <a:ext cx="3662299" cy="1146380"/>
            <a:chOff x="1295636" y="3738423"/>
            <a:chExt cx="5616624" cy="673600"/>
          </a:xfrm>
        </p:grpSpPr>
        <p:sp>
          <p:nvSpPr>
            <p:cNvPr id="40" name="Rectángulo 39"/>
            <p:cNvSpPr/>
            <p:nvPr/>
          </p:nvSpPr>
          <p:spPr bwMode="auto">
            <a:xfrm>
              <a:off x="1295636" y="3738423"/>
              <a:ext cx="5616624" cy="673600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1" name="CuadroTexto 40"/>
            <p:cNvSpPr txBox="1"/>
            <p:nvPr/>
          </p:nvSpPr>
          <p:spPr>
            <a:xfrm>
              <a:off x="1445661" y="3761021"/>
              <a:ext cx="5185767" cy="5967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&lt;contacto&gt;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&lt;</a:t>
              </a:r>
              <a:r>
                <a:rPr lang="es-ES" sz="1500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telefono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  <a:r>
                <a:rPr lang="es-ES" sz="1500" dirty="0">
                  <a:solidFill>
                    <a:srgbClr val="FF0000"/>
                  </a:solidFill>
                </a:rPr>
                <a:t>9556276787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</a:t>
              </a:r>
              <a:r>
                <a:rPr lang="es-ES" sz="1500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telefono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&lt;</a:t>
              </a:r>
              <a:r>
                <a:rPr lang="es-ES" sz="1500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telefono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  <a:r>
                <a:rPr lang="es-ES" sz="1500" dirty="0">
                  <a:solidFill>
                    <a:srgbClr val="FF0000"/>
                  </a:solidFill>
                </a:rPr>
                <a:t>675345624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</a:t>
              </a:r>
              <a:r>
                <a:rPr lang="es-ES" sz="1500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telefono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&lt;/contacto&gt;</a:t>
              </a:r>
            </a:p>
          </p:txBody>
        </p:sp>
      </p:grpSp>
      <p:grpSp>
        <p:nvGrpSpPr>
          <p:cNvPr id="12" name="Grupo 11"/>
          <p:cNvGrpSpPr/>
          <p:nvPr/>
        </p:nvGrpSpPr>
        <p:grpSpPr>
          <a:xfrm>
            <a:off x="4499992" y="1556792"/>
            <a:ext cx="4104456" cy="1152123"/>
            <a:chOff x="1295636" y="3739368"/>
            <a:chExt cx="5616624" cy="501857"/>
          </a:xfrm>
        </p:grpSpPr>
        <p:sp>
          <p:nvSpPr>
            <p:cNvPr id="14" name="Rectángulo 13"/>
            <p:cNvSpPr/>
            <p:nvPr/>
          </p:nvSpPr>
          <p:spPr bwMode="auto">
            <a:xfrm>
              <a:off x="1295636" y="3739368"/>
              <a:ext cx="5616624" cy="501857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5" name="CuadroTexto 14"/>
            <p:cNvSpPr txBox="1"/>
            <p:nvPr/>
          </p:nvSpPr>
          <p:spPr>
            <a:xfrm>
              <a:off x="1445661" y="3816989"/>
              <a:ext cx="5185766" cy="416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&lt;contacto&gt;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&lt;email&gt;</a:t>
              </a:r>
              <a:r>
                <a:rPr lang="es-ES" sz="1500" dirty="0">
                  <a:solidFill>
                    <a:srgbClr val="FF0000"/>
                  </a:solidFill>
                </a:rPr>
                <a:t>santi_tizon@gmail.com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&lt;/email&gt;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&lt;/contacto&gt;</a:t>
              </a:r>
            </a:p>
          </p:txBody>
        </p:sp>
      </p:grpSp>
      <p:sp>
        <p:nvSpPr>
          <p:cNvPr id="22" name="24 Esquina doblada"/>
          <p:cNvSpPr/>
          <p:nvPr/>
        </p:nvSpPr>
        <p:spPr bwMode="auto">
          <a:xfrm>
            <a:off x="539552" y="3789040"/>
            <a:ext cx="8064896" cy="2448272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Rectángulo 22"/>
          <p:cNvSpPr/>
          <p:nvPr/>
        </p:nvSpPr>
        <p:spPr>
          <a:xfrm>
            <a:off x="735357" y="3897195"/>
            <a:ext cx="7691507" cy="2219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7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xs:element</a:t>
            </a:r>
            <a:r>
              <a:rPr lang="es-ES" sz="1700" dirty="0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</a:t>
            </a:r>
            <a:r>
              <a:rPr lang="es-ES" sz="1700" dirty="0" err="1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name</a:t>
            </a:r>
            <a:r>
              <a:rPr lang="es-ES" sz="17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="</a:t>
            </a:r>
            <a:r>
              <a:rPr lang="es-ES" sz="1700" dirty="0">
                <a:solidFill>
                  <a:srgbClr val="FF99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contacto</a:t>
            </a:r>
            <a:r>
              <a:rPr lang="es-ES" sz="17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"</a:t>
            </a: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7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7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    </a:t>
            </a: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7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</a:t>
            </a:r>
            <a:r>
              <a:rPr lang="es-ES" sz="1700" dirty="0" err="1">
                <a:latin typeface="+mj-lt"/>
                <a:ea typeface="Calibri" panose="020F0502020204030204" pitchFamily="34" charset="0"/>
                <a:cs typeface="CourierNewPSMT-Identity-H"/>
              </a:rPr>
              <a:t>complexType</a:t>
            </a: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</a:p>
          <a:p>
            <a:r>
              <a:rPr lang="es-ES" sz="1700" dirty="0">
                <a:solidFill>
                  <a:srgbClr val="CC6600"/>
                </a:solidFill>
              </a:rPr>
              <a:t>            &lt;</a:t>
            </a:r>
            <a:r>
              <a:rPr lang="es-ES" sz="1700" dirty="0" err="1">
                <a:solidFill>
                  <a:srgbClr val="CC6600"/>
                </a:solidFill>
              </a:rPr>
              <a:t>xs:choice</a:t>
            </a:r>
            <a:r>
              <a:rPr lang="es-ES" sz="1700" dirty="0">
                <a:solidFill>
                  <a:srgbClr val="CC6600"/>
                </a:solidFill>
              </a:rPr>
              <a:t>&gt;</a:t>
            </a:r>
          </a:p>
          <a:p>
            <a:r>
              <a:rPr lang="es-ES" sz="1700" dirty="0">
                <a:solidFill>
                  <a:srgbClr val="0070C0"/>
                </a:solidFill>
              </a:rPr>
              <a:t>	     &lt;</a:t>
            </a:r>
            <a:r>
              <a:rPr lang="es-ES" sz="1700" dirty="0" err="1">
                <a:solidFill>
                  <a:srgbClr val="0070C0"/>
                </a:solidFill>
              </a:rPr>
              <a:t>xs:element</a:t>
            </a:r>
            <a:r>
              <a:rPr lang="es-ES" sz="1700" dirty="0">
                <a:solidFill>
                  <a:srgbClr val="0070C0"/>
                </a:solidFill>
              </a:rPr>
              <a:t> </a:t>
            </a:r>
            <a:r>
              <a:rPr lang="es-ES" sz="1700" dirty="0" err="1">
                <a:solidFill>
                  <a:srgbClr val="00B050"/>
                </a:solidFill>
              </a:rPr>
              <a:t>name</a:t>
            </a:r>
            <a:r>
              <a:rPr lang="es-ES" sz="1700" dirty="0">
                <a:solidFill>
                  <a:srgbClr val="00B050"/>
                </a:solidFill>
              </a:rPr>
              <a:t>="</a:t>
            </a:r>
            <a:r>
              <a:rPr lang="es-ES" sz="1700" dirty="0" err="1">
                <a:solidFill>
                  <a:srgbClr val="FF9900"/>
                </a:solidFill>
              </a:rPr>
              <a:t>telefono</a:t>
            </a:r>
            <a:r>
              <a:rPr lang="es-ES" sz="1700" dirty="0">
                <a:solidFill>
                  <a:srgbClr val="00B050"/>
                </a:solidFill>
              </a:rPr>
              <a:t>" </a:t>
            </a:r>
            <a:r>
              <a:rPr lang="es-ES" sz="1700" dirty="0" err="1">
                <a:solidFill>
                  <a:srgbClr val="00CC00"/>
                </a:solidFill>
              </a:rPr>
              <a:t>type</a:t>
            </a:r>
            <a:r>
              <a:rPr lang="es-ES" sz="1700" dirty="0">
                <a:solidFill>
                  <a:srgbClr val="00CC00"/>
                </a:solidFill>
              </a:rPr>
              <a:t>="</a:t>
            </a:r>
            <a:r>
              <a:rPr lang="es-ES" sz="1700" dirty="0" err="1">
                <a:solidFill>
                  <a:srgbClr val="FF9900"/>
                </a:solidFill>
              </a:rPr>
              <a:t>xs:integer</a:t>
            </a:r>
            <a:r>
              <a:rPr lang="es-ES" sz="1700" dirty="0">
                <a:solidFill>
                  <a:srgbClr val="00CC00"/>
                </a:solidFill>
              </a:rPr>
              <a:t>" </a:t>
            </a:r>
            <a:r>
              <a:rPr lang="es-ES" sz="1700" dirty="0" err="1">
                <a:solidFill>
                  <a:srgbClr val="00CC00"/>
                </a:solidFill>
              </a:rPr>
              <a:t>maxOccurs</a:t>
            </a:r>
            <a:r>
              <a:rPr lang="es-ES" sz="1700" dirty="0">
                <a:solidFill>
                  <a:srgbClr val="00CC00"/>
                </a:solidFill>
              </a:rPr>
              <a:t>="</a:t>
            </a:r>
            <a:r>
              <a:rPr lang="es-ES" sz="1700" dirty="0">
                <a:solidFill>
                  <a:srgbClr val="FF9900"/>
                </a:solidFill>
              </a:rPr>
              <a:t>2</a:t>
            </a:r>
            <a:r>
              <a:rPr lang="es-ES" sz="1700" dirty="0">
                <a:solidFill>
                  <a:srgbClr val="00CC00"/>
                </a:solidFill>
              </a:rPr>
              <a:t>"</a:t>
            </a:r>
            <a:r>
              <a:rPr lang="es-ES" sz="1700" dirty="0">
                <a:solidFill>
                  <a:srgbClr val="0070C0"/>
                </a:solidFill>
              </a:rPr>
              <a:t>/&gt;</a:t>
            </a:r>
            <a:endParaRPr lang="es-ES" sz="1700" dirty="0">
              <a:solidFill>
                <a:srgbClr val="00CC00"/>
              </a:solidFill>
            </a:endParaRPr>
          </a:p>
          <a:p>
            <a:r>
              <a:rPr lang="es-ES" sz="1700" dirty="0">
                <a:solidFill>
                  <a:srgbClr val="00B050"/>
                </a:solidFill>
              </a:rPr>
              <a:t>                     </a:t>
            </a:r>
            <a:r>
              <a:rPr lang="es-ES" sz="1700" dirty="0">
                <a:solidFill>
                  <a:srgbClr val="0070C0"/>
                </a:solidFill>
              </a:rPr>
              <a:t>&lt;</a:t>
            </a:r>
            <a:r>
              <a:rPr lang="es-ES" sz="1700" dirty="0" err="1">
                <a:solidFill>
                  <a:srgbClr val="0070C0"/>
                </a:solidFill>
              </a:rPr>
              <a:t>xs:element</a:t>
            </a:r>
            <a:r>
              <a:rPr lang="es-ES" sz="1700" dirty="0">
                <a:solidFill>
                  <a:srgbClr val="0070C0"/>
                </a:solidFill>
              </a:rPr>
              <a:t> </a:t>
            </a:r>
            <a:r>
              <a:rPr lang="es-ES" sz="1700" dirty="0" err="1">
                <a:solidFill>
                  <a:srgbClr val="00B050"/>
                </a:solidFill>
              </a:rPr>
              <a:t>name</a:t>
            </a:r>
            <a:r>
              <a:rPr lang="es-ES" sz="1700" dirty="0">
                <a:solidFill>
                  <a:srgbClr val="00B050"/>
                </a:solidFill>
              </a:rPr>
              <a:t>="</a:t>
            </a:r>
            <a:r>
              <a:rPr lang="es-ES" sz="1700" dirty="0">
                <a:solidFill>
                  <a:srgbClr val="FF9900"/>
                </a:solidFill>
              </a:rPr>
              <a:t>email</a:t>
            </a:r>
            <a:r>
              <a:rPr lang="es-ES" sz="1700" dirty="0">
                <a:solidFill>
                  <a:srgbClr val="00B050"/>
                </a:solidFill>
              </a:rPr>
              <a:t>"     </a:t>
            </a:r>
            <a:r>
              <a:rPr lang="es-ES" sz="1700" dirty="0" err="1">
                <a:solidFill>
                  <a:srgbClr val="00CC00"/>
                </a:solidFill>
              </a:rPr>
              <a:t>type</a:t>
            </a:r>
            <a:r>
              <a:rPr lang="es-ES" sz="1700" dirty="0">
                <a:solidFill>
                  <a:srgbClr val="00CC00"/>
                </a:solidFill>
              </a:rPr>
              <a:t>="</a:t>
            </a:r>
            <a:r>
              <a:rPr lang="es-ES" sz="1700" dirty="0" err="1">
                <a:solidFill>
                  <a:srgbClr val="FF9900"/>
                </a:solidFill>
              </a:rPr>
              <a:t>xs:anyURI</a:t>
            </a:r>
            <a:r>
              <a:rPr lang="es-ES" sz="1700" dirty="0">
                <a:solidFill>
                  <a:srgbClr val="00CC00"/>
                </a:solidFill>
              </a:rPr>
              <a:t>"</a:t>
            </a:r>
            <a:endParaRPr lang="es-ES" sz="1700" dirty="0">
              <a:solidFill>
                <a:srgbClr val="0070C0"/>
              </a:solidFill>
            </a:endParaRPr>
          </a:p>
          <a:p>
            <a:r>
              <a:rPr lang="es-ES" sz="1700" dirty="0">
                <a:solidFill>
                  <a:srgbClr val="CC6600"/>
                </a:solidFill>
              </a:rPr>
              <a:t>            &lt;/</a:t>
            </a:r>
            <a:r>
              <a:rPr lang="es-ES" sz="1700" dirty="0" err="1">
                <a:solidFill>
                  <a:srgbClr val="CC6600"/>
                </a:solidFill>
              </a:rPr>
              <a:t>xs:choice</a:t>
            </a:r>
            <a:r>
              <a:rPr lang="es-ES" sz="1700" dirty="0">
                <a:solidFill>
                  <a:srgbClr val="CC6600"/>
                </a:solidFill>
              </a:rPr>
              <a:t>&gt;</a:t>
            </a:r>
          </a:p>
          <a:p>
            <a:r>
              <a:rPr lang="es-ES" sz="17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    </a:t>
            </a: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&lt;/</a:t>
            </a:r>
            <a:r>
              <a:rPr lang="es-ES" sz="17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xs:complexType</a:t>
            </a: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7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7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/</a:t>
            </a:r>
            <a:r>
              <a:rPr lang="es-ES" sz="17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xs:element</a:t>
            </a:r>
            <a:r>
              <a:rPr lang="es-ES" sz="17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700" dirty="0">
              <a:solidFill>
                <a:srgbClr val="00B0F0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1547664" y="1053902"/>
            <a:ext cx="56166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dirty="0">
                <a:solidFill>
                  <a:srgbClr val="00B0F0"/>
                </a:solidFill>
              </a:rPr>
              <a:t>Indicadores de ocurrencias - </a:t>
            </a:r>
            <a:r>
              <a:rPr lang="es-ES" sz="2200" dirty="0" err="1">
                <a:solidFill>
                  <a:srgbClr val="0070C0"/>
                </a:solidFill>
              </a:rPr>
              <a:t>choice</a:t>
            </a:r>
            <a:endParaRPr lang="es-ES" sz="2200" dirty="0">
              <a:solidFill>
                <a:srgbClr val="0070C0"/>
              </a:solidFill>
            </a:endParaRPr>
          </a:p>
        </p:txBody>
      </p:sp>
      <p:sp>
        <p:nvSpPr>
          <p:cNvPr id="16" name="CuadroTexto 15"/>
          <p:cNvSpPr txBox="1"/>
          <p:nvPr/>
        </p:nvSpPr>
        <p:spPr>
          <a:xfrm>
            <a:off x="715448" y="6500663"/>
            <a:ext cx="7624481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Realiza el ejercicio 15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648239F-F9B0-6426-BEAB-32524603C321}"/>
              </a:ext>
            </a:extLst>
          </p:cNvPr>
          <p:cNvSpPr txBox="1"/>
          <p:nvPr/>
        </p:nvSpPr>
        <p:spPr>
          <a:xfrm>
            <a:off x="1130847" y="2911952"/>
            <a:ext cx="695755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500" dirty="0">
                <a:solidFill>
                  <a:srgbClr val="F51BBC"/>
                </a:solidFill>
              </a:rPr>
              <a:t>Supongamos que dentro de un contacto tiene que escogerse entre: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F51BBC"/>
                </a:solidFill>
              </a:rPr>
              <a:t>Poner uno o dos teléfonos.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F51BBC"/>
                </a:solidFill>
              </a:rPr>
              <a:t>Poner un email.</a:t>
            </a:r>
          </a:p>
        </p:txBody>
      </p:sp>
    </p:spTree>
    <p:extLst>
      <p:ext uri="{BB962C8B-B14F-4D97-AF65-F5344CB8AC3E}">
        <p14:creationId xmlns:p14="http://schemas.microsoft.com/office/powerpoint/2010/main" val="4060755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uiExpand="1" build="p"/>
      <p:bldP spid="16" grpId="0" build="p"/>
      <p:bldP spid="2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45760"/>
            <a:ext cx="7487260" cy="563563"/>
          </a:xfrm>
        </p:spPr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Complejos</a:t>
            </a:r>
            <a:endParaRPr lang="en-US" sz="1400" dirty="0"/>
          </a:p>
        </p:txBody>
      </p:sp>
      <p:sp>
        <p:nvSpPr>
          <p:cNvPr id="42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1634191" y="951995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solidFill>
                  <a:srgbClr val="00B0F0"/>
                </a:solidFill>
              </a:rPr>
              <a:t>Por tener elementos hijos y atributos</a:t>
            </a:r>
          </a:p>
        </p:txBody>
      </p:sp>
      <p:grpSp>
        <p:nvGrpSpPr>
          <p:cNvPr id="13" name="Grupo 12"/>
          <p:cNvGrpSpPr/>
          <p:nvPr/>
        </p:nvGrpSpPr>
        <p:grpSpPr>
          <a:xfrm>
            <a:off x="1511660" y="1340768"/>
            <a:ext cx="5868652" cy="1656184"/>
            <a:chOff x="1295636" y="3738424"/>
            <a:chExt cx="5616624" cy="501858"/>
          </a:xfrm>
        </p:grpSpPr>
        <p:sp>
          <p:nvSpPr>
            <p:cNvPr id="40" name="Rectángulo 39"/>
            <p:cNvSpPr/>
            <p:nvPr/>
          </p:nvSpPr>
          <p:spPr bwMode="auto">
            <a:xfrm>
              <a:off x="1295636" y="3738424"/>
              <a:ext cx="5616624" cy="501858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1" name="CuadroTexto 40"/>
            <p:cNvSpPr txBox="1"/>
            <p:nvPr/>
          </p:nvSpPr>
          <p:spPr>
            <a:xfrm>
              <a:off x="1942923" y="3752561"/>
              <a:ext cx="4315384" cy="4530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</a:t>
              </a:r>
              <a:r>
                <a:rPr lang="es-ES" sz="1600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direccion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</a:t>
              </a:r>
              <a:r>
                <a:rPr lang="es-ES" sz="1600" dirty="0">
                  <a:solidFill>
                    <a:srgbClr val="00B050"/>
                  </a:solidFill>
                </a:rPr>
                <a:t>tipo="</a:t>
              </a:r>
              <a:r>
                <a:rPr lang="es-ES" sz="1600" dirty="0">
                  <a:solidFill>
                    <a:srgbClr val="FF9900"/>
                  </a:solidFill>
                </a:rPr>
                <a:t>principal</a:t>
              </a:r>
              <a:r>
                <a:rPr lang="es-ES" sz="1600" dirty="0">
                  <a:solidFill>
                    <a:srgbClr val="00B050"/>
                  </a:solidFill>
                </a:rPr>
                <a:t>"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</a:p>
            <a:p>
              <a:r>
                <a:rPr lang="es-ES" sz="1600" dirty="0">
                  <a:solidFill>
                    <a:srgbClr val="FF0000"/>
                  </a:solidFill>
                </a:rPr>
                <a:t>      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</a:t>
              </a:r>
              <a:r>
                <a:rPr lang="es-ES" sz="1600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via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  <a:r>
                <a:rPr lang="es-ES" sz="1600" dirty="0">
                  <a:solidFill>
                    <a:srgbClr val="FF0000"/>
                  </a:solidFill>
                </a:rPr>
                <a:t>Santa Cecilia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</a:t>
              </a:r>
              <a:r>
                <a:rPr lang="es-ES" sz="1600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via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</a:p>
            <a:p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  &lt;numero&gt;</a:t>
              </a:r>
              <a:r>
                <a:rPr lang="es-ES" sz="1600" dirty="0">
                  <a:solidFill>
                    <a:srgbClr val="FF0000"/>
                  </a:solidFill>
                </a:rPr>
                <a:t>16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&lt;/numero&gt;</a:t>
              </a:r>
            </a:p>
            <a:p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  &lt;piso&gt;</a:t>
              </a:r>
              <a:r>
                <a:rPr lang="es-ES" sz="1600" dirty="0">
                  <a:solidFill>
                    <a:srgbClr val="FF0000"/>
                  </a:solidFill>
                </a:rPr>
                <a:t>3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&lt;/piso&gt;</a:t>
              </a:r>
            </a:p>
            <a:p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  &lt;letra&gt;</a:t>
              </a:r>
              <a:r>
                <a:rPr lang="es-ES" sz="1600" dirty="0">
                  <a:solidFill>
                    <a:srgbClr val="FF0000"/>
                  </a:solidFill>
                </a:rPr>
                <a:t>B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&lt;/letra&gt;</a:t>
              </a:r>
            </a:p>
            <a:p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</a:t>
              </a:r>
              <a:r>
                <a:rPr lang="es-ES" sz="1600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direccion</a:t>
              </a:r>
              <a:r>
                <a:rPr lang="es-ES" sz="16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</a:p>
          </p:txBody>
        </p:sp>
      </p:grpSp>
      <p:sp>
        <p:nvSpPr>
          <p:cNvPr id="44" name="24 Esquina doblada"/>
          <p:cNvSpPr/>
          <p:nvPr/>
        </p:nvSpPr>
        <p:spPr bwMode="auto">
          <a:xfrm>
            <a:off x="1331640" y="3140968"/>
            <a:ext cx="6264696" cy="3024336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5" name="Rectángulo 44"/>
          <p:cNvSpPr/>
          <p:nvPr/>
        </p:nvSpPr>
        <p:spPr>
          <a:xfrm>
            <a:off x="1547664" y="3209027"/>
            <a:ext cx="6301115" cy="2852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6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xs:element</a:t>
            </a:r>
            <a:r>
              <a:rPr lang="es-ES" sz="1600" dirty="0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</a:t>
            </a:r>
            <a:r>
              <a:rPr lang="es-ES" sz="1600" dirty="0" err="1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name</a:t>
            </a:r>
            <a:r>
              <a:rPr lang="es-ES" sz="16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="</a:t>
            </a:r>
            <a:r>
              <a:rPr lang="es-ES" sz="1600" dirty="0" err="1">
                <a:solidFill>
                  <a:srgbClr val="FF99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direccion</a:t>
            </a:r>
            <a:r>
              <a:rPr lang="es-ES" sz="16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"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6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6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    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6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</a:t>
            </a:r>
            <a:r>
              <a:rPr lang="es-ES" sz="1600" dirty="0" err="1">
                <a:latin typeface="+mj-lt"/>
                <a:ea typeface="Calibri" panose="020F0502020204030204" pitchFamily="34" charset="0"/>
                <a:cs typeface="CourierNewPSMT-Identity-H"/>
              </a:rPr>
              <a:t>complexType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</a:p>
          <a:p>
            <a:r>
              <a:rPr lang="es-ES" sz="1600" dirty="0">
                <a:solidFill>
                  <a:srgbClr val="CC6600"/>
                </a:solidFill>
              </a:rPr>
              <a:t>             &lt;</a:t>
            </a:r>
            <a:r>
              <a:rPr lang="es-ES" sz="1600" dirty="0" err="1">
                <a:solidFill>
                  <a:srgbClr val="CC6600"/>
                </a:solidFill>
              </a:rPr>
              <a:t>xs:sequence</a:t>
            </a:r>
            <a:r>
              <a:rPr lang="es-ES" sz="1600" dirty="0">
                <a:solidFill>
                  <a:srgbClr val="CC6600"/>
                </a:solidFill>
              </a:rPr>
              <a:t>&gt;</a:t>
            </a:r>
          </a:p>
          <a:p>
            <a:r>
              <a:rPr lang="es-ES" sz="1600" dirty="0">
                <a:solidFill>
                  <a:srgbClr val="00B050"/>
                </a:solidFill>
              </a:rPr>
              <a:t>                   </a:t>
            </a:r>
            <a:r>
              <a:rPr lang="es-ES" sz="1600" dirty="0">
                <a:solidFill>
                  <a:srgbClr val="0070C0"/>
                </a:solidFill>
              </a:rPr>
              <a:t>&lt;</a:t>
            </a:r>
            <a:r>
              <a:rPr lang="es-ES" sz="1600" dirty="0" err="1">
                <a:solidFill>
                  <a:srgbClr val="0070C0"/>
                </a:solidFill>
              </a:rPr>
              <a:t>xs:element</a:t>
            </a:r>
            <a:r>
              <a:rPr lang="es-ES" sz="1600" dirty="0">
                <a:solidFill>
                  <a:srgbClr val="0070C0"/>
                </a:solidFill>
              </a:rPr>
              <a:t> </a:t>
            </a:r>
            <a:r>
              <a:rPr lang="es-ES" sz="1600" dirty="0" err="1">
                <a:solidFill>
                  <a:srgbClr val="00B050"/>
                </a:solidFill>
              </a:rPr>
              <a:t>name</a:t>
            </a:r>
            <a:r>
              <a:rPr lang="es-ES" sz="1600" dirty="0">
                <a:solidFill>
                  <a:srgbClr val="00B050"/>
                </a:solidFill>
              </a:rPr>
              <a:t>="</a:t>
            </a:r>
            <a:r>
              <a:rPr lang="es-ES" sz="1600" dirty="0" err="1">
                <a:solidFill>
                  <a:srgbClr val="00B050"/>
                </a:solidFill>
              </a:rPr>
              <a:t>via</a:t>
            </a:r>
            <a:r>
              <a:rPr lang="es-ES" sz="1600" dirty="0">
                <a:solidFill>
                  <a:srgbClr val="00B050"/>
                </a:solidFill>
              </a:rPr>
              <a:t>" 	     </a:t>
            </a:r>
            <a:r>
              <a:rPr lang="es-ES" sz="1600" dirty="0" err="1">
                <a:solidFill>
                  <a:srgbClr val="FF0000"/>
                </a:solidFill>
              </a:rPr>
              <a:t>type</a:t>
            </a:r>
            <a:r>
              <a:rPr lang="es-ES" sz="1600" dirty="0">
                <a:solidFill>
                  <a:srgbClr val="FF0000"/>
                </a:solidFill>
              </a:rPr>
              <a:t>="</a:t>
            </a:r>
            <a:r>
              <a:rPr lang="es-ES" sz="1600" dirty="0" err="1">
                <a:solidFill>
                  <a:srgbClr val="FF0000"/>
                </a:solidFill>
              </a:rPr>
              <a:t>xs:string</a:t>
            </a:r>
            <a:r>
              <a:rPr lang="es-ES" sz="1600" dirty="0">
                <a:solidFill>
                  <a:srgbClr val="FF0000"/>
                </a:solidFill>
              </a:rPr>
              <a:t>"</a:t>
            </a:r>
            <a:r>
              <a:rPr lang="es-ES" sz="16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600" dirty="0">
                <a:solidFill>
                  <a:srgbClr val="0070C0"/>
                </a:solidFill>
              </a:rPr>
              <a:t>                   &lt;</a:t>
            </a:r>
            <a:r>
              <a:rPr lang="es-ES" sz="1600" dirty="0" err="1">
                <a:solidFill>
                  <a:srgbClr val="0070C0"/>
                </a:solidFill>
              </a:rPr>
              <a:t>xs:element</a:t>
            </a:r>
            <a:r>
              <a:rPr lang="es-ES" sz="1600" dirty="0">
                <a:solidFill>
                  <a:srgbClr val="0070C0"/>
                </a:solidFill>
              </a:rPr>
              <a:t> </a:t>
            </a:r>
            <a:r>
              <a:rPr lang="es-ES" sz="1600" dirty="0" err="1">
                <a:solidFill>
                  <a:srgbClr val="00B050"/>
                </a:solidFill>
              </a:rPr>
              <a:t>name</a:t>
            </a:r>
            <a:r>
              <a:rPr lang="es-ES" sz="1600" dirty="0">
                <a:solidFill>
                  <a:srgbClr val="00B050"/>
                </a:solidFill>
              </a:rPr>
              <a:t>="numero" </a:t>
            </a:r>
            <a:r>
              <a:rPr lang="es-ES" sz="1600" dirty="0" err="1">
                <a:solidFill>
                  <a:srgbClr val="FF0000"/>
                </a:solidFill>
              </a:rPr>
              <a:t>type</a:t>
            </a:r>
            <a:r>
              <a:rPr lang="es-ES" sz="1600" dirty="0">
                <a:solidFill>
                  <a:srgbClr val="FF0000"/>
                </a:solidFill>
              </a:rPr>
              <a:t>="</a:t>
            </a:r>
            <a:r>
              <a:rPr lang="es-ES" sz="1600" dirty="0" err="1">
                <a:solidFill>
                  <a:srgbClr val="FF0000"/>
                </a:solidFill>
              </a:rPr>
              <a:t>xs:integer</a:t>
            </a:r>
            <a:r>
              <a:rPr lang="es-ES" sz="1600" dirty="0">
                <a:solidFill>
                  <a:srgbClr val="FF0000"/>
                </a:solidFill>
              </a:rPr>
              <a:t>"</a:t>
            </a:r>
            <a:r>
              <a:rPr lang="es-ES" sz="16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600" dirty="0">
                <a:solidFill>
                  <a:srgbClr val="00B050"/>
                </a:solidFill>
              </a:rPr>
              <a:t>                   </a:t>
            </a:r>
            <a:r>
              <a:rPr lang="es-ES" sz="1600" dirty="0">
                <a:solidFill>
                  <a:srgbClr val="0070C0"/>
                </a:solidFill>
              </a:rPr>
              <a:t>&lt;</a:t>
            </a:r>
            <a:r>
              <a:rPr lang="es-ES" sz="1600" dirty="0" err="1">
                <a:solidFill>
                  <a:srgbClr val="0070C0"/>
                </a:solidFill>
              </a:rPr>
              <a:t>xs:element</a:t>
            </a:r>
            <a:r>
              <a:rPr lang="es-ES" sz="1600" dirty="0">
                <a:solidFill>
                  <a:srgbClr val="0070C0"/>
                </a:solidFill>
              </a:rPr>
              <a:t> </a:t>
            </a:r>
            <a:r>
              <a:rPr lang="es-ES" sz="1600" dirty="0" err="1">
                <a:solidFill>
                  <a:srgbClr val="00B050"/>
                </a:solidFill>
              </a:rPr>
              <a:t>name</a:t>
            </a:r>
            <a:r>
              <a:rPr lang="es-ES" sz="1600" dirty="0">
                <a:solidFill>
                  <a:srgbClr val="00B050"/>
                </a:solidFill>
              </a:rPr>
              <a:t>="piso" 	     </a:t>
            </a:r>
            <a:r>
              <a:rPr lang="es-ES" sz="1600" dirty="0" err="1">
                <a:solidFill>
                  <a:srgbClr val="FF0000"/>
                </a:solidFill>
              </a:rPr>
              <a:t>type</a:t>
            </a:r>
            <a:r>
              <a:rPr lang="es-ES" sz="1600" dirty="0">
                <a:solidFill>
                  <a:srgbClr val="FF0000"/>
                </a:solidFill>
              </a:rPr>
              <a:t>="</a:t>
            </a:r>
            <a:r>
              <a:rPr lang="es-ES" sz="1600" dirty="0" err="1">
                <a:solidFill>
                  <a:srgbClr val="FF0000"/>
                </a:solidFill>
              </a:rPr>
              <a:t>xs:byte</a:t>
            </a:r>
            <a:r>
              <a:rPr lang="es-ES" sz="1600" dirty="0">
                <a:solidFill>
                  <a:srgbClr val="FF0000"/>
                </a:solidFill>
              </a:rPr>
              <a:t>"</a:t>
            </a:r>
            <a:r>
              <a:rPr lang="es-ES" sz="16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600" dirty="0">
                <a:solidFill>
                  <a:srgbClr val="0070C0"/>
                </a:solidFill>
              </a:rPr>
              <a:t>	   &lt;</a:t>
            </a:r>
            <a:r>
              <a:rPr lang="es-ES" sz="1600" dirty="0" err="1">
                <a:solidFill>
                  <a:srgbClr val="0070C0"/>
                </a:solidFill>
              </a:rPr>
              <a:t>xs:element</a:t>
            </a:r>
            <a:r>
              <a:rPr lang="es-ES" sz="1600" dirty="0">
                <a:solidFill>
                  <a:srgbClr val="0070C0"/>
                </a:solidFill>
              </a:rPr>
              <a:t> </a:t>
            </a:r>
            <a:r>
              <a:rPr lang="es-ES" sz="1600" dirty="0" err="1">
                <a:solidFill>
                  <a:srgbClr val="00B050"/>
                </a:solidFill>
              </a:rPr>
              <a:t>name</a:t>
            </a:r>
            <a:r>
              <a:rPr lang="es-ES" sz="1600" dirty="0">
                <a:solidFill>
                  <a:srgbClr val="00B050"/>
                </a:solidFill>
              </a:rPr>
              <a:t>="letra" 	     </a:t>
            </a:r>
            <a:r>
              <a:rPr lang="es-ES" sz="1600" dirty="0" err="1">
                <a:solidFill>
                  <a:srgbClr val="FF0000"/>
                </a:solidFill>
              </a:rPr>
              <a:t>type</a:t>
            </a:r>
            <a:r>
              <a:rPr lang="es-ES" sz="1600" dirty="0">
                <a:solidFill>
                  <a:srgbClr val="FF0000"/>
                </a:solidFill>
              </a:rPr>
              <a:t>="</a:t>
            </a:r>
            <a:r>
              <a:rPr lang="es-ES" sz="1600" dirty="0" err="1">
                <a:solidFill>
                  <a:srgbClr val="FF0000"/>
                </a:solidFill>
              </a:rPr>
              <a:t>xs:string</a:t>
            </a:r>
            <a:r>
              <a:rPr lang="es-ES" sz="1600" dirty="0">
                <a:solidFill>
                  <a:srgbClr val="FF0000"/>
                </a:solidFill>
              </a:rPr>
              <a:t>"</a:t>
            </a:r>
            <a:r>
              <a:rPr lang="es-ES" sz="1600" dirty="0">
                <a:solidFill>
                  <a:srgbClr val="0070C0"/>
                </a:solidFill>
              </a:rPr>
              <a:t>/&gt;</a:t>
            </a:r>
          </a:p>
          <a:p>
            <a:r>
              <a:rPr lang="es-ES" sz="1600" dirty="0">
                <a:solidFill>
                  <a:srgbClr val="CC6600"/>
                </a:solidFill>
              </a:rPr>
              <a:t>             &lt;/</a:t>
            </a:r>
            <a:r>
              <a:rPr lang="es-ES" sz="1600" dirty="0" err="1">
                <a:solidFill>
                  <a:srgbClr val="CC6600"/>
                </a:solidFill>
              </a:rPr>
              <a:t>xs:sequence</a:t>
            </a:r>
            <a:r>
              <a:rPr lang="es-ES" sz="1600" dirty="0">
                <a:solidFill>
                  <a:srgbClr val="CC6600"/>
                </a:solidFill>
              </a:rPr>
              <a:t>&gt;</a:t>
            </a:r>
          </a:p>
          <a:p>
            <a:r>
              <a:rPr lang="es-ES" sz="1600" dirty="0">
                <a:solidFill>
                  <a:srgbClr val="00B0F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r>
              <a:rPr lang="es-ES" sz="1600" dirty="0">
                <a:solidFill>
                  <a:srgbClr val="005FF3"/>
                </a:solidFill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600" dirty="0" err="1">
                <a:solidFill>
                  <a:srgbClr val="003297"/>
                </a:solidFill>
                <a:ea typeface="Calibri" panose="020F0502020204030204" pitchFamily="34" charset="0"/>
                <a:cs typeface="CourierNewPSMT-Identity-H"/>
              </a:rPr>
              <a:t>xs:attribute</a:t>
            </a:r>
            <a:r>
              <a:rPr lang="es-ES" sz="1600" dirty="0">
                <a:solidFill>
                  <a:srgbClr val="003297"/>
                </a:solidFill>
                <a:ea typeface="Calibri" panose="020F0502020204030204" pitchFamily="34" charset="0"/>
                <a:cs typeface="CourierNewPSMT-Identity-H"/>
              </a:rPr>
              <a:t> </a:t>
            </a:r>
            <a:r>
              <a:rPr lang="es-ES" sz="1600" dirty="0" err="1">
                <a:solidFill>
                  <a:srgbClr val="00CC00"/>
                </a:solidFill>
                <a:ea typeface="Calibri" panose="020F0502020204030204" pitchFamily="34" charset="0"/>
                <a:cs typeface="CourierNewPSMT-Identity-H"/>
              </a:rPr>
              <a:t>name</a:t>
            </a:r>
            <a:r>
              <a:rPr lang="es-ES" sz="1600" dirty="0">
                <a:solidFill>
                  <a:srgbClr val="00CC00"/>
                </a:solidFill>
                <a:ea typeface="Calibri" panose="020F0502020204030204" pitchFamily="34" charset="0"/>
                <a:cs typeface="CourierNewPSMT-Identity-H"/>
              </a:rPr>
              <a:t>="</a:t>
            </a:r>
            <a:r>
              <a:rPr lang="es-ES" sz="1600" dirty="0">
                <a:solidFill>
                  <a:srgbClr val="FF9900"/>
                </a:solidFill>
                <a:ea typeface="Calibri" panose="020F0502020204030204" pitchFamily="34" charset="0"/>
                <a:cs typeface="CourierNewPSMT-Identity-H"/>
              </a:rPr>
              <a:t>tipo</a:t>
            </a:r>
            <a:r>
              <a:rPr lang="es-ES" sz="1600" dirty="0">
                <a:solidFill>
                  <a:srgbClr val="00CC00"/>
                </a:solidFill>
                <a:ea typeface="Calibri" panose="020F0502020204030204" pitchFamily="34" charset="0"/>
                <a:cs typeface="CourierNewPSMT-Identity-H"/>
              </a:rPr>
              <a:t>" </a:t>
            </a:r>
            <a:r>
              <a:rPr lang="es-ES" sz="1600" dirty="0" err="1">
                <a:solidFill>
                  <a:srgbClr val="00CC00"/>
                </a:solidFill>
                <a:ea typeface="Calibri" panose="020F0502020204030204" pitchFamily="34" charset="0"/>
                <a:cs typeface="CourierNewPSMT-Identity-H"/>
              </a:rPr>
              <a:t>type</a:t>
            </a:r>
            <a:r>
              <a:rPr lang="es-ES" sz="1600" dirty="0">
                <a:solidFill>
                  <a:srgbClr val="00CC00"/>
                </a:solidFill>
                <a:ea typeface="Calibri" panose="020F0502020204030204" pitchFamily="34" charset="0"/>
                <a:cs typeface="CourierNewPSMT-Identity-H"/>
              </a:rPr>
              <a:t>="</a:t>
            </a:r>
            <a:r>
              <a:rPr lang="es-ES" sz="1600" dirty="0" err="1">
                <a:solidFill>
                  <a:srgbClr val="FF9900"/>
                </a:solidFill>
                <a:ea typeface="Calibri" panose="020F0502020204030204" pitchFamily="34" charset="0"/>
                <a:cs typeface="CourierNewPSMT-Identity-H"/>
              </a:rPr>
              <a:t>xs:string</a:t>
            </a:r>
            <a:r>
              <a:rPr lang="es-ES" sz="1600" dirty="0">
                <a:solidFill>
                  <a:srgbClr val="00CC00"/>
                </a:solidFill>
                <a:ea typeface="Calibri" panose="020F0502020204030204" pitchFamily="34" charset="0"/>
                <a:cs typeface="CourierNewPSMT-Identity-H"/>
              </a:rPr>
              <a:t>" </a:t>
            </a:r>
            <a:r>
              <a:rPr lang="es-ES" sz="1600" dirty="0">
                <a:solidFill>
                  <a:srgbClr val="005FF3"/>
                </a:solidFill>
                <a:ea typeface="Calibri" panose="020F0502020204030204" pitchFamily="34" charset="0"/>
                <a:cs typeface="CourierNewPSMT-Identity-H"/>
              </a:rPr>
              <a:t>/</a:t>
            </a:r>
            <a:r>
              <a:rPr lang="es-ES" sz="1600" dirty="0">
                <a:solidFill>
                  <a:srgbClr val="00B0F0"/>
                </a:solidFill>
                <a:ea typeface="Calibri" panose="020F0502020204030204" pitchFamily="34" charset="0"/>
                <a:cs typeface="CourierNewPSMT-Identity-H"/>
              </a:rPr>
              <a:t>&gt;</a:t>
            </a:r>
          </a:p>
          <a:p>
            <a:r>
              <a:rPr lang="es-ES" sz="16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    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&lt;/</a:t>
            </a:r>
            <a:r>
              <a:rPr lang="es-ES" sz="16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xs:complexType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6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/</a:t>
            </a:r>
            <a:r>
              <a:rPr lang="es-ES" sz="1600" dirty="0" err="1">
                <a:solidFill>
                  <a:srgbClr val="003297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xs:element</a:t>
            </a:r>
            <a:r>
              <a:rPr lang="es-ES" sz="16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600" dirty="0">
              <a:solidFill>
                <a:srgbClr val="00B0F0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715448" y="6500663"/>
            <a:ext cx="7624481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Realiza el ejercicio 16</a:t>
            </a:r>
          </a:p>
        </p:txBody>
      </p:sp>
    </p:spTree>
    <p:extLst>
      <p:ext uri="{BB962C8B-B14F-4D97-AF65-F5344CB8AC3E}">
        <p14:creationId xmlns:p14="http://schemas.microsoft.com/office/powerpoint/2010/main" val="4225312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uiExpand="1" build="p"/>
      <p:bldP spid="11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45760"/>
            <a:ext cx="7487260" cy="563563"/>
          </a:xfrm>
        </p:spPr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Complejos</a:t>
            </a:r>
            <a:endParaRPr lang="en-US" sz="1400" dirty="0"/>
          </a:p>
        </p:txBody>
      </p:sp>
      <p:sp>
        <p:nvSpPr>
          <p:cNvPr id="42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3" name="Grupo 12"/>
          <p:cNvGrpSpPr/>
          <p:nvPr/>
        </p:nvGrpSpPr>
        <p:grpSpPr>
          <a:xfrm>
            <a:off x="195115" y="2816897"/>
            <a:ext cx="3480483" cy="1738600"/>
            <a:chOff x="1295636" y="3749992"/>
            <a:chExt cx="5616624" cy="501858"/>
          </a:xfrm>
        </p:grpSpPr>
        <p:sp>
          <p:nvSpPr>
            <p:cNvPr id="40" name="Rectángulo 39"/>
            <p:cNvSpPr/>
            <p:nvPr/>
          </p:nvSpPr>
          <p:spPr bwMode="auto">
            <a:xfrm>
              <a:off x="1295636" y="3749992"/>
              <a:ext cx="5616624" cy="501858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1" name="CuadroTexto 40"/>
            <p:cNvSpPr txBox="1"/>
            <p:nvPr/>
          </p:nvSpPr>
          <p:spPr>
            <a:xfrm>
              <a:off x="1378448" y="3750670"/>
              <a:ext cx="5533809" cy="4930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&lt;persona&gt;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&lt;nombre&gt;</a:t>
              </a:r>
              <a:r>
                <a:rPr lang="es-ES" sz="1500" dirty="0">
                  <a:solidFill>
                    <a:srgbClr val="FF0000"/>
                  </a:solidFill>
                </a:rPr>
                <a:t>Ramón Tejero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&lt;/nombre&gt;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&lt;</a:t>
              </a:r>
              <a:r>
                <a:rPr lang="es-ES" sz="1500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via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  <a:r>
                <a:rPr lang="es-ES" sz="1400" dirty="0" err="1">
                  <a:solidFill>
                    <a:srgbClr val="FF0000"/>
                  </a:solidFill>
                </a:rPr>
                <a:t>Sagasta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</a:t>
              </a:r>
              <a:r>
                <a:rPr lang="es-ES" sz="1500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via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&lt;numero&gt;</a:t>
              </a:r>
              <a:r>
                <a:rPr lang="es-ES" sz="1500" dirty="0">
                  <a:solidFill>
                    <a:srgbClr val="FF0000"/>
                  </a:solidFill>
                </a:rPr>
                <a:t>5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&lt;/numero&gt;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&lt;piso&gt;</a:t>
              </a:r>
              <a:r>
                <a:rPr lang="es-ES" sz="1500" dirty="0">
                  <a:solidFill>
                    <a:srgbClr val="FF0000"/>
                  </a:solidFill>
                </a:rPr>
                <a:t>4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&lt;/piso&gt;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&lt;letra&gt;</a:t>
              </a:r>
              <a:r>
                <a:rPr lang="es-ES" sz="1500" dirty="0">
                  <a:solidFill>
                    <a:srgbClr val="FF3300"/>
                  </a:solidFill>
                </a:rPr>
                <a:t>A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&lt;/letra&gt;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&lt;/persona&gt;</a:t>
              </a:r>
            </a:p>
          </p:txBody>
        </p:sp>
      </p:grpSp>
      <p:sp>
        <p:nvSpPr>
          <p:cNvPr id="20" name="CuadroTexto 19"/>
          <p:cNvSpPr txBox="1"/>
          <p:nvPr/>
        </p:nvSpPr>
        <p:spPr>
          <a:xfrm>
            <a:off x="1547664" y="837873"/>
            <a:ext cx="56166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dirty="0">
                <a:solidFill>
                  <a:srgbClr val="00B0F0"/>
                </a:solidFill>
              </a:rPr>
              <a:t>Indicadores de Grupo</a:t>
            </a:r>
            <a:endParaRPr lang="es-ES" sz="2200" dirty="0">
              <a:solidFill>
                <a:srgbClr val="0070C0"/>
              </a:solidFill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3779912" y="1700808"/>
            <a:ext cx="5384184" cy="4320480"/>
            <a:chOff x="3851920" y="1700808"/>
            <a:chExt cx="5384184" cy="4320480"/>
          </a:xfrm>
        </p:grpSpPr>
        <p:sp>
          <p:nvSpPr>
            <p:cNvPr id="44" name="24 Esquina doblada"/>
            <p:cNvSpPr/>
            <p:nvPr/>
          </p:nvSpPr>
          <p:spPr bwMode="auto">
            <a:xfrm>
              <a:off x="3851920" y="1700808"/>
              <a:ext cx="5256584" cy="4320480"/>
            </a:xfrm>
            <a:prstGeom prst="foldedCorner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_tradn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3" name="Rectángulo 22"/>
            <p:cNvSpPr/>
            <p:nvPr/>
          </p:nvSpPr>
          <p:spPr>
            <a:xfrm>
              <a:off x="3923928" y="1829446"/>
              <a:ext cx="5312176" cy="19551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0"/>
                </a:spcAft>
              </a:pPr>
              <a:r>
                <a:rPr lang="es-ES" sz="1500" dirty="0">
                  <a:solidFill>
                    <a:srgbClr val="00B0F0"/>
                  </a:solidFill>
                  <a:ea typeface="Calibri" panose="020F0502020204030204" pitchFamily="34" charset="0"/>
                  <a:cs typeface="CourierNewPSMT-Identity-H"/>
                </a:rPr>
                <a:t> </a:t>
              </a:r>
              <a:r>
                <a:rPr lang="es-ES" sz="1500" dirty="0">
                  <a:solidFill>
                    <a:srgbClr val="0070C0"/>
                  </a:solidFill>
                  <a:ea typeface="Calibri" panose="020F0502020204030204" pitchFamily="34" charset="0"/>
                  <a:cs typeface="CourierNewPSMT-Identity-H"/>
                </a:rPr>
                <a:t>&lt;</a:t>
              </a:r>
              <a:r>
                <a:rPr lang="es-ES" sz="1500" dirty="0" err="1">
                  <a:solidFill>
                    <a:srgbClr val="0070C0"/>
                  </a:solidFill>
                  <a:ea typeface="Calibri" panose="020F0502020204030204" pitchFamily="34" charset="0"/>
                  <a:cs typeface="CourierNewPSMT-Identity-H"/>
                </a:rPr>
                <a:t>xs:group</a:t>
              </a:r>
              <a:r>
                <a:rPr lang="es-ES" sz="1500" dirty="0">
                  <a:solidFill>
                    <a:srgbClr val="0070C0"/>
                  </a:solidFill>
                  <a:ea typeface="Calibri" panose="020F0502020204030204" pitchFamily="34" charset="0"/>
                  <a:cs typeface="CourierNewPSMT-Identity-H"/>
                </a:rPr>
                <a:t> </a:t>
              </a:r>
              <a:r>
                <a:rPr lang="es-ES" sz="1500" dirty="0" err="1">
                  <a:solidFill>
                    <a:srgbClr val="00CC00"/>
                  </a:solidFill>
                  <a:ea typeface="Calibri" panose="020F0502020204030204" pitchFamily="34" charset="0"/>
                  <a:cs typeface="CourierNewPSMT-Identity-H"/>
                </a:rPr>
                <a:t>name</a:t>
              </a:r>
              <a:r>
                <a:rPr lang="es-ES" sz="1500" dirty="0">
                  <a:solidFill>
                    <a:srgbClr val="00CC00"/>
                  </a:solidFill>
                  <a:ea typeface="Calibri" panose="020F0502020204030204" pitchFamily="34" charset="0"/>
                  <a:cs typeface="CourierNewPSMT-Identity-H"/>
                </a:rPr>
                <a:t>="</a:t>
              </a:r>
              <a:r>
                <a:rPr lang="es-ES" sz="1500" dirty="0" err="1">
                  <a:solidFill>
                    <a:srgbClr val="FF9900"/>
                  </a:solidFill>
                  <a:ea typeface="Calibri" panose="020F0502020204030204" pitchFamily="34" charset="0"/>
                  <a:cs typeface="CourierNewPSMT-Identity-H"/>
                </a:rPr>
                <a:t>direccion</a:t>
              </a:r>
              <a:r>
                <a:rPr lang="es-ES" sz="1500" dirty="0">
                  <a:solidFill>
                    <a:srgbClr val="00CC00"/>
                  </a:solidFill>
                  <a:ea typeface="Calibri" panose="020F0502020204030204" pitchFamily="34" charset="0"/>
                  <a:cs typeface="CourierNewPSMT-Identity-H"/>
                </a:rPr>
                <a:t>"</a:t>
              </a:r>
              <a:r>
                <a:rPr lang="es-ES" sz="1500" dirty="0">
                  <a:solidFill>
                    <a:srgbClr val="0070C0"/>
                  </a:solidFill>
                  <a:ea typeface="Calibri" panose="020F0502020204030204" pitchFamily="34" charset="0"/>
                  <a:cs typeface="CourierNewPSMT-Identity-H"/>
                </a:rPr>
                <a:t>&gt;</a:t>
              </a:r>
            </a:p>
            <a:p>
              <a:r>
                <a:rPr lang="es-ES" sz="1500" dirty="0">
                  <a:solidFill>
                    <a:srgbClr val="CC6600"/>
                  </a:solidFill>
                </a:rPr>
                <a:t>       </a:t>
              </a:r>
              <a:r>
                <a:rPr lang="es-ES" sz="1500" dirty="0">
                  <a:solidFill>
                    <a:srgbClr val="0070C0"/>
                  </a:solidFill>
                </a:rPr>
                <a:t>&lt;</a:t>
              </a:r>
              <a:r>
                <a:rPr lang="es-ES" sz="1500" dirty="0" err="1">
                  <a:solidFill>
                    <a:srgbClr val="0070C0"/>
                  </a:solidFill>
                </a:rPr>
                <a:t>xs:sequence</a:t>
              </a:r>
              <a:r>
                <a:rPr lang="es-ES" sz="1500" dirty="0">
                  <a:solidFill>
                    <a:srgbClr val="0070C0"/>
                  </a:solidFill>
                </a:rPr>
                <a:t>&gt;</a:t>
              </a:r>
            </a:p>
            <a:p>
              <a:r>
                <a:rPr lang="es-ES" sz="1500" dirty="0">
                  <a:solidFill>
                    <a:srgbClr val="00B050"/>
                  </a:solidFill>
                </a:rPr>
                <a:t>              </a:t>
              </a:r>
              <a:r>
                <a:rPr lang="es-ES" sz="1500" dirty="0">
                  <a:solidFill>
                    <a:srgbClr val="0070C0"/>
                  </a:solidFill>
                </a:rPr>
                <a:t>&lt;</a:t>
              </a:r>
              <a:r>
                <a:rPr lang="es-ES" sz="1500" dirty="0" err="1">
                  <a:solidFill>
                    <a:srgbClr val="0070C0"/>
                  </a:solidFill>
                </a:rPr>
                <a:t>xs:element</a:t>
              </a:r>
              <a:r>
                <a:rPr lang="es-ES" sz="1500" dirty="0">
                  <a:solidFill>
                    <a:srgbClr val="0070C0"/>
                  </a:solidFill>
                </a:rPr>
                <a:t> </a:t>
              </a:r>
              <a:r>
                <a:rPr lang="es-ES" sz="1500" dirty="0" err="1">
                  <a:solidFill>
                    <a:srgbClr val="00B050"/>
                  </a:solidFill>
                </a:rPr>
                <a:t>name</a:t>
              </a:r>
              <a:r>
                <a:rPr lang="es-ES" sz="1500" dirty="0">
                  <a:solidFill>
                    <a:srgbClr val="00B050"/>
                  </a:solidFill>
                </a:rPr>
                <a:t>="</a:t>
              </a:r>
              <a:r>
                <a:rPr lang="es-ES" sz="1500" dirty="0" err="1">
                  <a:solidFill>
                    <a:srgbClr val="00B050"/>
                  </a:solidFill>
                </a:rPr>
                <a:t>via</a:t>
              </a:r>
              <a:r>
                <a:rPr lang="es-ES" sz="1500" dirty="0">
                  <a:solidFill>
                    <a:srgbClr val="00B050"/>
                  </a:solidFill>
                </a:rPr>
                <a:t>"          </a:t>
              </a:r>
              <a:r>
                <a:rPr lang="es-ES" sz="1500" dirty="0" err="1">
                  <a:solidFill>
                    <a:srgbClr val="00B050"/>
                  </a:solidFill>
                </a:rPr>
                <a:t>type</a:t>
              </a:r>
              <a:r>
                <a:rPr lang="es-ES" sz="1500" dirty="0">
                  <a:solidFill>
                    <a:srgbClr val="00B050"/>
                  </a:solidFill>
                </a:rPr>
                <a:t>="</a:t>
              </a:r>
              <a:r>
                <a:rPr lang="es-ES" sz="1500" dirty="0" err="1">
                  <a:solidFill>
                    <a:srgbClr val="FF9900"/>
                  </a:solidFill>
                </a:rPr>
                <a:t>xs:string</a:t>
              </a:r>
              <a:r>
                <a:rPr lang="es-ES" sz="1500" dirty="0">
                  <a:solidFill>
                    <a:srgbClr val="00B050"/>
                  </a:solidFill>
                </a:rPr>
                <a:t>"</a:t>
              </a:r>
              <a:r>
                <a:rPr lang="es-ES" sz="1500" dirty="0">
                  <a:solidFill>
                    <a:srgbClr val="0070C0"/>
                  </a:solidFill>
                </a:rPr>
                <a:t>/&gt;</a:t>
              </a:r>
            </a:p>
            <a:p>
              <a:r>
                <a:rPr lang="es-ES" sz="1500" dirty="0">
                  <a:solidFill>
                    <a:srgbClr val="0070C0"/>
                  </a:solidFill>
                </a:rPr>
                <a:t>              &lt;</a:t>
              </a:r>
              <a:r>
                <a:rPr lang="es-ES" sz="1500" dirty="0" err="1">
                  <a:solidFill>
                    <a:srgbClr val="0070C0"/>
                  </a:solidFill>
                </a:rPr>
                <a:t>xs:element</a:t>
              </a:r>
              <a:r>
                <a:rPr lang="es-ES" sz="1500" dirty="0">
                  <a:solidFill>
                    <a:srgbClr val="0070C0"/>
                  </a:solidFill>
                </a:rPr>
                <a:t> </a:t>
              </a:r>
              <a:r>
                <a:rPr lang="es-ES" sz="1500" dirty="0" err="1">
                  <a:solidFill>
                    <a:srgbClr val="00B050"/>
                  </a:solidFill>
                </a:rPr>
                <a:t>name</a:t>
              </a:r>
              <a:r>
                <a:rPr lang="es-ES" sz="1500" dirty="0">
                  <a:solidFill>
                    <a:srgbClr val="00B050"/>
                  </a:solidFill>
                </a:rPr>
                <a:t>="numero"  </a:t>
              </a:r>
              <a:r>
                <a:rPr lang="es-ES" sz="1500" dirty="0" err="1">
                  <a:solidFill>
                    <a:srgbClr val="00B050"/>
                  </a:solidFill>
                </a:rPr>
                <a:t>type</a:t>
              </a:r>
              <a:r>
                <a:rPr lang="es-ES" sz="1500" dirty="0">
                  <a:solidFill>
                    <a:srgbClr val="00B050"/>
                  </a:solidFill>
                </a:rPr>
                <a:t>="</a:t>
              </a:r>
              <a:r>
                <a:rPr lang="es-ES" sz="1500" dirty="0" err="1">
                  <a:solidFill>
                    <a:srgbClr val="FF9900"/>
                  </a:solidFill>
                </a:rPr>
                <a:t>xs:integer</a:t>
              </a:r>
              <a:r>
                <a:rPr lang="es-ES" sz="1500" dirty="0">
                  <a:solidFill>
                    <a:srgbClr val="00B050"/>
                  </a:solidFill>
                </a:rPr>
                <a:t>"</a:t>
              </a:r>
              <a:r>
                <a:rPr lang="es-ES" sz="1500" dirty="0">
                  <a:solidFill>
                    <a:srgbClr val="0070C0"/>
                  </a:solidFill>
                </a:rPr>
                <a:t>/&gt;</a:t>
              </a:r>
            </a:p>
            <a:p>
              <a:r>
                <a:rPr lang="es-ES" sz="1500" dirty="0">
                  <a:solidFill>
                    <a:srgbClr val="00B050"/>
                  </a:solidFill>
                </a:rPr>
                <a:t>              </a:t>
              </a:r>
              <a:r>
                <a:rPr lang="es-ES" sz="1500" dirty="0">
                  <a:solidFill>
                    <a:srgbClr val="0070C0"/>
                  </a:solidFill>
                </a:rPr>
                <a:t>&lt;</a:t>
              </a:r>
              <a:r>
                <a:rPr lang="es-ES" sz="1500" dirty="0" err="1">
                  <a:solidFill>
                    <a:srgbClr val="0070C0"/>
                  </a:solidFill>
                </a:rPr>
                <a:t>xs:element</a:t>
              </a:r>
              <a:r>
                <a:rPr lang="es-ES" sz="1500" dirty="0">
                  <a:solidFill>
                    <a:srgbClr val="0070C0"/>
                  </a:solidFill>
                </a:rPr>
                <a:t> </a:t>
              </a:r>
              <a:r>
                <a:rPr lang="es-ES" sz="1500" dirty="0" err="1">
                  <a:solidFill>
                    <a:srgbClr val="00B050"/>
                  </a:solidFill>
                </a:rPr>
                <a:t>name</a:t>
              </a:r>
              <a:r>
                <a:rPr lang="es-ES" sz="1500" dirty="0">
                  <a:solidFill>
                    <a:srgbClr val="00B050"/>
                  </a:solidFill>
                </a:rPr>
                <a:t>="piso"        </a:t>
              </a:r>
              <a:r>
                <a:rPr lang="es-ES" sz="1500" dirty="0" err="1">
                  <a:solidFill>
                    <a:srgbClr val="00B050"/>
                  </a:solidFill>
                </a:rPr>
                <a:t>type</a:t>
              </a:r>
              <a:r>
                <a:rPr lang="es-ES" sz="1500" dirty="0">
                  <a:solidFill>
                    <a:srgbClr val="00B050"/>
                  </a:solidFill>
                </a:rPr>
                <a:t>="</a:t>
              </a:r>
              <a:r>
                <a:rPr lang="es-ES" sz="1500" dirty="0" err="1">
                  <a:solidFill>
                    <a:srgbClr val="FF9900"/>
                  </a:solidFill>
                </a:rPr>
                <a:t>xs:byte</a:t>
              </a:r>
              <a:r>
                <a:rPr lang="es-ES" sz="1500" dirty="0">
                  <a:solidFill>
                    <a:srgbClr val="00B050"/>
                  </a:solidFill>
                </a:rPr>
                <a:t>"</a:t>
              </a:r>
              <a:r>
                <a:rPr lang="es-ES" sz="1500" dirty="0">
                  <a:solidFill>
                    <a:srgbClr val="0070C0"/>
                  </a:solidFill>
                </a:rPr>
                <a:t>/&gt;</a:t>
              </a:r>
            </a:p>
            <a:p>
              <a:r>
                <a:rPr lang="es-ES" sz="1500" dirty="0">
                  <a:solidFill>
                    <a:srgbClr val="0070C0"/>
                  </a:solidFill>
                </a:rPr>
                <a:t>              &lt;</a:t>
              </a:r>
              <a:r>
                <a:rPr lang="es-ES" sz="1500" dirty="0" err="1">
                  <a:solidFill>
                    <a:srgbClr val="0070C0"/>
                  </a:solidFill>
                </a:rPr>
                <a:t>xs:element</a:t>
              </a:r>
              <a:r>
                <a:rPr lang="es-ES" sz="1500" dirty="0">
                  <a:solidFill>
                    <a:srgbClr val="0070C0"/>
                  </a:solidFill>
                </a:rPr>
                <a:t> </a:t>
              </a:r>
              <a:r>
                <a:rPr lang="es-ES" sz="1500" dirty="0" err="1">
                  <a:solidFill>
                    <a:srgbClr val="00B050"/>
                  </a:solidFill>
                </a:rPr>
                <a:t>name</a:t>
              </a:r>
              <a:r>
                <a:rPr lang="es-ES" sz="1500" dirty="0">
                  <a:solidFill>
                    <a:srgbClr val="00B050"/>
                  </a:solidFill>
                </a:rPr>
                <a:t>="letra"        </a:t>
              </a:r>
              <a:r>
                <a:rPr lang="es-ES" sz="1500" dirty="0" err="1">
                  <a:solidFill>
                    <a:srgbClr val="00B050"/>
                  </a:solidFill>
                </a:rPr>
                <a:t>type</a:t>
              </a:r>
              <a:r>
                <a:rPr lang="es-ES" sz="1500" dirty="0">
                  <a:solidFill>
                    <a:srgbClr val="00B050"/>
                  </a:solidFill>
                </a:rPr>
                <a:t>="</a:t>
              </a:r>
              <a:r>
                <a:rPr lang="es-ES" sz="1500" dirty="0" err="1">
                  <a:solidFill>
                    <a:srgbClr val="FF9900"/>
                  </a:solidFill>
                </a:rPr>
                <a:t>xs:string</a:t>
              </a:r>
              <a:r>
                <a:rPr lang="es-ES" sz="1500" dirty="0">
                  <a:solidFill>
                    <a:srgbClr val="00B050"/>
                  </a:solidFill>
                </a:rPr>
                <a:t>"</a:t>
              </a:r>
              <a:r>
                <a:rPr lang="es-ES" sz="1500" dirty="0">
                  <a:solidFill>
                    <a:srgbClr val="0070C0"/>
                  </a:solidFill>
                </a:rPr>
                <a:t>/&gt;</a:t>
              </a:r>
            </a:p>
            <a:p>
              <a:r>
                <a:rPr lang="es-ES" sz="1500" dirty="0">
                  <a:solidFill>
                    <a:srgbClr val="0070C0"/>
                  </a:solidFill>
                </a:rPr>
                <a:t>       &lt;/</a:t>
              </a:r>
              <a:r>
                <a:rPr lang="es-ES" sz="1500" dirty="0" err="1">
                  <a:solidFill>
                    <a:srgbClr val="0070C0"/>
                  </a:solidFill>
                </a:rPr>
                <a:t>xs:sequence</a:t>
              </a:r>
              <a:r>
                <a:rPr lang="es-ES" sz="1500" dirty="0">
                  <a:solidFill>
                    <a:srgbClr val="0070C0"/>
                  </a:solidFill>
                </a:rPr>
                <a:t>&gt;</a:t>
              </a:r>
            </a:p>
            <a:p>
              <a:r>
                <a:rPr lang="es-ES" sz="1500" dirty="0">
                  <a:solidFill>
                    <a:srgbClr val="0070C0"/>
                  </a:solidFill>
                </a:rPr>
                <a:t>&lt;/</a:t>
              </a:r>
              <a:r>
                <a:rPr lang="es-ES" sz="1500" dirty="0" err="1">
                  <a:solidFill>
                    <a:srgbClr val="0070C0"/>
                  </a:solidFill>
                </a:rPr>
                <a:t>xs:group</a:t>
              </a:r>
              <a:r>
                <a:rPr lang="es-ES" sz="1500" dirty="0">
                  <a:solidFill>
                    <a:srgbClr val="0070C0"/>
                  </a:solidFill>
                </a:rPr>
                <a:t>&gt;</a:t>
              </a:r>
              <a:endParaRPr lang="es-ES" sz="1500" dirty="0">
                <a:solidFill>
                  <a:srgbClr val="0070C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CuadroTexto 11"/>
          <p:cNvSpPr txBox="1"/>
          <p:nvPr/>
        </p:nvSpPr>
        <p:spPr>
          <a:xfrm>
            <a:off x="715448" y="6500663"/>
            <a:ext cx="7624481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Realiza los ejercicios 17 a 20</a:t>
            </a:r>
          </a:p>
        </p:txBody>
      </p:sp>
      <p:sp>
        <p:nvSpPr>
          <p:cNvPr id="14" name="Rectángulo 13"/>
          <p:cNvSpPr/>
          <p:nvPr/>
        </p:nvSpPr>
        <p:spPr>
          <a:xfrm>
            <a:off x="3799756" y="3861048"/>
            <a:ext cx="5452764" cy="2052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500" dirty="0">
                <a:solidFill>
                  <a:srgbClr val="00B0F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500" dirty="0" err="1">
                <a:solidFill>
                  <a:srgbClr val="0070C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xs:element</a:t>
            </a:r>
            <a:r>
              <a:rPr lang="es-ES" sz="1500" dirty="0">
                <a:solidFill>
                  <a:srgbClr val="0070C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</a:t>
            </a:r>
            <a:r>
              <a:rPr lang="es-ES" sz="1500" dirty="0" err="1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name</a:t>
            </a:r>
            <a:r>
              <a:rPr lang="es-ES" sz="15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="</a:t>
            </a:r>
            <a:r>
              <a:rPr lang="es-ES" sz="1500" dirty="0">
                <a:solidFill>
                  <a:srgbClr val="FF99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persona</a:t>
            </a:r>
            <a:r>
              <a:rPr lang="es-ES" sz="1500" dirty="0">
                <a:solidFill>
                  <a:srgbClr val="00CC0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"</a:t>
            </a:r>
            <a:r>
              <a:rPr lang="es-ES" sz="1500" dirty="0">
                <a:solidFill>
                  <a:srgbClr val="0070C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500" dirty="0">
              <a:solidFill>
                <a:srgbClr val="0070C0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5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      </a:t>
            </a:r>
            <a:r>
              <a:rPr lang="es-ES" sz="1500" dirty="0">
                <a:solidFill>
                  <a:srgbClr val="0070C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500" dirty="0" err="1">
                <a:solidFill>
                  <a:srgbClr val="0070C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xs:complexType</a:t>
            </a:r>
            <a:r>
              <a:rPr lang="es-ES" sz="1500" dirty="0">
                <a:solidFill>
                  <a:srgbClr val="0070C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   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500" dirty="0">
                <a:solidFill>
                  <a:srgbClr val="CC6600"/>
                </a:solidFill>
              </a:rPr>
              <a:t>              </a:t>
            </a:r>
            <a:r>
              <a:rPr lang="es-ES" sz="1500" dirty="0">
                <a:solidFill>
                  <a:srgbClr val="0070C0"/>
                </a:solidFill>
              </a:rPr>
              <a:t>&lt;</a:t>
            </a:r>
            <a:r>
              <a:rPr lang="es-ES" sz="1500" dirty="0" err="1">
                <a:solidFill>
                  <a:srgbClr val="0070C0"/>
                </a:solidFill>
              </a:rPr>
              <a:t>xs:sequence</a:t>
            </a:r>
            <a:r>
              <a:rPr lang="es-ES" sz="1500" dirty="0">
                <a:solidFill>
                  <a:srgbClr val="0070C0"/>
                </a:solidFill>
              </a:rPr>
              <a:t>&gt;</a:t>
            </a:r>
            <a:r>
              <a:rPr lang="es-ES" sz="1500" dirty="0">
                <a:solidFill>
                  <a:srgbClr val="005FF3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</a:t>
            </a:r>
            <a:r>
              <a:rPr lang="es-ES" sz="1500" dirty="0">
                <a:solidFill>
                  <a:srgbClr val="005FF3"/>
                </a:solidFill>
                <a:ea typeface="Calibri" panose="020F0502020204030204" pitchFamily="34" charset="0"/>
                <a:cs typeface="CourierNewPSMT-Identity-H"/>
              </a:rPr>
              <a:t>  </a:t>
            </a:r>
            <a:endParaRPr lang="es-ES" sz="1500" dirty="0">
              <a:solidFill>
                <a:srgbClr val="0070C0"/>
              </a:solidFill>
            </a:endParaRPr>
          </a:p>
          <a:p>
            <a:r>
              <a:rPr lang="es-ES" sz="1500" dirty="0">
                <a:solidFill>
                  <a:srgbClr val="00B050"/>
                </a:solidFill>
              </a:rPr>
              <a:t>                  </a:t>
            </a:r>
            <a:r>
              <a:rPr lang="es-ES" sz="1500" dirty="0">
                <a:solidFill>
                  <a:srgbClr val="0070C0"/>
                </a:solidFill>
              </a:rPr>
              <a:t>&lt;</a:t>
            </a:r>
            <a:r>
              <a:rPr lang="es-ES" sz="1500" dirty="0" err="1">
                <a:solidFill>
                  <a:srgbClr val="0070C0"/>
                </a:solidFill>
              </a:rPr>
              <a:t>xs:element</a:t>
            </a:r>
            <a:r>
              <a:rPr lang="es-ES" sz="1500" dirty="0">
                <a:solidFill>
                  <a:srgbClr val="0070C0"/>
                </a:solidFill>
              </a:rPr>
              <a:t>  </a:t>
            </a:r>
            <a:r>
              <a:rPr lang="es-ES" sz="1500" dirty="0" err="1">
                <a:solidFill>
                  <a:srgbClr val="00B050"/>
                </a:solidFill>
              </a:rPr>
              <a:t>name</a:t>
            </a:r>
            <a:r>
              <a:rPr lang="es-ES" sz="1500" dirty="0">
                <a:solidFill>
                  <a:srgbClr val="00B050"/>
                </a:solidFill>
              </a:rPr>
              <a:t>="</a:t>
            </a:r>
            <a:r>
              <a:rPr lang="es-ES" sz="1500" dirty="0">
                <a:solidFill>
                  <a:srgbClr val="FF9900"/>
                </a:solidFill>
              </a:rPr>
              <a:t>nombre</a:t>
            </a:r>
            <a:r>
              <a:rPr lang="es-ES" sz="1500" dirty="0">
                <a:solidFill>
                  <a:srgbClr val="00B050"/>
                </a:solidFill>
              </a:rPr>
              <a:t>"  </a:t>
            </a:r>
            <a:r>
              <a:rPr lang="es-ES" sz="1500" dirty="0" err="1">
                <a:solidFill>
                  <a:srgbClr val="00B050"/>
                </a:solidFill>
              </a:rPr>
              <a:t>type</a:t>
            </a:r>
            <a:r>
              <a:rPr lang="es-ES" sz="1500" dirty="0">
                <a:solidFill>
                  <a:srgbClr val="00B050"/>
                </a:solidFill>
              </a:rPr>
              <a:t>="</a:t>
            </a:r>
            <a:r>
              <a:rPr lang="es-ES" sz="1500" dirty="0" err="1">
                <a:solidFill>
                  <a:srgbClr val="FF9900"/>
                </a:solidFill>
              </a:rPr>
              <a:t>xs:string</a:t>
            </a:r>
            <a:r>
              <a:rPr lang="es-ES" sz="1500" dirty="0">
                <a:solidFill>
                  <a:srgbClr val="00B050"/>
                </a:solidFill>
              </a:rPr>
              <a:t>"</a:t>
            </a:r>
            <a:r>
              <a:rPr lang="es-ES" sz="1500" dirty="0">
                <a:solidFill>
                  <a:srgbClr val="0070C0"/>
                </a:solidFill>
              </a:rPr>
              <a:t>/&gt;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500" dirty="0">
                <a:solidFill>
                  <a:srgbClr val="005FF3"/>
                </a:solidFill>
                <a:ea typeface="Calibri" panose="020F0502020204030204" pitchFamily="34" charset="0"/>
                <a:cs typeface="CourierNewPSMT-Identity-H"/>
              </a:rPr>
              <a:t>                  </a:t>
            </a:r>
            <a:r>
              <a:rPr lang="es-ES" sz="1500" dirty="0">
                <a:solidFill>
                  <a:srgbClr val="0070C0"/>
                </a:solidFill>
                <a:ea typeface="Calibri" panose="020F0502020204030204" pitchFamily="34" charset="0"/>
                <a:cs typeface="CourierNewPSMT-Identity-H"/>
              </a:rPr>
              <a:t>&lt;</a:t>
            </a:r>
            <a:r>
              <a:rPr lang="es-ES" sz="1500" dirty="0" err="1">
                <a:solidFill>
                  <a:srgbClr val="0070C0"/>
                </a:solidFill>
                <a:ea typeface="Calibri" panose="020F0502020204030204" pitchFamily="34" charset="0"/>
                <a:cs typeface="CourierNewPSMT-Identity-H"/>
              </a:rPr>
              <a:t>xs:group</a:t>
            </a:r>
            <a:r>
              <a:rPr lang="es-ES" sz="1500" dirty="0">
                <a:solidFill>
                  <a:srgbClr val="0070C0"/>
                </a:solidFill>
                <a:ea typeface="Calibri" panose="020F0502020204030204" pitchFamily="34" charset="0"/>
                <a:cs typeface="CourierNewPSMT-Identity-H"/>
              </a:rPr>
              <a:t>      </a:t>
            </a:r>
            <a:r>
              <a:rPr lang="es-ES" sz="1500" dirty="0" err="1">
                <a:solidFill>
                  <a:srgbClr val="00B050"/>
                </a:solidFill>
                <a:ea typeface="Calibri" panose="020F0502020204030204" pitchFamily="34" charset="0"/>
                <a:cs typeface="CourierNewPSMT-Identity-H"/>
              </a:rPr>
              <a:t>ref</a:t>
            </a:r>
            <a:r>
              <a:rPr lang="es-ES" sz="1500" dirty="0">
                <a:solidFill>
                  <a:srgbClr val="00B050"/>
                </a:solidFill>
                <a:ea typeface="Calibri" panose="020F0502020204030204" pitchFamily="34" charset="0"/>
                <a:cs typeface="CourierNewPSMT-Identity-H"/>
              </a:rPr>
              <a:t>="</a:t>
            </a:r>
            <a:r>
              <a:rPr lang="es-ES" sz="1500" dirty="0" err="1">
                <a:solidFill>
                  <a:srgbClr val="FF9900"/>
                </a:solidFill>
                <a:ea typeface="Calibri" panose="020F0502020204030204" pitchFamily="34" charset="0"/>
                <a:cs typeface="CourierNewPSMT-Identity-H"/>
              </a:rPr>
              <a:t>direccion</a:t>
            </a:r>
            <a:r>
              <a:rPr lang="es-ES" sz="1500" dirty="0">
                <a:solidFill>
                  <a:srgbClr val="00B050"/>
                </a:solidFill>
                <a:ea typeface="Calibri" panose="020F0502020204030204" pitchFamily="34" charset="0"/>
                <a:cs typeface="CourierNewPSMT-Identity-H"/>
              </a:rPr>
              <a:t>"     </a:t>
            </a:r>
            <a:r>
              <a:rPr lang="es-ES" sz="1500" dirty="0" err="1">
                <a:solidFill>
                  <a:srgbClr val="00B050"/>
                </a:solidFill>
                <a:ea typeface="Calibri" panose="020F0502020204030204" pitchFamily="34" charset="0"/>
                <a:cs typeface="CourierNewPSMT-Identity-H"/>
              </a:rPr>
              <a:t>minOccurs</a:t>
            </a:r>
            <a:r>
              <a:rPr lang="es-ES" sz="1500" dirty="0">
                <a:solidFill>
                  <a:srgbClr val="00B050"/>
                </a:solidFill>
                <a:ea typeface="Calibri" panose="020F0502020204030204" pitchFamily="34" charset="0"/>
                <a:cs typeface="CourierNewPSMT-Identity-H"/>
              </a:rPr>
              <a:t>="</a:t>
            </a:r>
            <a:r>
              <a:rPr lang="es-ES" sz="1500" dirty="0">
                <a:solidFill>
                  <a:srgbClr val="FF9900"/>
                </a:solidFill>
                <a:ea typeface="Calibri" panose="020F0502020204030204" pitchFamily="34" charset="0"/>
                <a:cs typeface="CourierNewPSMT-Identity-H"/>
              </a:rPr>
              <a:t>0</a:t>
            </a:r>
            <a:r>
              <a:rPr lang="es-ES" sz="1500" dirty="0">
                <a:solidFill>
                  <a:srgbClr val="00B050"/>
                </a:solidFill>
                <a:ea typeface="Calibri" panose="020F0502020204030204" pitchFamily="34" charset="0"/>
                <a:cs typeface="CourierNewPSMT-Identity-H"/>
              </a:rPr>
              <a:t>"</a:t>
            </a:r>
            <a:r>
              <a:rPr lang="es-ES" sz="1500" dirty="0">
                <a:solidFill>
                  <a:srgbClr val="0070C0"/>
                </a:solidFill>
                <a:ea typeface="Calibri" panose="020F0502020204030204" pitchFamily="34" charset="0"/>
                <a:cs typeface="CourierNewPSMT-Identity-H"/>
              </a:rPr>
              <a:t>/&gt;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500" dirty="0">
                <a:solidFill>
                  <a:srgbClr val="CC6600"/>
                </a:solidFill>
              </a:rPr>
              <a:t>              </a:t>
            </a:r>
            <a:r>
              <a:rPr lang="es-ES" sz="1500" dirty="0">
                <a:solidFill>
                  <a:srgbClr val="0070C0"/>
                </a:solidFill>
              </a:rPr>
              <a:t>&lt;/</a:t>
            </a:r>
            <a:r>
              <a:rPr lang="es-ES" sz="1500" dirty="0" err="1">
                <a:solidFill>
                  <a:srgbClr val="0070C0"/>
                </a:solidFill>
              </a:rPr>
              <a:t>xs:sequence</a:t>
            </a:r>
            <a:r>
              <a:rPr lang="es-ES" sz="1500" dirty="0">
                <a:solidFill>
                  <a:srgbClr val="0070C0"/>
                </a:solidFill>
              </a:rPr>
              <a:t>&gt;</a:t>
            </a:r>
            <a:r>
              <a:rPr lang="es-ES" sz="1500" dirty="0">
                <a:solidFill>
                  <a:srgbClr val="005FF3"/>
                </a:solidFill>
                <a:ea typeface="Calibri" panose="020F0502020204030204" pitchFamily="34" charset="0"/>
                <a:cs typeface="CourierNewPSMT-Identity-H"/>
              </a:rPr>
              <a:t>  </a:t>
            </a:r>
            <a:endParaRPr lang="es-ES" sz="1500" dirty="0">
              <a:solidFill>
                <a:srgbClr val="005FF3"/>
              </a:solidFill>
              <a:latin typeface="+mj-lt"/>
              <a:ea typeface="Calibri" panose="020F0502020204030204" pitchFamily="34" charset="0"/>
              <a:cs typeface="CourierNewPSMT-Identity-H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500" dirty="0">
                <a:solidFill>
                  <a:srgbClr val="0070C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       &lt;/</a:t>
            </a:r>
            <a:r>
              <a:rPr lang="es-ES" sz="1500" dirty="0" err="1">
                <a:solidFill>
                  <a:srgbClr val="0070C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xs:complexType</a:t>
            </a:r>
            <a:r>
              <a:rPr lang="es-ES" sz="1500" dirty="0">
                <a:solidFill>
                  <a:srgbClr val="0070C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500" dirty="0">
              <a:solidFill>
                <a:srgbClr val="0070C0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500" dirty="0">
                <a:solidFill>
                  <a:srgbClr val="0070C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&lt;/</a:t>
            </a:r>
            <a:r>
              <a:rPr lang="es-ES" sz="1500" dirty="0" err="1">
                <a:solidFill>
                  <a:srgbClr val="0070C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xs:element</a:t>
            </a:r>
            <a:r>
              <a:rPr lang="es-ES" sz="1500" dirty="0">
                <a:solidFill>
                  <a:srgbClr val="0070C0"/>
                </a:solidFill>
                <a:latin typeface="+mj-lt"/>
                <a:ea typeface="Calibri" panose="020F0502020204030204" pitchFamily="34" charset="0"/>
                <a:cs typeface="CourierNewPSMT-Identity-H"/>
              </a:rPr>
              <a:t>&gt;</a:t>
            </a:r>
            <a:endParaRPr lang="es-ES" sz="1500" dirty="0">
              <a:solidFill>
                <a:srgbClr val="0070C0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70666576-A293-F850-BF8F-504C5649D491}"/>
              </a:ext>
            </a:extLst>
          </p:cNvPr>
          <p:cNvGrpSpPr/>
          <p:nvPr/>
        </p:nvGrpSpPr>
        <p:grpSpPr>
          <a:xfrm>
            <a:off x="2320649" y="3044113"/>
            <a:ext cx="1354947" cy="1261884"/>
            <a:chOff x="2374163" y="4920436"/>
            <a:chExt cx="1354947" cy="1261884"/>
          </a:xfrm>
        </p:grpSpPr>
        <p:sp>
          <p:nvSpPr>
            <p:cNvPr id="24" name="CuadroTexto 23"/>
            <p:cNvSpPr txBox="1"/>
            <p:nvPr/>
          </p:nvSpPr>
          <p:spPr>
            <a:xfrm>
              <a:off x="2699791" y="5388056"/>
              <a:ext cx="102931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500" dirty="0">
                  <a:solidFill>
                    <a:srgbClr val="F51BBC"/>
                  </a:solidFill>
                </a:rPr>
                <a:t>Dirección</a:t>
              </a:r>
            </a:p>
            <a:p>
              <a:pPr algn="ctr"/>
              <a:r>
                <a:rPr lang="es-ES" sz="1500" dirty="0">
                  <a:solidFill>
                    <a:srgbClr val="F51BBC"/>
                  </a:solidFill>
                </a:rPr>
                <a:t>opcional*</a:t>
              </a:r>
            </a:p>
          </p:txBody>
        </p:sp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93085070-D031-942A-33DB-EF0C01FE43B1}"/>
                </a:ext>
              </a:extLst>
            </p:cNvPr>
            <p:cNvSpPr txBox="1"/>
            <p:nvPr/>
          </p:nvSpPr>
          <p:spPr>
            <a:xfrm>
              <a:off x="2374163" y="4920436"/>
              <a:ext cx="651253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7600" dirty="0">
                  <a:solidFill>
                    <a:srgbClr val="F51BBC"/>
                  </a:solidFill>
                  <a:latin typeface="Adobe Ming Std L" panose="02020300000000000000" pitchFamily="18" charset="-128"/>
                  <a:ea typeface="Adobe Ming Std L" panose="02020300000000000000" pitchFamily="18" charset="-128"/>
                </a:rPr>
                <a:t>}</a:t>
              </a:r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12B1BEC7-D00D-9DD4-ED40-D98B8F2A73EC}"/>
              </a:ext>
            </a:extLst>
          </p:cNvPr>
          <p:cNvGrpSpPr/>
          <p:nvPr/>
        </p:nvGrpSpPr>
        <p:grpSpPr>
          <a:xfrm>
            <a:off x="194240" y="1737652"/>
            <a:ext cx="3480483" cy="827253"/>
            <a:chOff x="1295636" y="3747157"/>
            <a:chExt cx="5616624" cy="238792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0C907AE3-FCE4-A24F-D367-A8A6D09A400C}"/>
                </a:ext>
              </a:extLst>
            </p:cNvPr>
            <p:cNvSpPr/>
            <p:nvPr/>
          </p:nvSpPr>
          <p:spPr bwMode="auto">
            <a:xfrm>
              <a:off x="1295636" y="3747157"/>
              <a:ext cx="5616624" cy="238792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0AB9F54A-69F1-EE0C-57FE-BED67C3F4C10}"/>
                </a:ext>
              </a:extLst>
            </p:cNvPr>
            <p:cNvSpPr txBox="1"/>
            <p:nvPr/>
          </p:nvSpPr>
          <p:spPr>
            <a:xfrm>
              <a:off x="1378449" y="3750670"/>
              <a:ext cx="5533810" cy="2265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&lt;persona&gt;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   &lt;nombre&gt;</a:t>
              </a:r>
              <a:r>
                <a:rPr lang="es-ES" sz="1500" dirty="0">
                  <a:solidFill>
                    <a:srgbClr val="FF0000"/>
                  </a:solidFill>
                </a:rPr>
                <a:t>Ramón Tejero</a:t>
              </a:r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&lt;/nombre&gt;</a:t>
              </a:r>
            </a:p>
            <a:p>
              <a:r>
                <a:rPr lang="es-ES" sz="15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&lt;/persona&gt;</a:t>
              </a: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54DA1F47-425A-C73C-D3E6-B2780B1C7D64}"/>
              </a:ext>
            </a:extLst>
          </p:cNvPr>
          <p:cNvSpPr txBox="1"/>
          <p:nvPr/>
        </p:nvSpPr>
        <p:spPr>
          <a:xfrm>
            <a:off x="383728" y="4602327"/>
            <a:ext cx="3101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solidFill>
                  <a:srgbClr val="F51BBC"/>
                </a:solidFill>
              </a:rPr>
              <a:t>* Si aparece la dirección, debe ser con todos sus elementos</a:t>
            </a:r>
          </a:p>
        </p:txBody>
      </p:sp>
    </p:spTree>
    <p:extLst>
      <p:ext uri="{BB962C8B-B14F-4D97-AF65-F5344CB8AC3E}">
        <p14:creationId xmlns:p14="http://schemas.microsoft.com/office/powerpoint/2010/main" val="3107933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9" grpId="0"/>
    </p:bldLst>
  </p:timing>
</p:sld>
</file>

<file path=ppt/theme/theme1.xml><?xml version="1.0" encoding="utf-8"?>
<a:theme xmlns:a="http://schemas.openxmlformats.org/drawingml/2006/main" name="cdb2004c019l">
  <a:themeElements>
    <a:clrScheme name="sample 3">
      <a:dk1>
        <a:srgbClr val="000066"/>
      </a:dk1>
      <a:lt1>
        <a:srgbClr val="FFFFFF"/>
      </a:lt1>
      <a:dk2>
        <a:srgbClr val="58A252"/>
      </a:dk2>
      <a:lt2>
        <a:srgbClr val="B2B2B2"/>
      </a:lt2>
      <a:accent1>
        <a:srgbClr val="0066FF"/>
      </a:accent1>
      <a:accent2>
        <a:srgbClr val="2C95A0"/>
      </a:accent2>
      <a:accent3>
        <a:srgbClr val="FFFFFF"/>
      </a:accent3>
      <a:accent4>
        <a:srgbClr val="000056"/>
      </a:accent4>
      <a:accent5>
        <a:srgbClr val="AAB8FF"/>
      </a:accent5>
      <a:accent6>
        <a:srgbClr val="278791"/>
      </a:accent6>
      <a:hlink>
        <a:srgbClr val="35BBE5"/>
      </a:hlink>
      <a:folHlink>
        <a:srgbClr val="872ECA"/>
      </a:folHlink>
    </a:clrScheme>
    <a:fontScheme name="sample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57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57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ample 1">
        <a:dk1>
          <a:srgbClr val="000066"/>
        </a:dk1>
        <a:lt1>
          <a:srgbClr val="FFFFFF"/>
        </a:lt1>
        <a:dk2>
          <a:srgbClr val="58A252"/>
        </a:dk2>
        <a:lt2>
          <a:srgbClr val="B2B2B2"/>
        </a:lt2>
        <a:accent1>
          <a:srgbClr val="33CCCC"/>
        </a:accent1>
        <a:accent2>
          <a:srgbClr val="0099CC"/>
        </a:accent2>
        <a:accent3>
          <a:srgbClr val="FFFFFF"/>
        </a:accent3>
        <a:accent4>
          <a:srgbClr val="000056"/>
        </a:accent4>
        <a:accent5>
          <a:srgbClr val="ADE2E2"/>
        </a:accent5>
        <a:accent6>
          <a:srgbClr val="008AB9"/>
        </a:accent6>
        <a:hlink>
          <a:srgbClr val="6A9EB0"/>
        </a:hlink>
        <a:folHlink>
          <a:srgbClr val="66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000066"/>
        </a:dk1>
        <a:lt1>
          <a:srgbClr val="FFFFFF"/>
        </a:lt1>
        <a:dk2>
          <a:srgbClr val="415CB3"/>
        </a:dk2>
        <a:lt2>
          <a:srgbClr val="B2B2B2"/>
        </a:lt2>
        <a:accent1>
          <a:srgbClr val="55AEEB"/>
        </a:accent1>
        <a:accent2>
          <a:srgbClr val="FF9933"/>
        </a:accent2>
        <a:accent3>
          <a:srgbClr val="FFFFFF"/>
        </a:accent3>
        <a:accent4>
          <a:srgbClr val="000056"/>
        </a:accent4>
        <a:accent5>
          <a:srgbClr val="B4D3F3"/>
        </a:accent5>
        <a:accent6>
          <a:srgbClr val="E78A2D"/>
        </a:accent6>
        <a:hlink>
          <a:srgbClr val="4D7AB5"/>
        </a:hlink>
        <a:folHlink>
          <a:srgbClr val="9964A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0066"/>
        </a:dk1>
        <a:lt1>
          <a:srgbClr val="FFFFFF"/>
        </a:lt1>
        <a:dk2>
          <a:srgbClr val="58A252"/>
        </a:dk2>
        <a:lt2>
          <a:srgbClr val="B2B2B2"/>
        </a:lt2>
        <a:accent1>
          <a:srgbClr val="0066FF"/>
        </a:accent1>
        <a:accent2>
          <a:srgbClr val="2C95A0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78791"/>
        </a:accent6>
        <a:hlink>
          <a:srgbClr val="35BBE5"/>
        </a:hlink>
        <a:folHlink>
          <a:srgbClr val="872EC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cdb2004c019l</Template>
  <TotalTime>35006</TotalTime>
  <Words>6054</Words>
  <Application>Microsoft Office PowerPoint</Application>
  <PresentationFormat>Presentación en pantalla (4:3)</PresentationFormat>
  <Paragraphs>1095</Paragraphs>
  <Slides>40</Slides>
  <Notes>40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40</vt:i4>
      </vt:variant>
    </vt:vector>
  </HeadingPairs>
  <TitlesOfParts>
    <vt:vector size="49" baseType="lpstr">
      <vt:lpstr>Adobe Ming Std L</vt:lpstr>
      <vt:lpstr>Arial</vt:lpstr>
      <vt:lpstr>Baskerville Old Face</vt:lpstr>
      <vt:lpstr>Calibri</vt:lpstr>
      <vt:lpstr>Century Gothic</vt:lpstr>
      <vt:lpstr>Comic Sans MS</vt:lpstr>
      <vt:lpstr>Verdana</vt:lpstr>
      <vt:lpstr>Wingdings</vt:lpstr>
      <vt:lpstr>cdb2004c019l</vt:lpstr>
      <vt:lpstr>XML Schema – XSD (XML Schema Definition)</vt:lpstr>
      <vt:lpstr>Qué es XSD</vt:lpstr>
      <vt:lpstr>Ventajas</vt:lpstr>
      <vt:lpstr>Código de ejemplo</vt:lpstr>
      <vt:lpstr>Arbol de Elementos de un XML</vt:lpstr>
      <vt:lpstr>Construccion de un XSD</vt:lpstr>
      <vt:lpstr>Hacer referencia desde XML al XSD</vt:lpstr>
      <vt:lpstr>Realización de un Schema desde XML Copy Editor</vt:lpstr>
      <vt:lpstr>Raíz de un Esquema</vt:lpstr>
      <vt:lpstr>Elementos Simples</vt:lpstr>
      <vt:lpstr>Elementos Simples</vt:lpstr>
      <vt:lpstr>Elementos Simples</vt:lpstr>
      <vt:lpstr>Elementos Simples</vt:lpstr>
      <vt:lpstr>Elementos Simples</vt:lpstr>
      <vt:lpstr>Elementos Simples</vt:lpstr>
      <vt:lpstr>Elementos Simples</vt:lpstr>
      <vt:lpstr>Elementos Simples</vt:lpstr>
      <vt:lpstr>Elementos Simples</vt:lpstr>
      <vt:lpstr>Elementos Simples</vt:lpstr>
      <vt:lpstr>Elementos Simples</vt:lpstr>
      <vt:lpstr>Elementos Simples</vt:lpstr>
      <vt:lpstr>Elementos Simples</vt:lpstr>
      <vt:lpstr>Elementos Simples</vt:lpstr>
      <vt:lpstr>Elementos Simples</vt:lpstr>
      <vt:lpstr>Elementos Simples</vt:lpstr>
      <vt:lpstr>Elementos Simples</vt:lpstr>
      <vt:lpstr>Elementos Complejos</vt:lpstr>
      <vt:lpstr>Elementos Complejos</vt:lpstr>
      <vt:lpstr>Elementos Complejos</vt:lpstr>
      <vt:lpstr>Elementos Complejos</vt:lpstr>
      <vt:lpstr>Elementos Complejos</vt:lpstr>
      <vt:lpstr>Elementos Complejos</vt:lpstr>
      <vt:lpstr>Elementos Complejos</vt:lpstr>
      <vt:lpstr>Elementos Complejos</vt:lpstr>
      <vt:lpstr>Elementos Complejos</vt:lpstr>
      <vt:lpstr>Elementos Complejos</vt:lpstr>
      <vt:lpstr>Elementos Complejos</vt:lpstr>
      <vt:lpstr>Elementos Complejos</vt:lpstr>
      <vt:lpstr>Elementos Complejos</vt:lpstr>
      <vt:lpstr>Elementos Complejos</vt:lpstr>
    </vt:vector>
  </TitlesOfParts>
  <Company>RevolucionUnattended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UsuarioAdministrador</dc:creator>
  <cp:lastModifiedBy>javier lopez</cp:lastModifiedBy>
  <cp:revision>510</cp:revision>
  <dcterms:created xsi:type="dcterms:W3CDTF">2008-09-25T01:23:28Z</dcterms:created>
  <dcterms:modified xsi:type="dcterms:W3CDTF">2025-05-12T10:15:22Z</dcterms:modified>
</cp:coreProperties>
</file>