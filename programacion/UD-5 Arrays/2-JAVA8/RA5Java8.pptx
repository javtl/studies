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484" r:id="rId3"/>
    <p:sldId id="481" r:id="rId4"/>
    <p:sldId id="508" r:id="rId5"/>
    <p:sldId id="439" r:id="rId6"/>
    <p:sldId id="455" r:id="rId7"/>
    <p:sldId id="498" r:id="rId8"/>
    <p:sldId id="499" r:id="rId9"/>
    <p:sldId id="507" r:id="rId10"/>
    <p:sldId id="500" r:id="rId11"/>
    <p:sldId id="458" r:id="rId12"/>
    <p:sldId id="459" r:id="rId13"/>
    <p:sldId id="460" r:id="rId14"/>
    <p:sldId id="496" r:id="rId15"/>
    <p:sldId id="502" r:id="rId16"/>
    <p:sldId id="503" r:id="rId17"/>
    <p:sldId id="506" r:id="rId18"/>
    <p:sldId id="464" r:id="rId19"/>
    <p:sldId id="465" r:id="rId20"/>
  </p:sldIdLst>
  <p:sldSz cx="9144000" cy="6858000" type="screen4x3"/>
  <p:notesSz cx="6858000" cy="9144000"/>
  <p:defaultTextStyle>
    <a:defPPr>
      <a:defRPr lang="en-US"/>
    </a:defPPr>
    <a:lvl1pPr algn="l" rtl="0" fontAlgn="base">
      <a:spcBef>
        <a:spcPct val="0"/>
      </a:spcBef>
      <a:spcAft>
        <a:spcPct val="0"/>
      </a:spcAft>
      <a:defRPr sz="1900" kern="1200">
        <a:solidFill>
          <a:schemeClr val="tx1"/>
        </a:solidFill>
        <a:latin typeface="Arial" charset="0"/>
        <a:ea typeface="+mn-ea"/>
        <a:cs typeface="+mn-cs"/>
      </a:defRPr>
    </a:lvl1pPr>
    <a:lvl2pPr marL="457200" algn="l" rtl="0" fontAlgn="base">
      <a:spcBef>
        <a:spcPct val="0"/>
      </a:spcBef>
      <a:spcAft>
        <a:spcPct val="0"/>
      </a:spcAft>
      <a:defRPr sz="1900" kern="1200">
        <a:solidFill>
          <a:schemeClr val="tx1"/>
        </a:solidFill>
        <a:latin typeface="Arial" charset="0"/>
        <a:ea typeface="+mn-ea"/>
        <a:cs typeface="+mn-cs"/>
      </a:defRPr>
    </a:lvl2pPr>
    <a:lvl3pPr marL="914400" algn="l" rtl="0" fontAlgn="base">
      <a:spcBef>
        <a:spcPct val="0"/>
      </a:spcBef>
      <a:spcAft>
        <a:spcPct val="0"/>
      </a:spcAft>
      <a:defRPr sz="1900" kern="1200">
        <a:solidFill>
          <a:schemeClr val="tx1"/>
        </a:solidFill>
        <a:latin typeface="Arial" charset="0"/>
        <a:ea typeface="+mn-ea"/>
        <a:cs typeface="+mn-cs"/>
      </a:defRPr>
    </a:lvl3pPr>
    <a:lvl4pPr marL="1371600" algn="l" rtl="0" fontAlgn="base">
      <a:spcBef>
        <a:spcPct val="0"/>
      </a:spcBef>
      <a:spcAft>
        <a:spcPct val="0"/>
      </a:spcAft>
      <a:defRPr sz="1900" kern="1200">
        <a:solidFill>
          <a:schemeClr val="tx1"/>
        </a:solidFill>
        <a:latin typeface="Arial" charset="0"/>
        <a:ea typeface="+mn-ea"/>
        <a:cs typeface="+mn-cs"/>
      </a:defRPr>
    </a:lvl4pPr>
    <a:lvl5pPr marL="1828800" algn="l" rtl="0" fontAlgn="base">
      <a:spcBef>
        <a:spcPct val="0"/>
      </a:spcBef>
      <a:spcAft>
        <a:spcPct val="0"/>
      </a:spcAft>
      <a:defRPr sz="1900" kern="1200">
        <a:solidFill>
          <a:schemeClr val="tx1"/>
        </a:solidFill>
        <a:latin typeface="Arial" charset="0"/>
        <a:ea typeface="+mn-ea"/>
        <a:cs typeface="+mn-cs"/>
      </a:defRPr>
    </a:lvl5pPr>
    <a:lvl6pPr marL="2286000" algn="l" defTabSz="914400" rtl="0" eaLnBrk="1" latinLnBrk="0" hangingPunct="1">
      <a:defRPr sz="1900" kern="1200">
        <a:solidFill>
          <a:schemeClr val="tx1"/>
        </a:solidFill>
        <a:latin typeface="Arial" charset="0"/>
        <a:ea typeface="+mn-ea"/>
        <a:cs typeface="+mn-cs"/>
      </a:defRPr>
    </a:lvl6pPr>
    <a:lvl7pPr marL="2743200" algn="l" defTabSz="914400" rtl="0" eaLnBrk="1" latinLnBrk="0" hangingPunct="1">
      <a:defRPr sz="1900" kern="1200">
        <a:solidFill>
          <a:schemeClr val="tx1"/>
        </a:solidFill>
        <a:latin typeface="Arial" charset="0"/>
        <a:ea typeface="+mn-ea"/>
        <a:cs typeface="+mn-cs"/>
      </a:defRPr>
    </a:lvl7pPr>
    <a:lvl8pPr marL="3200400" algn="l" defTabSz="914400" rtl="0" eaLnBrk="1" latinLnBrk="0" hangingPunct="1">
      <a:defRPr sz="1900" kern="1200">
        <a:solidFill>
          <a:schemeClr val="tx1"/>
        </a:solidFill>
        <a:latin typeface="Arial" charset="0"/>
        <a:ea typeface="+mn-ea"/>
        <a:cs typeface="+mn-cs"/>
      </a:defRPr>
    </a:lvl8pPr>
    <a:lvl9pPr marL="3657600" algn="l" defTabSz="914400" rtl="0" eaLnBrk="1" latinLnBrk="0" hangingPunct="1">
      <a:defRPr sz="19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CC"/>
    <a:srgbClr val="009900"/>
    <a:srgbClr val="FB8605"/>
    <a:srgbClr val="FF0066"/>
    <a:srgbClr val="0066FF"/>
    <a:srgbClr val="FF3300"/>
    <a:srgbClr val="92D050"/>
    <a:srgbClr val="FF99FF"/>
    <a:srgbClr val="E8890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272" autoAdjust="0"/>
    <p:restoredTop sz="93002" autoAdjust="0"/>
  </p:normalViewPr>
  <p:slideViewPr>
    <p:cSldViewPr>
      <p:cViewPr varScale="1">
        <p:scale>
          <a:sx n="80" d="100"/>
          <a:sy n="80" d="100"/>
        </p:scale>
        <p:origin x="1954"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s-ES_tradnl"/>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60469D27-3A80-4AE4-983A-5127F419349B}" type="datetimeFigureOut">
              <a:rPr lang="es-ES_tradnl"/>
              <a:pPr>
                <a:defRPr/>
              </a:pPr>
              <a:t>10/12/2024</a:t>
            </a:fld>
            <a:endParaRPr lang="es-ES_tradnl"/>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ES_tradnl" noProof="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ES_tradnl" noProof="0"/>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s-ES_tradnl"/>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FB2CE7FE-09D1-49CA-91BF-39EACD17411D}" type="slidenum">
              <a:rPr lang="es-ES_tradnl"/>
              <a:pPr>
                <a:defRPr/>
              </a:pPr>
              <a:t>‹Nº›</a:t>
            </a:fld>
            <a:endParaRPr lang="es-ES_tradnl"/>
          </a:p>
        </p:txBody>
      </p:sp>
    </p:spTree>
    <p:extLst>
      <p:ext uri="{BB962C8B-B14F-4D97-AF65-F5344CB8AC3E}">
        <p14:creationId xmlns:p14="http://schemas.microsoft.com/office/powerpoint/2010/main" val="92675530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_tradnl"/>
          </a:p>
        </p:txBody>
      </p:sp>
      <p:sp>
        <p:nvSpPr>
          <p:cNvPr id="13316"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fld id="{D36EE85E-37C0-4958-BA08-E096993B5EBD}" type="slidenum">
              <a:rPr lang="es-ES_tradnl" sz="1200"/>
              <a:pPr eaLnBrk="1" hangingPunct="1"/>
              <a:t>1</a:t>
            </a:fld>
            <a:endParaRPr lang="es-ES_tradnl" sz="1200"/>
          </a:p>
        </p:txBody>
      </p:sp>
    </p:spTree>
    <p:extLst>
      <p:ext uri="{BB962C8B-B14F-4D97-AF65-F5344CB8AC3E}">
        <p14:creationId xmlns:p14="http://schemas.microsoft.com/office/powerpoint/2010/main" val="34888711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bwMode="ltGray">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41"/>
          <p:cNvSpPr>
            <a:spLocks noChangeArrowheads="1"/>
          </p:cNvSpPr>
          <p:nvPr/>
        </p:nvSpPr>
        <p:spPr bwMode="gray">
          <a:xfrm>
            <a:off x="0" y="2708275"/>
            <a:ext cx="9144000" cy="874713"/>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28575">
            <a:solidFill>
              <a:schemeClr val="bg1"/>
            </a:solidFill>
            <a:miter lim="800000"/>
            <a:headEnd/>
            <a:tailEnd/>
          </a:ln>
          <a:effectLst/>
        </p:spPr>
        <p:txBody>
          <a:bodyPr wrap="none" anchor="ctr"/>
          <a:lstStyle/>
          <a:p>
            <a:pPr>
              <a:defRPr/>
            </a:pPr>
            <a:endParaRPr lang="es-ES_tradnl"/>
          </a:p>
        </p:txBody>
      </p:sp>
      <p:sp>
        <p:nvSpPr>
          <p:cNvPr id="5" name="Text Box 14"/>
          <p:cNvSpPr txBox="1">
            <a:spLocks noChangeArrowheads="1"/>
          </p:cNvSpPr>
          <p:nvPr/>
        </p:nvSpPr>
        <p:spPr bwMode="black">
          <a:xfrm>
            <a:off x="381000" y="271463"/>
            <a:ext cx="1089025" cy="415925"/>
          </a:xfrm>
          <a:prstGeom prst="rect">
            <a:avLst/>
          </a:prstGeom>
          <a:noFill/>
          <a:ln w="9525">
            <a:noFill/>
            <a:miter lim="800000"/>
            <a:headEnd/>
            <a:tailEnd/>
          </a:ln>
          <a:effectLst/>
        </p:spPr>
        <p:txBody>
          <a:bodyPr lIns="95782" tIns="47891" rIns="95782" bIns="47891">
            <a:spAutoFit/>
          </a:bodyPr>
          <a:lstStyle/>
          <a:p>
            <a:pPr defTabSz="957263">
              <a:defRPr/>
            </a:pPr>
            <a:r>
              <a:rPr lang="en-US" sz="2100" b="1">
                <a:solidFill>
                  <a:schemeClr val="bg1"/>
                </a:solidFill>
                <a:latin typeface="Verdana" pitchFamily="34" charset="0"/>
              </a:rPr>
              <a:t>LOGO</a:t>
            </a:r>
          </a:p>
        </p:txBody>
      </p:sp>
      <p:grpSp>
        <p:nvGrpSpPr>
          <p:cNvPr id="6" name="Group 42"/>
          <p:cNvGrpSpPr>
            <a:grpSpLocks/>
          </p:cNvGrpSpPr>
          <p:nvPr/>
        </p:nvGrpSpPr>
        <p:grpSpPr bwMode="auto">
          <a:xfrm>
            <a:off x="-11113" y="-12700"/>
            <a:ext cx="9175751" cy="6870700"/>
            <a:chOff x="-7" y="-8"/>
            <a:chExt cx="5780" cy="4328"/>
          </a:xfrm>
        </p:grpSpPr>
        <p:sp>
          <p:nvSpPr>
            <p:cNvPr id="7" name="AutoShape 36"/>
            <p:cNvSpPr>
              <a:spLocks noChangeArrowheads="1"/>
            </p:cNvSpPr>
            <p:nvPr/>
          </p:nvSpPr>
          <p:spPr bwMode="gray">
            <a:xfrm>
              <a:off x="17" y="16"/>
              <a:ext cx="5729" cy="4285"/>
            </a:xfrm>
            <a:prstGeom prst="roundRect">
              <a:avLst>
                <a:gd name="adj" fmla="val 6227"/>
              </a:avLst>
            </a:prstGeom>
            <a:noFill/>
            <a:ln w="76200">
              <a:solidFill>
                <a:schemeClr val="bg1"/>
              </a:solidFill>
              <a:round/>
              <a:headEnd/>
              <a:tailEnd/>
            </a:ln>
            <a:effectLst/>
          </p:spPr>
          <p:txBody>
            <a:bodyPr wrap="none" anchor="ctr"/>
            <a:lstStyle/>
            <a:p>
              <a:pPr>
                <a:defRPr/>
              </a:pPr>
              <a:endParaRPr lang="es-ES_tradnl"/>
            </a:p>
          </p:txBody>
        </p:sp>
        <p:sp>
          <p:nvSpPr>
            <p:cNvPr id="8" name="Freeform 37"/>
            <p:cNvSpPr>
              <a:spLocks/>
            </p:cNvSpPr>
            <p:nvPr/>
          </p:nvSpPr>
          <p:spPr bwMode="gray">
            <a:xfrm>
              <a:off x="-3" y="-8"/>
              <a:ext cx="295" cy="289"/>
            </a:xfrm>
            <a:custGeom>
              <a:avLst/>
              <a:gdLst/>
              <a:ahLst/>
              <a:cxnLst>
                <a:cxn ang="0">
                  <a:pos x="3" y="395"/>
                </a:cxn>
                <a:cxn ang="0">
                  <a:pos x="74" y="216"/>
                </a:cxn>
                <a:cxn ang="0">
                  <a:pos x="231" y="50"/>
                </a:cxn>
                <a:cxn ang="0">
                  <a:pos x="403" y="0"/>
                </a:cxn>
                <a:cxn ang="0">
                  <a:pos x="0" y="0"/>
                </a:cxn>
              </a:cxnLst>
              <a:rect l="0" t="0" r="r" b="b"/>
              <a:pathLst>
                <a:path w="403" h="395">
                  <a:moveTo>
                    <a:pt x="3" y="395"/>
                  </a:moveTo>
                  <a:lnTo>
                    <a:pt x="74" y="216"/>
                  </a:lnTo>
                  <a:lnTo>
                    <a:pt x="231" y="50"/>
                  </a:lnTo>
                  <a:lnTo>
                    <a:pt x="403" y="0"/>
                  </a:lnTo>
                  <a:lnTo>
                    <a:pt x="0" y="0"/>
                  </a:lnTo>
                </a:path>
              </a:pathLst>
            </a:custGeom>
            <a:solidFill>
              <a:schemeClr val="bg1"/>
            </a:solidFill>
            <a:ln w="9525">
              <a:noFill/>
              <a:round/>
              <a:headEnd/>
              <a:tailEnd/>
            </a:ln>
            <a:effectLst/>
          </p:spPr>
          <p:txBody>
            <a:bodyPr/>
            <a:lstStyle/>
            <a:p>
              <a:pPr>
                <a:defRPr/>
              </a:pPr>
              <a:endParaRPr lang="es-ES_tradnl"/>
            </a:p>
          </p:txBody>
        </p:sp>
        <p:sp>
          <p:nvSpPr>
            <p:cNvPr id="9" name="Freeform 38"/>
            <p:cNvSpPr>
              <a:spLocks/>
            </p:cNvSpPr>
            <p:nvPr/>
          </p:nvSpPr>
          <p:spPr bwMode="gray">
            <a:xfrm>
              <a:off x="-7" y="3982"/>
              <a:ext cx="287" cy="338"/>
            </a:xfrm>
            <a:custGeom>
              <a:avLst/>
              <a:gdLst/>
              <a:ahLst/>
              <a:cxnLst>
                <a:cxn ang="0">
                  <a:pos x="391" y="473"/>
                </a:cxn>
                <a:cxn ang="0">
                  <a:pos x="151" y="353"/>
                </a:cxn>
                <a:cxn ang="0">
                  <a:pos x="42" y="201"/>
                </a:cxn>
                <a:cxn ang="0">
                  <a:pos x="0" y="0"/>
                </a:cxn>
                <a:cxn ang="0">
                  <a:pos x="1" y="470"/>
                </a:cxn>
              </a:cxnLst>
              <a:rect l="0" t="0" r="r" b="b"/>
              <a:pathLst>
                <a:path w="391" h="473">
                  <a:moveTo>
                    <a:pt x="391" y="473"/>
                  </a:moveTo>
                  <a:lnTo>
                    <a:pt x="151" y="353"/>
                  </a:lnTo>
                  <a:lnTo>
                    <a:pt x="42" y="201"/>
                  </a:lnTo>
                  <a:lnTo>
                    <a:pt x="0" y="0"/>
                  </a:lnTo>
                  <a:lnTo>
                    <a:pt x="1" y="470"/>
                  </a:lnTo>
                </a:path>
              </a:pathLst>
            </a:custGeom>
            <a:solidFill>
              <a:schemeClr val="bg1"/>
            </a:solidFill>
            <a:ln w="9525">
              <a:noFill/>
              <a:round/>
              <a:headEnd/>
              <a:tailEnd/>
            </a:ln>
            <a:effectLst/>
          </p:spPr>
          <p:txBody>
            <a:bodyPr/>
            <a:lstStyle/>
            <a:p>
              <a:pPr>
                <a:defRPr/>
              </a:pPr>
              <a:endParaRPr lang="es-ES_tradnl"/>
            </a:p>
          </p:txBody>
        </p:sp>
        <p:sp>
          <p:nvSpPr>
            <p:cNvPr id="10" name="Freeform 39"/>
            <p:cNvSpPr>
              <a:spLocks/>
            </p:cNvSpPr>
            <p:nvPr/>
          </p:nvSpPr>
          <p:spPr bwMode="gray">
            <a:xfrm>
              <a:off x="5499" y="4026"/>
              <a:ext cx="274" cy="287"/>
            </a:xfrm>
            <a:custGeom>
              <a:avLst/>
              <a:gdLst/>
              <a:ahLst/>
              <a:cxnLst>
                <a:cxn ang="0">
                  <a:pos x="229" y="0"/>
                </a:cxn>
                <a:cxn ang="0">
                  <a:pos x="164" y="144"/>
                </a:cxn>
                <a:cxn ang="0">
                  <a:pos x="98" y="253"/>
                </a:cxn>
                <a:cxn ang="0">
                  <a:pos x="0" y="290"/>
                </a:cxn>
                <a:cxn ang="0">
                  <a:pos x="232" y="287"/>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headEnd/>
              <a:tailEnd/>
            </a:ln>
            <a:effectLst/>
          </p:spPr>
          <p:txBody>
            <a:bodyPr/>
            <a:lstStyle/>
            <a:p>
              <a:pPr>
                <a:defRPr/>
              </a:pPr>
              <a:endParaRPr lang="es-ES_tradnl"/>
            </a:p>
          </p:txBody>
        </p:sp>
        <p:sp>
          <p:nvSpPr>
            <p:cNvPr id="11" name="Freeform 40"/>
            <p:cNvSpPr>
              <a:spLocks/>
            </p:cNvSpPr>
            <p:nvPr/>
          </p:nvSpPr>
          <p:spPr bwMode="gray">
            <a:xfrm>
              <a:off x="5467" y="0"/>
              <a:ext cx="302" cy="288"/>
            </a:xfrm>
            <a:custGeom>
              <a:avLst/>
              <a:gdLst/>
              <a:ahLst/>
              <a:cxnLst>
                <a:cxn ang="0">
                  <a:pos x="0" y="0"/>
                </a:cxn>
                <a:cxn ang="0">
                  <a:pos x="221" y="96"/>
                </a:cxn>
                <a:cxn ang="0">
                  <a:pos x="353" y="231"/>
                </a:cxn>
                <a:cxn ang="0">
                  <a:pos x="403" y="403"/>
                </a:cxn>
                <a:cxn ang="0">
                  <a:pos x="403" y="0"/>
                </a:cxn>
              </a:cxnLst>
              <a:rect l="0" t="0" r="r" b="b"/>
              <a:pathLst>
                <a:path w="403" h="403">
                  <a:moveTo>
                    <a:pt x="0" y="0"/>
                  </a:moveTo>
                  <a:lnTo>
                    <a:pt x="221" y="96"/>
                  </a:lnTo>
                  <a:lnTo>
                    <a:pt x="353" y="231"/>
                  </a:lnTo>
                  <a:lnTo>
                    <a:pt x="403" y="403"/>
                  </a:lnTo>
                  <a:lnTo>
                    <a:pt x="403" y="0"/>
                  </a:lnTo>
                </a:path>
              </a:pathLst>
            </a:custGeom>
            <a:solidFill>
              <a:schemeClr val="bg1"/>
            </a:solidFill>
            <a:ln w="9525">
              <a:noFill/>
              <a:round/>
              <a:headEnd/>
              <a:tailEnd/>
            </a:ln>
            <a:effectLst/>
          </p:spPr>
          <p:txBody>
            <a:bodyPr/>
            <a:lstStyle/>
            <a:p>
              <a:pPr>
                <a:defRPr/>
              </a:pPr>
              <a:endParaRPr lang="es-ES_tradnl"/>
            </a:p>
          </p:txBody>
        </p:sp>
      </p:grpSp>
      <p:sp>
        <p:nvSpPr>
          <p:cNvPr id="3074" name="Rectangle 2"/>
          <p:cNvSpPr>
            <a:spLocks noGrp="1" noChangeArrowheads="1"/>
          </p:cNvSpPr>
          <p:nvPr>
            <p:ph type="ctrTitle"/>
          </p:nvPr>
        </p:nvSpPr>
        <p:spPr bwMode="gray">
          <a:xfrm>
            <a:off x="0" y="2720975"/>
            <a:ext cx="9144000" cy="817563"/>
          </a:xfrm>
        </p:spPr>
        <p:txBody>
          <a:bodyPr/>
          <a:lstStyle>
            <a:lvl1pPr>
              <a:defRPr sz="4600"/>
            </a:lvl1pPr>
          </a:lstStyle>
          <a:p>
            <a:r>
              <a:rPr lang="es-ES"/>
              <a:t>Haga clic para modificar el estilo de título del patrón</a:t>
            </a:r>
            <a:endParaRPr lang="en-US"/>
          </a:p>
        </p:txBody>
      </p:sp>
      <p:sp>
        <p:nvSpPr>
          <p:cNvPr id="3075" name="Rectangle 3"/>
          <p:cNvSpPr>
            <a:spLocks noGrp="1" noChangeArrowheads="1"/>
          </p:cNvSpPr>
          <p:nvPr>
            <p:ph type="subTitle" idx="1"/>
          </p:nvPr>
        </p:nvSpPr>
        <p:spPr bwMode="black">
          <a:xfrm>
            <a:off x="990600" y="2176463"/>
            <a:ext cx="7086600" cy="436562"/>
          </a:xfrm>
        </p:spPr>
        <p:txBody>
          <a:bodyPr/>
          <a:lstStyle>
            <a:lvl1pPr marL="0" indent="0" algn="ctr">
              <a:buFont typeface="Wingdings" pitchFamily="2" charset="2"/>
              <a:buNone/>
              <a:defRPr sz="1900">
                <a:solidFill>
                  <a:schemeClr val="bg1"/>
                </a:solidFill>
                <a:latin typeface="Arial" charset="0"/>
              </a:defRPr>
            </a:lvl1pPr>
          </a:lstStyle>
          <a:p>
            <a:r>
              <a:rPr lang="es-ES"/>
              <a:t>Haga clic para modificar el estilo de subtítulo del patrón</a:t>
            </a:r>
            <a:endParaRPr lang="en-US"/>
          </a:p>
        </p:txBody>
      </p:sp>
    </p:spTree>
    <p:extLst>
      <p:ext uri="{BB962C8B-B14F-4D97-AF65-F5344CB8AC3E}">
        <p14:creationId xmlns:p14="http://schemas.microsoft.com/office/powerpoint/2010/main" val="3937119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9BC10960-1D47-4F31-A178-4215E754AE71}" type="slidenum">
              <a:rPr lang="en-US"/>
              <a:pPr/>
              <a:t>‹Nº›</a:t>
            </a:fld>
            <a:endParaRPr lang="en-US"/>
          </a:p>
        </p:txBody>
      </p:sp>
    </p:spTree>
    <p:extLst>
      <p:ext uri="{BB962C8B-B14F-4D97-AF65-F5344CB8AC3E}">
        <p14:creationId xmlns:p14="http://schemas.microsoft.com/office/powerpoint/2010/main" val="2793804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ES_tradnl"/>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108B1BE4-FB56-497F-AC71-04F364CF33BF}" type="slidenum">
              <a:rPr lang="en-US"/>
              <a:pPr/>
              <a:t>‹Nº›</a:t>
            </a:fld>
            <a:endParaRPr lang="en-US"/>
          </a:p>
        </p:txBody>
      </p:sp>
    </p:spTree>
    <p:extLst>
      <p:ext uri="{BB962C8B-B14F-4D97-AF65-F5344CB8AC3E}">
        <p14:creationId xmlns:p14="http://schemas.microsoft.com/office/powerpoint/2010/main" val="2447416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contenido"/>
          <p:cNvSpPr>
            <a:spLocks noGrp="1"/>
          </p:cNvSpPr>
          <p:nvPr>
            <p:ph sz="half" idx="1"/>
          </p:nvPr>
        </p:nvSpPr>
        <p:spPr>
          <a:xfrm>
            <a:off x="457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contenido"/>
          <p:cNvSpPr>
            <a:spLocks noGrp="1"/>
          </p:cNvSpPr>
          <p:nvPr>
            <p:ph sz="half" idx="2"/>
          </p:nvPr>
        </p:nvSpPr>
        <p:spPr>
          <a:xfrm>
            <a:off x="4648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Rectangle 5"/>
          <p:cNvSpPr>
            <a:spLocks noGrp="1" noChangeArrowheads="1"/>
          </p:cNvSpPr>
          <p:nvPr>
            <p:ph type="ftr" sz="quarter" idx="10"/>
          </p:nvPr>
        </p:nvSpPr>
        <p:spPr>
          <a:ln/>
        </p:spPr>
        <p:txBody>
          <a:bodyPr/>
          <a:lstStyle>
            <a:lvl1pPr>
              <a:defRPr/>
            </a:lvl1pPr>
          </a:lstStyle>
          <a:p>
            <a:r>
              <a:rPr lang="en-US"/>
              <a:t>www.themegallery.com</a:t>
            </a:r>
          </a:p>
        </p:txBody>
      </p:sp>
      <p:sp>
        <p:nvSpPr>
          <p:cNvPr id="6" name="Rectangle 6"/>
          <p:cNvSpPr>
            <a:spLocks noGrp="1" noChangeArrowheads="1"/>
          </p:cNvSpPr>
          <p:nvPr>
            <p:ph type="sldNum" sz="quarter" idx="11"/>
          </p:nvPr>
        </p:nvSpPr>
        <p:spPr>
          <a:ln/>
        </p:spPr>
        <p:txBody>
          <a:bodyPr/>
          <a:lstStyle>
            <a:lvl1pPr>
              <a:defRPr/>
            </a:lvl1pPr>
          </a:lstStyle>
          <a:p>
            <a:fld id="{8AD86F26-C6EC-496E-AD78-D42D5BE6465A}" type="slidenum">
              <a:rPr lang="en-US"/>
              <a:pPr/>
              <a:t>‹Nº›</a:t>
            </a:fld>
            <a:endParaRPr lang="en-US"/>
          </a:p>
        </p:txBody>
      </p:sp>
    </p:spTree>
    <p:extLst>
      <p:ext uri="{BB962C8B-B14F-4D97-AF65-F5344CB8AC3E}">
        <p14:creationId xmlns:p14="http://schemas.microsoft.com/office/powerpoint/2010/main" val="1476666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a:t>Haga clic para modificar el estilo de título del patrón</a:t>
            </a:r>
            <a:endParaRPr lang="es-ES_tradnl"/>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Rectangle 5"/>
          <p:cNvSpPr>
            <a:spLocks noGrp="1" noChangeArrowheads="1"/>
          </p:cNvSpPr>
          <p:nvPr>
            <p:ph type="ftr" sz="quarter" idx="10"/>
          </p:nvPr>
        </p:nvSpPr>
        <p:spPr>
          <a:ln/>
        </p:spPr>
        <p:txBody>
          <a:bodyPr/>
          <a:lstStyle>
            <a:lvl1pPr>
              <a:defRPr/>
            </a:lvl1pPr>
          </a:lstStyle>
          <a:p>
            <a:r>
              <a:rPr lang="en-US"/>
              <a:t>www.themegallery.com</a:t>
            </a:r>
          </a:p>
        </p:txBody>
      </p:sp>
      <p:sp>
        <p:nvSpPr>
          <p:cNvPr id="8" name="Rectangle 6"/>
          <p:cNvSpPr>
            <a:spLocks noGrp="1" noChangeArrowheads="1"/>
          </p:cNvSpPr>
          <p:nvPr>
            <p:ph type="sldNum" sz="quarter" idx="11"/>
          </p:nvPr>
        </p:nvSpPr>
        <p:spPr>
          <a:ln/>
        </p:spPr>
        <p:txBody>
          <a:bodyPr/>
          <a:lstStyle>
            <a:lvl1pPr>
              <a:defRPr/>
            </a:lvl1pPr>
          </a:lstStyle>
          <a:p>
            <a:fld id="{D8AED370-19CA-4C7C-85E3-1587DE8EE631}" type="slidenum">
              <a:rPr lang="en-US"/>
              <a:pPr/>
              <a:t>‹Nº›</a:t>
            </a:fld>
            <a:endParaRPr lang="en-US"/>
          </a:p>
        </p:txBody>
      </p:sp>
    </p:spTree>
    <p:extLst>
      <p:ext uri="{BB962C8B-B14F-4D97-AF65-F5344CB8AC3E}">
        <p14:creationId xmlns:p14="http://schemas.microsoft.com/office/powerpoint/2010/main" val="3320516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Rectangle 5"/>
          <p:cNvSpPr>
            <a:spLocks noGrp="1" noChangeArrowheads="1"/>
          </p:cNvSpPr>
          <p:nvPr>
            <p:ph type="ftr" sz="quarter" idx="10"/>
          </p:nvPr>
        </p:nvSpPr>
        <p:spPr>
          <a:ln/>
        </p:spPr>
        <p:txBody>
          <a:bodyPr/>
          <a:lstStyle>
            <a:lvl1pPr>
              <a:defRPr/>
            </a:lvl1pPr>
          </a:lstStyle>
          <a:p>
            <a:r>
              <a:rPr lang="en-US"/>
              <a:t>www.themegallery.com</a:t>
            </a:r>
          </a:p>
        </p:txBody>
      </p:sp>
      <p:sp>
        <p:nvSpPr>
          <p:cNvPr id="4" name="Rectangle 6"/>
          <p:cNvSpPr>
            <a:spLocks noGrp="1" noChangeArrowheads="1"/>
          </p:cNvSpPr>
          <p:nvPr>
            <p:ph type="sldNum" sz="quarter" idx="11"/>
          </p:nvPr>
        </p:nvSpPr>
        <p:spPr>
          <a:ln/>
        </p:spPr>
        <p:txBody>
          <a:bodyPr/>
          <a:lstStyle>
            <a:lvl1pPr>
              <a:defRPr/>
            </a:lvl1pPr>
          </a:lstStyle>
          <a:p>
            <a:fld id="{FD14D8DD-9D00-4312-B4C4-A03ADF0178CC}" type="slidenum">
              <a:rPr lang="en-US"/>
              <a:pPr/>
              <a:t>‹Nº›</a:t>
            </a:fld>
            <a:endParaRPr lang="en-US"/>
          </a:p>
        </p:txBody>
      </p:sp>
    </p:spTree>
    <p:extLst>
      <p:ext uri="{BB962C8B-B14F-4D97-AF65-F5344CB8AC3E}">
        <p14:creationId xmlns:p14="http://schemas.microsoft.com/office/powerpoint/2010/main" val="1106196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r>
              <a:rPr lang="en-US"/>
              <a:t>www.themegallery.com</a:t>
            </a:r>
          </a:p>
        </p:txBody>
      </p:sp>
      <p:sp>
        <p:nvSpPr>
          <p:cNvPr id="3" name="Rectangle 6"/>
          <p:cNvSpPr>
            <a:spLocks noGrp="1" noChangeArrowheads="1"/>
          </p:cNvSpPr>
          <p:nvPr>
            <p:ph type="sldNum" sz="quarter" idx="11"/>
          </p:nvPr>
        </p:nvSpPr>
        <p:spPr>
          <a:ln/>
        </p:spPr>
        <p:txBody>
          <a:bodyPr/>
          <a:lstStyle>
            <a:lvl1pPr>
              <a:defRPr/>
            </a:lvl1pPr>
          </a:lstStyle>
          <a:p>
            <a:fld id="{18537A5B-A9CE-4669-BC99-AE9F32CE8D07}" type="slidenum">
              <a:rPr lang="en-US"/>
              <a:pPr/>
              <a:t>‹Nº›</a:t>
            </a:fld>
            <a:endParaRPr lang="en-US"/>
          </a:p>
        </p:txBody>
      </p:sp>
    </p:spTree>
    <p:extLst>
      <p:ext uri="{BB962C8B-B14F-4D97-AF65-F5344CB8AC3E}">
        <p14:creationId xmlns:p14="http://schemas.microsoft.com/office/powerpoint/2010/main" val="459697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ES_tradnl"/>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5"/>
          <p:cNvSpPr>
            <a:spLocks noGrp="1" noChangeArrowheads="1"/>
          </p:cNvSpPr>
          <p:nvPr>
            <p:ph type="ftr" sz="quarter" idx="10"/>
          </p:nvPr>
        </p:nvSpPr>
        <p:spPr>
          <a:ln/>
        </p:spPr>
        <p:txBody>
          <a:bodyPr/>
          <a:lstStyle>
            <a:lvl1pPr>
              <a:defRPr/>
            </a:lvl1pPr>
          </a:lstStyle>
          <a:p>
            <a:r>
              <a:rPr lang="en-US"/>
              <a:t>www.themegallery.com</a:t>
            </a:r>
          </a:p>
        </p:txBody>
      </p:sp>
      <p:sp>
        <p:nvSpPr>
          <p:cNvPr id="6" name="Rectangle 6"/>
          <p:cNvSpPr>
            <a:spLocks noGrp="1" noChangeArrowheads="1"/>
          </p:cNvSpPr>
          <p:nvPr>
            <p:ph type="sldNum" sz="quarter" idx="11"/>
          </p:nvPr>
        </p:nvSpPr>
        <p:spPr>
          <a:ln/>
        </p:spPr>
        <p:txBody>
          <a:bodyPr/>
          <a:lstStyle>
            <a:lvl1pPr>
              <a:defRPr/>
            </a:lvl1pPr>
          </a:lstStyle>
          <a:p>
            <a:fld id="{ECD770F1-8B0E-485D-8FC1-DD5CDADCB470}" type="slidenum">
              <a:rPr lang="en-US"/>
              <a:pPr/>
              <a:t>‹Nº›</a:t>
            </a:fld>
            <a:endParaRPr lang="en-US"/>
          </a:p>
        </p:txBody>
      </p:sp>
    </p:spTree>
    <p:extLst>
      <p:ext uri="{BB962C8B-B14F-4D97-AF65-F5344CB8AC3E}">
        <p14:creationId xmlns:p14="http://schemas.microsoft.com/office/powerpoint/2010/main" val="2508139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ES_tradnl"/>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s-ES_tradnl"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5"/>
          <p:cNvSpPr>
            <a:spLocks noGrp="1" noChangeArrowheads="1"/>
          </p:cNvSpPr>
          <p:nvPr>
            <p:ph type="ftr" sz="quarter" idx="10"/>
          </p:nvPr>
        </p:nvSpPr>
        <p:spPr>
          <a:ln/>
        </p:spPr>
        <p:txBody>
          <a:bodyPr/>
          <a:lstStyle>
            <a:lvl1pPr>
              <a:defRPr/>
            </a:lvl1pPr>
          </a:lstStyle>
          <a:p>
            <a:r>
              <a:rPr lang="en-US"/>
              <a:t>www.themegallery.com</a:t>
            </a:r>
          </a:p>
        </p:txBody>
      </p:sp>
      <p:sp>
        <p:nvSpPr>
          <p:cNvPr id="6" name="Rectangle 6"/>
          <p:cNvSpPr>
            <a:spLocks noGrp="1" noChangeArrowheads="1"/>
          </p:cNvSpPr>
          <p:nvPr>
            <p:ph type="sldNum" sz="quarter" idx="11"/>
          </p:nvPr>
        </p:nvSpPr>
        <p:spPr>
          <a:ln/>
        </p:spPr>
        <p:txBody>
          <a:bodyPr/>
          <a:lstStyle>
            <a:lvl1pPr>
              <a:defRPr/>
            </a:lvl1pPr>
          </a:lstStyle>
          <a:p>
            <a:fld id="{C3368E41-874E-4862-AAFD-AC18B393D094}" type="slidenum">
              <a:rPr lang="en-US"/>
              <a:pPr/>
              <a:t>‹Nº›</a:t>
            </a:fld>
            <a:endParaRPr lang="en-US"/>
          </a:p>
        </p:txBody>
      </p:sp>
    </p:spTree>
    <p:extLst>
      <p:ext uri="{BB962C8B-B14F-4D97-AF65-F5344CB8AC3E}">
        <p14:creationId xmlns:p14="http://schemas.microsoft.com/office/powerpoint/2010/main" val="1071725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D801FC98-F929-48AB-9F4D-6385B8877736}" type="slidenum">
              <a:rPr lang="en-US"/>
              <a:pPr/>
              <a:t>‹Nº›</a:t>
            </a:fld>
            <a:endParaRPr lang="en-US"/>
          </a:p>
        </p:txBody>
      </p:sp>
    </p:spTree>
    <p:extLst>
      <p:ext uri="{BB962C8B-B14F-4D97-AF65-F5344CB8AC3E}">
        <p14:creationId xmlns:p14="http://schemas.microsoft.com/office/powerpoint/2010/main" val="4216584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53975"/>
            <a:ext cx="2057400" cy="6270625"/>
          </a:xfrm>
        </p:spPr>
        <p:txBody>
          <a:bodyPr vert="eaVert"/>
          <a:lstStyle/>
          <a:p>
            <a:r>
              <a:rPr lang="es-ES"/>
              <a:t>Haga clic para modificar el estilo de título del patrón</a:t>
            </a:r>
            <a:endParaRPr lang="es-ES_tradnl"/>
          </a:p>
        </p:txBody>
      </p:sp>
      <p:sp>
        <p:nvSpPr>
          <p:cNvPr id="3" name="2 Marcador de texto vertical"/>
          <p:cNvSpPr>
            <a:spLocks noGrp="1"/>
          </p:cNvSpPr>
          <p:nvPr>
            <p:ph type="body" orient="vert" idx="1"/>
          </p:nvPr>
        </p:nvSpPr>
        <p:spPr>
          <a:xfrm>
            <a:off x="457200" y="53975"/>
            <a:ext cx="6019800" cy="62706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F5DFA751-5FBB-4471-AF6F-9D0A8609C3C1}" type="slidenum">
              <a:rPr lang="en-US"/>
              <a:pPr/>
              <a:t>‹Nº›</a:t>
            </a:fld>
            <a:endParaRPr lang="en-US"/>
          </a:p>
        </p:txBody>
      </p:sp>
    </p:spTree>
    <p:extLst>
      <p:ext uri="{BB962C8B-B14F-4D97-AF65-F5344CB8AC3E}">
        <p14:creationId xmlns:p14="http://schemas.microsoft.com/office/powerpoint/2010/main" val="3148600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ítulo y tabla">
    <p:spTree>
      <p:nvGrpSpPr>
        <p:cNvPr id="1" name=""/>
        <p:cNvGrpSpPr/>
        <p:nvPr/>
      </p:nvGrpSpPr>
      <p:grpSpPr>
        <a:xfrm>
          <a:off x="0" y="0"/>
          <a:ext cx="0" cy="0"/>
          <a:chOff x="0" y="0"/>
          <a:chExt cx="0" cy="0"/>
        </a:xfrm>
      </p:grpSpPr>
      <p:sp>
        <p:nvSpPr>
          <p:cNvPr id="2" name="1 Título"/>
          <p:cNvSpPr>
            <a:spLocks noGrp="1"/>
          </p:cNvSpPr>
          <p:nvPr>
            <p:ph type="title"/>
          </p:nvPr>
        </p:nvSpPr>
        <p:spPr>
          <a:xfrm>
            <a:off x="542925" y="53975"/>
            <a:ext cx="7392988" cy="563563"/>
          </a:xfrm>
        </p:spPr>
        <p:txBody>
          <a:bodyPr/>
          <a:lstStyle/>
          <a:p>
            <a:r>
              <a:rPr lang="es-ES"/>
              <a:t>Haga clic para modificar el estilo de título del patrón</a:t>
            </a:r>
            <a:endParaRPr lang="es-ES_tradnl"/>
          </a:p>
        </p:txBody>
      </p:sp>
      <p:sp>
        <p:nvSpPr>
          <p:cNvPr id="3" name="2 Marcador de tabla"/>
          <p:cNvSpPr>
            <a:spLocks noGrp="1"/>
          </p:cNvSpPr>
          <p:nvPr>
            <p:ph type="tbl" idx="1"/>
          </p:nvPr>
        </p:nvSpPr>
        <p:spPr>
          <a:xfrm>
            <a:off x="457200" y="1076325"/>
            <a:ext cx="8229600" cy="5248275"/>
          </a:xfrm>
        </p:spPr>
        <p:txBody>
          <a:bodyPr/>
          <a:lstStyle/>
          <a:p>
            <a:pPr lvl="0"/>
            <a:r>
              <a:rPr lang="es-ES" noProof="0"/>
              <a:t>Haga clic en el icono para agregar una tabla</a:t>
            </a:r>
            <a:endParaRPr lang="es-ES_tradnl" noProof="0"/>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27F47353-9D15-4571-BF0B-64C1267AE8A4}" type="slidenum">
              <a:rPr lang="en-US"/>
              <a:pPr/>
              <a:t>‹Nº›</a:t>
            </a:fld>
            <a:endParaRPr lang="en-US"/>
          </a:p>
        </p:txBody>
      </p:sp>
    </p:spTree>
    <p:extLst>
      <p:ext uri="{BB962C8B-B14F-4D97-AF65-F5344CB8AC3E}">
        <p14:creationId xmlns:p14="http://schemas.microsoft.com/office/powerpoint/2010/main" val="3841788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1039" name="Freeform 15" descr="29641"/>
          <p:cNvSpPr>
            <a:spLocks/>
          </p:cNvSpPr>
          <p:nvPr/>
        </p:nvSpPr>
        <p:spPr bwMode="gray">
          <a:xfrm>
            <a:off x="36513" y="80963"/>
            <a:ext cx="9077325" cy="1595437"/>
          </a:xfrm>
          <a:custGeom>
            <a:avLst/>
            <a:gdLst/>
            <a:ahLst/>
            <a:cxnLst>
              <a:cxn ang="0">
                <a:pos x="0" y="756"/>
              </a:cxn>
              <a:cxn ang="0">
                <a:pos x="576" y="560"/>
              </a:cxn>
              <a:cxn ang="0">
                <a:pos x="1403" y="390"/>
              </a:cxn>
              <a:cxn ang="0">
                <a:pos x="2452" y="314"/>
              </a:cxn>
              <a:cxn ang="0">
                <a:pos x="3102" y="326"/>
              </a:cxn>
              <a:cxn ang="0">
                <a:pos x="4043" y="434"/>
              </a:cxn>
              <a:cxn ang="0">
                <a:pos x="4944" y="668"/>
              </a:cxn>
              <a:cxn ang="0">
                <a:pos x="5691" y="971"/>
              </a:cxn>
              <a:cxn ang="0">
                <a:pos x="5718" y="19"/>
              </a:cxn>
              <a:cxn ang="0">
                <a:pos x="9" y="0"/>
              </a:cxn>
            </a:cxnLst>
            <a:rect l="0" t="0" r="r" b="b"/>
            <a:pathLst>
              <a:path w="5718" h="1005">
                <a:moveTo>
                  <a:pt x="0" y="756"/>
                </a:moveTo>
                <a:cubicBezTo>
                  <a:pt x="96" y="724"/>
                  <a:pt x="297" y="635"/>
                  <a:pt x="576" y="560"/>
                </a:cubicBezTo>
                <a:cubicBezTo>
                  <a:pt x="855" y="485"/>
                  <a:pt x="1037" y="442"/>
                  <a:pt x="1403" y="390"/>
                </a:cubicBezTo>
                <a:cubicBezTo>
                  <a:pt x="1769" y="337"/>
                  <a:pt x="2154" y="320"/>
                  <a:pt x="2452" y="314"/>
                </a:cubicBezTo>
                <a:lnTo>
                  <a:pt x="3102" y="326"/>
                </a:lnTo>
                <a:cubicBezTo>
                  <a:pt x="3367" y="346"/>
                  <a:pt x="3736" y="377"/>
                  <a:pt x="4043" y="434"/>
                </a:cubicBezTo>
                <a:cubicBezTo>
                  <a:pt x="4350" y="490"/>
                  <a:pt x="4669" y="578"/>
                  <a:pt x="4944" y="668"/>
                </a:cubicBezTo>
                <a:cubicBezTo>
                  <a:pt x="5219" y="757"/>
                  <a:pt x="5679" y="1005"/>
                  <a:pt x="5691" y="971"/>
                </a:cubicBezTo>
                <a:cubicBezTo>
                  <a:pt x="5695" y="964"/>
                  <a:pt x="5718" y="25"/>
                  <a:pt x="5718" y="19"/>
                </a:cubicBezTo>
                <a:cubicBezTo>
                  <a:pt x="5718" y="7"/>
                  <a:pt x="1198" y="4"/>
                  <a:pt x="9" y="0"/>
                </a:cubicBezTo>
              </a:path>
            </a:pathLst>
          </a:custGeom>
          <a:blipFill dpi="0" rotWithShape="1">
            <a:blip r:embed="rId15" cstate="print"/>
            <a:srcRect/>
            <a:stretch>
              <a:fillRect/>
            </a:stretch>
          </a:blipFill>
          <a:ln w="9525">
            <a:noFill/>
            <a:round/>
            <a:headEnd/>
            <a:tailEnd/>
          </a:ln>
          <a:effectLst/>
        </p:spPr>
        <p:txBody>
          <a:bodyPr/>
          <a:lstStyle/>
          <a:p>
            <a:pPr>
              <a:defRPr/>
            </a:pPr>
            <a:endParaRPr lang="es-ES_tradnl"/>
          </a:p>
        </p:txBody>
      </p:sp>
      <p:sp>
        <p:nvSpPr>
          <p:cNvPr id="1027" name="Rectangle 3"/>
          <p:cNvSpPr>
            <a:spLocks noGrp="1" noChangeArrowheads="1"/>
          </p:cNvSpPr>
          <p:nvPr>
            <p:ph type="body" idx="1"/>
          </p:nvPr>
        </p:nvSpPr>
        <p:spPr bwMode="auto">
          <a:xfrm>
            <a:off x="457200" y="1076325"/>
            <a:ext cx="8229600"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1029" name="Rectangle 5"/>
          <p:cNvSpPr>
            <a:spLocks noGrp="1" noChangeArrowheads="1"/>
          </p:cNvSpPr>
          <p:nvPr>
            <p:ph type="ftr" sz="quarter" idx="3"/>
          </p:nvPr>
        </p:nvSpPr>
        <p:spPr bwMode="auto">
          <a:xfrm>
            <a:off x="6084888" y="6450013"/>
            <a:ext cx="2897187" cy="320675"/>
          </a:xfrm>
          <a:prstGeom prst="rect">
            <a:avLst/>
          </a:prstGeom>
          <a:noFill/>
          <a:ln w="9525">
            <a:noFill/>
            <a:miter lim="800000"/>
            <a:headEnd/>
            <a:tailEnd/>
          </a:ln>
          <a:effectLst/>
        </p:spPr>
        <p:txBody>
          <a:bodyPr vert="horz" wrap="square" lIns="95782" tIns="47891" rIns="95782" bIns="47891" numCol="1" anchor="t" anchorCtr="0" compatLnSpc="1">
            <a:prstTxWarp prst="textNoShape">
              <a:avLst/>
            </a:prstTxWarp>
          </a:bodyPr>
          <a:lstStyle>
            <a:lvl1pPr algn="r">
              <a:defRPr sz="1300" b="1">
                <a:latin typeface="Verdana" pitchFamily="34" charset="0"/>
              </a:defRPr>
            </a:lvl1pPr>
          </a:lstStyle>
          <a:p>
            <a:r>
              <a:rPr lang="en-US"/>
              <a:t>www.themegallery.com</a:t>
            </a:r>
          </a:p>
        </p:txBody>
      </p:sp>
      <p:sp>
        <p:nvSpPr>
          <p:cNvPr id="1030" name="Rectangle 6"/>
          <p:cNvSpPr>
            <a:spLocks noGrp="1" noChangeArrowheads="1"/>
          </p:cNvSpPr>
          <p:nvPr>
            <p:ph type="sldNum" sz="quarter" idx="4"/>
          </p:nvPr>
        </p:nvSpPr>
        <p:spPr bwMode="auto">
          <a:xfrm>
            <a:off x="107950" y="6454775"/>
            <a:ext cx="927100" cy="239713"/>
          </a:xfrm>
          <a:prstGeom prst="rect">
            <a:avLst/>
          </a:prstGeom>
          <a:noFill/>
          <a:ln w="9525">
            <a:noFill/>
            <a:miter lim="800000"/>
            <a:headEnd/>
            <a:tailEnd/>
          </a:ln>
          <a:effectLst/>
        </p:spPr>
        <p:txBody>
          <a:bodyPr vert="horz" wrap="square" lIns="95782" tIns="47891" rIns="95782" bIns="47891" numCol="1" anchor="t" anchorCtr="0" compatLnSpc="1">
            <a:prstTxWarp prst="textNoShape">
              <a:avLst/>
            </a:prstTxWarp>
          </a:bodyPr>
          <a:lstStyle>
            <a:lvl1pPr algn="ctr">
              <a:defRPr sz="1300" b="1">
                <a:latin typeface="Verdana" pitchFamily="34" charset="0"/>
              </a:defRPr>
            </a:lvl1pPr>
          </a:lstStyle>
          <a:p>
            <a:fld id="{BD04EC93-4901-40B8-B615-125461DCA23D}" type="slidenum">
              <a:rPr lang="en-US"/>
              <a:pPr/>
              <a:t>‹Nº›</a:t>
            </a:fld>
            <a:endParaRPr lang="en-US"/>
          </a:p>
        </p:txBody>
      </p:sp>
      <p:sp>
        <p:nvSpPr>
          <p:cNvPr id="2" name="Rectangle 2"/>
          <p:cNvSpPr>
            <a:spLocks noGrp="1" noChangeArrowheads="1"/>
          </p:cNvSpPr>
          <p:nvPr>
            <p:ph type="title"/>
          </p:nvPr>
        </p:nvSpPr>
        <p:spPr bwMode="white">
          <a:xfrm>
            <a:off x="542925" y="53975"/>
            <a:ext cx="7392988"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ctr" anchorCtr="0" compatLnSpc="1">
            <a:prstTxWarp prst="textNoShape">
              <a:avLst/>
            </a:prstTxWarp>
          </a:bodyPr>
          <a:lstStyle/>
          <a:p>
            <a:pPr lvl="0"/>
            <a:r>
              <a:rPr lang="es-ES"/>
              <a:t>Haga clic para modificar el estilo de título del patrón</a:t>
            </a:r>
            <a:endParaRPr lang="en-US"/>
          </a:p>
        </p:txBody>
      </p:sp>
      <p:grpSp>
        <p:nvGrpSpPr>
          <p:cNvPr id="1031" name="Group 16"/>
          <p:cNvGrpSpPr>
            <a:grpSpLocks/>
          </p:cNvGrpSpPr>
          <p:nvPr/>
        </p:nvGrpSpPr>
        <p:grpSpPr bwMode="auto">
          <a:xfrm>
            <a:off x="-1588" y="0"/>
            <a:ext cx="9145588" cy="6858000"/>
            <a:chOff x="-1" y="0"/>
            <a:chExt cx="8065" cy="6048"/>
          </a:xfrm>
        </p:grpSpPr>
        <p:sp>
          <p:nvSpPr>
            <p:cNvPr id="1041" name="Freeform 17"/>
            <p:cNvSpPr>
              <a:spLocks/>
            </p:cNvSpPr>
            <p:nvPr/>
          </p:nvSpPr>
          <p:spPr bwMode="gray">
            <a:xfrm>
              <a:off x="-1" y="5629"/>
              <a:ext cx="389" cy="417"/>
            </a:xfrm>
            <a:custGeom>
              <a:avLst/>
              <a:gdLst/>
              <a:ahLst/>
              <a:cxnLst>
                <a:cxn ang="0">
                  <a:pos x="314" y="416"/>
                </a:cxn>
                <a:cxn ang="0">
                  <a:pos x="389" y="417"/>
                </a:cxn>
                <a:cxn ang="0">
                  <a:pos x="158" y="297"/>
                </a:cxn>
                <a:cxn ang="0">
                  <a:pos x="39" y="179"/>
                </a:cxn>
                <a:cxn ang="0">
                  <a:pos x="0" y="0"/>
                </a:cxn>
                <a:cxn ang="0">
                  <a:pos x="1" y="417"/>
                </a:cxn>
              </a:cxnLst>
              <a:rect l="0" t="0" r="r" b="b"/>
              <a:pathLst>
                <a:path w="389" h="417">
                  <a:moveTo>
                    <a:pt x="314" y="416"/>
                  </a:moveTo>
                  <a:lnTo>
                    <a:pt x="389" y="417"/>
                  </a:lnTo>
                  <a:lnTo>
                    <a:pt x="158" y="297"/>
                  </a:lnTo>
                  <a:lnTo>
                    <a:pt x="39" y="179"/>
                  </a:lnTo>
                  <a:lnTo>
                    <a:pt x="0" y="0"/>
                  </a:lnTo>
                  <a:lnTo>
                    <a:pt x="1" y="417"/>
                  </a:lnTo>
                </a:path>
              </a:pathLst>
            </a:custGeom>
            <a:solidFill>
              <a:schemeClr val="bg1"/>
            </a:solidFill>
            <a:ln w="9525">
              <a:noFill/>
              <a:round/>
              <a:headEnd/>
              <a:tailEnd/>
            </a:ln>
            <a:effectLst/>
          </p:spPr>
          <p:txBody>
            <a:bodyPr/>
            <a:lstStyle/>
            <a:p>
              <a:pPr>
                <a:defRPr/>
              </a:pPr>
              <a:endParaRPr lang="es-ES_tradnl"/>
            </a:p>
          </p:txBody>
        </p:sp>
        <p:sp>
          <p:nvSpPr>
            <p:cNvPr id="1042" name="Freeform 18"/>
            <p:cNvSpPr>
              <a:spLocks/>
            </p:cNvSpPr>
            <p:nvPr/>
          </p:nvSpPr>
          <p:spPr bwMode="gray">
            <a:xfrm>
              <a:off x="7701" y="5645"/>
              <a:ext cx="363" cy="403"/>
            </a:xfrm>
            <a:custGeom>
              <a:avLst/>
              <a:gdLst/>
              <a:ahLst/>
              <a:cxnLst>
                <a:cxn ang="0">
                  <a:pos x="229" y="0"/>
                </a:cxn>
                <a:cxn ang="0">
                  <a:pos x="164" y="144"/>
                </a:cxn>
                <a:cxn ang="0">
                  <a:pos x="98" y="253"/>
                </a:cxn>
                <a:cxn ang="0">
                  <a:pos x="0" y="290"/>
                </a:cxn>
                <a:cxn ang="0">
                  <a:pos x="232" y="287"/>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headEnd/>
              <a:tailEnd/>
            </a:ln>
            <a:effectLst/>
          </p:spPr>
          <p:txBody>
            <a:bodyPr/>
            <a:lstStyle/>
            <a:p>
              <a:pPr>
                <a:defRPr/>
              </a:pPr>
              <a:endParaRPr lang="es-ES_tradnl"/>
            </a:p>
          </p:txBody>
        </p:sp>
        <p:sp>
          <p:nvSpPr>
            <p:cNvPr id="1043" name="AutoShape 19"/>
            <p:cNvSpPr>
              <a:spLocks noChangeArrowheads="1"/>
            </p:cNvSpPr>
            <p:nvPr/>
          </p:nvSpPr>
          <p:spPr bwMode="gray">
            <a:xfrm>
              <a:off x="26" y="42"/>
              <a:ext cx="8012" cy="5985"/>
            </a:xfrm>
            <a:prstGeom prst="roundRect">
              <a:avLst>
                <a:gd name="adj" fmla="val 6227"/>
              </a:avLst>
            </a:prstGeom>
            <a:noFill/>
            <a:ln w="76200">
              <a:solidFill>
                <a:schemeClr val="bg1"/>
              </a:solidFill>
              <a:round/>
              <a:headEnd/>
              <a:tailEnd/>
            </a:ln>
            <a:effectLst/>
          </p:spPr>
          <p:txBody>
            <a:bodyPr wrap="none" anchor="ctr"/>
            <a:lstStyle/>
            <a:p>
              <a:pPr>
                <a:defRPr/>
              </a:pPr>
              <a:endParaRPr lang="es-ES_tradnl"/>
            </a:p>
          </p:txBody>
        </p:sp>
        <p:sp>
          <p:nvSpPr>
            <p:cNvPr id="1044" name="Freeform 20"/>
            <p:cNvSpPr>
              <a:spLocks/>
            </p:cNvSpPr>
            <p:nvPr/>
          </p:nvSpPr>
          <p:spPr bwMode="gray">
            <a:xfrm>
              <a:off x="-1" y="13"/>
              <a:ext cx="405" cy="441"/>
            </a:xfrm>
            <a:custGeom>
              <a:avLst/>
              <a:gdLst/>
              <a:ahLst/>
              <a:cxnLst>
                <a:cxn ang="0">
                  <a:pos x="2" y="441"/>
                </a:cxn>
                <a:cxn ang="0">
                  <a:pos x="107" y="175"/>
                </a:cxn>
                <a:cxn ang="0">
                  <a:pos x="387" y="0"/>
                </a:cxn>
                <a:cxn ang="0">
                  <a:pos x="1" y="0"/>
                </a:cxn>
              </a:cxnLst>
              <a:rect l="0" t="0" r="r" b="b"/>
              <a:pathLst>
                <a:path w="405" h="441">
                  <a:moveTo>
                    <a:pt x="2" y="441"/>
                  </a:moveTo>
                  <a:cubicBezTo>
                    <a:pt x="19" y="397"/>
                    <a:pt x="0" y="345"/>
                    <a:pt x="107" y="175"/>
                  </a:cubicBezTo>
                  <a:cubicBezTo>
                    <a:pt x="214" y="6"/>
                    <a:pt x="405" y="16"/>
                    <a:pt x="387" y="0"/>
                  </a:cubicBezTo>
                  <a:lnTo>
                    <a:pt x="1" y="0"/>
                  </a:lnTo>
                </a:path>
              </a:pathLst>
            </a:custGeom>
            <a:solidFill>
              <a:schemeClr val="bg1"/>
            </a:solidFill>
            <a:ln w="9525">
              <a:noFill/>
              <a:round/>
              <a:headEnd/>
              <a:tailEnd/>
            </a:ln>
            <a:effectLst/>
          </p:spPr>
          <p:txBody>
            <a:bodyPr/>
            <a:lstStyle/>
            <a:p>
              <a:pPr>
                <a:defRPr/>
              </a:pPr>
              <a:endParaRPr lang="es-ES_tradnl"/>
            </a:p>
          </p:txBody>
        </p:sp>
        <p:sp>
          <p:nvSpPr>
            <p:cNvPr id="1045" name="Freeform 21"/>
            <p:cNvSpPr>
              <a:spLocks/>
            </p:cNvSpPr>
            <p:nvPr/>
          </p:nvSpPr>
          <p:spPr bwMode="gray">
            <a:xfrm>
              <a:off x="7588" y="0"/>
              <a:ext cx="470" cy="483"/>
            </a:xfrm>
            <a:custGeom>
              <a:avLst/>
              <a:gdLst/>
              <a:ahLst/>
              <a:cxnLst>
                <a:cxn ang="0">
                  <a:pos x="0" y="4"/>
                </a:cxn>
                <a:cxn ang="0">
                  <a:pos x="342" y="150"/>
                </a:cxn>
                <a:cxn ang="0">
                  <a:pos x="470" y="461"/>
                </a:cxn>
                <a:cxn ang="0">
                  <a:pos x="470" y="0"/>
                </a:cxn>
              </a:cxnLst>
              <a:rect l="0" t="0" r="r" b="b"/>
              <a:pathLst>
                <a:path w="470" h="483">
                  <a:moveTo>
                    <a:pt x="0" y="4"/>
                  </a:moveTo>
                  <a:cubicBezTo>
                    <a:pt x="57" y="28"/>
                    <a:pt x="264" y="74"/>
                    <a:pt x="342" y="150"/>
                  </a:cubicBezTo>
                  <a:cubicBezTo>
                    <a:pt x="450" y="275"/>
                    <a:pt x="452" y="483"/>
                    <a:pt x="470" y="461"/>
                  </a:cubicBezTo>
                  <a:lnTo>
                    <a:pt x="470" y="0"/>
                  </a:lnTo>
                </a:path>
              </a:pathLst>
            </a:custGeom>
            <a:solidFill>
              <a:schemeClr val="bg1"/>
            </a:solidFill>
            <a:ln w="9525">
              <a:noFill/>
              <a:round/>
              <a:headEnd/>
              <a:tailEnd/>
            </a:ln>
            <a:effectLst/>
          </p:spPr>
          <p:txBody>
            <a:bodyPr/>
            <a:lstStyle/>
            <a:p>
              <a:pPr>
                <a:defRPr/>
              </a:pPr>
              <a:endParaRPr lang="es-ES_tradnl"/>
            </a:p>
          </p:txBody>
        </p:sp>
      </p:grpSp>
      <p:sp>
        <p:nvSpPr>
          <p:cNvPr id="1046" name="Line 22"/>
          <p:cNvSpPr>
            <a:spLocks noChangeShapeType="1"/>
          </p:cNvSpPr>
          <p:nvPr/>
        </p:nvSpPr>
        <p:spPr bwMode="gray">
          <a:xfrm>
            <a:off x="323850" y="6500813"/>
            <a:ext cx="8569325" cy="0"/>
          </a:xfrm>
          <a:prstGeom prst="line">
            <a:avLst/>
          </a:prstGeom>
          <a:noFill/>
          <a:ln w="9525">
            <a:solidFill>
              <a:schemeClr val="tx1"/>
            </a:solidFill>
            <a:round/>
            <a:headEnd/>
            <a:tailEnd/>
          </a:ln>
          <a:effectLst/>
        </p:spPr>
        <p:txBody>
          <a:bodyPr/>
          <a:lstStyle/>
          <a:p>
            <a:pPr>
              <a:defRPr/>
            </a:pPr>
            <a:endParaRPr lang="es-ES_tradnl"/>
          </a:p>
        </p:txBody>
      </p:sp>
    </p:spTree>
  </p:cSld>
  <p:clrMap bg1="lt1" tx1="dk1" bg2="lt2" tx2="dk2" accent1="accent1" accent2="accent2" accent3="accent3" accent4="accent4" accent5="accent5" accent6="accent6" hlink="hlink" folHlink="folHlink"/>
  <p:sldLayoutIdLst>
    <p:sldLayoutId id="2147483673"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dt="0"/>
  <p:txStyles>
    <p:titleStyle>
      <a:lvl1pPr algn="ctr" defTabSz="957263" rtl="0" fontAlgn="base">
        <a:spcBef>
          <a:spcPct val="0"/>
        </a:spcBef>
        <a:spcAft>
          <a:spcPct val="0"/>
        </a:spcAft>
        <a:defRPr sz="2900" b="1">
          <a:solidFill>
            <a:schemeClr val="bg1"/>
          </a:solidFill>
          <a:latin typeface="+mj-lt"/>
          <a:ea typeface="+mj-ea"/>
          <a:cs typeface="+mj-cs"/>
        </a:defRPr>
      </a:lvl1pPr>
      <a:lvl2pPr algn="ctr" defTabSz="957263" rtl="0" fontAlgn="base">
        <a:spcBef>
          <a:spcPct val="0"/>
        </a:spcBef>
        <a:spcAft>
          <a:spcPct val="0"/>
        </a:spcAft>
        <a:defRPr sz="2900" b="1">
          <a:solidFill>
            <a:schemeClr val="bg1"/>
          </a:solidFill>
          <a:latin typeface="Arial" charset="0"/>
        </a:defRPr>
      </a:lvl2pPr>
      <a:lvl3pPr algn="ctr" defTabSz="957263" rtl="0" fontAlgn="base">
        <a:spcBef>
          <a:spcPct val="0"/>
        </a:spcBef>
        <a:spcAft>
          <a:spcPct val="0"/>
        </a:spcAft>
        <a:defRPr sz="2900" b="1">
          <a:solidFill>
            <a:schemeClr val="bg1"/>
          </a:solidFill>
          <a:latin typeface="Arial" charset="0"/>
        </a:defRPr>
      </a:lvl3pPr>
      <a:lvl4pPr algn="ctr" defTabSz="957263" rtl="0" fontAlgn="base">
        <a:spcBef>
          <a:spcPct val="0"/>
        </a:spcBef>
        <a:spcAft>
          <a:spcPct val="0"/>
        </a:spcAft>
        <a:defRPr sz="2900" b="1">
          <a:solidFill>
            <a:schemeClr val="bg1"/>
          </a:solidFill>
          <a:latin typeface="Arial" charset="0"/>
        </a:defRPr>
      </a:lvl4pPr>
      <a:lvl5pPr algn="ctr" defTabSz="957263" rtl="0" fontAlgn="base">
        <a:spcBef>
          <a:spcPct val="0"/>
        </a:spcBef>
        <a:spcAft>
          <a:spcPct val="0"/>
        </a:spcAft>
        <a:defRPr sz="2900" b="1">
          <a:solidFill>
            <a:schemeClr val="bg1"/>
          </a:solidFill>
          <a:latin typeface="Arial" charset="0"/>
        </a:defRPr>
      </a:lvl5pPr>
      <a:lvl6pPr marL="457200" algn="ctr" defTabSz="957263" rtl="0" eaLnBrk="1" fontAlgn="base" hangingPunct="1">
        <a:spcBef>
          <a:spcPct val="0"/>
        </a:spcBef>
        <a:spcAft>
          <a:spcPct val="0"/>
        </a:spcAft>
        <a:defRPr sz="2900" b="1">
          <a:solidFill>
            <a:schemeClr val="bg1"/>
          </a:solidFill>
          <a:latin typeface="Arial" charset="0"/>
        </a:defRPr>
      </a:lvl6pPr>
      <a:lvl7pPr marL="914400" algn="ctr" defTabSz="957263" rtl="0" eaLnBrk="1" fontAlgn="base" hangingPunct="1">
        <a:spcBef>
          <a:spcPct val="0"/>
        </a:spcBef>
        <a:spcAft>
          <a:spcPct val="0"/>
        </a:spcAft>
        <a:defRPr sz="2900" b="1">
          <a:solidFill>
            <a:schemeClr val="bg1"/>
          </a:solidFill>
          <a:latin typeface="Arial" charset="0"/>
        </a:defRPr>
      </a:lvl7pPr>
      <a:lvl8pPr marL="1371600" algn="ctr" defTabSz="957263" rtl="0" eaLnBrk="1" fontAlgn="base" hangingPunct="1">
        <a:spcBef>
          <a:spcPct val="0"/>
        </a:spcBef>
        <a:spcAft>
          <a:spcPct val="0"/>
        </a:spcAft>
        <a:defRPr sz="2900" b="1">
          <a:solidFill>
            <a:schemeClr val="bg1"/>
          </a:solidFill>
          <a:latin typeface="Arial" charset="0"/>
        </a:defRPr>
      </a:lvl8pPr>
      <a:lvl9pPr marL="1828800" algn="ctr" defTabSz="957263" rtl="0" eaLnBrk="1" fontAlgn="base" hangingPunct="1">
        <a:spcBef>
          <a:spcPct val="0"/>
        </a:spcBef>
        <a:spcAft>
          <a:spcPct val="0"/>
        </a:spcAft>
        <a:defRPr sz="2900" b="1">
          <a:solidFill>
            <a:schemeClr val="bg1"/>
          </a:solidFill>
          <a:latin typeface="Arial" charset="0"/>
        </a:defRPr>
      </a:lvl9pPr>
    </p:titleStyle>
    <p:body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r>
              <a:rPr lang="en-US" sz="3200" dirty="0" err="1"/>
              <a:t>Aplicaci</a:t>
            </a:r>
            <a:r>
              <a:rPr lang="es-ES" sz="3200" dirty="0"/>
              <a:t>ón de las estructuras de almacenamiento</a:t>
            </a:r>
            <a:endParaRPr lang="en-US" sz="3200" dirty="0"/>
          </a:p>
        </p:txBody>
      </p:sp>
      <p:sp>
        <p:nvSpPr>
          <p:cNvPr id="3075" name="Rectangle 3"/>
          <p:cNvSpPr>
            <a:spLocks noGrp="1" noChangeArrowheads="1"/>
          </p:cNvSpPr>
          <p:nvPr>
            <p:ph type="subTitle" idx="1"/>
          </p:nvPr>
        </p:nvSpPr>
        <p:spPr>
          <a:xfrm>
            <a:off x="990600" y="2122488"/>
            <a:ext cx="7086600" cy="434975"/>
          </a:xfrm>
        </p:spPr>
        <p:txBody>
          <a:bodyPr/>
          <a:lstStyle/>
          <a:p>
            <a:r>
              <a:rPr lang="en-US" dirty="0"/>
              <a:t>UNIDAD 5</a:t>
            </a:r>
          </a:p>
        </p:txBody>
      </p:sp>
      <p:sp>
        <p:nvSpPr>
          <p:cNvPr id="4" name="3 Botón de acción: Hacia delante o Siguiente">
            <a:hlinkClick r:id="" action="ppaction://hlinkshowjump?jump=nextslide" highlightClick="1"/>
          </p:cNvPr>
          <p:cNvSpPr/>
          <p:nvPr/>
        </p:nvSpPr>
        <p:spPr bwMode="auto">
          <a:xfrm>
            <a:off x="8426864" y="290916"/>
            <a:ext cx="521208" cy="521208"/>
          </a:xfrm>
          <a:prstGeom prst="actionButtonForwardNext">
            <a:avLst/>
          </a:prstGeom>
          <a:solidFill>
            <a:srgbClr val="00B0F0"/>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Contenido</a:t>
            </a:r>
          </a:p>
        </p:txBody>
      </p:sp>
      <p:sp>
        <p:nvSpPr>
          <p:cNvPr id="3" name="Marcador de contenido 2"/>
          <p:cNvSpPr>
            <a:spLocks noGrp="1"/>
          </p:cNvSpPr>
          <p:nvPr>
            <p:ph idx="1"/>
          </p:nvPr>
        </p:nvSpPr>
        <p:spPr/>
        <p:txBody>
          <a:bodyPr/>
          <a:lstStyle/>
          <a:p>
            <a:pPr marL="0" indent="0">
              <a:buNone/>
            </a:pPr>
            <a:r>
              <a:rPr lang="es-ES_tradnl" sz="1800" dirty="0"/>
              <a:t>R.A.6: Escribe programas que manipulen información seleccionando y utilizando tipos avanzados de datos.</a:t>
            </a:r>
          </a:p>
          <a:p>
            <a:pPr marL="0" indent="0">
              <a:buNone/>
            </a:pPr>
            <a:endParaRPr lang="es-ES_tradnl" dirty="0"/>
          </a:p>
        </p:txBody>
      </p:sp>
      <p:pic>
        <p:nvPicPr>
          <p:cNvPr id="6" name="Imagen 5"/>
          <p:cNvPicPr>
            <a:picLocks noChangeAspect="1"/>
          </p:cNvPicPr>
          <p:nvPr/>
        </p:nvPicPr>
        <p:blipFill>
          <a:blip r:embed="rId2"/>
          <a:stretch>
            <a:fillRect/>
          </a:stretch>
        </p:blipFill>
        <p:spPr>
          <a:xfrm>
            <a:off x="737118" y="1782147"/>
            <a:ext cx="7781731" cy="4462923"/>
          </a:xfrm>
          <a:prstGeom prst="rect">
            <a:avLst/>
          </a:prstGeom>
        </p:spPr>
      </p:pic>
    </p:spTree>
    <p:extLst>
      <p:ext uri="{BB962C8B-B14F-4D97-AF65-F5344CB8AC3E}">
        <p14:creationId xmlns:p14="http://schemas.microsoft.com/office/powerpoint/2010/main" val="3496280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Contenido</a:t>
            </a:r>
          </a:p>
        </p:txBody>
      </p:sp>
      <p:sp>
        <p:nvSpPr>
          <p:cNvPr id="5" name="CuadroTexto 4"/>
          <p:cNvSpPr txBox="1"/>
          <p:nvPr/>
        </p:nvSpPr>
        <p:spPr>
          <a:xfrm>
            <a:off x="899592" y="2492896"/>
            <a:ext cx="7036321" cy="1323439"/>
          </a:xfrm>
          <a:prstGeom prst="rect">
            <a:avLst/>
          </a:prstGeom>
          <a:noFill/>
        </p:spPr>
        <p:txBody>
          <a:bodyPr wrap="square" rtlCol="0">
            <a:spAutoFit/>
          </a:bodyPr>
          <a:lstStyle/>
          <a:p>
            <a:pPr algn="ctr"/>
            <a:r>
              <a:rPr lang="es-ES" sz="4000" dirty="0"/>
              <a:t>JAVA 8 (Funciones lambda y API STREAM)</a:t>
            </a:r>
            <a:endParaRPr lang="es-ES_tradnl" sz="4000" dirty="0"/>
          </a:p>
        </p:txBody>
      </p:sp>
    </p:spTree>
    <p:extLst>
      <p:ext uri="{BB962C8B-B14F-4D97-AF65-F5344CB8AC3E}">
        <p14:creationId xmlns:p14="http://schemas.microsoft.com/office/powerpoint/2010/main" val="466179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Introducción</a:t>
            </a:r>
          </a:p>
        </p:txBody>
      </p:sp>
      <p:sp>
        <p:nvSpPr>
          <p:cNvPr id="3" name="2 Marcador de contenido"/>
          <p:cNvSpPr>
            <a:spLocks noGrp="1"/>
          </p:cNvSpPr>
          <p:nvPr>
            <p:ph idx="1"/>
          </p:nvPr>
        </p:nvSpPr>
        <p:spPr/>
        <p:txBody>
          <a:bodyPr/>
          <a:lstStyle/>
          <a:p>
            <a:endParaRPr lang="es-ES" sz="1600" b="0" dirty="0"/>
          </a:p>
          <a:p>
            <a:r>
              <a:rPr lang="es-ES" sz="1600" b="0" dirty="0"/>
              <a:t>Las características más importantes de Java SE 8 son la adición de </a:t>
            </a:r>
            <a:r>
              <a:rPr lang="es-ES" sz="1600" dirty="0"/>
              <a:t>Expresiones Lambda </a:t>
            </a:r>
            <a:r>
              <a:rPr lang="es-ES" sz="1600" b="0" dirty="0"/>
              <a:t>y la </a:t>
            </a:r>
            <a:r>
              <a:rPr lang="es-ES" sz="1600" dirty="0"/>
              <a:t>API </a:t>
            </a:r>
            <a:r>
              <a:rPr lang="es-ES" sz="1600" dirty="0" err="1"/>
              <a:t>Stream</a:t>
            </a:r>
            <a:r>
              <a:rPr lang="es-ES" sz="1600" b="0" dirty="0"/>
              <a:t>. </a:t>
            </a:r>
          </a:p>
          <a:p>
            <a:endParaRPr lang="es-ES" sz="1600" b="0" dirty="0"/>
          </a:p>
          <a:p>
            <a:r>
              <a:rPr lang="es-ES" sz="1600" b="0" dirty="0"/>
              <a:t>Con la adición de </a:t>
            </a:r>
            <a:r>
              <a:rPr lang="es-ES" sz="1600" dirty="0"/>
              <a:t>expresiones lambda </a:t>
            </a:r>
            <a:r>
              <a:rPr lang="es-ES" sz="1600" b="0" dirty="0"/>
              <a:t>podemos crear código más conciso y significativo, además de abrir la puerta hacia la </a:t>
            </a:r>
            <a:r>
              <a:rPr lang="es-ES" sz="1600" dirty="0"/>
              <a:t>programación funcional</a:t>
            </a:r>
            <a:r>
              <a:rPr lang="es-ES" sz="1600" b="0" dirty="0"/>
              <a:t> en Java, en donde las funciones juegan un papel fundamental. </a:t>
            </a:r>
          </a:p>
          <a:p>
            <a:endParaRPr lang="es-ES" sz="1600" b="0" dirty="0"/>
          </a:p>
          <a:p>
            <a:r>
              <a:rPr lang="es-ES" sz="1600" b="0" dirty="0"/>
              <a:t>Por otro lado, la </a:t>
            </a:r>
            <a:r>
              <a:rPr lang="es-ES" sz="1600" dirty="0"/>
              <a:t>API </a:t>
            </a:r>
            <a:r>
              <a:rPr lang="es-ES" sz="1600" dirty="0" err="1"/>
              <a:t>Stream</a:t>
            </a:r>
            <a:r>
              <a:rPr lang="es-ES" sz="1600" dirty="0"/>
              <a:t> </a:t>
            </a:r>
            <a:r>
              <a:rPr lang="es-ES" sz="1600" b="0" dirty="0"/>
              <a:t>nos permite realizar operaciones de tipo filtro/mapeo/reducción sobre colecciones de datos y que su implementación sea transparente para el desarrollador. </a:t>
            </a:r>
          </a:p>
          <a:p>
            <a:endParaRPr lang="es-ES" sz="1600" b="0" dirty="0"/>
          </a:p>
          <a:p>
            <a:r>
              <a:rPr lang="es-ES" sz="1600" b="0" dirty="0"/>
              <a:t>Lambdas y </a:t>
            </a:r>
            <a:r>
              <a:rPr lang="es-ES" sz="1600" b="0" dirty="0" err="1"/>
              <a:t>Stream</a:t>
            </a:r>
            <a:r>
              <a:rPr lang="es-ES" sz="1600" b="0" dirty="0"/>
              <a:t> son una combinación muy poderosa que requiere un </a:t>
            </a:r>
            <a:r>
              <a:rPr lang="es-ES" sz="1600" dirty="0"/>
              <a:t>cambio de paradigma </a:t>
            </a:r>
            <a:r>
              <a:rPr lang="es-ES" sz="1600" b="0" dirty="0"/>
              <a:t>en la forma en la que hemos escrito código Java hasta el momento.</a:t>
            </a:r>
          </a:p>
          <a:p>
            <a:endParaRPr lang="es-ES" sz="1600" b="0" dirty="0"/>
          </a:p>
          <a:p>
            <a:r>
              <a:rPr lang="es-ES" sz="1600" dirty="0"/>
              <a:t>¿Por qué vemos esto? </a:t>
            </a:r>
            <a:r>
              <a:rPr lang="es-ES" sz="1600" b="0" dirty="0">
                <a:solidFill>
                  <a:srgbClr val="FF0000"/>
                </a:solidFill>
              </a:rPr>
              <a:t>Demanda de muchas empresas que se están acostumbrando a trabajar bajo este paradigma</a:t>
            </a:r>
          </a:p>
        </p:txBody>
      </p:sp>
    </p:spTree>
    <p:extLst>
      <p:ext uri="{BB962C8B-B14F-4D97-AF65-F5344CB8AC3E}">
        <p14:creationId xmlns:p14="http://schemas.microsoft.com/office/powerpoint/2010/main" val="1638204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ox(i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ox(in)">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box(in)">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box(in)">
                                      <p:cBhvr>
                                        <p:cTn id="22" dur="500"/>
                                        <p:tgtEl>
                                          <p:spTgt spid="3">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box(in)">
                                      <p:cBhvr>
                                        <p:cTn id="2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Expresiones Lambda</a:t>
            </a:r>
          </a:p>
        </p:txBody>
      </p:sp>
      <p:sp>
        <p:nvSpPr>
          <p:cNvPr id="3" name="2 Marcador de contenido"/>
          <p:cNvSpPr>
            <a:spLocks noGrp="1"/>
          </p:cNvSpPr>
          <p:nvPr>
            <p:ph idx="1"/>
          </p:nvPr>
        </p:nvSpPr>
        <p:spPr/>
        <p:txBody>
          <a:bodyPr/>
          <a:lstStyle/>
          <a:p>
            <a:r>
              <a:rPr lang="en-US" sz="1800" dirty="0"/>
              <a:t>Es la </a:t>
            </a:r>
            <a:r>
              <a:rPr lang="en-US" sz="1800" dirty="0" err="1"/>
              <a:t>gran</a:t>
            </a:r>
            <a:r>
              <a:rPr lang="en-US" sz="1800" dirty="0"/>
              <a:t> </a:t>
            </a:r>
            <a:r>
              <a:rPr lang="en-US" sz="1800" dirty="0" err="1"/>
              <a:t>característica</a:t>
            </a:r>
            <a:r>
              <a:rPr lang="en-US" sz="1800" dirty="0"/>
              <a:t> de Java 8. </a:t>
            </a:r>
            <a:r>
              <a:rPr lang="en-US" sz="1800" dirty="0" err="1"/>
              <a:t>Facilita</a:t>
            </a:r>
            <a:r>
              <a:rPr lang="en-US" sz="1800" dirty="0"/>
              <a:t> la </a:t>
            </a:r>
          </a:p>
          <a:p>
            <a:pPr marL="0" indent="0">
              <a:buNone/>
            </a:pPr>
            <a:r>
              <a:rPr lang="en-US" sz="1800" dirty="0"/>
              <a:t>     </a:t>
            </a:r>
            <a:r>
              <a:rPr lang="en-US" sz="1800" dirty="0" err="1"/>
              <a:t>programación</a:t>
            </a:r>
            <a:r>
              <a:rPr lang="en-US" sz="1800" dirty="0"/>
              <a:t> </a:t>
            </a:r>
            <a:r>
              <a:rPr lang="en-US" sz="1800" dirty="0" err="1"/>
              <a:t>funcional</a:t>
            </a:r>
            <a:r>
              <a:rPr lang="en-US" sz="1800" dirty="0"/>
              <a:t> y </a:t>
            </a:r>
            <a:r>
              <a:rPr lang="en-US" sz="1800" dirty="0" err="1"/>
              <a:t>simplifica</a:t>
            </a:r>
            <a:r>
              <a:rPr lang="en-US" sz="1800" dirty="0"/>
              <a:t> mucho el </a:t>
            </a:r>
            <a:r>
              <a:rPr lang="en-US" sz="1800" dirty="0" err="1"/>
              <a:t>desarrollo</a:t>
            </a:r>
            <a:r>
              <a:rPr lang="en-US" sz="1800" dirty="0"/>
              <a:t>. </a:t>
            </a:r>
          </a:p>
          <a:p>
            <a:endParaRPr lang="en-US" sz="2000" dirty="0"/>
          </a:p>
          <a:p>
            <a:endParaRPr lang="es-ES" sz="1600" b="0" dirty="0"/>
          </a:p>
          <a:p>
            <a:r>
              <a:rPr lang="es-ES" sz="1600" b="0" dirty="0"/>
              <a:t>El operador lambda (-&gt;) separa la declaración de parámetros de la declaración del cuerpo de la función.</a:t>
            </a:r>
          </a:p>
          <a:p>
            <a:pPr marL="0" indent="0">
              <a:buNone/>
            </a:pPr>
            <a:endParaRPr lang="en-US" sz="2000" b="0" dirty="0"/>
          </a:p>
          <a:p>
            <a:pPr marL="0" indent="0">
              <a:buNone/>
            </a:pPr>
            <a:endParaRPr lang="en-US" dirty="0"/>
          </a:p>
        </p:txBody>
      </p:sp>
      <p:sp>
        <p:nvSpPr>
          <p:cNvPr id="5" name="4 CuadroTexto"/>
          <p:cNvSpPr txBox="1"/>
          <p:nvPr/>
        </p:nvSpPr>
        <p:spPr>
          <a:xfrm>
            <a:off x="1921272" y="1916832"/>
            <a:ext cx="5301456" cy="384721"/>
          </a:xfrm>
          <a:prstGeom prst="rect">
            <a:avLst/>
          </a:prstGeom>
          <a:no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es-ES" dirty="0">
                <a:solidFill>
                  <a:srgbClr val="FF0000"/>
                </a:solidFill>
              </a:rPr>
              <a:t>(</a:t>
            </a:r>
            <a:r>
              <a:rPr lang="es-ES" dirty="0" err="1">
                <a:solidFill>
                  <a:srgbClr val="FF0000"/>
                </a:solidFill>
              </a:rPr>
              <a:t>parameter</a:t>
            </a:r>
            <a:r>
              <a:rPr lang="es-ES" dirty="0">
                <a:solidFill>
                  <a:srgbClr val="FF0000"/>
                </a:solidFill>
              </a:rPr>
              <a:t>)  - &gt; {cuerpo-lambda}</a:t>
            </a:r>
          </a:p>
        </p:txBody>
      </p:sp>
      <p:sp>
        <p:nvSpPr>
          <p:cNvPr id="6" name="2 Marcador de contenido"/>
          <p:cNvSpPr txBox="1">
            <a:spLocks/>
          </p:cNvSpPr>
          <p:nvPr/>
        </p:nvSpPr>
        <p:spPr bwMode="auto">
          <a:xfrm>
            <a:off x="1043608" y="2852936"/>
            <a:ext cx="8229600" cy="539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endParaRPr lang="es-ES" sz="1800" b="0" kern="0" dirty="0" smtClean="0"/>
          </a:p>
          <a:p>
            <a:pPr lvl="1"/>
            <a:r>
              <a:rPr lang="es-ES" sz="1600" kern="0" dirty="0" smtClean="0"/>
              <a:t>z -&gt; z + 2</a:t>
            </a:r>
          </a:p>
          <a:p>
            <a:pPr lvl="1"/>
            <a:endParaRPr lang="es-ES" sz="1600" kern="0" dirty="0" smtClean="0"/>
          </a:p>
          <a:p>
            <a:pPr lvl="1"/>
            <a:r>
              <a:rPr lang="es-ES" sz="1600" kern="0" dirty="0" smtClean="0"/>
              <a:t>( ) -&gt; </a:t>
            </a:r>
            <a:r>
              <a:rPr lang="es-ES" sz="1600" kern="0" dirty="0" err="1" smtClean="0"/>
              <a:t>System.out.println</a:t>
            </a:r>
            <a:r>
              <a:rPr lang="es-ES" sz="1600" kern="0" dirty="0" smtClean="0"/>
              <a:t>(” Mensaje 1 “)</a:t>
            </a:r>
          </a:p>
          <a:p>
            <a:pPr lvl="1"/>
            <a:endParaRPr lang="es-ES" sz="1600" kern="0" dirty="0" smtClean="0"/>
          </a:p>
          <a:p>
            <a:pPr lvl="1"/>
            <a:r>
              <a:rPr lang="es-ES" sz="1600" kern="0" dirty="0" smtClean="0"/>
              <a:t>(</a:t>
            </a:r>
            <a:r>
              <a:rPr lang="es-ES" sz="1600" kern="0" dirty="0" err="1" smtClean="0"/>
              <a:t>int</a:t>
            </a:r>
            <a:r>
              <a:rPr lang="es-ES" sz="1600" kern="0" dirty="0" smtClean="0"/>
              <a:t> longitud, </a:t>
            </a:r>
            <a:r>
              <a:rPr lang="es-ES" sz="1600" kern="0" dirty="0" err="1" smtClean="0"/>
              <a:t>int</a:t>
            </a:r>
            <a:r>
              <a:rPr lang="es-ES" sz="1600" kern="0" dirty="0" smtClean="0"/>
              <a:t> altura) -&gt; { </a:t>
            </a:r>
            <a:r>
              <a:rPr lang="es-ES" sz="1600" kern="0" dirty="0" err="1" smtClean="0"/>
              <a:t>return</a:t>
            </a:r>
            <a:r>
              <a:rPr lang="es-ES" sz="1600" kern="0" dirty="0" smtClean="0"/>
              <a:t> altura * longitud; }</a:t>
            </a:r>
          </a:p>
          <a:p>
            <a:pPr lvl="1"/>
            <a:endParaRPr lang="es-ES" sz="1600" kern="0" dirty="0" smtClean="0"/>
          </a:p>
          <a:p>
            <a:pPr lvl="1"/>
            <a:r>
              <a:rPr lang="es-ES" sz="1600" kern="0" dirty="0" smtClean="0"/>
              <a:t>(</a:t>
            </a:r>
            <a:r>
              <a:rPr lang="es-ES" sz="1600" kern="0" dirty="0" err="1" smtClean="0"/>
              <a:t>String</a:t>
            </a:r>
            <a:r>
              <a:rPr lang="es-ES" sz="1600" kern="0" dirty="0" smtClean="0"/>
              <a:t> x) -&gt; { </a:t>
            </a:r>
            <a:r>
              <a:rPr lang="es-ES" sz="1600" kern="0" dirty="0" err="1" smtClean="0"/>
              <a:t>String</a:t>
            </a:r>
            <a:r>
              <a:rPr lang="es-ES" sz="1600" kern="0" dirty="0" smtClean="0"/>
              <a:t> retorno = x;</a:t>
            </a:r>
            <a:br>
              <a:rPr lang="es-ES" sz="1600" kern="0" dirty="0" smtClean="0"/>
            </a:br>
            <a:r>
              <a:rPr lang="es-ES" sz="1600" kern="0" dirty="0" smtClean="0"/>
              <a:t>retorno = </a:t>
            </a:r>
            <a:r>
              <a:rPr lang="es-ES" sz="1600" kern="0" dirty="0" err="1" smtClean="0"/>
              <a:t>retorno.concat</a:t>
            </a:r>
            <a:r>
              <a:rPr lang="es-ES" sz="1600" kern="0" dirty="0" smtClean="0"/>
              <a:t>(” ***”);</a:t>
            </a:r>
            <a:br>
              <a:rPr lang="es-ES" sz="1600" kern="0" dirty="0" smtClean="0"/>
            </a:br>
            <a:r>
              <a:rPr lang="es-ES" sz="1600" kern="0" dirty="0" err="1" smtClean="0"/>
              <a:t>return</a:t>
            </a:r>
            <a:r>
              <a:rPr lang="es-ES" sz="1600" kern="0" dirty="0" smtClean="0"/>
              <a:t> retorno; }</a:t>
            </a:r>
          </a:p>
          <a:p>
            <a:pPr marL="0" indent="0">
              <a:buNone/>
            </a:pPr>
            <a:r>
              <a:rPr lang="es-ES" sz="1600" b="0" kern="0" dirty="0" smtClean="0"/>
              <a:t>Estas expresiones lambda se utilizarán conjuntamente con la </a:t>
            </a:r>
            <a:r>
              <a:rPr lang="es-ES" sz="1600" kern="0" dirty="0" smtClean="0"/>
              <a:t>API </a:t>
            </a:r>
            <a:r>
              <a:rPr lang="es-ES" sz="1600" kern="0" dirty="0" err="1" smtClean="0"/>
              <a:t>Stream</a:t>
            </a:r>
            <a:r>
              <a:rPr lang="es-ES" sz="1600" b="0" kern="0" dirty="0" smtClean="0"/>
              <a:t>, que veremos a continuación.</a:t>
            </a:r>
          </a:p>
          <a:p>
            <a:pPr lvl="1">
              <a:buFont typeface="Wingdings" pitchFamily="2" charset="2"/>
              <a:buNone/>
            </a:pPr>
            <a:endParaRPr lang="es-ES" sz="1700" kern="0" dirty="0" smtClean="0"/>
          </a:p>
          <a:p>
            <a:endParaRPr lang="en-US" sz="2000" b="0" kern="0" dirty="0" smtClean="0"/>
          </a:p>
          <a:p>
            <a:pPr marL="0" indent="0">
              <a:buFont typeface="Wingdings" pitchFamily="2" charset="2"/>
              <a:buNone/>
            </a:pPr>
            <a:endParaRPr lang="en-US" kern="0" dirty="0"/>
          </a:p>
        </p:txBody>
      </p:sp>
    </p:spTree>
    <p:extLst>
      <p:ext uri="{BB962C8B-B14F-4D97-AF65-F5344CB8AC3E}">
        <p14:creationId xmlns:p14="http://schemas.microsoft.com/office/powerpoint/2010/main" val="2145031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box(in)">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box(in)">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ox(i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box(in)">
                                      <p:cBhvr>
                                        <p:cTn id="27" dur="500"/>
                                        <p:tgtEl>
                                          <p:spTgt spid="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6">
                                            <p:txEl>
                                              <p:pRg st="7" end="7"/>
                                            </p:txEl>
                                          </p:spTgt>
                                        </p:tgtEl>
                                        <p:attrNameLst>
                                          <p:attrName>style.visibility</p:attrName>
                                        </p:attrNameLst>
                                      </p:cBhvr>
                                      <p:to>
                                        <p:strVal val="visible"/>
                                      </p:to>
                                    </p:set>
                                    <p:animEffect transition="in" filter="box(in)">
                                      <p:cBhvr>
                                        <p:cTn id="32" dur="500"/>
                                        <p:tgtEl>
                                          <p:spTgt spid="6">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6">
                                            <p:txEl>
                                              <p:pRg st="8" end="8"/>
                                            </p:txEl>
                                          </p:spTgt>
                                        </p:tgtEl>
                                        <p:attrNameLst>
                                          <p:attrName>style.visibility</p:attrName>
                                        </p:attrNameLst>
                                      </p:cBhvr>
                                      <p:to>
                                        <p:strVal val="visible"/>
                                      </p:to>
                                    </p:set>
                                    <p:animEffect transition="in" filter="box(in)">
                                      <p:cBhvr>
                                        <p:cTn id="37"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a:t>Streams</a:t>
            </a:r>
            <a:endParaRPr lang="es-ES" dirty="0"/>
          </a:p>
        </p:txBody>
      </p:sp>
      <p:sp>
        <p:nvSpPr>
          <p:cNvPr id="3" name="2 Marcador de contenido"/>
          <p:cNvSpPr>
            <a:spLocks noGrp="1"/>
          </p:cNvSpPr>
          <p:nvPr>
            <p:ph idx="1"/>
          </p:nvPr>
        </p:nvSpPr>
        <p:spPr/>
        <p:txBody>
          <a:bodyPr/>
          <a:lstStyle/>
          <a:p>
            <a:r>
              <a:rPr lang="es-ES" sz="1800" dirty="0"/>
              <a:t>¿Qué es un </a:t>
            </a:r>
            <a:r>
              <a:rPr lang="es-ES" sz="1800" dirty="0" err="1"/>
              <a:t>Stream</a:t>
            </a:r>
            <a:r>
              <a:rPr lang="es-ES" sz="1800" dirty="0"/>
              <a:t>?</a:t>
            </a:r>
          </a:p>
          <a:p>
            <a:endParaRPr lang="en-US" sz="1800" b="0" dirty="0"/>
          </a:p>
          <a:p>
            <a:r>
              <a:rPr lang="en-US" sz="1800" b="0" dirty="0" err="1"/>
              <a:t>Representa</a:t>
            </a:r>
            <a:r>
              <a:rPr lang="en-US" sz="1800" b="0" dirty="0"/>
              <a:t> </a:t>
            </a:r>
            <a:r>
              <a:rPr lang="en-US" sz="1800" b="0" dirty="0" err="1"/>
              <a:t>una</a:t>
            </a:r>
            <a:r>
              <a:rPr lang="en-US" sz="1800" b="0" dirty="0"/>
              <a:t> </a:t>
            </a:r>
            <a:r>
              <a:rPr lang="en-US" sz="1800" b="0" dirty="0" err="1"/>
              <a:t>secuencia</a:t>
            </a:r>
            <a:r>
              <a:rPr lang="en-US" sz="1800" b="0" dirty="0"/>
              <a:t> de </a:t>
            </a:r>
            <a:r>
              <a:rPr lang="en-US" sz="1800" b="0" dirty="0" err="1"/>
              <a:t>elementos</a:t>
            </a:r>
            <a:r>
              <a:rPr lang="en-US" sz="1800" b="0" dirty="0"/>
              <a:t>, que </a:t>
            </a:r>
            <a:r>
              <a:rPr lang="en-US" sz="1800" b="0" dirty="0" err="1"/>
              <a:t>soporta</a:t>
            </a:r>
            <a:r>
              <a:rPr lang="en-US" sz="1800" b="0" dirty="0"/>
              <a:t> </a:t>
            </a:r>
            <a:r>
              <a:rPr lang="en-US" sz="1800" b="0" dirty="0" err="1"/>
              <a:t>determinadas</a:t>
            </a:r>
            <a:r>
              <a:rPr lang="en-US" sz="1800" b="0" dirty="0"/>
              <a:t> </a:t>
            </a:r>
            <a:r>
              <a:rPr lang="en-US" sz="1800" b="0" dirty="0" err="1"/>
              <a:t>operaciones</a:t>
            </a:r>
            <a:r>
              <a:rPr lang="en-US" sz="1800" b="0" dirty="0"/>
              <a:t>, y </a:t>
            </a:r>
            <a:r>
              <a:rPr lang="en-US" sz="1800" b="0" dirty="0" err="1"/>
              <a:t>permite</a:t>
            </a:r>
            <a:r>
              <a:rPr lang="en-US" sz="1800" b="0" dirty="0"/>
              <a:t> </a:t>
            </a:r>
            <a:r>
              <a:rPr lang="en-US" sz="1800" b="0" dirty="0" err="1"/>
              <a:t>manipular</a:t>
            </a:r>
            <a:r>
              <a:rPr lang="en-US" sz="1800" b="0" dirty="0"/>
              <a:t> las </a:t>
            </a:r>
            <a:r>
              <a:rPr lang="en-US" sz="1800" b="0" dirty="0" err="1"/>
              <a:t>colecciones</a:t>
            </a:r>
            <a:r>
              <a:rPr lang="en-US" sz="1800" b="0" dirty="0"/>
              <a:t> de </a:t>
            </a:r>
            <a:r>
              <a:rPr lang="en-US" sz="1800" b="0" dirty="0" err="1"/>
              <a:t>manera</a:t>
            </a:r>
            <a:r>
              <a:rPr lang="en-US" sz="1800" b="0" dirty="0"/>
              <a:t> </a:t>
            </a:r>
            <a:r>
              <a:rPr lang="en-US" sz="1800" b="0" dirty="0" err="1"/>
              <a:t>muy</a:t>
            </a:r>
            <a:r>
              <a:rPr lang="en-US" sz="1800" b="0" dirty="0"/>
              <a:t> simple.</a:t>
            </a:r>
          </a:p>
          <a:p>
            <a:endParaRPr lang="en-US" sz="1800" b="0" dirty="0"/>
          </a:p>
          <a:p>
            <a:r>
              <a:rPr lang="es-ES" sz="1800" b="0" dirty="0"/>
              <a:t>Los </a:t>
            </a:r>
            <a:r>
              <a:rPr lang="es-ES" sz="1800" b="0" dirty="0" err="1"/>
              <a:t>Streams</a:t>
            </a:r>
            <a:r>
              <a:rPr lang="es-ES" sz="1800" b="0" dirty="0"/>
              <a:t> no permite crear atajos a la hora de procesar colecciones, creando flujos de datos que permite el procesamiento de una forma declarativa, es decir, que nos centramos en lo </a:t>
            </a:r>
            <a:r>
              <a:rPr lang="es-ES" sz="1800" dirty="0"/>
              <a:t>que</a:t>
            </a:r>
            <a:r>
              <a:rPr lang="es-ES" sz="1800" b="0" dirty="0"/>
              <a:t> queremos resolver, y no en </a:t>
            </a:r>
            <a:r>
              <a:rPr lang="es-ES" sz="1800" dirty="0"/>
              <a:t>cómo</a:t>
            </a:r>
            <a:r>
              <a:rPr lang="es-ES" sz="1800" b="0" dirty="0"/>
              <a:t> debemos hacerlo.</a:t>
            </a:r>
            <a:endParaRPr lang="en-US" sz="1800" b="0" dirty="0"/>
          </a:p>
          <a:p>
            <a:pPr marL="0" indent="0">
              <a:buNone/>
            </a:pPr>
            <a:endParaRPr lang="en-US" sz="1800" b="0" dirty="0"/>
          </a:p>
          <a:p>
            <a:r>
              <a:rPr lang="es-ES" sz="1800" b="0" dirty="0"/>
              <a:t>Las operaciones sobre </a:t>
            </a:r>
            <a:r>
              <a:rPr lang="es-ES" sz="1800" b="0" dirty="0" err="1"/>
              <a:t>Stream</a:t>
            </a:r>
            <a:r>
              <a:rPr lang="es-ES" sz="1800" b="0" dirty="0"/>
              <a:t> pueden ser intermedias o finales. En el caso de ser intermedias (</a:t>
            </a:r>
            <a:r>
              <a:rPr lang="es-ES" sz="1800" b="0" dirty="0" err="1"/>
              <a:t>filter</a:t>
            </a:r>
            <a:r>
              <a:rPr lang="es-ES" sz="1800" b="0" dirty="0"/>
              <a:t>, </a:t>
            </a:r>
            <a:r>
              <a:rPr lang="es-ES" sz="1800" b="0" dirty="0" err="1"/>
              <a:t>sorted</a:t>
            </a:r>
            <a:r>
              <a:rPr lang="es-ES" sz="1800" b="0" dirty="0"/>
              <a:t>, </a:t>
            </a:r>
            <a:r>
              <a:rPr lang="es-ES" sz="1800" b="0" dirty="0" err="1"/>
              <a:t>map</a:t>
            </a:r>
            <a:r>
              <a:rPr lang="es-ES" sz="1800" b="0" dirty="0"/>
              <a:t>) </a:t>
            </a:r>
            <a:r>
              <a:rPr lang="es-ES" sz="1800" b="0" dirty="0" err="1"/>
              <a:t>stream</a:t>
            </a:r>
            <a:r>
              <a:rPr lang="es-ES" sz="1800" b="0" dirty="0"/>
              <a:t> devolverá nuevamente otro </a:t>
            </a:r>
            <a:r>
              <a:rPr lang="es-ES" sz="1800" b="0" dirty="0" err="1"/>
              <a:t>stream</a:t>
            </a:r>
            <a:r>
              <a:rPr lang="es-ES" sz="1800" b="0" dirty="0"/>
              <a:t> permitiendo la continuidad de pasos o funciones sobre ella misma. </a:t>
            </a:r>
            <a:endParaRPr lang="en-US" sz="1800" b="0" dirty="0"/>
          </a:p>
          <a:p>
            <a:endParaRPr lang="en-US" dirty="0"/>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707890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ox(in)">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box(in)">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box(in)">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38E9B3-8E19-6B48-87EC-EB7844D02474}"/>
              </a:ext>
            </a:extLst>
          </p:cNvPr>
          <p:cNvSpPr>
            <a:spLocks noGrp="1"/>
          </p:cNvSpPr>
          <p:nvPr>
            <p:ph type="title"/>
          </p:nvPr>
        </p:nvSpPr>
        <p:spPr/>
        <p:txBody>
          <a:bodyPr/>
          <a:lstStyle/>
          <a:p>
            <a:r>
              <a:rPr lang="es-ES" dirty="0"/>
              <a:t>Creación de </a:t>
            </a:r>
            <a:r>
              <a:rPr lang="es-ES" dirty="0" err="1"/>
              <a:t>Streams</a:t>
            </a:r>
            <a:endParaRPr lang="es-ES" dirty="0"/>
          </a:p>
        </p:txBody>
      </p:sp>
      <p:pic>
        <p:nvPicPr>
          <p:cNvPr id="3" name="Imagen 2"/>
          <p:cNvPicPr>
            <a:picLocks noChangeAspect="1"/>
          </p:cNvPicPr>
          <p:nvPr/>
        </p:nvPicPr>
        <p:blipFill rotWithShape="1">
          <a:blip r:embed="rId2"/>
          <a:srcRect b="3973"/>
          <a:stretch/>
        </p:blipFill>
        <p:spPr>
          <a:xfrm>
            <a:off x="1547664" y="1340769"/>
            <a:ext cx="5578323" cy="3600400"/>
          </a:xfrm>
          <a:prstGeom prst="rect">
            <a:avLst/>
          </a:prstGeom>
        </p:spPr>
      </p:pic>
    </p:spTree>
    <p:extLst>
      <p:ext uri="{BB962C8B-B14F-4D97-AF65-F5344CB8AC3E}">
        <p14:creationId xmlns:p14="http://schemas.microsoft.com/office/powerpoint/2010/main" val="2553365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z="2400" dirty="0" err="1"/>
              <a:t>Stream</a:t>
            </a:r>
            <a:r>
              <a:rPr lang="es-ES" sz="2400" dirty="0"/>
              <a:t>: Operaciones intermedias (Ejemplos)</a:t>
            </a:r>
          </a:p>
        </p:txBody>
      </p:sp>
      <p:pic>
        <p:nvPicPr>
          <p:cNvPr id="5" name="Marcador de contenido 4">
            <a:extLst>
              <a:ext uri="{FF2B5EF4-FFF2-40B4-BE49-F238E27FC236}">
                <a16:creationId xmlns:a16="http://schemas.microsoft.com/office/drawing/2014/main" id="{C02E0041-DB3D-AD4A-98DA-A654B9607CE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6507"/>
          <a:stretch/>
        </p:blipFill>
        <p:spPr>
          <a:xfrm>
            <a:off x="467544" y="2852936"/>
            <a:ext cx="8229600" cy="2595791"/>
          </a:xfrm>
          <a:prstGeom prst="rect">
            <a:avLst/>
          </a:prstGeom>
        </p:spPr>
      </p:pic>
      <p:sp>
        <p:nvSpPr>
          <p:cNvPr id="4" name="CuadroTexto 3"/>
          <p:cNvSpPr txBox="1"/>
          <p:nvPr/>
        </p:nvSpPr>
        <p:spPr>
          <a:xfrm>
            <a:off x="1115616" y="908720"/>
            <a:ext cx="7200800" cy="1477328"/>
          </a:xfrm>
          <a:prstGeom prst="rect">
            <a:avLst/>
          </a:prstGeom>
          <a:noFill/>
        </p:spPr>
        <p:txBody>
          <a:bodyPr wrap="square" rtlCol="0">
            <a:spAutoFit/>
          </a:bodyPr>
          <a:lstStyle/>
          <a:p>
            <a:r>
              <a:rPr lang="es-ES" sz="1800" i="1" dirty="0" err="1" smtClean="0"/>
              <a:t>filter</a:t>
            </a:r>
            <a:r>
              <a:rPr lang="es-ES" sz="1800" i="1" dirty="0" smtClean="0"/>
              <a:t>(</a:t>
            </a:r>
            <a:r>
              <a:rPr lang="es-ES" sz="1800" i="1" dirty="0" err="1" smtClean="0"/>
              <a:t>Predicate</a:t>
            </a:r>
            <a:r>
              <a:rPr lang="es-ES" sz="1800" i="1" dirty="0" smtClean="0"/>
              <a:t>&lt;T</a:t>
            </a:r>
            <a:r>
              <a:rPr lang="es-ES" sz="1800" i="1" dirty="0"/>
              <a:t>&gt;)</a:t>
            </a:r>
            <a:r>
              <a:rPr lang="es-ES" sz="1800" dirty="0"/>
              <a:t>: nos permite filtrar utilizando una condición.</a:t>
            </a:r>
          </a:p>
          <a:p>
            <a:pPr marL="0" indent="0">
              <a:buNone/>
            </a:pPr>
            <a:endParaRPr lang="es-ES" sz="1800" dirty="0"/>
          </a:p>
          <a:p>
            <a:r>
              <a:rPr lang="es-ES" sz="1800" dirty="0" err="1"/>
              <a:t>limit</a:t>
            </a:r>
            <a:r>
              <a:rPr lang="es-ES" sz="1800" dirty="0"/>
              <a:t>(n): nos permite obtener los n primeros elementos.</a:t>
            </a:r>
          </a:p>
          <a:p>
            <a:pPr marL="0" indent="0">
              <a:buNone/>
            </a:pPr>
            <a:endParaRPr lang="es-ES" sz="1800" dirty="0"/>
          </a:p>
          <a:p>
            <a:r>
              <a:rPr lang="es-ES" sz="1800" dirty="0" err="1"/>
              <a:t>skip</a:t>
            </a:r>
            <a:r>
              <a:rPr lang="es-ES" sz="1800" dirty="0"/>
              <a:t>(m): nos permite </a:t>
            </a:r>
            <a:r>
              <a:rPr lang="es-ES" sz="1800" i="1" dirty="0"/>
              <a:t>obviar </a:t>
            </a:r>
            <a:r>
              <a:rPr lang="es-ES" sz="1800" dirty="0"/>
              <a:t>los primeros m elementos</a:t>
            </a:r>
          </a:p>
        </p:txBody>
      </p:sp>
    </p:spTree>
    <p:extLst>
      <p:ext uri="{BB962C8B-B14F-4D97-AF65-F5344CB8AC3E}">
        <p14:creationId xmlns:p14="http://schemas.microsoft.com/office/powerpoint/2010/main" val="1060468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9FEC2F-4C87-164F-9D2B-C5EAB0254D80}"/>
              </a:ext>
            </a:extLst>
          </p:cNvPr>
          <p:cNvSpPr>
            <a:spLocks noGrp="1"/>
          </p:cNvSpPr>
          <p:nvPr>
            <p:ph type="title"/>
          </p:nvPr>
        </p:nvSpPr>
        <p:spPr/>
        <p:txBody>
          <a:bodyPr/>
          <a:lstStyle/>
          <a:p>
            <a:r>
              <a:rPr lang="es-ES" sz="2400" dirty="0" err="1"/>
              <a:t>Streams</a:t>
            </a:r>
            <a:r>
              <a:rPr lang="es-ES" sz="2400" dirty="0"/>
              <a:t>: Operaciones de Mapeo (Ejemplos)</a:t>
            </a:r>
          </a:p>
        </p:txBody>
      </p:sp>
      <p:pic>
        <p:nvPicPr>
          <p:cNvPr id="5" name="Marcador de contenido 4">
            <a:extLst>
              <a:ext uri="{FF2B5EF4-FFF2-40B4-BE49-F238E27FC236}">
                <a16:creationId xmlns:a16="http://schemas.microsoft.com/office/drawing/2014/main" id="{57A3CAF3-8460-D845-9644-4334CD8CE1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3680" y="3068960"/>
            <a:ext cx="6292233" cy="3281477"/>
          </a:xfrm>
          <a:prstGeom prst="rect">
            <a:avLst/>
          </a:prstGeom>
        </p:spPr>
      </p:pic>
      <p:sp>
        <p:nvSpPr>
          <p:cNvPr id="4" name="Marcador de contenido 2"/>
          <p:cNvSpPr txBox="1">
            <a:spLocks/>
          </p:cNvSpPr>
          <p:nvPr/>
        </p:nvSpPr>
        <p:spPr bwMode="auto">
          <a:xfrm>
            <a:off x="251520" y="764704"/>
            <a:ext cx="8424936" cy="3615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Font typeface="Wingdings" pitchFamily="2" charset="2"/>
              <a:buNone/>
            </a:pPr>
            <a:endParaRPr lang="es-ES" sz="1800" kern="0" dirty="0" smtClean="0"/>
          </a:p>
          <a:p>
            <a:endParaRPr lang="es-ES" sz="1600" b="0" i="1" kern="0" smtClean="0"/>
          </a:p>
          <a:p>
            <a:r>
              <a:rPr lang="es-ES" sz="1600" b="0" i="1" kern="0" smtClean="0"/>
              <a:t>map(Function&lt;T</a:t>
            </a:r>
            <a:r>
              <a:rPr lang="es-ES" sz="1600" b="0" i="1" kern="0" dirty="0" smtClean="0"/>
              <a:t>, R&gt;)</a:t>
            </a:r>
            <a:r>
              <a:rPr lang="es-ES" sz="1600" b="0" kern="0" dirty="0" smtClean="0"/>
              <a:t>: nos permite transformar los valores de un </a:t>
            </a:r>
            <a:r>
              <a:rPr lang="es-ES" sz="1600" b="0" kern="0" dirty="0" err="1" smtClean="0"/>
              <a:t>stream</a:t>
            </a:r>
            <a:r>
              <a:rPr lang="es-ES" sz="1600" b="0" kern="0" dirty="0" smtClean="0"/>
              <a:t> a través de una expresión lambda o instancia de </a:t>
            </a:r>
            <a:r>
              <a:rPr lang="es-ES" sz="1600" b="0" i="1" kern="0" dirty="0" err="1" smtClean="0"/>
              <a:t>Function</a:t>
            </a:r>
            <a:r>
              <a:rPr lang="es-ES" sz="1600" b="0" kern="0" dirty="0" smtClean="0"/>
              <a:t>.</a:t>
            </a:r>
          </a:p>
          <a:p>
            <a:pPr marL="0" indent="0">
              <a:buFont typeface="Wingdings" pitchFamily="2" charset="2"/>
              <a:buNone/>
            </a:pPr>
            <a:endParaRPr lang="es-ES" sz="1600" b="0" kern="0" dirty="0" smtClean="0"/>
          </a:p>
          <a:p>
            <a:r>
              <a:rPr lang="es-ES" sz="1600" b="0" i="1" kern="0" dirty="0" err="1" smtClean="0"/>
              <a:t>mapToInt</a:t>
            </a:r>
            <a:r>
              <a:rPr lang="es-ES" sz="1600" b="0" i="1" kern="0" dirty="0" smtClean="0"/>
              <a:t>(…)</a:t>
            </a:r>
            <a:r>
              <a:rPr lang="es-ES" sz="1600" b="0" kern="0" dirty="0" smtClean="0"/>
              <a:t>, </a:t>
            </a:r>
            <a:r>
              <a:rPr lang="es-ES" sz="1600" b="0" i="1" kern="0" dirty="0" err="1" smtClean="0"/>
              <a:t>mapToDouble</a:t>
            </a:r>
            <a:r>
              <a:rPr lang="es-ES" sz="1600" b="0" i="1" kern="0" dirty="0" smtClean="0"/>
              <a:t>(…)</a:t>
            </a:r>
            <a:r>
              <a:rPr lang="es-ES" sz="1600" b="0" kern="0" dirty="0" smtClean="0"/>
              <a:t>, </a:t>
            </a:r>
            <a:r>
              <a:rPr lang="es-ES" sz="1600" b="0" i="1" kern="0" dirty="0" err="1" smtClean="0"/>
              <a:t>mapToLong</a:t>
            </a:r>
            <a:r>
              <a:rPr lang="es-ES" sz="1600" b="0" i="1" kern="0" dirty="0" smtClean="0"/>
              <a:t>(…) </a:t>
            </a:r>
            <a:r>
              <a:rPr lang="es-ES" sz="1600" b="0" kern="0" dirty="0" smtClean="0"/>
              <a:t>nos permite transformar los valores en uno de estos tipos básicos, obteniendo un </a:t>
            </a:r>
            <a:r>
              <a:rPr lang="es-ES" sz="1600" b="0" i="1" kern="0" dirty="0" err="1" smtClean="0"/>
              <a:t>IntStream</a:t>
            </a:r>
            <a:r>
              <a:rPr lang="es-ES" sz="1600" b="0" kern="0" dirty="0" smtClean="0"/>
              <a:t>, </a:t>
            </a:r>
            <a:r>
              <a:rPr lang="es-ES" sz="1600" b="0" i="1" kern="0" dirty="0" err="1" smtClean="0"/>
              <a:t>DoubleStream</a:t>
            </a:r>
            <a:r>
              <a:rPr lang="es-ES" sz="1600" b="0" kern="0" dirty="0" smtClean="0"/>
              <a:t>, </a:t>
            </a:r>
            <a:r>
              <a:rPr lang="es-ES" sz="1600" b="0" i="1" kern="0" dirty="0" err="1" smtClean="0"/>
              <a:t>LongStream</a:t>
            </a:r>
            <a:r>
              <a:rPr lang="es-ES" sz="1600" b="0" kern="0" dirty="0" smtClean="0"/>
              <a:t>, respectivamente.</a:t>
            </a:r>
            <a:endParaRPr lang="es-ES" sz="1600" kern="0" dirty="0"/>
          </a:p>
        </p:txBody>
      </p:sp>
    </p:spTree>
    <p:extLst>
      <p:ext uri="{BB962C8B-B14F-4D97-AF65-F5344CB8AC3E}">
        <p14:creationId xmlns:p14="http://schemas.microsoft.com/office/powerpoint/2010/main" val="2289849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z="2400" dirty="0" err="1"/>
              <a:t>Streams</a:t>
            </a:r>
            <a:r>
              <a:rPr lang="es-ES" sz="2400" dirty="0"/>
              <a:t>: Operaciones de Mapeo (Ejemplos)</a:t>
            </a:r>
          </a:p>
        </p:txBody>
      </p:sp>
      <p:pic>
        <p:nvPicPr>
          <p:cNvPr id="7" name="Imagen 6">
            <a:extLst>
              <a:ext uri="{FF2B5EF4-FFF2-40B4-BE49-F238E27FC236}">
                <a16:creationId xmlns:a16="http://schemas.microsoft.com/office/drawing/2014/main" id="{A1D01442-0579-5649-8C8F-0E498BEDD5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796" y="2204864"/>
            <a:ext cx="8244408" cy="2934014"/>
          </a:xfrm>
          <a:prstGeom prst="rect">
            <a:avLst/>
          </a:prstGeom>
        </p:spPr>
      </p:pic>
    </p:spTree>
    <p:extLst>
      <p:ext uri="{BB962C8B-B14F-4D97-AF65-F5344CB8AC3E}">
        <p14:creationId xmlns:p14="http://schemas.microsoft.com/office/powerpoint/2010/main" val="1216525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a:t>Streams</a:t>
            </a:r>
            <a:r>
              <a:rPr lang="es-ES" dirty="0"/>
              <a:t>: Ejemplo </a:t>
            </a:r>
            <a:r>
              <a:rPr lang="es-ES" dirty="0" smtClean="0"/>
              <a:t>1</a:t>
            </a:r>
            <a:endParaRPr lang="es-ES" dirty="0"/>
          </a:p>
        </p:txBody>
      </p:sp>
      <p:sp>
        <p:nvSpPr>
          <p:cNvPr id="3" name="2 Marcador de contenido"/>
          <p:cNvSpPr>
            <a:spLocks noGrp="1"/>
          </p:cNvSpPr>
          <p:nvPr>
            <p:ph idx="1"/>
          </p:nvPr>
        </p:nvSpPr>
        <p:spPr/>
        <p:txBody>
          <a:bodyPr/>
          <a:lstStyle/>
          <a:p>
            <a:r>
              <a:rPr lang="es-ES" sz="1800" b="0" dirty="0"/>
              <a:t>Vamos a construir un </a:t>
            </a:r>
            <a:r>
              <a:rPr lang="es-ES" sz="1800" dirty="0"/>
              <a:t>ejemplo</a:t>
            </a:r>
            <a:r>
              <a:rPr lang="es-ES" sz="1800" b="0" dirty="0"/>
              <a:t> sencillo.</a:t>
            </a:r>
          </a:p>
          <a:p>
            <a:r>
              <a:rPr lang="es-ES" sz="1800" b="0" dirty="0"/>
              <a:t>Supongamos que tenemos una lista de gastos de viaje diarios y la empresa se hará cargo de todos ellos. Eso sí , si una vez sumado a los gastos el IVA el importe supera los 100 euros la empresa no lo pagará ya que considerará que nos hemos excedido en lo que gastamos en un día. Las operaciones que tendremos que realizar resumiendo son:</a:t>
            </a:r>
            <a:endParaRPr lang="es-ES" sz="1800" dirty="0"/>
          </a:p>
        </p:txBody>
      </p:sp>
      <p:pic>
        <p:nvPicPr>
          <p:cNvPr id="6146" name="Picture 2"/>
          <p:cNvPicPr>
            <a:picLocks noChangeAspect="1" noChangeArrowheads="1"/>
          </p:cNvPicPr>
          <p:nvPr/>
        </p:nvPicPr>
        <p:blipFill>
          <a:blip r:embed="rId2" cstate="print"/>
          <a:srcRect l="5016" t="52417" r="48325" b="23220"/>
          <a:stretch>
            <a:fillRect/>
          </a:stretch>
        </p:blipFill>
        <p:spPr bwMode="auto">
          <a:xfrm>
            <a:off x="1907704" y="3573016"/>
            <a:ext cx="5688632" cy="2376264"/>
          </a:xfrm>
          <a:prstGeom prst="rect">
            <a:avLst/>
          </a:prstGeom>
          <a:noFill/>
          <a:ln w="9525">
            <a:noFill/>
            <a:miter lim="800000"/>
            <a:headEnd/>
            <a:tailEnd/>
          </a:ln>
        </p:spPr>
      </p:pic>
    </p:spTree>
    <p:extLst>
      <p:ext uri="{BB962C8B-B14F-4D97-AF65-F5344CB8AC3E}">
        <p14:creationId xmlns:p14="http://schemas.microsoft.com/office/powerpoint/2010/main" val="846417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box(in)">
                                      <p:cBhvr>
                                        <p:cTn id="7" dur="5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a:t>Streams</a:t>
            </a:r>
            <a:r>
              <a:rPr lang="es-ES" dirty="0"/>
              <a:t>: Ejemplo </a:t>
            </a:r>
            <a:r>
              <a:rPr lang="es-ES" dirty="0" smtClean="0"/>
              <a:t>1</a:t>
            </a:r>
            <a:endParaRPr lang="es-ES" dirty="0"/>
          </a:p>
        </p:txBody>
      </p:sp>
      <p:sp>
        <p:nvSpPr>
          <p:cNvPr id="3" name="2 Marcador de contenido"/>
          <p:cNvSpPr>
            <a:spLocks noGrp="1"/>
          </p:cNvSpPr>
          <p:nvPr>
            <p:ph idx="1"/>
          </p:nvPr>
        </p:nvSpPr>
        <p:spPr/>
        <p:txBody>
          <a:bodyPr/>
          <a:lstStyle/>
          <a:p>
            <a:r>
              <a:rPr lang="es-ES" sz="1800" b="0" dirty="0"/>
              <a:t>Solución clásica</a:t>
            </a:r>
            <a:endParaRPr lang="es-ES" sz="1800" dirty="0"/>
          </a:p>
        </p:txBody>
      </p:sp>
      <p:pic>
        <p:nvPicPr>
          <p:cNvPr id="7170" name="Picture 2"/>
          <p:cNvPicPr>
            <a:picLocks noChangeAspect="1" noChangeArrowheads="1"/>
          </p:cNvPicPr>
          <p:nvPr/>
        </p:nvPicPr>
        <p:blipFill>
          <a:blip r:embed="rId2" cstate="print"/>
          <a:srcRect l="9150" t="20391" r="47144" b="22762"/>
          <a:stretch>
            <a:fillRect/>
          </a:stretch>
        </p:blipFill>
        <p:spPr bwMode="auto">
          <a:xfrm>
            <a:off x="611560" y="1556792"/>
            <a:ext cx="4608512" cy="4795344"/>
          </a:xfrm>
          <a:prstGeom prst="rect">
            <a:avLst/>
          </a:prstGeom>
          <a:noFill/>
          <a:ln w="9525">
            <a:noFill/>
            <a:miter lim="800000"/>
            <a:headEnd/>
            <a:tailEnd/>
          </a:ln>
        </p:spPr>
      </p:pic>
      <p:pic>
        <p:nvPicPr>
          <p:cNvPr id="7171" name="Picture 3"/>
          <p:cNvPicPr>
            <a:picLocks noChangeAspect="1" noChangeArrowheads="1"/>
          </p:cNvPicPr>
          <p:nvPr/>
        </p:nvPicPr>
        <p:blipFill>
          <a:blip r:embed="rId3" cstate="print"/>
          <a:srcRect l="6885" t="44094" r="47638" b="30067"/>
          <a:stretch>
            <a:fillRect/>
          </a:stretch>
        </p:blipFill>
        <p:spPr bwMode="auto">
          <a:xfrm>
            <a:off x="4355976" y="2996952"/>
            <a:ext cx="4594112" cy="2088232"/>
          </a:xfrm>
          <a:prstGeom prst="rect">
            <a:avLst/>
          </a:prstGeom>
          <a:noFill/>
          <a:ln w="9525">
            <a:noFill/>
            <a:miter lim="800000"/>
            <a:headEnd/>
            <a:tailEnd/>
          </a:ln>
        </p:spPr>
      </p:pic>
    </p:spTree>
    <p:extLst>
      <p:ext uri="{BB962C8B-B14F-4D97-AF65-F5344CB8AC3E}">
        <p14:creationId xmlns:p14="http://schemas.microsoft.com/office/powerpoint/2010/main" val="802320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box(in)">
                                      <p:cBhvr>
                                        <p:cTn id="7" dur="500"/>
                                        <p:tgtEl>
                                          <p:spTgt spid="717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7171"/>
                                        </p:tgtEl>
                                        <p:attrNameLst>
                                          <p:attrName>style.visibility</p:attrName>
                                        </p:attrNameLst>
                                      </p:cBhvr>
                                      <p:to>
                                        <p:strVal val="visible"/>
                                      </p:to>
                                    </p:set>
                                    <p:animEffect transition="in" filter="box(in)">
                                      <p:cBhvr>
                                        <p:cTn id="12" dur="500"/>
                                        <p:tgtEl>
                                          <p:spTgt spid="7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a:t>Streams</a:t>
            </a:r>
            <a:r>
              <a:rPr lang="es-ES" dirty="0"/>
              <a:t>: Ejemplo </a:t>
            </a:r>
            <a:r>
              <a:rPr lang="es-ES" dirty="0" smtClean="0"/>
              <a:t>1</a:t>
            </a:r>
            <a:endParaRPr lang="es-ES" dirty="0"/>
          </a:p>
        </p:txBody>
      </p:sp>
      <p:sp>
        <p:nvSpPr>
          <p:cNvPr id="3" name="2 Marcador de contenido"/>
          <p:cNvSpPr>
            <a:spLocks noGrp="1"/>
          </p:cNvSpPr>
          <p:nvPr>
            <p:ph idx="1"/>
          </p:nvPr>
        </p:nvSpPr>
        <p:spPr>
          <a:xfrm>
            <a:off x="467544" y="980728"/>
            <a:ext cx="8229600" cy="5248275"/>
          </a:xfrm>
        </p:spPr>
        <p:txBody>
          <a:bodyPr/>
          <a:lstStyle/>
          <a:p>
            <a:r>
              <a:rPr lang="es-ES" sz="1800" dirty="0"/>
              <a:t>Solución Programación Funcional  (</a:t>
            </a:r>
            <a:r>
              <a:rPr lang="es-ES" sz="1800" dirty="0" err="1"/>
              <a:t>Streams</a:t>
            </a:r>
            <a:r>
              <a:rPr lang="es-ES" sz="1800" dirty="0"/>
              <a:t>, Lambda)</a:t>
            </a:r>
          </a:p>
          <a:p>
            <a:r>
              <a:rPr lang="es-ES" sz="1800" b="0" dirty="0"/>
              <a:t>La programación funcional nos puede ayudar a acercarnos mas a un pensamiento humano clásico y hacer que los dos enfoques que tenemos encajen mejor.</a:t>
            </a:r>
            <a:endParaRPr lang="es-ES" sz="1800" dirty="0"/>
          </a:p>
        </p:txBody>
      </p:sp>
      <p:pic>
        <p:nvPicPr>
          <p:cNvPr id="8194" name="Picture 2"/>
          <p:cNvPicPr>
            <a:picLocks noChangeAspect="1" noChangeArrowheads="1"/>
          </p:cNvPicPr>
          <p:nvPr/>
        </p:nvPicPr>
        <p:blipFill>
          <a:blip r:embed="rId2" cstate="print"/>
          <a:srcRect l="9150" t="35895" r="48916" b="18333"/>
          <a:stretch>
            <a:fillRect/>
          </a:stretch>
        </p:blipFill>
        <p:spPr bwMode="auto">
          <a:xfrm>
            <a:off x="539552" y="2393504"/>
            <a:ext cx="4536504" cy="3961454"/>
          </a:xfrm>
          <a:prstGeom prst="rect">
            <a:avLst/>
          </a:prstGeom>
          <a:noFill/>
          <a:ln w="9525">
            <a:noFill/>
            <a:miter lim="800000"/>
            <a:headEnd/>
            <a:tailEnd/>
          </a:ln>
        </p:spPr>
      </p:pic>
      <p:pic>
        <p:nvPicPr>
          <p:cNvPr id="8195" name="Picture 3"/>
          <p:cNvPicPr>
            <a:picLocks noChangeAspect="1" noChangeArrowheads="1"/>
          </p:cNvPicPr>
          <p:nvPr/>
        </p:nvPicPr>
        <p:blipFill>
          <a:blip r:embed="rId3" cstate="print"/>
          <a:srcRect l="6885" t="55168" r="48819" b="22684"/>
          <a:stretch>
            <a:fillRect/>
          </a:stretch>
        </p:blipFill>
        <p:spPr bwMode="auto">
          <a:xfrm>
            <a:off x="4499992" y="4005064"/>
            <a:ext cx="4176464" cy="1670586"/>
          </a:xfrm>
          <a:prstGeom prst="rect">
            <a:avLst/>
          </a:prstGeom>
          <a:noFill/>
          <a:ln w="9525">
            <a:noFill/>
            <a:miter lim="800000"/>
            <a:headEnd/>
            <a:tailEnd/>
          </a:ln>
        </p:spPr>
      </p:pic>
    </p:spTree>
    <p:extLst>
      <p:ext uri="{BB962C8B-B14F-4D97-AF65-F5344CB8AC3E}">
        <p14:creationId xmlns:p14="http://schemas.microsoft.com/office/powerpoint/2010/main" val="547815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ox(i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8194"/>
                                        </p:tgtEl>
                                        <p:attrNameLst>
                                          <p:attrName>style.visibility</p:attrName>
                                        </p:attrNameLst>
                                      </p:cBhvr>
                                      <p:to>
                                        <p:strVal val="visible"/>
                                      </p:to>
                                    </p:set>
                                    <p:animEffect transition="in" filter="box(in)">
                                      <p:cBhvr>
                                        <p:cTn id="12" dur="500"/>
                                        <p:tgtEl>
                                          <p:spTgt spid="819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8195"/>
                                        </p:tgtEl>
                                        <p:attrNameLst>
                                          <p:attrName>style.visibility</p:attrName>
                                        </p:attrNameLst>
                                      </p:cBhvr>
                                      <p:to>
                                        <p:strVal val="visible"/>
                                      </p:to>
                                    </p:set>
                                    <p:animEffect transition="in" filter="box(in)">
                                      <p:cBhvr>
                                        <p:cTn id="17" dur="500"/>
                                        <p:tgtEl>
                                          <p:spTgt spid="8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a:t>Predicate</a:t>
            </a:r>
            <a:endParaRPr lang="es-ES" dirty="0"/>
          </a:p>
        </p:txBody>
      </p:sp>
      <p:sp>
        <p:nvSpPr>
          <p:cNvPr id="3" name="2 Marcador de contenido"/>
          <p:cNvSpPr>
            <a:spLocks noGrp="1"/>
          </p:cNvSpPr>
          <p:nvPr>
            <p:ph idx="1"/>
          </p:nvPr>
        </p:nvSpPr>
        <p:spPr/>
        <p:txBody>
          <a:bodyPr/>
          <a:lstStyle/>
          <a:p>
            <a:r>
              <a:rPr lang="es-ES" b="0" dirty="0"/>
              <a:t>Métodos útiles para </a:t>
            </a:r>
            <a:r>
              <a:rPr lang="es-ES" b="0" dirty="0" err="1"/>
              <a:t>constuir</a:t>
            </a:r>
            <a:r>
              <a:rPr lang="es-ES" b="0" dirty="0"/>
              <a:t> predicados complejos (</a:t>
            </a:r>
            <a:r>
              <a:rPr lang="es-ES" b="0" i="1" dirty="0"/>
              <a:t>and, </a:t>
            </a:r>
            <a:r>
              <a:rPr lang="es-ES" b="0" i="1" dirty="0" err="1"/>
              <a:t>or</a:t>
            </a:r>
            <a:r>
              <a:rPr lang="es-ES" b="0" i="1" dirty="0"/>
              <a:t>, </a:t>
            </a:r>
            <a:r>
              <a:rPr lang="es-ES" b="0" i="1" dirty="0" err="1"/>
              <a:t>negate</a:t>
            </a:r>
            <a:r>
              <a:rPr lang="es-ES" b="0" dirty="0"/>
              <a:t>…)</a:t>
            </a:r>
            <a:endParaRPr lang="en-US" sz="1800" b="0" dirty="0"/>
          </a:p>
        </p:txBody>
      </p:sp>
      <p:pic>
        <p:nvPicPr>
          <p:cNvPr id="4" name="Imagen 3"/>
          <p:cNvPicPr>
            <a:picLocks noChangeAspect="1"/>
          </p:cNvPicPr>
          <p:nvPr/>
        </p:nvPicPr>
        <p:blipFill rotWithShape="1">
          <a:blip r:embed="rId2"/>
          <a:srcRect l="11407" t="51141" r="48418" b="34751"/>
          <a:stretch/>
        </p:blipFill>
        <p:spPr>
          <a:xfrm>
            <a:off x="778779" y="2708920"/>
            <a:ext cx="7936005" cy="1567606"/>
          </a:xfrm>
          <a:prstGeom prst="rect">
            <a:avLst/>
          </a:prstGeom>
        </p:spPr>
      </p:pic>
    </p:spTree>
    <p:extLst>
      <p:ext uri="{BB962C8B-B14F-4D97-AF65-F5344CB8AC3E}">
        <p14:creationId xmlns:p14="http://schemas.microsoft.com/office/powerpoint/2010/main" val="3764736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B32362-1659-FB45-B084-54CFE8AB89C5}"/>
              </a:ext>
            </a:extLst>
          </p:cNvPr>
          <p:cNvSpPr>
            <a:spLocks noGrp="1"/>
          </p:cNvSpPr>
          <p:nvPr>
            <p:ph type="title"/>
          </p:nvPr>
        </p:nvSpPr>
        <p:spPr/>
        <p:txBody>
          <a:bodyPr/>
          <a:lstStyle/>
          <a:p>
            <a:r>
              <a:rPr lang="es-ES" dirty="0"/>
              <a:t>Otros Ejemplos</a:t>
            </a:r>
          </a:p>
        </p:txBody>
      </p:sp>
      <p:pic>
        <p:nvPicPr>
          <p:cNvPr id="6" name="Marcador de contenido 5">
            <a:extLst>
              <a:ext uri="{FF2B5EF4-FFF2-40B4-BE49-F238E27FC236}">
                <a16:creationId xmlns:a16="http://schemas.microsoft.com/office/drawing/2014/main" id="{EA7BBCA9-23D0-8C49-9D3F-50948EB69A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614431"/>
            <a:ext cx="8229600" cy="4172063"/>
          </a:xfrm>
        </p:spPr>
      </p:pic>
    </p:spTree>
    <p:extLst>
      <p:ext uri="{BB962C8B-B14F-4D97-AF65-F5344CB8AC3E}">
        <p14:creationId xmlns:p14="http://schemas.microsoft.com/office/powerpoint/2010/main" val="2237016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9B30BC-28B7-9F45-A5E9-C99C0BDF0575}"/>
              </a:ext>
            </a:extLst>
          </p:cNvPr>
          <p:cNvSpPr>
            <a:spLocks noGrp="1"/>
          </p:cNvSpPr>
          <p:nvPr>
            <p:ph type="title"/>
          </p:nvPr>
        </p:nvSpPr>
        <p:spPr/>
        <p:txBody>
          <a:bodyPr/>
          <a:lstStyle/>
          <a:p>
            <a:r>
              <a:rPr lang="es-ES" dirty="0"/>
              <a:t>Otros Ejemplos</a:t>
            </a:r>
          </a:p>
        </p:txBody>
      </p:sp>
      <p:pic>
        <p:nvPicPr>
          <p:cNvPr id="6" name="Marcador de contenido 5">
            <a:extLst>
              <a:ext uri="{FF2B5EF4-FFF2-40B4-BE49-F238E27FC236}">
                <a16:creationId xmlns:a16="http://schemas.microsoft.com/office/drawing/2014/main" id="{34DB5CF9-317F-E046-AB35-8394C94600A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766548"/>
            <a:ext cx="8229600" cy="3867828"/>
          </a:xfrm>
        </p:spPr>
      </p:pic>
    </p:spTree>
    <p:extLst>
      <p:ext uri="{BB962C8B-B14F-4D97-AF65-F5344CB8AC3E}">
        <p14:creationId xmlns:p14="http://schemas.microsoft.com/office/powerpoint/2010/main" val="17515343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0504B1-3C12-914F-A9FE-DB72C0746FC3}"/>
              </a:ext>
            </a:extLst>
          </p:cNvPr>
          <p:cNvSpPr>
            <a:spLocks noGrp="1"/>
          </p:cNvSpPr>
          <p:nvPr>
            <p:ph type="title"/>
          </p:nvPr>
        </p:nvSpPr>
        <p:spPr/>
        <p:txBody>
          <a:bodyPr/>
          <a:lstStyle/>
          <a:p>
            <a:r>
              <a:rPr lang="es-ES" dirty="0"/>
              <a:t>Otros Ejemplos</a:t>
            </a:r>
          </a:p>
        </p:txBody>
      </p:sp>
      <p:pic>
        <p:nvPicPr>
          <p:cNvPr id="5" name="Marcador de contenido 6">
            <a:extLst>
              <a:ext uri="{FF2B5EF4-FFF2-40B4-BE49-F238E27FC236}">
                <a16:creationId xmlns:a16="http://schemas.microsoft.com/office/drawing/2014/main" id="{8CFC582D-8D01-3C42-90A7-73BB81012D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914400" y="2074755"/>
            <a:ext cx="8229600" cy="2886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5342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Ejercicios (1)</a:t>
            </a:r>
          </a:p>
        </p:txBody>
      </p:sp>
      <p:sp>
        <p:nvSpPr>
          <p:cNvPr id="3" name="2 Marcador de contenido"/>
          <p:cNvSpPr>
            <a:spLocks noGrp="1"/>
          </p:cNvSpPr>
          <p:nvPr>
            <p:ph idx="1"/>
          </p:nvPr>
        </p:nvSpPr>
        <p:spPr/>
        <p:txBody>
          <a:bodyPr/>
          <a:lstStyle/>
          <a:p>
            <a:pPr marL="0" indent="0">
              <a:buNone/>
            </a:pPr>
            <a:endParaRPr lang="es-ES" sz="1600" dirty="0"/>
          </a:p>
          <a:p>
            <a:pPr>
              <a:spcBef>
                <a:spcPts val="0"/>
              </a:spcBef>
            </a:pPr>
            <a:r>
              <a:rPr lang="es-ES" sz="1600" dirty="0"/>
              <a:t>Define una variable de tipo predicado que evalúe si un entero es par.</a:t>
            </a:r>
          </a:p>
          <a:p>
            <a:pPr>
              <a:spcBef>
                <a:spcPts val="0"/>
              </a:spcBef>
            </a:pPr>
            <a:endParaRPr lang="es-ES" sz="1600" dirty="0"/>
          </a:p>
          <a:p>
            <a:pPr>
              <a:spcBef>
                <a:spcPts val="0"/>
              </a:spcBef>
            </a:pPr>
            <a:r>
              <a:rPr lang="es-ES" sz="1600" dirty="0"/>
              <a:t>Utilizando el modelo de procesamiento basado en </a:t>
            </a:r>
            <a:r>
              <a:rPr lang="es-ES" sz="1600" i="1" dirty="0" err="1"/>
              <a:t>streams</a:t>
            </a:r>
            <a:r>
              <a:rPr lang="es-ES" sz="1600" i="1" dirty="0"/>
              <a:t>, y el predicado anterior, obtén </a:t>
            </a:r>
            <a:r>
              <a:rPr lang="es-ES" sz="1600" dirty="0"/>
              <a:t>una lista que contenga sólo los </a:t>
            </a:r>
            <a:r>
              <a:rPr lang="es-ES" sz="1600" dirty="0" smtClean="0"/>
              <a:t>números pares</a:t>
            </a:r>
            <a:r>
              <a:rPr lang="es-ES" sz="1600" dirty="0"/>
              <a:t>, ordenados de menor a mayor, de una lista de enteros</a:t>
            </a:r>
            <a:r>
              <a:rPr lang="es-ES" dirty="0"/>
              <a:t>.</a:t>
            </a:r>
          </a:p>
        </p:txBody>
      </p:sp>
    </p:spTree>
    <p:extLst>
      <p:ext uri="{BB962C8B-B14F-4D97-AF65-F5344CB8AC3E}">
        <p14:creationId xmlns:p14="http://schemas.microsoft.com/office/powerpoint/2010/main" val="2016089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Ejercicios (2)</a:t>
            </a:r>
          </a:p>
        </p:txBody>
      </p:sp>
      <p:sp>
        <p:nvSpPr>
          <p:cNvPr id="3" name="2 Marcador de contenido"/>
          <p:cNvSpPr>
            <a:spLocks noGrp="1"/>
          </p:cNvSpPr>
          <p:nvPr>
            <p:ph idx="1"/>
          </p:nvPr>
        </p:nvSpPr>
        <p:spPr/>
        <p:txBody>
          <a:bodyPr/>
          <a:lstStyle/>
          <a:p>
            <a:endParaRPr lang="es-ES" sz="1600" dirty="0"/>
          </a:p>
          <a:p>
            <a:endParaRPr lang="es-ES" sz="1600" dirty="0"/>
          </a:p>
          <a:p>
            <a:endParaRPr lang="es-ES" sz="1600" dirty="0"/>
          </a:p>
          <a:p>
            <a:endParaRPr lang="es-ES" sz="1600" dirty="0"/>
          </a:p>
          <a:p>
            <a:endParaRPr lang="es-ES" sz="1600" dirty="0"/>
          </a:p>
          <a:p>
            <a:endParaRPr lang="es-ES" sz="1600" dirty="0"/>
          </a:p>
          <a:p>
            <a:r>
              <a:rPr lang="es-ES" sz="1600" dirty="0"/>
              <a:t>Sobre </a:t>
            </a:r>
            <a:r>
              <a:rPr lang="es-ES" sz="1600"/>
              <a:t>el proyecto facilitado</a:t>
            </a:r>
            <a:r>
              <a:rPr lang="es-ES" sz="1600" dirty="0"/>
              <a:t>, realizar los ejercicios  que se piden</a:t>
            </a:r>
            <a:endParaRPr lang="es-ES" dirty="0"/>
          </a:p>
        </p:txBody>
      </p:sp>
    </p:spTree>
    <p:extLst>
      <p:ext uri="{BB962C8B-B14F-4D97-AF65-F5344CB8AC3E}">
        <p14:creationId xmlns:p14="http://schemas.microsoft.com/office/powerpoint/2010/main" val="1418739924"/>
      </p:ext>
    </p:extLst>
  </p:cSld>
  <p:clrMapOvr>
    <a:masterClrMapping/>
  </p:clrMapOvr>
</p:sld>
</file>

<file path=ppt/theme/theme1.xml><?xml version="1.0" encoding="utf-8"?>
<a:theme xmlns:a="http://schemas.openxmlformats.org/drawingml/2006/main" name="cdb2004c019l">
  <a:themeElements>
    <a:clrScheme name="sample 3">
      <a:dk1>
        <a:srgbClr val="000066"/>
      </a:dk1>
      <a:lt1>
        <a:srgbClr val="FFFFFF"/>
      </a:lt1>
      <a:dk2>
        <a:srgbClr val="58A252"/>
      </a:dk2>
      <a:lt2>
        <a:srgbClr val="B2B2B2"/>
      </a:lt2>
      <a:accent1>
        <a:srgbClr val="0066FF"/>
      </a:accent1>
      <a:accent2>
        <a:srgbClr val="2C95A0"/>
      </a:accent2>
      <a:accent3>
        <a:srgbClr val="FFFFFF"/>
      </a:accent3>
      <a:accent4>
        <a:srgbClr val="000056"/>
      </a:accent4>
      <a:accent5>
        <a:srgbClr val="AAB8FF"/>
      </a:accent5>
      <a:accent6>
        <a:srgbClr val="278791"/>
      </a:accent6>
      <a:hlink>
        <a:srgbClr val="35BBE5"/>
      </a:hlink>
      <a:folHlink>
        <a:srgbClr val="872ECA"/>
      </a:folHlink>
    </a:clrScheme>
    <a:fontScheme name="sample">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57263" rtl="0" eaLnBrk="1" fontAlgn="base" latinLnBrk="0" hangingPunct="1">
          <a:lnSpc>
            <a:spcPct val="100000"/>
          </a:lnSpc>
          <a:spcBef>
            <a:spcPct val="0"/>
          </a:spcBef>
          <a:spcAft>
            <a:spcPct val="0"/>
          </a:spcAft>
          <a:buClrTx/>
          <a:buSzTx/>
          <a:buFontTx/>
          <a:buNone/>
          <a:tabLst/>
          <a:defRPr kumimoji="0" 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57263" rtl="0" eaLnBrk="1" fontAlgn="base" latinLnBrk="0" hangingPunct="1">
          <a:lnSpc>
            <a:spcPct val="100000"/>
          </a:lnSpc>
          <a:spcBef>
            <a:spcPct val="0"/>
          </a:spcBef>
          <a:spcAft>
            <a:spcPct val="0"/>
          </a:spcAft>
          <a:buClrTx/>
          <a:buSzTx/>
          <a:buFontTx/>
          <a:buNone/>
          <a:tabLst/>
          <a:defRPr kumimoji="0" lang="en-US" sz="1900" b="0" i="0" u="none" strike="noStrike" cap="none" normalizeH="0" baseline="0" smtClean="0">
            <a:ln>
              <a:noFill/>
            </a:ln>
            <a:solidFill>
              <a:schemeClr val="tx1"/>
            </a:solidFill>
            <a:effectLst/>
            <a:latin typeface="Arial" charset="0"/>
          </a:defRPr>
        </a:defPPr>
      </a:lstStyle>
    </a:lnDef>
  </a:objectDefaults>
  <a:extraClrSchemeLst>
    <a:extraClrScheme>
      <a:clrScheme name="sample 1">
        <a:dk1>
          <a:srgbClr val="000066"/>
        </a:dk1>
        <a:lt1>
          <a:srgbClr val="FFFFFF"/>
        </a:lt1>
        <a:dk2>
          <a:srgbClr val="58A252"/>
        </a:dk2>
        <a:lt2>
          <a:srgbClr val="B2B2B2"/>
        </a:lt2>
        <a:accent1>
          <a:srgbClr val="33CCCC"/>
        </a:accent1>
        <a:accent2>
          <a:srgbClr val="0099CC"/>
        </a:accent2>
        <a:accent3>
          <a:srgbClr val="FFFFFF"/>
        </a:accent3>
        <a:accent4>
          <a:srgbClr val="000056"/>
        </a:accent4>
        <a:accent5>
          <a:srgbClr val="ADE2E2"/>
        </a:accent5>
        <a:accent6>
          <a:srgbClr val="008AB9"/>
        </a:accent6>
        <a:hlink>
          <a:srgbClr val="6A9EB0"/>
        </a:hlink>
        <a:folHlink>
          <a:srgbClr val="6666FF"/>
        </a:folHlink>
      </a:clrScheme>
      <a:clrMap bg1="lt1" tx1="dk1" bg2="lt2" tx2="dk2" accent1="accent1" accent2="accent2" accent3="accent3" accent4="accent4" accent5="accent5" accent6="accent6" hlink="hlink" folHlink="folHlink"/>
    </a:extraClrScheme>
    <a:extraClrScheme>
      <a:clrScheme name="sample 2">
        <a:dk1>
          <a:srgbClr val="000066"/>
        </a:dk1>
        <a:lt1>
          <a:srgbClr val="FFFFFF"/>
        </a:lt1>
        <a:dk2>
          <a:srgbClr val="415CB3"/>
        </a:dk2>
        <a:lt2>
          <a:srgbClr val="B2B2B2"/>
        </a:lt2>
        <a:accent1>
          <a:srgbClr val="55AEEB"/>
        </a:accent1>
        <a:accent2>
          <a:srgbClr val="FF9933"/>
        </a:accent2>
        <a:accent3>
          <a:srgbClr val="FFFFFF"/>
        </a:accent3>
        <a:accent4>
          <a:srgbClr val="000056"/>
        </a:accent4>
        <a:accent5>
          <a:srgbClr val="B4D3F3"/>
        </a:accent5>
        <a:accent6>
          <a:srgbClr val="E78A2D"/>
        </a:accent6>
        <a:hlink>
          <a:srgbClr val="4D7AB5"/>
        </a:hlink>
        <a:folHlink>
          <a:srgbClr val="9964A2"/>
        </a:folHlink>
      </a:clrScheme>
      <a:clrMap bg1="lt1" tx1="dk1" bg2="lt2" tx2="dk2" accent1="accent1" accent2="accent2" accent3="accent3" accent4="accent4" accent5="accent5" accent6="accent6" hlink="hlink" folHlink="folHlink"/>
    </a:extraClrScheme>
    <a:extraClrScheme>
      <a:clrScheme name="sample 3">
        <a:dk1>
          <a:srgbClr val="000066"/>
        </a:dk1>
        <a:lt1>
          <a:srgbClr val="FFFFFF"/>
        </a:lt1>
        <a:dk2>
          <a:srgbClr val="58A252"/>
        </a:dk2>
        <a:lt2>
          <a:srgbClr val="B2B2B2"/>
        </a:lt2>
        <a:accent1>
          <a:srgbClr val="0066FF"/>
        </a:accent1>
        <a:accent2>
          <a:srgbClr val="2C95A0"/>
        </a:accent2>
        <a:accent3>
          <a:srgbClr val="FFFFFF"/>
        </a:accent3>
        <a:accent4>
          <a:srgbClr val="000056"/>
        </a:accent4>
        <a:accent5>
          <a:srgbClr val="AAB8FF"/>
        </a:accent5>
        <a:accent6>
          <a:srgbClr val="278791"/>
        </a:accent6>
        <a:hlink>
          <a:srgbClr val="35BBE5"/>
        </a:hlink>
        <a:folHlink>
          <a:srgbClr val="872EC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cdb2004c019l</Template>
  <TotalTime>17186</TotalTime>
  <Words>545</Words>
  <Application>Microsoft Office PowerPoint</Application>
  <PresentationFormat>Presentación en pantalla (4:3)</PresentationFormat>
  <Paragraphs>85</Paragraphs>
  <Slides>19</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Arial</vt:lpstr>
      <vt:lpstr>Calibri</vt:lpstr>
      <vt:lpstr>Verdana</vt:lpstr>
      <vt:lpstr>Wingdings</vt:lpstr>
      <vt:lpstr>cdb2004c019l</vt:lpstr>
      <vt:lpstr>Aplicación de las estructuras de almacenamiento</vt:lpstr>
      <vt:lpstr>Contenido</vt:lpstr>
      <vt:lpstr>Contenido</vt:lpstr>
      <vt:lpstr>Introducción</vt:lpstr>
      <vt:lpstr>Expresiones Lambda</vt:lpstr>
      <vt:lpstr>Streams</vt:lpstr>
      <vt:lpstr>Creación de Streams</vt:lpstr>
      <vt:lpstr>Stream: Operaciones intermedias (Ejemplos)</vt:lpstr>
      <vt:lpstr>Streams: Operaciones de Mapeo (Ejemplos)</vt:lpstr>
      <vt:lpstr>Streams: Operaciones de Mapeo (Ejemplos)</vt:lpstr>
      <vt:lpstr>Streams: Ejemplo 1</vt:lpstr>
      <vt:lpstr>Streams: Ejemplo 1</vt:lpstr>
      <vt:lpstr>Streams: Ejemplo 1</vt:lpstr>
      <vt:lpstr>Predicate</vt:lpstr>
      <vt:lpstr>Otros Ejemplos</vt:lpstr>
      <vt:lpstr>Otros Ejemplos</vt:lpstr>
      <vt:lpstr>Otros Ejemplos</vt:lpstr>
      <vt:lpstr>Ejercicios (1)</vt:lpstr>
      <vt:lpstr>Ejercicios (2)</vt:lpstr>
    </vt:vector>
  </TitlesOfParts>
  <Company>RevolucionUnattended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UsuarioAdministrador</dc:creator>
  <cp:lastModifiedBy>Usuario</cp:lastModifiedBy>
  <cp:revision>716</cp:revision>
  <dcterms:created xsi:type="dcterms:W3CDTF">2008-09-25T01:23:28Z</dcterms:created>
  <dcterms:modified xsi:type="dcterms:W3CDTF">2024-12-10T11:17:02Z</dcterms:modified>
</cp:coreProperties>
</file>