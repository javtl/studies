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473" r:id="rId3"/>
    <p:sldId id="472" r:id="rId4"/>
    <p:sldId id="480" r:id="rId5"/>
    <p:sldId id="413" r:id="rId6"/>
    <p:sldId id="481" r:id="rId7"/>
    <p:sldId id="414" r:id="rId8"/>
    <p:sldId id="415" r:id="rId9"/>
    <p:sldId id="475" r:id="rId10"/>
    <p:sldId id="478" r:id="rId11"/>
    <p:sldId id="419" r:id="rId12"/>
    <p:sldId id="420" r:id="rId13"/>
  </p:sldIdLst>
  <p:sldSz cx="9144000" cy="6858000" type="screen4x3"/>
  <p:notesSz cx="6858000" cy="9144000"/>
  <p:defaultTextStyle>
    <a:defPPr>
      <a:defRPr lang="en-US"/>
    </a:defPPr>
    <a:lvl1pPr algn="l" rtl="0" fontAlgn="base">
      <a:spcBef>
        <a:spcPct val="0"/>
      </a:spcBef>
      <a:spcAft>
        <a:spcPct val="0"/>
      </a:spcAft>
      <a:defRPr sz="1900" kern="1200">
        <a:solidFill>
          <a:schemeClr val="tx1"/>
        </a:solidFill>
        <a:latin typeface="Arial" charset="0"/>
        <a:ea typeface="+mn-ea"/>
        <a:cs typeface="+mn-cs"/>
      </a:defRPr>
    </a:lvl1pPr>
    <a:lvl2pPr marL="457200" algn="l" rtl="0" fontAlgn="base">
      <a:spcBef>
        <a:spcPct val="0"/>
      </a:spcBef>
      <a:spcAft>
        <a:spcPct val="0"/>
      </a:spcAft>
      <a:defRPr sz="1900" kern="1200">
        <a:solidFill>
          <a:schemeClr val="tx1"/>
        </a:solidFill>
        <a:latin typeface="Arial" charset="0"/>
        <a:ea typeface="+mn-ea"/>
        <a:cs typeface="+mn-cs"/>
      </a:defRPr>
    </a:lvl2pPr>
    <a:lvl3pPr marL="914400" algn="l" rtl="0" fontAlgn="base">
      <a:spcBef>
        <a:spcPct val="0"/>
      </a:spcBef>
      <a:spcAft>
        <a:spcPct val="0"/>
      </a:spcAft>
      <a:defRPr sz="1900" kern="1200">
        <a:solidFill>
          <a:schemeClr val="tx1"/>
        </a:solidFill>
        <a:latin typeface="Arial" charset="0"/>
        <a:ea typeface="+mn-ea"/>
        <a:cs typeface="+mn-cs"/>
      </a:defRPr>
    </a:lvl3pPr>
    <a:lvl4pPr marL="1371600" algn="l" rtl="0" fontAlgn="base">
      <a:spcBef>
        <a:spcPct val="0"/>
      </a:spcBef>
      <a:spcAft>
        <a:spcPct val="0"/>
      </a:spcAft>
      <a:defRPr sz="1900" kern="1200">
        <a:solidFill>
          <a:schemeClr val="tx1"/>
        </a:solidFill>
        <a:latin typeface="Arial" charset="0"/>
        <a:ea typeface="+mn-ea"/>
        <a:cs typeface="+mn-cs"/>
      </a:defRPr>
    </a:lvl4pPr>
    <a:lvl5pPr marL="1828800" algn="l" rtl="0" fontAlgn="base">
      <a:spcBef>
        <a:spcPct val="0"/>
      </a:spcBef>
      <a:spcAft>
        <a:spcPct val="0"/>
      </a:spcAft>
      <a:defRPr sz="1900" kern="1200">
        <a:solidFill>
          <a:schemeClr val="tx1"/>
        </a:solidFill>
        <a:latin typeface="Arial" charset="0"/>
        <a:ea typeface="+mn-ea"/>
        <a:cs typeface="+mn-cs"/>
      </a:defRPr>
    </a:lvl5pPr>
    <a:lvl6pPr marL="2286000" algn="l" defTabSz="914400" rtl="0" eaLnBrk="1" latinLnBrk="0" hangingPunct="1">
      <a:defRPr sz="1900" kern="1200">
        <a:solidFill>
          <a:schemeClr val="tx1"/>
        </a:solidFill>
        <a:latin typeface="Arial" charset="0"/>
        <a:ea typeface="+mn-ea"/>
        <a:cs typeface="+mn-cs"/>
      </a:defRPr>
    </a:lvl6pPr>
    <a:lvl7pPr marL="2743200" algn="l" defTabSz="914400" rtl="0" eaLnBrk="1" latinLnBrk="0" hangingPunct="1">
      <a:defRPr sz="1900" kern="1200">
        <a:solidFill>
          <a:schemeClr val="tx1"/>
        </a:solidFill>
        <a:latin typeface="Arial" charset="0"/>
        <a:ea typeface="+mn-ea"/>
        <a:cs typeface="+mn-cs"/>
      </a:defRPr>
    </a:lvl7pPr>
    <a:lvl8pPr marL="3200400" algn="l" defTabSz="914400" rtl="0" eaLnBrk="1" latinLnBrk="0" hangingPunct="1">
      <a:defRPr sz="1900" kern="1200">
        <a:solidFill>
          <a:schemeClr val="tx1"/>
        </a:solidFill>
        <a:latin typeface="Arial" charset="0"/>
        <a:ea typeface="+mn-ea"/>
        <a:cs typeface="+mn-cs"/>
      </a:defRPr>
    </a:lvl8pPr>
    <a:lvl9pPr marL="3657600" algn="l" defTabSz="914400" rtl="0" eaLnBrk="1" latinLnBrk="0" hangingPunct="1">
      <a:defRPr sz="1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009900"/>
    <a:srgbClr val="FB8605"/>
    <a:srgbClr val="FF0066"/>
    <a:srgbClr val="000000"/>
    <a:srgbClr val="0066FF"/>
    <a:srgbClr val="FF3300"/>
    <a:srgbClr val="92D050"/>
    <a:srgbClr val="FF99FF"/>
    <a:srgbClr val="E889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11" autoAdjust="0"/>
    <p:restoredTop sz="92802" autoAdjust="0"/>
  </p:normalViewPr>
  <p:slideViewPr>
    <p:cSldViewPr>
      <p:cViewPr varScale="1">
        <p:scale>
          <a:sx n="80" d="100"/>
          <a:sy n="80" d="100"/>
        </p:scale>
        <p:origin x="194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0469D27-3A80-4AE4-983A-5127F419349B}" type="datetimeFigureOut">
              <a:rPr lang="es-ES_tradnl"/>
              <a:pPr>
                <a:defRPr/>
              </a:pPr>
              <a:t>09/01/2025</a:t>
            </a:fld>
            <a:endParaRPr lang="es-ES_tradn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FB2CE7FE-09D1-49CA-91BF-39EACD17411D}" type="slidenum">
              <a:rPr lang="es-ES_tradnl"/>
              <a:pPr>
                <a:defRPr/>
              </a:pPr>
              <a:t>‹Nº›</a:t>
            </a:fld>
            <a:endParaRPr lang="es-ES_tradnl"/>
          </a:p>
        </p:txBody>
      </p:sp>
    </p:spTree>
    <p:extLst>
      <p:ext uri="{BB962C8B-B14F-4D97-AF65-F5344CB8AC3E}">
        <p14:creationId xmlns:p14="http://schemas.microsoft.com/office/powerpoint/2010/main" val="92675530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_tradnl"/>
          </a:p>
        </p:txBody>
      </p:sp>
      <p:sp>
        <p:nvSpPr>
          <p:cNvPr id="133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D36EE85E-37C0-4958-BA08-E096993B5EBD}" type="slidenum">
              <a:rPr lang="es-ES_tradnl" sz="1200"/>
              <a:pPr eaLnBrk="1" hangingPunct="1"/>
              <a:t>1</a:t>
            </a:fld>
            <a:endParaRPr lang="es-ES_tradnl" sz="1200"/>
          </a:p>
        </p:txBody>
      </p:sp>
    </p:spTree>
    <p:extLst>
      <p:ext uri="{BB962C8B-B14F-4D97-AF65-F5344CB8AC3E}">
        <p14:creationId xmlns:p14="http://schemas.microsoft.com/office/powerpoint/2010/main" val="3488871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41"/>
          <p:cNvSpPr>
            <a:spLocks noChangeArrowheads="1"/>
          </p:cNvSpPr>
          <p:nvPr/>
        </p:nvSpPr>
        <p:spPr bwMode="gray">
          <a:xfrm>
            <a:off x="0" y="2708275"/>
            <a:ext cx="9144000" cy="87471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28575">
            <a:solidFill>
              <a:schemeClr val="bg1"/>
            </a:solidFill>
            <a:miter lim="800000"/>
            <a:headEnd/>
            <a:tailEnd/>
          </a:ln>
          <a:effectLst/>
        </p:spPr>
        <p:txBody>
          <a:bodyPr wrap="none" anchor="ctr"/>
          <a:lstStyle/>
          <a:p>
            <a:pPr>
              <a:defRPr/>
            </a:pPr>
            <a:endParaRPr lang="es-ES_tradnl"/>
          </a:p>
        </p:txBody>
      </p:sp>
      <p:sp>
        <p:nvSpPr>
          <p:cNvPr id="5" name="Text Box 14"/>
          <p:cNvSpPr txBox="1">
            <a:spLocks noChangeArrowheads="1"/>
          </p:cNvSpPr>
          <p:nvPr/>
        </p:nvSpPr>
        <p:spPr bwMode="black">
          <a:xfrm>
            <a:off x="381000" y="271463"/>
            <a:ext cx="1089025" cy="415925"/>
          </a:xfrm>
          <a:prstGeom prst="rect">
            <a:avLst/>
          </a:prstGeom>
          <a:noFill/>
          <a:ln w="9525">
            <a:noFill/>
            <a:miter lim="800000"/>
            <a:headEnd/>
            <a:tailEnd/>
          </a:ln>
          <a:effectLst/>
        </p:spPr>
        <p:txBody>
          <a:bodyPr lIns="95782" tIns="47891" rIns="95782" bIns="47891">
            <a:spAutoFit/>
          </a:bodyPr>
          <a:lstStyle/>
          <a:p>
            <a:pPr defTabSz="957263">
              <a:defRPr/>
            </a:pPr>
            <a:r>
              <a:rPr lang="en-US" sz="2100" b="1">
                <a:solidFill>
                  <a:schemeClr val="bg1"/>
                </a:solidFill>
                <a:latin typeface="Verdana" pitchFamily="34" charset="0"/>
              </a:rPr>
              <a:t>LOGO</a:t>
            </a:r>
          </a:p>
        </p:txBody>
      </p:sp>
      <p:grpSp>
        <p:nvGrpSpPr>
          <p:cNvPr id="6" name="Group 42"/>
          <p:cNvGrpSpPr>
            <a:grpSpLocks/>
          </p:cNvGrpSpPr>
          <p:nvPr/>
        </p:nvGrpSpPr>
        <p:grpSpPr bwMode="auto">
          <a:xfrm>
            <a:off x="-11113" y="-12700"/>
            <a:ext cx="9175751" cy="6870700"/>
            <a:chOff x="-7" y="-8"/>
            <a:chExt cx="5780" cy="4328"/>
          </a:xfrm>
        </p:grpSpPr>
        <p:sp>
          <p:nvSpPr>
            <p:cNvPr id="7" name="AutoShape 36"/>
            <p:cNvSpPr>
              <a:spLocks noChangeArrowheads="1"/>
            </p:cNvSpPr>
            <p:nvPr/>
          </p:nvSpPr>
          <p:spPr bwMode="gray">
            <a:xfrm>
              <a:off x="17" y="16"/>
              <a:ext cx="5729" cy="42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8" name="Freeform 37"/>
            <p:cNvSpPr>
              <a:spLocks/>
            </p:cNvSpPr>
            <p:nvPr/>
          </p:nvSpPr>
          <p:spPr bwMode="gray">
            <a:xfrm>
              <a:off x="-3" y="-8"/>
              <a:ext cx="295" cy="289"/>
            </a:xfrm>
            <a:custGeom>
              <a:avLst/>
              <a:gdLst/>
              <a:ahLst/>
              <a:cxnLst>
                <a:cxn ang="0">
                  <a:pos x="3" y="395"/>
                </a:cxn>
                <a:cxn ang="0">
                  <a:pos x="74" y="216"/>
                </a:cxn>
                <a:cxn ang="0">
                  <a:pos x="231" y="50"/>
                </a:cxn>
                <a:cxn ang="0">
                  <a:pos x="403" y="0"/>
                </a:cxn>
                <a:cxn ang="0">
                  <a:pos x="0" y="0"/>
                </a:cxn>
              </a:cxnLst>
              <a:rect l="0" t="0" r="r" b="b"/>
              <a:pathLst>
                <a:path w="403" h="395">
                  <a:moveTo>
                    <a:pt x="3" y="395"/>
                  </a:moveTo>
                  <a:lnTo>
                    <a:pt x="74" y="216"/>
                  </a:lnTo>
                  <a:lnTo>
                    <a:pt x="231" y="50"/>
                  </a:lnTo>
                  <a:lnTo>
                    <a:pt x="403" y="0"/>
                  </a:lnTo>
                  <a:lnTo>
                    <a:pt x="0" y="0"/>
                  </a:lnTo>
                </a:path>
              </a:pathLst>
            </a:custGeom>
            <a:solidFill>
              <a:schemeClr val="bg1"/>
            </a:solidFill>
            <a:ln w="9525">
              <a:noFill/>
              <a:round/>
              <a:headEnd/>
              <a:tailEnd/>
            </a:ln>
            <a:effectLst/>
          </p:spPr>
          <p:txBody>
            <a:bodyPr/>
            <a:lstStyle/>
            <a:p>
              <a:pPr>
                <a:defRPr/>
              </a:pPr>
              <a:endParaRPr lang="es-ES_tradnl"/>
            </a:p>
          </p:txBody>
        </p:sp>
        <p:sp>
          <p:nvSpPr>
            <p:cNvPr id="9" name="Freeform 38"/>
            <p:cNvSpPr>
              <a:spLocks/>
            </p:cNvSpPr>
            <p:nvPr/>
          </p:nvSpPr>
          <p:spPr bwMode="gray">
            <a:xfrm>
              <a:off x="-7" y="3982"/>
              <a:ext cx="287" cy="338"/>
            </a:xfrm>
            <a:custGeom>
              <a:avLst/>
              <a:gdLst/>
              <a:ahLst/>
              <a:cxnLst>
                <a:cxn ang="0">
                  <a:pos x="391" y="473"/>
                </a:cxn>
                <a:cxn ang="0">
                  <a:pos x="151" y="353"/>
                </a:cxn>
                <a:cxn ang="0">
                  <a:pos x="42" y="201"/>
                </a:cxn>
                <a:cxn ang="0">
                  <a:pos x="0" y="0"/>
                </a:cxn>
                <a:cxn ang="0">
                  <a:pos x="1" y="470"/>
                </a:cxn>
              </a:cxnLst>
              <a:rect l="0" t="0" r="r" b="b"/>
              <a:pathLst>
                <a:path w="391" h="473">
                  <a:moveTo>
                    <a:pt x="391" y="473"/>
                  </a:moveTo>
                  <a:lnTo>
                    <a:pt x="151" y="353"/>
                  </a:lnTo>
                  <a:lnTo>
                    <a:pt x="42" y="201"/>
                  </a:lnTo>
                  <a:lnTo>
                    <a:pt x="0" y="0"/>
                  </a:lnTo>
                  <a:lnTo>
                    <a:pt x="1" y="470"/>
                  </a:lnTo>
                </a:path>
              </a:pathLst>
            </a:custGeom>
            <a:solidFill>
              <a:schemeClr val="bg1"/>
            </a:solidFill>
            <a:ln w="9525">
              <a:noFill/>
              <a:round/>
              <a:headEnd/>
              <a:tailEnd/>
            </a:ln>
            <a:effectLst/>
          </p:spPr>
          <p:txBody>
            <a:bodyPr/>
            <a:lstStyle/>
            <a:p>
              <a:pPr>
                <a:defRPr/>
              </a:pPr>
              <a:endParaRPr lang="es-ES_tradnl"/>
            </a:p>
          </p:txBody>
        </p:sp>
        <p:sp>
          <p:nvSpPr>
            <p:cNvPr id="10" name="Freeform 39"/>
            <p:cNvSpPr>
              <a:spLocks/>
            </p:cNvSpPr>
            <p:nvPr/>
          </p:nvSpPr>
          <p:spPr bwMode="gray">
            <a:xfrm>
              <a:off x="5499" y="4026"/>
              <a:ext cx="274" cy="287"/>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1" name="Freeform 40"/>
            <p:cNvSpPr>
              <a:spLocks/>
            </p:cNvSpPr>
            <p:nvPr/>
          </p:nvSpPr>
          <p:spPr bwMode="gray">
            <a:xfrm>
              <a:off x="5467" y="0"/>
              <a:ext cx="302" cy="288"/>
            </a:xfrm>
            <a:custGeom>
              <a:avLst/>
              <a:gdLst/>
              <a:ahLst/>
              <a:cxnLst>
                <a:cxn ang="0">
                  <a:pos x="0" y="0"/>
                </a:cxn>
                <a:cxn ang="0">
                  <a:pos x="221" y="96"/>
                </a:cxn>
                <a:cxn ang="0">
                  <a:pos x="353" y="231"/>
                </a:cxn>
                <a:cxn ang="0">
                  <a:pos x="403" y="403"/>
                </a:cxn>
                <a:cxn ang="0">
                  <a:pos x="403" y="0"/>
                </a:cxn>
              </a:cxnLst>
              <a:rect l="0" t="0" r="r" b="b"/>
              <a:pathLst>
                <a:path w="403" h="403">
                  <a:moveTo>
                    <a:pt x="0" y="0"/>
                  </a:moveTo>
                  <a:lnTo>
                    <a:pt x="221" y="96"/>
                  </a:lnTo>
                  <a:lnTo>
                    <a:pt x="353" y="231"/>
                  </a:lnTo>
                  <a:lnTo>
                    <a:pt x="403" y="403"/>
                  </a:lnTo>
                  <a:lnTo>
                    <a:pt x="403" y="0"/>
                  </a:lnTo>
                </a:path>
              </a:pathLst>
            </a:custGeom>
            <a:solidFill>
              <a:schemeClr val="bg1"/>
            </a:solidFill>
            <a:ln w="9525">
              <a:noFill/>
              <a:round/>
              <a:headEnd/>
              <a:tailEnd/>
            </a:ln>
            <a:effectLst/>
          </p:spPr>
          <p:txBody>
            <a:bodyPr/>
            <a:lstStyle/>
            <a:p>
              <a:pPr>
                <a:defRPr/>
              </a:pPr>
              <a:endParaRPr lang="es-ES_tradnl"/>
            </a:p>
          </p:txBody>
        </p:sp>
      </p:grpSp>
      <p:sp>
        <p:nvSpPr>
          <p:cNvPr id="3074" name="Rectangle 2"/>
          <p:cNvSpPr>
            <a:spLocks noGrp="1" noChangeArrowheads="1"/>
          </p:cNvSpPr>
          <p:nvPr>
            <p:ph type="ctrTitle"/>
          </p:nvPr>
        </p:nvSpPr>
        <p:spPr bwMode="gray">
          <a:xfrm>
            <a:off x="0" y="2720975"/>
            <a:ext cx="9144000" cy="817563"/>
          </a:xfrm>
        </p:spPr>
        <p:txBody>
          <a:bodyPr/>
          <a:lstStyle>
            <a:lvl1pPr>
              <a:defRPr sz="4600"/>
            </a:lvl1pPr>
          </a:lstStyle>
          <a:p>
            <a:r>
              <a:rPr lang="es-ES"/>
              <a:t>Haga clic para modificar el estilo de título del patrón</a:t>
            </a:r>
            <a:endParaRPr lang="en-US"/>
          </a:p>
        </p:txBody>
      </p:sp>
      <p:sp>
        <p:nvSpPr>
          <p:cNvPr id="3075" name="Rectangle 3"/>
          <p:cNvSpPr>
            <a:spLocks noGrp="1" noChangeArrowheads="1"/>
          </p:cNvSpPr>
          <p:nvPr>
            <p:ph type="subTitle" idx="1"/>
          </p:nvPr>
        </p:nvSpPr>
        <p:spPr bwMode="black">
          <a:xfrm>
            <a:off x="990600" y="2176463"/>
            <a:ext cx="7086600" cy="436562"/>
          </a:xfrm>
        </p:spPr>
        <p:txBody>
          <a:bodyPr/>
          <a:lstStyle>
            <a:lvl1pPr marL="0" indent="0" algn="ctr">
              <a:buFont typeface="Wingdings" pitchFamily="2" charset="2"/>
              <a:buNone/>
              <a:defRPr sz="1900">
                <a:solidFill>
                  <a:schemeClr val="bg1"/>
                </a:solidFill>
                <a:latin typeface="Arial" charset="0"/>
              </a:defRPr>
            </a:lvl1pPr>
          </a:lstStyle>
          <a:p>
            <a:r>
              <a:rPr lang="es-ES"/>
              <a:t>Haga clic para modificar el estilo de subtítulo del patrón</a:t>
            </a:r>
            <a:endParaRPr lang="en-US"/>
          </a:p>
        </p:txBody>
      </p:sp>
    </p:spTree>
    <p:extLst>
      <p:ext uri="{BB962C8B-B14F-4D97-AF65-F5344CB8AC3E}">
        <p14:creationId xmlns:p14="http://schemas.microsoft.com/office/powerpoint/2010/main" val="3937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9BC10960-1D47-4F31-A178-4215E754AE71}" type="slidenum">
              <a:rPr lang="en-US"/>
              <a:pPr/>
              <a:t>‹Nº›</a:t>
            </a:fld>
            <a:endParaRPr lang="en-US"/>
          </a:p>
        </p:txBody>
      </p:sp>
    </p:spTree>
    <p:extLst>
      <p:ext uri="{BB962C8B-B14F-4D97-AF65-F5344CB8AC3E}">
        <p14:creationId xmlns:p14="http://schemas.microsoft.com/office/powerpoint/2010/main" val="27938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108B1BE4-FB56-497F-AC71-04F364CF33BF}" type="slidenum">
              <a:rPr lang="en-US"/>
              <a:pPr/>
              <a:t>‹Nº›</a:t>
            </a:fld>
            <a:endParaRPr lang="en-US"/>
          </a:p>
        </p:txBody>
      </p:sp>
    </p:spTree>
    <p:extLst>
      <p:ext uri="{BB962C8B-B14F-4D97-AF65-F5344CB8AC3E}">
        <p14:creationId xmlns:p14="http://schemas.microsoft.com/office/powerpoint/2010/main" val="244741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8AD86F26-C6EC-496E-AD78-D42D5BE6465A}" type="slidenum">
              <a:rPr lang="en-US"/>
              <a:pPr/>
              <a:t>‹Nº›</a:t>
            </a:fld>
            <a:endParaRPr lang="en-US"/>
          </a:p>
        </p:txBody>
      </p:sp>
    </p:spTree>
    <p:extLst>
      <p:ext uri="{BB962C8B-B14F-4D97-AF65-F5344CB8AC3E}">
        <p14:creationId xmlns:p14="http://schemas.microsoft.com/office/powerpoint/2010/main" val="14766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Rectangle 5"/>
          <p:cNvSpPr>
            <a:spLocks noGrp="1" noChangeArrowheads="1"/>
          </p:cNvSpPr>
          <p:nvPr>
            <p:ph type="ftr" sz="quarter" idx="10"/>
          </p:nvPr>
        </p:nvSpPr>
        <p:spPr>
          <a:ln/>
        </p:spPr>
        <p:txBody>
          <a:bodyPr/>
          <a:lstStyle>
            <a:lvl1pPr>
              <a:defRPr/>
            </a:lvl1pPr>
          </a:lstStyle>
          <a:p>
            <a:r>
              <a:rPr lang="en-US"/>
              <a:t>www.themegallery.com</a:t>
            </a:r>
          </a:p>
        </p:txBody>
      </p:sp>
      <p:sp>
        <p:nvSpPr>
          <p:cNvPr id="8" name="Rectangle 6"/>
          <p:cNvSpPr>
            <a:spLocks noGrp="1" noChangeArrowheads="1"/>
          </p:cNvSpPr>
          <p:nvPr>
            <p:ph type="sldNum" sz="quarter" idx="11"/>
          </p:nvPr>
        </p:nvSpPr>
        <p:spPr>
          <a:ln/>
        </p:spPr>
        <p:txBody>
          <a:bodyPr/>
          <a:lstStyle>
            <a:lvl1pPr>
              <a:defRPr/>
            </a:lvl1pPr>
          </a:lstStyle>
          <a:p>
            <a:fld id="{D8AED370-19CA-4C7C-85E3-1587DE8EE631}" type="slidenum">
              <a:rPr lang="en-US"/>
              <a:pPr/>
              <a:t>‹Nº›</a:t>
            </a:fld>
            <a:endParaRPr lang="en-US"/>
          </a:p>
        </p:txBody>
      </p:sp>
    </p:spTree>
    <p:extLst>
      <p:ext uri="{BB962C8B-B14F-4D97-AF65-F5344CB8AC3E}">
        <p14:creationId xmlns:p14="http://schemas.microsoft.com/office/powerpoint/2010/main" val="332051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Rectangle 5"/>
          <p:cNvSpPr>
            <a:spLocks noGrp="1" noChangeArrowheads="1"/>
          </p:cNvSpPr>
          <p:nvPr>
            <p:ph type="ftr" sz="quarter" idx="10"/>
          </p:nvPr>
        </p:nvSpPr>
        <p:spPr>
          <a:ln/>
        </p:spPr>
        <p:txBody>
          <a:bodyPr/>
          <a:lstStyle>
            <a:lvl1pPr>
              <a:defRPr/>
            </a:lvl1pPr>
          </a:lstStyle>
          <a:p>
            <a:r>
              <a:rPr lang="en-US"/>
              <a:t>www.themegallery.com</a:t>
            </a:r>
          </a:p>
        </p:txBody>
      </p:sp>
      <p:sp>
        <p:nvSpPr>
          <p:cNvPr id="4" name="Rectangle 6"/>
          <p:cNvSpPr>
            <a:spLocks noGrp="1" noChangeArrowheads="1"/>
          </p:cNvSpPr>
          <p:nvPr>
            <p:ph type="sldNum" sz="quarter" idx="11"/>
          </p:nvPr>
        </p:nvSpPr>
        <p:spPr>
          <a:ln/>
        </p:spPr>
        <p:txBody>
          <a:bodyPr/>
          <a:lstStyle>
            <a:lvl1pPr>
              <a:defRPr/>
            </a:lvl1pPr>
          </a:lstStyle>
          <a:p>
            <a:fld id="{FD14D8DD-9D00-4312-B4C4-A03ADF0178CC}" type="slidenum">
              <a:rPr lang="en-US"/>
              <a:pPr/>
              <a:t>‹Nº›</a:t>
            </a:fld>
            <a:endParaRPr lang="en-US"/>
          </a:p>
        </p:txBody>
      </p:sp>
    </p:spTree>
    <p:extLst>
      <p:ext uri="{BB962C8B-B14F-4D97-AF65-F5344CB8AC3E}">
        <p14:creationId xmlns:p14="http://schemas.microsoft.com/office/powerpoint/2010/main" val="1106196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www.themegallery.com</a:t>
            </a:r>
          </a:p>
        </p:txBody>
      </p:sp>
      <p:sp>
        <p:nvSpPr>
          <p:cNvPr id="3" name="Rectangle 6"/>
          <p:cNvSpPr>
            <a:spLocks noGrp="1" noChangeArrowheads="1"/>
          </p:cNvSpPr>
          <p:nvPr>
            <p:ph type="sldNum" sz="quarter" idx="11"/>
          </p:nvPr>
        </p:nvSpPr>
        <p:spPr>
          <a:ln/>
        </p:spPr>
        <p:txBody>
          <a:bodyPr/>
          <a:lstStyle>
            <a:lvl1pPr>
              <a:defRPr/>
            </a:lvl1pPr>
          </a:lstStyle>
          <a:p>
            <a:fld id="{18537A5B-A9CE-4669-BC99-AE9F32CE8D07}" type="slidenum">
              <a:rPr lang="en-US"/>
              <a:pPr/>
              <a:t>‹Nº›</a:t>
            </a:fld>
            <a:endParaRPr lang="en-US"/>
          </a:p>
        </p:txBody>
      </p:sp>
    </p:spTree>
    <p:extLst>
      <p:ext uri="{BB962C8B-B14F-4D97-AF65-F5344CB8AC3E}">
        <p14:creationId xmlns:p14="http://schemas.microsoft.com/office/powerpoint/2010/main" val="45969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ECD770F1-8B0E-485D-8FC1-DD5CDADCB470}" type="slidenum">
              <a:rPr lang="en-US"/>
              <a:pPr/>
              <a:t>‹Nº›</a:t>
            </a:fld>
            <a:endParaRPr lang="en-US"/>
          </a:p>
        </p:txBody>
      </p:sp>
    </p:spTree>
    <p:extLst>
      <p:ext uri="{BB962C8B-B14F-4D97-AF65-F5344CB8AC3E}">
        <p14:creationId xmlns:p14="http://schemas.microsoft.com/office/powerpoint/2010/main" val="250813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C3368E41-874E-4862-AAFD-AC18B393D094}" type="slidenum">
              <a:rPr lang="en-US"/>
              <a:pPr/>
              <a:t>‹Nº›</a:t>
            </a:fld>
            <a:endParaRPr lang="en-US"/>
          </a:p>
        </p:txBody>
      </p:sp>
    </p:spTree>
    <p:extLst>
      <p:ext uri="{BB962C8B-B14F-4D97-AF65-F5344CB8AC3E}">
        <p14:creationId xmlns:p14="http://schemas.microsoft.com/office/powerpoint/2010/main" val="107172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D801FC98-F929-48AB-9F4D-6385B8877736}" type="slidenum">
              <a:rPr lang="en-US"/>
              <a:pPr/>
              <a:t>‹Nº›</a:t>
            </a:fld>
            <a:endParaRPr lang="en-US"/>
          </a:p>
        </p:txBody>
      </p:sp>
    </p:spTree>
    <p:extLst>
      <p:ext uri="{BB962C8B-B14F-4D97-AF65-F5344CB8AC3E}">
        <p14:creationId xmlns:p14="http://schemas.microsoft.com/office/powerpoint/2010/main" val="42165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975"/>
            <a:ext cx="2057400" cy="62706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457200" y="53975"/>
            <a:ext cx="6019800" cy="62706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F5DFA751-5FBB-4471-AF6F-9D0A8609C3C1}" type="slidenum">
              <a:rPr lang="en-US"/>
              <a:pPr/>
              <a:t>‹Nº›</a:t>
            </a:fld>
            <a:endParaRPr lang="en-US"/>
          </a:p>
        </p:txBody>
      </p:sp>
    </p:spTree>
    <p:extLst>
      <p:ext uri="{BB962C8B-B14F-4D97-AF65-F5344CB8AC3E}">
        <p14:creationId xmlns:p14="http://schemas.microsoft.com/office/powerpoint/2010/main" val="31486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542925" y="53975"/>
            <a:ext cx="7392988" cy="563563"/>
          </a:xfrm>
        </p:spPr>
        <p:txBody>
          <a:bodyPr/>
          <a:lstStyle/>
          <a:p>
            <a:r>
              <a:rPr lang="es-ES"/>
              <a:t>Haga clic para modificar el estilo de título del patrón</a:t>
            </a:r>
            <a:endParaRPr lang="es-ES_tradnl"/>
          </a:p>
        </p:txBody>
      </p:sp>
      <p:sp>
        <p:nvSpPr>
          <p:cNvPr id="3" name="2 Marcador de tabla"/>
          <p:cNvSpPr>
            <a:spLocks noGrp="1"/>
          </p:cNvSpPr>
          <p:nvPr>
            <p:ph type="tbl" idx="1"/>
          </p:nvPr>
        </p:nvSpPr>
        <p:spPr>
          <a:xfrm>
            <a:off x="457200" y="1076325"/>
            <a:ext cx="8229600" cy="5248275"/>
          </a:xfrm>
        </p:spPr>
        <p:txBody>
          <a:bodyPr/>
          <a:lstStyle/>
          <a:p>
            <a:pPr lvl="0"/>
            <a:r>
              <a:rPr lang="es-ES" noProof="0"/>
              <a:t>Haga clic en el icono para agregar una tabla</a:t>
            </a:r>
            <a:endParaRPr lang="es-ES_tradnl" noProof="0"/>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27F47353-9D15-4571-BF0B-64C1267AE8A4}" type="slidenum">
              <a:rPr lang="en-US"/>
              <a:pPr/>
              <a:t>‹Nº›</a:t>
            </a:fld>
            <a:endParaRPr lang="en-US"/>
          </a:p>
        </p:txBody>
      </p:sp>
    </p:spTree>
    <p:extLst>
      <p:ext uri="{BB962C8B-B14F-4D97-AF65-F5344CB8AC3E}">
        <p14:creationId xmlns:p14="http://schemas.microsoft.com/office/powerpoint/2010/main" val="384178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39" name="Freeform 15" descr="29641"/>
          <p:cNvSpPr>
            <a:spLocks/>
          </p:cNvSpPr>
          <p:nvPr/>
        </p:nvSpPr>
        <p:spPr bwMode="gray">
          <a:xfrm>
            <a:off x="36513" y="80963"/>
            <a:ext cx="9077325" cy="1595437"/>
          </a:xfrm>
          <a:custGeom>
            <a:avLst/>
            <a:gdLst/>
            <a:ahLst/>
            <a:cxnLst>
              <a:cxn ang="0">
                <a:pos x="0" y="756"/>
              </a:cxn>
              <a:cxn ang="0">
                <a:pos x="576" y="560"/>
              </a:cxn>
              <a:cxn ang="0">
                <a:pos x="1403" y="390"/>
              </a:cxn>
              <a:cxn ang="0">
                <a:pos x="2452" y="314"/>
              </a:cxn>
              <a:cxn ang="0">
                <a:pos x="3102" y="326"/>
              </a:cxn>
              <a:cxn ang="0">
                <a:pos x="4043" y="434"/>
              </a:cxn>
              <a:cxn ang="0">
                <a:pos x="4944" y="668"/>
              </a:cxn>
              <a:cxn ang="0">
                <a:pos x="5691" y="971"/>
              </a:cxn>
              <a:cxn ang="0">
                <a:pos x="5718" y="19"/>
              </a:cxn>
              <a:cxn ang="0">
                <a:pos x="9" y="0"/>
              </a:cxn>
            </a:cxnLst>
            <a:rect l="0" t="0" r="r" b="b"/>
            <a:pathLst>
              <a:path w="5718" h="1005">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dpi="0" rotWithShape="1">
            <a:blip r:embed="rId15" cstate="print"/>
            <a:srcRect/>
            <a:stretch>
              <a:fillRect/>
            </a:stretch>
          </a:blipFill>
          <a:ln w="9525">
            <a:noFill/>
            <a:round/>
            <a:headEnd/>
            <a:tailEnd/>
          </a:ln>
          <a:effectLst/>
        </p:spPr>
        <p:txBody>
          <a:bodyPr/>
          <a:lstStyle/>
          <a:p>
            <a:pPr>
              <a:defRPr/>
            </a:pPr>
            <a:endParaRPr lang="es-ES_tradnl"/>
          </a:p>
        </p:txBody>
      </p:sp>
      <p:sp>
        <p:nvSpPr>
          <p:cNvPr id="1027" name="Rectangle 3"/>
          <p:cNvSpPr>
            <a:spLocks noGrp="1" noChangeArrowheads="1"/>
          </p:cNvSpPr>
          <p:nvPr>
            <p:ph type="body" idx="1"/>
          </p:nvPr>
        </p:nvSpPr>
        <p:spPr bwMode="auto">
          <a:xfrm>
            <a:off x="457200" y="10763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29" name="Rectangle 5"/>
          <p:cNvSpPr>
            <a:spLocks noGrp="1" noChangeArrowheads="1"/>
          </p:cNvSpPr>
          <p:nvPr>
            <p:ph type="ftr" sz="quarter" idx="3"/>
          </p:nvPr>
        </p:nvSpPr>
        <p:spPr bwMode="auto">
          <a:xfrm>
            <a:off x="6084888" y="6450013"/>
            <a:ext cx="2897187" cy="320675"/>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r">
              <a:defRPr sz="1300" b="1">
                <a:latin typeface="Verdana" pitchFamily="34" charset="0"/>
              </a:defRPr>
            </a:lvl1pPr>
          </a:lstStyle>
          <a:p>
            <a:r>
              <a:rPr lang="en-US"/>
              <a:t>www.themegallery.com</a:t>
            </a:r>
          </a:p>
        </p:txBody>
      </p:sp>
      <p:sp>
        <p:nvSpPr>
          <p:cNvPr id="1030" name="Rectangle 6"/>
          <p:cNvSpPr>
            <a:spLocks noGrp="1" noChangeArrowheads="1"/>
          </p:cNvSpPr>
          <p:nvPr>
            <p:ph type="sldNum" sz="quarter" idx="4"/>
          </p:nvPr>
        </p:nvSpPr>
        <p:spPr bwMode="auto">
          <a:xfrm>
            <a:off x="107950" y="6454775"/>
            <a:ext cx="927100" cy="239713"/>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ctr">
              <a:defRPr sz="1300" b="1">
                <a:latin typeface="Verdana" pitchFamily="34" charset="0"/>
              </a:defRPr>
            </a:lvl1pPr>
          </a:lstStyle>
          <a:p>
            <a:fld id="{BD04EC93-4901-40B8-B615-125461DCA23D}" type="slidenum">
              <a:rPr lang="en-US"/>
              <a:pPr/>
              <a:t>‹Nº›</a:t>
            </a:fld>
            <a:endParaRPr lang="en-US"/>
          </a:p>
        </p:txBody>
      </p:sp>
      <p:sp>
        <p:nvSpPr>
          <p:cNvPr id="2" name="Rectangle 2"/>
          <p:cNvSpPr>
            <a:spLocks noGrp="1" noChangeArrowheads="1"/>
          </p:cNvSpPr>
          <p:nvPr>
            <p:ph type="title"/>
          </p:nvPr>
        </p:nvSpPr>
        <p:spPr bwMode="white">
          <a:xfrm>
            <a:off x="542925" y="53975"/>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p>
            <a:pPr lvl="0"/>
            <a:r>
              <a:rPr lang="es-ES"/>
              <a:t>Haga clic para modificar el estilo de título del patrón</a:t>
            </a:r>
            <a:endParaRPr lang="en-US"/>
          </a:p>
        </p:txBody>
      </p:sp>
      <p:grpSp>
        <p:nvGrpSpPr>
          <p:cNvPr id="1031" name="Group 16"/>
          <p:cNvGrpSpPr>
            <a:grpSpLocks/>
          </p:cNvGrpSpPr>
          <p:nvPr/>
        </p:nvGrpSpPr>
        <p:grpSpPr bwMode="auto">
          <a:xfrm>
            <a:off x="-1588" y="0"/>
            <a:ext cx="9145588" cy="6858000"/>
            <a:chOff x="-1" y="0"/>
            <a:chExt cx="8065" cy="6048"/>
          </a:xfrm>
        </p:grpSpPr>
        <p:sp>
          <p:nvSpPr>
            <p:cNvPr id="1041" name="Freeform 17"/>
            <p:cNvSpPr>
              <a:spLocks/>
            </p:cNvSpPr>
            <p:nvPr/>
          </p:nvSpPr>
          <p:spPr bwMode="gray">
            <a:xfrm>
              <a:off x="-1" y="5629"/>
              <a:ext cx="389" cy="417"/>
            </a:xfrm>
            <a:custGeom>
              <a:avLst/>
              <a:gdLst/>
              <a:ahLst/>
              <a:cxnLst>
                <a:cxn ang="0">
                  <a:pos x="314" y="416"/>
                </a:cxn>
                <a:cxn ang="0">
                  <a:pos x="389" y="417"/>
                </a:cxn>
                <a:cxn ang="0">
                  <a:pos x="158" y="297"/>
                </a:cxn>
                <a:cxn ang="0">
                  <a:pos x="39" y="179"/>
                </a:cxn>
                <a:cxn ang="0">
                  <a:pos x="0" y="0"/>
                </a:cxn>
                <a:cxn ang="0">
                  <a:pos x="1" y="417"/>
                </a:cxn>
              </a:cxnLst>
              <a:rect l="0" t="0" r="r" b="b"/>
              <a:pathLst>
                <a:path w="389" h="417">
                  <a:moveTo>
                    <a:pt x="314" y="416"/>
                  </a:moveTo>
                  <a:lnTo>
                    <a:pt x="389" y="417"/>
                  </a:lnTo>
                  <a:lnTo>
                    <a:pt x="158" y="297"/>
                  </a:lnTo>
                  <a:lnTo>
                    <a:pt x="39" y="179"/>
                  </a:lnTo>
                  <a:lnTo>
                    <a:pt x="0" y="0"/>
                  </a:lnTo>
                  <a:lnTo>
                    <a:pt x="1" y="417"/>
                  </a:lnTo>
                </a:path>
              </a:pathLst>
            </a:custGeom>
            <a:solidFill>
              <a:schemeClr val="bg1"/>
            </a:solidFill>
            <a:ln w="9525">
              <a:noFill/>
              <a:round/>
              <a:headEnd/>
              <a:tailEnd/>
            </a:ln>
            <a:effectLst/>
          </p:spPr>
          <p:txBody>
            <a:bodyPr/>
            <a:lstStyle/>
            <a:p>
              <a:pPr>
                <a:defRPr/>
              </a:pPr>
              <a:endParaRPr lang="es-ES_tradnl"/>
            </a:p>
          </p:txBody>
        </p:sp>
        <p:sp>
          <p:nvSpPr>
            <p:cNvPr id="1042" name="Freeform 18"/>
            <p:cNvSpPr>
              <a:spLocks/>
            </p:cNvSpPr>
            <p:nvPr/>
          </p:nvSpPr>
          <p:spPr bwMode="gray">
            <a:xfrm>
              <a:off x="7701" y="5645"/>
              <a:ext cx="363" cy="403"/>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043" name="AutoShape 19"/>
            <p:cNvSpPr>
              <a:spLocks noChangeArrowheads="1"/>
            </p:cNvSpPr>
            <p:nvPr/>
          </p:nvSpPr>
          <p:spPr bwMode="gray">
            <a:xfrm>
              <a:off x="26" y="42"/>
              <a:ext cx="8012" cy="59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1044" name="Freeform 20"/>
            <p:cNvSpPr>
              <a:spLocks/>
            </p:cNvSpPr>
            <p:nvPr/>
          </p:nvSpPr>
          <p:spPr bwMode="gray">
            <a:xfrm>
              <a:off x="-1" y="13"/>
              <a:ext cx="405" cy="441"/>
            </a:xfrm>
            <a:custGeom>
              <a:avLst/>
              <a:gdLst/>
              <a:ahLst/>
              <a:cxnLst>
                <a:cxn ang="0">
                  <a:pos x="2" y="441"/>
                </a:cxn>
                <a:cxn ang="0">
                  <a:pos x="107" y="175"/>
                </a:cxn>
                <a:cxn ang="0">
                  <a:pos x="387" y="0"/>
                </a:cxn>
                <a:cxn ang="0">
                  <a:pos x="1" y="0"/>
                </a:cxn>
              </a:cxnLst>
              <a:rect l="0" t="0" r="r" b="b"/>
              <a:pathLst>
                <a:path w="405" h="441">
                  <a:moveTo>
                    <a:pt x="2" y="441"/>
                  </a:moveTo>
                  <a:cubicBezTo>
                    <a:pt x="19" y="397"/>
                    <a:pt x="0" y="345"/>
                    <a:pt x="107" y="175"/>
                  </a:cubicBezTo>
                  <a:cubicBezTo>
                    <a:pt x="214" y="6"/>
                    <a:pt x="405" y="16"/>
                    <a:pt x="387" y="0"/>
                  </a:cubicBezTo>
                  <a:lnTo>
                    <a:pt x="1" y="0"/>
                  </a:lnTo>
                </a:path>
              </a:pathLst>
            </a:custGeom>
            <a:solidFill>
              <a:schemeClr val="bg1"/>
            </a:solidFill>
            <a:ln w="9525">
              <a:noFill/>
              <a:round/>
              <a:headEnd/>
              <a:tailEnd/>
            </a:ln>
            <a:effectLst/>
          </p:spPr>
          <p:txBody>
            <a:bodyPr/>
            <a:lstStyle/>
            <a:p>
              <a:pPr>
                <a:defRPr/>
              </a:pPr>
              <a:endParaRPr lang="es-ES_tradnl"/>
            </a:p>
          </p:txBody>
        </p:sp>
        <p:sp>
          <p:nvSpPr>
            <p:cNvPr id="1045" name="Freeform 21"/>
            <p:cNvSpPr>
              <a:spLocks/>
            </p:cNvSpPr>
            <p:nvPr/>
          </p:nvSpPr>
          <p:spPr bwMode="gray">
            <a:xfrm>
              <a:off x="7588" y="0"/>
              <a:ext cx="470" cy="483"/>
            </a:xfrm>
            <a:custGeom>
              <a:avLst/>
              <a:gdLst/>
              <a:ahLst/>
              <a:cxnLst>
                <a:cxn ang="0">
                  <a:pos x="0" y="4"/>
                </a:cxn>
                <a:cxn ang="0">
                  <a:pos x="342" y="150"/>
                </a:cxn>
                <a:cxn ang="0">
                  <a:pos x="470" y="461"/>
                </a:cxn>
                <a:cxn ang="0">
                  <a:pos x="470" y="0"/>
                </a:cxn>
              </a:cxnLst>
              <a:rect l="0" t="0" r="r" b="b"/>
              <a:pathLst>
                <a:path w="470" h="483">
                  <a:moveTo>
                    <a:pt x="0" y="4"/>
                  </a:moveTo>
                  <a:cubicBezTo>
                    <a:pt x="57" y="28"/>
                    <a:pt x="264" y="74"/>
                    <a:pt x="342" y="150"/>
                  </a:cubicBezTo>
                  <a:cubicBezTo>
                    <a:pt x="450" y="275"/>
                    <a:pt x="452" y="483"/>
                    <a:pt x="470" y="461"/>
                  </a:cubicBezTo>
                  <a:lnTo>
                    <a:pt x="470" y="0"/>
                  </a:lnTo>
                </a:path>
              </a:pathLst>
            </a:custGeom>
            <a:solidFill>
              <a:schemeClr val="bg1"/>
            </a:solidFill>
            <a:ln w="9525">
              <a:noFill/>
              <a:round/>
              <a:headEnd/>
              <a:tailEnd/>
            </a:ln>
            <a:effectLst/>
          </p:spPr>
          <p:txBody>
            <a:bodyPr/>
            <a:lstStyle/>
            <a:p>
              <a:pPr>
                <a:defRPr/>
              </a:pPr>
              <a:endParaRPr lang="es-ES_tradnl"/>
            </a:p>
          </p:txBody>
        </p:sp>
      </p:grpSp>
      <p:sp>
        <p:nvSpPr>
          <p:cNvPr id="1046" name="Line 22"/>
          <p:cNvSpPr>
            <a:spLocks noChangeShapeType="1"/>
          </p:cNvSpPr>
          <p:nvPr/>
        </p:nvSpPr>
        <p:spPr bwMode="gray">
          <a:xfrm>
            <a:off x="323850" y="6500813"/>
            <a:ext cx="8569325" cy="0"/>
          </a:xfrm>
          <a:prstGeom prst="line">
            <a:avLst/>
          </a:prstGeom>
          <a:noFill/>
          <a:ln w="9525">
            <a:solidFill>
              <a:schemeClr val="tx1"/>
            </a:solidFill>
            <a:round/>
            <a:headEnd/>
            <a:tailEnd/>
          </a:ln>
          <a:effectLst/>
        </p:spPr>
        <p:txBody>
          <a:bodyPr/>
          <a:lstStyle/>
          <a:p>
            <a:pPr>
              <a:defRPr/>
            </a:pPr>
            <a:endParaRPr lang="es-ES_tradnl"/>
          </a:p>
        </p:txBody>
      </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p:titleStyle>
    <p:body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sz="3200" dirty="0" err="1"/>
              <a:t>Aplicaci</a:t>
            </a:r>
            <a:r>
              <a:rPr lang="es-ES" sz="3200" dirty="0"/>
              <a:t>ón de las estructuras de almacenamiento</a:t>
            </a:r>
            <a:endParaRPr lang="en-US" sz="3200" dirty="0"/>
          </a:p>
        </p:txBody>
      </p:sp>
      <p:sp>
        <p:nvSpPr>
          <p:cNvPr id="3075" name="Rectangle 3"/>
          <p:cNvSpPr>
            <a:spLocks noGrp="1" noChangeArrowheads="1"/>
          </p:cNvSpPr>
          <p:nvPr>
            <p:ph type="subTitle" idx="1"/>
          </p:nvPr>
        </p:nvSpPr>
        <p:spPr>
          <a:xfrm>
            <a:off x="990600" y="2122488"/>
            <a:ext cx="7086600" cy="434975"/>
          </a:xfrm>
        </p:spPr>
        <p:txBody>
          <a:bodyPr/>
          <a:lstStyle/>
          <a:p>
            <a:r>
              <a:rPr lang="en-US" dirty="0"/>
              <a:t>UNIDAD 5</a:t>
            </a:r>
          </a:p>
        </p:txBody>
      </p:sp>
      <p:sp>
        <p:nvSpPr>
          <p:cNvPr id="4" name="3 Botón de acción: Hacia delante o Siguiente">
            <a:hlinkClick r:id="" action="ppaction://hlinkshowjump?jump=nextslide" highlightClick="1"/>
          </p:cNvPr>
          <p:cNvSpPr/>
          <p:nvPr/>
        </p:nvSpPr>
        <p:spPr bwMode="auto">
          <a:xfrm>
            <a:off x="8426864" y="290916"/>
            <a:ext cx="521208" cy="521208"/>
          </a:xfrm>
          <a:prstGeom prst="actionButtonForwardNext">
            <a:avLst/>
          </a:prstGeom>
          <a:solidFill>
            <a:srgbClr val="00B0F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Contenido</a:t>
            </a:r>
          </a:p>
        </p:txBody>
      </p:sp>
      <p:sp>
        <p:nvSpPr>
          <p:cNvPr id="3" name="Marcador de contenido 2"/>
          <p:cNvSpPr>
            <a:spLocks noGrp="1"/>
          </p:cNvSpPr>
          <p:nvPr>
            <p:ph idx="1"/>
          </p:nvPr>
        </p:nvSpPr>
        <p:spPr/>
        <p:txBody>
          <a:bodyPr/>
          <a:lstStyle/>
          <a:p>
            <a:pPr marL="0" indent="0">
              <a:buNone/>
            </a:pPr>
            <a:r>
              <a:rPr lang="es-ES_tradnl" sz="1800" dirty="0"/>
              <a:t>R.A.6: Escribe programas que manipulen información seleccionando y utilizando tipos avanzados de datos.</a:t>
            </a:r>
          </a:p>
          <a:p>
            <a:pPr marL="0" indent="0">
              <a:buNone/>
            </a:pPr>
            <a:endParaRPr lang="es-ES_tradnl" dirty="0"/>
          </a:p>
        </p:txBody>
      </p:sp>
      <p:pic>
        <p:nvPicPr>
          <p:cNvPr id="5" name="Imagen 4"/>
          <p:cNvPicPr>
            <a:picLocks noChangeAspect="1"/>
          </p:cNvPicPr>
          <p:nvPr/>
        </p:nvPicPr>
        <p:blipFill>
          <a:blip r:embed="rId2"/>
          <a:stretch>
            <a:fillRect/>
          </a:stretch>
        </p:blipFill>
        <p:spPr>
          <a:xfrm>
            <a:off x="737118" y="1782147"/>
            <a:ext cx="7781731" cy="4462923"/>
          </a:xfrm>
          <a:prstGeom prst="rect">
            <a:avLst/>
          </a:prstGeom>
        </p:spPr>
      </p:pic>
    </p:spTree>
    <p:extLst>
      <p:ext uri="{BB962C8B-B14F-4D97-AF65-F5344CB8AC3E}">
        <p14:creationId xmlns:p14="http://schemas.microsoft.com/office/powerpoint/2010/main" val="6269486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Contenido</a:t>
            </a:r>
          </a:p>
        </p:txBody>
      </p:sp>
      <p:sp>
        <p:nvSpPr>
          <p:cNvPr id="5" name="CuadroTexto 4"/>
          <p:cNvSpPr txBox="1"/>
          <p:nvPr/>
        </p:nvSpPr>
        <p:spPr>
          <a:xfrm>
            <a:off x="899592" y="2492896"/>
            <a:ext cx="7036321" cy="1323439"/>
          </a:xfrm>
          <a:prstGeom prst="rect">
            <a:avLst/>
          </a:prstGeom>
          <a:noFill/>
        </p:spPr>
        <p:txBody>
          <a:bodyPr wrap="square" rtlCol="0">
            <a:spAutoFit/>
          </a:bodyPr>
          <a:lstStyle/>
          <a:p>
            <a:pPr algn="ctr"/>
            <a:r>
              <a:rPr lang="es-ES" sz="4000" dirty="0"/>
              <a:t>CLASES Y MÉTODOS GENÉRICOS</a:t>
            </a:r>
            <a:endParaRPr lang="es-ES_tradnl" sz="4000" dirty="0"/>
          </a:p>
        </p:txBody>
      </p:sp>
    </p:spTree>
    <p:extLst>
      <p:ext uri="{BB962C8B-B14F-4D97-AF65-F5344CB8AC3E}">
        <p14:creationId xmlns:p14="http://schemas.microsoft.com/office/powerpoint/2010/main" val="19058336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Programación genérica</a:t>
            </a:r>
            <a:endParaRPr lang="es-ES" dirty="0"/>
          </a:p>
        </p:txBody>
      </p:sp>
      <p:sp>
        <p:nvSpPr>
          <p:cNvPr id="3" name="Marcador de contenido 2"/>
          <p:cNvSpPr>
            <a:spLocks noGrp="1"/>
          </p:cNvSpPr>
          <p:nvPr>
            <p:ph idx="1"/>
          </p:nvPr>
        </p:nvSpPr>
        <p:spPr/>
        <p:txBody>
          <a:bodyPr/>
          <a:lstStyle/>
          <a:p>
            <a:r>
              <a:rPr lang="es-ES" b="0" dirty="0"/>
              <a:t>La </a:t>
            </a:r>
            <a:r>
              <a:rPr lang="es-ES" dirty="0"/>
              <a:t>programación genérica en Java</a:t>
            </a:r>
            <a:r>
              <a:rPr lang="es-ES" b="0" dirty="0"/>
              <a:t> permite escribir código que luego podrá ser reutilizado con diversos tipos de datos. </a:t>
            </a:r>
            <a:endParaRPr lang="es-ES" b="0" dirty="0" smtClean="0"/>
          </a:p>
          <a:p>
            <a:pPr marL="0" indent="0">
              <a:buNone/>
            </a:pPr>
            <a:endParaRPr lang="es-ES" b="0" dirty="0" smtClean="0"/>
          </a:p>
          <a:p>
            <a:r>
              <a:rPr lang="es-ES" b="0" dirty="0" smtClean="0"/>
              <a:t>Es una forma de programar que </a:t>
            </a:r>
            <a:r>
              <a:rPr lang="es-ES" b="0" dirty="0"/>
              <a:t>disminuye la cantidad de clases y métodos que se deben construir para cada aplicación que se desarrolla, puesto que permite reciclar lo que se ha escrito previamente</a:t>
            </a:r>
            <a:r>
              <a:rPr lang="es-ES" b="0" dirty="0" smtClean="0"/>
              <a:t>.</a:t>
            </a:r>
          </a:p>
          <a:p>
            <a:endParaRPr lang="es-ES" b="0" dirty="0"/>
          </a:p>
          <a:p>
            <a:r>
              <a:rPr lang="es-ES" b="0" dirty="0"/>
              <a:t>El uso de los tipos genéricos obedece a la necesidad de disponer de clases, interfaces o métodos que se puedan usar con muchos tipos de datos distintos</a:t>
            </a:r>
          </a:p>
        </p:txBody>
      </p:sp>
    </p:spTree>
    <p:extLst>
      <p:ext uri="{BB962C8B-B14F-4D97-AF65-F5344CB8AC3E}">
        <p14:creationId xmlns:p14="http://schemas.microsoft.com/office/powerpoint/2010/main" val="993594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42924" y="53975"/>
            <a:ext cx="7989515" cy="563563"/>
          </a:xfrm>
        </p:spPr>
        <p:txBody>
          <a:bodyPr/>
          <a:lstStyle/>
          <a:p>
            <a:r>
              <a:rPr lang="es-ES" dirty="0"/>
              <a:t>Métodos genéricos</a:t>
            </a:r>
          </a:p>
        </p:txBody>
      </p:sp>
      <p:grpSp>
        <p:nvGrpSpPr>
          <p:cNvPr id="3" name="2 Grupo"/>
          <p:cNvGrpSpPr/>
          <p:nvPr/>
        </p:nvGrpSpPr>
        <p:grpSpPr>
          <a:xfrm>
            <a:off x="2399138" y="1052736"/>
            <a:ext cx="4045070" cy="2520280"/>
            <a:chOff x="2399138" y="1052736"/>
            <a:chExt cx="4045070" cy="2520280"/>
          </a:xfrm>
        </p:grpSpPr>
        <p:sp>
          <p:nvSpPr>
            <p:cNvPr id="5" name="4 Rectángulo"/>
            <p:cNvSpPr/>
            <p:nvPr/>
          </p:nvSpPr>
          <p:spPr bwMode="auto">
            <a:xfrm>
              <a:off x="2399138" y="1052736"/>
              <a:ext cx="3888432" cy="252028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 name="Rectangle 3"/>
            <p:cNvSpPr txBox="1">
              <a:spLocks noChangeArrowheads="1"/>
            </p:cNvSpPr>
            <p:nvPr/>
          </p:nvSpPr>
          <p:spPr bwMode="auto">
            <a:xfrm>
              <a:off x="2615162" y="1124744"/>
              <a:ext cx="3829046" cy="19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static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main(</a:t>
              </a:r>
              <a:r>
                <a:rPr lang="en-US" sz="1400" kern="0" dirty="0">
                  <a:solidFill>
                    <a:schemeClr val="accent1"/>
                  </a:solidFill>
                  <a:latin typeface="Adobe Fan Heiti Std B" pitchFamily="34" charset="-128"/>
                  <a:ea typeface="Adobe Fan Heiti Std B" pitchFamily="34" charset="-128"/>
                </a:rPr>
                <a:t>String[] </a:t>
              </a:r>
              <a:r>
                <a:rPr lang="en-US" sz="1400" kern="0" dirty="0" err="1">
                  <a:solidFill>
                    <a:srgbClr val="000000"/>
                  </a:solidFill>
                  <a:latin typeface="Adobe Fan Heiti Std B" pitchFamily="34" charset="-128"/>
                  <a:ea typeface="Adobe Fan Heiti Std B" pitchFamily="34" charset="-128"/>
                </a:rPr>
                <a:t>args</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p>
            <a:p>
              <a:pPr marL="0" indent="0">
                <a:buNone/>
              </a:pPr>
              <a:r>
                <a:rPr lang="en-US" sz="1400" kern="0" dirty="0">
                  <a:solidFill>
                    <a:schemeClr val="accent1"/>
                  </a:solidFill>
                  <a:latin typeface="Adobe Fan Heiti Std B" pitchFamily="34" charset="-128"/>
                  <a:ea typeface="Adobe Fan Heiti Std B" pitchFamily="34" charset="-128"/>
                </a:rPr>
                <a:t>        Integer </a:t>
              </a:r>
              <a:r>
                <a:rPr lang="en-US" sz="1400" kern="0" dirty="0" err="1">
                  <a:solidFill>
                    <a:srgbClr val="000000"/>
                  </a:solidFill>
                  <a:latin typeface="Adobe Fan Heiti Std B" pitchFamily="34" charset="-128"/>
                  <a:ea typeface="Adobe Fan Heiti Std B" pitchFamily="34" charset="-128"/>
                </a:rPr>
                <a:t>entero</a:t>
              </a:r>
              <a:r>
                <a:rPr lang="en-US" sz="1400" kern="0" dirty="0">
                  <a:solidFill>
                    <a:srgbClr val="000000"/>
                  </a:solidFill>
                  <a:latin typeface="Adobe Fan Heiti Std B" pitchFamily="34" charset="-128"/>
                  <a:ea typeface="Adobe Fan Heiti Std B" pitchFamily="34" charset="-128"/>
                </a:rPr>
                <a:t> = </a:t>
              </a:r>
              <a:r>
                <a:rPr lang="en-US" sz="1400" kern="0" dirty="0">
                  <a:solidFill>
                    <a:srgbClr val="00B050"/>
                  </a:solidFill>
                  <a:latin typeface="Adobe Fan Heiti Std B" pitchFamily="34" charset="-128"/>
                  <a:ea typeface="Adobe Fan Heiti Std B" pitchFamily="34" charset="-128"/>
                </a:rPr>
                <a:t>5</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Float </a:t>
              </a:r>
              <a:r>
                <a:rPr lang="en-US" sz="1400" kern="0" dirty="0">
                  <a:solidFill>
                    <a:srgbClr val="000000"/>
                  </a:solidFill>
                  <a:latin typeface="Adobe Fan Heiti Std B" pitchFamily="34" charset="-128"/>
                  <a:ea typeface="Adobe Fan Heiti Std B" pitchFamily="34" charset="-128"/>
                </a:rPr>
                <a:t>decimal = </a:t>
              </a:r>
              <a:r>
                <a:rPr lang="en-US" sz="1400" kern="0" dirty="0">
                  <a:solidFill>
                    <a:srgbClr val="00B050"/>
                  </a:solidFill>
                  <a:latin typeface="Adobe Fan Heiti Std B" pitchFamily="34" charset="-128"/>
                  <a:ea typeface="Adobe Fan Heiti Std B" pitchFamily="34" charset="-128"/>
                </a:rPr>
                <a:t>6.6F</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String </a:t>
              </a:r>
              <a:r>
                <a:rPr lang="en-US" sz="1400" kern="0" dirty="0" err="1">
                  <a:solidFill>
                    <a:srgbClr val="000000"/>
                  </a:solidFill>
                  <a:latin typeface="Adobe Fan Heiti Std B" pitchFamily="34" charset="-128"/>
                  <a:ea typeface="Adobe Fan Heiti Std B" pitchFamily="34" charset="-128"/>
                </a:rPr>
                <a:t>cadena</a:t>
              </a:r>
              <a:r>
                <a:rPr lang="en-US" sz="1400" kern="0" dirty="0">
                  <a:solidFill>
                    <a:srgbClr val="000000"/>
                  </a:solidFill>
                  <a:latin typeface="Adobe Fan Heiti Std B" pitchFamily="34" charset="-128"/>
                  <a:ea typeface="Adobe Fan Heiti Std B" pitchFamily="34" charset="-128"/>
                </a:rPr>
                <a:t> = </a:t>
              </a:r>
              <a:r>
                <a:rPr lang="en-US" sz="1400" kern="0" dirty="0">
                  <a:solidFill>
                    <a:srgbClr val="00B050"/>
                  </a:solidFill>
                  <a:latin typeface="Adobe Fan Heiti Std B" pitchFamily="34" charset="-128"/>
                  <a:ea typeface="Adobe Fan Heiti Std B" pitchFamily="34" charset="-128"/>
                </a:rPr>
                <a:t>"</a:t>
              </a:r>
              <a:r>
                <a:rPr lang="en-US" sz="1400" kern="0" dirty="0" err="1">
                  <a:solidFill>
                    <a:srgbClr val="00B050"/>
                  </a:solidFill>
                  <a:latin typeface="Adobe Fan Heiti Std B" pitchFamily="34" charset="-128"/>
                  <a:ea typeface="Adobe Fan Heiti Std B" pitchFamily="34" charset="-128"/>
                </a:rPr>
                <a:t>Hola</a:t>
              </a:r>
              <a:r>
                <a:rPr lang="en-US" sz="1400" kern="0" dirty="0">
                  <a:solidFill>
                    <a:srgbClr val="00B050"/>
                  </a:solidFill>
                  <a:latin typeface="Adobe Fan Heiti Std B" pitchFamily="34" charset="-128"/>
                  <a:ea typeface="Adobe Fan Heiti Std B" pitchFamily="34" charset="-128"/>
                </a:rPr>
                <a:t>"</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p>
            <a:p>
              <a:pPr marL="0" indent="0">
                <a:buNone/>
              </a:pPr>
              <a:r>
                <a:rPr lang="en-US" sz="1400" kern="0" dirty="0">
                  <a:solidFill>
                    <a:schemeClr val="accent1"/>
                  </a:solidFill>
                  <a:latin typeface="Adobe Fan Heiti Std B" pitchFamily="34" charset="-128"/>
                  <a:ea typeface="Adobe Fan Heiti Std B" pitchFamily="34" charset="-128"/>
                </a:rPr>
                <a:t>        eco(</a:t>
              </a:r>
              <a:r>
                <a:rPr lang="en-US" sz="1400" kern="0" dirty="0" err="1">
                  <a:solidFill>
                    <a:schemeClr val="accent1"/>
                  </a:solidFill>
                  <a:latin typeface="Adobe Fan Heiti Std B" pitchFamily="34" charset="-128"/>
                  <a:ea typeface="Adobe Fan Heiti Std B" pitchFamily="34" charset="-128"/>
                </a:rPr>
                <a:t>entero</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eco(decimal);</a:t>
              </a:r>
            </a:p>
            <a:p>
              <a:pPr marL="0" indent="0">
                <a:buNone/>
              </a:pPr>
              <a:r>
                <a:rPr lang="en-US" sz="1400" kern="0" dirty="0">
                  <a:solidFill>
                    <a:schemeClr val="accent1"/>
                  </a:solidFill>
                  <a:latin typeface="Adobe Fan Heiti Std B" pitchFamily="34" charset="-128"/>
                  <a:ea typeface="Adobe Fan Heiti Std B" pitchFamily="34" charset="-128"/>
                </a:rPr>
                <a:t>        eco(</a:t>
              </a:r>
              <a:r>
                <a:rPr lang="en-US" sz="1400" kern="0" dirty="0" err="1">
                  <a:solidFill>
                    <a:schemeClr val="accent1"/>
                  </a:solidFill>
                  <a:latin typeface="Adobe Fan Heiti Std B" pitchFamily="34" charset="-128"/>
                  <a:ea typeface="Adobe Fan Heiti Std B" pitchFamily="34" charset="-128"/>
                </a:rPr>
                <a:t>cadena</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p:txBody>
        </p:sp>
      </p:grpSp>
      <p:grpSp>
        <p:nvGrpSpPr>
          <p:cNvPr id="15" name="14 Grupo"/>
          <p:cNvGrpSpPr/>
          <p:nvPr/>
        </p:nvGrpSpPr>
        <p:grpSpPr>
          <a:xfrm>
            <a:off x="539552" y="3869432"/>
            <a:ext cx="3234423" cy="1431777"/>
            <a:chOff x="251520" y="3869432"/>
            <a:chExt cx="3234423" cy="1431777"/>
          </a:xfrm>
        </p:grpSpPr>
        <p:sp>
          <p:nvSpPr>
            <p:cNvPr id="9" name="8 Rectángulo"/>
            <p:cNvSpPr/>
            <p:nvPr/>
          </p:nvSpPr>
          <p:spPr bwMode="auto">
            <a:xfrm>
              <a:off x="251520" y="3869432"/>
              <a:ext cx="3234423" cy="143177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 name="Rectangle 3"/>
            <p:cNvSpPr txBox="1">
              <a:spLocks noChangeArrowheads="1"/>
            </p:cNvSpPr>
            <p:nvPr/>
          </p:nvSpPr>
          <p:spPr bwMode="auto">
            <a:xfrm>
              <a:off x="389599" y="3941441"/>
              <a:ext cx="3018399" cy="135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static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chemeClr val="accent1"/>
                  </a:solidFill>
                  <a:latin typeface="Adobe Fan Heiti Std B" pitchFamily="34" charset="-128"/>
                  <a:ea typeface="Adobe Fan Heiti Std B" pitchFamily="34" charset="-128"/>
                </a:rPr>
                <a:t>Integer </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grpSp>
      <p:grpSp>
        <p:nvGrpSpPr>
          <p:cNvPr id="18" name="17 Grupo"/>
          <p:cNvGrpSpPr/>
          <p:nvPr/>
        </p:nvGrpSpPr>
        <p:grpSpPr>
          <a:xfrm>
            <a:off x="3047188" y="4429967"/>
            <a:ext cx="3234423" cy="1431777"/>
            <a:chOff x="2852338" y="4293095"/>
            <a:chExt cx="3234423" cy="1431777"/>
          </a:xfrm>
        </p:grpSpPr>
        <p:sp>
          <p:nvSpPr>
            <p:cNvPr id="19" name="18 Rectángulo"/>
            <p:cNvSpPr/>
            <p:nvPr/>
          </p:nvSpPr>
          <p:spPr bwMode="auto">
            <a:xfrm>
              <a:off x="2852338" y="4293095"/>
              <a:ext cx="3234423" cy="143177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0" name="Rectangle 3"/>
            <p:cNvSpPr txBox="1">
              <a:spLocks noChangeArrowheads="1"/>
            </p:cNvSpPr>
            <p:nvPr/>
          </p:nvSpPr>
          <p:spPr bwMode="auto">
            <a:xfrm>
              <a:off x="2990417" y="4365104"/>
              <a:ext cx="3018399" cy="135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static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chemeClr val="accent1"/>
                  </a:solidFill>
                  <a:latin typeface="Adobe Fan Heiti Std B" pitchFamily="34" charset="-128"/>
                  <a:ea typeface="Adobe Fan Heiti Std B" pitchFamily="34" charset="-128"/>
                </a:rPr>
                <a:t>Float </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grpSp>
      <p:grpSp>
        <p:nvGrpSpPr>
          <p:cNvPr id="17" name="16 Grupo"/>
          <p:cNvGrpSpPr/>
          <p:nvPr/>
        </p:nvGrpSpPr>
        <p:grpSpPr>
          <a:xfrm>
            <a:off x="5514041" y="4797152"/>
            <a:ext cx="3234423" cy="1431777"/>
            <a:chOff x="5226009" y="4797152"/>
            <a:chExt cx="3234423" cy="1431777"/>
          </a:xfrm>
        </p:grpSpPr>
        <p:sp>
          <p:nvSpPr>
            <p:cNvPr id="13" name="12 Rectángulo"/>
            <p:cNvSpPr/>
            <p:nvPr/>
          </p:nvSpPr>
          <p:spPr bwMode="auto">
            <a:xfrm>
              <a:off x="5226009" y="4797152"/>
              <a:ext cx="3234423" cy="143177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4" name="Rectangle 3"/>
            <p:cNvSpPr txBox="1">
              <a:spLocks noChangeArrowheads="1"/>
            </p:cNvSpPr>
            <p:nvPr/>
          </p:nvSpPr>
          <p:spPr bwMode="auto">
            <a:xfrm>
              <a:off x="5364088" y="4869161"/>
              <a:ext cx="3018399" cy="135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static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chemeClr val="accent1"/>
                  </a:solidFill>
                  <a:latin typeface="Adobe Fan Heiti Std B" pitchFamily="34" charset="-128"/>
                  <a:ea typeface="Adobe Fan Heiti Std B" pitchFamily="34" charset="-128"/>
                </a:rPr>
                <a:t>String </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grpSp>
      <p:grpSp>
        <p:nvGrpSpPr>
          <p:cNvPr id="16" name="15 Grupo"/>
          <p:cNvGrpSpPr/>
          <p:nvPr/>
        </p:nvGrpSpPr>
        <p:grpSpPr>
          <a:xfrm>
            <a:off x="2631648" y="4117268"/>
            <a:ext cx="3567427" cy="1431777"/>
            <a:chOff x="2852338" y="4293095"/>
            <a:chExt cx="3234423" cy="1431777"/>
          </a:xfrm>
        </p:grpSpPr>
        <p:sp>
          <p:nvSpPr>
            <p:cNvPr id="11" name="10 Rectángulo"/>
            <p:cNvSpPr/>
            <p:nvPr/>
          </p:nvSpPr>
          <p:spPr bwMode="auto">
            <a:xfrm>
              <a:off x="2852338" y="4293095"/>
              <a:ext cx="3234423" cy="143177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 name="Rectangle 3"/>
            <p:cNvSpPr txBox="1">
              <a:spLocks noChangeArrowheads="1"/>
            </p:cNvSpPr>
            <p:nvPr/>
          </p:nvSpPr>
          <p:spPr bwMode="auto">
            <a:xfrm>
              <a:off x="2990417" y="4365104"/>
              <a:ext cx="3018399" cy="135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static </a:t>
              </a:r>
              <a:r>
                <a:rPr lang="en-US" sz="1400" kern="0" dirty="0">
                  <a:solidFill>
                    <a:srgbClr val="00B050"/>
                  </a:solidFill>
                  <a:latin typeface="Arial Black" panose="020B0A04020102020204" pitchFamily="34" charset="0"/>
                  <a:ea typeface="Adobe Fan Heiti Std B" pitchFamily="34" charset="-128"/>
                </a:rPr>
                <a:t>&lt;T&gt;</a:t>
              </a:r>
              <a:r>
                <a:rPr lang="en-US" sz="1400" kern="0" dirty="0">
                  <a:solidFill>
                    <a:schemeClr val="bg1">
                      <a:lumMod val="50000"/>
                    </a:schemeClr>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rgbClr val="00B050"/>
                  </a:solidFill>
                  <a:latin typeface="Arial Black" panose="020B0A04020102020204" pitchFamily="34" charset="0"/>
                  <a:ea typeface="Adobe Fan Heiti Std B" pitchFamily="34" charset="-128"/>
                </a:rPr>
                <a:t>T</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grpSp>
      <p:grpSp>
        <p:nvGrpSpPr>
          <p:cNvPr id="23" name="15 Grupo"/>
          <p:cNvGrpSpPr/>
          <p:nvPr/>
        </p:nvGrpSpPr>
        <p:grpSpPr>
          <a:xfrm>
            <a:off x="2631820" y="4120459"/>
            <a:ext cx="3567427" cy="1431777"/>
            <a:chOff x="2852338" y="4293095"/>
            <a:chExt cx="3234423" cy="1431777"/>
          </a:xfrm>
        </p:grpSpPr>
        <p:sp>
          <p:nvSpPr>
            <p:cNvPr id="24" name="10 Rectángulo"/>
            <p:cNvSpPr/>
            <p:nvPr/>
          </p:nvSpPr>
          <p:spPr bwMode="auto">
            <a:xfrm>
              <a:off x="2852338" y="4293095"/>
              <a:ext cx="3234423" cy="143177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5" name="Rectangle 3"/>
            <p:cNvSpPr txBox="1">
              <a:spLocks noChangeArrowheads="1"/>
            </p:cNvSpPr>
            <p:nvPr/>
          </p:nvSpPr>
          <p:spPr bwMode="auto">
            <a:xfrm>
              <a:off x="2990417" y="4365104"/>
              <a:ext cx="3018399" cy="1359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static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rgbClr val="00B050"/>
                  </a:solidFill>
                  <a:latin typeface="Arial Black" panose="020B0A04020102020204" pitchFamily="34" charset="0"/>
                  <a:ea typeface="Adobe Fan Heiti Std B" pitchFamily="34" charset="-128"/>
                </a:rPr>
                <a:t>Object</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70C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err="1">
                  <a:solidFill>
                    <a:srgbClr val="000000"/>
                  </a:solidFill>
                  <a:latin typeface="Adobe Fan Heiti Std B" pitchFamily="34" charset="-128"/>
                  <a:ea typeface="Adobe Fan Heiti Std B" pitchFamily="34" charset="-128"/>
                </a:rPr>
                <a:t>contenido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grpSp>
    </p:spTree>
    <p:extLst>
      <p:ext uri="{BB962C8B-B14F-4D97-AF65-F5344CB8AC3E}">
        <p14:creationId xmlns:p14="http://schemas.microsoft.com/office/powerpoint/2010/main" val="4523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 calcmode="lin" valueType="num">
                                      <p:cBhvr>
                                        <p:cTn id="14" dur="500" fill="hold"/>
                                        <p:tgtEl>
                                          <p:spTgt spid="18"/>
                                        </p:tgtEl>
                                        <p:attrNameLst>
                                          <p:attrName>ppt_w</p:attrName>
                                        </p:attrNameLst>
                                      </p:cBhvr>
                                      <p:tavLst>
                                        <p:tav tm="0">
                                          <p:val>
                                            <p:fltVal val="0"/>
                                          </p:val>
                                        </p:tav>
                                        <p:tav tm="100000">
                                          <p:val>
                                            <p:strVal val="#ppt_w"/>
                                          </p:val>
                                        </p:tav>
                                      </p:tavLst>
                                    </p:anim>
                                    <p:anim calcmode="lin" valueType="num">
                                      <p:cBhvr>
                                        <p:cTn id="15" dur="500" fill="hold"/>
                                        <p:tgtEl>
                                          <p:spTgt spid="18"/>
                                        </p:tgtEl>
                                        <p:attrNameLst>
                                          <p:attrName>ppt_h</p:attrName>
                                        </p:attrNameLst>
                                      </p:cBhvr>
                                      <p:tavLst>
                                        <p:tav tm="0">
                                          <p:val>
                                            <p:fltVal val="0"/>
                                          </p:val>
                                        </p:tav>
                                        <p:tav tm="100000">
                                          <p:val>
                                            <p:strVal val="#ppt_h"/>
                                          </p:val>
                                        </p:tav>
                                      </p:tavLst>
                                    </p:anim>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5"/>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18"/>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17"/>
                                        </p:tgtEl>
                                        <p:attrNameLst>
                                          <p:attrName>style.visibility</p:attrName>
                                        </p:attrNameLst>
                                      </p:cBhvr>
                                      <p:to>
                                        <p:strVal val="hidden"/>
                                      </p:to>
                                    </p:set>
                                  </p:childTnLst>
                                </p:cTn>
                              </p:par>
                              <p:par>
                                <p:cTn id="32" presetID="53" presetClass="entr" presetSubtype="16"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500" fill="hold"/>
                                        <p:tgtEl>
                                          <p:spTgt spid="23"/>
                                        </p:tgtEl>
                                        <p:attrNameLst>
                                          <p:attrName>ppt_w</p:attrName>
                                        </p:attrNameLst>
                                      </p:cBhvr>
                                      <p:tavLst>
                                        <p:tav tm="0">
                                          <p:val>
                                            <p:fltVal val="0"/>
                                          </p:val>
                                        </p:tav>
                                        <p:tav tm="100000">
                                          <p:val>
                                            <p:strVal val="#ppt_w"/>
                                          </p:val>
                                        </p:tav>
                                      </p:tavLst>
                                    </p:anim>
                                    <p:anim calcmode="lin" valueType="num">
                                      <p:cBhvr>
                                        <p:cTn id="42" dur="500" fill="hold"/>
                                        <p:tgtEl>
                                          <p:spTgt spid="23"/>
                                        </p:tgtEl>
                                        <p:attrNameLst>
                                          <p:attrName>ppt_h</p:attrName>
                                        </p:attrNameLst>
                                      </p:cBhvr>
                                      <p:tavLst>
                                        <p:tav tm="0">
                                          <p:val>
                                            <p:fltVal val="0"/>
                                          </p:val>
                                        </p:tav>
                                        <p:tav tm="100000">
                                          <p:val>
                                            <p:strVal val="#ppt_h"/>
                                          </p:val>
                                        </p:tav>
                                      </p:tavLst>
                                    </p:anim>
                                    <p:animEffect transition="in" filter="fade">
                                      <p:cBhvr>
                                        <p:cTn id="43" dur="500"/>
                                        <p:tgtEl>
                                          <p:spTgt spid="23"/>
                                        </p:tgtEl>
                                      </p:cBhvr>
                                    </p:animEffect>
                                  </p:childTnLst>
                                </p:cTn>
                              </p:par>
                              <p:par>
                                <p:cTn id="44" presetID="1" presetClass="exit" presetSubtype="0" fill="hold" nodeType="withEffect">
                                  <p:stCondLst>
                                    <p:cond delay="0"/>
                                  </p:stCondLst>
                                  <p:childTnLst>
                                    <p:set>
                                      <p:cBhvr>
                                        <p:cTn id="45"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42924" y="53975"/>
            <a:ext cx="8143875" cy="563563"/>
          </a:xfrm>
        </p:spPr>
        <p:txBody>
          <a:bodyPr/>
          <a:lstStyle/>
          <a:p>
            <a:r>
              <a:rPr lang="es-ES" dirty="0" smtClean="0"/>
              <a:t>¿Para qué sirve la programación </a:t>
            </a:r>
            <a:r>
              <a:rPr lang="es-ES" dirty="0" err="1" smtClean="0"/>
              <a:t>générica</a:t>
            </a:r>
            <a:r>
              <a:rPr lang="es-ES" dirty="0" smtClean="0"/>
              <a:t>?</a:t>
            </a:r>
            <a:endParaRPr lang="es-ES" dirty="0"/>
          </a:p>
        </p:txBody>
      </p:sp>
      <p:sp>
        <p:nvSpPr>
          <p:cNvPr id="3" name="Marcador de contenido 2"/>
          <p:cNvSpPr>
            <a:spLocks noGrp="1"/>
          </p:cNvSpPr>
          <p:nvPr>
            <p:ph idx="1"/>
          </p:nvPr>
        </p:nvSpPr>
        <p:spPr/>
        <p:txBody>
          <a:bodyPr/>
          <a:lstStyle/>
          <a:p>
            <a:r>
              <a:rPr lang="es-ES" dirty="0" smtClean="0"/>
              <a:t>Reutilizar </a:t>
            </a:r>
            <a:r>
              <a:rPr lang="es-ES" dirty="0"/>
              <a:t>código.</a:t>
            </a:r>
          </a:p>
          <a:p>
            <a:r>
              <a:rPr lang="es-ES" b="0" dirty="0"/>
              <a:t>Con la programación genérica en Java, no es necesario crear una clase diferente para cada tipo de objeto que se va a manejar. De hecho, se puede escribir un método o una clase y usarlo para cada tipo lo requiera. </a:t>
            </a:r>
          </a:p>
          <a:p>
            <a:r>
              <a:rPr lang="es-ES" dirty="0"/>
              <a:t>Reducir errores en tiempo de ejecución.</a:t>
            </a:r>
          </a:p>
          <a:p>
            <a:r>
              <a:rPr lang="es-ES" b="0" dirty="0"/>
              <a:t>Si hay errores en el código que tengan que ver con los tipos de datos que se han empleado, en la programación genérica estos serán detectables mientras se va compilando, no durante la ejecución final del programa</a:t>
            </a:r>
            <a:r>
              <a:rPr lang="es-ES" b="0" dirty="0" smtClean="0"/>
              <a:t>.</a:t>
            </a:r>
            <a:endParaRPr lang="es-ES" b="0" dirty="0"/>
          </a:p>
        </p:txBody>
      </p:sp>
    </p:spTree>
    <p:extLst>
      <p:ext uri="{BB962C8B-B14F-4D97-AF65-F5344CB8AC3E}">
        <p14:creationId xmlns:p14="http://schemas.microsoft.com/office/powerpoint/2010/main" val="2535176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2 Marcador de contenido"/>
          <p:cNvSpPr txBox="1">
            <a:spLocks/>
          </p:cNvSpPr>
          <p:nvPr/>
        </p:nvSpPr>
        <p:spPr bwMode="auto">
          <a:xfrm>
            <a:off x="648758" y="3814440"/>
            <a:ext cx="7878498"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dirty="0"/>
              <a:t>Como desconocemos el tipo objeto recibido, sólo podemos llamar a métodos comunes a cualquier objeto, como por ejemplo </a:t>
            </a:r>
            <a:r>
              <a:rPr lang="es-ES" sz="1600" kern="0" dirty="0" err="1"/>
              <a:t>toString</a:t>
            </a:r>
            <a:r>
              <a:rPr lang="es-ES" sz="1600" kern="0" dirty="0"/>
              <a:t>().</a:t>
            </a:r>
          </a:p>
        </p:txBody>
      </p:sp>
      <p:sp>
        <p:nvSpPr>
          <p:cNvPr id="11" name="10 Rectángulo"/>
          <p:cNvSpPr/>
          <p:nvPr/>
        </p:nvSpPr>
        <p:spPr bwMode="auto">
          <a:xfrm>
            <a:off x="1691680" y="2158256"/>
            <a:ext cx="5362500" cy="144435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7" name="Rectangle 3"/>
          <p:cNvSpPr txBox="1">
            <a:spLocks noChangeArrowheads="1"/>
          </p:cNvSpPr>
          <p:nvPr/>
        </p:nvSpPr>
        <p:spPr bwMode="auto">
          <a:xfrm>
            <a:off x="1887774" y="2345042"/>
            <a:ext cx="5962848" cy="111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rgbClr val="00B050"/>
                </a:solidFill>
                <a:latin typeface="Arial Black" panose="020B0A04020102020204" pitchFamily="34" charset="0"/>
                <a:ea typeface="Adobe Fan Heiti Std B" pitchFamily="34" charset="-128"/>
              </a:rPr>
              <a:t>&lt;T </a:t>
            </a:r>
            <a:r>
              <a:rPr lang="en-US" sz="1400" kern="0" dirty="0">
                <a:solidFill>
                  <a:srgbClr val="F8A602"/>
                </a:solidFill>
                <a:latin typeface="Arial Black" panose="020B0A04020102020204" pitchFamily="34" charset="0"/>
                <a:ea typeface="Adobe Fan Heiti Std B" pitchFamily="34" charset="-128"/>
              </a:rPr>
              <a:t>extends </a:t>
            </a:r>
            <a:r>
              <a:rPr lang="en-US" sz="1400" kern="0" dirty="0" err="1">
                <a:solidFill>
                  <a:srgbClr val="F8A602"/>
                </a:solidFill>
                <a:latin typeface="Arial Black" panose="020B0A04020102020204" pitchFamily="34" charset="0"/>
                <a:ea typeface="Adobe Fan Heiti Std B" pitchFamily="34" charset="-128"/>
              </a:rPr>
              <a:t>Hablante</a:t>
            </a:r>
            <a:r>
              <a:rPr lang="en-US" sz="1400" kern="0" dirty="0">
                <a:solidFill>
                  <a:srgbClr val="00B050"/>
                </a:solidFill>
                <a:latin typeface="Arial Black" panose="020B0A04020102020204" pitchFamily="34" charset="0"/>
                <a:ea typeface="Adobe Fan Heiti Std B" pitchFamily="34" charset="-128"/>
              </a:rPr>
              <a:t>&gt;</a:t>
            </a:r>
            <a:r>
              <a:rPr lang="en-US" sz="1400" kern="0" dirty="0">
                <a:solidFill>
                  <a:schemeClr val="bg1">
                    <a:lumMod val="50000"/>
                  </a:schemeClr>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rgbClr val="00B050"/>
                </a:solidFill>
                <a:latin typeface="Arial Black" panose="020B0A04020102020204" pitchFamily="34" charset="0"/>
                <a:ea typeface="Adobe Fan Heiti Std B" pitchFamily="34" charset="-128"/>
              </a:rPr>
              <a:t>T</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25" name="Rectangle 3"/>
          <p:cNvSpPr txBox="1">
            <a:spLocks noChangeArrowheads="1"/>
          </p:cNvSpPr>
          <p:nvPr/>
        </p:nvSpPr>
        <p:spPr bwMode="auto">
          <a:xfrm>
            <a:off x="1891432" y="2340372"/>
            <a:ext cx="5154240" cy="111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rgbClr val="00B050"/>
                </a:solidFill>
                <a:latin typeface="Arial Black" panose="020B0A04020102020204" pitchFamily="34" charset="0"/>
                <a:ea typeface="Adobe Fan Heiti Std B" pitchFamily="34" charset="-128"/>
              </a:rPr>
              <a:t>&lt;T </a:t>
            </a:r>
            <a:r>
              <a:rPr lang="en-US" sz="1400" kern="0" dirty="0">
                <a:solidFill>
                  <a:srgbClr val="F8A602"/>
                </a:solidFill>
                <a:latin typeface="Arial Black" panose="020B0A04020102020204" pitchFamily="34" charset="0"/>
                <a:ea typeface="Adobe Fan Heiti Std B" pitchFamily="34" charset="-128"/>
              </a:rPr>
              <a:t>extends Ave</a:t>
            </a:r>
            <a:r>
              <a:rPr lang="en-US" sz="1400" kern="0" dirty="0">
                <a:solidFill>
                  <a:srgbClr val="00B050"/>
                </a:solidFill>
                <a:latin typeface="Arial Black" panose="020B0A04020102020204" pitchFamily="34" charset="0"/>
                <a:ea typeface="Adobe Fan Heiti Std B" pitchFamily="34" charset="-128"/>
              </a:rPr>
              <a:t>&gt;</a:t>
            </a:r>
            <a:r>
              <a:rPr lang="en-US" sz="1400" kern="0" dirty="0">
                <a:solidFill>
                  <a:schemeClr val="bg1">
                    <a:lumMod val="50000"/>
                  </a:schemeClr>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rgbClr val="00B050"/>
                </a:solidFill>
                <a:latin typeface="Arial Black" panose="020B0A04020102020204" pitchFamily="34" charset="0"/>
                <a:ea typeface="Adobe Fan Heiti Std B" pitchFamily="34" charset="-128"/>
              </a:rPr>
              <a:t>T</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21" name="Rectangle 3"/>
          <p:cNvSpPr txBox="1">
            <a:spLocks noChangeArrowheads="1"/>
          </p:cNvSpPr>
          <p:nvPr/>
        </p:nvSpPr>
        <p:spPr bwMode="auto">
          <a:xfrm>
            <a:off x="1892089" y="2345135"/>
            <a:ext cx="4248472" cy="111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rgbClr val="00B050"/>
                </a:solidFill>
                <a:latin typeface="Arial Black" panose="020B0A04020102020204" pitchFamily="34" charset="0"/>
                <a:ea typeface="Adobe Fan Heiti Std B" pitchFamily="34" charset="-128"/>
              </a:rPr>
              <a:t>&lt;T&gt;</a:t>
            </a:r>
            <a:r>
              <a:rPr lang="en-US" sz="1400" kern="0" dirty="0">
                <a:solidFill>
                  <a:schemeClr val="bg1">
                    <a:lumMod val="50000"/>
                  </a:schemeClr>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rgbClr val="00B050"/>
                </a:solidFill>
                <a:latin typeface="Arial Black" panose="020B0A04020102020204" pitchFamily="34" charset="0"/>
                <a:ea typeface="Adobe Fan Heiti Std B" pitchFamily="34" charset="-128"/>
              </a:rPr>
              <a:t>T</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2" name="1 Título"/>
          <p:cNvSpPr>
            <a:spLocks noGrp="1"/>
          </p:cNvSpPr>
          <p:nvPr>
            <p:ph type="title"/>
          </p:nvPr>
        </p:nvSpPr>
        <p:spPr>
          <a:xfrm>
            <a:off x="542924" y="53975"/>
            <a:ext cx="7989515" cy="563563"/>
          </a:xfrm>
        </p:spPr>
        <p:txBody>
          <a:bodyPr/>
          <a:lstStyle/>
          <a:p>
            <a:r>
              <a:rPr lang="es-ES" dirty="0"/>
              <a:t>Métodos genéricos</a:t>
            </a:r>
          </a:p>
        </p:txBody>
      </p:sp>
      <p:sp>
        <p:nvSpPr>
          <p:cNvPr id="22" name="Rectangle 3"/>
          <p:cNvSpPr txBox="1">
            <a:spLocks noChangeArrowheads="1"/>
          </p:cNvSpPr>
          <p:nvPr/>
        </p:nvSpPr>
        <p:spPr bwMode="auto">
          <a:xfrm>
            <a:off x="2337718" y="2608317"/>
            <a:ext cx="4392488" cy="35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chemeClr val="bg1">
                    <a:lumMod val="50000"/>
                  </a:schemeClr>
                </a:solidFill>
                <a:latin typeface="Adobe Fan Heiti Std B" pitchFamily="34" charset="-128"/>
                <a:ea typeface="Adobe Fan Heiti Std B" pitchFamily="34" charset="-128"/>
              </a:rPr>
              <a:t>System.out.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err="1">
                <a:solidFill>
                  <a:srgbClr val="00B050"/>
                </a:solidFill>
                <a:latin typeface="Adobe Fan Heiti Std B" pitchFamily="34" charset="-128"/>
                <a:ea typeface="Adobe Fan Heiti Std B" pitchFamily="34" charset="-128"/>
              </a:rPr>
              <a:t>toString</a:t>
            </a:r>
            <a:r>
              <a:rPr lang="en-US" sz="1400" kern="0" dirty="0">
                <a:solidFill>
                  <a:srgbClr val="00B050"/>
                </a:solidFill>
                <a:latin typeface="Adobe Fan Heiti Std B" pitchFamily="34" charset="-128"/>
                <a:ea typeface="Adobe Fan Heiti Std B" pitchFamily="34" charset="-128"/>
              </a:rPr>
              <a:t>()</a:t>
            </a:r>
            <a:r>
              <a:rPr lang="en-US" sz="1400" kern="0" dirty="0">
                <a:solidFill>
                  <a:srgbClr val="000000"/>
                </a:solidFill>
                <a:latin typeface="Adobe Fan Heiti Std B" pitchFamily="34" charset="-128"/>
                <a:ea typeface="Adobe Fan Heiti Std B" pitchFamily="34" charset="-128"/>
              </a:rPr>
              <a:t> </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p:txBody>
      </p:sp>
      <p:sp>
        <p:nvSpPr>
          <p:cNvPr id="12" name="Rectangle 3"/>
          <p:cNvSpPr txBox="1">
            <a:spLocks noChangeArrowheads="1"/>
          </p:cNvSpPr>
          <p:nvPr/>
        </p:nvSpPr>
        <p:spPr bwMode="auto">
          <a:xfrm>
            <a:off x="2339752" y="2607196"/>
            <a:ext cx="3384376" cy="35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chemeClr val="bg1">
                    <a:lumMod val="50000"/>
                  </a:schemeClr>
                </a:solidFill>
                <a:latin typeface="Adobe Fan Heiti Std B" pitchFamily="34" charset="-128"/>
                <a:ea typeface="Adobe Fan Heiti Std B" pitchFamily="34" charset="-128"/>
              </a:rPr>
              <a:t>System.out.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a:solidFill>
                  <a:srgbClr val="000000"/>
                </a:solidFill>
                <a:latin typeface="Adobe Fan Heiti Std B" pitchFamily="34" charset="-128"/>
                <a:ea typeface="Adobe Fan Heiti Std B" pitchFamily="34" charset="-128"/>
              </a:rPr>
              <a:t> </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p:txBody>
      </p:sp>
      <p:sp>
        <p:nvSpPr>
          <p:cNvPr id="23" name="Rectangle 3"/>
          <p:cNvSpPr txBox="1">
            <a:spLocks noChangeArrowheads="1"/>
          </p:cNvSpPr>
          <p:nvPr/>
        </p:nvSpPr>
        <p:spPr bwMode="auto">
          <a:xfrm>
            <a:off x="2342358" y="2855113"/>
            <a:ext cx="3384376" cy="35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000000"/>
                </a:solidFill>
                <a:latin typeface="Adobe Fan Heiti Std B" pitchFamily="34" charset="-128"/>
                <a:ea typeface="Adobe Fan Heiti Std B" pitchFamily="34" charset="-128"/>
              </a:rPr>
              <a:t>objeto.</a:t>
            </a:r>
            <a:r>
              <a:rPr lang="en-US" sz="1400" kern="0" dirty="0" err="1">
                <a:solidFill>
                  <a:srgbClr val="00B050"/>
                </a:solidFill>
                <a:latin typeface="Adobe Fan Heiti Std B" pitchFamily="34" charset="-128"/>
                <a:ea typeface="Adobe Fan Heiti Std B" pitchFamily="34" charset="-128"/>
              </a:rPr>
              <a:t>hablar</a:t>
            </a:r>
            <a:r>
              <a:rPr lang="en-US" sz="1400" kern="0" dirty="0">
                <a:solidFill>
                  <a:srgbClr val="00B05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a:t>
            </a:r>
          </a:p>
        </p:txBody>
      </p:sp>
      <p:sp>
        <p:nvSpPr>
          <p:cNvPr id="24" name="23 Multiplicar"/>
          <p:cNvSpPr/>
          <p:nvPr/>
        </p:nvSpPr>
        <p:spPr bwMode="auto">
          <a:xfrm>
            <a:off x="2151286" y="2876275"/>
            <a:ext cx="288032" cy="249835"/>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8" name="2 Marcador de contenido"/>
          <p:cNvSpPr>
            <a:spLocks noGrp="1"/>
          </p:cNvSpPr>
          <p:nvPr>
            <p:ph idx="1"/>
          </p:nvPr>
        </p:nvSpPr>
        <p:spPr>
          <a:xfrm>
            <a:off x="657996" y="1150144"/>
            <a:ext cx="7632848" cy="792088"/>
          </a:xfrm>
        </p:spPr>
        <p:txBody>
          <a:bodyPr/>
          <a:lstStyle/>
          <a:p>
            <a:r>
              <a:rPr lang="es-ES" sz="1600" dirty="0"/>
              <a:t>Un método genérico (simple) dispone de un parámetro de tipo no especificado, de modo que acepta objetos de distintos tipos (pero no primitivos como </a:t>
            </a:r>
            <a:r>
              <a:rPr lang="es-ES" sz="1600" dirty="0" err="1"/>
              <a:t>float</a:t>
            </a:r>
            <a:r>
              <a:rPr lang="es-ES" sz="1600" dirty="0"/>
              <a:t>, </a:t>
            </a:r>
            <a:r>
              <a:rPr lang="es-ES" sz="1600" dirty="0" err="1"/>
              <a:t>int</a:t>
            </a:r>
            <a:r>
              <a:rPr lang="es-ES" sz="1600" dirty="0"/>
              <a:t>…)</a:t>
            </a:r>
          </a:p>
        </p:txBody>
      </p:sp>
      <p:sp>
        <p:nvSpPr>
          <p:cNvPr id="29" name="2 Marcador de contenido"/>
          <p:cNvSpPr txBox="1">
            <a:spLocks/>
          </p:cNvSpPr>
          <p:nvPr/>
        </p:nvSpPr>
        <p:spPr bwMode="auto">
          <a:xfrm>
            <a:off x="650806" y="4678536"/>
            <a:ext cx="763284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dirty="0"/>
              <a:t>Sin embargo, podemos delimitar los tipos de objetos que pueden recibirse indicando la superclase a la que deben pertenecer (como Ave) o una interface (como Hablante). </a:t>
            </a:r>
          </a:p>
        </p:txBody>
      </p:sp>
      <p:sp>
        <p:nvSpPr>
          <p:cNvPr id="31" name="2 Marcador de contenido"/>
          <p:cNvSpPr txBox="1">
            <a:spLocks/>
          </p:cNvSpPr>
          <p:nvPr/>
        </p:nvSpPr>
        <p:spPr bwMode="auto">
          <a:xfrm>
            <a:off x="642160" y="5517232"/>
            <a:ext cx="7632848"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dirty="0"/>
              <a:t>Haciéndolo, java nos permitirá utilizar métodos propios de dichas clases o interfaces, como hablar(), pero rechazará objetos no pertenecientes a ellas.</a:t>
            </a:r>
          </a:p>
        </p:txBody>
      </p:sp>
      <p:sp>
        <p:nvSpPr>
          <p:cNvPr id="20" name="Rectangle 3"/>
          <p:cNvSpPr txBox="1">
            <a:spLocks noChangeArrowheads="1"/>
          </p:cNvSpPr>
          <p:nvPr/>
        </p:nvSpPr>
        <p:spPr bwMode="auto">
          <a:xfrm>
            <a:off x="1892450" y="2342687"/>
            <a:ext cx="4248472" cy="111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a:solidFill>
                  <a:srgbClr val="00B050"/>
                </a:solidFill>
                <a:latin typeface="Arial Black" panose="020B0A04020102020204" pitchFamily="34" charset="0"/>
                <a:ea typeface="Adobe Fan Heiti Std B" pitchFamily="34" charset="-128"/>
              </a:rPr>
              <a:t>Ave</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35" name="Rectangle 3"/>
          <p:cNvSpPr txBox="1">
            <a:spLocks noChangeArrowheads="1"/>
          </p:cNvSpPr>
          <p:nvPr/>
        </p:nvSpPr>
        <p:spPr bwMode="auto">
          <a:xfrm>
            <a:off x="1892965" y="2343002"/>
            <a:ext cx="4248472" cy="111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chemeClr val="accent1"/>
                </a:solidFill>
                <a:latin typeface="Adobe Fan Heiti Std B" pitchFamily="34" charset="-128"/>
                <a:ea typeface="Adobe Fan Heiti Std B" pitchFamily="34" charset="-128"/>
              </a:rPr>
              <a:t>void </a:t>
            </a:r>
            <a:r>
              <a:rPr lang="en-US" sz="1400" kern="0" dirty="0">
                <a:solidFill>
                  <a:srgbClr val="FF0000"/>
                </a:solidFill>
                <a:latin typeface="Adobe Fan Heiti Std B" pitchFamily="34" charset="-128"/>
                <a:ea typeface="Adobe Fan Heiti Std B" pitchFamily="34" charset="-128"/>
              </a:rPr>
              <a:t>eco(</a:t>
            </a:r>
            <a:r>
              <a:rPr lang="en-US" sz="1400" kern="0" dirty="0" err="1">
                <a:solidFill>
                  <a:srgbClr val="00B050"/>
                </a:solidFill>
                <a:latin typeface="Arial Black" panose="020B0A04020102020204" pitchFamily="34" charset="0"/>
                <a:ea typeface="Adobe Fan Heiti Std B" pitchFamily="34" charset="-128"/>
              </a:rPr>
              <a:t>Hablante</a:t>
            </a:r>
            <a:r>
              <a:rPr lang="en-US" sz="1400" kern="0" dirty="0">
                <a:solidFill>
                  <a:schemeClr val="accent1"/>
                </a:solidFill>
                <a:latin typeface="Arial Black" panose="020B0A04020102020204" pitchFamily="34" charset="0"/>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objeto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Tree>
    <p:extLst>
      <p:ext uri="{BB962C8B-B14F-4D97-AF65-F5344CB8AC3E}">
        <p14:creationId xmlns:p14="http://schemas.microsoft.com/office/powerpoint/2010/main" val="609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12"/>
                                        </p:tgtEl>
                                      </p:cBhvr>
                                    </p:animEffect>
                                    <p:set>
                                      <p:cBhvr>
                                        <p:cTn id="26" dur="1" fill="hold">
                                          <p:stCondLst>
                                            <p:cond delay="499"/>
                                          </p:stCondLst>
                                        </p:cTn>
                                        <p:tgtEl>
                                          <p:spTgt spid="12"/>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21"/>
                                        </p:tgtEl>
                                      </p:cBhvr>
                                    </p:animEffect>
                                    <p:set>
                                      <p:cBhvr>
                                        <p:cTn id="46" dur="1" fill="hold">
                                          <p:stCondLst>
                                            <p:cond delay="499"/>
                                          </p:stCondLst>
                                        </p:cTn>
                                        <p:tgtEl>
                                          <p:spTgt spid="21"/>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1" nodeType="clickEffect">
                                  <p:stCondLst>
                                    <p:cond delay="0"/>
                                  </p:stCondLst>
                                  <p:childTnLst>
                                    <p:animEffect transition="out" filter="fade">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24"/>
                                        </p:tgtEl>
                                      </p:cBhvr>
                                    </p:animEffect>
                                    <p:set>
                                      <p:cBhvr>
                                        <p:cTn id="62" dur="1" fill="hold">
                                          <p:stCondLst>
                                            <p:cond delay="499"/>
                                          </p:stCondLst>
                                        </p:cTn>
                                        <p:tgtEl>
                                          <p:spTgt spid="2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1" nodeType="clickEffect">
                                  <p:stCondLst>
                                    <p:cond delay="0"/>
                                  </p:stCondLst>
                                  <p:childTnLst>
                                    <p:animEffect transition="out" filter="fade">
                                      <p:cBhvr>
                                        <p:cTn id="66" dur="500"/>
                                        <p:tgtEl>
                                          <p:spTgt spid="20"/>
                                        </p:tgtEl>
                                      </p:cBhvr>
                                    </p:animEffect>
                                    <p:set>
                                      <p:cBhvr>
                                        <p:cTn id="67" dur="1" fill="hold">
                                          <p:stCondLst>
                                            <p:cond delay="499"/>
                                          </p:stCondLst>
                                        </p:cTn>
                                        <p:tgtEl>
                                          <p:spTgt spid="20"/>
                                        </p:tgtEl>
                                        <p:attrNameLst>
                                          <p:attrName>style.visibility</p:attrName>
                                        </p:attrNameLst>
                                      </p:cBhvr>
                                      <p:to>
                                        <p:strVal val="hidden"/>
                                      </p:to>
                                    </p:se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500"/>
                                        <p:tgtEl>
                                          <p:spTgt spid="35"/>
                                        </p:tgtEl>
                                      </p:cBhvr>
                                    </p:animEffect>
                                  </p:childTnLst>
                                </p:cTn>
                              </p:par>
                              <p:par>
                                <p:cTn id="76" presetID="1" presetClass="exit" presetSubtype="0" fill="hold" grpId="1" nodeType="withEffect">
                                  <p:stCondLst>
                                    <p:cond delay="0"/>
                                  </p:stCondLst>
                                  <p:childTnLst>
                                    <p:set>
                                      <p:cBhvr>
                                        <p:cTn id="77" dur="1" fill="hold">
                                          <p:stCondLst>
                                            <p:cond delay="0"/>
                                          </p:stCondLst>
                                        </p:cTn>
                                        <p:tgtEl>
                                          <p:spTgt spid="27"/>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1" grpId="0" animBg="1"/>
      <p:bldP spid="27" grpId="0"/>
      <p:bldP spid="27" grpId="1"/>
      <p:bldP spid="25" grpId="0"/>
      <p:bldP spid="25" grpId="1"/>
      <p:bldP spid="21" grpId="0"/>
      <p:bldP spid="21" grpId="1"/>
      <p:bldP spid="22" grpId="0"/>
      <p:bldP spid="12" grpId="0"/>
      <p:bldP spid="12" grpId="1"/>
      <p:bldP spid="23" grpId="0"/>
      <p:bldP spid="24" grpId="0" animBg="1"/>
      <p:bldP spid="24" grpId="1" animBg="1"/>
      <p:bldP spid="28" grpId="0" build="p"/>
      <p:bldP spid="29" grpId="0"/>
      <p:bldP spid="31" grpId="0"/>
      <p:bldP spid="20" grpId="0"/>
      <p:bldP spid="20" grpId="1"/>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 Grupo"/>
          <p:cNvGrpSpPr/>
          <p:nvPr/>
        </p:nvGrpSpPr>
        <p:grpSpPr>
          <a:xfrm>
            <a:off x="539552" y="2413820"/>
            <a:ext cx="8064896" cy="1382835"/>
            <a:chOff x="467544" y="1621732"/>
            <a:chExt cx="8064896" cy="1382835"/>
          </a:xfrm>
        </p:grpSpPr>
        <p:grpSp>
          <p:nvGrpSpPr>
            <p:cNvPr id="21" name="20 Grupo"/>
            <p:cNvGrpSpPr/>
            <p:nvPr/>
          </p:nvGrpSpPr>
          <p:grpSpPr>
            <a:xfrm>
              <a:off x="1835696" y="2473648"/>
              <a:ext cx="1226243" cy="530919"/>
              <a:chOff x="537445" y="3718496"/>
              <a:chExt cx="1226243" cy="530919"/>
            </a:xfrm>
          </p:grpSpPr>
          <p:sp>
            <p:nvSpPr>
              <p:cNvPr id="16" name="15 Rectángulo redondeado"/>
              <p:cNvSpPr/>
              <p:nvPr/>
            </p:nvSpPr>
            <p:spPr bwMode="auto">
              <a:xfrm>
                <a:off x="539553" y="3718496"/>
                <a:ext cx="1224135" cy="467320"/>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7" name="Rectangle 3"/>
              <p:cNvSpPr txBox="1">
                <a:spLocks noChangeArrowheads="1"/>
              </p:cNvSpPr>
              <p:nvPr/>
            </p:nvSpPr>
            <p:spPr bwMode="auto">
              <a:xfrm>
                <a:off x="537445" y="3814440"/>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Short</a:t>
                </a:r>
              </a:p>
            </p:txBody>
          </p:sp>
        </p:grpSp>
        <p:grpSp>
          <p:nvGrpSpPr>
            <p:cNvPr id="22" name="21 Grupo"/>
            <p:cNvGrpSpPr/>
            <p:nvPr/>
          </p:nvGrpSpPr>
          <p:grpSpPr>
            <a:xfrm>
              <a:off x="3203848" y="2473648"/>
              <a:ext cx="1226243" cy="530919"/>
              <a:chOff x="537445" y="3718496"/>
              <a:chExt cx="1226243" cy="530919"/>
            </a:xfrm>
          </p:grpSpPr>
          <p:sp>
            <p:nvSpPr>
              <p:cNvPr id="23" name="22 Rectángulo redondeado"/>
              <p:cNvSpPr/>
              <p:nvPr/>
            </p:nvSpPr>
            <p:spPr bwMode="auto">
              <a:xfrm>
                <a:off x="539553" y="3718496"/>
                <a:ext cx="1224135" cy="467320"/>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4" name="Rectangle 3"/>
              <p:cNvSpPr txBox="1">
                <a:spLocks noChangeArrowheads="1"/>
              </p:cNvSpPr>
              <p:nvPr/>
            </p:nvSpPr>
            <p:spPr bwMode="auto">
              <a:xfrm>
                <a:off x="537445" y="3814440"/>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Integer</a:t>
                </a:r>
              </a:p>
            </p:txBody>
          </p:sp>
        </p:grpSp>
        <p:grpSp>
          <p:nvGrpSpPr>
            <p:cNvPr id="25" name="24 Grupo"/>
            <p:cNvGrpSpPr/>
            <p:nvPr/>
          </p:nvGrpSpPr>
          <p:grpSpPr>
            <a:xfrm>
              <a:off x="5938045" y="2473648"/>
              <a:ext cx="1226243" cy="530919"/>
              <a:chOff x="1903490" y="3718496"/>
              <a:chExt cx="1226243" cy="530919"/>
            </a:xfrm>
          </p:grpSpPr>
          <p:sp>
            <p:nvSpPr>
              <p:cNvPr id="26" name="25 Rectángulo redondeado"/>
              <p:cNvSpPr/>
              <p:nvPr/>
            </p:nvSpPr>
            <p:spPr bwMode="auto">
              <a:xfrm>
                <a:off x="1905598" y="3718496"/>
                <a:ext cx="1224135" cy="467320"/>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7" name="Rectangle 3"/>
              <p:cNvSpPr txBox="1">
                <a:spLocks noChangeArrowheads="1"/>
              </p:cNvSpPr>
              <p:nvPr/>
            </p:nvSpPr>
            <p:spPr bwMode="auto">
              <a:xfrm>
                <a:off x="1903490" y="3814440"/>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Float</a:t>
                </a:r>
              </a:p>
            </p:txBody>
          </p:sp>
        </p:grpSp>
        <p:grpSp>
          <p:nvGrpSpPr>
            <p:cNvPr id="28" name="27 Grupo"/>
            <p:cNvGrpSpPr/>
            <p:nvPr/>
          </p:nvGrpSpPr>
          <p:grpSpPr>
            <a:xfrm>
              <a:off x="7306197" y="2473648"/>
              <a:ext cx="1226243" cy="530919"/>
              <a:chOff x="1903490" y="3718496"/>
              <a:chExt cx="1226243" cy="530919"/>
            </a:xfrm>
          </p:grpSpPr>
          <p:sp>
            <p:nvSpPr>
              <p:cNvPr id="29" name="28 Rectángulo redondeado"/>
              <p:cNvSpPr/>
              <p:nvPr/>
            </p:nvSpPr>
            <p:spPr bwMode="auto">
              <a:xfrm>
                <a:off x="1905598" y="3718496"/>
                <a:ext cx="1224135" cy="467320"/>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Rectangle 3"/>
              <p:cNvSpPr txBox="1">
                <a:spLocks noChangeArrowheads="1"/>
              </p:cNvSpPr>
              <p:nvPr/>
            </p:nvSpPr>
            <p:spPr bwMode="auto">
              <a:xfrm>
                <a:off x="1903490" y="3814440"/>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Double</a:t>
                </a:r>
              </a:p>
            </p:txBody>
          </p:sp>
        </p:grpSp>
        <p:grpSp>
          <p:nvGrpSpPr>
            <p:cNvPr id="31" name="30 Grupo"/>
            <p:cNvGrpSpPr/>
            <p:nvPr/>
          </p:nvGrpSpPr>
          <p:grpSpPr>
            <a:xfrm>
              <a:off x="4582593" y="2473648"/>
              <a:ext cx="1226243" cy="530919"/>
              <a:chOff x="-2188266" y="3718496"/>
              <a:chExt cx="1226243" cy="530919"/>
            </a:xfrm>
          </p:grpSpPr>
          <p:sp>
            <p:nvSpPr>
              <p:cNvPr id="32" name="31 Rectángulo redondeado"/>
              <p:cNvSpPr/>
              <p:nvPr/>
            </p:nvSpPr>
            <p:spPr bwMode="auto">
              <a:xfrm>
                <a:off x="-2186158" y="3718496"/>
                <a:ext cx="1224135" cy="467320"/>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3" name="Rectangle 3"/>
              <p:cNvSpPr txBox="1">
                <a:spLocks noChangeArrowheads="1"/>
              </p:cNvSpPr>
              <p:nvPr/>
            </p:nvSpPr>
            <p:spPr bwMode="auto">
              <a:xfrm>
                <a:off x="-2188266" y="3814440"/>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Long</a:t>
                </a:r>
              </a:p>
            </p:txBody>
          </p:sp>
        </p:grpSp>
        <p:grpSp>
          <p:nvGrpSpPr>
            <p:cNvPr id="34" name="33 Grupo"/>
            <p:cNvGrpSpPr/>
            <p:nvPr/>
          </p:nvGrpSpPr>
          <p:grpSpPr>
            <a:xfrm>
              <a:off x="467544" y="2473648"/>
              <a:ext cx="1226243" cy="530919"/>
              <a:chOff x="537445" y="3718496"/>
              <a:chExt cx="1226243" cy="530919"/>
            </a:xfrm>
          </p:grpSpPr>
          <p:sp>
            <p:nvSpPr>
              <p:cNvPr id="35" name="34 Rectángulo redondeado"/>
              <p:cNvSpPr/>
              <p:nvPr/>
            </p:nvSpPr>
            <p:spPr bwMode="auto">
              <a:xfrm>
                <a:off x="539553" y="3718496"/>
                <a:ext cx="1224135" cy="467320"/>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6" name="Rectangle 3"/>
              <p:cNvSpPr txBox="1">
                <a:spLocks noChangeArrowheads="1"/>
              </p:cNvSpPr>
              <p:nvPr/>
            </p:nvSpPr>
            <p:spPr bwMode="auto">
              <a:xfrm>
                <a:off x="537445" y="3814440"/>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Byte</a:t>
                </a:r>
              </a:p>
            </p:txBody>
          </p:sp>
        </p:grpSp>
        <p:grpSp>
          <p:nvGrpSpPr>
            <p:cNvPr id="84" name="83 Grupo"/>
            <p:cNvGrpSpPr/>
            <p:nvPr/>
          </p:nvGrpSpPr>
          <p:grpSpPr>
            <a:xfrm>
              <a:off x="1079611" y="1621732"/>
              <a:ext cx="6844977" cy="851916"/>
              <a:chOff x="1079611" y="1758133"/>
              <a:chExt cx="6844977" cy="851916"/>
            </a:xfrm>
          </p:grpSpPr>
          <p:cxnSp>
            <p:nvCxnSpPr>
              <p:cNvPr id="56" name="55 Conector recto"/>
              <p:cNvCxnSpPr/>
              <p:nvPr/>
            </p:nvCxnSpPr>
            <p:spPr bwMode="auto">
              <a:xfrm flipH="1" flipV="1">
                <a:off x="1079611" y="2322017"/>
                <a:ext cx="2109" cy="288032"/>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57" name="56 Conector recto"/>
              <p:cNvCxnSpPr/>
              <p:nvPr/>
            </p:nvCxnSpPr>
            <p:spPr bwMode="auto">
              <a:xfrm flipH="1" flipV="1">
                <a:off x="3811711" y="2322017"/>
                <a:ext cx="2109" cy="288032"/>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58" name="57 Conector recto"/>
              <p:cNvCxnSpPr/>
              <p:nvPr/>
            </p:nvCxnSpPr>
            <p:spPr bwMode="auto">
              <a:xfrm flipH="1" flipV="1">
                <a:off x="5193729" y="2322017"/>
                <a:ext cx="2109" cy="288032"/>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59" name="58 Conector recto"/>
              <p:cNvCxnSpPr/>
              <p:nvPr/>
            </p:nvCxnSpPr>
            <p:spPr bwMode="auto">
              <a:xfrm flipH="1" flipV="1">
                <a:off x="6536481" y="2322017"/>
                <a:ext cx="2109" cy="288032"/>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60" name="59 Conector recto"/>
              <p:cNvCxnSpPr/>
              <p:nvPr/>
            </p:nvCxnSpPr>
            <p:spPr bwMode="auto">
              <a:xfrm flipH="1" flipV="1">
                <a:off x="2449871" y="2322017"/>
                <a:ext cx="2109" cy="288032"/>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61" name="60 Conector recto"/>
              <p:cNvCxnSpPr/>
              <p:nvPr/>
            </p:nvCxnSpPr>
            <p:spPr bwMode="auto">
              <a:xfrm flipH="1" flipV="1">
                <a:off x="7922479" y="2322017"/>
                <a:ext cx="2109" cy="288032"/>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63" name="62 Conector recto"/>
              <p:cNvCxnSpPr/>
              <p:nvPr/>
            </p:nvCxnSpPr>
            <p:spPr bwMode="auto">
              <a:xfrm>
                <a:off x="1079611" y="2322017"/>
                <a:ext cx="6842868"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64" name="63 Conector recto"/>
              <p:cNvCxnSpPr/>
              <p:nvPr/>
            </p:nvCxnSpPr>
            <p:spPr bwMode="auto">
              <a:xfrm flipV="1">
                <a:off x="4494758" y="1758133"/>
                <a:ext cx="1" cy="563884"/>
              </a:xfrm>
              <a:prstGeom prst="line">
                <a:avLst/>
              </a:prstGeom>
              <a:ln>
                <a:headEnd type="oval" w="med" len="med"/>
                <a:tailEnd type="triangle" w="lg" len="lg"/>
              </a:ln>
            </p:spPr>
            <p:style>
              <a:lnRef idx="3">
                <a:schemeClr val="accent1"/>
              </a:lnRef>
              <a:fillRef idx="0">
                <a:schemeClr val="accent1"/>
              </a:fillRef>
              <a:effectRef idx="2">
                <a:schemeClr val="accent1"/>
              </a:effectRef>
              <a:fontRef idx="minor">
                <a:schemeClr val="tx1"/>
              </a:fontRef>
            </p:style>
          </p:cxnSp>
        </p:grpSp>
      </p:grpSp>
      <p:sp>
        <p:nvSpPr>
          <p:cNvPr id="69" name="Rectangle 3"/>
          <p:cNvSpPr txBox="1">
            <a:spLocks noChangeArrowheads="1"/>
          </p:cNvSpPr>
          <p:nvPr/>
        </p:nvSpPr>
        <p:spPr bwMode="auto">
          <a:xfrm>
            <a:off x="1043608" y="1730982"/>
            <a:ext cx="1682576" cy="3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FF0000"/>
                </a:solidFill>
                <a:latin typeface="Adobe Fan Heiti Std B" pitchFamily="34" charset="-128"/>
                <a:ea typeface="Adobe Fan Heiti Std B" pitchFamily="34" charset="-128"/>
              </a:rPr>
              <a:t>byteValue</a:t>
            </a:r>
            <a:r>
              <a:rPr lang="en-US" sz="1400" kern="0" dirty="0">
                <a:solidFill>
                  <a:srgbClr val="FF0000"/>
                </a:solidFill>
                <a:latin typeface="Adobe Fan Heiti Std B" pitchFamily="34" charset="-128"/>
                <a:ea typeface="Adobe Fan Heiti Std B" pitchFamily="34" charset="-128"/>
              </a:rPr>
              <a:t>()</a:t>
            </a:r>
            <a:endParaRPr lang="en-US" sz="1400" kern="0" dirty="0">
              <a:solidFill>
                <a:srgbClr val="0070C0"/>
              </a:solidFill>
              <a:latin typeface="Adobe Fan Heiti Std B" pitchFamily="34" charset="-128"/>
              <a:ea typeface="Adobe Fan Heiti Std B" pitchFamily="34" charset="-128"/>
            </a:endParaRPr>
          </a:p>
        </p:txBody>
      </p:sp>
      <p:sp>
        <p:nvSpPr>
          <p:cNvPr id="70" name="Rectangle 3"/>
          <p:cNvSpPr txBox="1">
            <a:spLocks noChangeArrowheads="1"/>
          </p:cNvSpPr>
          <p:nvPr/>
        </p:nvSpPr>
        <p:spPr bwMode="auto">
          <a:xfrm>
            <a:off x="1043608" y="1969057"/>
            <a:ext cx="1682576" cy="248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FF0000"/>
                </a:solidFill>
                <a:latin typeface="Adobe Fan Heiti Std B" pitchFamily="34" charset="-128"/>
                <a:ea typeface="Adobe Fan Heiti Std B" pitchFamily="34" charset="-128"/>
              </a:rPr>
              <a:t>shortValue</a:t>
            </a:r>
            <a:r>
              <a:rPr lang="en-US" sz="1400" kern="0" dirty="0">
                <a:solidFill>
                  <a:srgbClr val="FF0000"/>
                </a:solidFill>
                <a:latin typeface="Adobe Fan Heiti Std B" pitchFamily="34" charset="-128"/>
                <a:ea typeface="Adobe Fan Heiti Std B" pitchFamily="34" charset="-128"/>
              </a:rPr>
              <a:t>()</a:t>
            </a:r>
            <a:endParaRPr lang="en-US" sz="1400" kern="0" dirty="0">
              <a:solidFill>
                <a:srgbClr val="0070C0"/>
              </a:solidFill>
              <a:latin typeface="Adobe Fan Heiti Std B" pitchFamily="34" charset="-128"/>
              <a:ea typeface="Adobe Fan Heiti Std B" pitchFamily="34" charset="-128"/>
            </a:endParaRPr>
          </a:p>
        </p:txBody>
      </p:sp>
      <p:sp>
        <p:nvSpPr>
          <p:cNvPr id="71" name="Rectangle 3"/>
          <p:cNvSpPr txBox="1">
            <a:spLocks noChangeArrowheads="1"/>
          </p:cNvSpPr>
          <p:nvPr/>
        </p:nvSpPr>
        <p:spPr bwMode="auto">
          <a:xfrm>
            <a:off x="1043608" y="2217253"/>
            <a:ext cx="1682576" cy="3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FF0000"/>
                </a:solidFill>
                <a:latin typeface="Adobe Fan Heiti Std B" pitchFamily="34" charset="-128"/>
                <a:ea typeface="Adobe Fan Heiti Std B" pitchFamily="34" charset="-128"/>
              </a:rPr>
              <a:t>intValue</a:t>
            </a:r>
            <a:r>
              <a:rPr lang="en-US" sz="1400" kern="0" dirty="0">
                <a:solidFill>
                  <a:srgbClr val="FF0000"/>
                </a:solidFill>
                <a:latin typeface="Adobe Fan Heiti Std B" pitchFamily="34" charset="-128"/>
                <a:ea typeface="Adobe Fan Heiti Std B" pitchFamily="34" charset="-128"/>
              </a:rPr>
              <a:t>()</a:t>
            </a:r>
            <a:endParaRPr lang="en-US" sz="1400" kern="0" dirty="0">
              <a:solidFill>
                <a:srgbClr val="0070C0"/>
              </a:solidFill>
              <a:latin typeface="Adobe Fan Heiti Std B" pitchFamily="34" charset="-128"/>
              <a:ea typeface="Adobe Fan Heiti Std B" pitchFamily="34" charset="-128"/>
            </a:endParaRPr>
          </a:p>
        </p:txBody>
      </p:sp>
      <p:sp>
        <p:nvSpPr>
          <p:cNvPr id="72" name="Rectangle 3"/>
          <p:cNvSpPr txBox="1">
            <a:spLocks noChangeArrowheads="1"/>
          </p:cNvSpPr>
          <p:nvPr/>
        </p:nvSpPr>
        <p:spPr bwMode="auto">
          <a:xfrm>
            <a:off x="2149712" y="1730982"/>
            <a:ext cx="1682576" cy="304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FF0000"/>
                </a:solidFill>
                <a:latin typeface="Adobe Fan Heiti Std B" pitchFamily="34" charset="-128"/>
                <a:ea typeface="Adobe Fan Heiti Std B" pitchFamily="34" charset="-128"/>
              </a:rPr>
              <a:t>longValue</a:t>
            </a:r>
            <a:r>
              <a:rPr lang="en-US" sz="1400" kern="0" dirty="0">
                <a:solidFill>
                  <a:srgbClr val="FF0000"/>
                </a:solidFill>
                <a:latin typeface="Adobe Fan Heiti Std B" pitchFamily="34" charset="-128"/>
                <a:ea typeface="Adobe Fan Heiti Std B" pitchFamily="34" charset="-128"/>
              </a:rPr>
              <a:t>()</a:t>
            </a:r>
            <a:endParaRPr lang="en-US" sz="1400" kern="0" dirty="0">
              <a:solidFill>
                <a:srgbClr val="0070C0"/>
              </a:solidFill>
              <a:latin typeface="Adobe Fan Heiti Std B" pitchFamily="34" charset="-128"/>
              <a:ea typeface="Adobe Fan Heiti Std B" pitchFamily="34" charset="-128"/>
            </a:endParaRPr>
          </a:p>
        </p:txBody>
      </p:sp>
      <p:sp>
        <p:nvSpPr>
          <p:cNvPr id="73" name="Rectangle 3"/>
          <p:cNvSpPr txBox="1">
            <a:spLocks noChangeArrowheads="1"/>
          </p:cNvSpPr>
          <p:nvPr/>
        </p:nvSpPr>
        <p:spPr bwMode="auto">
          <a:xfrm>
            <a:off x="2149712" y="1969057"/>
            <a:ext cx="1682576" cy="248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FF0000"/>
                </a:solidFill>
                <a:latin typeface="Adobe Fan Heiti Std B" pitchFamily="34" charset="-128"/>
                <a:ea typeface="Adobe Fan Heiti Std B" pitchFamily="34" charset="-128"/>
              </a:rPr>
              <a:t>floatValue</a:t>
            </a:r>
            <a:r>
              <a:rPr lang="en-US" sz="1400" kern="0" dirty="0">
                <a:solidFill>
                  <a:srgbClr val="FF0000"/>
                </a:solidFill>
                <a:latin typeface="Adobe Fan Heiti Std B" pitchFamily="34" charset="-128"/>
                <a:ea typeface="Adobe Fan Heiti Std B" pitchFamily="34" charset="-128"/>
              </a:rPr>
              <a:t>()</a:t>
            </a:r>
            <a:endParaRPr lang="en-US" sz="1400" kern="0" dirty="0">
              <a:solidFill>
                <a:srgbClr val="0070C0"/>
              </a:solidFill>
              <a:latin typeface="Adobe Fan Heiti Std B" pitchFamily="34" charset="-128"/>
              <a:ea typeface="Adobe Fan Heiti Std B" pitchFamily="34" charset="-128"/>
            </a:endParaRPr>
          </a:p>
        </p:txBody>
      </p:sp>
      <p:sp>
        <p:nvSpPr>
          <p:cNvPr id="74" name="Rectangle 3"/>
          <p:cNvSpPr txBox="1">
            <a:spLocks noChangeArrowheads="1"/>
          </p:cNvSpPr>
          <p:nvPr/>
        </p:nvSpPr>
        <p:spPr bwMode="auto">
          <a:xfrm>
            <a:off x="2149712" y="2217253"/>
            <a:ext cx="1682576" cy="3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b="0" kern="0" dirty="0" err="1">
                <a:solidFill>
                  <a:srgbClr val="FF0000"/>
                </a:solidFill>
                <a:latin typeface="Arial Black" panose="020B0A04020102020204" pitchFamily="34" charset="0"/>
                <a:ea typeface="Adobe Fan Heiti Std B" pitchFamily="34" charset="-128"/>
              </a:rPr>
              <a:t>doubleValue</a:t>
            </a:r>
            <a:r>
              <a:rPr lang="en-US" sz="1400" b="0" kern="0" dirty="0">
                <a:solidFill>
                  <a:srgbClr val="FF0000"/>
                </a:solidFill>
                <a:latin typeface="Arial Black" panose="020B0A04020102020204" pitchFamily="34" charset="0"/>
                <a:ea typeface="Adobe Fan Heiti Std B" pitchFamily="34" charset="-128"/>
              </a:rPr>
              <a:t>()</a:t>
            </a:r>
            <a:endParaRPr lang="en-US" sz="1400" b="0" kern="0" dirty="0">
              <a:solidFill>
                <a:srgbClr val="0070C0"/>
              </a:solidFill>
              <a:latin typeface="Arial Black" panose="020B0A04020102020204" pitchFamily="34" charset="0"/>
              <a:ea typeface="Adobe Fan Heiti Std B" pitchFamily="34" charset="-128"/>
            </a:endParaRPr>
          </a:p>
        </p:txBody>
      </p:sp>
      <p:grpSp>
        <p:nvGrpSpPr>
          <p:cNvPr id="37" name="36 Grupo"/>
          <p:cNvGrpSpPr/>
          <p:nvPr/>
        </p:nvGrpSpPr>
        <p:grpSpPr>
          <a:xfrm>
            <a:off x="3954699" y="1802482"/>
            <a:ext cx="1226243" cy="598637"/>
            <a:chOff x="537445" y="3587179"/>
            <a:chExt cx="1226243" cy="598637"/>
          </a:xfrm>
        </p:grpSpPr>
        <p:sp>
          <p:nvSpPr>
            <p:cNvPr id="38" name="37 Rectángulo redondeado"/>
            <p:cNvSpPr/>
            <p:nvPr/>
          </p:nvSpPr>
          <p:spPr bwMode="auto">
            <a:xfrm>
              <a:off x="539553" y="3587179"/>
              <a:ext cx="1224135" cy="598637"/>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9" name="Rectangle 3"/>
            <p:cNvSpPr txBox="1">
              <a:spLocks noChangeArrowheads="1"/>
            </p:cNvSpPr>
            <p:nvPr/>
          </p:nvSpPr>
          <p:spPr bwMode="auto">
            <a:xfrm>
              <a:off x="537445" y="3637136"/>
              <a:ext cx="12241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200" kern="0" dirty="0">
                  <a:solidFill>
                    <a:schemeClr val="tx1">
                      <a:lumMod val="60000"/>
                      <a:lumOff val="40000"/>
                    </a:schemeClr>
                  </a:solidFill>
                </a:rPr>
                <a:t>Class</a:t>
              </a:r>
            </a:p>
            <a:p>
              <a:pPr marL="0" indent="0" algn="ctr">
                <a:buNone/>
              </a:pPr>
              <a:r>
                <a:rPr lang="en-US" sz="1400" kern="0" dirty="0"/>
                <a:t>Number</a:t>
              </a:r>
            </a:p>
          </p:txBody>
        </p:sp>
      </p:grpSp>
      <p:sp>
        <p:nvSpPr>
          <p:cNvPr id="83" name="Rectangle 3"/>
          <p:cNvSpPr txBox="1">
            <a:spLocks noChangeArrowheads="1"/>
          </p:cNvSpPr>
          <p:nvPr/>
        </p:nvSpPr>
        <p:spPr bwMode="auto">
          <a:xfrm>
            <a:off x="4672054" y="2492896"/>
            <a:ext cx="1011138"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chemeClr val="accent1"/>
                </a:solidFill>
                <a:latin typeface="Adobe Fan Heiti Std B" pitchFamily="34" charset="-128"/>
                <a:ea typeface="Adobe Fan Heiti Std B" pitchFamily="34" charset="-128"/>
              </a:rPr>
              <a:t>extends</a:t>
            </a:r>
          </a:p>
        </p:txBody>
      </p:sp>
      <p:sp>
        <p:nvSpPr>
          <p:cNvPr id="98" name="1 Título"/>
          <p:cNvSpPr>
            <a:spLocks noGrp="1"/>
          </p:cNvSpPr>
          <p:nvPr>
            <p:ph type="title"/>
          </p:nvPr>
        </p:nvSpPr>
        <p:spPr>
          <a:xfrm>
            <a:off x="542924" y="53975"/>
            <a:ext cx="7989515" cy="563563"/>
          </a:xfrm>
        </p:spPr>
        <p:txBody>
          <a:bodyPr/>
          <a:lstStyle/>
          <a:p>
            <a:r>
              <a:rPr lang="es-ES" dirty="0"/>
              <a:t>Métodos genéricos</a:t>
            </a:r>
          </a:p>
        </p:txBody>
      </p:sp>
      <p:sp>
        <p:nvSpPr>
          <p:cNvPr id="65" name="Rectangle 3"/>
          <p:cNvSpPr txBox="1">
            <a:spLocks noChangeArrowheads="1"/>
          </p:cNvSpPr>
          <p:nvPr/>
        </p:nvSpPr>
        <p:spPr bwMode="auto">
          <a:xfrm>
            <a:off x="2654176" y="6058018"/>
            <a:ext cx="5181364" cy="35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endParaRPr lang="en-US" sz="1400" kern="0" dirty="0">
              <a:solidFill>
                <a:srgbClr val="000000"/>
              </a:solidFill>
              <a:latin typeface="Adobe Fan Heiti Std B" pitchFamily="34" charset="-128"/>
              <a:ea typeface="Adobe Fan Heiti Std B" pitchFamily="34" charset="-128"/>
            </a:endParaRPr>
          </a:p>
        </p:txBody>
      </p:sp>
      <p:sp>
        <p:nvSpPr>
          <p:cNvPr id="66" name="65 Rectángulo"/>
          <p:cNvSpPr/>
          <p:nvPr/>
        </p:nvSpPr>
        <p:spPr bwMode="auto">
          <a:xfrm>
            <a:off x="1547664" y="5525616"/>
            <a:ext cx="6046563" cy="121575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7" name="Rectangle 3"/>
          <p:cNvSpPr txBox="1">
            <a:spLocks noChangeArrowheads="1"/>
          </p:cNvSpPr>
          <p:nvPr/>
        </p:nvSpPr>
        <p:spPr bwMode="auto">
          <a:xfrm>
            <a:off x="1908298" y="5597624"/>
            <a:ext cx="5962848" cy="121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rgbClr val="00B050"/>
                </a:solidFill>
                <a:latin typeface="Arial Black" panose="020B0A04020102020204" pitchFamily="34" charset="0"/>
                <a:ea typeface="Adobe Fan Heiti Std B" pitchFamily="34" charset="-128"/>
              </a:rPr>
              <a:t>&lt;T </a:t>
            </a:r>
            <a:r>
              <a:rPr lang="en-US" sz="1400" kern="0" dirty="0">
                <a:solidFill>
                  <a:srgbClr val="F8A602"/>
                </a:solidFill>
                <a:latin typeface="Arial Black" panose="020B0A04020102020204" pitchFamily="34" charset="0"/>
                <a:ea typeface="Adobe Fan Heiti Std B" pitchFamily="34" charset="-128"/>
              </a:rPr>
              <a:t>extends Number</a:t>
            </a:r>
            <a:r>
              <a:rPr lang="en-US" sz="1400" kern="0" dirty="0">
                <a:solidFill>
                  <a:srgbClr val="00B050"/>
                </a:solidFill>
                <a:latin typeface="Arial Black" panose="020B0A04020102020204" pitchFamily="34" charset="0"/>
                <a:ea typeface="Adobe Fan Heiti Std B" pitchFamily="34" charset="-128"/>
              </a:rPr>
              <a:t>&gt;</a:t>
            </a:r>
            <a:r>
              <a:rPr lang="en-US" sz="1400" kern="0" dirty="0">
                <a:solidFill>
                  <a:schemeClr val="bg1">
                    <a:lumMod val="50000"/>
                  </a:schemeClr>
                </a:solidFill>
                <a:latin typeface="Adobe Fan Heiti Std B" pitchFamily="34" charset="-128"/>
                <a:ea typeface="Adobe Fan Heiti Std B" pitchFamily="34" charset="-128"/>
              </a:rPr>
              <a:t> </a:t>
            </a:r>
            <a:r>
              <a:rPr lang="en-US" sz="1400" kern="0" dirty="0">
                <a:solidFill>
                  <a:schemeClr val="accent4">
                    <a:lumMod val="75000"/>
                    <a:lumOff val="25000"/>
                  </a:schemeClr>
                </a:solidFill>
                <a:latin typeface="Adobe Fan Heiti Std B" pitchFamily="34" charset="-128"/>
                <a:ea typeface="Adobe Fan Heiti Std B" pitchFamily="34" charset="-128"/>
              </a:rPr>
              <a:t>double</a:t>
            </a:r>
            <a:r>
              <a:rPr lang="en-US" sz="1400" kern="0" dirty="0">
                <a:solidFill>
                  <a:schemeClr val="accent1"/>
                </a:solidFill>
                <a:latin typeface="Adobe Fan Heiti Std B" pitchFamily="34" charset="-128"/>
                <a:ea typeface="Adobe Fan Heiti Std B" pitchFamily="34" charset="-128"/>
              </a:rPr>
              <a:t> </a:t>
            </a:r>
            <a:r>
              <a:rPr lang="en-US" sz="1400" kern="0" dirty="0" err="1">
                <a:solidFill>
                  <a:srgbClr val="FF0000"/>
                </a:solidFill>
                <a:latin typeface="Adobe Fan Heiti Std B" pitchFamily="34" charset="-128"/>
                <a:ea typeface="Adobe Fan Heiti Std B" pitchFamily="34" charset="-128"/>
              </a:rPr>
              <a:t>sumar</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B050"/>
                </a:solidFill>
                <a:latin typeface="Arial Black" panose="020B0A04020102020204" pitchFamily="34" charset="0"/>
                <a:ea typeface="Adobe Fan Heiti Std B" pitchFamily="34" charset="-128"/>
              </a:rPr>
              <a:t>T</a:t>
            </a:r>
            <a:r>
              <a:rPr lang="en-US" sz="1400" kern="0" dirty="0">
                <a:solidFill>
                  <a:schemeClr val="accent1"/>
                </a:solidFill>
                <a:latin typeface="Arial Black" panose="020B0A04020102020204" pitchFamily="34" charset="0"/>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n1, </a:t>
            </a:r>
            <a:r>
              <a:rPr lang="en-US" sz="1400" kern="0" dirty="0">
                <a:solidFill>
                  <a:srgbClr val="00B050"/>
                </a:solidFill>
                <a:latin typeface="Arial Black" panose="020B0A04020102020204" pitchFamily="34" charset="0"/>
                <a:ea typeface="Adobe Fan Heiti Std B" pitchFamily="34" charset="-128"/>
              </a:rPr>
              <a:t>T</a:t>
            </a:r>
            <a:r>
              <a:rPr lang="en-US" sz="1400" kern="0" dirty="0">
                <a:solidFill>
                  <a:schemeClr val="accent1"/>
                </a:solidFill>
                <a:latin typeface="Arial Black" panose="020B0A04020102020204" pitchFamily="34" charset="0"/>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n2 </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      </a:t>
            </a:r>
            <a:r>
              <a:rPr lang="en-US" sz="1400" kern="0" dirty="0">
                <a:solidFill>
                  <a:schemeClr val="accent4">
                    <a:lumMod val="75000"/>
                    <a:lumOff val="25000"/>
                  </a:schemeClr>
                </a:solidFill>
                <a:latin typeface="Adobe Fan Heiti Std B" pitchFamily="34" charset="-128"/>
                <a:ea typeface="Adobe Fan Heiti Std B" pitchFamily="34" charset="-128"/>
              </a:rPr>
              <a:t>double</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suma</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a:solidFill>
                  <a:srgbClr val="000000"/>
                </a:solidFill>
                <a:latin typeface="Adobe Fan Heiti Std B" pitchFamily="34" charset="-128"/>
                <a:ea typeface="Adobe Fan Heiti Std B" pitchFamily="34" charset="-128"/>
              </a:rPr>
              <a:t>n1</a:t>
            </a:r>
            <a:r>
              <a:rPr lang="en-US" sz="1400" kern="0" dirty="0">
                <a:solidFill>
                  <a:schemeClr val="bg2">
                    <a:lumMod val="50000"/>
                  </a:schemeClr>
                </a:solidFill>
                <a:latin typeface="Adobe Fan Heiti Std B" pitchFamily="34" charset="-128"/>
                <a:ea typeface="Adobe Fan Heiti Std B" pitchFamily="34" charset="-128"/>
              </a:rPr>
              <a:t>.</a:t>
            </a:r>
            <a:r>
              <a:rPr lang="en-US" sz="1400" kern="0" dirty="0">
                <a:solidFill>
                  <a:srgbClr val="FF3300"/>
                </a:solidFill>
                <a:latin typeface="Adobe Fan Heiti Std B" pitchFamily="34" charset="-128"/>
                <a:ea typeface="Adobe Fan Heiti Std B" pitchFamily="34" charset="-128"/>
              </a:rPr>
              <a:t>doubleValue()</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a:solidFill>
                  <a:srgbClr val="000000"/>
                </a:solidFill>
                <a:latin typeface="Adobe Fan Heiti Std B" pitchFamily="34" charset="-128"/>
                <a:ea typeface="Adobe Fan Heiti Std B" pitchFamily="34" charset="-128"/>
              </a:rPr>
              <a:t>n2</a:t>
            </a:r>
            <a:r>
              <a:rPr lang="en-US" sz="1400" kern="0" dirty="0">
                <a:solidFill>
                  <a:schemeClr val="bg2">
                    <a:lumMod val="50000"/>
                  </a:schemeClr>
                </a:solidFill>
                <a:latin typeface="Adobe Fan Heiti Std B" pitchFamily="34" charset="-128"/>
                <a:ea typeface="Adobe Fan Heiti Std B" pitchFamily="34" charset="-128"/>
              </a:rPr>
              <a:t>.</a:t>
            </a:r>
            <a:r>
              <a:rPr lang="en-US" sz="1400" kern="0" dirty="0">
                <a:solidFill>
                  <a:srgbClr val="FF3300"/>
                </a:solidFill>
                <a:latin typeface="Adobe Fan Heiti Std B" pitchFamily="34" charset="-128"/>
                <a:ea typeface="Adobe Fan Heiti Std B" pitchFamily="34" charset="-128"/>
              </a:rPr>
              <a:t>doubleValue()</a:t>
            </a:r>
            <a:r>
              <a:rPr lang="en-US" sz="1400" kern="0" dirty="0">
                <a:solidFill>
                  <a:schemeClr val="bg2">
                    <a:lumMod val="50000"/>
                  </a:schemeClr>
                </a:solidFill>
                <a:latin typeface="Adobe Fan Heiti Std B" pitchFamily="34" charset="-128"/>
                <a:ea typeface="Adobe Fan Heiti Std B" pitchFamily="34" charset="-128"/>
              </a:rPr>
              <a:t> ;</a:t>
            </a:r>
          </a:p>
          <a:p>
            <a:pPr marL="0" indent="0">
              <a:buNone/>
            </a:pPr>
            <a:r>
              <a:rPr lang="en-US" sz="1400" kern="0" dirty="0">
                <a:solidFill>
                  <a:srgbClr val="000000"/>
                </a:solidFill>
                <a:latin typeface="Adobe Fan Heiti Std B" pitchFamily="34" charset="-128"/>
                <a:ea typeface="Adobe Fan Heiti Std B" pitchFamily="34" charset="-128"/>
              </a:rPr>
              <a:t>      </a:t>
            </a:r>
            <a:r>
              <a:rPr lang="en-US" sz="1400" kern="0" dirty="0">
                <a:solidFill>
                  <a:schemeClr val="bg1">
                    <a:lumMod val="50000"/>
                  </a:schemeClr>
                </a:solidFill>
                <a:latin typeface="Adobe Fan Heiti Std B" pitchFamily="34" charset="-128"/>
                <a:ea typeface="Adobe Fan Heiti Std B" pitchFamily="34" charset="-128"/>
              </a:rPr>
              <a:t>return</a:t>
            </a:r>
            <a:r>
              <a:rPr lang="en-US" sz="1400" kern="0" dirty="0">
                <a:solidFill>
                  <a:srgbClr val="00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suma</a:t>
            </a:r>
            <a:r>
              <a:rPr lang="en-US" sz="1400" kern="0" dirty="0">
                <a:solidFill>
                  <a:srgbClr val="000000"/>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51" name="2 Marcador de contenido"/>
          <p:cNvSpPr txBox="1">
            <a:spLocks/>
          </p:cNvSpPr>
          <p:nvPr/>
        </p:nvSpPr>
        <p:spPr bwMode="auto">
          <a:xfrm>
            <a:off x="889100" y="1052736"/>
            <a:ext cx="7632848"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dirty="0"/>
              <a:t>Las clases envoltorio de los tipos primitivos numéricos extienden a una clase llamada </a:t>
            </a:r>
            <a:r>
              <a:rPr lang="es-ES" sz="1600" kern="0" dirty="0" err="1"/>
              <a:t>Number</a:t>
            </a:r>
            <a:r>
              <a:rPr lang="es-ES" sz="1600" kern="0" dirty="0"/>
              <a:t>.</a:t>
            </a:r>
          </a:p>
        </p:txBody>
      </p:sp>
      <p:sp>
        <p:nvSpPr>
          <p:cNvPr id="52" name="2 Marcador de contenido"/>
          <p:cNvSpPr txBox="1">
            <a:spLocks/>
          </p:cNvSpPr>
          <p:nvPr/>
        </p:nvSpPr>
        <p:spPr bwMode="auto">
          <a:xfrm>
            <a:off x="971600" y="4005064"/>
            <a:ext cx="7632848"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a:t>Dichas clases envoltorio heredan de Number varios </a:t>
            </a:r>
            <a:r>
              <a:rPr lang="es-ES" sz="1600" kern="0" dirty="0"/>
              <a:t>métodos </a:t>
            </a:r>
            <a:r>
              <a:rPr lang="es-ES" sz="1600" kern="0"/>
              <a:t>que les permite </a:t>
            </a:r>
            <a:r>
              <a:rPr lang="es-ES" sz="1600" kern="0" dirty="0"/>
              <a:t>extraer el </a:t>
            </a:r>
            <a:r>
              <a:rPr lang="es-ES" sz="1600" kern="0"/>
              <a:t>valor numérico de su interior.</a:t>
            </a:r>
            <a:endParaRPr lang="es-ES" sz="1600" kern="0" dirty="0"/>
          </a:p>
        </p:txBody>
      </p:sp>
      <p:sp>
        <p:nvSpPr>
          <p:cNvPr id="53" name="2 Marcador de contenido"/>
          <p:cNvSpPr txBox="1">
            <a:spLocks/>
          </p:cNvSpPr>
          <p:nvPr/>
        </p:nvSpPr>
        <p:spPr bwMode="auto">
          <a:xfrm>
            <a:off x="971600" y="4653136"/>
            <a:ext cx="7632848" cy="775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dirty="0"/>
              <a:t>Y nos permite crear métodos genéricos que acepten exclusivamente objetos de clases que extiendan a </a:t>
            </a:r>
            <a:r>
              <a:rPr lang="es-ES" sz="1600" kern="0" dirty="0" err="1"/>
              <a:t>Number</a:t>
            </a:r>
            <a:r>
              <a:rPr lang="es-ES" sz="1600" kern="0" dirty="0"/>
              <a:t>, al tiempo que nos permite manipular sus valores numéricos.</a:t>
            </a:r>
          </a:p>
        </p:txBody>
      </p:sp>
      <p:sp>
        <p:nvSpPr>
          <p:cNvPr id="49" name="Rectangle 3"/>
          <p:cNvSpPr txBox="1">
            <a:spLocks noChangeArrowheads="1"/>
          </p:cNvSpPr>
          <p:nvPr/>
        </p:nvSpPr>
        <p:spPr bwMode="auto">
          <a:xfrm>
            <a:off x="1908298" y="5601816"/>
            <a:ext cx="5962848" cy="121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public </a:t>
            </a:r>
            <a:r>
              <a:rPr lang="en-US" sz="1400" kern="0" dirty="0">
                <a:solidFill>
                  <a:schemeClr val="accent4">
                    <a:lumMod val="75000"/>
                    <a:lumOff val="25000"/>
                  </a:schemeClr>
                </a:solidFill>
                <a:latin typeface="Adobe Fan Heiti Std B" pitchFamily="34" charset="-128"/>
                <a:ea typeface="Adobe Fan Heiti Std B" pitchFamily="34" charset="-128"/>
              </a:rPr>
              <a:t>double</a:t>
            </a:r>
            <a:r>
              <a:rPr lang="en-US" sz="1400" kern="0" dirty="0">
                <a:solidFill>
                  <a:schemeClr val="accent1"/>
                </a:solidFill>
                <a:latin typeface="Adobe Fan Heiti Std B" pitchFamily="34" charset="-128"/>
                <a:ea typeface="Adobe Fan Heiti Std B" pitchFamily="34" charset="-128"/>
              </a:rPr>
              <a:t> </a:t>
            </a:r>
            <a:r>
              <a:rPr lang="en-US" sz="1400" kern="0" dirty="0" err="1">
                <a:solidFill>
                  <a:srgbClr val="FF0000"/>
                </a:solidFill>
                <a:latin typeface="Adobe Fan Heiti Std B" pitchFamily="34" charset="-128"/>
                <a:ea typeface="Adobe Fan Heiti Std B" pitchFamily="34" charset="-128"/>
              </a:rPr>
              <a:t>sumar</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B050"/>
                </a:solidFill>
                <a:latin typeface="Arial Black" panose="020B0A04020102020204" pitchFamily="34" charset="0"/>
                <a:ea typeface="Adobe Fan Heiti Std B" pitchFamily="34" charset="-128"/>
              </a:rPr>
              <a:t>Number</a:t>
            </a:r>
            <a:r>
              <a:rPr lang="en-US" sz="1400" kern="0" dirty="0">
                <a:solidFill>
                  <a:schemeClr val="accent1"/>
                </a:solidFill>
                <a:latin typeface="Arial Black" panose="020B0A04020102020204" pitchFamily="34" charset="0"/>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n1, </a:t>
            </a:r>
            <a:r>
              <a:rPr lang="en-US" sz="1400" kern="0" dirty="0">
                <a:solidFill>
                  <a:srgbClr val="00B050"/>
                </a:solidFill>
                <a:latin typeface="Arial Black" panose="020B0A04020102020204" pitchFamily="34" charset="0"/>
                <a:ea typeface="Adobe Fan Heiti Std B" pitchFamily="34" charset="-128"/>
              </a:rPr>
              <a:t>Number</a:t>
            </a:r>
            <a:r>
              <a:rPr lang="en-US" sz="1400" kern="0" dirty="0">
                <a:solidFill>
                  <a:schemeClr val="accent1"/>
                </a:solidFill>
                <a:latin typeface="Arial Black" panose="020B0A04020102020204" pitchFamily="34" charset="0"/>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n2 </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      </a:t>
            </a:r>
            <a:r>
              <a:rPr lang="en-US" sz="1400" kern="0" dirty="0">
                <a:solidFill>
                  <a:schemeClr val="accent4">
                    <a:lumMod val="75000"/>
                    <a:lumOff val="25000"/>
                  </a:schemeClr>
                </a:solidFill>
                <a:latin typeface="Adobe Fan Heiti Std B" pitchFamily="34" charset="-128"/>
                <a:ea typeface="Adobe Fan Heiti Std B" pitchFamily="34" charset="-128"/>
              </a:rPr>
              <a:t>double</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suma</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a:solidFill>
                  <a:srgbClr val="000000"/>
                </a:solidFill>
                <a:latin typeface="Adobe Fan Heiti Std B" pitchFamily="34" charset="-128"/>
                <a:ea typeface="Adobe Fan Heiti Std B" pitchFamily="34" charset="-128"/>
              </a:rPr>
              <a:t>n1</a:t>
            </a:r>
            <a:r>
              <a:rPr lang="en-US" sz="1400" kern="0" dirty="0">
                <a:solidFill>
                  <a:schemeClr val="bg2">
                    <a:lumMod val="50000"/>
                  </a:schemeClr>
                </a:solidFill>
                <a:latin typeface="Adobe Fan Heiti Std B" pitchFamily="34" charset="-128"/>
                <a:ea typeface="Adobe Fan Heiti Std B" pitchFamily="34" charset="-128"/>
              </a:rPr>
              <a:t>.</a:t>
            </a:r>
            <a:r>
              <a:rPr lang="en-US" sz="1400" kern="0" dirty="0">
                <a:solidFill>
                  <a:srgbClr val="FF3300"/>
                </a:solidFill>
                <a:latin typeface="Adobe Fan Heiti Std B" pitchFamily="34" charset="-128"/>
                <a:ea typeface="Adobe Fan Heiti Std B" pitchFamily="34" charset="-128"/>
              </a:rPr>
              <a:t>doubleValue()</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a:solidFill>
                  <a:srgbClr val="000000"/>
                </a:solidFill>
                <a:latin typeface="Adobe Fan Heiti Std B" pitchFamily="34" charset="-128"/>
                <a:ea typeface="Adobe Fan Heiti Std B" pitchFamily="34" charset="-128"/>
              </a:rPr>
              <a:t>n2</a:t>
            </a:r>
            <a:r>
              <a:rPr lang="en-US" sz="1400" kern="0" dirty="0">
                <a:solidFill>
                  <a:schemeClr val="bg2">
                    <a:lumMod val="50000"/>
                  </a:schemeClr>
                </a:solidFill>
                <a:latin typeface="Adobe Fan Heiti Std B" pitchFamily="34" charset="-128"/>
                <a:ea typeface="Adobe Fan Heiti Std B" pitchFamily="34" charset="-128"/>
              </a:rPr>
              <a:t>.</a:t>
            </a:r>
            <a:r>
              <a:rPr lang="en-US" sz="1400" kern="0" dirty="0">
                <a:solidFill>
                  <a:srgbClr val="FF3300"/>
                </a:solidFill>
                <a:latin typeface="Adobe Fan Heiti Std B" pitchFamily="34" charset="-128"/>
                <a:ea typeface="Adobe Fan Heiti Std B" pitchFamily="34" charset="-128"/>
              </a:rPr>
              <a:t>doubleValue()</a:t>
            </a:r>
            <a:r>
              <a:rPr lang="en-US" sz="1400" kern="0" dirty="0">
                <a:solidFill>
                  <a:schemeClr val="bg2">
                    <a:lumMod val="50000"/>
                  </a:schemeClr>
                </a:solidFill>
                <a:latin typeface="Adobe Fan Heiti Std B" pitchFamily="34" charset="-128"/>
                <a:ea typeface="Adobe Fan Heiti Std B" pitchFamily="34" charset="-128"/>
              </a:rPr>
              <a:t> ;</a:t>
            </a:r>
          </a:p>
          <a:p>
            <a:pPr marL="0" indent="0">
              <a:buNone/>
            </a:pPr>
            <a:r>
              <a:rPr lang="en-US" sz="1400" kern="0" dirty="0">
                <a:solidFill>
                  <a:srgbClr val="000000"/>
                </a:solidFill>
                <a:latin typeface="Adobe Fan Heiti Std B" pitchFamily="34" charset="-128"/>
                <a:ea typeface="Adobe Fan Heiti Std B" pitchFamily="34" charset="-128"/>
              </a:rPr>
              <a:t>      </a:t>
            </a:r>
            <a:r>
              <a:rPr lang="en-US" sz="1400" kern="0" dirty="0">
                <a:solidFill>
                  <a:schemeClr val="bg1">
                    <a:lumMod val="50000"/>
                  </a:schemeClr>
                </a:solidFill>
                <a:latin typeface="Adobe Fan Heiti Std B" pitchFamily="34" charset="-128"/>
                <a:ea typeface="Adobe Fan Heiti Std B" pitchFamily="34" charset="-128"/>
              </a:rPr>
              <a:t>return</a:t>
            </a:r>
            <a:r>
              <a:rPr lang="en-US" sz="1400" kern="0" dirty="0">
                <a:solidFill>
                  <a:srgbClr val="00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suma</a:t>
            </a:r>
            <a:r>
              <a:rPr lang="en-US" sz="1400" kern="0" dirty="0">
                <a:solidFill>
                  <a:srgbClr val="000000"/>
                </a:solidFill>
                <a:latin typeface="Adobe Fan Heiti Std B" pitchFamily="34" charset="-128"/>
                <a:ea typeface="Adobe Fan Heiti Std B" pitchFamily="34" charset="-128"/>
              </a:rPr>
              <a:t>;</a:t>
            </a: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Tree>
    <p:extLst>
      <p:ext uri="{BB962C8B-B14F-4D97-AF65-F5344CB8AC3E}">
        <p14:creationId xmlns:p14="http://schemas.microsoft.com/office/powerpoint/2010/main" val="2128265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3"/>
                                        </p:tgtEl>
                                        <p:attrNameLst>
                                          <p:attrName>style.visibility</p:attrName>
                                        </p:attrNameLst>
                                      </p:cBhvr>
                                      <p:to>
                                        <p:strVal val="visible"/>
                                      </p:to>
                                    </p:set>
                                    <p:animEffect transition="in" filter="wipe(down)">
                                      <p:cBhvr>
                                        <p:cTn id="10" dur="500"/>
                                        <p:tgtEl>
                                          <p:spTgt spid="83"/>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wipe(down)">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anim calcmode="lin" valueType="num">
                                      <p:cBhvr>
                                        <p:cTn id="23" dur="500" fill="hold"/>
                                        <p:tgtEl>
                                          <p:spTgt spid="69"/>
                                        </p:tgtEl>
                                        <p:attrNameLst>
                                          <p:attrName>ppt_w</p:attrName>
                                        </p:attrNameLst>
                                      </p:cBhvr>
                                      <p:tavLst>
                                        <p:tav tm="0">
                                          <p:val>
                                            <p:fltVal val="0"/>
                                          </p:val>
                                        </p:tav>
                                        <p:tav tm="100000">
                                          <p:val>
                                            <p:strVal val="#ppt_w"/>
                                          </p:val>
                                        </p:tav>
                                      </p:tavLst>
                                    </p:anim>
                                    <p:anim calcmode="lin" valueType="num">
                                      <p:cBhvr>
                                        <p:cTn id="24" dur="500" fill="hold"/>
                                        <p:tgtEl>
                                          <p:spTgt spid="69"/>
                                        </p:tgtEl>
                                        <p:attrNameLst>
                                          <p:attrName>ppt_h</p:attrName>
                                        </p:attrNameLst>
                                      </p:cBhvr>
                                      <p:tavLst>
                                        <p:tav tm="0">
                                          <p:val>
                                            <p:fltVal val="0"/>
                                          </p:val>
                                        </p:tav>
                                        <p:tav tm="100000">
                                          <p:val>
                                            <p:strVal val="#ppt_h"/>
                                          </p:val>
                                        </p:tav>
                                      </p:tavLst>
                                    </p:anim>
                                    <p:animEffect transition="in" filter="fade">
                                      <p:cBhvr>
                                        <p:cTn id="25" dur="500"/>
                                        <p:tgtEl>
                                          <p:spTgt spid="69"/>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70"/>
                                        </p:tgtEl>
                                        <p:attrNameLst>
                                          <p:attrName>style.visibility</p:attrName>
                                        </p:attrNameLst>
                                      </p:cBhvr>
                                      <p:to>
                                        <p:strVal val="visible"/>
                                      </p:to>
                                    </p:set>
                                    <p:anim calcmode="lin" valueType="num">
                                      <p:cBhvr>
                                        <p:cTn id="30" dur="500" fill="hold"/>
                                        <p:tgtEl>
                                          <p:spTgt spid="70"/>
                                        </p:tgtEl>
                                        <p:attrNameLst>
                                          <p:attrName>ppt_w</p:attrName>
                                        </p:attrNameLst>
                                      </p:cBhvr>
                                      <p:tavLst>
                                        <p:tav tm="0">
                                          <p:val>
                                            <p:fltVal val="0"/>
                                          </p:val>
                                        </p:tav>
                                        <p:tav tm="100000">
                                          <p:val>
                                            <p:strVal val="#ppt_w"/>
                                          </p:val>
                                        </p:tav>
                                      </p:tavLst>
                                    </p:anim>
                                    <p:anim calcmode="lin" valueType="num">
                                      <p:cBhvr>
                                        <p:cTn id="31" dur="500" fill="hold"/>
                                        <p:tgtEl>
                                          <p:spTgt spid="70"/>
                                        </p:tgtEl>
                                        <p:attrNameLst>
                                          <p:attrName>ppt_h</p:attrName>
                                        </p:attrNameLst>
                                      </p:cBhvr>
                                      <p:tavLst>
                                        <p:tav tm="0">
                                          <p:val>
                                            <p:fltVal val="0"/>
                                          </p:val>
                                        </p:tav>
                                        <p:tav tm="100000">
                                          <p:val>
                                            <p:strVal val="#ppt_h"/>
                                          </p:val>
                                        </p:tav>
                                      </p:tavLst>
                                    </p:anim>
                                    <p:animEffect transition="in" filter="fade">
                                      <p:cBhvr>
                                        <p:cTn id="32" dur="500"/>
                                        <p:tgtEl>
                                          <p:spTgt spid="70"/>
                                        </p:tgtEl>
                                      </p:cBhvr>
                                    </p:animEffect>
                                  </p:childTnLst>
                                </p:cTn>
                              </p:par>
                            </p:childTnLst>
                          </p:cTn>
                        </p:par>
                        <p:par>
                          <p:cTn id="33" fill="hold">
                            <p:stCondLst>
                              <p:cond delay="500"/>
                            </p:stCondLst>
                            <p:childTnLst>
                              <p:par>
                                <p:cTn id="34" presetID="53" presetClass="entr" presetSubtype="16" fill="hold" grpId="0" nodeType="afterEffect">
                                  <p:stCondLst>
                                    <p:cond delay="500"/>
                                  </p:stCondLst>
                                  <p:childTnLst>
                                    <p:set>
                                      <p:cBhvr>
                                        <p:cTn id="35" dur="1" fill="hold">
                                          <p:stCondLst>
                                            <p:cond delay="0"/>
                                          </p:stCondLst>
                                        </p:cTn>
                                        <p:tgtEl>
                                          <p:spTgt spid="71"/>
                                        </p:tgtEl>
                                        <p:attrNameLst>
                                          <p:attrName>style.visibility</p:attrName>
                                        </p:attrNameLst>
                                      </p:cBhvr>
                                      <p:to>
                                        <p:strVal val="visible"/>
                                      </p:to>
                                    </p:set>
                                    <p:anim calcmode="lin" valueType="num">
                                      <p:cBhvr>
                                        <p:cTn id="36" dur="500" fill="hold"/>
                                        <p:tgtEl>
                                          <p:spTgt spid="71"/>
                                        </p:tgtEl>
                                        <p:attrNameLst>
                                          <p:attrName>ppt_w</p:attrName>
                                        </p:attrNameLst>
                                      </p:cBhvr>
                                      <p:tavLst>
                                        <p:tav tm="0">
                                          <p:val>
                                            <p:fltVal val="0"/>
                                          </p:val>
                                        </p:tav>
                                        <p:tav tm="100000">
                                          <p:val>
                                            <p:strVal val="#ppt_w"/>
                                          </p:val>
                                        </p:tav>
                                      </p:tavLst>
                                    </p:anim>
                                    <p:anim calcmode="lin" valueType="num">
                                      <p:cBhvr>
                                        <p:cTn id="37" dur="500" fill="hold"/>
                                        <p:tgtEl>
                                          <p:spTgt spid="71"/>
                                        </p:tgtEl>
                                        <p:attrNameLst>
                                          <p:attrName>ppt_h</p:attrName>
                                        </p:attrNameLst>
                                      </p:cBhvr>
                                      <p:tavLst>
                                        <p:tav tm="0">
                                          <p:val>
                                            <p:fltVal val="0"/>
                                          </p:val>
                                        </p:tav>
                                        <p:tav tm="100000">
                                          <p:val>
                                            <p:strVal val="#ppt_h"/>
                                          </p:val>
                                        </p:tav>
                                      </p:tavLst>
                                    </p:anim>
                                    <p:animEffect transition="in" filter="fade">
                                      <p:cBhvr>
                                        <p:cTn id="38" dur="500"/>
                                        <p:tgtEl>
                                          <p:spTgt spid="71"/>
                                        </p:tgtEl>
                                      </p:cBhvr>
                                    </p:animEffect>
                                  </p:childTnLst>
                                </p:cTn>
                              </p:par>
                            </p:childTnLst>
                          </p:cTn>
                        </p:par>
                        <p:par>
                          <p:cTn id="39" fill="hold">
                            <p:stCondLst>
                              <p:cond delay="1500"/>
                            </p:stCondLst>
                            <p:childTnLst>
                              <p:par>
                                <p:cTn id="40" presetID="53" presetClass="entr" presetSubtype="16" fill="hold" grpId="0" nodeType="afterEffect">
                                  <p:stCondLst>
                                    <p:cond delay="500"/>
                                  </p:stCondLst>
                                  <p:childTnLst>
                                    <p:set>
                                      <p:cBhvr>
                                        <p:cTn id="41" dur="1" fill="hold">
                                          <p:stCondLst>
                                            <p:cond delay="0"/>
                                          </p:stCondLst>
                                        </p:cTn>
                                        <p:tgtEl>
                                          <p:spTgt spid="72"/>
                                        </p:tgtEl>
                                        <p:attrNameLst>
                                          <p:attrName>style.visibility</p:attrName>
                                        </p:attrNameLst>
                                      </p:cBhvr>
                                      <p:to>
                                        <p:strVal val="visible"/>
                                      </p:to>
                                    </p:set>
                                    <p:anim calcmode="lin" valueType="num">
                                      <p:cBhvr>
                                        <p:cTn id="42" dur="500" fill="hold"/>
                                        <p:tgtEl>
                                          <p:spTgt spid="72"/>
                                        </p:tgtEl>
                                        <p:attrNameLst>
                                          <p:attrName>ppt_w</p:attrName>
                                        </p:attrNameLst>
                                      </p:cBhvr>
                                      <p:tavLst>
                                        <p:tav tm="0">
                                          <p:val>
                                            <p:fltVal val="0"/>
                                          </p:val>
                                        </p:tav>
                                        <p:tav tm="100000">
                                          <p:val>
                                            <p:strVal val="#ppt_w"/>
                                          </p:val>
                                        </p:tav>
                                      </p:tavLst>
                                    </p:anim>
                                    <p:anim calcmode="lin" valueType="num">
                                      <p:cBhvr>
                                        <p:cTn id="43" dur="500" fill="hold"/>
                                        <p:tgtEl>
                                          <p:spTgt spid="72"/>
                                        </p:tgtEl>
                                        <p:attrNameLst>
                                          <p:attrName>ppt_h</p:attrName>
                                        </p:attrNameLst>
                                      </p:cBhvr>
                                      <p:tavLst>
                                        <p:tav tm="0">
                                          <p:val>
                                            <p:fltVal val="0"/>
                                          </p:val>
                                        </p:tav>
                                        <p:tav tm="100000">
                                          <p:val>
                                            <p:strVal val="#ppt_h"/>
                                          </p:val>
                                        </p:tav>
                                      </p:tavLst>
                                    </p:anim>
                                    <p:animEffect transition="in" filter="fade">
                                      <p:cBhvr>
                                        <p:cTn id="44" dur="500"/>
                                        <p:tgtEl>
                                          <p:spTgt spid="72"/>
                                        </p:tgtEl>
                                      </p:cBhvr>
                                    </p:animEffect>
                                  </p:childTnLst>
                                </p:cTn>
                              </p:par>
                            </p:childTnLst>
                          </p:cTn>
                        </p:par>
                        <p:par>
                          <p:cTn id="45" fill="hold">
                            <p:stCondLst>
                              <p:cond delay="2500"/>
                            </p:stCondLst>
                            <p:childTnLst>
                              <p:par>
                                <p:cTn id="46" presetID="53" presetClass="entr" presetSubtype="16" fill="hold" grpId="0" nodeType="afterEffect">
                                  <p:stCondLst>
                                    <p:cond delay="500"/>
                                  </p:stCondLst>
                                  <p:childTnLst>
                                    <p:set>
                                      <p:cBhvr>
                                        <p:cTn id="47" dur="1" fill="hold">
                                          <p:stCondLst>
                                            <p:cond delay="0"/>
                                          </p:stCondLst>
                                        </p:cTn>
                                        <p:tgtEl>
                                          <p:spTgt spid="73"/>
                                        </p:tgtEl>
                                        <p:attrNameLst>
                                          <p:attrName>style.visibility</p:attrName>
                                        </p:attrNameLst>
                                      </p:cBhvr>
                                      <p:to>
                                        <p:strVal val="visible"/>
                                      </p:to>
                                    </p:set>
                                    <p:anim calcmode="lin" valueType="num">
                                      <p:cBhvr>
                                        <p:cTn id="48" dur="500" fill="hold"/>
                                        <p:tgtEl>
                                          <p:spTgt spid="73"/>
                                        </p:tgtEl>
                                        <p:attrNameLst>
                                          <p:attrName>ppt_w</p:attrName>
                                        </p:attrNameLst>
                                      </p:cBhvr>
                                      <p:tavLst>
                                        <p:tav tm="0">
                                          <p:val>
                                            <p:fltVal val="0"/>
                                          </p:val>
                                        </p:tav>
                                        <p:tav tm="100000">
                                          <p:val>
                                            <p:strVal val="#ppt_w"/>
                                          </p:val>
                                        </p:tav>
                                      </p:tavLst>
                                    </p:anim>
                                    <p:anim calcmode="lin" valueType="num">
                                      <p:cBhvr>
                                        <p:cTn id="49" dur="500" fill="hold"/>
                                        <p:tgtEl>
                                          <p:spTgt spid="73"/>
                                        </p:tgtEl>
                                        <p:attrNameLst>
                                          <p:attrName>ppt_h</p:attrName>
                                        </p:attrNameLst>
                                      </p:cBhvr>
                                      <p:tavLst>
                                        <p:tav tm="0">
                                          <p:val>
                                            <p:fltVal val="0"/>
                                          </p:val>
                                        </p:tav>
                                        <p:tav tm="100000">
                                          <p:val>
                                            <p:strVal val="#ppt_h"/>
                                          </p:val>
                                        </p:tav>
                                      </p:tavLst>
                                    </p:anim>
                                    <p:animEffect transition="in" filter="fade">
                                      <p:cBhvr>
                                        <p:cTn id="50" dur="500"/>
                                        <p:tgtEl>
                                          <p:spTgt spid="73"/>
                                        </p:tgtEl>
                                      </p:cBhvr>
                                    </p:animEffect>
                                  </p:childTnLst>
                                </p:cTn>
                              </p:par>
                            </p:childTnLst>
                          </p:cTn>
                        </p:par>
                        <p:par>
                          <p:cTn id="51" fill="hold">
                            <p:stCondLst>
                              <p:cond delay="3500"/>
                            </p:stCondLst>
                            <p:childTnLst>
                              <p:par>
                                <p:cTn id="52" presetID="53" presetClass="entr" presetSubtype="16" fill="hold" grpId="0" nodeType="afterEffect">
                                  <p:stCondLst>
                                    <p:cond delay="500"/>
                                  </p:stCondLst>
                                  <p:childTnLst>
                                    <p:set>
                                      <p:cBhvr>
                                        <p:cTn id="53" dur="1" fill="hold">
                                          <p:stCondLst>
                                            <p:cond delay="0"/>
                                          </p:stCondLst>
                                        </p:cTn>
                                        <p:tgtEl>
                                          <p:spTgt spid="74"/>
                                        </p:tgtEl>
                                        <p:attrNameLst>
                                          <p:attrName>style.visibility</p:attrName>
                                        </p:attrNameLst>
                                      </p:cBhvr>
                                      <p:to>
                                        <p:strVal val="visible"/>
                                      </p:to>
                                    </p:set>
                                    <p:anim calcmode="lin" valueType="num">
                                      <p:cBhvr>
                                        <p:cTn id="54" dur="500" fill="hold"/>
                                        <p:tgtEl>
                                          <p:spTgt spid="74"/>
                                        </p:tgtEl>
                                        <p:attrNameLst>
                                          <p:attrName>ppt_w</p:attrName>
                                        </p:attrNameLst>
                                      </p:cBhvr>
                                      <p:tavLst>
                                        <p:tav tm="0">
                                          <p:val>
                                            <p:fltVal val="0"/>
                                          </p:val>
                                        </p:tav>
                                        <p:tav tm="100000">
                                          <p:val>
                                            <p:strVal val="#ppt_w"/>
                                          </p:val>
                                        </p:tav>
                                      </p:tavLst>
                                    </p:anim>
                                    <p:anim calcmode="lin" valueType="num">
                                      <p:cBhvr>
                                        <p:cTn id="55" dur="500" fill="hold"/>
                                        <p:tgtEl>
                                          <p:spTgt spid="74"/>
                                        </p:tgtEl>
                                        <p:attrNameLst>
                                          <p:attrName>ppt_h</p:attrName>
                                        </p:attrNameLst>
                                      </p:cBhvr>
                                      <p:tavLst>
                                        <p:tav tm="0">
                                          <p:val>
                                            <p:fltVal val="0"/>
                                          </p:val>
                                        </p:tav>
                                        <p:tav tm="100000">
                                          <p:val>
                                            <p:strVal val="#ppt_h"/>
                                          </p:val>
                                        </p:tav>
                                      </p:tavLst>
                                    </p:anim>
                                    <p:animEffect transition="in" filter="fade">
                                      <p:cBhvr>
                                        <p:cTn id="56" dur="500"/>
                                        <p:tgtEl>
                                          <p:spTgt spid="74"/>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fade">
                                      <p:cBhvr>
                                        <p:cTn id="65" dur="500"/>
                                        <p:tgtEl>
                                          <p:spTgt spid="66"/>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67">
                                            <p:txEl>
                                              <p:pRg st="0" end="0"/>
                                            </p:txEl>
                                          </p:spTgt>
                                        </p:tgtEl>
                                        <p:attrNameLst>
                                          <p:attrName>style.visibility</p:attrName>
                                        </p:attrNameLst>
                                      </p:cBhvr>
                                      <p:to>
                                        <p:strVal val="visible"/>
                                      </p:to>
                                    </p:set>
                                    <p:anim calcmode="lin" valueType="num">
                                      <p:cBhvr>
                                        <p:cTn id="68" dur="500" fill="hold"/>
                                        <p:tgtEl>
                                          <p:spTgt spid="67">
                                            <p:txEl>
                                              <p:pRg st="0" end="0"/>
                                            </p:txEl>
                                          </p:spTgt>
                                        </p:tgtEl>
                                        <p:attrNameLst>
                                          <p:attrName>ppt_w</p:attrName>
                                        </p:attrNameLst>
                                      </p:cBhvr>
                                      <p:tavLst>
                                        <p:tav tm="0">
                                          <p:val>
                                            <p:fltVal val="0"/>
                                          </p:val>
                                        </p:tav>
                                        <p:tav tm="100000">
                                          <p:val>
                                            <p:strVal val="#ppt_w"/>
                                          </p:val>
                                        </p:tav>
                                      </p:tavLst>
                                    </p:anim>
                                    <p:anim calcmode="lin" valueType="num">
                                      <p:cBhvr>
                                        <p:cTn id="69" dur="500" fill="hold"/>
                                        <p:tgtEl>
                                          <p:spTgt spid="67">
                                            <p:txEl>
                                              <p:pRg st="0" end="0"/>
                                            </p:txEl>
                                          </p:spTgt>
                                        </p:tgtEl>
                                        <p:attrNameLst>
                                          <p:attrName>ppt_h</p:attrName>
                                        </p:attrNameLst>
                                      </p:cBhvr>
                                      <p:tavLst>
                                        <p:tav tm="0">
                                          <p:val>
                                            <p:fltVal val="0"/>
                                          </p:val>
                                        </p:tav>
                                        <p:tav tm="100000">
                                          <p:val>
                                            <p:strVal val="#ppt_h"/>
                                          </p:val>
                                        </p:tav>
                                      </p:tavLst>
                                    </p:anim>
                                    <p:animEffect transition="in" filter="fade">
                                      <p:cBhvr>
                                        <p:cTn id="70" dur="500"/>
                                        <p:tgtEl>
                                          <p:spTgt spid="67">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67">
                                            <p:txEl>
                                              <p:pRg st="1" end="1"/>
                                            </p:txEl>
                                          </p:spTgt>
                                        </p:tgtEl>
                                        <p:attrNameLst>
                                          <p:attrName>style.visibility</p:attrName>
                                        </p:attrNameLst>
                                      </p:cBhvr>
                                      <p:to>
                                        <p:strVal val="visible"/>
                                      </p:to>
                                    </p:set>
                                    <p:anim calcmode="lin" valueType="num">
                                      <p:cBhvr>
                                        <p:cTn id="75" dur="500" fill="hold"/>
                                        <p:tgtEl>
                                          <p:spTgt spid="67">
                                            <p:txEl>
                                              <p:pRg st="1" end="1"/>
                                            </p:txEl>
                                          </p:spTgt>
                                        </p:tgtEl>
                                        <p:attrNameLst>
                                          <p:attrName>ppt_w</p:attrName>
                                        </p:attrNameLst>
                                      </p:cBhvr>
                                      <p:tavLst>
                                        <p:tav tm="0">
                                          <p:val>
                                            <p:fltVal val="0"/>
                                          </p:val>
                                        </p:tav>
                                        <p:tav tm="100000">
                                          <p:val>
                                            <p:strVal val="#ppt_w"/>
                                          </p:val>
                                        </p:tav>
                                      </p:tavLst>
                                    </p:anim>
                                    <p:anim calcmode="lin" valueType="num">
                                      <p:cBhvr>
                                        <p:cTn id="76" dur="500" fill="hold"/>
                                        <p:tgtEl>
                                          <p:spTgt spid="67">
                                            <p:txEl>
                                              <p:pRg st="1" end="1"/>
                                            </p:txEl>
                                          </p:spTgt>
                                        </p:tgtEl>
                                        <p:attrNameLst>
                                          <p:attrName>ppt_h</p:attrName>
                                        </p:attrNameLst>
                                      </p:cBhvr>
                                      <p:tavLst>
                                        <p:tav tm="0">
                                          <p:val>
                                            <p:fltVal val="0"/>
                                          </p:val>
                                        </p:tav>
                                        <p:tav tm="100000">
                                          <p:val>
                                            <p:strVal val="#ppt_h"/>
                                          </p:val>
                                        </p:tav>
                                      </p:tavLst>
                                    </p:anim>
                                    <p:animEffect transition="in" filter="fade">
                                      <p:cBhvr>
                                        <p:cTn id="77" dur="500"/>
                                        <p:tgtEl>
                                          <p:spTgt spid="67">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67">
                                            <p:txEl>
                                              <p:pRg st="2" end="2"/>
                                            </p:txEl>
                                          </p:spTgt>
                                        </p:tgtEl>
                                        <p:attrNameLst>
                                          <p:attrName>style.visibility</p:attrName>
                                        </p:attrNameLst>
                                      </p:cBhvr>
                                      <p:to>
                                        <p:strVal val="visible"/>
                                      </p:to>
                                    </p:set>
                                    <p:anim calcmode="lin" valueType="num">
                                      <p:cBhvr>
                                        <p:cTn id="82" dur="500" fill="hold"/>
                                        <p:tgtEl>
                                          <p:spTgt spid="67">
                                            <p:txEl>
                                              <p:pRg st="2" end="2"/>
                                            </p:txEl>
                                          </p:spTgt>
                                        </p:tgtEl>
                                        <p:attrNameLst>
                                          <p:attrName>ppt_w</p:attrName>
                                        </p:attrNameLst>
                                      </p:cBhvr>
                                      <p:tavLst>
                                        <p:tav tm="0">
                                          <p:val>
                                            <p:fltVal val="0"/>
                                          </p:val>
                                        </p:tav>
                                        <p:tav tm="100000">
                                          <p:val>
                                            <p:strVal val="#ppt_w"/>
                                          </p:val>
                                        </p:tav>
                                      </p:tavLst>
                                    </p:anim>
                                    <p:anim calcmode="lin" valueType="num">
                                      <p:cBhvr>
                                        <p:cTn id="83" dur="500" fill="hold"/>
                                        <p:tgtEl>
                                          <p:spTgt spid="67">
                                            <p:txEl>
                                              <p:pRg st="2" end="2"/>
                                            </p:txEl>
                                          </p:spTgt>
                                        </p:tgtEl>
                                        <p:attrNameLst>
                                          <p:attrName>ppt_h</p:attrName>
                                        </p:attrNameLst>
                                      </p:cBhvr>
                                      <p:tavLst>
                                        <p:tav tm="0">
                                          <p:val>
                                            <p:fltVal val="0"/>
                                          </p:val>
                                        </p:tav>
                                        <p:tav tm="100000">
                                          <p:val>
                                            <p:strVal val="#ppt_h"/>
                                          </p:val>
                                        </p:tav>
                                      </p:tavLst>
                                    </p:anim>
                                    <p:animEffect transition="in" filter="fade">
                                      <p:cBhvr>
                                        <p:cTn id="84" dur="500"/>
                                        <p:tgtEl>
                                          <p:spTgt spid="67">
                                            <p:txEl>
                                              <p:pRg st="2" end="2"/>
                                            </p:txEl>
                                          </p:spTgt>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67">
                                            <p:txEl>
                                              <p:pRg st="3" end="3"/>
                                            </p:txEl>
                                          </p:spTgt>
                                        </p:tgtEl>
                                        <p:attrNameLst>
                                          <p:attrName>style.visibility</p:attrName>
                                        </p:attrNameLst>
                                      </p:cBhvr>
                                      <p:to>
                                        <p:strVal val="visible"/>
                                      </p:to>
                                    </p:set>
                                    <p:anim calcmode="lin" valueType="num">
                                      <p:cBhvr>
                                        <p:cTn id="87" dur="500" fill="hold"/>
                                        <p:tgtEl>
                                          <p:spTgt spid="67">
                                            <p:txEl>
                                              <p:pRg st="3" end="3"/>
                                            </p:txEl>
                                          </p:spTgt>
                                        </p:tgtEl>
                                        <p:attrNameLst>
                                          <p:attrName>ppt_w</p:attrName>
                                        </p:attrNameLst>
                                      </p:cBhvr>
                                      <p:tavLst>
                                        <p:tav tm="0">
                                          <p:val>
                                            <p:fltVal val="0"/>
                                          </p:val>
                                        </p:tav>
                                        <p:tav tm="100000">
                                          <p:val>
                                            <p:strVal val="#ppt_w"/>
                                          </p:val>
                                        </p:tav>
                                      </p:tavLst>
                                    </p:anim>
                                    <p:anim calcmode="lin" valueType="num">
                                      <p:cBhvr>
                                        <p:cTn id="88" dur="500" fill="hold"/>
                                        <p:tgtEl>
                                          <p:spTgt spid="67">
                                            <p:txEl>
                                              <p:pRg st="3" end="3"/>
                                            </p:txEl>
                                          </p:spTgt>
                                        </p:tgtEl>
                                        <p:attrNameLst>
                                          <p:attrName>ppt_h</p:attrName>
                                        </p:attrNameLst>
                                      </p:cBhvr>
                                      <p:tavLst>
                                        <p:tav tm="0">
                                          <p:val>
                                            <p:fltVal val="0"/>
                                          </p:val>
                                        </p:tav>
                                        <p:tav tm="100000">
                                          <p:val>
                                            <p:strVal val="#ppt_h"/>
                                          </p:val>
                                        </p:tav>
                                      </p:tavLst>
                                    </p:anim>
                                    <p:animEffect transition="in" filter="fade">
                                      <p:cBhvr>
                                        <p:cTn id="89" dur="500"/>
                                        <p:tgtEl>
                                          <p:spTgt spid="67">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1" nodeType="clickEffect">
                                  <p:stCondLst>
                                    <p:cond delay="0"/>
                                  </p:stCondLst>
                                  <p:childTnLst>
                                    <p:set>
                                      <p:cBhvr>
                                        <p:cTn id="93" dur="1" fill="hold">
                                          <p:stCondLst>
                                            <p:cond delay="0"/>
                                          </p:stCondLst>
                                        </p:cTn>
                                        <p:tgtEl>
                                          <p:spTgt spid="67">
                                            <p:txEl>
                                              <p:pRg st="0" end="0"/>
                                            </p:txEl>
                                          </p:spTgt>
                                        </p:tgtEl>
                                        <p:attrNameLst>
                                          <p:attrName>style.visibility</p:attrName>
                                        </p:attrNameLst>
                                      </p:cBhvr>
                                      <p:to>
                                        <p:strVal val="hidden"/>
                                      </p:to>
                                    </p:set>
                                  </p:childTnLst>
                                </p:cTn>
                              </p:par>
                              <p:par>
                                <p:cTn id="94" presetID="1" presetClass="exit" presetSubtype="0" fill="hold" grpId="1" nodeType="withEffect">
                                  <p:stCondLst>
                                    <p:cond delay="0"/>
                                  </p:stCondLst>
                                  <p:childTnLst>
                                    <p:set>
                                      <p:cBhvr>
                                        <p:cTn id="95" dur="1" fill="hold">
                                          <p:stCondLst>
                                            <p:cond delay="0"/>
                                          </p:stCondLst>
                                        </p:cTn>
                                        <p:tgtEl>
                                          <p:spTgt spid="67">
                                            <p:txEl>
                                              <p:pRg st="1" end="1"/>
                                            </p:txEl>
                                          </p:spTgt>
                                        </p:tgtEl>
                                        <p:attrNameLst>
                                          <p:attrName>style.visibility</p:attrName>
                                        </p:attrNameLst>
                                      </p:cBhvr>
                                      <p:to>
                                        <p:strVal val="hidden"/>
                                      </p:to>
                                    </p:set>
                                  </p:childTnLst>
                                </p:cTn>
                              </p:par>
                              <p:par>
                                <p:cTn id="96" presetID="1" presetClass="exit" presetSubtype="0" fill="hold" grpId="1" nodeType="withEffect">
                                  <p:stCondLst>
                                    <p:cond delay="0"/>
                                  </p:stCondLst>
                                  <p:childTnLst>
                                    <p:set>
                                      <p:cBhvr>
                                        <p:cTn id="97" dur="1" fill="hold">
                                          <p:stCondLst>
                                            <p:cond delay="0"/>
                                          </p:stCondLst>
                                        </p:cTn>
                                        <p:tgtEl>
                                          <p:spTgt spid="67">
                                            <p:txEl>
                                              <p:pRg st="2" end="2"/>
                                            </p:txEl>
                                          </p:spTgt>
                                        </p:tgtEl>
                                        <p:attrNameLst>
                                          <p:attrName>style.visibility</p:attrName>
                                        </p:attrNameLst>
                                      </p:cBhvr>
                                      <p:to>
                                        <p:strVal val="hidden"/>
                                      </p:to>
                                    </p:set>
                                  </p:childTnLst>
                                </p:cTn>
                              </p:par>
                              <p:par>
                                <p:cTn id="98" presetID="1" presetClass="exit" presetSubtype="0" fill="hold" grpId="1" nodeType="withEffect">
                                  <p:stCondLst>
                                    <p:cond delay="0"/>
                                  </p:stCondLst>
                                  <p:childTnLst>
                                    <p:set>
                                      <p:cBhvr>
                                        <p:cTn id="99" dur="1" fill="hold">
                                          <p:stCondLst>
                                            <p:cond delay="0"/>
                                          </p:stCondLst>
                                        </p:cTn>
                                        <p:tgtEl>
                                          <p:spTgt spid="67">
                                            <p:txEl>
                                              <p:pRg st="3" end="3"/>
                                            </p:txEl>
                                          </p:spTgt>
                                        </p:tgtEl>
                                        <p:attrNameLst>
                                          <p:attrName>style.visibility</p:attrName>
                                        </p:attrNameLst>
                                      </p:cBhvr>
                                      <p:to>
                                        <p:strVal val="hidden"/>
                                      </p:to>
                                    </p:set>
                                  </p:childTnLst>
                                </p:cTn>
                              </p:par>
                              <p:par>
                                <p:cTn id="100" presetID="1" presetClass="entr" presetSubtype="0" fill="hold" grpId="0" nodeType="withEffect">
                                  <p:stCondLst>
                                    <p:cond delay="0"/>
                                  </p:stCondLst>
                                  <p:childTnLst>
                                    <p:set>
                                      <p:cBhvr>
                                        <p:cTn id="101"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P spid="74" grpId="0"/>
      <p:bldP spid="83" grpId="0"/>
      <p:bldP spid="66" grpId="0" animBg="1"/>
      <p:bldP spid="67" grpId="0" build="p"/>
      <p:bldP spid="67" grpId="1" build="allAtOnce"/>
      <p:bldP spid="52" grpId="0"/>
      <p:bldP spid="53" grpId="0"/>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Clases genéricas</a:t>
            </a:r>
          </a:p>
        </p:txBody>
      </p:sp>
      <p:pic>
        <p:nvPicPr>
          <p:cNvPr id="4" name="Marcador de contenido 3"/>
          <p:cNvPicPr>
            <a:picLocks noGrp="1" noChangeAspect="1"/>
          </p:cNvPicPr>
          <p:nvPr>
            <p:ph idx="1"/>
          </p:nvPr>
        </p:nvPicPr>
        <p:blipFill rotWithShape="1">
          <a:blip r:embed="rId2"/>
          <a:srcRect l="8001" t="28581" r="45625" b="20087"/>
          <a:stretch/>
        </p:blipFill>
        <p:spPr>
          <a:xfrm>
            <a:off x="1475656" y="1268760"/>
            <a:ext cx="5904656" cy="3676485"/>
          </a:xfrm>
          <a:prstGeom prst="rect">
            <a:avLst/>
          </a:prstGeom>
        </p:spPr>
      </p:pic>
      <p:sp>
        <p:nvSpPr>
          <p:cNvPr id="3" name="CuadroTexto 2"/>
          <p:cNvSpPr txBox="1"/>
          <p:nvPr/>
        </p:nvSpPr>
        <p:spPr>
          <a:xfrm>
            <a:off x="827584" y="5157192"/>
            <a:ext cx="7920880" cy="1384995"/>
          </a:xfrm>
          <a:prstGeom prst="rect">
            <a:avLst/>
          </a:prstGeom>
          <a:noFill/>
        </p:spPr>
        <p:txBody>
          <a:bodyPr wrap="square" rtlCol="0">
            <a:spAutoFit/>
          </a:bodyPr>
          <a:lstStyle/>
          <a:p>
            <a:r>
              <a:rPr lang="es-ES" sz="1400" dirty="0" smtClean="0"/>
              <a:t>Podríamos implementar una clase Box para </a:t>
            </a:r>
            <a:r>
              <a:rPr lang="es-ES" sz="1400" dirty="0" err="1" smtClean="0"/>
              <a:t>Integer</a:t>
            </a:r>
            <a:r>
              <a:rPr lang="es-ES" sz="1400" dirty="0" smtClean="0"/>
              <a:t>, otra para </a:t>
            </a:r>
            <a:r>
              <a:rPr lang="es-ES" sz="1400" dirty="0" err="1" smtClean="0"/>
              <a:t>Double</a:t>
            </a:r>
            <a:r>
              <a:rPr lang="es-ES" sz="1400" dirty="0" smtClean="0"/>
              <a:t> y así sucesivamente. Pero si lo que queremos es una clase Box que sirva para todo tipo de objetos y que permita controlar en cada caso ese tipo, tenemos que recurrir a los tipos genéricos.</a:t>
            </a:r>
            <a:endParaRPr lang="es-ES" sz="1400" dirty="0"/>
          </a:p>
          <a:p>
            <a:endParaRPr lang="es-ES" sz="1400" dirty="0" smtClean="0"/>
          </a:p>
          <a:p>
            <a:pPr algn="ctr"/>
            <a:r>
              <a:rPr lang="es-ES" sz="1400" dirty="0"/>
              <a:t>Box&lt;</a:t>
            </a:r>
            <a:r>
              <a:rPr lang="es-ES" sz="1400" dirty="0" err="1"/>
              <a:t>Integer</a:t>
            </a:r>
            <a:r>
              <a:rPr lang="es-ES" sz="1400" dirty="0"/>
              <a:t>&gt; box=new Box&lt;&gt;();</a:t>
            </a:r>
          </a:p>
          <a:p>
            <a:endParaRPr lang="es-ES" sz="1400" dirty="0"/>
          </a:p>
        </p:txBody>
      </p:sp>
    </p:spTree>
    <p:extLst>
      <p:ext uri="{BB962C8B-B14F-4D97-AF65-F5344CB8AC3E}">
        <p14:creationId xmlns:p14="http://schemas.microsoft.com/office/powerpoint/2010/main" val="27745581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Genéricos con tipos cerrados</a:t>
            </a:r>
          </a:p>
        </p:txBody>
      </p:sp>
      <p:sp>
        <p:nvSpPr>
          <p:cNvPr id="3" name="Marcador de contenido 2"/>
          <p:cNvSpPr>
            <a:spLocks noGrp="1"/>
          </p:cNvSpPr>
          <p:nvPr>
            <p:ph idx="1"/>
          </p:nvPr>
        </p:nvSpPr>
        <p:spPr/>
        <p:txBody>
          <a:bodyPr/>
          <a:lstStyle/>
          <a:p>
            <a:r>
              <a:rPr lang="es-ES" b="0" dirty="0"/>
              <a:t>Podemos indicar que el tipo parametrizado sea uno en particular (o sus derivados).</a:t>
            </a:r>
            <a:endParaRPr lang="es-ES" dirty="0"/>
          </a:p>
        </p:txBody>
      </p:sp>
      <p:pic>
        <p:nvPicPr>
          <p:cNvPr id="5" name="Imagen 4"/>
          <p:cNvPicPr>
            <a:picLocks noChangeAspect="1"/>
          </p:cNvPicPr>
          <p:nvPr/>
        </p:nvPicPr>
        <p:blipFill rotWithShape="1">
          <a:blip r:embed="rId2"/>
          <a:srcRect l="14169" t="57001" r="53150" b="24100"/>
          <a:stretch/>
        </p:blipFill>
        <p:spPr>
          <a:xfrm>
            <a:off x="1331640" y="2646369"/>
            <a:ext cx="6480720" cy="2108186"/>
          </a:xfrm>
          <a:prstGeom prst="rect">
            <a:avLst/>
          </a:prstGeom>
        </p:spPr>
      </p:pic>
    </p:spTree>
    <p:extLst>
      <p:ext uri="{BB962C8B-B14F-4D97-AF65-F5344CB8AC3E}">
        <p14:creationId xmlns:p14="http://schemas.microsoft.com/office/powerpoint/2010/main" val="1910727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 Grupo"/>
          <p:cNvGrpSpPr/>
          <p:nvPr/>
        </p:nvGrpSpPr>
        <p:grpSpPr>
          <a:xfrm>
            <a:off x="1689187" y="1324029"/>
            <a:ext cx="5616624" cy="4121195"/>
            <a:chOff x="1547665" y="764704"/>
            <a:chExt cx="5616624" cy="3856087"/>
          </a:xfrm>
        </p:grpSpPr>
        <p:sp>
          <p:nvSpPr>
            <p:cNvPr id="21" name="Rectangle 3"/>
            <p:cNvSpPr txBox="1">
              <a:spLocks noChangeArrowheads="1"/>
            </p:cNvSpPr>
            <p:nvPr/>
          </p:nvSpPr>
          <p:spPr bwMode="auto">
            <a:xfrm>
              <a:off x="1979712" y="764704"/>
              <a:ext cx="5056980" cy="32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b="0" kern="0" dirty="0" err="1">
                  <a:solidFill>
                    <a:schemeClr val="bg1">
                      <a:lumMod val="50000"/>
                    </a:schemeClr>
                  </a:solidFill>
                  <a:latin typeface="Arial Black" panose="020B0A04020102020204" pitchFamily="34" charset="0"/>
                  <a:ea typeface="Adobe Fan Heiti Std B" pitchFamily="34" charset="-128"/>
                </a:rPr>
                <a:t>Clase</a:t>
              </a:r>
              <a:r>
                <a:rPr lang="en-US" sz="1600" b="0" kern="0" dirty="0">
                  <a:solidFill>
                    <a:schemeClr val="bg1">
                      <a:lumMod val="50000"/>
                    </a:schemeClr>
                  </a:solidFill>
                  <a:latin typeface="Arial Black" panose="020B0A04020102020204" pitchFamily="34" charset="0"/>
                  <a:ea typeface="Adobe Fan Heiti Std B" pitchFamily="34" charset="-128"/>
                </a:rPr>
                <a:t> </a:t>
              </a:r>
              <a:r>
                <a:rPr lang="en-US" sz="1600" b="0" kern="0" dirty="0" err="1">
                  <a:solidFill>
                    <a:srgbClr val="000000"/>
                  </a:solidFill>
                  <a:latin typeface="Arial Black" panose="020B0A04020102020204" pitchFamily="34" charset="0"/>
                  <a:ea typeface="Adobe Fan Heiti Std B" pitchFamily="34" charset="-128"/>
                </a:rPr>
                <a:t>Almacen</a:t>
              </a:r>
              <a:endParaRPr lang="en-US" sz="1600" kern="0" dirty="0">
                <a:solidFill>
                  <a:srgbClr val="000000"/>
                </a:solidFill>
              </a:endParaRPr>
            </a:p>
          </p:txBody>
        </p:sp>
        <p:sp>
          <p:nvSpPr>
            <p:cNvPr id="5" name="4 Rectángulo"/>
            <p:cNvSpPr/>
            <p:nvPr/>
          </p:nvSpPr>
          <p:spPr bwMode="auto">
            <a:xfrm>
              <a:off x="1547665" y="1092400"/>
              <a:ext cx="5616624" cy="3528391"/>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2" name="1 Título"/>
          <p:cNvSpPr>
            <a:spLocks noGrp="1"/>
          </p:cNvSpPr>
          <p:nvPr>
            <p:ph type="title"/>
          </p:nvPr>
        </p:nvSpPr>
        <p:spPr>
          <a:xfrm>
            <a:off x="542924" y="53975"/>
            <a:ext cx="7989515" cy="563563"/>
          </a:xfrm>
        </p:spPr>
        <p:txBody>
          <a:bodyPr/>
          <a:lstStyle/>
          <a:p>
            <a:r>
              <a:rPr lang="es-ES" dirty="0"/>
              <a:t>Clases genéricas</a:t>
            </a:r>
          </a:p>
        </p:txBody>
      </p:sp>
      <p:sp>
        <p:nvSpPr>
          <p:cNvPr id="27" name="Rectangle 3"/>
          <p:cNvSpPr txBox="1">
            <a:spLocks noChangeArrowheads="1"/>
          </p:cNvSpPr>
          <p:nvPr/>
        </p:nvSpPr>
        <p:spPr bwMode="auto">
          <a:xfrm>
            <a:off x="2425964" y="1793568"/>
            <a:ext cx="5890452" cy="339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chemeClr val="bg1">
                    <a:lumMod val="50000"/>
                  </a:schemeClr>
                </a:solidFill>
                <a:latin typeface="Adobe Fan Heiti Std B" pitchFamily="34" charset="-128"/>
                <a:ea typeface="Adobe Fan Heiti Std B" pitchFamily="34" charset="-128"/>
              </a:rPr>
              <a:t>public class </a:t>
            </a:r>
            <a:r>
              <a:rPr lang="en-US" sz="1600" kern="0" dirty="0" err="1">
                <a:solidFill>
                  <a:srgbClr val="0070C0"/>
                </a:solidFill>
                <a:latin typeface="Adobe Fan Heiti Std B" pitchFamily="34" charset="-128"/>
                <a:ea typeface="Adobe Fan Heiti Std B" pitchFamily="34" charset="-128"/>
              </a:rPr>
              <a:t>Almacen</a:t>
            </a:r>
            <a:r>
              <a:rPr lang="en-US" sz="1600" kern="0" dirty="0">
                <a:solidFill>
                  <a:srgbClr val="0070C0"/>
                </a:solidFill>
                <a:latin typeface="Adobe Fan Heiti Std B" pitchFamily="34" charset="-128"/>
                <a:ea typeface="Adobe Fan Heiti Std B" pitchFamily="34" charset="-128"/>
              </a:rPr>
              <a:t> </a:t>
            </a:r>
            <a:r>
              <a:rPr lang="en-US" sz="1600" kern="0" dirty="0">
                <a:solidFill>
                  <a:srgbClr val="00B050"/>
                </a:solidFill>
                <a:latin typeface="Arial Black" panose="020B0A04020102020204" pitchFamily="34" charset="0"/>
                <a:ea typeface="Adobe Fan Heiti Std B" pitchFamily="34" charset="-128"/>
              </a:rPr>
              <a:t>&lt;T extends Number&gt;</a:t>
            </a:r>
            <a:r>
              <a:rPr lang="en-US" sz="1600" kern="0" dirty="0">
                <a:solidFill>
                  <a:srgbClr val="0070C0"/>
                </a:solidFill>
                <a:latin typeface="Adobe Fan Heiti Std B" pitchFamily="34" charset="-128"/>
                <a:ea typeface="Adobe Fan Heiti Std B" pitchFamily="34" charset="-128"/>
              </a:rPr>
              <a:t> {</a:t>
            </a:r>
          </a:p>
          <a:p>
            <a:pPr marL="0" indent="0">
              <a:buNone/>
            </a:pPr>
            <a:r>
              <a:rPr lang="en-US" sz="1600" kern="0" dirty="0">
                <a:solidFill>
                  <a:srgbClr val="0070C0"/>
                </a:solidFill>
                <a:latin typeface="Adobe Fan Heiti Std B" pitchFamily="34" charset="-128"/>
                <a:ea typeface="Adobe Fan Heiti Std B" pitchFamily="34" charset="-128"/>
              </a:rPr>
              <a:t>    </a:t>
            </a:r>
            <a:r>
              <a:rPr lang="en-US" sz="1600" kern="0" dirty="0">
                <a:solidFill>
                  <a:srgbClr val="00B050"/>
                </a:solidFill>
                <a:latin typeface="Arial Black" panose="020B0A04020102020204" pitchFamily="34" charset="0"/>
                <a:ea typeface="Adobe Fan Heiti Std B" pitchFamily="34" charset="-128"/>
              </a:rPr>
              <a:t>T[ ]</a:t>
            </a:r>
            <a:r>
              <a:rPr lang="en-US" sz="1600" kern="0" dirty="0">
                <a:solidFill>
                  <a:srgbClr val="0070C0"/>
                </a:solidFill>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contenido</a:t>
            </a:r>
            <a:endParaRPr lang="en-US" sz="1600" kern="0" dirty="0">
              <a:solidFill>
                <a:schemeClr val="bg1">
                  <a:lumMod val="50000"/>
                </a:schemeClr>
              </a:solidFill>
              <a:latin typeface="Adobe Fan Heiti Std B" pitchFamily="34" charset="-128"/>
              <a:ea typeface="Adobe Fan Heiti Std B" pitchFamily="34" charset="-128"/>
            </a:endParaRPr>
          </a:p>
          <a:p>
            <a:pPr marL="0" indent="0">
              <a:buNone/>
            </a:pPr>
            <a:r>
              <a:rPr lang="en-US" sz="1600" kern="0" dirty="0">
                <a:solidFill>
                  <a:schemeClr val="bg1">
                    <a:lumMod val="50000"/>
                  </a:schemeClr>
                </a:solidFill>
                <a:latin typeface="Adobe Fan Heiti Std B" pitchFamily="34" charset="-128"/>
                <a:ea typeface="Adobe Fan Heiti Std B" pitchFamily="34" charset="-128"/>
              </a:rPr>
              <a:t>     </a:t>
            </a:r>
            <a:r>
              <a:rPr lang="en-US" sz="1600" kern="0" dirty="0" err="1">
                <a:solidFill>
                  <a:srgbClr val="0070C0"/>
                </a:solidFill>
                <a:latin typeface="Adobe Fan Heiti Std B" pitchFamily="34" charset="-128"/>
                <a:ea typeface="Adobe Fan Heiti Std B" pitchFamily="34" charset="-128"/>
              </a:rPr>
              <a:t>int</a:t>
            </a:r>
            <a:r>
              <a:rPr lang="en-US" sz="1600" kern="0" dirty="0">
                <a:solidFill>
                  <a:schemeClr val="bg1">
                    <a:lumMod val="50000"/>
                  </a:schemeClr>
                </a:solidFill>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siguiente</a:t>
            </a:r>
            <a:r>
              <a:rPr lang="en-US" sz="1600" kern="0" dirty="0">
                <a:solidFill>
                  <a:schemeClr val="bg1">
                    <a:lumMod val="50000"/>
                  </a:schemeClr>
                </a:solidFill>
                <a:latin typeface="Adobe Fan Heiti Std B" pitchFamily="34" charset="-128"/>
                <a:ea typeface="Adobe Fan Heiti Std B" pitchFamily="34" charset="-128"/>
              </a:rPr>
              <a:t>=0;</a:t>
            </a:r>
          </a:p>
          <a:p>
            <a:pPr marL="0" indent="0">
              <a:buNone/>
            </a:pPr>
            <a:endParaRPr lang="en-US" sz="1600" kern="0" dirty="0">
              <a:solidFill>
                <a:schemeClr val="bg1">
                  <a:lumMod val="50000"/>
                </a:schemeClr>
              </a:solidFill>
              <a:latin typeface="Adobe Fan Heiti Std B" pitchFamily="34" charset="-128"/>
              <a:ea typeface="Adobe Fan Heiti Std B" pitchFamily="34" charset="-128"/>
            </a:endParaRPr>
          </a:p>
          <a:p>
            <a:pPr marL="0" indent="0">
              <a:buNone/>
            </a:pPr>
            <a:r>
              <a:rPr lang="en-US" sz="1600" kern="0" dirty="0">
                <a:solidFill>
                  <a:schemeClr val="bg1">
                    <a:lumMod val="50000"/>
                  </a:schemeClr>
                </a:solidFill>
                <a:latin typeface="Adobe Fan Heiti Std B" pitchFamily="34" charset="-128"/>
                <a:ea typeface="Adobe Fan Heiti Std B" pitchFamily="34" charset="-128"/>
              </a:rPr>
              <a:t>    public </a:t>
            </a:r>
            <a:r>
              <a:rPr lang="en-US" sz="1600" kern="0" dirty="0">
                <a:solidFill>
                  <a:srgbClr val="0070C0"/>
                </a:solidFill>
                <a:latin typeface="Adobe Fan Heiti Std B" pitchFamily="34" charset="-128"/>
                <a:ea typeface="Adobe Fan Heiti Std B" pitchFamily="34" charset="-128"/>
              </a:rPr>
              <a:t>void</a:t>
            </a:r>
            <a:r>
              <a:rPr lang="en-US" sz="1600" kern="0" dirty="0">
                <a:solidFill>
                  <a:schemeClr val="bg1">
                    <a:lumMod val="50000"/>
                  </a:schemeClr>
                </a:solidFill>
                <a:latin typeface="Adobe Fan Heiti Std B" pitchFamily="34" charset="-128"/>
                <a:ea typeface="Adobe Fan Heiti Std B" pitchFamily="34" charset="-128"/>
              </a:rPr>
              <a:t> </a:t>
            </a:r>
            <a:r>
              <a:rPr lang="en-US" sz="1600" kern="0" dirty="0" err="1">
                <a:solidFill>
                  <a:srgbClr val="FF0000"/>
                </a:solidFill>
                <a:latin typeface="Adobe Fan Heiti Std B" pitchFamily="34" charset="-128"/>
                <a:ea typeface="Adobe Fan Heiti Std B" pitchFamily="34" charset="-128"/>
              </a:rPr>
              <a:t>setContenido</a:t>
            </a:r>
            <a:r>
              <a:rPr lang="en-US" sz="1600" kern="0" dirty="0">
                <a:solidFill>
                  <a:srgbClr val="FF0000"/>
                </a:solidFill>
                <a:latin typeface="Adobe Fan Heiti Std B" pitchFamily="34" charset="-128"/>
                <a:ea typeface="Adobe Fan Heiti Std B" pitchFamily="34" charset="-128"/>
              </a:rPr>
              <a:t>(</a:t>
            </a:r>
            <a:r>
              <a:rPr lang="en-US" sz="1600" kern="0" dirty="0">
                <a:solidFill>
                  <a:srgbClr val="00B050"/>
                </a:solidFill>
                <a:latin typeface="Arial Black" panose="020B0A04020102020204" pitchFamily="34" charset="0"/>
                <a:ea typeface="Adobe Fan Heiti Std B" pitchFamily="34" charset="-128"/>
              </a:rPr>
              <a:t>T</a:t>
            </a:r>
            <a:r>
              <a:rPr lang="en-US" sz="1600" kern="0" dirty="0">
                <a:solidFill>
                  <a:schemeClr val="bg1">
                    <a:lumMod val="50000"/>
                  </a:schemeClr>
                </a:solidFill>
                <a:latin typeface="Adobe Fan Heiti Std B" pitchFamily="34" charset="-128"/>
                <a:ea typeface="Adobe Fan Heiti Std B" pitchFamily="34" charset="-128"/>
              </a:rPr>
              <a:t> </a:t>
            </a:r>
            <a:r>
              <a:rPr lang="en-US" sz="1600" kern="0" dirty="0">
                <a:solidFill>
                  <a:srgbClr val="00B050"/>
                </a:solidFill>
                <a:latin typeface="Adobe Fan Heiti Std B" pitchFamily="34" charset="-128"/>
                <a:ea typeface="Adobe Fan Heiti Std B" pitchFamily="34" charset="-128"/>
              </a:rPr>
              <a:t>valor</a:t>
            </a:r>
            <a:r>
              <a:rPr lang="en-US" sz="1600" kern="0" dirty="0">
                <a:solidFill>
                  <a:srgbClr val="FF0000"/>
                </a:solidFill>
                <a:latin typeface="Adobe Fan Heiti Std B" pitchFamily="34" charset="-128"/>
                <a:ea typeface="Adobe Fan Heiti Std B" pitchFamily="34" charset="-128"/>
              </a:rPr>
              <a:t>)</a:t>
            </a:r>
            <a:r>
              <a:rPr lang="en-US" sz="1600" kern="0" dirty="0">
                <a:solidFill>
                  <a:schemeClr val="bg1">
                    <a:lumMod val="50000"/>
                  </a:schemeClr>
                </a:solidFill>
                <a:latin typeface="Adobe Fan Heiti Std B" pitchFamily="34" charset="-128"/>
                <a:ea typeface="Adobe Fan Heiti Std B" pitchFamily="34" charset="-128"/>
              </a:rPr>
              <a:t> {</a:t>
            </a:r>
          </a:p>
          <a:p>
            <a:pPr marL="0" indent="0">
              <a:buNone/>
            </a:pPr>
            <a:r>
              <a:rPr lang="en-US" sz="1600" kern="0" dirty="0">
                <a:solidFill>
                  <a:schemeClr val="bg1">
                    <a:lumMod val="50000"/>
                  </a:schemeClr>
                </a:solidFill>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contenido</a:t>
            </a:r>
            <a:r>
              <a:rPr lang="en-US" sz="1600" kern="0" dirty="0">
                <a:solidFill>
                  <a:srgbClr val="000000"/>
                </a:solidFill>
                <a:latin typeface="Adobe Fan Heiti Std B" pitchFamily="34" charset="-128"/>
                <a:ea typeface="Adobe Fan Heiti Std B" pitchFamily="34" charset="-128"/>
              </a:rPr>
              <a:t>[</a:t>
            </a:r>
            <a:r>
              <a:rPr lang="en-US" sz="1600" kern="0" dirty="0" err="1">
                <a:solidFill>
                  <a:srgbClr val="000000"/>
                </a:solidFill>
                <a:latin typeface="Adobe Fan Heiti Std B" pitchFamily="34" charset="-128"/>
                <a:ea typeface="Adobe Fan Heiti Std B" pitchFamily="34" charset="-128"/>
              </a:rPr>
              <a:t>siguiente</a:t>
            </a:r>
            <a:r>
              <a:rPr lang="en-US" sz="1600" kern="0" dirty="0">
                <a:solidFill>
                  <a:srgbClr val="000000"/>
                </a:solidFill>
                <a:latin typeface="Adobe Fan Heiti Std B" pitchFamily="34" charset="-128"/>
                <a:ea typeface="Adobe Fan Heiti Std B" pitchFamily="34" charset="-128"/>
              </a:rPr>
              <a:t>++]</a:t>
            </a:r>
            <a:r>
              <a:rPr lang="en-US" sz="1600" kern="0" dirty="0">
                <a:solidFill>
                  <a:schemeClr val="bg1">
                    <a:lumMod val="50000"/>
                  </a:schemeClr>
                </a:solidFill>
                <a:latin typeface="Adobe Fan Heiti Std B" pitchFamily="34" charset="-128"/>
                <a:ea typeface="Adobe Fan Heiti Std B" pitchFamily="34" charset="-128"/>
              </a:rPr>
              <a:t> = </a:t>
            </a:r>
            <a:r>
              <a:rPr lang="en-US" sz="1600" kern="0" dirty="0">
                <a:solidFill>
                  <a:srgbClr val="00B050"/>
                </a:solidFill>
                <a:latin typeface="Adobe Fan Heiti Std B" pitchFamily="34" charset="-128"/>
                <a:ea typeface="Adobe Fan Heiti Std B" pitchFamily="34" charset="-128"/>
              </a:rPr>
              <a:t>valor</a:t>
            </a:r>
            <a:r>
              <a:rPr lang="en-US" sz="1600" kern="0" dirty="0">
                <a:solidFill>
                  <a:schemeClr val="bg1">
                    <a:lumMod val="50000"/>
                  </a:schemeClr>
                </a:solidFill>
                <a:latin typeface="Adobe Fan Heiti Std B" pitchFamily="34" charset="-128"/>
                <a:ea typeface="Adobe Fan Heiti Std B" pitchFamily="34" charset="-128"/>
              </a:rPr>
              <a:t>;</a:t>
            </a:r>
          </a:p>
          <a:p>
            <a:pPr marL="0" indent="0">
              <a:buNone/>
            </a:pPr>
            <a:r>
              <a:rPr lang="en-US" sz="1600" kern="0" dirty="0">
                <a:solidFill>
                  <a:schemeClr val="bg1">
                    <a:lumMod val="50000"/>
                  </a:schemeClr>
                </a:solidFill>
                <a:latin typeface="Adobe Fan Heiti Std B" pitchFamily="34" charset="-128"/>
                <a:ea typeface="Adobe Fan Heiti Std B" pitchFamily="34" charset="-128"/>
              </a:rPr>
              <a:t>    }</a:t>
            </a:r>
          </a:p>
          <a:p>
            <a:pPr marL="0" indent="0">
              <a:buNone/>
            </a:pPr>
            <a:r>
              <a:rPr lang="en-US" sz="1600" kern="0" dirty="0">
                <a:solidFill>
                  <a:schemeClr val="bg1">
                    <a:lumMod val="50000"/>
                  </a:schemeClr>
                </a:solidFill>
                <a:latin typeface="Adobe Fan Heiti Std B" pitchFamily="34" charset="-128"/>
                <a:ea typeface="Adobe Fan Heiti Std B" pitchFamily="34" charset="-128"/>
              </a:rPr>
              <a:t>    </a:t>
            </a:r>
          </a:p>
          <a:p>
            <a:pPr marL="0" indent="0">
              <a:buNone/>
            </a:pPr>
            <a:r>
              <a:rPr lang="en-US" sz="1600" kern="0" dirty="0">
                <a:solidFill>
                  <a:schemeClr val="bg1">
                    <a:lumMod val="50000"/>
                  </a:schemeClr>
                </a:solidFill>
                <a:latin typeface="Adobe Fan Heiti Std B" pitchFamily="34" charset="-128"/>
                <a:ea typeface="Adobe Fan Heiti Std B" pitchFamily="34" charset="-128"/>
              </a:rPr>
              <a:t>    public </a:t>
            </a:r>
            <a:r>
              <a:rPr lang="en-US" sz="1600" kern="0" dirty="0">
                <a:solidFill>
                  <a:srgbClr val="00B050"/>
                </a:solidFill>
                <a:latin typeface="Arial Black" panose="020B0A04020102020204" pitchFamily="34" charset="0"/>
                <a:ea typeface="Adobe Fan Heiti Std B" pitchFamily="34" charset="-128"/>
              </a:rPr>
              <a:t>T</a:t>
            </a:r>
            <a:r>
              <a:rPr lang="en-US" sz="1600" kern="0" dirty="0">
                <a:solidFill>
                  <a:schemeClr val="bg1">
                    <a:lumMod val="50000"/>
                  </a:schemeClr>
                </a:solidFill>
                <a:latin typeface="Adobe Fan Heiti Std B" pitchFamily="34" charset="-128"/>
                <a:ea typeface="Adobe Fan Heiti Std B" pitchFamily="34" charset="-128"/>
              </a:rPr>
              <a:t> </a:t>
            </a:r>
            <a:r>
              <a:rPr lang="en-US" sz="1600" kern="0" dirty="0" err="1">
                <a:solidFill>
                  <a:srgbClr val="FF0000"/>
                </a:solidFill>
                <a:latin typeface="Adobe Fan Heiti Std B" pitchFamily="34" charset="-128"/>
                <a:ea typeface="Adobe Fan Heiti Std B" pitchFamily="34" charset="-128"/>
              </a:rPr>
              <a:t>getContenido</a:t>
            </a:r>
            <a:r>
              <a:rPr lang="en-US" sz="1600" kern="0" dirty="0">
                <a:solidFill>
                  <a:srgbClr val="FF0000"/>
                </a:solidFill>
                <a:latin typeface="Adobe Fan Heiti Std B" pitchFamily="34" charset="-128"/>
                <a:ea typeface="Adobe Fan Heiti Std B" pitchFamily="34" charset="-128"/>
              </a:rPr>
              <a:t>(</a:t>
            </a:r>
            <a:r>
              <a:rPr lang="en-US" sz="1600" kern="0" dirty="0" err="1">
                <a:solidFill>
                  <a:srgbClr val="0070C0"/>
                </a:solidFill>
                <a:latin typeface="Adobe Fan Heiti Std B" pitchFamily="34" charset="-128"/>
                <a:ea typeface="Adobe Fan Heiti Std B" pitchFamily="34" charset="-128"/>
              </a:rPr>
              <a:t>int</a:t>
            </a:r>
            <a:r>
              <a:rPr lang="en-US" sz="1600" kern="0" dirty="0">
                <a:solidFill>
                  <a:srgbClr val="0070C0"/>
                </a:solidFill>
                <a:latin typeface="Adobe Fan Heiti Std B" pitchFamily="34" charset="-128"/>
                <a:ea typeface="Adobe Fan Heiti Std B" pitchFamily="34" charset="-128"/>
              </a:rPr>
              <a:t> </a:t>
            </a:r>
            <a:r>
              <a:rPr lang="en-US" sz="1600" kern="0" dirty="0" err="1">
                <a:solidFill>
                  <a:srgbClr val="0070C0"/>
                </a:solidFill>
                <a:latin typeface="Adobe Fan Heiti Std B" pitchFamily="34" charset="-128"/>
                <a:ea typeface="Adobe Fan Heiti Std B" pitchFamily="34" charset="-128"/>
              </a:rPr>
              <a:t>pos</a:t>
            </a:r>
            <a:r>
              <a:rPr lang="en-US" sz="1600" kern="0" dirty="0">
                <a:solidFill>
                  <a:srgbClr val="FF0000"/>
                </a:solidFill>
                <a:latin typeface="Adobe Fan Heiti Std B" pitchFamily="34" charset="-128"/>
                <a:ea typeface="Adobe Fan Heiti Std B" pitchFamily="34" charset="-128"/>
              </a:rPr>
              <a:t>) </a:t>
            </a:r>
            <a:r>
              <a:rPr lang="en-US" sz="1600" kern="0" dirty="0">
                <a:solidFill>
                  <a:schemeClr val="bg1">
                    <a:lumMod val="50000"/>
                  </a:schemeClr>
                </a:solidFill>
                <a:latin typeface="Adobe Fan Heiti Std B" pitchFamily="34" charset="-128"/>
                <a:ea typeface="Adobe Fan Heiti Std B" pitchFamily="34" charset="-128"/>
              </a:rPr>
              <a:t>{</a:t>
            </a:r>
          </a:p>
          <a:p>
            <a:pPr marL="0" indent="0">
              <a:buNone/>
            </a:pPr>
            <a:r>
              <a:rPr lang="en-US" sz="1600" kern="0" dirty="0">
                <a:solidFill>
                  <a:schemeClr val="bg1">
                    <a:lumMod val="50000"/>
                  </a:schemeClr>
                </a:solidFill>
                <a:latin typeface="Adobe Fan Heiti Std B" pitchFamily="34" charset="-128"/>
                <a:ea typeface="Adobe Fan Heiti Std B" pitchFamily="34" charset="-128"/>
              </a:rPr>
              <a:t>        return </a:t>
            </a:r>
            <a:r>
              <a:rPr lang="en-US" sz="1600" kern="0" dirty="0" err="1">
                <a:solidFill>
                  <a:srgbClr val="000000"/>
                </a:solidFill>
                <a:latin typeface="Adobe Fan Heiti Std B" pitchFamily="34" charset="-128"/>
                <a:ea typeface="Adobe Fan Heiti Std B" pitchFamily="34" charset="-128"/>
              </a:rPr>
              <a:t>contenido</a:t>
            </a:r>
            <a:r>
              <a:rPr lang="en-US" sz="1600" kern="0" dirty="0">
                <a:solidFill>
                  <a:srgbClr val="000000"/>
                </a:solidFill>
                <a:latin typeface="Adobe Fan Heiti Std B" pitchFamily="34" charset="-128"/>
                <a:ea typeface="Adobe Fan Heiti Std B" pitchFamily="34" charset="-128"/>
              </a:rPr>
              <a:t>[</a:t>
            </a:r>
            <a:r>
              <a:rPr lang="en-US" sz="1600" kern="0" dirty="0" err="1">
                <a:solidFill>
                  <a:srgbClr val="0070C0"/>
                </a:solidFill>
                <a:latin typeface="Adobe Fan Heiti Std B" pitchFamily="34" charset="-128"/>
                <a:ea typeface="Adobe Fan Heiti Std B" pitchFamily="34" charset="-128"/>
              </a:rPr>
              <a:t>pos</a:t>
            </a:r>
            <a:r>
              <a:rPr lang="en-US" sz="1600" kern="0" dirty="0">
                <a:solidFill>
                  <a:srgbClr val="000000"/>
                </a:solidFill>
                <a:latin typeface="Adobe Fan Heiti Std B" pitchFamily="34" charset="-128"/>
                <a:ea typeface="Adobe Fan Heiti Std B" pitchFamily="34" charset="-128"/>
              </a:rPr>
              <a:t>]</a:t>
            </a:r>
            <a:r>
              <a:rPr lang="en-US" sz="1600" kern="0" dirty="0">
                <a:solidFill>
                  <a:schemeClr val="bg1">
                    <a:lumMod val="50000"/>
                  </a:schemeClr>
                </a:solidFill>
                <a:latin typeface="Adobe Fan Heiti Std B" pitchFamily="34" charset="-128"/>
                <a:ea typeface="Adobe Fan Heiti Std B" pitchFamily="34" charset="-128"/>
              </a:rPr>
              <a:t>;</a:t>
            </a:r>
          </a:p>
          <a:p>
            <a:pPr marL="0" indent="0">
              <a:buNone/>
            </a:pPr>
            <a:r>
              <a:rPr lang="en-US" sz="1600" kern="0" dirty="0">
                <a:solidFill>
                  <a:schemeClr val="bg1">
                    <a:lumMod val="50000"/>
                  </a:schemeClr>
                </a:solidFill>
                <a:latin typeface="Adobe Fan Heiti Std B" pitchFamily="34" charset="-128"/>
                <a:ea typeface="Adobe Fan Heiti Std B" pitchFamily="34" charset="-128"/>
              </a:rPr>
              <a:t>    }</a:t>
            </a:r>
          </a:p>
          <a:p>
            <a:pPr marL="0" indent="0">
              <a:buNone/>
            </a:pPr>
            <a:r>
              <a:rPr lang="en-US" sz="1600" kern="0" dirty="0">
                <a:solidFill>
                  <a:srgbClr val="0070C0"/>
                </a:solidFill>
                <a:latin typeface="Adobe Fan Heiti Std B" pitchFamily="34" charset="-128"/>
                <a:ea typeface="Adobe Fan Heiti Std B" pitchFamily="34" charset="-128"/>
              </a:rPr>
              <a:t>}</a:t>
            </a:r>
          </a:p>
        </p:txBody>
      </p:sp>
      <p:sp>
        <p:nvSpPr>
          <p:cNvPr id="16" name="Rectangle 3"/>
          <p:cNvSpPr txBox="1">
            <a:spLocks noChangeArrowheads="1"/>
          </p:cNvSpPr>
          <p:nvPr/>
        </p:nvSpPr>
        <p:spPr bwMode="auto">
          <a:xfrm>
            <a:off x="3995936" y="2080865"/>
            <a:ext cx="2794386"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chemeClr val="bg1">
                    <a:lumMod val="50000"/>
                  </a:schemeClr>
                </a:solidFill>
                <a:latin typeface="Adobe Fan Heiti Std B" pitchFamily="34" charset="-128"/>
                <a:ea typeface="Adobe Fan Heiti Std B" pitchFamily="34" charset="-128"/>
              </a:rPr>
              <a:t> </a:t>
            </a:r>
            <a:r>
              <a:rPr lang="en-US" sz="1600" kern="0" dirty="0">
                <a:solidFill>
                  <a:srgbClr val="000000"/>
                </a:solidFill>
                <a:latin typeface="Adobe Fan Heiti Std B" pitchFamily="34" charset="-128"/>
                <a:ea typeface="Adobe Fan Heiti Std B" pitchFamily="34" charset="-128"/>
              </a:rPr>
              <a:t>=</a:t>
            </a:r>
            <a:r>
              <a:rPr lang="en-US" sz="1600" kern="0" dirty="0">
                <a:solidFill>
                  <a:srgbClr val="FF0000"/>
                </a:solidFill>
                <a:latin typeface="Adobe Fan Heiti Std B" pitchFamily="34" charset="-128"/>
                <a:ea typeface="Adobe Fan Heiti Std B" pitchFamily="34" charset="-128"/>
              </a:rPr>
              <a:t> </a:t>
            </a:r>
            <a:r>
              <a:rPr lang="en-US" sz="1600" kern="0" dirty="0">
                <a:solidFill>
                  <a:srgbClr val="000000"/>
                </a:solidFill>
                <a:latin typeface="Adobe Fan Heiti Std B" pitchFamily="34" charset="-128"/>
                <a:ea typeface="Adobe Fan Heiti Std B" pitchFamily="34" charset="-128"/>
              </a:rPr>
              <a:t>(</a:t>
            </a:r>
            <a:r>
              <a:rPr lang="en-US" sz="1600" kern="0" dirty="0">
                <a:solidFill>
                  <a:srgbClr val="0070C0"/>
                </a:solidFill>
                <a:latin typeface="Adobe Fan Heiti Std B" pitchFamily="34" charset="-128"/>
                <a:ea typeface="Adobe Fan Heiti Std B" pitchFamily="34" charset="-128"/>
              </a:rPr>
              <a:t>T[ ]</a:t>
            </a:r>
            <a:r>
              <a:rPr lang="en-US" sz="1600" kern="0" dirty="0">
                <a:solidFill>
                  <a:srgbClr val="000000"/>
                </a:solidFill>
                <a:latin typeface="Adobe Fan Heiti Std B" pitchFamily="34" charset="-128"/>
                <a:ea typeface="Adobe Fan Heiti Std B" pitchFamily="34" charset="-128"/>
              </a:rPr>
              <a:t>)</a:t>
            </a:r>
            <a:r>
              <a:rPr lang="en-US" sz="1600" kern="0" dirty="0">
                <a:solidFill>
                  <a:srgbClr val="0070C0"/>
                </a:solidFill>
                <a:latin typeface="Adobe Fan Heiti Std B" pitchFamily="34" charset="-128"/>
                <a:ea typeface="Adobe Fan Heiti Std B" pitchFamily="34" charset="-128"/>
              </a:rPr>
              <a:t> </a:t>
            </a:r>
            <a:r>
              <a:rPr lang="en-US" sz="1600" kern="0" dirty="0">
                <a:solidFill>
                  <a:srgbClr val="FF0000"/>
                </a:solidFill>
                <a:latin typeface="Adobe Fan Heiti Std B" pitchFamily="34" charset="-128"/>
                <a:ea typeface="Adobe Fan Heiti Std B" pitchFamily="34" charset="-128"/>
              </a:rPr>
              <a:t>new </a:t>
            </a:r>
            <a:r>
              <a:rPr lang="en-US" sz="1600" kern="0" dirty="0">
                <a:solidFill>
                  <a:srgbClr val="0070C0"/>
                </a:solidFill>
                <a:latin typeface="Adobe Fan Heiti Std B" pitchFamily="34" charset="-128"/>
                <a:ea typeface="Adobe Fan Heiti Std B" pitchFamily="34" charset="-128"/>
              </a:rPr>
              <a:t>Number[</a:t>
            </a:r>
            <a:r>
              <a:rPr lang="en-US" sz="1600" kern="0" dirty="0">
                <a:solidFill>
                  <a:srgbClr val="FF0000"/>
                </a:solidFill>
                <a:latin typeface="Adobe Fan Heiti Std B" pitchFamily="34" charset="-128"/>
                <a:ea typeface="Adobe Fan Heiti Std B" pitchFamily="34" charset="-128"/>
              </a:rPr>
              <a:t>10</a:t>
            </a:r>
            <a:r>
              <a:rPr lang="en-US" sz="1600" kern="0" dirty="0">
                <a:solidFill>
                  <a:srgbClr val="0070C0"/>
                </a:solidFill>
                <a:latin typeface="Adobe Fan Heiti Std B" pitchFamily="34" charset="-128"/>
                <a:ea typeface="Adobe Fan Heiti Std B" pitchFamily="34" charset="-128"/>
              </a:rPr>
              <a:t>]</a:t>
            </a:r>
            <a:r>
              <a:rPr lang="en-US" sz="1600" kern="0" dirty="0">
                <a:solidFill>
                  <a:srgbClr val="000000"/>
                </a:solidFill>
                <a:latin typeface="Adobe Fan Heiti Std B" pitchFamily="34" charset="-128"/>
                <a:ea typeface="Adobe Fan Heiti Std B" pitchFamily="34" charset="-128"/>
              </a:rPr>
              <a:t>;</a:t>
            </a:r>
          </a:p>
        </p:txBody>
      </p:sp>
      <p:sp>
        <p:nvSpPr>
          <p:cNvPr id="15" name="Rectangle 3"/>
          <p:cNvSpPr txBox="1">
            <a:spLocks noChangeArrowheads="1"/>
          </p:cNvSpPr>
          <p:nvPr/>
        </p:nvSpPr>
        <p:spPr bwMode="auto">
          <a:xfrm>
            <a:off x="3995936" y="2080865"/>
            <a:ext cx="1636542" cy="45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chemeClr val="bg1">
                    <a:lumMod val="50000"/>
                  </a:schemeClr>
                </a:solidFill>
                <a:latin typeface="Adobe Fan Heiti Std B" pitchFamily="34" charset="-128"/>
                <a:ea typeface="Adobe Fan Heiti Std B" pitchFamily="34" charset="-128"/>
              </a:rPr>
              <a:t> </a:t>
            </a:r>
            <a:r>
              <a:rPr lang="en-US" sz="1600" kern="0" dirty="0">
                <a:solidFill>
                  <a:srgbClr val="000000"/>
                </a:solidFill>
                <a:latin typeface="Adobe Fan Heiti Std B" pitchFamily="34" charset="-128"/>
                <a:ea typeface="Adobe Fan Heiti Std B" pitchFamily="34" charset="-128"/>
              </a:rPr>
              <a:t>=</a:t>
            </a:r>
            <a:r>
              <a:rPr lang="en-US" sz="1600" kern="0" dirty="0">
                <a:solidFill>
                  <a:srgbClr val="FF0000"/>
                </a:solidFill>
                <a:latin typeface="Adobe Fan Heiti Std B" pitchFamily="34" charset="-128"/>
                <a:ea typeface="Adobe Fan Heiti Std B" pitchFamily="34" charset="-128"/>
              </a:rPr>
              <a:t> new </a:t>
            </a:r>
            <a:r>
              <a:rPr lang="en-US" sz="1600" kern="0" dirty="0">
                <a:solidFill>
                  <a:srgbClr val="0070C0"/>
                </a:solidFill>
                <a:latin typeface="Adobe Fan Heiti Std B" pitchFamily="34" charset="-128"/>
                <a:ea typeface="Adobe Fan Heiti Std B" pitchFamily="34" charset="-128"/>
              </a:rPr>
              <a:t>T[10]</a:t>
            </a:r>
            <a:r>
              <a:rPr lang="en-US" sz="1600" kern="0" dirty="0">
                <a:solidFill>
                  <a:srgbClr val="000000"/>
                </a:solidFill>
                <a:latin typeface="Adobe Fan Heiti Std B" pitchFamily="34" charset="-128"/>
                <a:ea typeface="Adobe Fan Heiti Std B" pitchFamily="34" charset="-128"/>
              </a:rPr>
              <a:t>;</a:t>
            </a:r>
          </a:p>
        </p:txBody>
      </p:sp>
      <p:sp>
        <p:nvSpPr>
          <p:cNvPr id="17" name="23 Multiplicar"/>
          <p:cNvSpPr/>
          <p:nvPr/>
        </p:nvSpPr>
        <p:spPr bwMode="auto">
          <a:xfrm>
            <a:off x="2415720" y="2108550"/>
            <a:ext cx="288032" cy="249835"/>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31461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5" grpId="0"/>
      <p:bldP spid="15" grpId="1"/>
      <p:bldP spid="17" grpId="0" animBg="1"/>
      <p:bldP spid="17"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 Grupo"/>
          <p:cNvGrpSpPr/>
          <p:nvPr/>
        </p:nvGrpSpPr>
        <p:grpSpPr>
          <a:xfrm>
            <a:off x="1763688" y="764704"/>
            <a:ext cx="5616624" cy="4104456"/>
            <a:chOff x="1547665" y="764704"/>
            <a:chExt cx="5616624" cy="4104456"/>
          </a:xfrm>
        </p:grpSpPr>
        <p:sp>
          <p:nvSpPr>
            <p:cNvPr id="21" name="Rectangle 3"/>
            <p:cNvSpPr txBox="1">
              <a:spLocks noChangeArrowheads="1"/>
            </p:cNvSpPr>
            <p:nvPr/>
          </p:nvSpPr>
          <p:spPr bwMode="auto">
            <a:xfrm>
              <a:off x="1691681" y="764704"/>
              <a:ext cx="5345011" cy="327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b="0" kern="0" dirty="0" err="1">
                  <a:solidFill>
                    <a:schemeClr val="bg1">
                      <a:lumMod val="50000"/>
                    </a:schemeClr>
                  </a:solidFill>
                  <a:latin typeface="Arial Black" panose="020B0A04020102020204" pitchFamily="34" charset="0"/>
                  <a:ea typeface="Adobe Fan Heiti Std B" pitchFamily="34" charset="-128"/>
                </a:rPr>
                <a:t>Clase</a:t>
              </a:r>
              <a:r>
                <a:rPr lang="en-US" sz="1600" b="0" kern="0" dirty="0">
                  <a:solidFill>
                    <a:schemeClr val="bg1">
                      <a:lumMod val="50000"/>
                    </a:schemeClr>
                  </a:solidFill>
                  <a:latin typeface="Arial Black" panose="020B0A04020102020204" pitchFamily="34" charset="0"/>
                  <a:ea typeface="Adobe Fan Heiti Std B" pitchFamily="34" charset="-128"/>
                </a:rPr>
                <a:t> </a:t>
              </a:r>
              <a:r>
                <a:rPr lang="en-US" sz="1600" b="0" kern="0" dirty="0" err="1">
                  <a:solidFill>
                    <a:srgbClr val="000000"/>
                  </a:solidFill>
                  <a:latin typeface="Arial Black" panose="020B0A04020102020204" pitchFamily="34" charset="0"/>
                  <a:ea typeface="Adobe Fan Heiti Std B" pitchFamily="34" charset="-128"/>
                </a:rPr>
                <a:t>Pareja</a:t>
              </a:r>
              <a:endParaRPr lang="en-US" sz="1600" kern="0" dirty="0">
                <a:solidFill>
                  <a:srgbClr val="000000"/>
                </a:solidFill>
              </a:endParaRPr>
            </a:p>
          </p:txBody>
        </p:sp>
        <p:sp>
          <p:nvSpPr>
            <p:cNvPr id="5" name="4 Rectángulo"/>
            <p:cNvSpPr/>
            <p:nvPr/>
          </p:nvSpPr>
          <p:spPr bwMode="auto">
            <a:xfrm>
              <a:off x="1547665" y="1092400"/>
              <a:ext cx="5616624" cy="377676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2" name="1 Título"/>
          <p:cNvSpPr>
            <a:spLocks noGrp="1"/>
          </p:cNvSpPr>
          <p:nvPr>
            <p:ph type="title"/>
          </p:nvPr>
        </p:nvSpPr>
        <p:spPr>
          <a:xfrm>
            <a:off x="542924" y="53975"/>
            <a:ext cx="7989515" cy="563563"/>
          </a:xfrm>
        </p:spPr>
        <p:txBody>
          <a:bodyPr/>
          <a:lstStyle/>
          <a:p>
            <a:r>
              <a:rPr lang="es-ES" dirty="0"/>
              <a:t>Clases genéricas</a:t>
            </a:r>
          </a:p>
        </p:txBody>
      </p:sp>
      <p:sp>
        <p:nvSpPr>
          <p:cNvPr id="23" name="22 Rectángulo"/>
          <p:cNvSpPr/>
          <p:nvPr/>
        </p:nvSpPr>
        <p:spPr bwMode="auto">
          <a:xfrm>
            <a:off x="1115616" y="5081527"/>
            <a:ext cx="6852741" cy="1299801"/>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4" name="Rectangle 3"/>
          <p:cNvSpPr txBox="1">
            <a:spLocks noChangeArrowheads="1"/>
          </p:cNvSpPr>
          <p:nvPr/>
        </p:nvSpPr>
        <p:spPr bwMode="auto">
          <a:xfrm>
            <a:off x="1496326" y="5225543"/>
            <a:ext cx="6472031" cy="101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chemeClr val="accent3">
                    <a:lumMod val="50000"/>
                  </a:schemeClr>
                </a:solidFill>
                <a:latin typeface="Adobe Fan Heiti Std B" pitchFamily="34" charset="-128"/>
                <a:ea typeface="Adobe Fan Heiti Std B" pitchFamily="34" charset="-128"/>
              </a:rPr>
              <a:t> </a:t>
            </a:r>
            <a:r>
              <a:rPr lang="en-US" sz="1600" kern="0" dirty="0" err="1">
                <a:solidFill>
                  <a:srgbClr val="0070C0"/>
                </a:solidFill>
                <a:latin typeface="Adobe Fan Heiti Std B" pitchFamily="34" charset="-128"/>
                <a:ea typeface="Adobe Fan Heiti Std B" pitchFamily="34" charset="-128"/>
              </a:rPr>
              <a:t>Pareja</a:t>
            </a:r>
            <a:r>
              <a:rPr lang="en-US" sz="1600" kern="0" dirty="0">
                <a:solidFill>
                  <a:srgbClr val="0070C0"/>
                </a:solidFill>
                <a:latin typeface="Adobe Fan Heiti Std B" pitchFamily="34" charset="-128"/>
                <a:ea typeface="Adobe Fan Heiti Std B" pitchFamily="34" charset="-128"/>
              </a:rPr>
              <a:t>&lt;</a:t>
            </a:r>
            <a:r>
              <a:rPr lang="en-US" sz="1600" kern="0" dirty="0">
                <a:solidFill>
                  <a:srgbClr val="7030A0"/>
                </a:solidFill>
                <a:latin typeface="Adobe Fan Heiti Std B" pitchFamily="34" charset="-128"/>
                <a:ea typeface="Adobe Fan Heiti Std B" pitchFamily="34" charset="-128"/>
              </a:rPr>
              <a:t>String, Long</a:t>
            </a:r>
            <a:r>
              <a:rPr lang="en-US" sz="1600" kern="0" dirty="0">
                <a:solidFill>
                  <a:srgbClr val="0070C0"/>
                </a:solidFill>
                <a:latin typeface="Adobe Fan Heiti Std B" pitchFamily="34" charset="-128"/>
                <a:ea typeface="Adobe Fan Heiti Std B" pitchFamily="34" charset="-128"/>
              </a:rPr>
              <a:t>&gt; </a:t>
            </a:r>
            <a:r>
              <a:rPr lang="en-US" sz="1600" kern="0" dirty="0" err="1">
                <a:solidFill>
                  <a:srgbClr val="000000"/>
                </a:solidFill>
                <a:latin typeface="Adobe Fan Heiti Std B" pitchFamily="34" charset="-128"/>
                <a:ea typeface="Adobe Fan Heiti Std B" pitchFamily="34" charset="-128"/>
              </a:rPr>
              <a:t>contacto</a:t>
            </a:r>
            <a:r>
              <a:rPr lang="en-US" sz="1600" kern="0" dirty="0">
                <a:solidFill>
                  <a:srgbClr val="000000"/>
                </a:solidFill>
                <a:latin typeface="Adobe Fan Heiti Std B" pitchFamily="34" charset="-128"/>
                <a:ea typeface="Adobe Fan Heiti Std B" pitchFamily="34" charset="-128"/>
              </a:rPr>
              <a:t> </a:t>
            </a:r>
            <a:r>
              <a:rPr lang="en-US" sz="1600" kern="0" dirty="0">
                <a:solidFill>
                  <a:schemeClr val="accent3">
                    <a:lumMod val="50000"/>
                  </a:schemeClr>
                </a:solidFill>
                <a:latin typeface="Adobe Fan Heiti Std B" pitchFamily="34" charset="-128"/>
                <a:ea typeface="Adobe Fan Heiti Std B" pitchFamily="34" charset="-128"/>
              </a:rPr>
              <a:t>= new </a:t>
            </a:r>
            <a:r>
              <a:rPr lang="en-US" sz="1600" kern="0" dirty="0" err="1">
                <a:solidFill>
                  <a:srgbClr val="0070C0"/>
                </a:solidFill>
                <a:latin typeface="Adobe Fan Heiti Std B" pitchFamily="34" charset="-128"/>
                <a:ea typeface="Adobe Fan Heiti Std B" pitchFamily="34" charset="-128"/>
              </a:rPr>
              <a:t>Pareja</a:t>
            </a:r>
            <a:r>
              <a:rPr lang="en-US" sz="1600" kern="0" dirty="0">
                <a:solidFill>
                  <a:schemeClr val="accent3">
                    <a:lumMod val="50000"/>
                  </a:schemeClr>
                </a:solidFill>
                <a:latin typeface="Adobe Fan Heiti Std B" pitchFamily="34" charset="-128"/>
                <a:ea typeface="Adobe Fan Heiti Std B" pitchFamily="34" charset="-128"/>
              </a:rPr>
              <a:t>&lt;</a:t>
            </a:r>
            <a:r>
              <a:rPr lang="en-US" sz="1600" kern="0" dirty="0">
                <a:solidFill>
                  <a:srgbClr val="7030A0"/>
                </a:solidFill>
                <a:latin typeface="Adobe Fan Heiti Std B" pitchFamily="34" charset="-128"/>
                <a:ea typeface="Adobe Fan Heiti Std B" pitchFamily="34" charset="-128"/>
              </a:rPr>
              <a:t>String, Long</a:t>
            </a:r>
            <a:r>
              <a:rPr lang="en-US" sz="1600" kern="0" dirty="0">
                <a:solidFill>
                  <a:schemeClr val="accent3">
                    <a:lumMod val="50000"/>
                  </a:schemeClr>
                </a:solidFill>
                <a:latin typeface="Adobe Fan Heiti Std B" pitchFamily="34" charset="-128"/>
                <a:ea typeface="Adobe Fan Heiti Std B" pitchFamily="34" charset="-128"/>
              </a:rPr>
              <a:t>&gt;();</a:t>
            </a:r>
          </a:p>
          <a:p>
            <a:pPr marL="0" indent="0">
              <a:buNone/>
            </a:pPr>
            <a:r>
              <a:rPr lang="en-US" sz="1600" kern="0" dirty="0">
                <a:solidFill>
                  <a:schemeClr val="accent3">
                    <a:lumMod val="50000"/>
                  </a:schemeClr>
                </a:solidFill>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contacto</a:t>
            </a:r>
            <a:r>
              <a:rPr lang="en-US" sz="1600" kern="0" dirty="0" err="1">
                <a:solidFill>
                  <a:schemeClr val="accent3">
                    <a:lumMod val="50000"/>
                  </a:schemeClr>
                </a:solidFill>
                <a:latin typeface="Adobe Fan Heiti Std B" pitchFamily="34" charset="-128"/>
                <a:ea typeface="Adobe Fan Heiti Std B" pitchFamily="34" charset="-128"/>
              </a:rPr>
              <a:t>.</a:t>
            </a:r>
            <a:r>
              <a:rPr lang="en-US" sz="1600" kern="0" dirty="0" err="1">
                <a:solidFill>
                  <a:srgbClr val="FF0000"/>
                </a:solidFill>
                <a:latin typeface="Adobe Fan Heiti Std B" pitchFamily="34" charset="-128"/>
                <a:ea typeface="Adobe Fan Heiti Std B" pitchFamily="34" charset="-128"/>
              </a:rPr>
              <a:t>setContenido</a:t>
            </a:r>
            <a:r>
              <a:rPr lang="en-US" sz="1600" kern="0" dirty="0">
                <a:solidFill>
                  <a:srgbClr val="FF0000"/>
                </a:solidFill>
                <a:latin typeface="Adobe Fan Heiti Std B" pitchFamily="34" charset="-128"/>
                <a:ea typeface="Adobe Fan Heiti Std B" pitchFamily="34" charset="-128"/>
              </a:rPr>
              <a:t>(</a:t>
            </a:r>
            <a:r>
              <a:rPr lang="en-US" sz="1600" kern="0" dirty="0">
                <a:solidFill>
                  <a:srgbClr val="00B050"/>
                </a:solidFill>
                <a:latin typeface="Adobe Fan Heiti Std B" pitchFamily="34" charset="-128"/>
                <a:ea typeface="Adobe Fan Heiti Std B" pitchFamily="34" charset="-128"/>
              </a:rPr>
              <a:t>"Luis</a:t>
            </a:r>
            <a:r>
              <a:rPr lang="en-US" sz="1600" kern="0">
                <a:solidFill>
                  <a:srgbClr val="00B050"/>
                </a:solidFill>
                <a:latin typeface="Adobe Fan Heiti Std B" pitchFamily="34" charset="-128"/>
                <a:ea typeface="Adobe Fan Heiti Std B" pitchFamily="34" charset="-128"/>
              </a:rPr>
              <a:t>", </a:t>
            </a:r>
            <a:r>
              <a:rPr lang="en-US" sz="1600" kern="0" smtClean="0">
                <a:solidFill>
                  <a:srgbClr val="00B050"/>
                </a:solidFill>
                <a:latin typeface="Adobe Fan Heiti Std B" pitchFamily="34" charset="-128"/>
                <a:ea typeface="Adobe Fan Heiti Std B" pitchFamily="34" charset="-128"/>
              </a:rPr>
              <a:t>956787867L</a:t>
            </a:r>
            <a:r>
              <a:rPr lang="en-US" sz="1600" kern="0" smtClean="0">
                <a:solidFill>
                  <a:srgbClr val="FF0000"/>
                </a:solidFill>
                <a:latin typeface="Adobe Fan Heiti Std B" pitchFamily="34" charset="-128"/>
                <a:ea typeface="Adobe Fan Heiti Std B" pitchFamily="34" charset="-128"/>
              </a:rPr>
              <a:t>)</a:t>
            </a:r>
            <a:r>
              <a:rPr lang="en-US" sz="1600" kern="0" smtClean="0">
                <a:solidFill>
                  <a:schemeClr val="accent3">
                    <a:lumMod val="50000"/>
                  </a:schemeClr>
                </a:solidFill>
                <a:latin typeface="Adobe Fan Heiti Std B" pitchFamily="34" charset="-128"/>
                <a:ea typeface="Adobe Fan Heiti Std B" pitchFamily="34" charset="-128"/>
              </a:rPr>
              <a:t>;</a:t>
            </a:r>
            <a:endParaRPr lang="en-US" sz="1600" kern="0" dirty="0">
              <a:solidFill>
                <a:schemeClr val="accent3">
                  <a:lumMod val="50000"/>
                </a:schemeClr>
              </a:solidFill>
              <a:latin typeface="Adobe Fan Heiti Std B" pitchFamily="34" charset="-128"/>
              <a:ea typeface="Adobe Fan Heiti Std B" pitchFamily="34" charset="-128"/>
            </a:endParaRPr>
          </a:p>
          <a:p>
            <a:pPr marL="0" indent="0">
              <a:buNone/>
            </a:pPr>
            <a:r>
              <a:rPr lang="en-US" sz="1600" kern="0" dirty="0">
                <a:solidFill>
                  <a:schemeClr val="accent3">
                    <a:lumMod val="50000"/>
                  </a:schemeClr>
                </a:solidFill>
                <a:latin typeface="Adobe Fan Heiti Std B" pitchFamily="34" charset="-128"/>
                <a:ea typeface="Adobe Fan Heiti Std B" pitchFamily="34" charset="-128"/>
              </a:rPr>
              <a:t> </a:t>
            </a:r>
            <a:r>
              <a:rPr lang="en-US" sz="1600" kern="0" dirty="0" err="1">
                <a:solidFill>
                  <a:schemeClr val="accent3">
                    <a:lumMod val="50000"/>
                  </a:schemeClr>
                </a:solidFill>
                <a:latin typeface="Adobe Fan Heiti Std B" pitchFamily="34" charset="-128"/>
                <a:ea typeface="Adobe Fan Heiti Std B" pitchFamily="34" charset="-128"/>
              </a:rPr>
              <a:t>System.out.</a:t>
            </a:r>
            <a:r>
              <a:rPr lang="en-US" sz="1600" kern="0" dirty="0" err="1">
                <a:solidFill>
                  <a:srgbClr val="FF0000"/>
                </a:solidFill>
                <a:latin typeface="Adobe Fan Heiti Std B" pitchFamily="34" charset="-128"/>
                <a:ea typeface="Adobe Fan Heiti Std B" pitchFamily="34" charset="-128"/>
              </a:rPr>
              <a:t>println</a:t>
            </a:r>
            <a:r>
              <a:rPr lang="en-US" sz="1600" kern="0" dirty="0">
                <a:solidFill>
                  <a:srgbClr val="FF0000"/>
                </a:solidFill>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contacto</a:t>
            </a:r>
            <a:r>
              <a:rPr lang="en-US" sz="1600" kern="0" dirty="0" err="1">
                <a:solidFill>
                  <a:schemeClr val="accent3">
                    <a:lumMod val="50000"/>
                  </a:schemeClr>
                </a:solidFill>
                <a:latin typeface="Adobe Fan Heiti Std B" pitchFamily="34" charset="-128"/>
                <a:ea typeface="Adobe Fan Heiti Std B" pitchFamily="34" charset="-128"/>
              </a:rPr>
              <a:t>.</a:t>
            </a:r>
            <a:r>
              <a:rPr lang="en-US" sz="1600" kern="0" dirty="0" err="1">
                <a:solidFill>
                  <a:srgbClr val="FF0000"/>
                </a:solidFill>
                <a:latin typeface="Adobe Fan Heiti Std B" pitchFamily="34" charset="-128"/>
                <a:ea typeface="Adobe Fan Heiti Std B" pitchFamily="34" charset="-128"/>
              </a:rPr>
              <a:t>getContenido</a:t>
            </a:r>
            <a:r>
              <a:rPr lang="en-US" sz="1600" kern="0" dirty="0">
                <a:solidFill>
                  <a:srgbClr val="FF0000"/>
                </a:solidFill>
                <a:latin typeface="Adobe Fan Heiti Std B" pitchFamily="34" charset="-128"/>
                <a:ea typeface="Adobe Fan Heiti Std B" pitchFamily="34" charset="-128"/>
              </a:rPr>
              <a:t>() )</a:t>
            </a:r>
            <a:r>
              <a:rPr lang="en-US" sz="1600" kern="0" dirty="0">
                <a:solidFill>
                  <a:schemeClr val="accent3">
                    <a:lumMod val="50000"/>
                  </a:schemeClr>
                </a:solidFill>
                <a:latin typeface="Adobe Fan Heiti Std B" pitchFamily="34" charset="-128"/>
                <a:ea typeface="Adobe Fan Heiti Std B" pitchFamily="34" charset="-128"/>
              </a:rPr>
              <a:t> ;</a:t>
            </a:r>
          </a:p>
        </p:txBody>
      </p:sp>
      <p:sp>
        <p:nvSpPr>
          <p:cNvPr id="27" name="Rectangle 3"/>
          <p:cNvSpPr txBox="1">
            <a:spLocks noChangeArrowheads="1"/>
          </p:cNvSpPr>
          <p:nvPr/>
        </p:nvSpPr>
        <p:spPr bwMode="auto">
          <a:xfrm>
            <a:off x="2054213" y="1236221"/>
            <a:ext cx="4968552" cy="339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500" kern="0" dirty="0">
                <a:solidFill>
                  <a:schemeClr val="bg1">
                    <a:lumMod val="50000"/>
                  </a:schemeClr>
                </a:solidFill>
                <a:latin typeface="Adobe Fan Heiti Std B" pitchFamily="34" charset="-128"/>
                <a:ea typeface="Adobe Fan Heiti Std B" pitchFamily="34" charset="-128"/>
              </a:rPr>
              <a:t>public class </a:t>
            </a:r>
            <a:r>
              <a:rPr lang="en-US" sz="1500" kern="0" dirty="0" err="1">
                <a:solidFill>
                  <a:srgbClr val="0070C0"/>
                </a:solidFill>
                <a:latin typeface="Adobe Fan Heiti Std B" pitchFamily="34" charset="-128"/>
                <a:ea typeface="Adobe Fan Heiti Std B" pitchFamily="34" charset="-128"/>
              </a:rPr>
              <a:t>Pareja</a:t>
            </a:r>
            <a:r>
              <a:rPr lang="en-US" sz="1500" kern="0" dirty="0">
                <a:solidFill>
                  <a:srgbClr val="0070C0"/>
                </a:solidFill>
                <a:latin typeface="Adobe Fan Heiti Std B" pitchFamily="34" charset="-128"/>
                <a:ea typeface="Adobe Fan Heiti Std B" pitchFamily="34" charset="-128"/>
              </a:rPr>
              <a:t> </a:t>
            </a:r>
            <a:r>
              <a:rPr lang="en-US" sz="1500" kern="0" dirty="0">
                <a:solidFill>
                  <a:srgbClr val="00B050"/>
                </a:solidFill>
                <a:latin typeface="Arial Black" panose="020B0A04020102020204" pitchFamily="34" charset="0"/>
                <a:ea typeface="Adobe Fan Heiti Std B" pitchFamily="34" charset="-128"/>
              </a:rPr>
              <a:t>&lt;T1, T2&gt;</a:t>
            </a:r>
            <a:r>
              <a:rPr lang="en-US" sz="1500" kern="0" dirty="0">
                <a:solidFill>
                  <a:srgbClr val="0070C0"/>
                </a:solidFill>
                <a:latin typeface="Adobe Fan Heiti Std B" pitchFamily="34" charset="-128"/>
                <a:ea typeface="Adobe Fan Heiti Std B" pitchFamily="34" charset="-128"/>
              </a:rPr>
              <a:t> {</a:t>
            </a:r>
          </a:p>
          <a:p>
            <a:pPr marL="0" indent="0">
              <a:buNone/>
            </a:pPr>
            <a:r>
              <a:rPr lang="en-US" sz="1500" kern="0" dirty="0">
                <a:solidFill>
                  <a:srgbClr val="0070C0"/>
                </a:solidFill>
                <a:latin typeface="Adobe Fan Heiti Std B" pitchFamily="34" charset="-128"/>
                <a:ea typeface="Adobe Fan Heiti Std B" pitchFamily="34" charset="-128"/>
              </a:rPr>
              <a:t>    </a:t>
            </a:r>
            <a:r>
              <a:rPr lang="en-US" sz="1500" kern="0" dirty="0">
                <a:solidFill>
                  <a:srgbClr val="00B050"/>
                </a:solidFill>
                <a:latin typeface="Arial Black" panose="020B0A04020102020204" pitchFamily="34" charset="0"/>
                <a:ea typeface="Adobe Fan Heiti Std B" pitchFamily="34" charset="-128"/>
              </a:rPr>
              <a:t>T1</a:t>
            </a:r>
            <a:r>
              <a:rPr lang="en-US" sz="1500" kern="0" dirty="0">
                <a:solidFill>
                  <a:srgbClr val="0070C0"/>
                </a:solidFill>
                <a:latin typeface="Adobe Fan Heiti Std B" pitchFamily="34" charset="-128"/>
                <a:ea typeface="Adobe Fan Heiti Std B" pitchFamily="34" charset="-128"/>
              </a:rPr>
              <a:t> </a:t>
            </a:r>
            <a:r>
              <a:rPr lang="en-US" sz="1500" kern="0" dirty="0">
                <a:solidFill>
                  <a:srgbClr val="000000"/>
                </a:solidFill>
                <a:latin typeface="Adobe Fan Heiti Std B" pitchFamily="34" charset="-128"/>
                <a:ea typeface="Adobe Fan Heiti Std B" pitchFamily="34" charset="-128"/>
              </a:rPr>
              <a:t>elemento1</a:t>
            </a:r>
            <a:r>
              <a:rPr lang="en-US" sz="1500" kern="0" dirty="0">
                <a:solidFill>
                  <a:schemeClr val="bg1">
                    <a:lumMod val="50000"/>
                  </a:schemeClr>
                </a:solidFill>
                <a:latin typeface="Adobe Fan Heiti Std B" pitchFamily="34" charset="-128"/>
                <a:ea typeface="Adobe Fan Heiti Std B" pitchFamily="34" charset="-128"/>
              </a:rPr>
              <a:t>;</a:t>
            </a:r>
            <a:r>
              <a:rPr lang="en-US" sz="1500" kern="0" dirty="0">
                <a:solidFill>
                  <a:srgbClr val="0070C0"/>
                </a:solidFill>
                <a:latin typeface="Adobe Fan Heiti Std B" pitchFamily="34" charset="-128"/>
                <a:ea typeface="Adobe Fan Heiti Std B" pitchFamily="34" charset="-128"/>
              </a:rPr>
              <a:t> </a:t>
            </a:r>
          </a:p>
          <a:p>
            <a:pPr marL="0" indent="0">
              <a:buNone/>
            </a:pPr>
            <a:r>
              <a:rPr lang="en-US" sz="1500" kern="0" dirty="0">
                <a:solidFill>
                  <a:srgbClr val="0070C0"/>
                </a:solidFill>
                <a:latin typeface="Adobe Fan Heiti Std B" pitchFamily="34" charset="-128"/>
                <a:ea typeface="Adobe Fan Heiti Std B" pitchFamily="34" charset="-128"/>
              </a:rPr>
              <a:t>    </a:t>
            </a:r>
            <a:r>
              <a:rPr lang="en-US" sz="1500" kern="0" dirty="0">
                <a:solidFill>
                  <a:srgbClr val="00B050"/>
                </a:solidFill>
                <a:latin typeface="Arial Black" panose="020B0A04020102020204" pitchFamily="34" charset="0"/>
                <a:ea typeface="Adobe Fan Heiti Std B" pitchFamily="34" charset="-128"/>
              </a:rPr>
              <a:t>T2</a:t>
            </a:r>
            <a:r>
              <a:rPr lang="en-US" sz="1500" kern="0" dirty="0">
                <a:solidFill>
                  <a:srgbClr val="0070C0"/>
                </a:solidFill>
                <a:latin typeface="Adobe Fan Heiti Std B" pitchFamily="34" charset="-128"/>
                <a:ea typeface="Adobe Fan Heiti Std B" pitchFamily="34" charset="-128"/>
              </a:rPr>
              <a:t> </a:t>
            </a:r>
            <a:r>
              <a:rPr lang="en-US" sz="1500" kern="0" dirty="0">
                <a:solidFill>
                  <a:srgbClr val="000000"/>
                </a:solidFill>
                <a:latin typeface="Adobe Fan Heiti Std B" pitchFamily="34" charset="-128"/>
                <a:ea typeface="Adobe Fan Heiti Std B" pitchFamily="34" charset="-128"/>
              </a:rPr>
              <a:t>elemento2</a:t>
            </a:r>
            <a:r>
              <a:rPr lang="en-US" sz="1500" kern="0" dirty="0">
                <a:solidFill>
                  <a:schemeClr val="bg1">
                    <a:lumMod val="50000"/>
                  </a:schemeClr>
                </a:solidFill>
                <a:latin typeface="Adobe Fan Heiti Std B" pitchFamily="34" charset="-128"/>
                <a:ea typeface="Adobe Fan Heiti Std B" pitchFamily="34" charset="-128"/>
              </a:rPr>
              <a:t>;</a:t>
            </a:r>
          </a:p>
          <a:p>
            <a:pPr marL="0" indent="0">
              <a:buNone/>
            </a:pPr>
            <a:endParaRPr lang="en-US" sz="1500" kern="0" dirty="0">
              <a:solidFill>
                <a:schemeClr val="bg1">
                  <a:lumMod val="50000"/>
                </a:schemeClr>
              </a:solidFill>
              <a:latin typeface="Adobe Fan Heiti Std B" pitchFamily="34" charset="-128"/>
              <a:ea typeface="Adobe Fan Heiti Std B" pitchFamily="34" charset="-128"/>
            </a:endParaRPr>
          </a:p>
          <a:p>
            <a:pPr marL="0" indent="0">
              <a:buNone/>
            </a:pPr>
            <a:r>
              <a:rPr lang="en-US" sz="1500" kern="0" dirty="0">
                <a:solidFill>
                  <a:schemeClr val="bg1">
                    <a:lumMod val="50000"/>
                  </a:schemeClr>
                </a:solidFill>
                <a:latin typeface="Adobe Fan Heiti Std B" pitchFamily="34" charset="-128"/>
                <a:ea typeface="Adobe Fan Heiti Std B" pitchFamily="34" charset="-128"/>
              </a:rPr>
              <a:t>    public </a:t>
            </a:r>
            <a:r>
              <a:rPr lang="en-US" sz="1500" kern="0" dirty="0">
                <a:solidFill>
                  <a:srgbClr val="0070C0"/>
                </a:solidFill>
                <a:latin typeface="Adobe Fan Heiti Std B" pitchFamily="34" charset="-128"/>
                <a:ea typeface="Adobe Fan Heiti Std B" pitchFamily="34" charset="-128"/>
              </a:rPr>
              <a:t>void</a:t>
            </a:r>
            <a:r>
              <a:rPr lang="en-US" sz="1500" kern="0" dirty="0">
                <a:solidFill>
                  <a:schemeClr val="bg1">
                    <a:lumMod val="50000"/>
                  </a:schemeClr>
                </a:solidFill>
                <a:latin typeface="Adobe Fan Heiti Std B" pitchFamily="34" charset="-128"/>
                <a:ea typeface="Adobe Fan Heiti Std B" pitchFamily="34" charset="-128"/>
              </a:rPr>
              <a:t> </a:t>
            </a:r>
            <a:r>
              <a:rPr lang="en-US" sz="1500" kern="0" dirty="0" err="1">
                <a:solidFill>
                  <a:srgbClr val="FF0000"/>
                </a:solidFill>
                <a:latin typeface="Adobe Fan Heiti Std B" pitchFamily="34" charset="-128"/>
                <a:ea typeface="Adobe Fan Heiti Std B" pitchFamily="34" charset="-128"/>
              </a:rPr>
              <a:t>setContenido</a:t>
            </a:r>
            <a:r>
              <a:rPr lang="en-US" sz="1500" kern="0" dirty="0">
                <a:solidFill>
                  <a:srgbClr val="FF0000"/>
                </a:solidFill>
                <a:latin typeface="Adobe Fan Heiti Std B" pitchFamily="34" charset="-128"/>
                <a:ea typeface="Adobe Fan Heiti Std B" pitchFamily="34" charset="-128"/>
              </a:rPr>
              <a:t>(</a:t>
            </a:r>
            <a:r>
              <a:rPr lang="en-US" sz="1500" kern="0" dirty="0">
                <a:solidFill>
                  <a:srgbClr val="00B050"/>
                </a:solidFill>
                <a:latin typeface="Arial Black" panose="020B0A04020102020204" pitchFamily="34" charset="0"/>
                <a:ea typeface="Adobe Fan Heiti Std B" pitchFamily="34" charset="-128"/>
              </a:rPr>
              <a:t>T1</a:t>
            </a:r>
            <a:r>
              <a:rPr lang="en-US" sz="1500" kern="0" dirty="0">
                <a:solidFill>
                  <a:schemeClr val="bg1">
                    <a:lumMod val="50000"/>
                  </a:schemeClr>
                </a:solidFill>
                <a:latin typeface="Adobe Fan Heiti Std B" pitchFamily="34" charset="-128"/>
                <a:ea typeface="Adobe Fan Heiti Std B" pitchFamily="34" charset="-128"/>
              </a:rPr>
              <a:t> </a:t>
            </a:r>
            <a:r>
              <a:rPr lang="en-US" sz="1500" kern="0" dirty="0">
                <a:solidFill>
                  <a:srgbClr val="00B050"/>
                </a:solidFill>
                <a:latin typeface="Adobe Fan Heiti Std B" pitchFamily="34" charset="-128"/>
                <a:ea typeface="Adobe Fan Heiti Std B" pitchFamily="34" charset="-128"/>
              </a:rPr>
              <a:t>valor1, </a:t>
            </a:r>
            <a:r>
              <a:rPr lang="en-US" sz="1500" kern="0" dirty="0">
                <a:solidFill>
                  <a:srgbClr val="00B050"/>
                </a:solidFill>
                <a:latin typeface="Arial Black" panose="020B0A04020102020204" pitchFamily="34" charset="0"/>
                <a:ea typeface="Adobe Fan Heiti Std B" pitchFamily="34" charset="-128"/>
              </a:rPr>
              <a:t>T2</a:t>
            </a:r>
            <a:r>
              <a:rPr lang="en-US" sz="1500" kern="0" dirty="0">
                <a:solidFill>
                  <a:schemeClr val="bg1">
                    <a:lumMod val="50000"/>
                  </a:schemeClr>
                </a:solidFill>
                <a:latin typeface="Adobe Fan Heiti Std B" pitchFamily="34" charset="-128"/>
                <a:ea typeface="Adobe Fan Heiti Std B" pitchFamily="34" charset="-128"/>
              </a:rPr>
              <a:t> </a:t>
            </a:r>
            <a:r>
              <a:rPr lang="en-US" sz="1500" kern="0" dirty="0">
                <a:solidFill>
                  <a:srgbClr val="00B050"/>
                </a:solidFill>
                <a:latin typeface="Adobe Fan Heiti Std B" pitchFamily="34" charset="-128"/>
                <a:ea typeface="Adobe Fan Heiti Std B" pitchFamily="34" charset="-128"/>
              </a:rPr>
              <a:t>valor2</a:t>
            </a:r>
            <a:r>
              <a:rPr lang="en-US" sz="1500" kern="0" dirty="0">
                <a:solidFill>
                  <a:srgbClr val="FF0000"/>
                </a:solidFill>
                <a:latin typeface="Adobe Fan Heiti Std B" pitchFamily="34" charset="-128"/>
                <a:ea typeface="Adobe Fan Heiti Std B" pitchFamily="34" charset="-128"/>
              </a:rPr>
              <a:t>)</a:t>
            </a:r>
            <a:r>
              <a:rPr lang="en-US" sz="1500" kern="0" dirty="0">
                <a:solidFill>
                  <a:schemeClr val="bg1">
                    <a:lumMod val="50000"/>
                  </a:schemeClr>
                </a:solidFill>
                <a:latin typeface="Adobe Fan Heiti Std B" pitchFamily="34" charset="-128"/>
                <a:ea typeface="Adobe Fan Heiti Std B" pitchFamily="34" charset="-128"/>
              </a:rPr>
              <a:t> {</a:t>
            </a:r>
          </a:p>
          <a:p>
            <a:pPr marL="0" indent="0">
              <a:buNone/>
            </a:pPr>
            <a:r>
              <a:rPr lang="en-US" sz="1500" kern="0" dirty="0">
                <a:solidFill>
                  <a:schemeClr val="bg1">
                    <a:lumMod val="50000"/>
                  </a:schemeClr>
                </a:solidFill>
                <a:latin typeface="Adobe Fan Heiti Std B" pitchFamily="34" charset="-128"/>
                <a:ea typeface="Adobe Fan Heiti Std B" pitchFamily="34" charset="-128"/>
              </a:rPr>
              <a:t>        </a:t>
            </a:r>
            <a:r>
              <a:rPr lang="en-US" sz="1500" kern="0" dirty="0">
                <a:solidFill>
                  <a:srgbClr val="000000"/>
                </a:solidFill>
                <a:latin typeface="Adobe Fan Heiti Std B" pitchFamily="34" charset="-128"/>
                <a:ea typeface="Adobe Fan Heiti Std B" pitchFamily="34" charset="-128"/>
              </a:rPr>
              <a:t>elemento1</a:t>
            </a:r>
            <a:r>
              <a:rPr lang="en-US" sz="1500" kern="0" dirty="0">
                <a:solidFill>
                  <a:schemeClr val="bg1">
                    <a:lumMod val="50000"/>
                  </a:schemeClr>
                </a:solidFill>
                <a:latin typeface="Adobe Fan Heiti Std B" pitchFamily="34" charset="-128"/>
                <a:ea typeface="Adobe Fan Heiti Std B" pitchFamily="34" charset="-128"/>
              </a:rPr>
              <a:t> = </a:t>
            </a:r>
            <a:r>
              <a:rPr lang="en-US" sz="1500" kern="0" dirty="0">
                <a:solidFill>
                  <a:srgbClr val="00B050"/>
                </a:solidFill>
                <a:latin typeface="Adobe Fan Heiti Std B" pitchFamily="34" charset="-128"/>
                <a:ea typeface="Adobe Fan Heiti Std B" pitchFamily="34" charset="-128"/>
              </a:rPr>
              <a:t>valor1</a:t>
            </a:r>
            <a:r>
              <a:rPr lang="en-US" sz="1500" kern="0" dirty="0">
                <a:solidFill>
                  <a:schemeClr val="bg1">
                    <a:lumMod val="50000"/>
                  </a:schemeClr>
                </a:solidFill>
                <a:latin typeface="Adobe Fan Heiti Std B" pitchFamily="34" charset="-128"/>
                <a:ea typeface="Adobe Fan Heiti Std B" pitchFamily="34" charset="-128"/>
              </a:rPr>
              <a:t>;</a:t>
            </a:r>
          </a:p>
          <a:p>
            <a:pPr marL="0" indent="0">
              <a:buNone/>
            </a:pPr>
            <a:r>
              <a:rPr lang="en-US" sz="1500" kern="0" dirty="0">
                <a:solidFill>
                  <a:schemeClr val="bg1">
                    <a:lumMod val="50000"/>
                  </a:schemeClr>
                </a:solidFill>
                <a:latin typeface="Adobe Fan Heiti Std B" pitchFamily="34" charset="-128"/>
                <a:ea typeface="Adobe Fan Heiti Std B" pitchFamily="34" charset="-128"/>
              </a:rPr>
              <a:t>        </a:t>
            </a:r>
            <a:r>
              <a:rPr lang="en-US" sz="1500" kern="0" dirty="0">
                <a:solidFill>
                  <a:srgbClr val="000000"/>
                </a:solidFill>
                <a:latin typeface="Adobe Fan Heiti Std B" pitchFamily="34" charset="-128"/>
                <a:ea typeface="Adobe Fan Heiti Std B" pitchFamily="34" charset="-128"/>
              </a:rPr>
              <a:t>elemento2</a:t>
            </a:r>
            <a:r>
              <a:rPr lang="en-US" sz="1500" kern="0" dirty="0">
                <a:solidFill>
                  <a:schemeClr val="bg1">
                    <a:lumMod val="50000"/>
                  </a:schemeClr>
                </a:solidFill>
                <a:latin typeface="Adobe Fan Heiti Std B" pitchFamily="34" charset="-128"/>
                <a:ea typeface="Adobe Fan Heiti Std B" pitchFamily="34" charset="-128"/>
              </a:rPr>
              <a:t> = </a:t>
            </a:r>
            <a:r>
              <a:rPr lang="en-US" sz="1500" kern="0" dirty="0">
                <a:solidFill>
                  <a:srgbClr val="00B050"/>
                </a:solidFill>
                <a:latin typeface="Adobe Fan Heiti Std B" pitchFamily="34" charset="-128"/>
                <a:ea typeface="Adobe Fan Heiti Std B" pitchFamily="34" charset="-128"/>
              </a:rPr>
              <a:t>valor2</a:t>
            </a:r>
            <a:r>
              <a:rPr lang="en-US" sz="1500" kern="0" dirty="0">
                <a:solidFill>
                  <a:schemeClr val="bg1">
                    <a:lumMod val="50000"/>
                  </a:schemeClr>
                </a:solidFill>
                <a:latin typeface="Adobe Fan Heiti Std B" pitchFamily="34" charset="-128"/>
                <a:ea typeface="Adobe Fan Heiti Std B" pitchFamily="34" charset="-128"/>
              </a:rPr>
              <a:t>;</a:t>
            </a:r>
          </a:p>
          <a:p>
            <a:pPr marL="0" indent="0">
              <a:buNone/>
            </a:pPr>
            <a:r>
              <a:rPr lang="en-US" sz="1500" kern="0" dirty="0">
                <a:solidFill>
                  <a:schemeClr val="bg1">
                    <a:lumMod val="50000"/>
                  </a:schemeClr>
                </a:solidFill>
                <a:latin typeface="Adobe Fan Heiti Std B" pitchFamily="34" charset="-128"/>
                <a:ea typeface="Adobe Fan Heiti Std B" pitchFamily="34" charset="-128"/>
              </a:rPr>
              <a:t>    }</a:t>
            </a:r>
          </a:p>
          <a:p>
            <a:pPr marL="0" indent="0">
              <a:buNone/>
            </a:pPr>
            <a:r>
              <a:rPr lang="en-US" sz="1500" kern="0" dirty="0">
                <a:solidFill>
                  <a:schemeClr val="bg1">
                    <a:lumMod val="50000"/>
                  </a:schemeClr>
                </a:solidFill>
                <a:latin typeface="Adobe Fan Heiti Std B" pitchFamily="34" charset="-128"/>
                <a:ea typeface="Adobe Fan Heiti Std B" pitchFamily="34" charset="-128"/>
              </a:rPr>
              <a:t>    </a:t>
            </a:r>
          </a:p>
          <a:p>
            <a:pPr marL="0" indent="0">
              <a:buNone/>
            </a:pPr>
            <a:r>
              <a:rPr lang="en-US" sz="1500" kern="0" dirty="0">
                <a:solidFill>
                  <a:schemeClr val="bg1">
                    <a:lumMod val="50000"/>
                  </a:schemeClr>
                </a:solidFill>
                <a:latin typeface="Adobe Fan Heiti Std B" pitchFamily="34" charset="-128"/>
                <a:ea typeface="Adobe Fan Heiti Std B" pitchFamily="34" charset="-128"/>
              </a:rPr>
              <a:t>    public </a:t>
            </a:r>
            <a:r>
              <a:rPr lang="en-US" sz="1500" kern="0" dirty="0">
                <a:solidFill>
                  <a:srgbClr val="00B050"/>
                </a:solidFill>
                <a:latin typeface="Arial Black" panose="020B0A04020102020204" pitchFamily="34" charset="0"/>
                <a:ea typeface="Adobe Fan Heiti Std B" pitchFamily="34" charset="-128"/>
              </a:rPr>
              <a:t>String</a:t>
            </a:r>
            <a:r>
              <a:rPr lang="en-US" sz="1500" kern="0" dirty="0">
                <a:solidFill>
                  <a:schemeClr val="bg1">
                    <a:lumMod val="50000"/>
                  </a:schemeClr>
                </a:solidFill>
                <a:latin typeface="Adobe Fan Heiti Std B" pitchFamily="34" charset="-128"/>
                <a:ea typeface="Adobe Fan Heiti Std B" pitchFamily="34" charset="-128"/>
              </a:rPr>
              <a:t> </a:t>
            </a:r>
            <a:r>
              <a:rPr lang="en-US" sz="1500" kern="0" dirty="0" err="1">
                <a:solidFill>
                  <a:srgbClr val="FF0000"/>
                </a:solidFill>
                <a:latin typeface="Adobe Fan Heiti Std B" pitchFamily="34" charset="-128"/>
                <a:ea typeface="Adobe Fan Heiti Std B" pitchFamily="34" charset="-128"/>
              </a:rPr>
              <a:t>getContenido</a:t>
            </a:r>
            <a:r>
              <a:rPr lang="en-US" sz="1500" kern="0" dirty="0">
                <a:solidFill>
                  <a:srgbClr val="FF0000"/>
                </a:solidFill>
                <a:latin typeface="Adobe Fan Heiti Std B" pitchFamily="34" charset="-128"/>
                <a:ea typeface="Adobe Fan Heiti Std B" pitchFamily="34" charset="-128"/>
              </a:rPr>
              <a:t>() </a:t>
            </a:r>
            <a:r>
              <a:rPr lang="en-US" sz="1500" kern="0" dirty="0">
                <a:solidFill>
                  <a:schemeClr val="bg1">
                    <a:lumMod val="50000"/>
                  </a:schemeClr>
                </a:solidFill>
                <a:latin typeface="Adobe Fan Heiti Std B" pitchFamily="34" charset="-128"/>
                <a:ea typeface="Adobe Fan Heiti Std B" pitchFamily="34" charset="-128"/>
              </a:rPr>
              <a:t>{</a:t>
            </a:r>
          </a:p>
          <a:p>
            <a:pPr marL="0" indent="0">
              <a:buNone/>
            </a:pPr>
            <a:r>
              <a:rPr lang="en-US" sz="1500" kern="0" dirty="0">
                <a:solidFill>
                  <a:schemeClr val="bg1">
                    <a:lumMod val="50000"/>
                  </a:schemeClr>
                </a:solidFill>
                <a:latin typeface="Adobe Fan Heiti Std B" pitchFamily="34" charset="-128"/>
                <a:ea typeface="Adobe Fan Heiti Std B" pitchFamily="34" charset="-128"/>
              </a:rPr>
              <a:t>        return </a:t>
            </a:r>
            <a:r>
              <a:rPr lang="en-US" sz="1500" kern="0" dirty="0">
                <a:solidFill>
                  <a:srgbClr val="000000"/>
                </a:solidFill>
                <a:latin typeface="Adobe Fan Heiti Std B" pitchFamily="34" charset="-128"/>
                <a:ea typeface="Adobe Fan Heiti Std B" pitchFamily="34" charset="-128"/>
              </a:rPr>
              <a:t>elemento1 </a:t>
            </a:r>
            <a:r>
              <a:rPr lang="en-US" sz="1500" kern="0" dirty="0">
                <a:solidFill>
                  <a:srgbClr val="FF0000"/>
                </a:solidFill>
                <a:latin typeface="Adobe Fan Heiti Std B" pitchFamily="34" charset="-128"/>
                <a:ea typeface="Adobe Fan Heiti Std B" pitchFamily="34" charset="-128"/>
              </a:rPr>
              <a:t>+ </a:t>
            </a:r>
            <a:r>
              <a:rPr lang="en-US" sz="1500" kern="0" dirty="0">
                <a:solidFill>
                  <a:srgbClr val="00B050"/>
                </a:solidFill>
                <a:latin typeface="Adobe Fan Heiti Std B" pitchFamily="34" charset="-128"/>
                <a:ea typeface="Adobe Fan Heiti Std B" pitchFamily="34" charset="-128"/>
              </a:rPr>
              <a:t>" - "</a:t>
            </a:r>
            <a:r>
              <a:rPr lang="en-US" sz="1500" kern="0" dirty="0">
                <a:solidFill>
                  <a:srgbClr val="FF0000"/>
                </a:solidFill>
                <a:latin typeface="Adobe Fan Heiti Std B" pitchFamily="34" charset="-128"/>
                <a:ea typeface="Adobe Fan Heiti Std B" pitchFamily="34" charset="-128"/>
              </a:rPr>
              <a:t> + </a:t>
            </a:r>
            <a:r>
              <a:rPr lang="en-US" sz="1500" kern="0" dirty="0">
                <a:solidFill>
                  <a:srgbClr val="000000"/>
                </a:solidFill>
                <a:latin typeface="Adobe Fan Heiti Std B" pitchFamily="34" charset="-128"/>
                <a:ea typeface="Adobe Fan Heiti Std B" pitchFamily="34" charset="-128"/>
              </a:rPr>
              <a:t>elemento2</a:t>
            </a:r>
            <a:r>
              <a:rPr lang="en-US" sz="1500" kern="0" dirty="0">
                <a:solidFill>
                  <a:schemeClr val="bg1">
                    <a:lumMod val="50000"/>
                  </a:schemeClr>
                </a:solidFill>
                <a:latin typeface="Adobe Fan Heiti Std B" pitchFamily="34" charset="-128"/>
                <a:ea typeface="Adobe Fan Heiti Std B" pitchFamily="34" charset="-128"/>
              </a:rPr>
              <a:t>;</a:t>
            </a:r>
          </a:p>
          <a:p>
            <a:pPr marL="0" indent="0">
              <a:buNone/>
            </a:pPr>
            <a:r>
              <a:rPr lang="en-US" sz="1500" kern="0" dirty="0">
                <a:solidFill>
                  <a:schemeClr val="bg1">
                    <a:lumMod val="50000"/>
                  </a:schemeClr>
                </a:solidFill>
                <a:latin typeface="Adobe Fan Heiti Std B" pitchFamily="34" charset="-128"/>
                <a:ea typeface="Adobe Fan Heiti Std B" pitchFamily="34" charset="-128"/>
              </a:rPr>
              <a:t>    }</a:t>
            </a:r>
          </a:p>
          <a:p>
            <a:pPr marL="0" indent="0">
              <a:buNone/>
            </a:pPr>
            <a:r>
              <a:rPr lang="en-US" sz="1500" kern="0" dirty="0">
                <a:solidFill>
                  <a:srgbClr val="0070C0"/>
                </a:solidFill>
                <a:latin typeface="Adobe Fan Heiti Std B" pitchFamily="34" charset="-128"/>
                <a:ea typeface="Adobe Fan Heiti Std B" pitchFamily="34" charset="-128"/>
              </a:rPr>
              <a:t>}</a:t>
            </a:r>
          </a:p>
        </p:txBody>
      </p:sp>
    </p:spTree>
    <p:extLst>
      <p:ext uri="{BB962C8B-B14F-4D97-AF65-F5344CB8AC3E}">
        <p14:creationId xmlns:p14="http://schemas.microsoft.com/office/powerpoint/2010/main" val="1385333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1" nodeType="clickEffect">
                                  <p:stCondLst>
                                    <p:cond delay="0"/>
                                  </p:stCondLst>
                                  <p:childTnLst>
                                    <p:animEffect transition="out" filter="fade">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4" grpId="1"/>
      <p:bldP spid="27" grpId="0"/>
    </p:bldLst>
  </p:timing>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66"/>
        </a:dk1>
        <a:lt1>
          <a:srgbClr val="FFFFFF"/>
        </a:lt1>
        <a:dk2>
          <a:srgbClr val="58A252"/>
        </a:dk2>
        <a:lt2>
          <a:srgbClr val="B2B2B2"/>
        </a:lt2>
        <a:accent1>
          <a:srgbClr val="33CCCC"/>
        </a:accent1>
        <a:accent2>
          <a:srgbClr val="0099CC"/>
        </a:accent2>
        <a:accent3>
          <a:srgbClr val="FFFFFF"/>
        </a:accent3>
        <a:accent4>
          <a:srgbClr val="000056"/>
        </a:accent4>
        <a:accent5>
          <a:srgbClr val="ADE2E2"/>
        </a:accent5>
        <a:accent6>
          <a:srgbClr val="008AB9"/>
        </a:accent6>
        <a:hlink>
          <a:srgbClr val="6A9EB0"/>
        </a:hlink>
        <a:folHlink>
          <a:srgbClr val="6666FF"/>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415CB3"/>
        </a:dk2>
        <a:lt2>
          <a:srgbClr val="B2B2B2"/>
        </a:lt2>
        <a:accent1>
          <a:srgbClr val="55AEEB"/>
        </a:accent1>
        <a:accent2>
          <a:srgbClr val="FF9933"/>
        </a:accent2>
        <a:accent3>
          <a:srgbClr val="FFFFFF"/>
        </a:accent3>
        <a:accent4>
          <a:srgbClr val="000056"/>
        </a:accent4>
        <a:accent5>
          <a:srgbClr val="B4D3F3"/>
        </a:accent5>
        <a:accent6>
          <a:srgbClr val="E78A2D"/>
        </a:accent6>
        <a:hlink>
          <a:srgbClr val="4D7AB5"/>
        </a:hlink>
        <a:folHlink>
          <a:srgbClr val="9964A2"/>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cdb2004c019l</Template>
  <TotalTime>17119</TotalTime>
  <Words>765</Words>
  <Application>Microsoft Office PowerPoint</Application>
  <PresentationFormat>Presentación en pantalla (4:3)</PresentationFormat>
  <Paragraphs>148</Paragraphs>
  <Slides>12</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Adobe Fan Heiti Std B</vt:lpstr>
      <vt:lpstr>Arial</vt:lpstr>
      <vt:lpstr>Arial Black</vt:lpstr>
      <vt:lpstr>Calibri</vt:lpstr>
      <vt:lpstr>Verdana</vt:lpstr>
      <vt:lpstr>Wingdings</vt:lpstr>
      <vt:lpstr>cdb2004c019l</vt:lpstr>
      <vt:lpstr>Aplicación de las estructuras de almacenamiento</vt:lpstr>
      <vt:lpstr>Contenido</vt:lpstr>
      <vt:lpstr>Contenido</vt:lpstr>
      <vt:lpstr>Programación genérica</vt:lpstr>
      <vt:lpstr>Métodos genéricos</vt:lpstr>
      <vt:lpstr>¿Para qué sirve la programación générica?</vt:lpstr>
      <vt:lpstr>Métodos genéricos</vt:lpstr>
      <vt:lpstr>Métodos genéricos</vt:lpstr>
      <vt:lpstr>Clases genéricas</vt:lpstr>
      <vt:lpstr>Genéricos con tipos cerrados</vt:lpstr>
      <vt:lpstr>Clases genéricas</vt:lpstr>
      <vt:lpstr>Clases genéricas</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UsuarioAdministrador</dc:creator>
  <cp:lastModifiedBy>Usuario</cp:lastModifiedBy>
  <cp:revision>693</cp:revision>
  <dcterms:created xsi:type="dcterms:W3CDTF">2008-09-25T01:23:28Z</dcterms:created>
  <dcterms:modified xsi:type="dcterms:W3CDTF">2025-01-09T08:55:24Z</dcterms:modified>
</cp:coreProperties>
</file>