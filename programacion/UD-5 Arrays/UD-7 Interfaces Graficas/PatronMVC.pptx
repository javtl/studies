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79" r:id="rId3"/>
    <p:sldId id="444" r:id="rId4"/>
    <p:sldId id="452" r:id="rId5"/>
    <p:sldId id="471" r:id="rId6"/>
    <p:sldId id="457" r:id="rId7"/>
    <p:sldId id="468" r:id="rId8"/>
    <p:sldId id="458" r:id="rId9"/>
    <p:sldId id="459" r:id="rId10"/>
    <p:sldId id="455" r:id="rId11"/>
    <p:sldId id="461" r:id="rId12"/>
    <p:sldId id="464" r:id="rId13"/>
    <p:sldId id="469" r:id="rId14"/>
    <p:sldId id="465" r:id="rId15"/>
    <p:sldId id="470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249EDBE-9125-4EDC-A34A-0044E829241A}">
          <p14:sldIdLst>
            <p14:sldId id="256"/>
            <p14:sldId id="479"/>
            <p14:sldId id="444"/>
            <p14:sldId id="452"/>
            <p14:sldId id="471"/>
            <p14:sldId id="457"/>
            <p14:sldId id="468"/>
            <p14:sldId id="458"/>
            <p14:sldId id="459"/>
            <p14:sldId id="455"/>
            <p14:sldId id="461"/>
            <p14:sldId id="464"/>
            <p14:sldId id="469"/>
            <p14:sldId id="465"/>
            <p14:sldId id="470"/>
          </p14:sldIdLst>
        </p14:section>
        <p14:section name="Sección sin título" id="{E4FCF462-0BFF-4E95-876C-35E98A900F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9B"/>
    <a:srgbClr val="F8A602"/>
    <a:srgbClr val="000000"/>
    <a:srgbClr val="D6D9DF"/>
    <a:srgbClr val="FF3300"/>
    <a:srgbClr val="FFFFCC"/>
    <a:srgbClr val="EFEFEF"/>
    <a:srgbClr val="FF6600"/>
    <a:srgbClr val="FFFF00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2" autoAdjust="0"/>
    <p:restoredTop sz="50000" autoAdjust="0"/>
  </p:normalViewPr>
  <p:slideViewPr>
    <p:cSldViewPr>
      <p:cViewPr varScale="1">
        <p:scale>
          <a:sx n="87" d="100"/>
          <a:sy n="87" d="100"/>
        </p:scale>
        <p:origin x="156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15/03/2024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410297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iki.c2.com/?DesignPatternsBoo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720975"/>
            <a:ext cx="9144000" cy="564009"/>
          </a:xfrm>
        </p:spPr>
        <p:txBody>
          <a:bodyPr/>
          <a:lstStyle/>
          <a:p>
            <a:r>
              <a:rPr lang="en-US" sz="3200" dirty="0" err="1"/>
              <a:t>Lectura</a:t>
            </a:r>
            <a:r>
              <a:rPr lang="en-US" sz="3200" dirty="0"/>
              <a:t> y </a:t>
            </a:r>
            <a:r>
              <a:rPr lang="en-US" sz="3200" dirty="0" err="1"/>
              <a:t>Escritura</a:t>
            </a:r>
            <a:r>
              <a:rPr lang="en-US" sz="3200" dirty="0"/>
              <a:t> de </a:t>
            </a:r>
            <a:r>
              <a:rPr lang="en-US" sz="3200" dirty="0" err="1"/>
              <a:t>Información</a:t>
            </a:r>
            <a:endParaRPr lang="en-US" sz="3200" dirty="0"/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83052-0079-4D4D-9251-97B1352315A0}"/>
              </a:ext>
            </a:extLst>
          </p:cNvPr>
          <p:cNvSpPr txBox="1"/>
          <p:nvPr/>
        </p:nvSpPr>
        <p:spPr>
          <a:xfrm>
            <a:off x="3959932" y="1772816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UD7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56D76-4CA3-1845-82CB-D1DE1A0C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861FC2-8C91-B041-A4C0-D9626AD188EB}"/>
              </a:ext>
            </a:extLst>
          </p:cNvPr>
          <p:cNvSpPr txBox="1"/>
          <p:nvPr/>
        </p:nvSpPr>
        <p:spPr>
          <a:xfrm>
            <a:off x="1331640" y="2564904"/>
            <a:ext cx="6192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PATRÓN MVC (MODELO-VISTA-CONTROLADOR</a:t>
            </a:r>
          </a:p>
        </p:txBody>
      </p:sp>
    </p:spTree>
    <p:extLst>
      <p:ext uri="{BB962C8B-B14F-4D97-AF65-F5344CB8AC3E}">
        <p14:creationId xmlns:p14="http://schemas.microsoft.com/office/powerpoint/2010/main" val="1230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000" dirty="0"/>
          </a:p>
          <a:p>
            <a:r>
              <a:rPr lang="es-ES" sz="2000" cap="all" dirty="0"/>
              <a:t>QUÉ ES UN PATRÓN DE DISEÑO</a:t>
            </a:r>
          </a:p>
          <a:p>
            <a:r>
              <a:rPr lang="es-ES" sz="1800" b="0" dirty="0"/>
              <a:t>Un patrón de diseño es una solución probada que resuelve un tipo específico de problema en el desarrollo de software</a:t>
            </a:r>
          </a:p>
          <a:p>
            <a:pPr marL="0" indent="0">
              <a:buNone/>
            </a:pPr>
            <a:endParaRPr lang="es-ES" sz="1800" b="0" dirty="0"/>
          </a:p>
          <a:p>
            <a:r>
              <a:rPr lang="es-ES" sz="1800" b="0" dirty="0"/>
              <a:t>Existen una infinidad de patrones de diseño divididos en categorías, por ejemplo: de creación, estructurales, de comportamiento, interacción etc.</a:t>
            </a:r>
          </a:p>
          <a:p>
            <a:endParaRPr lang="es-ES" sz="1800" b="0" dirty="0"/>
          </a:p>
          <a:p>
            <a:r>
              <a:rPr lang="es-ES" sz="1800" b="0" dirty="0"/>
              <a:t>Cada uno se especializa en resolver un problema específico, si quieres profundizar y revisar todas las categorías y ejemplos a detalle puedes visitar </a:t>
            </a:r>
            <a:r>
              <a:rPr lang="es-ES" sz="1800" b="0" dirty="0">
                <a:hlinkClick r:id="rId2"/>
              </a:rPr>
              <a:t>Design </a:t>
            </a:r>
            <a:r>
              <a:rPr lang="es-ES" sz="1800" b="0" dirty="0" err="1">
                <a:hlinkClick r:id="rId2"/>
              </a:rPr>
              <a:t>Patterns</a:t>
            </a:r>
            <a:r>
              <a:rPr lang="es-ES" sz="1800" b="0" dirty="0">
                <a:hlinkClick r:id="rId2"/>
              </a:rPr>
              <a:t> </a:t>
            </a:r>
            <a:r>
              <a:rPr lang="es-ES" sz="1800" b="0" dirty="0" err="1">
                <a:hlinkClick r:id="rId2"/>
              </a:rPr>
              <a:t>Book</a:t>
            </a:r>
            <a:r>
              <a:rPr lang="es-ES" sz="1800" b="0" dirty="0"/>
              <a:t>.</a:t>
            </a:r>
          </a:p>
          <a:p>
            <a:endParaRPr lang="es-ES" sz="1800" b="0" dirty="0"/>
          </a:p>
          <a:p>
            <a:r>
              <a:rPr lang="es-ES" sz="1800" b="0" dirty="0"/>
              <a:t>El tema es bastante extenso, como para verlo en el ciclo, pero vamos a hablar sobre el patrón MVC que es de lo más utilizados a la hora de desarrollar software.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245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cap="all" dirty="0"/>
              <a:t>POR QUÉ UTILIZAR UN PATRÓN DE DISEÑO</a:t>
            </a:r>
          </a:p>
          <a:p>
            <a:endParaRPr lang="es-ES" sz="2000" b="0" dirty="0"/>
          </a:p>
          <a:p>
            <a:r>
              <a:rPr lang="es-ES" sz="2000" b="0" dirty="0"/>
              <a:t>¿Ventajas?</a:t>
            </a:r>
          </a:p>
          <a:p>
            <a:pPr lvl="1"/>
            <a:r>
              <a:rPr lang="es-ES" sz="1800" dirty="0"/>
              <a:t>Tener el código bien organizado</a:t>
            </a:r>
          </a:p>
          <a:p>
            <a:pPr lvl="1"/>
            <a:r>
              <a:rPr lang="es-ES" sz="1800" b="0" dirty="0"/>
              <a:t>Código legible y </a:t>
            </a:r>
            <a:r>
              <a:rPr lang="es-ES" sz="1800" b="0" dirty="0" err="1"/>
              <a:t>mantenible</a:t>
            </a:r>
            <a:endParaRPr lang="es-ES" sz="1800" b="0" dirty="0"/>
          </a:p>
          <a:p>
            <a:pPr lvl="1"/>
            <a:r>
              <a:rPr lang="es-ES" sz="1800" dirty="0"/>
              <a:t>Reutilización de código</a:t>
            </a:r>
          </a:p>
          <a:p>
            <a:pPr lvl="1"/>
            <a:r>
              <a:rPr lang="es-ES" sz="1800" b="0" dirty="0"/>
              <a:t>Aumento de escalabilidad en los proyectos.</a:t>
            </a:r>
          </a:p>
          <a:p>
            <a:pPr lvl="1">
              <a:buNone/>
            </a:pPr>
            <a:endParaRPr lang="es-ES" sz="1700" b="0" dirty="0"/>
          </a:p>
          <a:p>
            <a:r>
              <a:rPr lang="es-ES" sz="2000" b="0" dirty="0"/>
              <a:t>Proporcionan una terminología estándar y  un conjunto de buenas prácticas en cuanto a la solución en problemas de desarrollo de software.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888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Patrón MVC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800" dirty="0"/>
          </a:p>
          <a:p>
            <a:r>
              <a:rPr lang="es-ES" sz="1800" dirty="0"/>
              <a:t>Modelo:</a:t>
            </a:r>
            <a:r>
              <a:rPr lang="es-ES" sz="1800" b="0" dirty="0"/>
              <a:t> Representa acceso a datos: guardar, actualizar, obtener datos, básicamente son las clases Java.</a:t>
            </a:r>
          </a:p>
          <a:p>
            <a:endParaRPr lang="es-ES" sz="1800" b="0" dirty="0"/>
          </a:p>
          <a:p>
            <a:r>
              <a:rPr lang="es-ES" sz="1800" dirty="0"/>
              <a:t>Vista: </a:t>
            </a:r>
            <a:r>
              <a:rPr lang="es-ES" sz="1800" b="0" dirty="0"/>
              <a:t>Presentación de datos del modelo y lo que ve el usuario, por lo general una vista es la representación visual de un modelo (clase java). Por ejemplo el modelo usuario que es una clase en Java y que tiene como propiedades, nombre y apellido debe pertenecer a una vista en la que el usuario vea esas propiedades.</a:t>
            </a:r>
          </a:p>
          <a:p>
            <a:endParaRPr lang="es-ES" sz="1800" b="0" dirty="0"/>
          </a:p>
          <a:p>
            <a:r>
              <a:rPr lang="es-ES" sz="1800" dirty="0"/>
              <a:t>Controlador:</a:t>
            </a:r>
            <a:r>
              <a:rPr lang="es-ES" sz="1800" b="0" dirty="0"/>
              <a:t> Conecta el modelo con las vistas, funciona como un puente entre la vista y el modelo. El controlador recibe eventos generados por el usuario desde las vistas y se encarga de direccionar al modelo la petición respectiva.</a:t>
            </a:r>
          </a:p>
          <a:p>
            <a:r>
              <a:rPr lang="es-ES" sz="1800" b="0" dirty="0"/>
              <a:t>Por ejemplo el usuario quiere ver los clientes con apellido Álvarez, la petición va al controlador y el se encarga de utilizar el modelo adecuado y devolver ese modelo a la vista.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520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Patrón MVC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cap="all" dirty="0"/>
              <a:t>FLUJO DE CONTROL</a:t>
            </a:r>
          </a:p>
          <a:p>
            <a:r>
              <a:rPr lang="es-ES" sz="2000" b="0" dirty="0"/>
              <a:t>1. El usuario realiza una acción en la interfaz</a:t>
            </a:r>
          </a:p>
          <a:p>
            <a:r>
              <a:rPr lang="es-ES" sz="2000" b="0" dirty="0"/>
              <a:t>2. El controlador trata el evento de entrada (previamente registrado)</a:t>
            </a:r>
          </a:p>
          <a:p>
            <a:r>
              <a:rPr lang="es-ES" sz="2000" b="0" dirty="0"/>
              <a:t>3. El controlador notifica al modelo la acción del usuario, lo que puede implicar un cambio del estado del modelo (si no es una mera consulta)</a:t>
            </a:r>
          </a:p>
          <a:p>
            <a:r>
              <a:rPr lang="es-ES" sz="2000" b="0" dirty="0"/>
              <a:t>4. Se genera una nueva vista. La vista toma los datos del modelo, sin que éste tenga conocimiento directo de la vista.</a:t>
            </a:r>
          </a:p>
          <a:p>
            <a:r>
              <a:rPr lang="es-ES" sz="2000" b="0" dirty="0"/>
              <a:t>5. La interfaz de usuario espera otra interacción del usuario, que comenzará otro nuevo ciclo</a:t>
            </a:r>
            <a:endParaRPr lang="es-ES" sz="2000" b="0" cap="all" dirty="0"/>
          </a:p>
        </p:txBody>
      </p:sp>
    </p:spTree>
    <p:extLst>
      <p:ext uri="{BB962C8B-B14F-4D97-AF65-F5344CB8AC3E}">
        <p14:creationId xmlns:p14="http://schemas.microsoft.com/office/powerpoint/2010/main" val="307199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Patrón MVC (Gráfico)</a:t>
            </a:r>
          </a:p>
        </p:txBody>
      </p:sp>
      <p:pic>
        <p:nvPicPr>
          <p:cNvPr id="4098" name="Picture 2" descr="I:\Unidad 13. Interface Gráfica\mv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052736"/>
            <a:ext cx="6062507" cy="47152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1485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Patrón MVC en aplicaciones web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Vista: </a:t>
            </a:r>
          </a:p>
          <a:p>
            <a:pPr lvl="1"/>
            <a:r>
              <a:rPr lang="es-ES" dirty="0"/>
              <a:t>la página HTML</a:t>
            </a:r>
          </a:p>
          <a:p>
            <a:pPr lvl="1">
              <a:buNone/>
            </a:pPr>
            <a:endParaRPr lang="es-ES" dirty="0"/>
          </a:p>
          <a:p>
            <a:r>
              <a:rPr lang="es-ES" dirty="0"/>
              <a:t>Controlador:</a:t>
            </a:r>
          </a:p>
          <a:p>
            <a:pPr lvl="1"/>
            <a:r>
              <a:rPr lang="es-ES" dirty="0"/>
              <a:t>código que obtiene datos dinámicamente y genera el contenido HTML</a:t>
            </a:r>
          </a:p>
          <a:p>
            <a:pPr lvl="1">
              <a:buNone/>
            </a:pPr>
            <a:endParaRPr lang="es-ES" dirty="0"/>
          </a:p>
          <a:p>
            <a:r>
              <a:rPr lang="es-ES" dirty="0"/>
              <a:t>Modelo:</a:t>
            </a:r>
          </a:p>
          <a:p>
            <a:pPr lvl="1"/>
            <a:r>
              <a:rPr lang="es-ES" dirty="0"/>
              <a:t>la información almacenada en una base de datos o en XML</a:t>
            </a:r>
          </a:p>
          <a:p>
            <a:pPr lvl="1"/>
            <a:r>
              <a:rPr lang="es-ES" dirty="0"/>
              <a:t>las reglas de negocio que transforman esa información (teniendo en cuenta las acciones de los usuarios)</a:t>
            </a:r>
          </a:p>
        </p:txBody>
      </p:sp>
    </p:spTree>
    <p:extLst>
      <p:ext uri="{BB962C8B-B14F-4D97-AF65-F5344CB8AC3E}">
        <p14:creationId xmlns:p14="http://schemas.microsoft.com/office/powerpoint/2010/main" val="2159520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MVC en Java Swing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Vista:</a:t>
            </a:r>
          </a:p>
          <a:p>
            <a:pPr lvl="1"/>
            <a:r>
              <a:rPr lang="es-ES" dirty="0"/>
              <a:t>Conjunto de objetos de clases que heredan de Swing (Componentes gráficos)</a:t>
            </a:r>
          </a:p>
          <a:p>
            <a:pPr lvl="1">
              <a:buNone/>
            </a:pPr>
            <a:endParaRPr lang="es-ES" dirty="0"/>
          </a:p>
          <a:p>
            <a:r>
              <a:rPr lang="es-ES" dirty="0"/>
              <a:t>Controlador:</a:t>
            </a:r>
          </a:p>
          <a:p>
            <a:pPr lvl="1"/>
            <a:r>
              <a:rPr lang="es-ES" dirty="0"/>
              <a:t>El controlador es el encargado de tratamiento de eventos, que captura y propaga los eventos a la vista y al modelo</a:t>
            </a:r>
          </a:p>
          <a:p>
            <a:pPr lvl="1"/>
            <a:r>
              <a:rPr lang="es-ES" dirty="0"/>
              <a:t>Clases de tratamiento de los eventos (a veces como clases anónimas) que implementan interfaces de tipo </a:t>
            </a:r>
            <a:r>
              <a:rPr lang="es-ES" dirty="0" err="1"/>
              <a:t>EventListener</a:t>
            </a:r>
            <a:r>
              <a:rPr lang="es-ES" dirty="0"/>
              <a:t> (</a:t>
            </a:r>
            <a:r>
              <a:rPr lang="es-ES" dirty="0" err="1"/>
              <a:t>ActionListener</a:t>
            </a:r>
            <a:r>
              <a:rPr lang="es-ES" dirty="0"/>
              <a:t>, </a:t>
            </a:r>
            <a:r>
              <a:rPr lang="es-ES" dirty="0" err="1"/>
              <a:t>MouseListener</a:t>
            </a:r>
            <a:r>
              <a:rPr lang="es-ES" dirty="0"/>
              <a:t>, </a:t>
            </a:r>
            <a:r>
              <a:rPr lang="es-ES" dirty="0" err="1"/>
              <a:t>WindowListener</a:t>
            </a:r>
            <a:r>
              <a:rPr lang="es-ES" dirty="0"/>
              <a:t>, etc.)</a:t>
            </a:r>
          </a:p>
          <a:p>
            <a:pPr lvl="1"/>
            <a:endParaRPr lang="es-ES" dirty="0"/>
          </a:p>
          <a:p>
            <a:r>
              <a:rPr lang="es-ES" dirty="0"/>
              <a:t>Modelo:</a:t>
            </a:r>
          </a:p>
          <a:p>
            <a:pPr lvl="1"/>
            <a:r>
              <a:rPr lang="es-ES" dirty="0"/>
              <a:t>El modelo lo realiza el desarrollador (Clases necesarias para </a:t>
            </a:r>
            <a:r>
              <a:rPr lang="es-ES"/>
              <a:t>el proyecto)</a:t>
            </a:r>
            <a:endParaRPr lang="es-ES" dirty="0"/>
          </a:p>
          <a:p>
            <a:pPr lvl="1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8785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Práctico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>
              <a:solidFill>
                <a:srgbClr val="C00000"/>
              </a:solidFill>
            </a:endParaRPr>
          </a:p>
          <a:p>
            <a:r>
              <a:rPr lang="es-ES" dirty="0">
                <a:solidFill>
                  <a:srgbClr val="C00000"/>
                </a:solidFill>
              </a:rPr>
              <a:t>Ejemplo</a:t>
            </a:r>
            <a:r>
              <a:rPr lang="es-ES">
                <a:solidFill>
                  <a:srgbClr val="C00000"/>
                </a:solidFill>
              </a:rPr>
              <a:t>: </a:t>
            </a:r>
            <a:r>
              <a:rPr lang="es-ES" smtClean="0">
                <a:solidFill>
                  <a:srgbClr val="C00000"/>
                </a:solidFill>
              </a:rPr>
              <a:t>Formulario de login de una aplicación</a:t>
            </a:r>
            <a:endParaRPr lang="es-ES" dirty="0">
              <a:solidFill>
                <a:srgbClr val="C00000"/>
              </a:solidFill>
            </a:endParaRPr>
          </a:p>
          <a:p>
            <a:endParaRPr lang="es-ES" dirty="0"/>
          </a:p>
          <a:p>
            <a:pPr marL="0" indent="0">
              <a:buNone/>
            </a:pPr>
            <a:endParaRPr lang="es-ES" smtClean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996952"/>
            <a:ext cx="4464496" cy="236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94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/>
              <a:t>Modelo 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12776"/>
            <a:ext cx="5936909" cy="422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4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</a:t>
            </a:r>
            <a:r>
              <a:rPr lang="es-ES"/>
              <a:t>Vista </a:t>
            </a:r>
            <a:r>
              <a:rPr lang="es-ES" smtClean="0"/>
              <a:t>(1)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48" y="1310456"/>
            <a:ext cx="5570703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08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Vista (2)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54" y="1052736"/>
            <a:ext cx="5654530" cy="5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44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Control (1)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12776"/>
            <a:ext cx="6492803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Programa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348880"/>
            <a:ext cx="7354004" cy="165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0477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28152</TotalTime>
  <Words>401</Words>
  <Application>Microsoft Office PowerPoint</Application>
  <PresentationFormat>Presentación en pantalla (4:3)</PresentationFormat>
  <Paragraphs>70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Verdana</vt:lpstr>
      <vt:lpstr>Wingdings</vt:lpstr>
      <vt:lpstr>cdb2004c019l</vt:lpstr>
      <vt:lpstr>Lectura y Escritura de Información</vt:lpstr>
      <vt:lpstr>Contenido</vt:lpstr>
      <vt:lpstr>Introducción</vt:lpstr>
      <vt:lpstr>Introducción</vt:lpstr>
      <vt:lpstr>Patrón MVC</vt:lpstr>
      <vt:lpstr>Patrón MVC</vt:lpstr>
      <vt:lpstr>Patrón MVC (Gráfico)</vt:lpstr>
      <vt:lpstr>Patrón MVC en aplicaciones web</vt:lpstr>
      <vt:lpstr>MVC en Java Swing</vt:lpstr>
      <vt:lpstr>Ejemplo Práctico</vt:lpstr>
      <vt:lpstr>El Modelo </vt:lpstr>
      <vt:lpstr>La Vista (1)</vt:lpstr>
      <vt:lpstr>La Vista (2)</vt:lpstr>
      <vt:lpstr>El Control (1)</vt:lpstr>
      <vt:lpstr>El Programa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1311</cp:revision>
  <dcterms:created xsi:type="dcterms:W3CDTF">2008-09-25T01:23:28Z</dcterms:created>
  <dcterms:modified xsi:type="dcterms:W3CDTF">2024-03-15T08:55:43Z</dcterms:modified>
</cp:coreProperties>
</file>