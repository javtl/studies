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69" r:id="rId3"/>
    <p:sldId id="477" r:id="rId4"/>
    <p:sldId id="478" r:id="rId5"/>
    <p:sldId id="473" r:id="rId6"/>
    <p:sldId id="445" r:id="rId7"/>
    <p:sldId id="446" r:id="rId8"/>
    <p:sldId id="447" r:id="rId9"/>
    <p:sldId id="448" r:id="rId10"/>
    <p:sldId id="419" r:id="rId11"/>
    <p:sldId id="422" r:id="rId12"/>
    <p:sldId id="436" r:id="rId13"/>
    <p:sldId id="438" r:id="rId14"/>
    <p:sldId id="440" r:id="rId15"/>
    <p:sldId id="424" r:id="rId16"/>
    <p:sldId id="449" r:id="rId17"/>
    <p:sldId id="474" r:id="rId18"/>
    <p:sldId id="450" r:id="rId19"/>
    <p:sldId id="423" r:id="rId20"/>
    <p:sldId id="425" r:id="rId21"/>
    <p:sldId id="432" r:id="rId22"/>
    <p:sldId id="441" r:id="rId23"/>
    <p:sldId id="428" r:id="rId24"/>
    <p:sldId id="427" r:id="rId25"/>
    <p:sldId id="429" r:id="rId26"/>
    <p:sldId id="426" r:id="rId27"/>
    <p:sldId id="443" r:id="rId28"/>
    <p:sldId id="431" r:id="rId29"/>
    <p:sldId id="433" r:id="rId30"/>
    <p:sldId id="434" r:id="rId31"/>
    <p:sldId id="435" r:id="rId32"/>
    <p:sldId id="475" r:id="rId33"/>
    <p:sldId id="476" r:id="rId34"/>
    <p:sldId id="479" r:id="rId35"/>
    <p:sldId id="480" r:id="rId36"/>
    <p:sldId id="481" r:id="rId37"/>
    <p:sldId id="482" r:id="rId38"/>
    <p:sldId id="483" r:id="rId39"/>
    <p:sldId id="487" r:id="rId40"/>
    <p:sldId id="486" r:id="rId41"/>
    <p:sldId id="484" r:id="rId42"/>
    <p:sldId id="485" r:id="rId43"/>
    <p:sldId id="488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249EDBE-9125-4EDC-A34A-0044E829241A}">
          <p14:sldIdLst>
            <p14:sldId id="256"/>
            <p14:sldId id="269"/>
            <p14:sldId id="477"/>
            <p14:sldId id="478"/>
            <p14:sldId id="473"/>
            <p14:sldId id="445"/>
            <p14:sldId id="446"/>
            <p14:sldId id="447"/>
            <p14:sldId id="448"/>
            <p14:sldId id="419"/>
            <p14:sldId id="422"/>
            <p14:sldId id="436"/>
            <p14:sldId id="438"/>
            <p14:sldId id="440"/>
            <p14:sldId id="424"/>
            <p14:sldId id="449"/>
            <p14:sldId id="474"/>
            <p14:sldId id="450"/>
            <p14:sldId id="423"/>
            <p14:sldId id="425"/>
            <p14:sldId id="432"/>
            <p14:sldId id="441"/>
            <p14:sldId id="428"/>
            <p14:sldId id="427"/>
            <p14:sldId id="429"/>
            <p14:sldId id="426"/>
            <p14:sldId id="443"/>
            <p14:sldId id="431"/>
            <p14:sldId id="433"/>
            <p14:sldId id="434"/>
            <p14:sldId id="435"/>
            <p14:sldId id="475"/>
            <p14:sldId id="476"/>
            <p14:sldId id="479"/>
            <p14:sldId id="480"/>
            <p14:sldId id="481"/>
            <p14:sldId id="482"/>
            <p14:sldId id="483"/>
            <p14:sldId id="487"/>
            <p14:sldId id="486"/>
            <p14:sldId id="484"/>
            <p14:sldId id="485"/>
            <p14:sldId id="488"/>
          </p14:sldIdLst>
        </p14:section>
        <p14:section name="Sección sin título" id="{E4FCF462-0BFF-4E95-876C-35E98A900FF5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79B"/>
    <a:srgbClr val="F8A602"/>
    <a:srgbClr val="000000"/>
    <a:srgbClr val="D6D9DF"/>
    <a:srgbClr val="FF3300"/>
    <a:srgbClr val="FFFFCC"/>
    <a:srgbClr val="EFEFEF"/>
    <a:srgbClr val="FF6600"/>
    <a:srgbClr val="FFFF00"/>
    <a:srgbClr val="FFDB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38" autoAdjust="0"/>
    <p:restoredTop sz="50000" autoAdjust="0"/>
  </p:normalViewPr>
  <p:slideViewPr>
    <p:cSldViewPr>
      <p:cViewPr varScale="1">
        <p:scale>
          <a:sx n="87" d="100"/>
          <a:sy n="87" d="100"/>
        </p:scale>
        <p:origin x="172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18/03/2025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410297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gif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4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720975"/>
            <a:ext cx="9144000" cy="564009"/>
          </a:xfrm>
        </p:spPr>
        <p:txBody>
          <a:bodyPr/>
          <a:lstStyle/>
          <a:p>
            <a:r>
              <a:rPr lang="en-US" sz="3200" dirty="0" err="1"/>
              <a:t>Lectura</a:t>
            </a:r>
            <a:r>
              <a:rPr lang="en-US" sz="3200" dirty="0"/>
              <a:t> y </a:t>
            </a:r>
            <a:r>
              <a:rPr lang="en-US" sz="3200" dirty="0" err="1"/>
              <a:t>Escritura</a:t>
            </a:r>
            <a:r>
              <a:rPr lang="en-US" sz="3200" dirty="0"/>
              <a:t> de </a:t>
            </a:r>
            <a:r>
              <a:rPr lang="en-US" sz="3200" dirty="0" err="1"/>
              <a:t>Información</a:t>
            </a:r>
            <a:endParaRPr lang="en-US" sz="3200" dirty="0"/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C683052-0079-4D4D-9251-97B1352315A0}"/>
              </a:ext>
            </a:extLst>
          </p:cNvPr>
          <p:cNvSpPr txBox="1"/>
          <p:nvPr/>
        </p:nvSpPr>
        <p:spPr>
          <a:xfrm>
            <a:off x="3959932" y="1772816"/>
            <a:ext cx="1224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UD7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0FC4BB-8607-D848-9E54-6ACCA7AD9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EB94C8-1B73-5A40-9D59-1515017031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sz="2000" dirty="0"/>
              <a:t>R.A. 5:Realiza operaciones de entrada y salida de información, utilizando procedimientos específicos del lenguaje y librerías de clases.</a:t>
            </a:r>
            <a:endParaRPr lang="es-ES" sz="2000" dirty="0"/>
          </a:p>
          <a:p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941" y="2177895"/>
            <a:ext cx="6232118" cy="415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6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600" smtClean="0"/>
          </a:p>
          <a:p>
            <a:r>
              <a:rPr lang="es-ES" sz="1600" smtClean="0"/>
              <a:t>En </a:t>
            </a:r>
            <a:r>
              <a:rPr lang="es-ES" sz="1600" dirty="0"/>
              <a:t>el desarrollo de Software hay tres grandes tipos de diseño de aplicaciones:</a:t>
            </a:r>
          </a:p>
          <a:p>
            <a:endParaRPr lang="es-ES" sz="1600" dirty="0"/>
          </a:p>
          <a:p>
            <a:r>
              <a:rPr lang="es-ES" sz="1600" dirty="0"/>
              <a:t>Desktop app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Web app</a:t>
            </a:r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endParaRPr lang="es-ES" sz="1600" dirty="0"/>
          </a:p>
          <a:p>
            <a:r>
              <a:rPr lang="es-ES" sz="1600" dirty="0"/>
              <a:t>Mobile app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630" y="2047937"/>
            <a:ext cx="2624739" cy="135388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2608" y="3773554"/>
            <a:ext cx="1595729" cy="1199767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8160" y="5373216"/>
            <a:ext cx="1326840" cy="102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99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000" b="0" dirty="0"/>
          </a:p>
          <a:p>
            <a:r>
              <a:rPr lang="es-ES" sz="2000" b="0" dirty="0"/>
              <a:t>Hoy en día, cada vez más, </a:t>
            </a:r>
            <a:r>
              <a:rPr lang="es-ES" sz="2000" dirty="0"/>
              <a:t>se desarrollan páginas web y luego app</a:t>
            </a:r>
            <a:r>
              <a:rPr lang="es-ES" sz="2000" b="0" dirty="0"/>
              <a:t> que permiten interactuar a los clientes con esas páginas webs.</a:t>
            </a:r>
          </a:p>
          <a:p>
            <a:endParaRPr lang="es-ES" sz="2000" b="0" dirty="0"/>
          </a:p>
          <a:p>
            <a:r>
              <a:rPr lang="es-ES" sz="2000" b="0" dirty="0"/>
              <a:t>Las aplicaciones de Escritorio cada vez están más en desuso.</a:t>
            </a:r>
          </a:p>
          <a:p>
            <a:endParaRPr lang="es-ES" sz="2000" b="0" dirty="0"/>
          </a:p>
          <a:p>
            <a:r>
              <a:rPr lang="es-ES" sz="2000" b="0" dirty="0"/>
              <a:t>Nosotros, en este curso, vamos a aprender a desarrollar </a:t>
            </a:r>
            <a:r>
              <a:rPr lang="es-ES" sz="2000" dirty="0"/>
              <a:t>aplicaciones de Escritorio</a:t>
            </a:r>
            <a:r>
              <a:rPr lang="es-ES" sz="2000" b="0" dirty="0"/>
              <a:t>, para conocer como se trabaja la parte gráfica de las aplicaciones. </a:t>
            </a:r>
          </a:p>
          <a:p>
            <a:endParaRPr lang="es-ES" sz="2000" b="0" dirty="0"/>
          </a:p>
          <a:p>
            <a:r>
              <a:rPr lang="es-ES" sz="2000" b="0" dirty="0"/>
              <a:t>Esto nos servirá para </a:t>
            </a:r>
            <a:r>
              <a:rPr lang="es-ES" sz="2000" dirty="0"/>
              <a:t>asimilar conceptos básicos </a:t>
            </a:r>
            <a:r>
              <a:rPr lang="es-ES" sz="2000" b="0" dirty="0"/>
              <a:t>de cara a la creación de páginas webs y aplicaciones móviles en segundo curso.</a:t>
            </a:r>
          </a:p>
        </p:txBody>
      </p:sp>
    </p:spTree>
    <p:extLst>
      <p:ext uri="{BB962C8B-B14F-4D97-AF65-F5344CB8AC3E}">
        <p14:creationId xmlns:p14="http://schemas.microsoft.com/office/powerpoint/2010/main" val="364530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000" dirty="0"/>
          </a:p>
          <a:p>
            <a:r>
              <a:rPr lang="es-ES" sz="2000" dirty="0"/>
              <a:t>Las interfaces gráficas se caracterizan por una serie de componentes:</a:t>
            </a:r>
          </a:p>
          <a:p>
            <a:pPr lvl="1"/>
            <a:r>
              <a:rPr lang="es-ES" sz="2000" dirty="0"/>
              <a:t>Botones</a:t>
            </a:r>
          </a:p>
          <a:p>
            <a:pPr lvl="1"/>
            <a:r>
              <a:rPr lang="es-ES" sz="2000" dirty="0"/>
              <a:t>Cajas de texto</a:t>
            </a:r>
          </a:p>
          <a:p>
            <a:pPr lvl="1"/>
            <a:r>
              <a:rPr lang="es-ES" sz="2000" dirty="0"/>
              <a:t>Etiquetas</a:t>
            </a:r>
          </a:p>
          <a:p>
            <a:pPr lvl="1"/>
            <a:r>
              <a:rPr lang="es-ES" sz="2000" dirty="0"/>
              <a:t>Paneles</a:t>
            </a:r>
          </a:p>
          <a:p>
            <a:pPr lvl="1"/>
            <a:r>
              <a:rPr lang="es-ES" sz="2000" dirty="0"/>
              <a:t>Barras de desplazamiento</a:t>
            </a:r>
          </a:p>
          <a:p>
            <a:pPr lvl="1"/>
            <a:r>
              <a:rPr lang="es-ES" sz="2000" dirty="0" err="1"/>
              <a:t>Etc</a:t>
            </a:r>
            <a:r>
              <a:rPr lang="es-ES" sz="2000" dirty="0"/>
              <a:t>…</a:t>
            </a:r>
          </a:p>
          <a:p>
            <a:endParaRPr lang="es-ES" sz="2000" dirty="0"/>
          </a:p>
          <a:p>
            <a:r>
              <a:rPr lang="es-ES" sz="2000" dirty="0"/>
              <a:t>Java tiene principalmente dos librerías bajo las cuales se pueden realizar aplicaciones con interfaz gráfica:</a:t>
            </a:r>
          </a:p>
          <a:p>
            <a:pPr lvl="1"/>
            <a:r>
              <a:rPr lang="es-ES" sz="2000" dirty="0"/>
              <a:t>AWT</a:t>
            </a:r>
          </a:p>
          <a:p>
            <a:pPr lvl="1"/>
            <a:r>
              <a:rPr lang="es-ES" sz="2000" dirty="0"/>
              <a:t>Swing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9500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Hola Mundo con Swing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34032" t="29157" r="23354" b="34422"/>
          <a:stretch>
            <a:fillRect/>
          </a:stretch>
        </p:blipFill>
        <p:spPr bwMode="auto">
          <a:xfrm>
            <a:off x="1475656" y="1052736"/>
            <a:ext cx="5544616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 l="45572" t="44094" r="45573" b="50000"/>
          <a:stretch>
            <a:fillRect/>
          </a:stretch>
        </p:blipFill>
        <p:spPr bwMode="auto">
          <a:xfrm>
            <a:off x="2987824" y="4365104"/>
            <a:ext cx="2448272" cy="756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6B506F6-4E25-0D43-9D3E-E83F7B8A01E3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ExampleGUI1</a:t>
            </a:r>
          </a:p>
        </p:txBody>
      </p:sp>
    </p:spTree>
    <p:extLst>
      <p:ext uri="{BB962C8B-B14F-4D97-AF65-F5344CB8AC3E}">
        <p14:creationId xmlns:p14="http://schemas.microsoft.com/office/powerpoint/2010/main" val="2154802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Componentes Swing</a:t>
            </a:r>
          </a:p>
        </p:txBody>
      </p:sp>
      <p:graphicFrame>
        <p:nvGraphicFramePr>
          <p:cNvPr id="5" name="4 Marcador de contenido"/>
          <p:cNvGraphicFramePr>
            <a:graphicFrameLocks noGrp="1"/>
          </p:cNvGraphicFramePr>
          <p:nvPr>
            <p:ph idx="1"/>
          </p:nvPr>
        </p:nvGraphicFramePr>
        <p:xfrm>
          <a:off x="1187624" y="1840756"/>
          <a:ext cx="669433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8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3412">
                <a:tc>
                  <a:txBody>
                    <a:bodyPr/>
                    <a:lstStyle/>
                    <a:p>
                      <a:r>
                        <a:rPr lang="es-ES" dirty="0"/>
                        <a:t>Objeto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JButton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Botón estándar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JLabel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Etiqueta de texto estándar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JTextField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Cuadro de texto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JTextArea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Cuadro de texto </a:t>
                      </a:r>
                      <a:r>
                        <a:rPr lang="es-ES" dirty="0" err="1"/>
                        <a:t>multilínea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JCheckBox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Casilla de verificación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JRadioButton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Botones de opción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JComboBox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Lista desplegable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3412">
                <a:tc>
                  <a:txBody>
                    <a:bodyPr/>
                    <a:lstStyle/>
                    <a:p>
                      <a:r>
                        <a:rPr lang="es-ES" dirty="0" err="1"/>
                        <a:t>JScrollBar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Barra de desplazamiento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513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Los contenedores Swing</a:t>
            </a:r>
          </a:p>
        </p:txBody>
      </p:sp>
      <p:sp>
        <p:nvSpPr>
          <p:cNvPr id="5" name="4 Rectángulo"/>
          <p:cNvSpPr/>
          <p:nvPr/>
        </p:nvSpPr>
        <p:spPr bwMode="auto">
          <a:xfrm>
            <a:off x="2051720" y="1844576"/>
            <a:ext cx="3168352" cy="50405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dirty="0" err="1"/>
              <a:t>Frame</a:t>
            </a:r>
            <a:r>
              <a:rPr lang="es-ES" dirty="0"/>
              <a:t> (</a:t>
            </a:r>
            <a:r>
              <a:rPr lang="es-ES" dirty="0" err="1"/>
              <a:t>JFrame</a:t>
            </a:r>
            <a:r>
              <a:rPr lang="es-ES" dirty="0"/>
              <a:t>)</a:t>
            </a: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5 Rectángulo"/>
          <p:cNvSpPr/>
          <p:nvPr/>
        </p:nvSpPr>
        <p:spPr bwMode="auto">
          <a:xfrm>
            <a:off x="2051720" y="2924696"/>
            <a:ext cx="3168352" cy="50405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dirty="0"/>
              <a:t>Panel (</a:t>
            </a:r>
            <a:r>
              <a:rPr lang="es-ES" dirty="0" err="1"/>
              <a:t>JPanel</a:t>
            </a:r>
            <a:r>
              <a:rPr lang="es-ES" dirty="0"/>
              <a:t>)</a:t>
            </a: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6 Rectángulo"/>
          <p:cNvSpPr/>
          <p:nvPr/>
        </p:nvSpPr>
        <p:spPr bwMode="auto">
          <a:xfrm>
            <a:off x="1619672" y="4148832"/>
            <a:ext cx="4032448" cy="504056"/>
          </a:xfrm>
          <a:prstGeom prst="rect">
            <a:avLst/>
          </a:prstGeom>
          <a:solidFill>
            <a:srgbClr val="FFE79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ES" dirty="0"/>
              <a:t>CONTROLES(</a:t>
            </a:r>
            <a:r>
              <a:rPr lang="es-ES" dirty="0" err="1"/>
              <a:t>JButton</a:t>
            </a:r>
            <a:r>
              <a:rPr lang="es-ES" dirty="0"/>
              <a:t>, </a:t>
            </a:r>
            <a:r>
              <a:rPr lang="es-ES" dirty="0" err="1"/>
              <a:t>JLabel</a:t>
            </a:r>
            <a:r>
              <a:rPr lang="es-ES" dirty="0"/>
              <a:t>, …)</a:t>
            </a: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5796136" y="1844576"/>
            <a:ext cx="26642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Contenedor superior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5825852" y="2924696"/>
            <a:ext cx="266429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Contenedor intermedio</a:t>
            </a:r>
          </a:p>
        </p:txBody>
      </p:sp>
      <p:sp>
        <p:nvSpPr>
          <p:cNvPr id="12" name="11 Flecha derecha"/>
          <p:cNvSpPr/>
          <p:nvPr/>
        </p:nvSpPr>
        <p:spPr bwMode="auto">
          <a:xfrm>
            <a:off x="5325988" y="1946300"/>
            <a:ext cx="504056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12 Flecha derecha"/>
          <p:cNvSpPr/>
          <p:nvPr/>
        </p:nvSpPr>
        <p:spPr bwMode="auto">
          <a:xfrm>
            <a:off x="5338688" y="2996704"/>
            <a:ext cx="504056" cy="21602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47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2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 dirty="0" err="1"/>
              <a:t>JFrame</a:t>
            </a:r>
            <a:r>
              <a:rPr lang="es-ES" sz="1600" dirty="0">
                <a:solidFill>
                  <a:srgbClr val="FFFF00"/>
                </a:solidFill>
              </a:rPr>
              <a:t> (Marco)</a:t>
            </a:r>
          </a:p>
        </p:txBody>
      </p:sp>
      <p:pic>
        <p:nvPicPr>
          <p:cNvPr id="2050" name="Picture 2" descr="C:\Users\Raúl\Desktop\Ilustraciones GUI\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79"/>
          <a:stretch>
            <a:fillRect/>
          </a:stretch>
        </p:blipFill>
        <p:spPr bwMode="auto">
          <a:xfrm>
            <a:off x="1563284" y="1916832"/>
            <a:ext cx="6096000" cy="245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3995936" y="1052736"/>
            <a:ext cx="1013419" cy="809643"/>
            <a:chOff x="4104574" y="1174344"/>
            <a:chExt cx="1013419" cy="809643"/>
          </a:xfrm>
        </p:grpSpPr>
        <p:sp>
          <p:nvSpPr>
            <p:cNvPr id="6" name="5 CuadroTexto"/>
            <p:cNvSpPr txBox="1"/>
            <p:nvPr/>
          </p:nvSpPr>
          <p:spPr>
            <a:xfrm>
              <a:off x="4104574" y="1174344"/>
              <a:ext cx="1013419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 err="1">
                  <a:solidFill>
                    <a:srgbClr val="0070C0"/>
                  </a:solidFill>
                </a:rPr>
                <a:t>JFrame</a:t>
              </a:r>
              <a:endParaRPr lang="es-ES" dirty="0">
                <a:solidFill>
                  <a:srgbClr val="0070C0"/>
                </a:solidFill>
              </a:endParaRPr>
            </a:p>
          </p:txBody>
        </p:sp>
        <p:cxnSp>
          <p:nvCxnSpPr>
            <p:cNvPr id="3" name="2 Conector recto"/>
            <p:cNvCxnSpPr>
              <a:stCxn id="6" idx="2"/>
            </p:cNvCxnSpPr>
            <p:nvPr/>
          </p:nvCxnSpPr>
          <p:spPr bwMode="auto">
            <a:xfrm>
              <a:off x="4611284" y="1559065"/>
              <a:ext cx="0" cy="42492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upo 3"/>
          <p:cNvGrpSpPr/>
          <p:nvPr/>
        </p:nvGrpSpPr>
        <p:grpSpPr>
          <a:xfrm>
            <a:off x="2195736" y="2591798"/>
            <a:ext cx="3744417" cy="2640632"/>
            <a:chOff x="2195736" y="3212976"/>
            <a:chExt cx="3744417" cy="2640632"/>
          </a:xfrm>
        </p:grpSpPr>
        <p:cxnSp>
          <p:nvCxnSpPr>
            <p:cNvPr id="10" name="9 Conector recto"/>
            <p:cNvCxnSpPr/>
            <p:nvPr/>
          </p:nvCxnSpPr>
          <p:spPr bwMode="auto">
            <a:xfrm>
              <a:off x="2195736" y="3212976"/>
              <a:ext cx="2456657" cy="2160240"/>
            </a:xfrm>
            <a:prstGeom prst="line">
              <a:avLst/>
            </a:prstGeom>
            <a:ln>
              <a:headEnd type="oval" w="med" len="med"/>
              <a:tailEnd type="non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 bwMode="auto">
            <a:xfrm>
              <a:off x="3203848" y="3789040"/>
              <a:ext cx="1448545" cy="1584176"/>
            </a:xfrm>
            <a:prstGeom prst="line">
              <a:avLst/>
            </a:prstGeom>
            <a:ln>
              <a:headEnd type="oval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13 Conector recto"/>
            <p:cNvCxnSpPr/>
            <p:nvPr/>
          </p:nvCxnSpPr>
          <p:spPr bwMode="auto">
            <a:xfrm>
              <a:off x="4283968" y="4221088"/>
              <a:ext cx="368425" cy="1152128"/>
            </a:xfrm>
            <a:prstGeom prst="line">
              <a:avLst/>
            </a:prstGeom>
            <a:ln>
              <a:headEnd type="oval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5 Conector recto"/>
            <p:cNvCxnSpPr/>
            <p:nvPr/>
          </p:nvCxnSpPr>
          <p:spPr bwMode="auto">
            <a:xfrm flipH="1">
              <a:off x="4652393" y="4645537"/>
              <a:ext cx="1287760" cy="727679"/>
            </a:xfrm>
            <a:prstGeom prst="line">
              <a:avLst/>
            </a:prstGeom>
            <a:ln>
              <a:headEnd type="oval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"/>
            <p:cNvCxnSpPr/>
            <p:nvPr/>
          </p:nvCxnSpPr>
          <p:spPr bwMode="auto">
            <a:xfrm flipH="1">
              <a:off x="4652393" y="4221088"/>
              <a:ext cx="643880" cy="1152128"/>
            </a:xfrm>
            <a:prstGeom prst="line">
              <a:avLst/>
            </a:prstGeom>
            <a:ln>
              <a:headEnd type="oval" w="med" len="med"/>
              <a:tailEnd type="none" w="med" len="med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25 CuadroTexto"/>
            <p:cNvSpPr txBox="1"/>
            <p:nvPr/>
          </p:nvSpPr>
          <p:spPr>
            <a:xfrm>
              <a:off x="3721854" y="5468887"/>
              <a:ext cx="1872207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rgbClr val="0070C0"/>
                  </a:solidFill>
                </a:rPr>
                <a:t>JComponents</a:t>
              </a:r>
              <a:endParaRPr lang="es-ES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5" name="Grupo 23"/>
          <p:cNvGrpSpPr/>
          <p:nvPr/>
        </p:nvGrpSpPr>
        <p:grpSpPr>
          <a:xfrm>
            <a:off x="1070502" y="5234521"/>
            <a:ext cx="7142239" cy="863261"/>
            <a:chOff x="1070502" y="5446059"/>
            <a:chExt cx="7142239" cy="863261"/>
          </a:xfrm>
        </p:grpSpPr>
        <p:sp>
          <p:nvSpPr>
            <p:cNvPr id="17" name="25 CuadroTexto"/>
            <p:cNvSpPr txBox="1"/>
            <p:nvPr/>
          </p:nvSpPr>
          <p:spPr>
            <a:xfrm>
              <a:off x="1070502" y="6111897"/>
              <a:ext cx="1872207" cy="197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rgbClr val="0070C0"/>
                  </a:solidFill>
                </a:rPr>
                <a:t>JLabel</a:t>
              </a:r>
              <a:endParaRPr lang="es-ES" dirty="0">
                <a:solidFill>
                  <a:srgbClr val="0070C0"/>
                </a:solidFill>
              </a:endParaRPr>
            </a:p>
          </p:txBody>
        </p:sp>
        <p:sp>
          <p:nvSpPr>
            <p:cNvPr id="19" name="25 CuadroTexto"/>
            <p:cNvSpPr txBox="1"/>
            <p:nvPr/>
          </p:nvSpPr>
          <p:spPr>
            <a:xfrm>
              <a:off x="2812142" y="6111897"/>
              <a:ext cx="1872207" cy="197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rgbClr val="0070C0"/>
                  </a:solidFill>
                </a:rPr>
                <a:t>JTextField</a:t>
              </a:r>
              <a:endParaRPr lang="es-ES" dirty="0">
                <a:solidFill>
                  <a:srgbClr val="0070C0"/>
                </a:solidFill>
              </a:endParaRPr>
            </a:p>
          </p:txBody>
        </p:sp>
        <p:sp>
          <p:nvSpPr>
            <p:cNvPr id="20" name="25 CuadroTexto"/>
            <p:cNvSpPr txBox="1"/>
            <p:nvPr/>
          </p:nvSpPr>
          <p:spPr>
            <a:xfrm>
              <a:off x="4598895" y="6111897"/>
              <a:ext cx="1872207" cy="197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rgbClr val="0070C0"/>
                  </a:solidFill>
                </a:rPr>
                <a:t>JButton</a:t>
              </a:r>
              <a:endParaRPr lang="es-ES" dirty="0">
                <a:solidFill>
                  <a:srgbClr val="0070C0"/>
                </a:solidFill>
              </a:endParaRPr>
            </a:p>
          </p:txBody>
        </p:sp>
        <p:sp>
          <p:nvSpPr>
            <p:cNvPr id="21" name="25 CuadroTexto"/>
            <p:cNvSpPr txBox="1"/>
            <p:nvPr/>
          </p:nvSpPr>
          <p:spPr>
            <a:xfrm>
              <a:off x="6340534" y="6111897"/>
              <a:ext cx="1872207" cy="197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>
                  <a:solidFill>
                    <a:srgbClr val="0070C0"/>
                  </a:solidFill>
                </a:rPr>
                <a:t>JCheckBox</a:t>
              </a:r>
              <a:endParaRPr lang="es-ES" dirty="0">
                <a:solidFill>
                  <a:srgbClr val="0070C0"/>
                </a:solidFill>
              </a:endParaRPr>
            </a:p>
          </p:txBody>
        </p:sp>
        <p:cxnSp>
          <p:nvCxnSpPr>
            <p:cNvPr id="7" name="Conector recto 6"/>
            <p:cNvCxnSpPr/>
            <p:nvPr/>
          </p:nvCxnSpPr>
          <p:spPr bwMode="auto">
            <a:xfrm>
              <a:off x="1997441" y="5686974"/>
              <a:ext cx="5292000" cy="0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de flecha 8"/>
            <p:cNvCxnSpPr/>
            <p:nvPr/>
          </p:nvCxnSpPr>
          <p:spPr bwMode="auto">
            <a:xfrm>
              <a:off x="1997441" y="5686974"/>
              <a:ext cx="9165" cy="424923"/>
            </a:xfrm>
            <a:prstGeom prst="straightConnector1">
              <a:avLst/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de flecha 26"/>
            <p:cNvCxnSpPr/>
            <p:nvPr/>
          </p:nvCxnSpPr>
          <p:spPr bwMode="auto">
            <a:xfrm>
              <a:off x="7280276" y="5686974"/>
              <a:ext cx="9165" cy="424923"/>
            </a:xfrm>
            <a:prstGeom prst="straightConnector1">
              <a:avLst/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de flecha 27"/>
            <p:cNvCxnSpPr/>
            <p:nvPr/>
          </p:nvCxnSpPr>
          <p:spPr bwMode="auto">
            <a:xfrm>
              <a:off x="3758386" y="5686974"/>
              <a:ext cx="9165" cy="424923"/>
            </a:xfrm>
            <a:prstGeom prst="straightConnector1">
              <a:avLst/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ector recto de flecha 28"/>
            <p:cNvCxnSpPr/>
            <p:nvPr/>
          </p:nvCxnSpPr>
          <p:spPr bwMode="auto">
            <a:xfrm>
              <a:off x="5519331" y="5686974"/>
              <a:ext cx="9165" cy="424923"/>
            </a:xfrm>
            <a:prstGeom prst="straightConnector1">
              <a:avLst/>
            </a:prstGeom>
            <a:ln w="38100"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/>
            <p:cNvCxnSpPr/>
            <p:nvPr/>
          </p:nvCxnSpPr>
          <p:spPr bwMode="auto">
            <a:xfrm>
              <a:off x="4662228" y="5446059"/>
              <a:ext cx="4316" cy="260303"/>
            </a:xfrm>
            <a:prstGeom prst="line">
              <a:avLst/>
            </a:prstGeom>
            <a:ln w="3810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3943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1 Título"/>
          <p:cNvSpPr>
            <a:spLocks noGrp="1"/>
          </p:cNvSpPr>
          <p:nvPr>
            <p:ph type="title"/>
          </p:nvPr>
        </p:nvSpPr>
        <p:spPr>
          <a:xfrm>
            <a:off x="614933" y="53975"/>
            <a:ext cx="7989515" cy="563563"/>
          </a:xfrm>
        </p:spPr>
        <p:txBody>
          <a:bodyPr/>
          <a:lstStyle/>
          <a:p>
            <a:r>
              <a:rPr lang="es-ES" dirty="0" err="1"/>
              <a:t>JOptionPane</a:t>
            </a:r>
            <a:endParaRPr lang="es-ES" dirty="0">
              <a:solidFill>
                <a:srgbClr val="FFFF00"/>
              </a:solidFill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753982" y="1340768"/>
            <a:ext cx="7711416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/>
              <a:t>JOptionPane</a:t>
            </a:r>
            <a:r>
              <a:rPr lang="es-ES" dirty="0" err="1">
                <a:solidFill>
                  <a:srgbClr val="FF0000"/>
                </a:solidFill>
              </a:rPr>
              <a:t>.showMessageDialog</a:t>
            </a:r>
            <a:r>
              <a:rPr lang="es-ES" dirty="0">
                <a:solidFill>
                  <a:srgbClr val="FF0000"/>
                </a:solidFill>
              </a:rPr>
              <a:t>(</a:t>
            </a:r>
            <a:r>
              <a:rPr lang="es-ES" dirty="0"/>
              <a:t>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null</a:t>
            </a:r>
            <a:r>
              <a:rPr lang="es-ES" dirty="0"/>
              <a:t>, </a:t>
            </a:r>
            <a:r>
              <a:rPr lang="es-ES" dirty="0">
                <a:solidFill>
                  <a:srgbClr val="00B050"/>
                </a:solidFill>
              </a:rPr>
              <a:t>"Bienvenido a GUI" </a:t>
            </a:r>
            <a:r>
              <a:rPr lang="es-ES" dirty="0">
                <a:solidFill>
                  <a:srgbClr val="FF0000"/>
                </a:solidFill>
              </a:rPr>
              <a:t>)</a:t>
            </a:r>
            <a:r>
              <a:rPr lang="es-ES" dirty="0"/>
              <a:t>;</a:t>
            </a:r>
          </a:p>
        </p:txBody>
      </p:sp>
      <p:sp>
        <p:nvSpPr>
          <p:cNvPr id="2" name="1 CuadroTexto"/>
          <p:cNvSpPr txBox="1"/>
          <p:nvPr/>
        </p:nvSpPr>
        <p:spPr>
          <a:xfrm>
            <a:off x="2669094" y="789623"/>
            <a:ext cx="38811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>
                <a:solidFill>
                  <a:srgbClr val="0070C0"/>
                </a:solidFill>
              </a:rPr>
              <a:t>Diálogos emergentes informativos</a:t>
            </a:r>
            <a:endParaRPr lang="es-ES" dirty="0">
              <a:solidFill>
                <a:srgbClr val="0070C0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753982" y="3573016"/>
            <a:ext cx="7711416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 err="1"/>
              <a:t>JOptionPane</a:t>
            </a:r>
            <a:r>
              <a:rPr lang="es-ES" dirty="0" err="1">
                <a:solidFill>
                  <a:srgbClr val="FF0000"/>
                </a:solidFill>
              </a:rPr>
              <a:t>.showMessageDialog</a:t>
            </a:r>
            <a:r>
              <a:rPr lang="es-ES" dirty="0">
                <a:solidFill>
                  <a:srgbClr val="FF0000"/>
                </a:solidFill>
              </a:rPr>
              <a:t>(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null</a:t>
            </a:r>
            <a:r>
              <a:rPr lang="es-ES" dirty="0"/>
              <a:t>, </a:t>
            </a:r>
            <a:r>
              <a:rPr lang="es-ES" dirty="0">
                <a:solidFill>
                  <a:srgbClr val="00B050"/>
                </a:solidFill>
              </a:rPr>
              <a:t>"Bienvenido a GUI</a:t>
            </a:r>
            <a:r>
              <a:rPr lang="es-ES">
                <a:solidFill>
                  <a:srgbClr val="00B050"/>
                </a:solidFill>
              </a:rPr>
              <a:t>", </a:t>
            </a:r>
            <a:endParaRPr lang="es-ES" dirty="0"/>
          </a:p>
        </p:txBody>
      </p:sp>
      <p:pic>
        <p:nvPicPr>
          <p:cNvPr id="5" name="Picture 2" descr="C:\Users\Raúl\Desktop\Ilustraciones GUI\01b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640" y="4365104"/>
            <a:ext cx="3594100" cy="170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3" descr="C:\Users\Raúl\Desktop\Ilustraciones GUI\0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040" y="1727702"/>
            <a:ext cx="3797301" cy="177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13 Grupo"/>
          <p:cNvGrpSpPr/>
          <p:nvPr/>
        </p:nvGrpSpPr>
        <p:grpSpPr>
          <a:xfrm>
            <a:off x="5231024" y="4273109"/>
            <a:ext cx="2808312" cy="2160240"/>
            <a:chOff x="6156176" y="4293096"/>
            <a:chExt cx="2808312" cy="2160240"/>
          </a:xfrm>
        </p:grpSpPr>
        <p:sp>
          <p:nvSpPr>
            <p:cNvPr id="13" name="12 Rectángulo redondeado"/>
            <p:cNvSpPr/>
            <p:nvPr/>
          </p:nvSpPr>
          <p:spPr bwMode="auto">
            <a:xfrm>
              <a:off x="6156176" y="4293096"/>
              <a:ext cx="2808312" cy="2160240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" name="6 Rectángulo"/>
            <p:cNvSpPr/>
            <p:nvPr/>
          </p:nvSpPr>
          <p:spPr>
            <a:xfrm>
              <a:off x="6728467" y="5685122"/>
              <a:ext cx="158569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dirty="0"/>
                <a:t>ERROR_MESSAGE</a:t>
              </a:r>
            </a:p>
          </p:txBody>
        </p:sp>
        <p:sp>
          <p:nvSpPr>
            <p:cNvPr id="8" name="7 Rectángulo"/>
            <p:cNvSpPr/>
            <p:nvPr/>
          </p:nvSpPr>
          <p:spPr>
            <a:xfrm>
              <a:off x="6728467" y="5272705"/>
              <a:ext cx="183575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dirty="0"/>
                <a:t>QUESTION_MESSAGE</a:t>
              </a:r>
            </a:p>
          </p:txBody>
        </p:sp>
        <p:sp>
          <p:nvSpPr>
            <p:cNvPr id="9" name="8 Rectángulo"/>
            <p:cNvSpPr/>
            <p:nvPr/>
          </p:nvSpPr>
          <p:spPr>
            <a:xfrm>
              <a:off x="6728467" y="6097540"/>
              <a:ext cx="147508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dirty="0"/>
                <a:t>PLAIN_MESSAGE</a:t>
              </a:r>
            </a:p>
          </p:txBody>
        </p:sp>
        <p:pic>
          <p:nvPicPr>
            <p:cNvPr id="1028" name="Picture 4" descr="C:\Users\Raúl\Desktop\Ilustraciones GUI\iconos mensajes\INFORMATION_MESSAG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4394620"/>
              <a:ext cx="373994" cy="373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9" name="Picture 5" descr="C:\Users\Raúl\Desktop\Ilustraciones GUI\iconos mensajes\QUESTION_MESSAGE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5231333"/>
              <a:ext cx="373994" cy="373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C:\Users\Raúl\Desktop\Ilustraciones GUI\iconos mensajes\WARNING_MESSAGE.png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4473" y="4808955"/>
              <a:ext cx="373994" cy="373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1" name="Picture 7" descr="C:\Users\Raúl\Desktop\Ilustraciones GUI\iconos mensajes\ERROR_MESSAGE.p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67920" y="5632221"/>
              <a:ext cx="373994" cy="3739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10 Rectángulo"/>
            <p:cNvSpPr/>
            <p:nvPr/>
          </p:nvSpPr>
          <p:spPr>
            <a:xfrm>
              <a:off x="6728467" y="4447871"/>
              <a:ext cx="209846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dirty="0"/>
                <a:t>INFORMATION_MESSAGE</a:t>
              </a: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6728467" y="4860288"/>
              <a:ext cx="176913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1200" dirty="0"/>
                <a:t>WARNING_MESSAGE</a:t>
              </a:r>
            </a:p>
          </p:txBody>
        </p:sp>
      </p:grpSp>
      <p:sp>
        <p:nvSpPr>
          <p:cNvPr id="22" name="9 Rectángulo"/>
          <p:cNvSpPr/>
          <p:nvPr/>
        </p:nvSpPr>
        <p:spPr>
          <a:xfrm>
            <a:off x="753982" y="3861048"/>
            <a:ext cx="7711416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>
                <a:solidFill>
                  <a:srgbClr val="00B050"/>
                </a:solidFill>
              </a:rPr>
              <a:t>"</a:t>
            </a:r>
            <a:r>
              <a:rPr lang="es-ES" dirty="0">
                <a:solidFill>
                  <a:srgbClr val="00B050"/>
                </a:solidFill>
              </a:rPr>
              <a:t>Saludo", </a:t>
            </a:r>
            <a:r>
              <a:rPr lang="es-ES" dirty="0" err="1">
                <a:solidFill>
                  <a:schemeClr val="bg1">
                    <a:lumMod val="50000"/>
                  </a:schemeClr>
                </a:solidFill>
              </a:rPr>
              <a:t>JOptionPane</a:t>
            </a:r>
            <a:r>
              <a:rPr lang="es-ES" dirty="0" err="1">
                <a:solidFill>
                  <a:srgbClr val="00B050"/>
                </a:solidFill>
              </a:rPr>
              <a:t>.WARNING_MESSAGE</a:t>
            </a:r>
            <a:r>
              <a:rPr lang="es-ES" dirty="0">
                <a:solidFill>
                  <a:srgbClr val="00B050"/>
                </a:solidFill>
              </a:rPr>
              <a:t>  </a:t>
            </a:r>
            <a:r>
              <a:rPr lang="es-ES" dirty="0">
                <a:solidFill>
                  <a:srgbClr val="FF0000"/>
                </a:solidFill>
              </a:rPr>
              <a:t>)</a:t>
            </a:r>
            <a:r>
              <a:rPr lang="es-ES" dirty="0"/>
              <a:t>;</a:t>
            </a:r>
          </a:p>
        </p:txBody>
      </p:sp>
      <p:grpSp>
        <p:nvGrpSpPr>
          <p:cNvPr id="16" name="Grupo 15"/>
          <p:cNvGrpSpPr/>
          <p:nvPr/>
        </p:nvGrpSpPr>
        <p:grpSpPr>
          <a:xfrm>
            <a:off x="6563942" y="1645323"/>
            <a:ext cx="2618400" cy="1901067"/>
            <a:chOff x="6460274" y="5098755"/>
            <a:chExt cx="2618400" cy="1901067"/>
          </a:xfrm>
        </p:grpSpPr>
        <p:sp>
          <p:nvSpPr>
            <p:cNvPr id="3" name="Explosión 1 2"/>
            <p:cNvSpPr/>
            <p:nvPr/>
          </p:nvSpPr>
          <p:spPr bwMode="auto">
            <a:xfrm>
              <a:off x="6460274" y="5098755"/>
              <a:ext cx="2618400" cy="1901067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5" name="CuadroTexto 14"/>
            <p:cNvSpPr txBox="1"/>
            <p:nvPr/>
          </p:nvSpPr>
          <p:spPr>
            <a:xfrm>
              <a:off x="6843039" y="5609172"/>
              <a:ext cx="1845377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500">
                  <a:solidFill>
                    <a:srgbClr val="FF0000"/>
                  </a:solidFill>
                </a:rPr>
                <a:t>Prueba estas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instrucciones en un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método main()</a:t>
              </a:r>
            </a:p>
          </p:txBody>
        </p:sp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8B716B0-3EB5-CF4A-B92C-075D92B22DA9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ExampleGUI2</a:t>
            </a:r>
          </a:p>
        </p:txBody>
      </p:sp>
    </p:spTree>
    <p:extLst>
      <p:ext uri="{BB962C8B-B14F-4D97-AF65-F5344CB8AC3E}">
        <p14:creationId xmlns:p14="http://schemas.microsoft.com/office/powerpoint/2010/main" val="3098893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14931 1.85185E-6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1 Título"/>
          <p:cNvSpPr>
            <a:spLocks noGrp="1"/>
          </p:cNvSpPr>
          <p:nvPr>
            <p:ph type="title"/>
          </p:nvPr>
        </p:nvSpPr>
        <p:spPr>
          <a:xfrm>
            <a:off x="577243" y="53975"/>
            <a:ext cx="7989515" cy="563563"/>
          </a:xfrm>
        </p:spPr>
        <p:txBody>
          <a:bodyPr/>
          <a:lstStyle/>
          <a:p>
            <a:r>
              <a:rPr lang="es-ES" dirty="0" err="1"/>
              <a:t>JOptionPane</a:t>
            </a:r>
            <a:endParaRPr lang="es-ES" dirty="0">
              <a:solidFill>
                <a:srgbClr val="FFFF00"/>
              </a:solidFill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947694" y="1253712"/>
            <a:ext cx="72409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500" dirty="0" err="1">
                <a:solidFill>
                  <a:srgbClr val="0070C0"/>
                </a:solidFill>
              </a:rPr>
              <a:t>String</a:t>
            </a:r>
            <a:r>
              <a:rPr lang="es-ES" sz="1500" dirty="0"/>
              <a:t> nombre = </a:t>
            </a:r>
          </a:p>
          <a:p>
            <a:pPr algn="ctr"/>
            <a:r>
              <a:rPr lang="es-ES" sz="1500" dirty="0" err="1"/>
              <a:t>JOptionPane</a:t>
            </a:r>
            <a:r>
              <a:rPr lang="es-ES" sz="1500" dirty="0" err="1">
                <a:solidFill>
                  <a:srgbClr val="FF3300"/>
                </a:solidFill>
              </a:rPr>
              <a:t>.showInputDialog</a:t>
            </a:r>
            <a:r>
              <a:rPr lang="es-ES" sz="1500" dirty="0">
                <a:solidFill>
                  <a:srgbClr val="FF33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00B050"/>
                </a:solidFill>
              </a:rPr>
              <a:t>"¿Cuál es su nombre?" </a:t>
            </a:r>
            <a:r>
              <a:rPr lang="es-ES" sz="1500" dirty="0">
                <a:solidFill>
                  <a:srgbClr val="FF3300"/>
                </a:solidFill>
              </a:rPr>
              <a:t>)</a:t>
            </a:r>
            <a:r>
              <a:rPr lang="es-ES" sz="1500" dirty="0"/>
              <a:t>;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2871175" y="821664"/>
            <a:ext cx="335700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700">
                <a:solidFill>
                  <a:srgbClr val="0070C0"/>
                </a:solidFill>
              </a:rPr>
              <a:t>Diálogos emergentes de entrada</a:t>
            </a:r>
            <a:endParaRPr lang="es-ES" sz="1700" dirty="0">
              <a:solidFill>
                <a:srgbClr val="0070C0"/>
              </a:solidFill>
            </a:endParaRPr>
          </a:p>
        </p:txBody>
      </p:sp>
      <p:sp>
        <p:nvSpPr>
          <p:cNvPr id="11" name="10 Rectángulo"/>
          <p:cNvSpPr/>
          <p:nvPr/>
        </p:nvSpPr>
        <p:spPr>
          <a:xfrm>
            <a:off x="947694" y="3665888"/>
            <a:ext cx="72409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500" dirty="0" err="1">
                <a:solidFill>
                  <a:srgbClr val="0070C0"/>
                </a:solidFill>
              </a:rPr>
              <a:t>String</a:t>
            </a:r>
            <a:r>
              <a:rPr lang="es-ES" sz="1500" dirty="0"/>
              <a:t> nombre = </a:t>
            </a:r>
          </a:p>
          <a:p>
            <a:pPr algn="ctr"/>
            <a:r>
              <a:rPr lang="es-ES" sz="1500" dirty="0" err="1"/>
              <a:t>JOptionPane</a:t>
            </a:r>
            <a:r>
              <a:rPr lang="es-ES" sz="1500" dirty="0" err="1">
                <a:solidFill>
                  <a:srgbClr val="FF3300"/>
                </a:solidFill>
              </a:rPr>
              <a:t>.showInputDialog</a:t>
            </a:r>
            <a:r>
              <a:rPr lang="es-ES" sz="1500" dirty="0">
                <a:solidFill>
                  <a:srgbClr val="FF33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dirty="0" err="1">
                <a:solidFill>
                  <a:schemeClr val="bg1">
                    <a:lumMod val="50000"/>
                  </a:schemeClr>
                </a:solidFill>
              </a:rPr>
              <a:t>null</a:t>
            </a:r>
            <a:r>
              <a:rPr lang="es-ES" sz="1500" dirty="0"/>
              <a:t>, </a:t>
            </a:r>
            <a:r>
              <a:rPr lang="es-ES" sz="1500" dirty="0">
                <a:solidFill>
                  <a:srgbClr val="00B050"/>
                </a:solidFill>
              </a:rPr>
              <a:t>"¿Cuál es su nombre?",</a:t>
            </a:r>
          </a:p>
          <a:p>
            <a:pPr algn="ctr"/>
            <a:r>
              <a:rPr lang="es-ES" sz="1500" dirty="0">
                <a:solidFill>
                  <a:srgbClr val="00B050"/>
                </a:solidFill>
              </a:rPr>
              <a:t>, "Pregunta", </a:t>
            </a:r>
            <a:r>
              <a:rPr lang="es-ES" sz="1500" dirty="0" err="1">
                <a:solidFill>
                  <a:schemeClr val="bg1">
                    <a:lumMod val="50000"/>
                  </a:schemeClr>
                </a:solidFill>
              </a:rPr>
              <a:t>JOptionPane</a:t>
            </a:r>
            <a:r>
              <a:rPr lang="es-ES" sz="1500" dirty="0" err="1">
                <a:solidFill>
                  <a:srgbClr val="00B050"/>
                </a:solidFill>
              </a:rPr>
              <a:t>.WARNING_MESSAGE</a:t>
            </a:r>
            <a:r>
              <a:rPr lang="es-ES" sz="1500" dirty="0">
                <a:solidFill>
                  <a:srgbClr val="00B050"/>
                </a:solidFill>
              </a:rPr>
              <a:t> </a:t>
            </a:r>
            <a:r>
              <a:rPr lang="es-ES" sz="1500" dirty="0">
                <a:solidFill>
                  <a:srgbClr val="FF3300"/>
                </a:solidFill>
              </a:rPr>
              <a:t>)</a:t>
            </a:r>
            <a:r>
              <a:rPr lang="es-ES" sz="1500" dirty="0"/>
              <a:t>;</a:t>
            </a:r>
          </a:p>
        </p:txBody>
      </p:sp>
      <p:pic>
        <p:nvPicPr>
          <p:cNvPr id="2050" name="Picture 2" descr="C:\Users\Raúl\Desktop\Ilustraciones GUI\0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508" y="1757768"/>
            <a:ext cx="4051300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Raúl\Desktop\Ilustraciones GUI\04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908" y="4433912"/>
            <a:ext cx="4000500" cy="18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11 Grupo"/>
          <p:cNvGrpSpPr/>
          <p:nvPr/>
        </p:nvGrpSpPr>
        <p:grpSpPr>
          <a:xfrm>
            <a:off x="1127186" y="2165135"/>
            <a:ext cx="1015021" cy="744761"/>
            <a:chOff x="604651" y="2324199"/>
            <a:chExt cx="1015021" cy="744761"/>
          </a:xfrm>
        </p:grpSpPr>
        <p:sp>
          <p:nvSpPr>
            <p:cNvPr id="5" name="4 Rectángulo"/>
            <p:cNvSpPr/>
            <p:nvPr/>
          </p:nvSpPr>
          <p:spPr bwMode="auto">
            <a:xfrm>
              <a:off x="611560" y="2708920"/>
              <a:ext cx="1008112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" name="5 CuadroTexto"/>
            <p:cNvSpPr txBox="1"/>
            <p:nvPr/>
          </p:nvSpPr>
          <p:spPr>
            <a:xfrm>
              <a:off x="604651" y="2324199"/>
              <a:ext cx="1015021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nombre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739120" y="2711133"/>
              <a:ext cx="7184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i="1" dirty="0">
                  <a:solidFill>
                    <a:srgbClr val="00B050"/>
                  </a:solidFill>
                </a:rPr>
                <a:t>Julián</a:t>
              </a:r>
            </a:p>
          </p:txBody>
        </p:sp>
      </p:grpSp>
      <p:cxnSp>
        <p:nvCxnSpPr>
          <p:cNvPr id="8" name="7 Conector recto de flecha"/>
          <p:cNvCxnSpPr>
            <a:endCxn id="5" idx="3"/>
          </p:cNvCxnSpPr>
          <p:nvPr/>
        </p:nvCxnSpPr>
        <p:spPr bwMode="auto">
          <a:xfrm flipH="1">
            <a:off x="2142207" y="2729876"/>
            <a:ext cx="1273823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21" name="Grupo 20"/>
          <p:cNvGrpSpPr/>
          <p:nvPr/>
        </p:nvGrpSpPr>
        <p:grpSpPr>
          <a:xfrm>
            <a:off x="5794675" y="4254271"/>
            <a:ext cx="3349325" cy="2431749"/>
            <a:chOff x="6460274" y="5098755"/>
            <a:chExt cx="2618400" cy="1901067"/>
          </a:xfrm>
        </p:grpSpPr>
        <p:sp>
          <p:nvSpPr>
            <p:cNvPr id="22" name="Explosión 1 21"/>
            <p:cNvSpPr/>
            <p:nvPr/>
          </p:nvSpPr>
          <p:spPr bwMode="auto">
            <a:xfrm>
              <a:off x="6460274" y="5098755"/>
              <a:ext cx="2618400" cy="1901067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CuadroTexto 22"/>
            <p:cNvSpPr txBox="1"/>
            <p:nvPr/>
          </p:nvSpPr>
          <p:spPr>
            <a:xfrm>
              <a:off x="6977986" y="5609172"/>
              <a:ext cx="1575496" cy="7940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500">
                  <a:solidFill>
                    <a:srgbClr val="FF0000"/>
                  </a:solidFill>
                </a:rPr>
                <a:t>Crea un programa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que pida un nombre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y después lo muestre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en una ventana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91CC19D-FC4C-F548-BF18-494D807B52AB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ExampleGUI2</a:t>
            </a:r>
          </a:p>
        </p:txBody>
      </p:sp>
    </p:spTree>
    <p:extLst>
      <p:ext uri="{BB962C8B-B14F-4D97-AF65-F5344CB8AC3E}">
        <p14:creationId xmlns:p14="http://schemas.microsoft.com/office/powerpoint/2010/main" val="73181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 dirty="0" err="1"/>
              <a:t>JFrame</a:t>
            </a:r>
            <a:r>
              <a:rPr lang="es-ES" dirty="0"/>
              <a:t> y </a:t>
            </a:r>
            <a:r>
              <a:rPr lang="es-ES" dirty="0" err="1"/>
              <a:t>JLabel</a:t>
            </a:r>
            <a:r>
              <a:rPr lang="es-ES" sz="1600" dirty="0">
                <a:solidFill>
                  <a:srgbClr val="FFFF00"/>
                </a:solidFill>
              </a:rPr>
              <a:t> (etiqueta)</a:t>
            </a:r>
          </a:p>
        </p:txBody>
      </p:sp>
      <p:sp>
        <p:nvSpPr>
          <p:cNvPr id="91" name="90 Rectángulo"/>
          <p:cNvSpPr/>
          <p:nvPr/>
        </p:nvSpPr>
        <p:spPr bwMode="auto">
          <a:xfrm>
            <a:off x="899592" y="1002408"/>
            <a:ext cx="7272808" cy="304998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1669807" y="1517883"/>
            <a:ext cx="628656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JFrame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miMarco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= new </a:t>
            </a:r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JFrame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"Saludo"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s-ES" sz="16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miMarco</a:t>
            </a:r>
            <a:r>
              <a:rPr lang="es-ES" sz="16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setDefaultCloseOperation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JFrame</a:t>
            </a:r>
            <a:r>
              <a:rPr lang="es-ES" sz="16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 err="1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EXIT_ON_CLOSE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miMarco</a:t>
            </a:r>
            <a:r>
              <a:rPr lang="es-ES" sz="16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setSize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275, 180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s-ES" sz="16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miMarco</a:t>
            </a:r>
            <a:r>
              <a:rPr lang="es-ES" sz="16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setVisible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true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</p:txBody>
      </p:sp>
      <p:sp>
        <p:nvSpPr>
          <p:cNvPr id="3" name="2 Rectángulo"/>
          <p:cNvSpPr/>
          <p:nvPr/>
        </p:nvSpPr>
        <p:spPr>
          <a:xfrm>
            <a:off x="1638835" y="2814027"/>
            <a:ext cx="6030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JLabel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etiqueta1 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= new </a:t>
            </a:r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JLabel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"Bienvenido mi I.G."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etiqueta1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setToolTipText(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"Esto es una etiqueta"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miMarco</a:t>
            </a:r>
            <a:r>
              <a:rPr lang="es-ES" sz="16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etiqueta1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</p:txBody>
      </p:sp>
      <p:grpSp>
        <p:nvGrpSpPr>
          <p:cNvPr id="4" name="3 Grupo"/>
          <p:cNvGrpSpPr/>
          <p:nvPr/>
        </p:nvGrpSpPr>
        <p:grpSpPr>
          <a:xfrm>
            <a:off x="1014283" y="4928063"/>
            <a:ext cx="2448272" cy="1140552"/>
            <a:chOff x="1014283" y="4592704"/>
            <a:chExt cx="2448272" cy="1140552"/>
          </a:xfrm>
        </p:grpSpPr>
        <p:sp>
          <p:nvSpPr>
            <p:cNvPr id="12" name="11 Rectángulo"/>
            <p:cNvSpPr/>
            <p:nvPr/>
          </p:nvSpPr>
          <p:spPr bwMode="auto">
            <a:xfrm>
              <a:off x="1014283" y="4982188"/>
              <a:ext cx="2448272" cy="36004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1161981" y="5006297"/>
              <a:ext cx="215287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dirty="0">
                  <a:solidFill>
                    <a:srgbClr val="000000"/>
                  </a:solidFill>
                  <a:latin typeface="Adobe Fan Heiti Std B" pitchFamily="34" charset="-128"/>
                  <a:ea typeface="Adobe Fan Heiti Std B" pitchFamily="34" charset="-128"/>
                </a:rPr>
                <a:t>Bienvenido a mi I.G.</a:t>
              </a:r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1642743" y="4592704"/>
              <a:ext cx="1191352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dirty="0"/>
                <a:t>etiqueta1</a:t>
              </a:r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1679922" y="5348535"/>
              <a:ext cx="1116995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accent1"/>
                  </a:solidFill>
                </a:rPr>
                <a:t>JLabel</a:t>
              </a:r>
              <a:endParaRPr lang="es-ES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4" name="13 Rectángulo"/>
          <p:cNvSpPr/>
          <p:nvPr/>
        </p:nvSpPr>
        <p:spPr>
          <a:xfrm>
            <a:off x="4595236" y="4103725"/>
            <a:ext cx="3361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 err="1">
                <a:solidFill>
                  <a:srgbClr val="00B050"/>
                </a:solidFill>
              </a:rPr>
              <a:t>miMarco</a:t>
            </a:r>
            <a:endParaRPr lang="es-ES" sz="1600" b="1" dirty="0">
              <a:solidFill>
                <a:srgbClr val="00B050"/>
              </a:solidFill>
            </a:endParaRPr>
          </a:p>
        </p:txBody>
      </p:sp>
      <p:pic>
        <p:nvPicPr>
          <p:cNvPr id="1028" name="Picture 4" descr="C:\Users\Raúl\Desktop\Ilustraciones GUI\04c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26" y="4340423"/>
            <a:ext cx="3590365" cy="223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C:\Users\Raúl\Desktop\Ilustraciones GUI\0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026" y="4340423"/>
            <a:ext cx="3590365" cy="223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15 Rectángulo"/>
          <p:cNvSpPr/>
          <p:nvPr/>
        </p:nvSpPr>
        <p:spPr>
          <a:xfrm>
            <a:off x="1166744" y="5344472"/>
            <a:ext cx="21401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Bienvenido a mi I.G.</a:t>
            </a:r>
          </a:p>
        </p:txBody>
      </p:sp>
      <p:sp>
        <p:nvSpPr>
          <p:cNvPr id="22" name="21 CuadroTexto"/>
          <p:cNvSpPr txBox="1"/>
          <p:nvPr/>
        </p:nvSpPr>
        <p:spPr>
          <a:xfrm>
            <a:off x="5759261" y="6428655"/>
            <a:ext cx="111699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 err="1">
                <a:solidFill>
                  <a:schemeClr val="accent1"/>
                </a:solidFill>
              </a:rPr>
              <a:t>JFrame</a:t>
            </a:r>
            <a:endParaRPr lang="es-ES" dirty="0">
              <a:solidFill>
                <a:schemeClr val="accent1"/>
              </a:solidFill>
            </a:endParaRPr>
          </a:p>
        </p:txBody>
      </p:sp>
      <p:grpSp>
        <p:nvGrpSpPr>
          <p:cNvPr id="5" name="4 Grupo"/>
          <p:cNvGrpSpPr/>
          <p:nvPr/>
        </p:nvGrpSpPr>
        <p:grpSpPr>
          <a:xfrm>
            <a:off x="5205536" y="4442279"/>
            <a:ext cx="2102768" cy="892298"/>
            <a:chOff x="4854364" y="4106920"/>
            <a:chExt cx="2387600" cy="1013165"/>
          </a:xfrm>
        </p:grpSpPr>
        <p:pic>
          <p:nvPicPr>
            <p:cNvPr id="1029" name="Picture 5" descr="C:\Users\Raúl\Desktop\Ilustraciones GUI\04bt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54364" y="4106920"/>
              <a:ext cx="2387600" cy="584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22 CuadroTexto"/>
            <p:cNvSpPr txBox="1"/>
            <p:nvPr/>
          </p:nvSpPr>
          <p:spPr>
            <a:xfrm>
              <a:off x="5489665" y="4683251"/>
              <a:ext cx="1337054" cy="436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dirty="0" err="1">
                  <a:solidFill>
                    <a:schemeClr val="accent1"/>
                  </a:solidFill>
                </a:rPr>
                <a:t>JFrame</a:t>
              </a:r>
              <a:endParaRPr lang="es-ES" dirty="0">
                <a:solidFill>
                  <a:schemeClr val="accent1"/>
                </a:solidFill>
              </a:endParaRPr>
            </a:p>
          </p:txBody>
        </p:sp>
      </p:grpSp>
      <p:pic>
        <p:nvPicPr>
          <p:cNvPr id="1031" name="Picture 7" descr="C:\Users\Raúl\Desktop\Ilustraciones GUI\2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4967" y="5550045"/>
            <a:ext cx="1353377" cy="615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15 Rectángulo"/>
          <p:cNvSpPr/>
          <p:nvPr/>
        </p:nvSpPr>
        <p:spPr>
          <a:xfrm>
            <a:off x="5233592" y="5341656"/>
            <a:ext cx="21401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Bienvenido a mi I.G.</a:t>
            </a:r>
          </a:p>
        </p:txBody>
      </p:sp>
      <p:sp>
        <p:nvSpPr>
          <p:cNvPr id="26" name="12 CuadroTexto"/>
          <p:cNvSpPr txBox="1"/>
          <p:nvPr/>
        </p:nvSpPr>
        <p:spPr>
          <a:xfrm>
            <a:off x="1194556" y="1034516"/>
            <a:ext cx="4203395" cy="3016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}</a:t>
            </a:r>
            <a:endParaRPr lang="es-ES" dirty="0"/>
          </a:p>
        </p:txBody>
      </p:sp>
      <p:pic>
        <p:nvPicPr>
          <p:cNvPr id="27" name="Picture 7" descr="C:\Users\Raúl\Desktop\Ilustraciones GUI\25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77" r="69479" b="32950"/>
          <a:stretch/>
        </p:blipFill>
        <p:spPr bwMode="auto">
          <a:xfrm>
            <a:off x="7590747" y="4552616"/>
            <a:ext cx="413067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upo 27"/>
          <p:cNvGrpSpPr/>
          <p:nvPr/>
        </p:nvGrpSpPr>
        <p:grpSpPr>
          <a:xfrm>
            <a:off x="6525600" y="2233812"/>
            <a:ext cx="2618400" cy="1901067"/>
            <a:chOff x="6460274" y="5098755"/>
            <a:chExt cx="2618400" cy="1901067"/>
          </a:xfrm>
        </p:grpSpPr>
        <p:sp>
          <p:nvSpPr>
            <p:cNvPr id="29" name="Explosión 1 28"/>
            <p:cNvSpPr/>
            <p:nvPr/>
          </p:nvSpPr>
          <p:spPr bwMode="auto">
            <a:xfrm>
              <a:off x="6460274" y="5098755"/>
              <a:ext cx="2618400" cy="1901067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CuadroTexto 29"/>
            <p:cNvSpPr txBox="1"/>
            <p:nvPr/>
          </p:nvSpPr>
          <p:spPr>
            <a:xfrm>
              <a:off x="7154030" y="5715264"/>
              <a:ext cx="122341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500">
                  <a:solidFill>
                    <a:srgbClr val="FF0000"/>
                  </a:solidFill>
                </a:rPr>
                <a:t>Prueba este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Código</a:t>
              </a:r>
            </a:p>
          </p:txBody>
        </p: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B42472B-4F23-1D41-AE9B-CDED852DDC0B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ExampleGUI3</a:t>
            </a:r>
          </a:p>
        </p:txBody>
      </p:sp>
    </p:spTree>
    <p:extLst>
      <p:ext uri="{BB962C8B-B14F-4D97-AF65-F5344CB8AC3E}">
        <p14:creationId xmlns:p14="http://schemas.microsoft.com/office/powerpoint/2010/main" val="4112624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4.81481E-6 L 0.44444 4.81481E-6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2" grpId="0" uiExpand="1" build="p"/>
      <p:bldP spid="2" grpId="1" build="allAtOnce"/>
      <p:bldP spid="2" grpId="2" uiExpand="1" build="allAtOnce"/>
      <p:bldP spid="3" grpId="0" uiExpand="1" build="p"/>
      <p:bldP spid="14" grpId="0" uiExpand="1"/>
      <p:bldP spid="16" grpId="0" uiExpand="1"/>
      <p:bldP spid="16" grpId="1" uiExpand="1"/>
      <p:bldP spid="22" grpId="0" uiExpand="1"/>
      <p:bldP spid="25" grpId="0"/>
      <p:bldP spid="25" grpId="1"/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/>
          <p:cNvGrpSpPr/>
          <p:nvPr/>
        </p:nvGrpSpPr>
        <p:grpSpPr>
          <a:xfrm>
            <a:off x="914044" y="764704"/>
            <a:ext cx="7272808" cy="3826878"/>
            <a:chOff x="899592" y="836712"/>
            <a:chExt cx="7272808" cy="3826878"/>
          </a:xfrm>
        </p:grpSpPr>
        <p:sp>
          <p:nvSpPr>
            <p:cNvPr id="91" name="90 Rectángulo"/>
            <p:cNvSpPr/>
            <p:nvPr/>
          </p:nvSpPr>
          <p:spPr bwMode="auto">
            <a:xfrm>
              <a:off x="899592" y="836712"/>
              <a:ext cx="7272808" cy="3826878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12 CuadroTexto"/>
            <p:cNvSpPr txBox="1"/>
            <p:nvPr/>
          </p:nvSpPr>
          <p:spPr>
            <a:xfrm>
              <a:off x="1191370" y="881826"/>
              <a:ext cx="4455066" cy="36933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solidFill>
                    <a:srgbClr val="000000"/>
                  </a:solidFill>
                </a:rPr>
                <a:t>public class </a:t>
              </a:r>
              <a:r>
                <a:rPr lang="en-US" sz="180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Mi_JFrame</a:t>
              </a:r>
              <a:r>
                <a:rPr lang="en-US" sz="1800"/>
                <a:t> </a:t>
              </a:r>
              <a:r>
                <a:rPr lang="en-US" sz="1800">
                  <a:solidFill>
                    <a:srgbClr val="000000"/>
                  </a:solidFill>
                </a:rPr>
                <a:t>extends</a:t>
              </a:r>
              <a:r>
                <a:rPr lang="en-US" sz="1800"/>
                <a:t> </a:t>
              </a:r>
              <a:r>
                <a:rPr lang="en-US" sz="180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JFrame</a:t>
              </a:r>
              <a:r>
                <a:rPr lang="en-US" sz="1800"/>
                <a:t> {</a:t>
              </a:r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endParaRPr lang="en-US" sz="1800"/>
            </a:p>
            <a:p>
              <a:r>
                <a:rPr lang="en-US" sz="1800"/>
                <a:t>}</a:t>
              </a:r>
              <a:endParaRPr lang="es-ES" sz="1800" dirty="0"/>
            </a:p>
          </p:txBody>
        </p:sp>
      </p:grpSp>
      <p:sp>
        <p:nvSpPr>
          <p:cNvPr id="31" name="12 CuadroTexto"/>
          <p:cNvSpPr txBox="1"/>
          <p:nvPr/>
        </p:nvSpPr>
        <p:spPr>
          <a:xfrm>
            <a:off x="1638933" y="1241866"/>
            <a:ext cx="236475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solidFill>
                  <a:srgbClr val="000000"/>
                </a:solidFill>
              </a:rPr>
              <a:t>public </a:t>
            </a:r>
            <a:r>
              <a:rPr lang="en-US" sz="1800">
                <a:solidFill>
                  <a:srgbClr val="FF6600"/>
                </a:solidFill>
              </a:rPr>
              <a:t>Mi_JFrame () </a:t>
            </a:r>
            <a:r>
              <a:rPr lang="en-US" sz="1800"/>
              <a:t>{</a:t>
            </a:r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r>
              <a:rPr lang="en-US" sz="1800"/>
              <a:t>}</a:t>
            </a:r>
            <a:endParaRPr lang="es-ES" sz="1800" dirty="0"/>
          </a:p>
        </p:txBody>
      </p:sp>
      <p:sp>
        <p:nvSpPr>
          <p:cNvPr id="117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/>
              <a:t>Extender JFrame</a:t>
            </a:r>
            <a:endParaRPr lang="es-ES" sz="1600" dirty="0">
              <a:solidFill>
                <a:srgbClr val="FFFF00"/>
              </a:solidFill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2188316" y="1676816"/>
            <a:ext cx="549448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super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"Saludo"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setDefaultCloseOperation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JFrame</a:t>
            </a:r>
            <a:r>
              <a:rPr lang="es-ES" sz="16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 err="1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EXIT_ON_CLOSE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setSize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275, 180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setVisible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true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</p:txBody>
      </p:sp>
      <p:sp>
        <p:nvSpPr>
          <p:cNvPr id="3" name="2 Rectángulo"/>
          <p:cNvSpPr/>
          <p:nvPr/>
        </p:nvSpPr>
        <p:spPr>
          <a:xfrm>
            <a:off x="2175323" y="2826042"/>
            <a:ext cx="550747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JLabel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etiqueta1 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= new </a:t>
            </a:r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JLabel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"Bienvenido mi I.G."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etiqueta1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setToolTipText(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"Esto es una etiqueta"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etiqueta1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</p:txBody>
      </p:sp>
      <p:grpSp>
        <p:nvGrpSpPr>
          <p:cNvPr id="7" name="Grupo 6"/>
          <p:cNvGrpSpPr/>
          <p:nvPr/>
        </p:nvGrpSpPr>
        <p:grpSpPr>
          <a:xfrm>
            <a:off x="914044" y="4771741"/>
            <a:ext cx="7272808" cy="1895654"/>
            <a:chOff x="899592" y="4773706"/>
            <a:chExt cx="7272808" cy="1895654"/>
          </a:xfrm>
        </p:grpSpPr>
        <p:sp>
          <p:nvSpPr>
            <p:cNvPr id="32" name="90 Rectángulo"/>
            <p:cNvSpPr/>
            <p:nvPr/>
          </p:nvSpPr>
          <p:spPr bwMode="auto">
            <a:xfrm>
              <a:off x="899592" y="4773706"/>
              <a:ext cx="7272808" cy="1895654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12 CuadroTexto"/>
            <p:cNvSpPr txBox="1"/>
            <p:nvPr/>
          </p:nvSpPr>
          <p:spPr>
            <a:xfrm>
              <a:off x="1200879" y="4842266"/>
              <a:ext cx="1792478" cy="18158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>
                  <a:solidFill>
                    <a:srgbClr val="000000"/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public class </a:t>
              </a:r>
              <a:r>
                <a:rPr lang="en-US" sz="1600">
                  <a:solidFill>
                    <a:schemeClr val="tx1">
                      <a:lumMod val="60000"/>
                      <a:lumOff val="40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Test</a:t>
              </a:r>
              <a:r>
                <a:rPr lang="en-US" sz="1600"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 {</a:t>
              </a:r>
            </a:p>
            <a:p>
              <a:endParaRPr lang="en-US" sz="160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r>
                <a:rPr lang="en-US" sz="1600"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}</a:t>
              </a:r>
              <a:endPara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</p:txBody>
        </p:sp>
      </p:grpSp>
      <p:sp>
        <p:nvSpPr>
          <p:cNvPr id="34" name="12 CuadroTexto"/>
          <p:cNvSpPr txBox="1"/>
          <p:nvPr/>
        </p:nvSpPr>
        <p:spPr>
          <a:xfrm>
            <a:off x="1638933" y="5106212"/>
            <a:ext cx="366318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public static void </a:t>
            </a:r>
            <a:r>
              <a:rPr lang="en-U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main(</a:t>
            </a:r>
            <a:r>
              <a:rPr lang="en-US" sz="1600" dirty="0">
                <a:solidFill>
                  <a:schemeClr val="tx1">
                    <a:lumMod val="60000"/>
                    <a:lumOff val="4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String[] </a:t>
            </a:r>
            <a:r>
              <a:rPr lang="en-U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args</a:t>
            </a:r>
            <a:r>
              <a:rPr lang="en-U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{</a:t>
            </a:r>
          </a:p>
          <a:p>
            <a:endParaRPr lang="en-US" sz="1600" dirty="0">
              <a:solidFill>
                <a:srgbClr val="000000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        </a:t>
            </a:r>
          </a:p>
          <a:p>
            <a:endParaRPr lang="en-US" sz="1600" dirty="0">
              <a:solidFill>
                <a:srgbClr val="000000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}</a:t>
            </a:r>
            <a:endParaRPr lang="es-E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36" name="12 CuadroTexto"/>
          <p:cNvSpPr txBox="1"/>
          <p:nvPr/>
        </p:nvSpPr>
        <p:spPr>
          <a:xfrm>
            <a:off x="1988712" y="5341549"/>
            <a:ext cx="39581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Mi_JFrame</a:t>
            </a:r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miMarco</a:t>
            </a:r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= new </a:t>
            </a:r>
            <a:r>
              <a:rPr lang="en-US" sz="1600" dirty="0" err="1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Mi_JFrame</a:t>
            </a:r>
            <a:r>
              <a:rPr lang="en-U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;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miMarco</a:t>
            </a:r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setSize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400, 400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</a:p>
        </p:txBody>
      </p:sp>
      <p:pic>
        <p:nvPicPr>
          <p:cNvPr id="37" name="Picture 3" descr="C:\Users\Raúl\Desktop\Ilustraciones GUI\0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6335" y="3268688"/>
            <a:ext cx="3590365" cy="223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15 Rectángulo"/>
          <p:cNvSpPr/>
          <p:nvPr/>
        </p:nvSpPr>
        <p:spPr>
          <a:xfrm>
            <a:off x="6025681" y="4297978"/>
            <a:ext cx="214017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Bienvenido a mi I.G.</a:t>
            </a:r>
          </a:p>
        </p:txBody>
      </p:sp>
      <p:grpSp>
        <p:nvGrpSpPr>
          <p:cNvPr id="39" name="Grupo 38"/>
          <p:cNvGrpSpPr/>
          <p:nvPr/>
        </p:nvGrpSpPr>
        <p:grpSpPr>
          <a:xfrm>
            <a:off x="6069068" y="4840301"/>
            <a:ext cx="2618400" cy="1901067"/>
            <a:chOff x="6460274" y="5098755"/>
            <a:chExt cx="2618400" cy="1901067"/>
          </a:xfrm>
        </p:grpSpPr>
        <p:sp>
          <p:nvSpPr>
            <p:cNvPr id="40" name="Explosión 1 39"/>
            <p:cNvSpPr/>
            <p:nvPr/>
          </p:nvSpPr>
          <p:spPr bwMode="auto">
            <a:xfrm>
              <a:off x="6460274" y="5098755"/>
              <a:ext cx="2618400" cy="1901067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1" name="CuadroTexto 40"/>
            <p:cNvSpPr txBox="1"/>
            <p:nvPr/>
          </p:nvSpPr>
          <p:spPr>
            <a:xfrm>
              <a:off x="7154030" y="5715264"/>
              <a:ext cx="122341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500">
                  <a:solidFill>
                    <a:srgbClr val="FF0000"/>
                  </a:solidFill>
                </a:rPr>
                <a:t>Prueba este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Código</a:t>
              </a:r>
            </a:p>
          </p:txBody>
        </p:sp>
      </p:grpSp>
      <p:sp>
        <p:nvSpPr>
          <p:cNvPr id="21" name="12 CuadroTexto"/>
          <p:cNvSpPr txBox="1"/>
          <p:nvPr/>
        </p:nvSpPr>
        <p:spPr>
          <a:xfrm>
            <a:off x="1988712" y="5860032"/>
            <a:ext cx="3911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miMarco</a:t>
            </a:r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setLayout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new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 err="1">
                <a:solidFill>
                  <a:srgbClr val="F8A602"/>
                </a:solidFill>
                <a:latin typeface="Adobe Fan Heiti Std B" pitchFamily="34" charset="-128"/>
                <a:ea typeface="Adobe Fan Heiti Std B" pitchFamily="34" charset="-128"/>
              </a:rPr>
              <a:t>FlowLayout</a:t>
            </a:r>
            <a:r>
              <a:rPr lang="es-ES" sz="1600" dirty="0">
                <a:solidFill>
                  <a:srgbClr val="F8A602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75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" grpId="0"/>
      <p:bldP spid="3" grpId="0"/>
      <p:bldP spid="34" grpId="0"/>
      <p:bldP spid="36" grpId="0" uiExpand="1" build="p"/>
      <p:bldP spid="38" grpId="0"/>
      <p:bldP spid="21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87" y="1031784"/>
            <a:ext cx="2484014" cy="1849325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14" y="3318479"/>
            <a:ext cx="904957" cy="1120267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 bwMode="auto">
          <a:xfrm>
            <a:off x="318690" y="3327376"/>
            <a:ext cx="1805038" cy="1157572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2709676" y="921027"/>
            <a:ext cx="6110796" cy="5460301"/>
            <a:chOff x="899593" y="128939"/>
            <a:chExt cx="6110796" cy="5460301"/>
          </a:xfrm>
        </p:grpSpPr>
        <p:sp>
          <p:nvSpPr>
            <p:cNvPr id="91" name="90 Rectángulo"/>
            <p:cNvSpPr/>
            <p:nvPr/>
          </p:nvSpPr>
          <p:spPr bwMode="auto">
            <a:xfrm>
              <a:off x="899593" y="128939"/>
              <a:ext cx="6110796" cy="546030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12 CuadroTexto"/>
            <p:cNvSpPr txBox="1"/>
            <p:nvPr/>
          </p:nvSpPr>
          <p:spPr>
            <a:xfrm>
              <a:off x="1106464" y="280767"/>
              <a:ext cx="3935693" cy="5262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000000"/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public class </a:t>
              </a:r>
              <a:r>
                <a:rPr lang="en-U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Mi_JFrame</a:t>
              </a:r>
              <a:r>
                <a:rPr lang="en-US" sz="1600" dirty="0"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 </a:t>
              </a:r>
              <a:r>
                <a:rPr lang="en-US" sz="1600" dirty="0">
                  <a:solidFill>
                    <a:srgbClr val="000000"/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extends</a:t>
              </a:r>
              <a:r>
                <a:rPr lang="en-US" sz="1600" dirty="0"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 </a:t>
              </a:r>
              <a:r>
                <a:rPr lang="en-US" sz="1600" dirty="0" err="1">
                  <a:solidFill>
                    <a:schemeClr val="tx1">
                      <a:lumMod val="60000"/>
                      <a:lumOff val="40000"/>
                    </a:schemeClr>
                  </a:solidFill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JFrame</a:t>
              </a:r>
              <a:r>
                <a:rPr lang="en-US" sz="1600" dirty="0"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 {</a:t>
              </a: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endPara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  <a:p>
              <a:r>
                <a:rPr lang="en-US" sz="1600" dirty="0">
                  <a:latin typeface="Adobe Fan Heiti Std B" panose="020B0700000000000000" pitchFamily="34" charset="-128"/>
                  <a:ea typeface="Adobe Fan Heiti Std B" panose="020B0700000000000000" pitchFamily="34" charset="-128"/>
                </a:rPr>
                <a:t>}</a:t>
              </a:r>
              <a:endPara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endParaRPr>
            </a:p>
          </p:txBody>
        </p:sp>
      </p:grpSp>
      <p:sp>
        <p:nvSpPr>
          <p:cNvPr id="31" name="12 CuadroTexto"/>
          <p:cNvSpPr txBox="1"/>
          <p:nvPr/>
        </p:nvSpPr>
        <p:spPr>
          <a:xfrm>
            <a:off x="3226110" y="1467379"/>
            <a:ext cx="212269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public </a:t>
            </a:r>
            <a:r>
              <a:rPr lang="en-US" sz="1600" dirty="0" err="1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Mi_JFrame</a:t>
            </a:r>
            <a:r>
              <a:rPr lang="en-U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() </a:t>
            </a:r>
            <a:r>
              <a: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{</a:t>
            </a: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U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r>
              <a:rPr lang="en-U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}</a:t>
            </a:r>
            <a:endParaRPr lang="es-ES" sz="16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sp>
        <p:nvSpPr>
          <p:cNvPr id="2" name="1 Rectángulo"/>
          <p:cNvSpPr/>
          <p:nvPr/>
        </p:nvSpPr>
        <p:spPr>
          <a:xfrm>
            <a:off x="3566884" y="1799710"/>
            <a:ext cx="53811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super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“</a:t>
            </a:r>
            <a:r>
              <a:rPr lang="es-ES" sz="1600" dirty="0" err="1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Felicitacion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"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setDefaultCloseOperation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JFrame</a:t>
            </a:r>
            <a:r>
              <a:rPr lang="es-ES" sz="16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600" dirty="0" err="1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EXIT_ON_CLOSE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setSize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220, 180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</p:txBody>
      </p:sp>
      <p:sp>
        <p:nvSpPr>
          <p:cNvPr id="2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/>
              <a:t>Imágenes con Jlabel</a:t>
            </a:r>
            <a:r>
              <a:rPr lang="es-ES" sz="1600">
                <a:solidFill>
                  <a:srgbClr val="FFFF00"/>
                </a:solidFill>
              </a:rPr>
              <a:t> </a:t>
            </a:r>
            <a:endParaRPr lang="es-ES" sz="1600" dirty="0">
              <a:solidFill>
                <a:srgbClr val="FFFF00"/>
              </a:solidFill>
            </a:endParaRPr>
          </a:p>
        </p:txBody>
      </p:sp>
      <p:pic>
        <p:nvPicPr>
          <p:cNvPr id="23" name="Imagen 2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77" y="5050065"/>
            <a:ext cx="2266752" cy="150694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ángulo 4"/>
          <p:cNvSpPr/>
          <p:nvPr/>
        </p:nvSpPr>
        <p:spPr>
          <a:xfrm>
            <a:off x="3566884" y="2996952"/>
            <a:ext cx="52248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rgbClr val="0070C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Icon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s-E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imagen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= new </a:t>
            </a:r>
            <a:r>
              <a:rPr lang="es-ES" sz="1600" dirty="0" err="1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ImageIcon</a:t>
            </a:r>
            <a:r>
              <a:rPr lang="es-E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(“</a:t>
            </a:r>
            <a:r>
              <a:rPr lang="es-ES" sz="1600" dirty="0" err="1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perrofeliz.png</a:t>
            </a:r>
            <a:r>
              <a:rPr lang="es-ES" sz="1600" dirty="0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”</a:t>
            </a:r>
            <a:r>
              <a:rPr lang="es-E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; </a:t>
            </a:r>
          </a:p>
        </p:txBody>
      </p:sp>
      <p:sp>
        <p:nvSpPr>
          <p:cNvPr id="27" name="1 Rectángulo"/>
          <p:cNvSpPr/>
          <p:nvPr/>
        </p:nvSpPr>
        <p:spPr>
          <a:xfrm>
            <a:off x="3566884" y="4941168"/>
            <a:ext cx="260091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add(</a:t>
            </a:r>
            <a:r>
              <a:rPr lang="es-ES" sz="160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label</a:t>
            </a:r>
            <a:r>
              <a:rPr lang="es-ES" sz="160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</a:t>
            </a:r>
            <a:r>
              <a:rPr lang="es-ES" sz="160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;</a:t>
            </a:r>
          </a:p>
          <a:p>
            <a:r>
              <a:rPr lang="es-ES" sz="160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setVisible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 </a:t>
            </a:r>
            <a:r>
              <a:rPr lang="es-ES" sz="16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true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6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</p:txBody>
      </p:sp>
      <p:sp>
        <p:nvSpPr>
          <p:cNvPr id="28" name="Rectángulo 27"/>
          <p:cNvSpPr/>
          <p:nvPr/>
        </p:nvSpPr>
        <p:spPr>
          <a:xfrm>
            <a:off x="3566884" y="3982888"/>
            <a:ext cx="68377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accent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JLabel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label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= new </a:t>
            </a:r>
            <a:r>
              <a:rPr lang="es-ES" sz="1600" dirty="0" err="1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JLabel</a:t>
            </a:r>
            <a:r>
              <a:rPr lang="es-E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</a:t>
            </a:r>
            <a:r>
              <a:rPr lang="es-ES" sz="1600" dirty="0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"Felicidades"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</a:t>
            </a:r>
            <a:r>
              <a:rPr lang="es-E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imagen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</a:t>
            </a:r>
          </a:p>
          <a:p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                                                            </a:t>
            </a:r>
            <a:r>
              <a:rPr lang="es-ES" sz="1600" dirty="0" err="1">
                <a:solidFill>
                  <a:srgbClr val="0070C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SwingConstants</a:t>
            </a:r>
            <a:r>
              <a:rPr lang="es-ES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  <a:r>
              <a:rPr lang="es-ES" sz="1600" dirty="0" err="1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LEFT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);</a:t>
            </a:r>
          </a:p>
        </p:txBody>
      </p:sp>
      <p:sp>
        <p:nvSpPr>
          <p:cNvPr id="42" name="Rectángulo 41"/>
          <p:cNvSpPr/>
          <p:nvPr/>
        </p:nvSpPr>
        <p:spPr>
          <a:xfrm>
            <a:off x="3566884" y="3647926"/>
            <a:ext cx="522482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accent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JLabel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label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= new </a:t>
            </a:r>
            <a:r>
              <a:rPr lang="es-ES" sz="1600" dirty="0" err="1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JLabel</a:t>
            </a:r>
            <a:r>
              <a:rPr lang="es-ES" sz="1600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);</a:t>
            </a:r>
          </a:p>
          <a:p>
            <a:r>
              <a:rPr lang="es-E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label</a:t>
            </a:r>
            <a:r>
              <a:rPr lang="es-ES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setIcon</a:t>
            </a:r>
            <a:r>
              <a:rPr lang="es-ES" sz="1600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</a:t>
            </a:r>
            <a:r>
              <a:rPr lang="es-E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imagen</a:t>
            </a:r>
            <a:r>
              <a:rPr lang="es-ES" sz="1600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label</a:t>
            </a:r>
            <a:r>
              <a:rPr lang="es-ES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setText</a:t>
            </a:r>
            <a:r>
              <a:rPr lang="es-ES" sz="1600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</a:t>
            </a:r>
            <a:r>
              <a:rPr lang="es-ES" sz="1600" dirty="0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"Felicidades"</a:t>
            </a:r>
            <a:r>
              <a:rPr lang="es-ES" sz="1600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;</a:t>
            </a:r>
          </a:p>
          <a:p>
            <a:r>
              <a:rPr lang="es-E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label</a:t>
            </a:r>
            <a:r>
              <a:rPr lang="es-ES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  <a:r>
              <a:rPr lang="es-ES" sz="1600" dirty="0" err="1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setHorizontalTextPosition</a:t>
            </a:r>
            <a:r>
              <a:rPr lang="es-ES" sz="1600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</a:t>
            </a:r>
            <a:r>
              <a:rPr lang="es-ES" sz="1400" dirty="0" err="1">
                <a:solidFill>
                  <a:schemeClr val="accent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SwingConstants.</a:t>
            </a:r>
            <a:r>
              <a:rPr lang="es-ES" sz="1400" dirty="0" err="1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RIGHT</a:t>
            </a:r>
            <a:r>
              <a:rPr lang="es-ES" sz="1600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;</a:t>
            </a:r>
          </a:p>
        </p:txBody>
      </p:sp>
      <p:grpSp>
        <p:nvGrpSpPr>
          <p:cNvPr id="43" name="Grupo 42"/>
          <p:cNvGrpSpPr/>
          <p:nvPr/>
        </p:nvGrpSpPr>
        <p:grpSpPr>
          <a:xfrm>
            <a:off x="5349875" y="4544067"/>
            <a:ext cx="3598197" cy="2197301"/>
            <a:chOff x="6052261" y="4802521"/>
            <a:chExt cx="3026413" cy="2197301"/>
          </a:xfrm>
        </p:grpSpPr>
        <p:sp>
          <p:nvSpPr>
            <p:cNvPr id="44" name="Explosión 1 43"/>
            <p:cNvSpPr/>
            <p:nvPr/>
          </p:nvSpPr>
          <p:spPr bwMode="auto">
            <a:xfrm>
              <a:off x="6052261" y="4802521"/>
              <a:ext cx="3026413" cy="2197301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CuadroTexto 44"/>
            <p:cNvSpPr txBox="1"/>
            <p:nvPr/>
          </p:nvSpPr>
          <p:spPr>
            <a:xfrm>
              <a:off x="6624065" y="5471232"/>
              <a:ext cx="1921559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500">
                  <a:solidFill>
                    <a:srgbClr val="FF0000"/>
                  </a:solidFill>
                </a:rPr>
                <a:t>Prueba este código,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instanciando Mi_JFrame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desde una clase Test</a:t>
              </a:r>
            </a:p>
          </p:txBody>
        </p:sp>
      </p:grpSp>
      <p:sp>
        <p:nvSpPr>
          <p:cNvPr id="47" name="Rectángulo 46"/>
          <p:cNvSpPr/>
          <p:nvPr/>
        </p:nvSpPr>
        <p:spPr>
          <a:xfrm>
            <a:off x="3553437" y="2542555"/>
            <a:ext cx="304121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600" b="1" dirty="0" err="1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setLayout</a:t>
            </a:r>
            <a:r>
              <a:rPr lang="es-ES" sz="1600" b="1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 </a:t>
            </a:r>
            <a:r>
              <a:rPr lang="es-ES" sz="1600" b="1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new </a:t>
            </a:r>
            <a:r>
              <a:rPr lang="es-ES" sz="1600" b="1" dirty="0" err="1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FlowLayout</a:t>
            </a:r>
            <a:r>
              <a:rPr lang="es-ES" sz="1600" b="1" dirty="0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()</a:t>
            </a:r>
            <a:r>
              <a:rPr lang="es-ES" sz="1600" b="1" dirty="0">
                <a:solidFill>
                  <a:srgbClr val="FF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);</a:t>
            </a:r>
          </a:p>
        </p:txBody>
      </p:sp>
      <p:sp>
        <p:nvSpPr>
          <p:cNvPr id="33" name="Forma libre 32"/>
          <p:cNvSpPr/>
          <p:nvPr/>
        </p:nvSpPr>
        <p:spPr bwMode="auto">
          <a:xfrm flipH="1">
            <a:off x="811700" y="6150064"/>
            <a:ext cx="1456043" cy="368616"/>
          </a:xfrm>
          <a:custGeom>
            <a:avLst/>
            <a:gdLst>
              <a:gd name="connsiteX0" fmla="*/ 1456043 w 1456043"/>
              <a:gd name="connsiteY0" fmla="*/ 0 h 368616"/>
              <a:gd name="connsiteX1" fmla="*/ 1224135 w 1456043"/>
              <a:gd name="connsiteY1" fmla="*/ 0 h 368616"/>
              <a:gd name="connsiteX2" fmla="*/ 1224135 w 1456043"/>
              <a:gd name="connsiteY2" fmla="*/ 106680 h 368616"/>
              <a:gd name="connsiteX3" fmla="*/ 0 w 1456043"/>
              <a:gd name="connsiteY3" fmla="*/ 106680 h 368616"/>
              <a:gd name="connsiteX4" fmla="*/ 0 w 1456043"/>
              <a:gd name="connsiteY4" fmla="*/ 368616 h 368616"/>
              <a:gd name="connsiteX5" fmla="*/ 1296144 w 1456043"/>
              <a:gd name="connsiteY5" fmla="*/ 368616 h 368616"/>
              <a:gd name="connsiteX6" fmla="*/ 1296144 w 1456043"/>
              <a:gd name="connsiteY6" fmla="*/ 261936 h 368616"/>
              <a:gd name="connsiteX7" fmla="*/ 1456043 w 1456043"/>
              <a:gd name="connsiteY7" fmla="*/ 261936 h 368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56043" h="368616">
                <a:moveTo>
                  <a:pt x="1456043" y="0"/>
                </a:moveTo>
                <a:lnTo>
                  <a:pt x="1224135" y="0"/>
                </a:lnTo>
                <a:lnTo>
                  <a:pt x="1224135" y="106680"/>
                </a:lnTo>
                <a:lnTo>
                  <a:pt x="0" y="106680"/>
                </a:lnTo>
                <a:lnTo>
                  <a:pt x="0" y="368616"/>
                </a:lnTo>
                <a:lnTo>
                  <a:pt x="1296144" y="368616"/>
                </a:lnTo>
                <a:lnTo>
                  <a:pt x="1296144" y="261936"/>
                </a:lnTo>
                <a:lnTo>
                  <a:pt x="1456043" y="261936"/>
                </a:lnTo>
                <a:close/>
              </a:path>
            </a:pathLst>
          </a:cu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565746" y="3212978"/>
            <a:ext cx="1268296" cy="1421575"/>
            <a:chOff x="560203" y="3284984"/>
            <a:chExt cx="1499017" cy="1680180"/>
          </a:xfrm>
        </p:grpSpPr>
        <p:pic>
          <p:nvPicPr>
            <p:cNvPr id="24" name="Imagen 2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3709" y="3284984"/>
              <a:ext cx="1074717" cy="1397133"/>
            </a:xfrm>
            <a:prstGeom prst="rect">
              <a:avLst/>
            </a:prstGeom>
          </p:spPr>
        </p:pic>
        <p:sp>
          <p:nvSpPr>
            <p:cNvPr id="25" name="12 CuadroTexto"/>
            <p:cNvSpPr txBox="1"/>
            <p:nvPr/>
          </p:nvSpPr>
          <p:spPr>
            <a:xfrm>
              <a:off x="560203" y="4601398"/>
              <a:ext cx="1499017" cy="3637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400" dirty="0"/>
                <a:t>perrofeliz.png</a:t>
              </a:r>
            </a:p>
          </p:txBody>
        </p:sp>
      </p:grpSp>
      <p:pic>
        <p:nvPicPr>
          <p:cNvPr id="4" name="Imagen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243" y="4013036"/>
            <a:ext cx="339717" cy="393356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259632" y="3811553"/>
            <a:ext cx="9462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/>
              <a:t>Felicidades</a:t>
            </a:r>
          </a:p>
        </p:txBody>
      </p:sp>
      <p:cxnSp>
        <p:nvCxnSpPr>
          <p:cNvPr id="50" name="Conector recto de flecha 49"/>
          <p:cNvCxnSpPr/>
          <p:nvPr/>
        </p:nvCxnSpPr>
        <p:spPr bwMode="auto">
          <a:xfrm flipH="1">
            <a:off x="2300735" y="3212976"/>
            <a:ext cx="1252703" cy="3133255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7" name="6 Grupo"/>
          <p:cNvGrpSpPr/>
          <p:nvPr/>
        </p:nvGrpSpPr>
        <p:grpSpPr>
          <a:xfrm>
            <a:off x="319974" y="1444454"/>
            <a:ext cx="1887206" cy="1163294"/>
            <a:chOff x="6157923" y="636416"/>
            <a:chExt cx="1887206" cy="1163294"/>
          </a:xfrm>
        </p:grpSpPr>
        <p:pic>
          <p:nvPicPr>
            <p:cNvPr id="30" name="Imagen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4747" y="636416"/>
              <a:ext cx="904957" cy="1120267"/>
            </a:xfrm>
            <a:prstGeom prst="rect">
              <a:avLst/>
            </a:prstGeom>
          </p:spPr>
        </p:pic>
        <p:sp>
          <p:nvSpPr>
            <p:cNvPr id="32" name="Rectángulo 8"/>
            <p:cNvSpPr/>
            <p:nvPr/>
          </p:nvSpPr>
          <p:spPr bwMode="auto">
            <a:xfrm>
              <a:off x="6157923" y="642138"/>
              <a:ext cx="1805038" cy="1157572"/>
            </a:xfrm>
            <a:prstGeom prst="rect">
              <a:avLst/>
            </a:prstGeom>
            <a:noFill/>
            <a:ln w="28575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4" name="CuadroTexto 16"/>
            <p:cNvSpPr txBox="1"/>
            <p:nvPr/>
          </p:nvSpPr>
          <p:spPr>
            <a:xfrm>
              <a:off x="7098865" y="1129490"/>
              <a:ext cx="94626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100" dirty="0"/>
                <a:t>Felicidades</a:t>
              </a:r>
            </a:p>
          </p:txBody>
        </p:sp>
      </p:grpSp>
      <p:sp>
        <p:nvSpPr>
          <p:cNvPr id="38" name="Rectángulo 27"/>
          <p:cNvSpPr/>
          <p:nvPr/>
        </p:nvSpPr>
        <p:spPr>
          <a:xfrm>
            <a:off x="3566884" y="3982888"/>
            <a:ext cx="68377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 err="1">
                <a:solidFill>
                  <a:schemeClr val="accent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JLabel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  <a:r>
              <a:rPr lang="es-ES" sz="1600" dirty="0" err="1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label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= new </a:t>
            </a:r>
            <a:r>
              <a:rPr lang="es-ES" sz="1600" dirty="0" err="1">
                <a:solidFill>
                  <a:srgbClr val="FF66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JLabel</a:t>
            </a:r>
            <a:r>
              <a:rPr lang="es-ES" sz="1600" dirty="0" err="1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"Felicidades</a:t>
            </a:r>
            <a:r>
              <a:rPr lang="es-ES" sz="1600" dirty="0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"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 </a:t>
            </a:r>
            <a:r>
              <a:rPr lang="es-ES" sz="1600" dirty="0">
                <a:solidFill>
                  <a:srgbClr val="00000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imagen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,</a:t>
            </a:r>
          </a:p>
          <a:p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                                                            </a:t>
            </a:r>
            <a:r>
              <a:rPr lang="es-ES" sz="1600" dirty="0" err="1">
                <a:solidFill>
                  <a:srgbClr val="0070C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SwingConstants</a:t>
            </a:r>
            <a:r>
              <a:rPr lang="es-ES" sz="16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.</a:t>
            </a:r>
            <a:r>
              <a:rPr lang="es-ES" sz="1600" dirty="0" err="1">
                <a:solidFill>
                  <a:srgbClr val="00B050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RIGHT</a:t>
            </a:r>
            <a:r>
              <a:rPr lang="es-ES" sz="16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);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1A5DB89-6717-8C4F-8260-350FAF0A9585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ExampleGUI4</a:t>
            </a:r>
          </a:p>
        </p:txBody>
      </p:sp>
    </p:spTree>
    <p:extLst>
      <p:ext uri="{BB962C8B-B14F-4D97-AF65-F5344CB8AC3E}">
        <p14:creationId xmlns:p14="http://schemas.microsoft.com/office/powerpoint/2010/main" val="2620101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0.03906 0.23958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4" y="1196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1.48148E-6 L 0.03958 0.2405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79" y="120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7037E-6 L -2.5E-6 -0.27384 " pathEditMode="relative" rAng="0" ptsTypes="AA">
                                      <p:cBhvr>
                                        <p:cTn id="8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704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40741E-7 L -0.00018 -0.27292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-13657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3.7037E-6 L 5.55556E-7 -0.27384 " pathEditMode="relative" rAng="0" ptsTypes="AA">
                                      <p:cBhvr>
                                        <p:cTn id="8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37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7 -1.85185E-6 L 0.03473 -1.85185E-6 " pathEditMode="relative" rAng="0" ptsTypes="AA">
                                      <p:cBhvr>
                                        <p:cTn id="12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3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31" grpId="0"/>
      <p:bldP spid="2" grpId="0"/>
      <p:bldP spid="5" grpId="0" uiExpand="1" build="p"/>
      <p:bldP spid="27" grpId="0" uiExpand="1" build="p"/>
      <p:bldP spid="28" grpId="0"/>
      <p:bldP spid="28" grpId="1"/>
      <p:bldP spid="28" grpId="2"/>
      <p:bldP spid="42" grpId="0" uiExpand="1" build="p"/>
      <p:bldP spid="42" grpId="1" build="allAtOnce"/>
      <p:bldP spid="47" grpId="0"/>
      <p:bldP spid="33" grpId="0" animBg="1"/>
      <p:bldP spid="33" grpId="1" animBg="1"/>
      <p:bldP spid="17" grpId="0"/>
      <p:bldP spid="17" grpId="1"/>
      <p:bldP spid="17" grpId="2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 err="1"/>
              <a:t>JTextField</a:t>
            </a:r>
            <a:r>
              <a:rPr lang="es-ES" sz="1600" dirty="0">
                <a:solidFill>
                  <a:srgbClr val="FFFF00"/>
                </a:solidFill>
              </a:rPr>
              <a:t> (Campo de Texto)</a:t>
            </a:r>
          </a:p>
        </p:txBody>
      </p:sp>
      <p:sp>
        <p:nvSpPr>
          <p:cNvPr id="4" name="3 Rectángulo"/>
          <p:cNvSpPr/>
          <p:nvPr/>
        </p:nvSpPr>
        <p:spPr bwMode="auto">
          <a:xfrm>
            <a:off x="814884" y="858613"/>
            <a:ext cx="7501532" cy="10730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2 Rectángulo"/>
          <p:cNvSpPr/>
          <p:nvPr/>
        </p:nvSpPr>
        <p:spPr>
          <a:xfrm>
            <a:off x="637650" y="881826"/>
            <a:ext cx="691276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/>
              <a:t>     </a:t>
            </a:r>
            <a:r>
              <a:rPr lang="es-ES" sz="1600" dirty="0">
                <a:solidFill>
                  <a:schemeClr val="accent1"/>
                </a:solidFill>
              </a:rPr>
              <a:t> </a:t>
            </a:r>
            <a:r>
              <a:rPr lang="es-ES" sz="1500" dirty="0" err="1">
                <a:solidFill>
                  <a:schemeClr val="accent1"/>
                </a:solidFill>
              </a:rPr>
              <a:t>JTextField</a:t>
            </a:r>
            <a:r>
              <a:rPr lang="es-ES" sz="1500" dirty="0">
                <a:solidFill>
                  <a:schemeClr val="accent1"/>
                </a:solidFill>
              </a:rPr>
              <a:t> </a:t>
            </a:r>
            <a:r>
              <a:rPr lang="es-ES" sz="1500" b="1" dirty="0"/>
              <a:t>campoTexto1</a:t>
            </a:r>
            <a:r>
              <a:rPr lang="es-ES" sz="1500" dirty="0"/>
              <a:t> = new </a:t>
            </a:r>
            <a:r>
              <a:rPr lang="es-ES" sz="1500" dirty="0" err="1">
                <a:solidFill>
                  <a:schemeClr val="accent1"/>
                </a:solidFill>
              </a:rPr>
              <a:t>JTextField</a:t>
            </a:r>
            <a:r>
              <a:rPr lang="es-ES" sz="1500" dirty="0">
                <a:solidFill>
                  <a:schemeClr val="accent1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00B050"/>
                </a:solidFill>
              </a:rPr>
              <a:t>15</a:t>
            </a:r>
            <a:r>
              <a:rPr lang="es-ES" sz="1500" dirty="0"/>
              <a:t> </a:t>
            </a:r>
            <a:r>
              <a:rPr lang="es-ES" sz="1500" dirty="0">
                <a:solidFill>
                  <a:schemeClr val="accent1"/>
                </a:solidFill>
              </a:rPr>
              <a:t>)</a:t>
            </a:r>
            <a:r>
              <a:rPr lang="es-ES" sz="1500" dirty="0"/>
              <a:t>; </a:t>
            </a:r>
          </a:p>
          <a:p>
            <a:r>
              <a:rPr lang="es-ES" sz="1500" dirty="0"/>
              <a:t>      </a:t>
            </a:r>
            <a:r>
              <a:rPr lang="es-ES" sz="1500" dirty="0" err="1">
                <a:solidFill>
                  <a:srgbClr val="FF0000"/>
                </a:solidFill>
              </a:rPr>
              <a:t>marco.add</a:t>
            </a:r>
            <a:r>
              <a:rPr lang="es-ES" sz="1500" dirty="0">
                <a:solidFill>
                  <a:srgbClr val="FF0000"/>
                </a:solidFill>
              </a:rPr>
              <a:t>( </a:t>
            </a:r>
            <a:r>
              <a:rPr lang="es-ES" sz="1500" b="1" dirty="0"/>
              <a:t>campoTexto1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</a:t>
            </a:r>
          </a:p>
          <a:p>
            <a:r>
              <a:rPr lang="es-ES" sz="1500" b="1" dirty="0"/>
              <a:t>       campoTexto1.</a:t>
            </a:r>
            <a:r>
              <a:rPr lang="es-ES" sz="1500" dirty="0">
                <a:solidFill>
                  <a:srgbClr val="FF0000"/>
                </a:solidFill>
              </a:rPr>
              <a:t>setText(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92D050"/>
                </a:solidFill>
              </a:rPr>
              <a:t>“Modificado por código”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</a:t>
            </a:r>
          </a:p>
          <a:p>
            <a:r>
              <a:rPr lang="es-ES" sz="1500" dirty="0"/>
              <a:t>       </a:t>
            </a:r>
            <a:r>
              <a:rPr lang="es-ES" sz="1500" dirty="0" err="1">
                <a:solidFill>
                  <a:schemeClr val="bg1">
                    <a:lumMod val="65000"/>
                  </a:schemeClr>
                </a:solidFill>
              </a:rPr>
              <a:t>System.out.println</a:t>
            </a:r>
            <a:r>
              <a:rPr lang="es-ES" sz="1500" dirty="0">
                <a:solidFill>
                  <a:schemeClr val="bg1">
                    <a:lumMod val="65000"/>
                  </a:schemeClr>
                </a:solidFill>
              </a:rPr>
              <a:t>( </a:t>
            </a:r>
            <a:r>
              <a:rPr lang="es-ES" sz="1500" b="1" dirty="0"/>
              <a:t>campoTexto1.</a:t>
            </a:r>
            <a:r>
              <a:rPr lang="es-ES" sz="1500" dirty="0">
                <a:solidFill>
                  <a:srgbClr val="FF0000"/>
                </a:solidFill>
              </a:rPr>
              <a:t>getText()</a:t>
            </a:r>
            <a:r>
              <a:rPr lang="es-ES" sz="1500" dirty="0"/>
              <a:t> </a:t>
            </a:r>
            <a:r>
              <a:rPr lang="es-ES" sz="1500" dirty="0">
                <a:solidFill>
                  <a:schemeClr val="bg1">
                    <a:lumMod val="65000"/>
                  </a:schemeClr>
                </a:solidFill>
              </a:rPr>
              <a:t>)</a:t>
            </a:r>
            <a:r>
              <a:rPr lang="es-ES" sz="1500" dirty="0"/>
              <a:t>; </a:t>
            </a:r>
          </a:p>
          <a:p>
            <a:r>
              <a:rPr lang="es-ES" sz="1500" dirty="0"/>
              <a:t>       </a:t>
            </a:r>
          </a:p>
        </p:txBody>
      </p:sp>
      <p:grpSp>
        <p:nvGrpSpPr>
          <p:cNvPr id="9" name="8 Grupo"/>
          <p:cNvGrpSpPr/>
          <p:nvPr/>
        </p:nvGrpSpPr>
        <p:grpSpPr>
          <a:xfrm>
            <a:off x="611560" y="2063121"/>
            <a:ext cx="7704856" cy="596707"/>
            <a:chOff x="827584" y="1933928"/>
            <a:chExt cx="7704856" cy="596707"/>
          </a:xfrm>
        </p:grpSpPr>
        <p:sp>
          <p:nvSpPr>
            <p:cNvPr id="15" name="14 Rectángulo"/>
            <p:cNvSpPr/>
            <p:nvPr/>
          </p:nvSpPr>
          <p:spPr bwMode="auto">
            <a:xfrm>
              <a:off x="1030908" y="1933928"/>
              <a:ext cx="7501532" cy="57204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827584" y="1945860"/>
              <a:ext cx="7344816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600" dirty="0"/>
                <a:t>     </a:t>
              </a:r>
              <a:r>
                <a:rPr lang="es-ES" sz="1600" dirty="0">
                  <a:solidFill>
                    <a:schemeClr val="accent1"/>
                  </a:solidFill>
                </a:rPr>
                <a:t> </a:t>
              </a:r>
              <a:r>
                <a:rPr lang="es-ES" sz="1500" dirty="0" err="1">
                  <a:solidFill>
                    <a:schemeClr val="accent1"/>
                  </a:solidFill>
                </a:rPr>
                <a:t>JTextField</a:t>
              </a:r>
              <a:r>
                <a:rPr lang="es-ES" sz="1500" dirty="0">
                  <a:solidFill>
                    <a:schemeClr val="accent1"/>
                  </a:solidFill>
                </a:rPr>
                <a:t> </a:t>
              </a:r>
              <a:r>
                <a:rPr lang="es-ES" sz="1500" dirty="0"/>
                <a:t>campoTexto2 = new </a:t>
              </a:r>
              <a:r>
                <a:rPr lang="es-ES" sz="1500" dirty="0" err="1">
                  <a:solidFill>
                    <a:schemeClr val="accent1"/>
                  </a:solidFill>
                </a:rPr>
                <a:t>JTextField</a:t>
              </a:r>
              <a:r>
                <a:rPr lang="es-ES" sz="1500" dirty="0">
                  <a:solidFill>
                    <a:schemeClr val="accent1"/>
                  </a:solidFill>
                </a:rPr>
                <a:t>( </a:t>
              </a:r>
              <a:r>
                <a:rPr lang="es-ES" sz="1500" dirty="0">
                  <a:solidFill>
                    <a:srgbClr val="00B050"/>
                  </a:solidFill>
                </a:rPr>
                <a:t>"Escriba el texto en esta caja" </a:t>
              </a:r>
              <a:r>
                <a:rPr lang="es-ES" sz="1500" dirty="0">
                  <a:solidFill>
                    <a:schemeClr val="accent1"/>
                  </a:solidFill>
                </a:rPr>
                <a:t>)</a:t>
              </a:r>
              <a:r>
                <a:rPr lang="es-ES" sz="1500" dirty="0"/>
                <a:t>;</a:t>
              </a:r>
            </a:p>
            <a:p>
              <a:r>
                <a:rPr lang="es-ES" sz="1500" dirty="0"/>
                <a:t>      </a:t>
              </a:r>
              <a:r>
                <a:rPr lang="es-ES" sz="1500" dirty="0" err="1">
                  <a:solidFill>
                    <a:srgbClr val="FF0000"/>
                  </a:solidFill>
                </a:rPr>
                <a:t>marco.add</a:t>
              </a:r>
              <a:r>
                <a:rPr lang="es-ES" sz="1500" dirty="0">
                  <a:solidFill>
                    <a:srgbClr val="FF0000"/>
                  </a:solidFill>
                </a:rPr>
                <a:t>( </a:t>
              </a:r>
              <a:r>
                <a:rPr lang="es-ES" sz="1500" dirty="0"/>
                <a:t>campoTexto2 </a:t>
              </a:r>
              <a:r>
                <a:rPr lang="es-ES" sz="1500" dirty="0">
                  <a:solidFill>
                    <a:srgbClr val="FF0000"/>
                  </a:solidFill>
                </a:rPr>
                <a:t>)</a:t>
              </a:r>
              <a:r>
                <a:rPr lang="es-ES" sz="1500" dirty="0"/>
                <a:t>; </a:t>
              </a:r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814884" y="2726051"/>
            <a:ext cx="7959670" cy="832376"/>
            <a:chOff x="1030908" y="2747334"/>
            <a:chExt cx="7959670" cy="832376"/>
          </a:xfrm>
        </p:grpSpPr>
        <p:sp>
          <p:nvSpPr>
            <p:cNvPr id="16" name="15 Rectángulo"/>
            <p:cNvSpPr/>
            <p:nvPr/>
          </p:nvSpPr>
          <p:spPr bwMode="auto">
            <a:xfrm>
              <a:off x="1030908" y="2747334"/>
              <a:ext cx="7501532" cy="83237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1213714" y="2794880"/>
              <a:ext cx="7776864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500" dirty="0" err="1">
                  <a:solidFill>
                    <a:srgbClr val="0070C0"/>
                  </a:solidFill>
                </a:rPr>
                <a:t>JTextField</a:t>
              </a:r>
              <a:r>
                <a:rPr lang="es-ES" sz="1500" dirty="0"/>
                <a:t> campoTexto3 = new </a:t>
              </a:r>
              <a:r>
                <a:rPr lang="es-ES" sz="1500" dirty="0" err="1">
                  <a:solidFill>
                    <a:srgbClr val="0070C0"/>
                  </a:solidFill>
                </a:rPr>
                <a:t>JTextField</a:t>
              </a:r>
              <a:r>
                <a:rPr lang="es-ES" sz="1500" dirty="0">
                  <a:solidFill>
                    <a:srgbClr val="0070C0"/>
                  </a:solidFill>
                </a:rPr>
                <a:t>( </a:t>
              </a:r>
              <a:r>
                <a:rPr lang="es-ES" sz="1500" dirty="0">
                  <a:solidFill>
                    <a:srgbClr val="00B050"/>
                  </a:solidFill>
                </a:rPr>
                <a:t>"Campo de texto no editable", 21 </a:t>
              </a:r>
              <a:r>
                <a:rPr lang="es-ES" sz="1500" dirty="0"/>
                <a:t>);</a:t>
              </a:r>
            </a:p>
            <a:p>
              <a:r>
                <a:rPr lang="es-ES" sz="1500" dirty="0"/>
                <a:t>campoTexto3</a:t>
              </a:r>
              <a:r>
                <a:rPr lang="es-ES" sz="1500" dirty="0">
                  <a:solidFill>
                    <a:srgbClr val="FF0000"/>
                  </a:solidFill>
                </a:rPr>
                <a:t>.setEditable( </a:t>
              </a:r>
              <a:r>
                <a:rPr lang="es-ES" sz="1500" dirty="0">
                  <a:solidFill>
                    <a:srgbClr val="00B050"/>
                  </a:solidFill>
                </a:rPr>
                <a:t>false</a:t>
              </a:r>
              <a:r>
                <a:rPr lang="es-ES" sz="1500" dirty="0">
                  <a:solidFill>
                    <a:srgbClr val="FF0000"/>
                  </a:solidFill>
                </a:rPr>
                <a:t> )</a:t>
              </a:r>
              <a:r>
                <a:rPr lang="es-ES" sz="1500" dirty="0"/>
                <a:t>; </a:t>
              </a:r>
            </a:p>
            <a:p>
              <a:r>
                <a:rPr lang="es-ES" sz="1500" dirty="0" err="1">
                  <a:solidFill>
                    <a:srgbClr val="FF0000"/>
                  </a:solidFill>
                </a:rPr>
                <a:t>Marco.add</a:t>
              </a:r>
              <a:r>
                <a:rPr lang="es-ES" sz="1500" dirty="0">
                  <a:solidFill>
                    <a:srgbClr val="FF0000"/>
                  </a:solidFill>
                </a:rPr>
                <a:t>(</a:t>
              </a:r>
              <a:r>
                <a:rPr lang="es-ES" sz="1500" dirty="0"/>
                <a:t> campoTexto3 </a:t>
              </a:r>
              <a:r>
                <a:rPr lang="es-ES" sz="1500" dirty="0">
                  <a:solidFill>
                    <a:srgbClr val="FF0000"/>
                  </a:solidFill>
                </a:rPr>
                <a:t>)</a:t>
              </a:r>
              <a:r>
                <a:rPr lang="es-ES" sz="1500" dirty="0"/>
                <a:t>;</a:t>
              </a:r>
            </a:p>
          </p:txBody>
        </p:sp>
      </p:grpSp>
      <p:grpSp>
        <p:nvGrpSpPr>
          <p:cNvPr id="11" name="10 Grupo"/>
          <p:cNvGrpSpPr/>
          <p:nvPr/>
        </p:nvGrpSpPr>
        <p:grpSpPr>
          <a:xfrm>
            <a:off x="814884" y="3647297"/>
            <a:ext cx="7962608" cy="582465"/>
            <a:chOff x="1030908" y="3818068"/>
            <a:chExt cx="7962608" cy="582465"/>
          </a:xfrm>
        </p:grpSpPr>
        <p:sp>
          <p:nvSpPr>
            <p:cNvPr id="17" name="16 Rectángulo"/>
            <p:cNvSpPr/>
            <p:nvPr/>
          </p:nvSpPr>
          <p:spPr bwMode="auto">
            <a:xfrm>
              <a:off x="1030908" y="3818068"/>
              <a:ext cx="7501532" cy="58246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1216652" y="3846535"/>
              <a:ext cx="7776864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500" dirty="0" err="1">
                  <a:solidFill>
                    <a:schemeClr val="accent1"/>
                  </a:solidFill>
                </a:rPr>
                <a:t>JPasswordField</a:t>
              </a:r>
              <a:r>
                <a:rPr lang="es-ES" sz="1500" dirty="0"/>
                <a:t> </a:t>
              </a:r>
              <a:r>
                <a:rPr lang="es-ES" sz="1500" dirty="0" err="1"/>
                <a:t>campoContraseña</a:t>
              </a:r>
              <a:r>
                <a:rPr lang="es-ES" sz="1500" dirty="0"/>
                <a:t> = new </a:t>
              </a:r>
              <a:r>
                <a:rPr lang="es-ES" sz="1500" dirty="0" err="1">
                  <a:solidFill>
                    <a:schemeClr val="accent1"/>
                  </a:solidFill>
                </a:rPr>
                <a:t>JPasswordField</a:t>
              </a:r>
              <a:r>
                <a:rPr lang="es-ES" sz="1500" dirty="0">
                  <a:solidFill>
                    <a:schemeClr val="accent1"/>
                  </a:solidFill>
                </a:rPr>
                <a:t>( </a:t>
              </a:r>
              <a:r>
                <a:rPr lang="es-ES" sz="1500" dirty="0">
                  <a:solidFill>
                    <a:srgbClr val="00B050"/>
                  </a:solidFill>
                </a:rPr>
                <a:t>"Texto oculto" </a:t>
              </a:r>
              <a:r>
                <a:rPr lang="es-ES" sz="1500" dirty="0">
                  <a:solidFill>
                    <a:schemeClr val="accent1"/>
                  </a:solidFill>
                </a:rPr>
                <a:t>)</a:t>
              </a:r>
              <a:r>
                <a:rPr lang="es-ES" sz="1500" dirty="0"/>
                <a:t>;</a:t>
              </a:r>
            </a:p>
            <a:p>
              <a:r>
                <a:rPr lang="es-ES" sz="1500" dirty="0" err="1"/>
                <a:t>marco.</a:t>
              </a:r>
              <a:r>
                <a:rPr lang="es-ES" sz="1500" dirty="0" err="1">
                  <a:solidFill>
                    <a:srgbClr val="FF0000"/>
                  </a:solidFill>
                </a:rPr>
                <a:t>add</a:t>
              </a:r>
              <a:r>
                <a:rPr lang="es-ES" sz="1500" dirty="0">
                  <a:solidFill>
                    <a:srgbClr val="FF0000"/>
                  </a:solidFill>
                </a:rPr>
                <a:t>(</a:t>
              </a:r>
              <a:r>
                <a:rPr lang="es-ES" sz="1500" dirty="0"/>
                <a:t> </a:t>
              </a:r>
              <a:r>
                <a:rPr lang="es-ES" sz="1500" dirty="0" err="1"/>
                <a:t>campoContraseña</a:t>
              </a:r>
              <a:r>
                <a:rPr lang="es-ES" sz="1500" dirty="0"/>
                <a:t> </a:t>
              </a:r>
              <a:r>
                <a:rPr lang="es-ES" sz="1500" dirty="0">
                  <a:solidFill>
                    <a:srgbClr val="FF0000"/>
                  </a:solidFill>
                </a:rPr>
                <a:t>)</a:t>
              </a:r>
              <a:r>
                <a:rPr lang="es-ES" sz="1500" dirty="0"/>
                <a:t>; </a:t>
              </a:r>
            </a:p>
          </p:txBody>
        </p:sp>
      </p:grpSp>
      <p:sp>
        <p:nvSpPr>
          <p:cNvPr id="27" name="26 Rectángulo"/>
          <p:cNvSpPr/>
          <p:nvPr/>
        </p:nvSpPr>
        <p:spPr>
          <a:xfrm>
            <a:off x="-313620" y="5080896"/>
            <a:ext cx="41764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rgbClr val="00B050"/>
                </a:solidFill>
              </a:rPr>
              <a:t>marco</a:t>
            </a:r>
          </a:p>
        </p:txBody>
      </p:sp>
      <p:sp>
        <p:nvSpPr>
          <p:cNvPr id="28" name="27 Rectángulo"/>
          <p:cNvSpPr/>
          <p:nvPr/>
        </p:nvSpPr>
        <p:spPr>
          <a:xfrm>
            <a:off x="988014" y="5308008"/>
            <a:ext cx="151216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>
                <a:solidFill>
                  <a:srgbClr val="00B050"/>
                </a:solidFill>
              </a:rPr>
              <a:t>      </a:t>
            </a:r>
            <a:r>
              <a:rPr lang="es-ES" sz="1600" dirty="0" err="1">
                <a:solidFill>
                  <a:schemeClr val="accent1"/>
                </a:solidFill>
              </a:rPr>
              <a:t>JFrame</a:t>
            </a:r>
            <a:endParaRPr lang="es-ES" sz="1600" dirty="0">
              <a:solidFill>
                <a:schemeClr val="accent1"/>
              </a:solidFill>
            </a:endParaRPr>
          </a:p>
        </p:txBody>
      </p:sp>
      <p:pic>
        <p:nvPicPr>
          <p:cNvPr id="4103" name="Picture 7" descr="C:\Users\Raúl\Desktop\Ilustraciones GUI\2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4330345"/>
            <a:ext cx="44450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:\Users\Raúl\Desktop\Ilustraciones GUI\2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144" y="4863745"/>
            <a:ext cx="2273300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C:\Users\Raúl\Desktop\Ilustraciones GUI\2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494" y="5198674"/>
            <a:ext cx="20066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:\Users\Raúl\Desktop\Ilustraciones GUI\23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944" y="5508203"/>
            <a:ext cx="31877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7" name="Picture 11" descr="C:\Users\Raúl\Desktop\Ilustraciones GUI\24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194" y="5830433"/>
            <a:ext cx="1219200" cy="33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3" name="22 Grupo"/>
          <p:cNvGrpSpPr/>
          <p:nvPr/>
        </p:nvGrpSpPr>
        <p:grpSpPr>
          <a:xfrm>
            <a:off x="914718" y="1161184"/>
            <a:ext cx="743052" cy="3033202"/>
            <a:chOff x="1151463" y="1080502"/>
            <a:chExt cx="759636" cy="3033202"/>
          </a:xfrm>
        </p:grpSpPr>
        <p:sp>
          <p:nvSpPr>
            <p:cNvPr id="22" name="21 Rectángulo"/>
            <p:cNvSpPr/>
            <p:nvPr/>
          </p:nvSpPr>
          <p:spPr bwMode="auto">
            <a:xfrm>
              <a:off x="1202905" y="1080502"/>
              <a:ext cx="659086" cy="27089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34 Rectángulo"/>
            <p:cNvSpPr/>
            <p:nvPr/>
          </p:nvSpPr>
          <p:spPr bwMode="auto">
            <a:xfrm>
              <a:off x="1151463" y="2235446"/>
              <a:ext cx="691052" cy="27089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6" name="35 Rectángulo"/>
            <p:cNvSpPr/>
            <p:nvPr/>
          </p:nvSpPr>
          <p:spPr bwMode="auto">
            <a:xfrm>
              <a:off x="1206300" y="3171763"/>
              <a:ext cx="691052" cy="27089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36 Rectángulo"/>
            <p:cNvSpPr/>
            <p:nvPr/>
          </p:nvSpPr>
          <p:spPr bwMode="auto">
            <a:xfrm>
              <a:off x="1220047" y="3842807"/>
              <a:ext cx="691052" cy="270897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9" name="28 Rectángulo"/>
          <p:cNvSpPr/>
          <p:nvPr/>
        </p:nvSpPr>
        <p:spPr>
          <a:xfrm>
            <a:off x="3507871" y="4870728"/>
            <a:ext cx="20329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Modificado por </a:t>
            </a:r>
            <a:r>
              <a:rPr lang="es-ES" sz="1400" dirty="0" err="1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codigo</a:t>
            </a:r>
            <a:endParaRPr lang="es-ES" sz="1400" dirty="0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6642658" y="4564711"/>
            <a:ext cx="2350487" cy="1709478"/>
            <a:chOff x="467544" y="5103898"/>
            <a:chExt cx="2350487" cy="1709478"/>
          </a:xfrm>
        </p:grpSpPr>
        <p:sp>
          <p:nvSpPr>
            <p:cNvPr id="42" name="Explosión 1 41"/>
            <p:cNvSpPr/>
            <p:nvPr/>
          </p:nvSpPr>
          <p:spPr bwMode="auto">
            <a:xfrm>
              <a:off x="467544" y="5103898"/>
              <a:ext cx="2350487" cy="1709478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CuadroTexto 42"/>
            <p:cNvSpPr txBox="1"/>
            <p:nvPr/>
          </p:nvSpPr>
          <p:spPr>
            <a:xfrm>
              <a:off x="1031080" y="5656652"/>
              <a:ext cx="1223413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500">
                  <a:solidFill>
                    <a:srgbClr val="FF0000"/>
                  </a:solidFill>
                </a:rPr>
                <a:t>Prueba este</a:t>
              </a:r>
            </a:p>
            <a:p>
              <a:pPr algn="ctr"/>
              <a:r>
                <a:rPr lang="es-ES" sz="1500">
                  <a:solidFill>
                    <a:srgbClr val="FF0000"/>
                  </a:solidFill>
                </a:rPr>
                <a:t>Código</a:t>
              </a:r>
            </a:p>
          </p:txBody>
        </p:sp>
      </p:grpSp>
      <p:sp>
        <p:nvSpPr>
          <p:cNvPr id="38" name="28 Rectángulo"/>
          <p:cNvSpPr/>
          <p:nvPr/>
        </p:nvSpPr>
        <p:spPr>
          <a:xfrm>
            <a:off x="3507871" y="4870728"/>
            <a:ext cx="16401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s-ES" sz="140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Texto introducido</a:t>
            </a:r>
            <a:endParaRPr lang="es-ES" sz="1400" dirty="0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E95E818-D064-DE43-9D74-35DB2A377E13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ExampleGUI5</a:t>
            </a:r>
          </a:p>
        </p:txBody>
      </p:sp>
    </p:spTree>
    <p:extLst>
      <p:ext uri="{BB962C8B-B14F-4D97-AF65-F5344CB8AC3E}">
        <p14:creationId xmlns:p14="http://schemas.microsoft.com/office/powerpoint/2010/main" val="2616300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  <p:bldP spid="29" grpId="0"/>
      <p:bldP spid="38" grpId="0"/>
      <p:bldP spid="38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/>
              <a:t>Organización de los controles en un contenedor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dirty="0"/>
              <a:t>Para organizar los controles en un objeto que implemente la interfaz </a:t>
            </a:r>
            <a:r>
              <a:rPr lang="es-ES" sz="1800" i="1" dirty="0" err="1"/>
              <a:t>LayoutManager</a:t>
            </a:r>
            <a:r>
              <a:rPr lang="es-ES" sz="1800" i="1" dirty="0"/>
              <a:t> </a:t>
            </a:r>
            <a:r>
              <a:rPr lang="es-ES" sz="1800" dirty="0"/>
              <a:t>o administración de diseño. </a:t>
            </a:r>
          </a:p>
          <a:p>
            <a:endParaRPr lang="es-ES" dirty="0"/>
          </a:p>
          <a:p>
            <a:pPr>
              <a:buNone/>
            </a:pPr>
            <a:endParaRPr lang="es-ES" dirty="0"/>
          </a:p>
        </p:txBody>
      </p:sp>
      <p:graphicFrame>
        <p:nvGraphicFramePr>
          <p:cNvPr id="5" name="4 Tabla"/>
          <p:cNvGraphicFramePr>
            <a:graphicFrameLocks noGrp="1"/>
          </p:cNvGraphicFramePr>
          <p:nvPr/>
        </p:nvGraphicFramePr>
        <p:xfrm>
          <a:off x="1115616" y="2060848"/>
          <a:ext cx="7200800" cy="354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Layout</a:t>
                      </a:r>
                      <a:r>
                        <a:rPr lang="es-ES" dirty="0"/>
                        <a:t>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Descripción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FlowLayout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Coloca los componentes de izquierda a derecha. </a:t>
                      </a:r>
                      <a:r>
                        <a:rPr lang="es-ES" sz="1400" dirty="0" err="1"/>
                        <a:t>Layout</a:t>
                      </a:r>
                      <a:r>
                        <a:rPr lang="es-ES" sz="1400" dirty="0"/>
                        <a:t> por defecto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BorderLayout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Divide el contenedor en cinco partes (norte, sur, este, oeste y centro)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CardLayout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Permite colocar grupos</a:t>
                      </a:r>
                      <a:r>
                        <a:rPr lang="es-ES" sz="1400" baseline="0" dirty="0"/>
                        <a:t> de componentes diferentes en momentos diferentes de la ejecución del programa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GridLayout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Coloca los componentes en filas y columnas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GridBagLayout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Coloca</a:t>
                      </a:r>
                      <a:r>
                        <a:rPr lang="es-ES" sz="1400" baseline="0" dirty="0"/>
                        <a:t> los componentes en filas y columnas, pero un componente puede ocupar más de una columna</a:t>
                      </a:r>
                      <a:endParaRPr lang="es-E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 err="1"/>
                        <a:t>BoxLayout</a:t>
                      </a:r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400" dirty="0"/>
                        <a:t>Coloca los componentes en una fila o columna ajustándose.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041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Ejemplos </a:t>
            </a:r>
            <a:r>
              <a:rPr lang="es-ES" dirty="0" err="1"/>
              <a:t>Layout</a:t>
            </a:r>
            <a:r>
              <a:rPr lang="es-ES" dirty="0"/>
              <a:t> Manager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24624" t="33094" r="46598" b="15719"/>
          <a:stretch>
            <a:fillRect/>
          </a:stretch>
        </p:blipFill>
        <p:spPr bwMode="auto">
          <a:xfrm>
            <a:off x="2267744" y="1412776"/>
            <a:ext cx="3960440" cy="3960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 l="24542" t="48031" r="46679" b="11610"/>
          <a:stretch>
            <a:fillRect/>
          </a:stretch>
        </p:blipFill>
        <p:spPr bwMode="auto">
          <a:xfrm>
            <a:off x="2195736" y="1412776"/>
            <a:ext cx="4752528" cy="37471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 l="18455" t="50000" r="54427" b="37203"/>
          <a:stretch>
            <a:fillRect/>
          </a:stretch>
        </p:blipFill>
        <p:spPr bwMode="auto">
          <a:xfrm>
            <a:off x="1979712" y="2564904"/>
            <a:ext cx="5156881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 descr="Resultado de imagen de flowlayout"/>
          <p:cNvPicPr>
            <a:picLocks noChangeAspect="1" noChangeArrowheads="1"/>
          </p:cNvPicPr>
          <p:nvPr/>
        </p:nvPicPr>
        <p:blipFill>
          <a:blip r:embed="rId5" cstate="print"/>
          <a:srcRect t="20160"/>
          <a:stretch>
            <a:fillRect/>
          </a:stretch>
        </p:blipFill>
        <p:spPr bwMode="auto">
          <a:xfrm>
            <a:off x="2555776" y="2492896"/>
            <a:ext cx="4176464" cy="1667250"/>
          </a:xfrm>
          <a:prstGeom prst="rect">
            <a:avLst/>
          </a:prstGeom>
          <a:noFill/>
        </p:spPr>
      </p:pic>
      <p:pic>
        <p:nvPicPr>
          <p:cNvPr id="2056" name="Picture 8" descr="Resultado de imagen de gridbaglayout"/>
          <p:cNvPicPr>
            <a:picLocks noChangeAspect="1" noChangeArrowheads="1"/>
          </p:cNvPicPr>
          <p:nvPr/>
        </p:nvPicPr>
        <p:blipFill>
          <a:blip r:embed="rId6" cstate="print"/>
          <a:srcRect t="18439"/>
          <a:stretch>
            <a:fillRect/>
          </a:stretch>
        </p:blipFill>
        <p:spPr bwMode="auto">
          <a:xfrm>
            <a:off x="2843808" y="2492896"/>
            <a:ext cx="3600400" cy="1926364"/>
          </a:xfrm>
          <a:prstGeom prst="rect">
            <a:avLst/>
          </a:prstGeom>
          <a:noFill/>
        </p:spPr>
      </p:pic>
      <p:pic>
        <p:nvPicPr>
          <p:cNvPr id="2058" name="Picture 10" descr="Resultado de imagen de boxlayout"/>
          <p:cNvPicPr>
            <a:picLocks noChangeAspect="1" noChangeArrowheads="1"/>
          </p:cNvPicPr>
          <p:nvPr/>
        </p:nvPicPr>
        <p:blipFill>
          <a:blip r:embed="rId7" cstate="print"/>
          <a:srcRect t="16707"/>
          <a:stretch>
            <a:fillRect/>
          </a:stretch>
        </p:blipFill>
        <p:spPr bwMode="auto">
          <a:xfrm>
            <a:off x="2771800" y="2492896"/>
            <a:ext cx="3672408" cy="22235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35670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1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1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2400" dirty="0"/>
              <a:t>Organización de los controles en un contenedor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000" dirty="0"/>
          </a:p>
          <a:p>
            <a:r>
              <a:rPr lang="es-ES" sz="2000" dirty="0"/>
              <a:t>Los </a:t>
            </a:r>
            <a:r>
              <a:rPr lang="es-ES" sz="2000" dirty="0" err="1"/>
              <a:t>layout</a:t>
            </a:r>
            <a:r>
              <a:rPr lang="es-ES" sz="2000" dirty="0"/>
              <a:t> manager se pueden establecer al crear el objeto (constructor):</a:t>
            </a:r>
          </a:p>
          <a:p>
            <a:pPr marL="358775" lvl="1" indent="-358775">
              <a:buClr>
                <a:schemeClr val="hlink"/>
              </a:buClr>
              <a:buNone/>
            </a:pPr>
            <a:r>
              <a:rPr lang="es-ES" sz="2000" dirty="0"/>
              <a:t>	</a:t>
            </a:r>
            <a:r>
              <a:rPr lang="es-ES" sz="2000" dirty="0" err="1"/>
              <a:t>JPanel</a:t>
            </a:r>
            <a:r>
              <a:rPr lang="es-ES" sz="2000" dirty="0"/>
              <a:t> panel=new </a:t>
            </a:r>
            <a:r>
              <a:rPr lang="es-ES" sz="2000" dirty="0" err="1"/>
              <a:t>JPanel</a:t>
            </a:r>
            <a:r>
              <a:rPr lang="es-ES" sz="2000" dirty="0"/>
              <a:t>(new </a:t>
            </a:r>
            <a:r>
              <a:rPr lang="es-ES" sz="2000" dirty="0" err="1"/>
              <a:t>FlowLayout</a:t>
            </a:r>
            <a:r>
              <a:rPr lang="es-ES" sz="2000" dirty="0"/>
              <a:t>());</a:t>
            </a:r>
          </a:p>
          <a:p>
            <a:endParaRPr lang="es-ES" sz="2000" dirty="0"/>
          </a:p>
          <a:p>
            <a:r>
              <a:rPr lang="es-ES" sz="2000" dirty="0"/>
              <a:t>O bien una vez que el objeto ha sido creado:</a:t>
            </a:r>
          </a:p>
          <a:p>
            <a:pPr marL="358775" lvl="1" indent="-358775">
              <a:buClr>
                <a:schemeClr val="hlink"/>
              </a:buClr>
              <a:buNone/>
            </a:pPr>
            <a:r>
              <a:rPr lang="es-ES" sz="2000" dirty="0"/>
              <a:t>	</a:t>
            </a:r>
            <a:r>
              <a:rPr lang="es-ES" sz="2000" dirty="0" err="1"/>
              <a:t>panel.setLayout</a:t>
            </a:r>
            <a:r>
              <a:rPr lang="es-ES" sz="2000" dirty="0"/>
              <a:t>(new </a:t>
            </a:r>
            <a:r>
              <a:rPr lang="es-ES" sz="2000" dirty="0" err="1"/>
              <a:t>FlowLayout</a:t>
            </a:r>
            <a:r>
              <a:rPr lang="es-ES" sz="2000" dirty="0"/>
              <a:t>());</a:t>
            </a:r>
          </a:p>
          <a:p>
            <a:pPr>
              <a:buNone/>
            </a:pPr>
            <a:endParaRPr lang="es-ES" sz="2000" dirty="0"/>
          </a:p>
          <a:p>
            <a:r>
              <a:rPr lang="es-ES" sz="2000" dirty="0"/>
              <a:t>En ocasiones, cuando se añade un componente al contenedor hay que especificar la posición que queremos que ocupe en el mismo:</a:t>
            </a:r>
          </a:p>
          <a:p>
            <a:pPr lvl="1">
              <a:buNone/>
            </a:pPr>
            <a:r>
              <a:rPr lang="es-ES" sz="2000" dirty="0"/>
              <a:t>panel.add(</a:t>
            </a:r>
            <a:r>
              <a:rPr lang="es-ES" sz="2000" dirty="0" err="1"/>
              <a:t>uncomponente</a:t>
            </a:r>
            <a:r>
              <a:rPr lang="es-ES" sz="2000" dirty="0"/>
              <a:t>, </a:t>
            </a:r>
            <a:r>
              <a:rPr lang="es-ES" sz="2000" dirty="0" err="1"/>
              <a:t>BorderLayout.PAGE_START</a:t>
            </a:r>
            <a:r>
              <a:rPr lang="es-ES" sz="2000" dirty="0"/>
              <a:t>);</a:t>
            </a:r>
          </a:p>
          <a:p>
            <a:endParaRPr lang="es-ES" dirty="0"/>
          </a:p>
          <a:p>
            <a:endParaRPr lang="es-ES" dirty="0"/>
          </a:p>
          <a:p>
            <a:pPr lvl="1">
              <a:buNone/>
            </a:pPr>
            <a:endParaRPr lang="es-ES" dirty="0"/>
          </a:p>
          <a:p>
            <a:pPr>
              <a:buNone/>
            </a:pPr>
            <a:r>
              <a:rPr lang="es-ES" dirty="0"/>
              <a:t>	</a:t>
            </a:r>
          </a:p>
          <a:p>
            <a:pPr lvl="1">
              <a:buNone/>
            </a:pPr>
            <a:endParaRPr lang="es-ES" dirty="0"/>
          </a:p>
          <a:p>
            <a:endParaRPr lang="es-ES" dirty="0"/>
          </a:p>
          <a:p>
            <a:pPr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0074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 bwMode="auto">
          <a:xfrm>
            <a:off x="533376" y="1077417"/>
            <a:ext cx="8208912" cy="539586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" name="9 Grupo"/>
          <p:cNvGrpSpPr/>
          <p:nvPr/>
        </p:nvGrpSpPr>
        <p:grpSpPr>
          <a:xfrm>
            <a:off x="943824" y="3802687"/>
            <a:ext cx="7501532" cy="2526575"/>
            <a:chOff x="943824" y="3946704"/>
            <a:chExt cx="7501532" cy="2290608"/>
          </a:xfrm>
        </p:grpSpPr>
        <p:sp>
          <p:nvSpPr>
            <p:cNvPr id="7" name="6 Rectángulo redondeado"/>
            <p:cNvSpPr/>
            <p:nvPr/>
          </p:nvSpPr>
          <p:spPr bwMode="auto">
            <a:xfrm>
              <a:off x="943824" y="4293096"/>
              <a:ext cx="7501532" cy="194421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1270516" y="3946704"/>
              <a:ext cx="4165580" cy="3469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 err="1">
                  <a:solidFill>
                    <a:srgbClr val="FF3300"/>
                  </a:solidFill>
                </a:rPr>
                <a:t>private</a:t>
              </a:r>
              <a:r>
                <a:rPr lang="es-ES" sz="16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 dirty="0" err="1">
                  <a:solidFill>
                    <a:schemeClr val="bg1">
                      <a:lumMod val="50000"/>
                    </a:schemeClr>
                  </a:solidFill>
                </a:rPr>
                <a:t>class</a:t>
              </a:r>
              <a:r>
                <a:rPr lang="es-ES" sz="16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 dirty="0" err="1">
                  <a:solidFill>
                    <a:srgbClr val="002060"/>
                  </a:solidFill>
                </a:rPr>
                <a:t>ManejadorCampoTexto</a:t>
              </a:r>
              <a:endParaRPr lang="es-ES" sz="16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1" name="20 Rectángulo"/>
          <p:cNvSpPr/>
          <p:nvPr/>
        </p:nvSpPr>
        <p:spPr bwMode="auto">
          <a:xfrm>
            <a:off x="1333888" y="4333630"/>
            <a:ext cx="6703958" cy="190368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/>
              <a:t>Clase Privada y Manejadores de Eventos</a:t>
            </a:r>
            <a:endParaRPr lang="es-ES" dirty="0"/>
          </a:p>
        </p:txBody>
      </p:sp>
      <p:sp>
        <p:nvSpPr>
          <p:cNvPr id="6" name="5 CuadroTexto"/>
          <p:cNvSpPr txBox="1"/>
          <p:nvPr/>
        </p:nvSpPr>
        <p:spPr>
          <a:xfrm>
            <a:off x="1403648" y="692696"/>
            <a:ext cx="640871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rgbClr val="FF3300"/>
                </a:solidFill>
              </a:rPr>
              <a:t>public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1" err="1">
                <a:solidFill>
                  <a:schemeClr val="bg1">
                    <a:lumMod val="50000"/>
                  </a:schemeClr>
                </a:solidFill>
              </a:rPr>
              <a:t>class</a:t>
            </a:r>
            <a:r>
              <a:rPr lang="es-ES" b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1" dirty="0" err="1"/>
              <a:t>M</a:t>
            </a:r>
            <a:r>
              <a:rPr lang="es-ES" b="1"/>
              <a:t>iFrame </a:t>
            </a:r>
            <a:r>
              <a:rPr lang="es-ES" b="1" dirty="0" err="1">
                <a:solidFill>
                  <a:schemeClr val="accent1"/>
                </a:solidFill>
              </a:rPr>
              <a:t>extends</a:t>
            </a:r>
            <a:r>
              <a:rPr lang="es-ES" b="1" dirty="0">
                <a:solidFill>
                  <a:schemeClr val="accent1"/>
                </a:solidFill>
              </a:rPr>
              <a:t> </a:t>
            </a:r>
            <a:r>
              <a:rPr lang="es-ES" b="1" dirty="0" err="1">
                <a:solidFill>
                  <a:srgbClr val="002060"/>
                </a:solidFill>
              </a:rPr>
              <a:t>JFrame</a:t>
            </a:r>
            <a:r>
              <a:rPr lang="es-ES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1" name="10 Rectángulo"/>
          <p:cNvSpPr/>
          <p:nvPr/>
        </p:nvSpPr>
        <p:spPr bwMode="auto">
          <a:xfrm>
            <a:off x="943824" y="1519052"/>
            <a:ext cx="4979309" cy="22836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11 Rectángulo"/>
          <p:cNvSpPr/>
          <p:nvPr/>
        </p:nvSpPr>
        <p:spPr>
          <a:xfrm>
            <a:off x="1278900" y="1808540"/>
            <a:ext cx="691276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dirty="0"/>
              <a:t>     </a:t>
            </a:r>
            <a:r>
              <a:rPr lang="es-ES" sz="1500" dirty="0">
                <a:latin typeface="+mj-lt"/>
                <a:ea typeface="Adobe Fan Heiti Std B" pitchFamily="34" charset="-128"/>
              </a:rPr>
              <a:t>…</a:t>
            </a:r>
          </a:p>
          <a:p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     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= new </a:t>
            </a:r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JTextField</a:t>
            </a:r>
            <a:r>
              <a:rPr lang="es-ES" sz="15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( 10 )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     </a:t>
            </a:r>
            <a:r>
              <a:rPr lang="es-ES" sz="15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245118" y="1589321"/>
            <a:ext cx="1773242" cy="21698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500" b="1" dirty="0" err="1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public</a:t>
            </a:r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 err="1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MiFrame</a:t>
            </a:r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() {</a:t>
            </a:r>
          </a:p>
          <a:p>
            <a:endParaRPr lang="es-ES" sz="1500" b="1" dirty="0">
              <a:solidFill>
                <a:schemeClr val="accent5">
                  <a:lumMod val="2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500" b="1" dirty="0">
              <a:solidFill>
                <a:schemeClr val="accent5">
                  <a:lumMod val="2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500" b="1" dirty="0">
              <a:solidFill>
                <a:schemeClr val="accent5">
                  <a:lumMod val="2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500" b="1" dirty="0">
              <a:solidFill>
                <a:schemeClr val="accent5">
                  <a:lumMod val="2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500" b="1" dirty="0">
              <a:solidFill>
                <a:schemeClr val="accent5">
                  <a:lumMod val="2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500" b="1" dirty="0">
              <a:solidFill>
                <a:schemeClr val="accent5">
                  <a:lumMod val="2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500" b="1" dirty="0">
              <a:solidFill>
                <a:schemeClr val="accent5">
                  <a:lumMod val="25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}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1548226" y="2493201"/>
            <a:ext cx="45535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ManejadorCampoTexto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escuchador </a:t>
            </a:r>
          </a:p>
          <a:p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           = new </a:t>
            </a:r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ManejadorCampoTexto</a:t>
            </a:r>
            <a:r>
              <a:rPr lang="es-ES" sz="15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</p:txBody>
      </p:sp>
      <p:sp>
        <p:nvSpPr>
          <p:cNvPr id="16" name="15 Rectángulo"/>
          <p:cNvSpPr/>
          <p:nvPr/>
        </p:nvSpPr>
        <p:spPr>
          <a:xfrm>
            <a:off x="1548226" y="2962086"/>
            <a:ext cx="4553535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addActionListener</a:t>
            </a:r>
            <a:r>
              <a:rPr lang="es-ES" sz="150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>
                <a:latin typeface="Adobe Fan Heiti Std B" pitchFamily="34" charset="-128"/>
                <a:ea typeface="Adobe Fan Heiti Std B" pitchFamily="34" charset="-128"/>
              </a:rPr>
              <a:t> escuchador</a:t>
            </a:r>
            <a:r>
              <a:rPr lang="es-ES" sz="150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500" dirty="0">
                <a:latin typeface="+mj-lt"/>
                <a:ea typeface="Adobe Fan Heiti Std B" pitchFamily="34" charset="-128"/>
              </a:rPr>
              <a:t>...</a:t>
            </a:r>
          </a:p>
        </p:txBody>
      </p:sp>
      <p:sp>
        <p:nvSpPr>
          <p:cNvPr id="19" name="18 Rectángulo"/>
          <p:cNvSpPr/>
          <p:nvPr/>
        </p:nvSpPr>
        <p:spPr>
          <a:xfrm>
            <a:off x="1644210" y="4395008"/>
            <a:ext cx="653765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dirty="0" err="1">
                <a:latin typeface="Adobe Fan Heiti Std B" pitchFamily="34" charset="-128"/>
                <a:ea typeface="Adobe Fan Heiti Std B" pitchFamily="34" charset="-128"/>
              </a:rPr>
              <a:t>public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void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actionPerformed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                                       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{</a:t>
            </a:r>
          </a:p>
          <a:p>
            <a:endParaRPr lang="es-ES" sz="1500" b="1" dirty="0"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}</a:t>
            </a:r>
          </a:p>
        </p:txBody>
      </p:sp>
      <p:sp>
        <p:nvSpPr>
          <p:cNvPr id="18" name="17 Rectángulo"/>
          <p:cNvSpPr/>
          <p:nvPr/>
        </p:nvSpPr>
        <p:spPr>
          <a:xfrm>
            <a:off x="1778764" y="4697001"/>
            <a:ext cx="6537652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Object</a:t>
            </a:r>
            <a:r>
              <a:rPr lang="es-ES" sz="15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objeto</a:t>
            </a:r>
            <a:r>
              <a:rPr lang="es-ES" sz="15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= </a:t>
            </a:r>
            <a:r>
              <a:rPr lang="es-ES" sz="15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5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getSource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600" dirty="0"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500" dirty="0" err="1">
                <a:latin typeface="Adobe Fan Heiti Std B" pitchFamily="34" charset="-128"/>
                <a:ea typeface="Adobe Fan Heiti Std B" pitchFamily="34" charset="-128"/>
              </a:rPr>
              <a:t>if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( 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objeto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== 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) {</a:t>
            </a:r>
          </a:p>
          <a:p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           </a:t>
            </a:r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String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texto = 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( </a:t>
            </a:r>
            <a:r>
              <a:rPr lang="es-ES" sz="15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JTextField</a:t>
            </a:r>
            <a:r>
              <a:rPr lang="es-ES" sz="15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 objeto )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5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getText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500" dirty="0"/>
              <a:t>          </a:t>
            </a:r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JOptionPane</a:t>
            </a:r>
            <a:r>
              <a:rPr lang="es-ES" sz="15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.showMessageDialog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dirty="0" err="1">
                <a:latin typeface="Adobe Fan Heiti Std B" pitchFamily="34" charset="-128"/>
                <a:ea typeface="Adobe Fan Heiti Std B" pitchFamily="34" charset="-128"/>
              </a:rPr>
              <a:t>MiFrame.this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, texto</a:t>
            </a:r>
            <a:r>
              <a:rPr lang="es-ES" sz="15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    }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765196" y="1180840"/>
            <a:ext cx="3183428" cy="3382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/>
              <a:t>     </a:t>
            </a:r>
            <a:r>
              <a:rPr lang="es-ES" sz="16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JTextField</a:t>
            </a:r>
            <a:r>
              <a:rPr lang="es-ES" sz="1600" b="1" dirty="0">
                <a:latin typeface="Adobe Fan Heiti Std B" pitchFamily="34" charset="-128"/>
                <a:ea typeface="Adobe Fan Heiti Std B" pitchFamily="34" charset="-128"/>
              </a:rPr>
              <a:t>  campoTexto1;</a:t>
            </a:r>
          </a:p>
        </p:txBody>
      </p:sp>
      <p:pic>
        <p:nvPicPr>
          <p:cNvPr id="2051" name="Picture 3" descr="C:\Users\Raúl\Desktop\Ilustraciones GUI\2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833" y="1763626"/>
            <a:ext cx="2146591" cy="39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21 Rectángulo"/>
          <p:cNvSpPr/>
          <p:nvPr/>
        </p:nvSpPr>
        <p:spPr>
          <a:xfrm>
            <a:off x="6303271" y="1785067"/>
            <a:ext cx="20706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Texto de Prueba</a:t>
            </a:r>
            <a:endParaRPr lang="es-ES" sz="16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pic>
        <p:nvPicPr>
          <p:cNvPr id="2052" name="Picture 4" descr="C:\Users\Raúl\Desktop\Ilustraciones GUI\2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687" y="2152649"/>
            <a:ext cx="1008882" cy="48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25 CuadroTexto"/>
          <p:cNvSpPr txBox="1"/>
          <p:nvPr/>
        </p:nvSpPr>
        <p:spPr>
          <a:xfrm>
            <a:off x="4860032" y="3796237"/>
            <a:ext cx="33123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 err="1">
                <a:solidFill>
                  <a:schemeClr val="bg1"/>
                </a:solidFill>
              </a:rPr>
              <a:t>implements</a:t>
            </a:r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1600" b="1" dirty="0" err="1">
                <a:solidFill>
                  <a:srgbClr val="002060"/>
                </a:solidFill>
              </a:rPr>
              <a:t>ActionListener</a:t>
            </a:r>
            <a:r>
              <a:rPr lang="es-ES" sz="1600" b="1" dirty="0">
                <a:solidFill>
                  <a:srgbClr val="002060"/>
                </a:solidFill>
              </a:rPr>
              <a:t> </a:t>
            </a:r>
          </a:p>
        </p:txBody>
      </p:sp>
      <p:cxnSp>
        <p:nvCxnSpPr>
          <p:cNvPr id="24" name="23 Conector recto de flecha"/>
          <p:cNvCxnSpPr/>
          <p:nvPr/>
        </p:nvCxnSpPr>
        <p:spPr bwMode="auto">
          <a:xfrm flipH="1">
            <a:off x="3563888" y="3064230"/>
            <a:ext cx="3751240" cy="133077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30 Rectángulo"/>
          <p:cNvSpPr/>
          <p:nvPr/>
        </p:nvSpPr>
        <p:spPr>
          <a:xfrm>
            <a:off x="4168980" y="4395344"/>
            <a:ext cx="246160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ActionEvent</a:t>
            </a:r>
            <a:r>
              <a:rPr lang="es-ES" sz="15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evento</a:t>
            </a:r>
          </a:p>
        </p:txBody>
      </p:sp>
      <p:sp>
        <p:nvSpPr>
          <p:cNvPr id="27" name="26 Rectángulo"/>
          <p:cNvSpPr/>
          <p:nvPr/>
        </p:nvSpPr>
        <p:spPr>
          <a:xfrm>
            <a:off x="2296322" y="5186445"/>
            <a:ext cx="359495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String</a:t>
            </a:r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 texto = 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.getText()</a:t>
            </a:r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;</a:t>
            </a:r>
            <a:endParaRPr lang="es-ES" sz="1500" dirty="0">
              <a:latin typeface="Adobe Fan Heiti Std B" pitchFamily="34" charset="-128"/>
              <a:ea typeface="Adobe Fan Heiti Std B" pitchFamily="34" charset="-128"/>
            </a:endParaRPr>
          </a:p>
        </p:txBody>
      </p:sp>
      <p:grpSp>
        <p:nvGrpSpPr>
          <p:cNvPr id="25" name="Grupo 24"/>
          <p:cNvGrpSpPr/>
          <p:nvPr/>
        </p:nvGrpSpPr>
        <p:grpSpPr>
          <a:xfrm>
            <a:off x="6588224" y="3239085"/>
            <a:ext cx="1401259" cy="1774091"/>
            <a:chOff x="6588224" y="3239085"/>
            <a:chExt cx="1401259" cy="1774091"/>
          </a:xfrm>
        </p:grpSpPr>
        <p:sp>
          <p:nvSpPr>
            <p:cNvPr id="3" name="Elipse 2"/>
            <p:cNvSpPr/>
            <p:nvPr/>
          </p:nvSpPr>
          <p:spPr bwMode="auto">
            <a:xfrm>
              <a:off x="6894520" y="3876842"/>
              <a:ext cx="792088" cy="79208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19 Rectángulo"/>
            <p:cNvSpPr/>
            <p:nvPr/>
          </p:nvSpPr>
          <p:spPr>
            <a:xfrm>
              <a:off x="6588224" y="4674622"/>
              <a:ext cx="140125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b="1">
                  <a:latin typeface="Adobe Fan Heiti Std B" pitchFamily="34" charset="-128"/>
                  <a:ea typeface="Adobe Fan Heiti Std B" pitchFamily="34" charset="-128"/>
                </a:rPr>
                <a:t>escuchador</a:t>
              </a:r>
              <a:endParaRPr lang="es-ES" sz="1600" b="1" dirty="0">
                <a:latin typeface="Adobe Fan Heiti Std B" pitchFamily="34" charset="-128"/>
                <a:ea typeface="Adobe Fan Heiti Std B" pitchFamily="34" charset="-128"/>
              </a:endParaRPr>
            </a:p>
          </p:txBody>
        </p:sp>
        <p:cxnSp>
          <p:nvCxnSpPr>
            <p:cNvPr id="17" name="Conector recto de flecha 16"/>
            <p:cNvCxnSpPr>
              <a:endCxn id="3" idx="0"/>
            </p:cNvCxnSpPr>
            <p:nvPr/>
          </p:nvCxnSpPr>
          <p:spPr bwMode="auto">
            <a:xfrm>
              <a:off x="7288853" y="3239085"/>
              <a:ext cx="1711" cy="637757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lg" len="lg"/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8" name="Estrella de 6 puntas 2047"/>
          <p:cNvSpPr/>
          <p:nvPr/>
        </p:nvSpPr>
        <p:spPr bwMode="auto">
          <a:xfrm>
            <a:off x="7069474" y="2835139"/>
            <a:ext cx="350578" cy="402154"/>
          </a:xfrm>
          <a:prstGeom prst="star6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8" name="7 Grupo"/>
          <p:cNvGrpSpPr/>
          <p:nvPr/>
        </p:nvGrpSpPr>
        <p:grpSpPr>
          <a:xfrm>
            <a:off x="6101761" y="2636912"/>
            <a:ext cx="2430679" cy="854637"/>
            <a:chOff x="6101761" y="2780928"/>
            <a:chExt cx="2430679" cy="854637"/>
          </a:xfrm>
        </p:grpSpPr>
        <p:sp>
          <p:nvSpPr>
            <p:cNvPr id="4" name="3 Explosión 1"/>
            <p:cNvSpPr/>
            <p:nvPr/>
          </p:nvSpPr>
          <p:spPr bwMode="auto">
            <a:xfrm>
              <a:off x="6101761" y="2780928"/>
              <a:ext cx="2430679" cy="854637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22 Rectángulo"/>
            <p:cNvSpPr/>
            <p:nvPr/>
          </p:nvSpPr>
          <p:spPr>
            <a:xfrm>
              <a:off x="6610278" y="3034858"/>
              <a:ext cx="1900673" cy="323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500">
                  <a:solidFill>
                    <a:srgbClr val="000000"/>
                  </a:solidFill>
                  <a:latin typeface="Adobe Fan Heiti Std B" pitchFamily="34" charset="-128"/>
                  <a:ea typeface="Adobe Fan Heiti Std B" pitchFamily="34" charset="-128"/>
                </a:rPr>
                <a:t>Evento</a:t>
              </a:r>
              <a:r>
                <a:rPr lang="es-ES" sz="1500">
                  <a:solidFill>
                    <a:schemeClr val="bg1"/>
                  </a:solidFill>
                  <a:latin typeface="Adobe Fan Heiti Std B" pitchFamily="34" charset="-128"/>
                  <a:ea typeface="Adobe Fan Heiti Std B" pitchFamily="34" charset="-128"/>
                </a:rPr>
                <a:t> </a:t>
              </a:r>
              <a:endParaRPr lang="es-ES" sz="16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sp>
        <p:nvSpPr>
          <p:cNvPr id="34" name="22 Rectángulo"/>
          <p:cNvSpPr/>
          <p:nvPr/>
        </p:nvSpPr>
        <p:spPr>
          <a:xfrm>
            <a:off x="7288853" y="2878448"/>
            <a:ext cx="9503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Action</a:t>
            </a:r>
            <a:endParaRPr lang="es-ES" sz="1600" b="1" dirty="0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grpSp>
        <p:nvGrpSpPr>
          <p:cNvPr id="2053" name="Grupo 2052"/>
          <p:cNvGrpSpPr/>
          <p:nvPr/>
        </p:nvGrpSpPr>
        <p:grpSpPr>
          <a:xfrm>
            <a:off x="6481304" y="4201309"/>
            <a:ext cx="2524920" cy="1182237"/>
            <a:chOff x="6481304" y="4201309"/>
            <a:chExt cx="2524920" cy="1182237"/>
          </a:xfrm>
        </p:grpSpPr>
        <p:pic>
          <p:nvPicPr>
            <p:cNvPr id="2049" name="Imagen 204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1304" y="4201309"/>
              <a:ext cx="2524920" cy="1182237"/>
            </a:xfrm>
            <a:prstGeom prst="rect">
              <a:avLst/>
            </a:prstGeom>
          </p:spPr>
        </p:pic>
        <p:sp>
          <p:nvSpPr>
            <p:cNvPr id="2050" name="CuadroTexto 2049"/>
            <p:cNvSpPr txBox="1"/>
            <p:nvPr/>
          </p:nvSpPr>
          <p:spPr>
            <a:xfrm>
              <a:off x="6963472" y="4558507"/>
              <a:ext cx="130253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200">
                  <a:solidFill>
                    <a:srgbClr val="000000"/>
                  </a:solidFill>
                </a:rPr>
                <a:t>Texto de Prueba</a:t>
              </a:r>
            </a:p>
          </p:txBody>
        </p:sp>
      </p:grpSp>
      <p:grpSp>
        <p:nvGrpSpPr>
          <p:cNvPr id="38" name="Grupo 42"/>
          <p:cNvGrpSpPr/>
          <p:nvPr/>
        </p:nvGrpSpPr>
        <p:grpSpPr>
          <a:xfrm>
            <a:off x="5349875" y="4544067"/>
            <a:ext cx="3598197" cy="2197301"/>
            <a:chOff x="6052261" y="4802521"/>
            <a:chExt cx="3026413" cy="2197301"/>
          </a:xfrm>
        </p:grpSpPr>
        <p:sp>
          <p:nvSpPr>
            <p:cNvPr id="39" name="Explosión 1 43"/>
            <p:cNvSpPr/>
            <p:nvPr/>
          </p:nvSpPr>
          <p:spPr bwMode="auto">
            <a:xfrm>
              <a:off x="6052261" y="4802521"/>
              <a:ext cx="3026413" cy="2197301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0" name="CuadroTexto 44"/>
            <p:cNvSpPr txBox="1"/>
            <p:nvPr/>
          </p:nvSpPr>
          <p:spPr>
            <a:xfrm>
              <a:off x="6709682" y="5471232"/>
              <a:ext cx="1750327" cy="784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500" dirty="0">
                  <a:solidFill>
                    <a:srgbClr val="FF0000"/>
                  </a:solidFill>
                </a:rPr>
                <a:t>Prueba este código,</a:t>
              </a:r>
            </a:p>
            <a:p>
              <a:pPr algn="ctr"/>
              <a:r>
                <a:rPr lang="es-ES" sz="1500" dirty="0">
                  <a:solidFill>
                    <a:srgbClr val="FF0000"/>
                  </a:solidFill>
                </a:rPr>
                <a:t>instanciando </a:t>
              </a:r>
              <a:r>
                <a:rPr lang="es-ES" sz="1500" dirty="0" err="1">
                  <a:solidFill>
                    <a:srgbClr val="FF0000"/>
                  </a:solidFill>
                </a:rPr>
                <a:t>MiFrame</a:t>
              </a:r>
              <a:endParaRPr lang="es-ES" sz="1500" dirty="0">
                <a:solidFill>
                  <a:srgbClr val="FF0000"/>
                </a:solidFill>
              </a:endParaRPr>
            </a:p>
            <a:p>
              <a:pPr algn="ctr"/>
              <a:r>
                <a:rPr lang="es-ES" sz="1500" dirty="0">
                  <a:solidFill>
                    <a:srgbClr val="FF0000"/>
                  </a:solidFill>
                </a:rPr>
                <a:t>desde una clase Test</a:t>
              </a:r>
            </a:p>
          </p:txBody>
        </p:sp>
      </p:grp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2B1A3A6-11FB-6F40-BBE6-234013DBDB1D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ExampleGUI6</a:t>
            </a:r>
          </a:p>
        </p:txBody>
      </p:sp>
    </p:spTree>
    <p:extLst>
      <p:ext uri="{BB962C8B-B14F-4D97-AF65-F5344CB8AC3E}">
        <p14:creationId xmlns:p14="http://schemas.microsoft.com/office/powerpoint/2010/main" val="977894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-0.22917 0.220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20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458" y="1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16" presetID="53" presetClass="exit" presetSubtype="32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7" dur="500"/>
                                        <p:tgtEl>
                                          <p:spTgt spid="2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2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11" grpId="0" animBg="1"/>
      <p:bldP spid="12" grpId="0"/>
      <p:bldP spid="13" grpId="0"/>
      <p:bldP spid="14" grpId="0"/>
      <p:bldP spid="16" grpId="0"/>
      <p:bldP spid="19" grpId="0"/>
      <p:bldP spid="18" grpId="0" uiExpand="1" build="p"/>
      <p:bldP spid="20" grpId="0"/>
      <p:bldP spid="22" grpId="0"/>
      <p:bldP spid="26" grpId="0"/>
      <p:bldP spid="31" grpId="0"/>
      <p:bldP spid="27" grpId="0" build="p"/>
      <p:bldP spid="2048" grpId="0" animBg="1"/>
      <p:bldP spid="2048" grpId="1" animBg="1"/>
      <p:bldP spid="2048" grpId="2" animBg="1"/>
      <p:bldP spid="3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47 Grupo"/>
          <p:cNvGrpSpPr/>
          <p:nvPr/>
        </p:nvGrpSpPr>
        <p:grpSpPr>
          <a:xfrm>
            <a:off x="124076" y="2845911"/>
            <a:ext cx="2146591" cy="615464"/>
            <a:chOff x="124076" y="2845911"/>
            <a:chExt cx="2146591" cy="615464"/>
          </a:xfrm>
        </p:grpSpPr>
        <p:pic>
          <p:nvPicPr>
            <p:cNvPr id="26" name="Picture 3" descr="C:\Users\Raúl\Desktop\Ilustraciones GUI\21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076" y="3068960"/>
              <a:ext cx="2146591" cy="392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36 Rectángulo"/>
            <p:cNvSpPr/>
            <p:nvPr/>
          </p:nvSpPr>
          <p:spPr>
            <a:xfrm>
              <a:off x="401330" y="2845911"/>
              <a:ext cx="1651652" cy="323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500" dirty="0">
                  <a:solidFill>
                    <a:srgbClr val="000000"/>
                  </a:solidFill>
                  <a:latin typeface="Adobe Fan Heiti Std B" pitchFamily="34" charset="-128"/>
                  <a:ea typeface="Adobe Fan Heiti Std B" pitchFamily="34" charset="-128"/>
                </a:rPr>
                <a:t>campoTexto1</a:t>
              </a:r>
              <a:endParaRPr lang="es-ES" sz="1500" dirty="0">
                <a:latin typeface="+mj-lt"/>
                <a:ea typeface="Adobe Fan Heiti Std B" pitchFamily="34" charset="-128"/>
              </a:endParaRPr>
            </a:p>
          </p:txBody>
        </p:sp>
      </p:grpSp>
      <p:grpSp>
        <p:nvGrpSpPr>
          <p:cNvPr id="45" name="44 Grupo"/>
          <p:cNvGrpSpPr/>
          <p:nvPr/>
        </p:nvGrpSpPr>
        <p:grpSpPr>
          <a:xfrm>
            <a:off x="5537130" y="1700808"/>
            <a:ext cx="3355349" cy="3685202"/>
            <a:chOff x="5537130" y="1658670"/>
            <a:chExt cx="3355349" cy="3685202"/>
          </a:xfrm>
        </p:grpSpPr>
        <p:sp>
          <p:nvSpPr>
            <p:cNvPr id="25" name="24 Rectángulo redondeado"/>
            <p:cNvSpPr/>
            <p:nvPr/>
          </p:nvSpPr>
          <p:spPr bwMode="auto">
            <a:xfrm>
              <a:off x="5537130" y="2285256"/>
              <a:ext cx="3355349" cy="3058616"/>
            </a:xfrm>
            <a:prstGeom prst="roundRect">
              <a:avLst/>
            </a:prstGeom>
            <a:solidFill>
              <a:srgbClr val="A2FCA2"/>
            </a:solidFill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42 CuadroTexto"/>
            <p:cNvSpPr txBox="1"/>
            <p:nvPr/>
          </p:nvSpPr>
          <p:spPr>
            <a:xfrm>
              <a:off x="5986939" y="1658670"/>
              <a:ext cx="2376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dirty="0" err="1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miMarco</a:t>
              </a:r>
              <a:endParaRPr lang="es-ES" sz="1600" b="1" dirty="0">
                <a:solidFill>
                  <a:srgbClr val="002060"/>
                </a:solidFill>
              </a:endParaRPr>
            </a:p>
          </p:txBody>
        </p:sp>
        <p:sp>
          <p:nvSpPr>
            <p:cNvPr id="44" name="43 CuadroTexto"/>
            <p:cNvSpPr txBox="1"/>
            <p:nvPr/>
          </p:nvSpPr>
          <p:spPr>
            <a:xfrm>
              <a:off x="5713421" y="1917674"/>
              <a:ext cx="29523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 err="1">
                  <a:solidFill>
                    <a:schemeClr val="bg1"/>
                  </a:solidFill>
                </a:rPr>
                <a:t>extends</a:t>
              </a:r>
              <a:r>
                <a:rPr lang="es-ES" sz="16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 dirty="0" err="1">
                  <a:solidFill>
                    <a:srgbClr val="002060"/>
                  </a:solidFill>
                </a:rPr>
                <a:t>JFrame</a:t>
              </a:r>
              <a:r>
                <a:rPr lang="es-ES" sz="1600" b="1" dirty="0">
                  <a:solidFill>
                    <a:srgbClr val="002060"/>
                  </a:solidFill>
                </a:rPr>
                <a:t> </a:t>
              </a:r>
            </a:p>
          </p:txBody>
        </p:sp>
      </p:grp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/>
              <a:t>Manejo de Eventos</a:t>
            </a:r>
          </a:p>
        </p:txBody>
      </p:sp>
      <p:sp>
        <p:nvSpPr>
          <p:cNvPr id="6" name="5 Rectángulo redondeado"/>
          <p:cNvSpPr/>
          <p:nvPr/>
        </p:nvSpPr>
        <p:spPr bwMode="auto">
          <a:xfrm>
            <a:off x="5724128" y="3183106"/>
            <a:ext cx="2952328" cy="2016224"/>
          </a:xfrm>
          <a:prstGeom prst="roundRect">
            <a:avLst/>
          </a:prstGeom>
          <a:solidFill>
            <a:srgbClr val="FFE79B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6 CuadroTexto"/>
          <p:cNvSpPr txBox="1"/>
          <p:nvPr/>
        </p:nvSpPr>
        <p:spPr>
          <a:xfrm>
            <a:off x="5997645" y="2463026"/>
            <a:ext cx="24763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ManejadorCampoTexto</a:t>
            </a:r>
            <a:endParaRPr lang="es-ES" sz="1600" b="1" dirty="0">
              <a:solidFill>
                <a:srgbClr val="002060"/>
              </a:solidFill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5724128" y="2751058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 err="1">
                <a:solidFill>
                  <a:schemeClr val="bg1"/>
                </a:solidFill>
              </a:rPr>
              <a:t>implements</a:t>
            </a:r>
            <a:r>
              <a:rPr lang="es-ES" sz="1600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sz="1600" b="1" dirty="0" err="1">
                <a:solidFill>
                  <a:srgbClr val="002060"/>
                </a:solidFill>
              </a:rPr>
              <a:t>ActionListener</a:t>
            </a:r>
            <a:r>
              <a:rPr lang="es-ES" sz="1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9" name="8 Rectángulo"/>
          <p:cNvSpPr/>
          <p:nvPr/>
        </p:nvSpPr>
        <p:spPr bwMode="auto">
          <a:xfrm>
            <a:off x="5942117" y="3831178"/>
            <a:ext cx="2574405" cy="10801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5969179" y="3508013"/>
            <a:ext cx="263526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actionPerformed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evento 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endParaRPr lang="es-ES" sz="15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13" name="12 Rectángulo"/>
          <p:cNvSpPr/>
          <p:nvPr/>
        </p:nvSpPr>
        <p:spPr>
          <a:xfrm>
            <a:off x="5926621" y="4551957"/>
            <a:ext cx="254734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endParaRPr lang="es-ES" sz="1500" dirty="0">
              <a:ea typeface="Adobe Fan Heiti Std B" pitchFamily="34" charset="-128"/>
            </a:endParaRPr>
          </a:p>
        </p:txBody>
      </p:sp>
      <p:cxnSp>
        <p:nvCxnSpPr>
          <p:cNvPr id="14" name="13 Conector recto de flecha"/>
          <p:cNvCxnSpPr/>
          <p:nvPr/>
        </p:nvCxnSpPr>
        <p:spPr bwMode="auto">
          <a:xfrm flipH="1">
            <a:off x="7185777" y="4190519"/>
            <a:ext cx="1" cy="36143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14 Rectángulo"/>
          <p:cNvSpPr/>
          <p:nvPr/>
        </p:nvSpPr>
        <p:spPr>
          <a:xfrm>
            <a:off x="5942117" y="3853452"/>
            <a:ext cx="2547342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5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5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getSource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endParaRPr lang="es-ES" sz="1500" dirty="0">
              <a:latin typeface="Adobe Fan Heiti Std B" pitchFamily="34" charset="-128"/>
              <a:ea typeface="Adobe Fan Heiti Std B" pitchFamily="34" charset="-128"/>
            </a:endParaRPr>
          </a:p>
        </p:txBody>
      </p:sp>
      <p:grpSp>
        <p:nvGrpSpPr>
          <p:cNvPr id="46" name="45 Grupo"/>
          <p:cNvGrpSpPr/>
          <p:nvPr/>
        </p:nvGrpSpPr>
        <p:grpSpPr>
          <a:xfrm>
            <a:off x="2901301" y="2816928"/>
            <a:ext cx="2505767" cy="2680833"/>
            <a:chOff x="2901301" y="2816928"/>
            <a:chExt cx="2505767" cy="2680833"/>
          </a:xfrm>
        </p:grpSpPr>
        <p:sp>
          <p:nvSpPr>
            <p:cNvPr id="17" name="16 Rectángulo redondeado"/>
            <p:cNvSpPr/>
            <p:nvPr/>
          </p:nvSpPr>
          <p:spPr bwMode="auto">
            <a:xfrm>
              <a:off x="2915815" y="3163242"/>
              <a:ext cx="2491253" cy="2016224"/>
            </a:xfrm>
            <a:prstGeom prst="roundRect">
              <a:avLst/>
            </a:prstGeom>
            <a:solidFill>
              <a:schemeClr val="accent5"/>
            </a:solidFill>
            <a:ln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8" name="17 CuadroTexto"/>
            <p:cNvSpPr txBox="1"/>
            <p:nvPr/>
          </p:nvSpPr>
          <p:spPr>
            <a:xfrm>
              <a:off x="2973310" y="5189984"/>
              <a:ext cx="23762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 err="1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ManejadorCampoTexto</a:t>
              </a:r>
              <a:endParaRPr lang="es-ES" sz="1400" b="1" dirty="0">
                <a:solidFill>
                  <a:srgbClr val="002060"/>
                </a:solidFill>
              </a:endParaRPr>
            </a:p>
          </p:txBody>
        </p:sp>
        <p:sp>
          <p:nvSpPr>
            <p:cNvPr id="19" name="18 CuadroTexto"/>
            <p:cNvSpPr txBox="1"/>
            <p:nvPr/>
          </p:nvSpPr>
          <p:spPr>
            <a:xfrm>
              <a:off x="2901301" y="2816928"/>
              <a:ext cx="249125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dirty="0">
                  <a:solidFill>
                    <a:srgbClr val="002060"/>
                  </a:solidFill>
                </a:rPr>
                <a:t>manejador</a:t>
              </a:r>
            </a:p>
          </p:txBody>
        </p:sp>
        <p:sp>
          <p:nvSpPr>
            <p:cNvPr id="21" name="20 Rectángulo"/>
            <p:cNvSpPr/>
            <p:nvPr/>
          </p:nvSpPr>
          <p:spPr>
            <a:xfrm>
              <a:off x="3099779" y="3911248"/>
              <a:ext cx="2123326" cy="3231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5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actionPerformed</a:t>
              </a:r>
              <a:r>
                <a:rPr lang="es-ES" sz="1500" b="1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(</a:t>
              </a:r>
              <a:r>
                <a:rPr lang="es-ES" sz="1500" b="1" dirty="0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b="1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)</a:t>
              </a:r>
              <a:endParaRPr lang="es-ES" sz="1500" b="1" dirty="0"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sp>
        <p:nvSpPr>
          <p:cNvPr id="27" name="26 Rectángulo"/>
          <p:cNvSpPr/>
          <p:nvPr/>
        </p:nvSpPr>
        <p:spPr>
          <a:xfrm>
            <a:off x="323529" y="3104915"/>
            <a:ext cx="187220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6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Texto de Prueba</a:t>
            </a:r>
            <a:endParaRPr lang="es-ES" sz="16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pic>
        <p:nvPicPr>
          <p:cNvPr id="28" name="Picture 4" descr="C:\Users\Raúl\Desktop\Ilustraciones GUI\27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930" y="3457983"/>
            <a:ext cx="1008882" cy="48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35 Rectángulo"/>
          <p:cNvSpPr/>
          <p:nvPr/>
        </p:nvSpPr>
        <p:spPr>
          <a:xfrm>
            <a:off x="1738542" y="2849169"/>
            <a:ext cx="335534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dirty="0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5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addActionListener</a:t>
            </a:r>
            <a:r>
              <a: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                         ) </a:t>
            </a:r>
            <a:endParaRPr lang="es-ES" sz="1500" dirty="0">
              <a:latin typeface="Adobe Fan Heiti Std B" pitchFamily="34" charset="-128"/>
              <a:ea typeface="Adobe Fan Heiti Std B" pitchFamily="34" charset="-128"/>
            </a:endParaRPr>
          </a:p>
        </p:txBody>
      </p:sp>
      <p:cxnSp>
        <p:nvCxnSpPr>
          <p:cNvPr id="40" name="39 Conector recto de flecha"/>
          <p:cNvCxnSpPr/>
          <p:nvPr/>
        </p:nvCxnSpPr>
        <p:spPr bwMode="auto">
          <a:xfrm flipV="1">
            <a:off x="1227156" y="4072831"/>
            <a:ext cx="1976692" cy="47351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9" name="28 Grupo"/>
          <p:cNvGrpSpPr/>
          <p:nvPr/>
        </p:nvGrpSpPr>
        <p:grpSpPr>
          <a:xfrm>
            <a:off x="323529" y="3927732"/>
            <a:ext cx="1729453" cy="1237220"/>
            <a:chOff x="6441286" y="2766414"/>
            <a:chExt cx="1729453" cy="1237220"/>
          </a:xfrm>
        </p:grpSpPr>
        <p:sp>
          <p:nvSpPr>
            <p:cNvPr id="30" name="29 Explosión 1"/>
            <p:cNvSpPr/>
            <p:nvPr/>
          </p:nvSpPr>
          <p:spPr bwMode="auto">
            <a:xfrm>
              <a:off x="6441286" y="2766414"/>
              <a:ext cx="1729453" cy="1237220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1" name="30 Rectángulo"/>
            <p:cNvSpPr/>
            <p:nvPr/>
          </p:nvSpPr>
          <p:spPr>
            <a:xfrm>
              <a:off x="6610278" y="3092914"/>
              <a:ext cx="1415183" cy="5693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500" dirty="0">
                  <a:solidFill>
                    <a:srgbClr val="000000"/>
                  </a:solidFill>
                  <a:latin typeface="Adobe Fan Heiti Std B" pitchFamily="34" charset="-128"/>
                  <a:ea typeface="Adobe Fan Heiti Std B" pitchFamily="34" charset="-128"/>
                </a:rPr>
                <a:t>Evento</a:t>
              </a:r>
              <a:endParaRPr lang="es-ES" sz="1500" dirty="0">
                <a:solidFill>
                  <a:schemeClr val="bg1"/>
                </a:solidFill>
                <a:latin typeface="Adobe Fan Heiti Std B" pitchFamily="34" charset="-128"/>
                <a:ea typeface="Adobe Fan Heiti Std B" pitchFamily="34" charset="-128"/>
              </a:endParaRPr>
            </a:p>
            <a:p>
              <a:pPr algn="ctr"/>
              <a:r>
                <a:rPr lang="es-ES" sz="16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Action</a:t>
              </a:r>
              <a:endParaRPr lang="es-ES" sz="16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cxnSp>
        <p:nvCxnSpPr>
          <p:cNvPr id="41" name="40 Conector recto de flecha"/>
          <p:cNvCxnSpPr/>
          <p:nvPr/>
        </p:nvCxnSpPr>
        <p:spPr bwMode="auto">
          <a:xfrm flipV="1">
            <a:off x="5033075" y="3669595"/>
            <a:ext cx="964571" cy="420099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7" name="46 Flecha derecha"/>
          <p:cNvSpPr/>
          <p:nvPr/>
        </p:nvSpPr>
        <p:spPr bwMode="auto">
          <a:xfrm flipH="1">
            <a:off x="5349574" y="4089694"/>
            <a:ext cx="374554" cy="27575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561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 animBg="1"/>
      <p:bldP spid="10" grpId="0"/>
      <p:bldP spid="13" grpId="0"/>
      <p:bldP spid="15" grpId="0"/>
      <p:bldP spid="27" grpId="0"/>
      <p:bldP spid="36" grpId="0"/>
      <p:bldP spid="4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 txBox="1">
            <a:spLocks/>
          </p:cNvSpPr>
          <p:nvPr/>
        </p:nvSpPr>
        <p:spPr bwMode="white">
          <a:xfrm>
            <a:off x="557077" y="59482"/>
            <a:ext cx="8061523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s-ES" kern="0" dirty="0" err="1"/>
              <a:t>JButton</a:t>
            </a:r>
            <a:r>
              <a:rPr lang="es-ES" sz="1600" kern="0" dirty="0">
                <a:solidFill>
                  <a:srgbClr val="FFFF00"/>
                </a:solidFill>
              </a:rPr>
              <a:t> (Botón)</a:t>
            </a:r>
            <a:endParaRPr lang="es-ES" sz="1600" kern="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076" y="692696"/>
            <a:ext cx="3809524" cy="1396825"/>
          </a:xfrm>
          <a:prstGeom prst="rect">
            <a:avLst/>
          </a:prstGeom>
        </p:spPr>
      </p:pic>
      <p:sp>
        <p:nvSpPr>
          <p:cNvPr id="8" name="66 Rectángulo"/>
          <p:cNvSpPr/>
          <p:nvPr/>
        </p:nvSpPr>
        <p:spPr bwMode="auto">
          <a:xfrm>
            <a:off x="454844" y="2212791"/>
            <a:ext cx="8293620" cy="426048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500" b="1" dirty="0">
                <a:solidFill>
                  <a:srgbClr val="000000"/>
                </a:solidFill>
              </a:rPr>
              <a:t>public class </a:t>
            </a:r>
            <a:r>
              <a:rPr lang="en-US" sz="1500" b="1" dirty="0" err="1">
                <a:solidFill>
                  <a:srgbClr val="0070C0"/>
                </a:solidFill>
              </a:rPr>
              <a:t>MarcoBoton</a:t>
            </a:r>
            <a:r>
              <a:rPr lang="en-US" sz="1500" b="1" dirty="0">
                <a:solidFill>
                  <a:srgbClr val="000000"/>
                </a:solidFill>
              </a:rPr>
              <a:t>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</a:rPr>
              <a:t>extends </a:t>
            </a:r>
            <a:r>
              <a:rPr lang="en-US" sz="1500" b="1" dirty="0" err="1">
                <a:solidFill>
                  <a:srgbClr val="0070C0"/>
                </a:solidFill>
              </a:rPr>
              <a:t>JFrame</a:t>
            </a:r>
            <a:r>
              <a:rPr lang="en-US" sz="1500" b="1" dirty="0">
                <a:solidFill>
                  <a:srgbClr val="000000"/>
                </a:solidFill>
              </a:rPr>
              <a:t> </a:t>
            </a:r>
            <a:r>
              <a:rPr lang="es-ES" sz="1500" b="1" dirty="0">
                <a:solidFill>
                  <a:srgbClr val="000000"/>
                </a:solidFill>
              </a:rPr>
              <a:t>{</a:t>
            </a:r>
          </a:p>
          <a:p>
            <a:r>
              <a:rPr lang="es-ES" sz="1500" dirty="0"/>
              <a:t>    </a:t>
            </a:r>
            <a:r>
              <a:rPr lang="es-ES" sz="1500" dirty="0" err="1"/>
              <a:t>private</a:t>
            </a:r>
            <a:r>
              <a:rPr lang="es-ES" sz="1500" dirty="0"/>
              <a:t> </a:t>
            </a:r>
            <a:r>
              <a:rPr lang="es-ES" sz="1500" dirty="0" err="1">
                <a:solidFill>
                  <a:srgbClr val="0070C0"/>
                </a:solidFill>
              </a:rPr>
              <a:t>JButton</a:t>
            </a:r>
            <a:r>
              <a:rPr lang="es-ES" sz="1500" dirty="0"/>
              <a:t> </a:t>
            </a:r>
            <a:r>
              <a:rPr lang="es-ES" sz="1500" dirty="0" err="1">
                <a:solidFill>
                  <a:srgbClr val="000000"/>
                </a:solidFill>
              </a:rPr>
              <a:t>botonJButtonSimple</a:t>
            </a:r>
            <a:r>
              <a:rPr lang="es-ES" sz="1500" dirty="0"/>
              <a:t>;</a:t>
            </a:r>
          </a:p>
          <a:p>
            <a:r>
              <a:rPr lang="it-IT" sz="1500" dirty="0"/>
              <a:t>    private </a:t>
            </a:r>
            <a:r>
              <a:rPr lang="it-IT" sz="1500" dirty="0">
                <a:solidFill>
                  <a:srgbClr val="0070C0"/>
                </a:solidFill>
              </a:rPr>
              <a:t>JButton</a:t>
            </a:r>
            <a:r>
              <a:rPr lang="it-IT" sz="1500" dirty="0"/>
              <a:t> </a:t>
            </a:r>
            <a:r>
              <a:rPr lang="es-ES" sz="1500" dirty="0" err="1">
                <a:solidFill>
                  <a:srgbClr val="000000"/>
                </a:solidFill>
              </a:rPr>
              <a:t>bo</a:t>
            </a:r>
            <a:r>
              <a:rPr lang="it-IT" sz="1500" dirty="0">
                <a:solidFill>
                  <a:srgbClr val="000000"/>
                </a:solidFill>
              </a:rPr>
              <a:t>tonJButtonElegante</a:t>
            </a:r>
            <a:r>
              <a:rPr lang="es-ES" sz="1500" dirty="0"/>
              <a:t>;</a:t>
            </a:r>
          </a:p>
          <a:p>
            <a:endParaRPr lang="es-ES" sz="1500" dirty="0"/>
          </a:p>
          <a:p>
            <a:r>
              <a:rPr lang="es-ES" sz="1500" dirty="0"/>
              <a:t>    </a:t>
            </a:r>
            <a:r>
              <a:rPr lang="es-ES" sz="1500" b="1" dirty="0" err="1">
                <a:solidFill>
                  <a:srgbClr val="000000"/>
                </a:solidFill>
              </a:rPr>
              <a:t>public</a:t>
            </a:r>
            <a:r>
              <a:rPr lang="es-ES" sz="1500" b="1" dirty="0">
                <a:solidFill>
                  <a:srgbClr val="000000"/>
                </a:solidFill>
              </a:rPr>
              <a:t> </a:t>
            </a:r>
            <a:r>
              <a:rPr lang="es-ES" sz="1500" b="1" dirty="0" err="1">
                <a:solidFill>
                  <a:srgbClr val="000000"/>
                </a:solidFill>
              </a:rPr>
              <a:t>MarcoBoton</a:t>
            </a:r>
            <a:r>
              <a:rPr lang="es-ES" sz="1500" b="1" dirty="0">
                <a:solidFill>
                  <a:srgbClr val="000000"/>
                </a:solidFill>
              </a:rPr>
              <a:t>() {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FF0000"/>
                </a:solidFill>
              </a:rPr>
              <a:t>super</a:t>
            </a:r>
            <a:r>
              <a:rPr lang="es-ES" sz="1500" dirty="0">
                <a:solidFill>
                  <a:srgbClr val="FF00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00B050"/>
                </a:solidFill>
              </a:rPr>
              <a:t>"Prueba de botones"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FF0000"/>
                </a:solidFill>
              </a:rPr>
              <a:t>setLayout</a:t>
            </a:r>
            <a:r>
              <a:rPr lang="es-ES" sz="1500" dirty="0">
                <a:solidFill>
                  <a:srgbClr val="FF0000"/>
                </a:solidFill>
              </a:rPr>
              <a:t>(</a:t>
            </a:r>
            <a:r>
              <a:rPr lang="es-ES" sz="1500" dirty="0"/>
              <a:t> new </a:t>
            </a:r>
            <a:r>
              <a:rPr lang="es-ES" sz="1500" dirty="0" err="1"/>
              <a:t>FlowLayout</a:t>
            </a:r>
            <a:r>
              <a:rPr lang="es-ES" sz="1500" dirty="0"/>
              <a:t>()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 </a:t>
            </a:r>
          </a:p>
          <a:p>
            <a:r>
              <a:rPr lang="es-ES" sz="1500" dirty="0"/>
              <a:t>        …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000000"/>
                </a:solidFill>
              </a:rPr>
              <a:t>botonJButtonSimple</a:t>
            </a:r>
            <a:r>
              <a:rPr lang="es-ES" sz="1500" dirty="0"/>
              <a:t> = new </a:t>
            </a:r>
            <a:r>
              <a:rPr lang="es-ES" sz="1500" dirty="0" err="1"/>
              <a:t>JButton</a:t>
            </a:r>
            <a:r>
              <a:rPr lang="es-ES" sz="1500" dirty="0"/>
              <a:t>( </a:t>
            </a:r>
            <a:r>
              <a:rPr lang="es-ES" sz="1500" dirty="0">
                <a:solidFill>
                  <a:srgbClr val="FF0000"/>
                </a:solidFill>
              </a:rPr>
              <a:t>"</a:t>
            </a:r>
            <a:r>
              <a:rPr lang="es-ES" sz="1500" dirty="0" err="1">
                <a:solidFill>
                  <a:srgbClr val="FF0000"/>
                </a:solidFill>
              </a:rPr>
              <a:t>Boton</a:t>
            </a:r>
            <a:r>
              <a:rPr lang="es-ES" sz="1500" dirty="0">
                <a:solidFill>
                  <a:srgbClr val="FF0000"/>
                </a:solidFill>
              </a:rPr>
              <a:t> simple" </a:t>
            </a:r>
            <a:r>
              <a:rPr lang="es-ES" sz="1500" dirty="0"/>
              <a:t>); 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FF0000"/>
                </a:solidFill>
              </a:rPr>
              <a:t>add</a:t>
            </a:r>
            <a:r>
              <a:rPr lang="es-ES" sz="1500" dirty="0">
                <a:solidFill>
                  <a:srgbClr val="FF00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dirty="0" err="1">
                <a:solidFill>
                  <a:srgbClr val="000000"/>
                </a:solidFill>
              </a:rPr>
              <a:t>botonJButtonSimple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 </a:t>
            </a:r>
          </a:p>
          <a:p>
            <a:r>
              <a:rPr lang="en-US" sz="1500" dirty="0"/>
              <a:t>        </a:t>
            </a:r>
            <a:r>
              <a:rPr lang="en-US" sz="1500" dirty="0">
                <a:solidFill>
                  <a:srgbClr val="0070C0"/>
                </a:solidFill>
              </a:rPr>
              <a:t>Icon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000000"/>
                </a:solidFill>
              </a:rPr>
              <a:t>insecto1</a:t>
            </a:r>
            <a:r>
              <a:rPr lang="en-US" sz="1500" dirty="0"/>
              <a:t> = new </a:t>
            </a:r>
            <a:r>
              <a:rPr lang="en-US" sz="1500" dirty="0" err="1"/>
              <a:t>ImageIcon</a:t>
            </a:r>
            <a:r>
              <a:rPr lang="en-US" sz="1500" dirty="0"/>
              <a:t>( </a:t>
            </a:r>
            <a:r>
              <a:rPr lang="en-US" sz="1500" dirty="0" err="1">
                <a:solidFill>
                  <a:srgbClr val="FF0000"/>
                </a:solidFill>
              </a:rPr>
              <a:t>getClass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  <a:r>
              <a:rPr lang="en-US" sz="1500" b="1" dirty="0">
                <a:solidFill>
                  <a:schemeClr val="tx1"/>
                </a:solidFill>
              </a:rPr>
              <a:t>.</a:t>
            </a:r>
            <a:r>
              <a:rPr lang="en-US" sz="1500" dirty="0" err="1">
                <a:solidFill>
                  <a:srgbClr val="FF0000"/>
                </a:solidFill>
              </a:rPr>
              <a:t>getResource</a:t>
            </a:r>
            <a:r>
              <a:rPr lang="en-US" sz="1500" dirty="0">
                <a:solidFill>
                  <a:srgbClr val="FF0000"/>
                </a:solidFill>
              </a:rPr>
              <a:t>( </a:t>
            </a:r>
            <a:r>
              <a:rPr lang="en-US" sz="1500" dirty="0">
                <a:solidFill>
                  <a:srgbClr val="00B050"/>
                </a:solidFill>
              </a:rPr>
              <a:t>"insecto1.gif" </a:t>
            </a:r>
            <a:r>
              <a:rPr lang="en-US" sz="1500" dirty="0">
                <a:solidFill>
                  <a:srgbClr val="FF0000"/>
                </a:solidFill>
              </a:rPr>
              <a:t>) </a:t>
            </a:r>
            <a:r>
              <a:rPr lang="en-US" sz="1500" dirty="0"/>
              <a:t>);</a:t>
            </a:r>
            <a:endParaRPr lang="es-ES" sz="1500" dirty="0"/>
          </a:p>
          <a:p>
            <a:r>
              <a:rPr lang="en-US" sz="1500" dirty="0"/>
              <a:t>        </a:t>
            </a:r>
            <a:r>
              <a:rPr lang="en-US" sz="1500" dirty="0">
                <a:solidFill>
                  <a:srgbClr val="0070C0"/>
                </a:solidFill>
              </a:rPr>
              <a:t>Icon</a:t>
            </a:r>
            <a:r>
              <a:rPr lang="en-US" sz="1500" dirty="0"/>
              <a:t> </a:t>
            </a:r>
            <a:r>
              <a:rPr lang="en-US" sz="1500" dirty="0">
                <a:solidFill>
                  <a:srgbClr val="000000"/>
                </a:solidFill>
              </a:rPr>
              <a:t>insecto2</a:t>
            </a:r>
            <a:r>
              <a:rPr lang="en-US" sz="1500" dirty="0"/>
              <a:t> = new </a:t>
            </a:r>
            <a:r>
              <a:rPr lang="en-US" sz="1500" dirty="0" err="1"/>
              <a:t>ImageIcon</a:t>
            </a:r>
            <a:r>
              <a:rPr lang="en-US" sz="1500" dirty="0"/>
              <a:t>( </a:t>
            </a:r>
            <a:r>
              <a:rPr lang="en-US" sz="1500" dirty="0" err="1">
                <a:solidFill>
                  <a:srgbClr val="FF0000"/>
                </a:solidFill>
              </a:rPr>
              <a:t>getClass</a:t>
            </a:r>
            <a:r>
              <a:rPr lang="en-US" sz="1500" dirty="0">
                <a:solidFill>
                  <a:srgbClr val="FF0000"/>
                </a:solidFill>
              </a:rPr>
              <a:t>()</a:t>
            </a:r>
            <a:r>
              <a:rPr lang="en-US" sz="1500" b="1" dirty="0">
                <a:solidFill>
                  <a:schemeClr val="tx1"/>
                </a:solidFill>
              </a:rPr>
              <a:t>.</a:t>
            </a:r>
            <a:r>
              <a:rPr lang="en-US" sz="1500" dirty="0" err="1">
                <a:solidFill>
                  <a:srgbClr val="FF0000"/>
                </a:solidFill>
              </a:rPr>
              <a:t>getResource</a:t>
            </a:r>
            <a:r>
              <a:rPr lang="en-US" sz="1500" dirty="0">
                <a:solidFill>
                  <a:srgbClr val="FF0000"/>
                </a:solidFill>
              </a:rPr>
              <a:t>( </a:t>
            </a:r>
            <a:r>
              <a:rPr lang="en-US" sz="1500" dirty="0">
                <a:solidFill>
                  <a:srgbClr val="00B050"/>
                </a:solidFill>
              </a:rPr>
              <a:t>"insecto2.gif" </a:t>
            </a:r>
            <a:r>
              <a:rPr lang="en-US" sz="1500" dirty="0">
                <a:solidFill>
                  <a:srgbClr val="FF0000"/>
                </a:solidFill>
              </a:rPr>
              <a:t>) </a:t>
            </a:r>
            <a:r>
              <a:rPr lang="en-US" sz="1500" dirty="0"/>
              <a:t>);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000000"/>
                </a:solidFill>
              </a:rPr>
              <a:t>botonJButtonElegante</a:t>
            </a:r>
            <a:r>
              <a:rPr lang="es-ES" sz="1500" dirty="0"/>
              <a:t> = new </a:t>
            </a:r>
            <a:r>
              <a:rPr lang="es-ES" sz="1500" dirty="0" err="1"/>
              <a:t>JButton</a:t>
            </a:r>
            <a:r>
              <a:rPr lang="es-ES" sz="1500" dirty="0"/>
              <a:t>( </a:t>
            </a:r>
            <a:r>
              <a:rPr lang="es-ES" sz="1500" dirty="0">
                <a:solidFill>
                  <a:srgbClr val="00B050"/>
                </a:solidFill>
              </a:rPr>
              <a:t>"</a:t>
            </a:r>
            <a:r>
              <a:rPr lang="es-ES" sz="1500" dirty="0" err="1">
                <a:solidFill>
                  <a:srgbClr val="00B050"/>
                </a:solidFill>
              </a:rPr>
              <a:t>Boton</a:t>
            </a:r>
            <a:r>
              <a:rPr lang="es-ES" sz="1500" dirty="0">
                <a:solidFill>
                  <a:srgbClr val="00B050"/>
                </a:solidFill>
              </a:rPr>
              <a:t> elegante"</a:t>
            </a:r>
            <a:r>
              <a:rPr lang="es-ES" sz="1500" dirty="0"/>
              <a:t>, </a:t>
            </a:r>
            <a:r>
              <a:rPr lang="es-ES" sz="1500" dirty="0">
                <a:solidFill>
                  <a:srgbClr val="000000"/>
                </a:solidFill>
              </a:rPr>
              <a:t>insecto1</a:t>
            </a:r>
            <a:r>
              <a:rPr lang="es-ES" sz="1500" dirty="0"/>
              <a:t> ); 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000000"/>
                </a:solidFill>
              </a:rPr>
              <a:t>botonJButtonElegante</a:t>
            </a:r>
            <a:r>
              <a:rPr lang="es-ES" sz="1500" dirty="0" err="1"/>
              <a:t>.</a:t>
            </a:r>
            <a:r>
              <a:rPr lang="es-ES" sz="1500" dirty="0" err="1">
                <a:solidFill>
                  <a:srgbClr val="FF0000"/>
                </a:solidFill>
              </a:rPr>
              <a:t>setRolloverIcon</a:t>
            </a:r>
            <a:r>
              <a:rPr lang="es-ES" sz="1500" dirty="0">
                <a:solidFill>
                  <a:srgbClr val="FF00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000000"/>
                </a:solidFill>
              </a:rPr>
              <a:t>insecto2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 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FF0000"/>
                </a:solidFill>
              </a:rPr>
              <a:t>add</a:t>
            </a:r>
            <a:r>
              <a:rPr lang="es-ES" sz="1500" dirty="0">
                <a:solidFill>
                  <a:srgbClr val="FF00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dirty="0" err="1">
                <a:solidFill>
                  <a:srgbClr val="000000"/>
                </a:solidFill>
              </a:rPr>
              <a:t>botonJButtonElegante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</a:t>
            </a:r>
          </a:p>
          <a:p>
            <a:r>
              <a:rPr lang="es-ES" sz="1500" dirty="0"/>
              <a:t>    </a:t>
            </a:r>
            <a:r>
              <a:rPr lang="es-ES" sz="1500" b="1" dirty="0">
                <a:solidFill>
                  <a:srgbClr val="000000"/>
                </a:solidFill>
              </a:rPr>
              <a:t>}</a:t>
            </a:r>
            <a:r>
              <a:rPr lang="es-ES" sz="1500" dirty="0"/>
              <a:t> </a:t>
            </a:r>
          </a:p>
          <a:p>
            <a:endParaRPr lang="es-ES" sz="1500" dirty="0"/>
          </a:p>
          <a:p>
            <a:r>
              <a:rPr lang="es-ES" sz="1500" b="1" dirty="0">
                <a:solidFill>
                  <a:srgbClr val="000000"/>
                </a:solidFill>
              </a:rPr>
              <a:t>} </a:t>
            </a:r>
            <a:endParaRPr kumimoji="0" lang="es-ES" sz="15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760" y="1147985"/>
            <a:ext cx="2069841" cy="660317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 bwMode="auto">
          <a:xfrm>
            <a:off x="4262760" y="1147985"/>
            <a:ext cx="2099940" cy="718915"/>
          </a:xfrm>
          <a:prstGeom prst="rect">
            <a:avLst/>
          </a:prstGeom>
          <a:solidFill>
            <a:srgbClr val="EFEF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468" y="1575845"/>
            <a:ext cx="401516" cy="464913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C32AC657-138F-3944-ACD9-CB86CF9E663A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ExampleGUI7</a:t>
            </a:r>
          </a:p>
        </p:txBody>
      </p:sp>
    </p:spTree>
    <p:extLst>
      <p:ext uri="{BB962C8B-B14F-4D97-AF65-F5344CB8AC3E}">
        <p14:creationId xmlns:p14="http://schemas.microsoft.com/office/powerpoint/2010/main" val="323185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59259E-6 L 3.33333E-6 0.06504 " pathEditMode="relative" rAng="0" ptsTypes="AA">
                                      <p:cBhvr>
                                        <p:cTn id="8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241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" presetClass="exit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 animBg="1"/>
      <p:bldP spid="10" grpId="0" uiExpan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/>
          <p:cNvSpPr txBox="1">
            <a:spLocks/>
          </p:cNvSpPr>
          <p:nvPr/>
        </p:nvSpPr>
        <p:spPr bwMode="white">
          <a:xfrm>
            <a:off x="557077" y="59482"/>
            <a:ext cx="8061523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>
            <a:lvl1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2pPr>
            <a:lvl3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3pPr>
            <a:lvl4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4pPr>
            <a:lvl5pPr algn="ctr" defTabSz="957263" rtl="0" fontAlgn="base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5pPr>
            <a:lvl6pPr marL="4572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6pPr>
            <a:lvl7pPr marL="9144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7pPr>
            <a:lvl8pPr marL="13716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8pPr>
            <a:lvl9pPr marL="1828800" algn="ctr" defTabSz="957263" rtl="0" eaLnBrk="1" fontAlgn="base" hangingPunct="1">
              <a:spcBef>
                <a:spcPct val="0"/>
              </a:spcBef>
              <a:spcAft>
                <a:spcPct val="0"/>
              </a:spcAft>
              <a:defRPr sz="2900" b="1">
                <a:solidFill>
                  <a:schemeClr val="bg1"/>
                </a:solidFill>
                <a:latin typeface="Arial" charset="0"/>
              </a:defRPr>
            </a:lvl9pPr>
          </a:lstStyle>
          <a:p>
            <a:r>
              <a:rPr lang="es-ES" kern="0"/>
              <a:t>Eventos de JButton</a:t>
            </a:r>
            <a:endParaRPr lang="es-ES" sz="1600" kern="0" dirty="0"/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3076" y="692696"/>
            <a:ext cx="3809524" cy="1396825"/>
          </a:xfrm>
          <a:prstGeom prst="rect">
            <a:avLst/>
          </a:prstGeom>
        </p:spPr>
      </p:pic>
      <p:sp>
        <p:nvSpPr>
          <p:cNvPr id="20" name="66 Rectángulo"/>
          <p:cNvSpPr/>
          <p:nvPr/>
        </p:nvSpPr>
        <p:spPr bwMode="auto">
          <a:xfrm>
            <a:off x="454844" y="2212791"/>
            <a:ext cx="8293620" cy="426048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1500" b="1" dirty="0">
                <a:solidFill>
                  <a:srgbClr val="000000"/>
                </a:solidFill>
              </a:rPr>
              <a:t>public class </a:t>
            </a:r>
            <a:r>
              <a:rPr lang="en-US" sz="1500" b="1" dirty="0" err="1">
                <a:solidFill>
                  <a:srgbClr val="0070C0"/>
                </a:solidFill>
              </a:rPr>
              <a:t>MarcoBoton</a:t>
            </a:r>
            <a:r>
              <a:rPr lang="en-US" sz="1500" b="1" dirty="0">
                <a:solidFill>
                  <a:srgbClr val="000000"/>
                </a:solidFill>
              </a:rPr>
              <a:t> </a:t>
            </a:r>
            <a:r>
              <a:rPr lang="en-US" sz="1500" b="1" dirty="0">
                <a:solidFill>
                  <a:schemeClr val="bg1">
                    <a:lumMod val="50000"/>
                  </a:schemeClr>
                </a:solidFill>
              </a:rPr>
              <a:t>extends </a:t>
            </a:r>
            <a:r>
              <a:rPr lang="en-US" sz="1500" b="1" dirty="0" err="1">
                <a:solidFill>
                  <a:srgbClr val="0070C0"/>
                </a:solidFill>
              </a:rPr>
              <a:t>JFrame</a:t>
            </a:r>
            <a:r>
              <a:rPr lang="en-US" sz="1500" b="1" dirty="0">
                <a:solidFill>
                  <a:srgbClr val="000000"/>
                </a:solidFill>
              </a:rPr>
              <a:t> </a:t>
            </a:r>
            <a:r>
              <a:rPr lang="es-ES" sz="1500" b="1" dirty="0">
                <a:solidFill>
                  <a:srgbClr val="000000"/>
                </a:solidFill>
              </a:rPr>
              <a:t>{</a:t>
            </a:r>
          </a:p>
          <a:p>
            <a:r>
              <a:rPr lang="es-ES" sz="1500" dirty="0"/>
              <a:t>    </a:t>
            </a:r>
            <a:r>
              <a:rPr lang="es-ES" sz="1500" dirty="0" err="1"/>
              <a:t>private</a:t>
            </a:r>
            <a:r>
              <a:rPr lang="es-ES" sz="1500" dirty="0"/>
              <a:t> </a:t>
            </a:r>
            <a:r>
              <a:rPr lang="es-ES" sz="1500" dirty="0" err="1">
                <a:solidFill>
                  <a:srgbClr val="0070C0"/>
                </a:solidFill>
              </a:rPr>
              <a:t>JButton</a:t>
            </a:r>
            <a:r>
              <a:rPr lang="es-ES" sz="1500" dirty="0"/>
              <a:t> </a:t>
            </a:r>
            <a:r>
              <a:rPr lang="es-ES" sz="1500" dirty="0" err="1">
                <a:solidFill>
                  <a:srgbClr val="000000"/>
                </a:solidFill>
              </a:rPr>
              <a:t>botonJButtonSimple</a:t>
            </a:r>
            <a:r>
              <a:rPr lang="es-ES" sz="1500" dirty="0"/>
              <a:t>, </a:t>
            </a:r>
            <a:r>
              <a:rPr lang="es-ES" sz="1500" dirty="0" err="1">
                <a:solidFill>
                  <a:srgbClr val="000000"/>
                </a:solidFill>
              </a:rPr>
              <a:t>bo</a:t>
            </a:r>
            <a:r>
              <a:rPr lang="it-IT" sz="1500" dirty="0">
                <a:solidFill>
                  <a:srgbClr val="000000"/>
                </a:solidFill>
              </a:rPr>
              <a:t>tonJButtonElegante</a:t>
            </a:r>
            <a:r>
              <a:rPr lang="es-ES" sz="1500" dirty="0"/>
              <a:t>;</a:t>
            </a:r>
          </a:p>
          <a:p>
            <a:endParaRPr lang="es-ES" sz="1500" dirty="0"/>
          </a:p>
          <a:p>
            <a:r>
              <a:rPr lang="es-ES" sz="1500" dirty="0"/>
              <a:t>    </a:t>
            </a:r>
            <a:r>
              <a:rPr lang="es-ES" sz="1500" b="1" dirty="0" err="1">
                <a:solidFill>
                  <a:srgbClr val="000000"/>
                </a:solidFill>
              </a:rPr>
              <a:t>public</a:t>
            </a:r>
            <a:r>
              <a:rPr lang="es-ES" sz="1500" b="1" dirty="0">
                <a:solidFill>
                  <a:srgbClr val="000000"/>
                </a:solidFill>
              </a:rPr>
              <a:t> </a:t>
            </a:r>
            <a:r>
              <a:rPr lang="es-ES" sz="1500" b="1" dirty="0" err="1">
                <a:solidFill>
                  <a:srgbClr val="000000"/>
                </a:solidFill>
              </a:rPr>
              <a:t>MarcoBoton</a:t>
            </a:r>
            <a:r>
              <a:rPr lang="es-ES" sz="1500" b="1" dirty="0">
                <a:solidFill>
                  <a:srgbClr val="000000"/>
                </a:solidFill>
              </a:rPr>
              <a:t>() {</a:t>
            </a:r>
          </a:p>
          <a:p>
            <a:r>
              <a:rPr lang="es-ES" sz="1500" dirty="0"/>
              <a:t>        …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0070C0"/>
                </a:solidFill>
              </a:rPr>
              <a:t>ManejadorBoton</a:t>
            </a:r>
            <a:r>
              <a:rPr lang="es-ES" sz="1500" dirty="0"/>
              <a:t> </a:t>
            </a:r>
            <a:r>
              <a:rPr lang="es-ES" sz="1500" b="1" dirty="0">
                <a:solidFill>
                  <a:srgbClr val="000000"/>
                </a:solidFill>
              </a:rPr>
              <a:t>manejador</a:t>
            </a:r>
            <a:r>
              <a:rPr lang="es-ES" sz="1500" dirty="0"/>
              <a:t> = new </a:t>
            </a:r>
            <a:r>
              <a:rPr lang="es-ES" sz="1500" dirty="0" err="1"/>
              <a:t>ManejadorBoton</a:t>
            </a:r>
            <a:r>
              <a:rPr lang="es-ES" sz="1500" dirty="0"/>
              <a:t>();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000000"/>
                </a:solidFill>
              </a:rPr>
              <a:t>botonJButtonSimple</a:t>
            </a:r>
            <a:r>
              <a:rPr lang="es-ES" sz="1500" dirty="0" err="1"/>
              <a:t>.</a:t>
            </a:r>
            <a:r>
              <a:rPr lang="es-ES" sz="1500" dirty="0" err="1">
                <a:solidFill>
                  <a:srgbClr val="FF0000"/>
                </a:solidFill>
              </a:rPr>
              <a:t>addActionListener</a:t>
            </a:r>
            <a:r>
              <a:rPr lang="es-ES" sz="1500" dirty="0">
                <a:solidFill>
                  <a:srgbClr val="FF00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b="1" dirty="0">
                <a:solidFill>
                  <a:srgbClr val="000000"/>
                </a:solidFill>
              </a:rPr>
              <a:t>manejador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</a:t>
            </a:r>
          </a:p>
          <a:p>
            <a:r>
              <a:rPr lang="es-ES" sz="1500" dirty="0"/>
              <a:t>        </a:t>
            </a:r>
            <a:r>
              <a:rPr lang="es-ES" sz="1500" dirty="0" err="1">
                <a:solidFill>
                  <a:srgbClr val="000000"/>
                </a:solidFill>
              </a:rPr>
              <a:t>botonJButtonElegante</a:t>
            </a:r>
            <a:r>
              <a:rPr lang="es-ES" sz="1500" dirty="0" err="1"/>
              <a:t>.</a:t>
            </a:r>
            <a:r>
              <a:rPr lang="es-ES" sz="1500" dirty="0" err="1">
                <a:solidFill>
                  <a:srgbClr val="FF0000"/>
                </a:solidFill>
              </a:rPr>
              <a:t>addActionListener</a:t>
            </a:r>
            <a:r>
              <a:rPr lang="es-ES" sz="1500" dirty="0">
                <a:solidFill>
                  <a:srgbClr val="FF0000"/>
                </a:solidFill>
              </a:rPr>
              <a:t>(</a:t>
            </a:r>
            <a:r>
              <a:rPr lang="es-ES" sz="1500" dirty="0"/>
              <a:t> </a:t>
            </a:r>
            <a:r>
              <a:rPr lang="es-ES" sz="1500" b="1" dirty="0">
                <a:solidFill>
                  <a:srgbClr val="000000"/>
                </a:solidFill>
              </a:rPr>
              <a:t>manejador</a:t>
            </a:r>
            <a:r>
              <a:rPr lang="es-ES" sz="1500" dirty="0"/>
              <a:t> </a:t>
            </a:r>
            <a:r>
              <a:rPr lang="es-ES" sz="1500" dirty="0">
                <a:solidFill>
                  <a:srgbClr val="FF0000"/>
                </a:solidFill>
              </a:rPr>
              <a:t>)</a:t>
            </a:r>
            <a:r>
              <a:rPr lang="es-ES" sz="1500" dirty="0"/>
              <a:t>; </a:t>
            </a:r>
          </a:p>
          <a:p>
            <a:r>
              <a:rPr lang="es-ES" sz="1500" dirty="0"/>
              <a:t>    </a:t>
            </a:r>
            <a:r>
              <a:rPr lang="es-ES" sz="1500" b="1" dirty="0">
                <a:solidFill>
                  <a:srgbClr val="000000"/>
                </a:solidFill>
              </a:rPr>
              <a:t>}</a:t>
            </a:r>
            <a:r>
              <a:rPr lang="es-ES" sz="1500" dirty="0"/>
              <a:t> </a:t>
            </a:r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dirty="0"/>
          </a:p>
          <a:p>
            <a:endParaRPr lang="es-ES" sz="1500" b="1" dirty="0">
              <a:solidFill>
                <a:srgbClr val="000000"/>
              </a:solidFill>
            </a:endParaRPr>
          </a:p>
          <a:p>
            <a:r>
              <a:rPr lang="es-ES" sz="1500" b="1" dirty="0">
                <a:solidFill>
                  <a:srgbClr val="000000"/>
                </a:solidFill>
              </a:rPr>
              <a:t>} </a:t>
            </a:r>
            <a:endParaRPr kumimoji="0" lang="es-ES" sz="15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</a:endParaRPr>
          </a:p>
        </p:txBody>
      </p:sp>
      <p:pic>
        <p:nvPicPr>
          <p:cNvPr id="21" name="Imagen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760" y="1147985"/>
            <a:ext cx="2069841" cy="660317"/>
          </a:xfrm>
          <a:prstGeom prst="rect">
            <a:avLst/>
          </a:prstGeom>
        </p:spPr>
      </p:pic>
      <p:pic>
        <p:nvPicPr>
          <p:cNvPr id="22" name="Imagen 2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343" y="1485735"/>
            <a:ext cx="401516" cy="464913"/>
          </a:xfrm>
          <a:prstGeom prst="rect">
            <a:avLst/>
          </a:prstGeom>
        </p:spPr>
      </p:pic>
      <p:grpSp>
        <p:nvGrpSpPr>
          <p:cNvPr id="23" name="Grupo 22"/>
          <p:cNvGrpSpPr/>
          <p:nvPr/>
        </p:nvGrpSpPr>
        <p:grpSpPr>
          <a:xfrm>
            <a:off x="7167045" y="2014949"/>
            <a:ext cx="1401259" cy="1774091"/>
            <a:chOff x="6588224" y="3239085"/>
            <a:chExt cx="1401259" cy="1774091"/>
          </a:xfrm>
        </p:grpSpPr>
        <p:sp>
          <p:nvSpPr>
            <p:cNvPr id="24" name="Elipse 23"/>
            <p:cNvSpPr/>
            <p:nvPr/>
          </p:nvSpPr>
          <p:spPr bwMode="auto">
            <a:xfrm>
              <a:off x="6894520" y="3876842"/>
              <a:ext cx="792088" cy="792088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19 Rectángulo"/>
            <p:cNvSpPr/>
            <p:nvPr/>
          </p:nvSpPr>
          <p:spPr>
            <a:xfrm>
              <a:off x="6588224" y="4674622"/>
              <a:ext cx="140125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b="1">
                  <a:latin typeface="Adobe Fan Heiti Std B" pitchFamily="34" charset="-128"/>
                  <a:ea typeface="Adobe Fan Heiti Std B" pitchFamily="34" charset="-128"/>
                </a:rPr>
                <a:t>manejador</a:t>
              </a:r>
              <a:endParaRPr lang="es-ES" sz="1600" b="1" dirty="0">
                <a:latin typeface="Adobe Fan Heiti Std B" pitchFamily="34" charset="-128"/>
                <a:ea typeface="Adobe Fan Heiti Std B" pitchFamily="34" charset="-128"/>
              </a:endParaRPr>
            </a:p>
          </p:txBody>
        </p:sp>
        <p:cxnSp>
          <p:nvCxnSpPr>
            <p:cNvPr id="26" name="Conector recto de flecha 25"/>
            <p:cNvCxnSpPr>
              <a:endCxn id="24" idx="0"/>
            </p:cNvCxnSpPr>
            <p:nvPr/>
          </p:nvCxnSpPr>
          <p:spPr bwMode="auto">
            <a:xfrm>
              <a:off x="7288853" y="3239085"/>
              <a:ext cx="1711" cy="637757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lg" len="lg"/>
              <a:tailEnd type="triangle" w="lg" len="lg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28 Grupo"/>
          <p:cNvGrpSpPr/>
          <p:nvPr/>
        </p:nvGrpSpPr>
        <p:grpSpPr>
          <a:xfrm>
            <a:off x="6883716" y="1372319"/>
            <a:ext cx="2016855" cy="912782"/>
            <a:chOff x="3707273" y="1474516"/>
            <a:chExt cx="1729453" cy="912782"/>
          </a:xfrm>
        </p:grpSpPr>
        <p:sp>
          <p:nvSpPr>
            <p:cNvPr id="28" name="41 Explosión 1"/>
            <p:cNvSpPr/>
            <p:nvPr/>
          </p:nvSpPr>
          <p:spPr bwMode="auto">
            <a:xfrm>
              <a:off x="3707273" y="1474516"/>
              <a:ext cx="1729453" cy="91278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42 Rectángulo"/>
            <p:cNvSpPr/>
            <p:nvPr/>
          </p:nvSpPr>
          <p:spPr>
            <a:xfrm>
              <a:off x="3883035" y="1742580"/>
              <a:ext cx="141518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b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actionEvent</a:t>
              </a:r>
              <a:endParaRPr lang="es-ES" sz="16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sp>
        <p:nvSpPr>
          <p:cNvPr id="30" name="Rectángulo 29"/>
          <p:cNvSpPr/>
          <p:nvPr/>
        </p:nvSpPr>
        <p:spPr>
          <a:xfrm>
            <a:off x="738881" y="4437112"/>
            <a:ext cx="80001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dirty="0" err="1">
                <a:solidFill>
                  <a:srgbClr val="000000"/>
                </a:solidFill>
                <a:latin typeface="+mn-lt"/>
              </a:rPr>
              <a:t>private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sz="1500" b="1" dirty="0" err="1">
                <a:solidFill>
                  <a:srgbClr val="000000"/>
                </a:solidFill>
                <a:latin typeface="+mn-lt"/>
              </a:rPr>
              <a:t>class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sz="1500" b="1" dirty="0" err="1">
                <a:solidFill>
                  <a:srgbClr val="0070C0"/>
                </a:solidFill>
                <a:latin typeface="+mn-lt"/>
              </a:rPr>
              <a:t>ManejadorBoton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s-ES" sz="1500" b="1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implements</a:t>
            </a:r>
            <a:r>
              <a:rPr lang="es-ES" sz="15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s-ES" sz="1500" b="1" dirty="0" err="1">
                <a:solidFill>
                  <a:srgbClr val="0070C0"/>
                </a:solidFill>
                <a:latin typeface="+mn-lt"/>
              </a:rPr>
              <a:t>ActionListener</a:t>
            </a:r>
            <a:r>
              <a:rPr lang="es-ES" sz="1500" b="1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 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{</a:t>
            </a:r>
          </a:p>
          <a:p>
            <a:r>
              <a:rPr lang="en-US" sz="1500" dirty="0">
                <a:latin typeface="+mn-lt"/>
              </a:rPr>
              <a:t>    </a:t>
            </a:r>
            <a:r>
              <a:rPr lang="en-US" sz="1500" b="1" dirty="0">
                <a:solidFill>
                  <a:srgbClr val="000000"/>
                </a:solidFill>
                <a:latin typeface="+mn-lt"/>
              </a:rPr>
              <a:t>public void </a:t>
            </a:r>
            <a:r>
              <a:rPr lang="en-US" sz="1500" b="1" dirty="0" err="1">
                <a:solidFill>
                  <a:srgbClr val="000000"/>
                </a:solidFill>
                <a:latin typeface="+mn-lt"/>
              </a:rPr>
              <a:t>actionPerformed</a:t>
            </a:r>
            <a:r>
              <a:rPr lang="en-US" sz="1500" b="1" dirty="0">
                <a:solidFill>
                  <a:srgbClr val="000000"/>
                </a:solidFill>
                <a:latin typeface="+mn-lt"/>
              </a:rPr>
              <a:t>( </a:t>
            </a:r>
            <a:r>
              <a:rPr lang="en-US" sz="1500" b="1" dirty="0" err="1">
                <a:solidFill>
                  <a:srgbClr val="0070C0"/>
                </a:solidFill>
                <a:latin typeface="+mn-lt"/>
              </a:rPr>
              <a:t>ActionEvent</a:t>
            </a:r>
            <a:r>
              <a:rPr lang="en-US" sz="1500" b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1500" b="1" dirty="0" err="1">
                <a:solidFill>
                  <a:srgbClr val="000000"/>
                </a:solidFill>
                <a:latin typeface="+mn-lt"/>
              </a:rPr>
              <a:t>evento</a:t>
            </a:r>
            <a:r>
              <a:rPr lang="en-US" sz="1500" b="1" dirty="0">
                <a:solidFill>
                  <a:srgbClr val="000000"/>
                </a:solidFill>
                <a:latin typeface="+mn-lt"/>
              </a:rPr>
              <a:t> ) 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{</a:t>
            </a:r>
          </a:p>
          <a:p>
            <a:r>
              <a:rPr lang="es-ES" sz="1500" dirty="0">
                <a:latin typeface="+mn-lt"/>
              </a:rPr>
              <a:t>        </a:t>
            </a:r>
            <a:r>
              <a:rPr lang="es-ES" sz="1500" dirty="0" err="1">
                <a:latin typeface="+mn-lt"/>
              </a:rPr>
              <a:t>String</a:t>
            </a:r>
            <a:r>
              <a:rPr lang="es-ES" sz="1500" dirty="0">
                <a:latin typeface="+mn-lt"/>
              </a:rPr>
              <a:t> 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mensaje</a:t>
            </a:r>
            <a:r>
              <a:rPr lang="es-ES" sz="1500" dirty="0">
                <a:latin typeface="+mn-lt"/>
              </a:rPr>
              <a:t> = </a:t>
            </a:r>
            <a:r>
              <a:rPr lang="es-ES" sz="1500" dirty="0" err="1"/>
              <a:t>String</a:t>
            </a:r>
            <a:r>
              <a:rPr lang="es-ES" sz="1500" b="1" dirty="0" err="1"/>
              <a:t>.</a:t>
            </a:r>
            <a:r>
              <a:rPr lang="es-ES" sz="1500" b="1" dirty="0" err="1">
                <a:solidFill>
                  <a:srgbClr val="FF0000"/>
                </a:solidFill>
              </a:rPr>
              <a:t>format</a:t>
            </a:r>
            <a:r>
              <a:rPr lang="es-ES" sz="1500" b="1" dirty="0">
                <a:solidFill>
                  <a:srgbClr val="FF0000"/>
                </a:solidFill>
              </a:rPr>
              <a:t>(</a:t>
            </a:r>
            <a:r>
              <a:rPr lang="es-ES" sz="1400" dirty="0">
                <a:solidFill>
                  <a:srgbClr val="00B050"/>
                </a:solidFill>
              </a:rPr>
              <a:t>"</a:t>
            </a:r>
            <a:r>
              <a:rPr lang="en-US" sz="1400" dirty="0" err="1">
                <a:solidFill>
                  <a:srgbClr val="00B050"/>
                </a:solidFill>
              </a:rPr>
              <a:t>Pulsaste</a:t>
            </a:r>
            <a:r>
              <a:rPr lang="en-US" sz="1400" dirty="0">
                <a:solidFill>
                  <a:srgbClr val="00B050"/>
                </a:solidFill>
              </a:rPr>
              <a:t> el %s"</a:t>
            </a:r>
            <a:r>
              <a:rPr lang="en-US" sz="1400" dirty="0"/>
              <a:t>, </a:t>
            </a:r>
            <a:r>
              <a:rPr lang="en-US" sz="1400" b="1" dirty="0" err="1">
                <a:solidFill>
                  <a:srgbClr val="000000"/>
                </a:solidFill>
              </a:rPr>
              <a:t>evento</a:t>
            </a:r>
            <a:r>
              <a:rPr lang="en-US" sz="1400" dirty="0" err="1"/>
              <a:t>.</a:t>
            </a:r>
            <a:r>
              <a:rPr lang="en-US" sz="1400" dirty="0" err="1">
                <a:solidFill>
                  <a:srgbClr val="FF0000"/>
                </a:solidFill>
              </a:rPr>
              <a:t>getActionCommand</a:t>
            </a:r>
            <a:r>
              <a:rPr lang="en-US" sz="1400" dirty="0">
                <a:solidFill>
                  <a:srgbClr val="FF0000"/>
                </a:solidFill>
              </a:rPr>
              <a:t>()</a:t>
            </a:r>
            <a:r>
              <a:rPr lang="en-US" sz="1400" dirty="0"/>
              <a:t> </a:t>
            </a:r>
            <a:r>
              <a:rPr lang="en-US" sz="1500" b="1" dirty="0">
                <a:solidFill>
                  <a:srgbClr val="FF0000"/>
                </a:solidFill>
              </a:rPr>
              <a:t>)</a:t>
            </a:r>
            <a:r>
              <a:rPr lang="en-US" sz="1500" dirty="0"/>
              <a:t>;</a:t>
            </a:r>
            <a:endParaRPr lang="es-ES" sz="1500" dirty="0">
              <a:latin typeface="+mn-lt"/>
            </a:endParaRPr>
          </a:p>
          <a:p>
            <a:r>
              <a:rPr lang="es-ES" sz="1500" b="1" dirty="0">
                <a:latin typeface="+mn-lt"/>
              </a:rPr>
              <a:t>        </a:t>
            </a:r>
            <a:r>
              <a:rPr lang="es-ES" sz="1500" dirty="0" err="1">
                <a:solidFill>
                  <a:srgbClr val="0070C0"/>
                </a:solidFill>
                <a:latin typeface="+mn-lt"/>
              </a:rPr>
              <a:t>JOptionPane</a:t>
            </a:r>
            <a:r>
              <a:rPr lang="es-ES" sz="1500" dirty="0" err="1">
                <a:latin typeface="+mn-lt"/>
              </a:rPr>
              <a:t>.</a:t>
            </a:r>
            <a:r>
              <a:rPr lang="es-ES" sz="1500" dirty="0" err="1">
                <a:solidFill>
                  <a:srgbClr val="FF3300"/>
                </a:solidFill>
                <a:latin typeface="+mn-lt"/>
              </a:rPr>
              <a:t>showMessageDialog</a:t>
            </a:r>
            <a:r>
              <a:rPr lang="es-ES" sz="1500" dirty="0">
                <a:solidFill>
                  <a:srgbClr val="FF3300"/>
                </a:solidFill>
                <a:latin typeface="+mn-lt"/>
              </a:rPr>
              <a:t>(</a:t>
            </a:r>
            <a:r>
              <a:rPr lang="es-ES" sz="1500" dirty="0">
                <a:latin typeface="+mn-lt"/>
              </a:rPr>
              <a:t> </a:t>
            </a:r>
            <a:r>
              <a:rPr lang="es-ES" sz="1500" dirty="0" err="1">
                <a:solidFill>
                  <a:srgbClr val="0070C0"/>
                </a:solidFill>
                <a:latin typeface="+mn-lt"/>
              </a:rPr>
              <a:t>MarcoBoton</a:t>
            </a:r>
            <a:r>
              <a:rPr lang="es-ES" sz="1500" dirty="0" err="1">
                <a:latin typeface="+mn-lt"/>
              </a:rPr>
              <a:t>.this</a:t>
            </a:r>
            <a:r>
              <a:rPr lang="es-ES" sz="1500" dirty="0">
                <a:latin typeface="+mn-lt"/>
              </a:rPr>
              <a:t>, 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mensaje</a:t>
            </a:r>
            <a:r>
              <a:rPr lang="en-US" sz="1500" dirty="0">
                <a:solidFill>
                  <a:srgbClr val="FF3300"/>
                </a:solidFill>
                <a:latin typeface="+mn-lt"/>
              </a:rPr>
              <a:t>)</a:t>
            </a:r>
            <a:r>
              <a:rPr lang="en-US" sz="1500" dirty="0">
                <a:latin typeface="+mn-lt"/>
              </a:rPr>
              <a:t>;</a:t>
            </a:r>
          </a:p>
          <a:p>
            <a:r>
              <a:rPr lang="es-ES" sz="1500" dirty="0">
                <a:latin typeface="+mn-lt"/>
              </a:rPr>
              <a:t>    </a:t>
            </a:r>
            <a:r>
              <a:rPr lang="es-ES" sz="1500" b="1" dirty="0">
                <a:solidFill>
                  <a:srgbClr val="000000"/>
                </a:solidFill>
                <a:latin typeface="+mn-lt"/>
              </a:rPr>
              <a:t>}</a:t>
            </a:r>
          </a:p>
          <a:p>
            <a:r>
              <a:rPr lang="es-ES" sz="1500" b="1" dirty="0">
                <a:solidFill>
                  <a:srgbClr val="000000"/>
                </a:solidFill>
                <a:latin typeface="+mn-lt"/>
              </a:rPr>
              <a:t>} 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5961968" y="5478920"/>
            <a:ext cx="2908763" cy="1361963"/>
            <a:chOff x="5961968" y="5478920"/>
            <a:chExt cx="2908763" cy="1361963"/>
          </a:xfrm>
        </p:grpSpPr>
        <p:pic>
          <p:nvPicPr>
            <p:cNvPr id="32" name="Imagen 3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1968" y="5478920"/>
              <a:ext cx="2908763" cy="1361963"/>
            </a:xfrm>
            <a:prstGeom prst="rect">
              <a:avLst/>
            </a:prstGeom>
          </p:spPr>
        </p:pic>
        <p:sp>
          <p:nvSpPr>
            <p:cNvPr id="33" name="CuadroTexto 32"/>
            <p:cNvSpPr txBox="1"/>
            <p:nvPr/>
          </p:nvSpPr>
          <p:spPr>
            <a:xfrm>
              <a:off x="6549282" y="5930247"/>
              <a:ext cx="193833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200">
                  <a:solidFill>
                    <a:srgbClr val="000000"/>
                  </a:solidFill>
                </a:rPr>
                <a:t>Pulsaste el Botón simple</a:t>
              </a: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E207BA0-5C6D-444E-98F7-8DD0753F2F76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ExampleGUI7</a:t>
            </a:r>
          </a:p>
        </p:txBody>
      </p:sp>
    </p:spTree>
    <p:extLst>
      <p:ext uri="{BB962C8B-B14F-4D97-AF65-F5344CB8AC3E}">
        <p14:creationId xmlns:p14="http://schemas.microsoft.com/office/powerpoint/2010/main" val="50477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  <p:bldP spid="30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66 Rectángulo"/>
          <p:cNvSpPr/>
          <p:nvPr/>
        </p:nvSpPr>
        <p:spPr bwMode="auto">
          <a:xfrm>
            <a:off x="454844" y="2132856"/>
            <a:ext cx="8293620" cy="39079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6" name="Picture 2" descr="C:\Users\Raúl\Desktop\Ilustraciones GUI\JFrame vacío 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929422"/>
            <a:ext cx="4148760" cy="89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 err="1"/>
              <a:t>JCheckBox</a:t>
            </a:r>
            <a:r>
              <a:rPr lang="es-ES" sz="1600" dirty="0">
                <a:solidFill>
                  <a:srgbClr val="FFFF00"/>
                </a:solidFill>
              </a:rPr>
              <a:t> (Casilla de Verificación)</a:t>
            </a:r>
            <a:endParaRPr lang="es-ES" sz="1600" dirty="0"/>
          </a:p>
        </p:txBody>
      </p:sp>
      <p:sp>
        <p:nvSpPr>
          <p:cNvPr id="20" name="19 Rectángulo"/>
          <p:cNvSpPr/>
          <p:nvPr/>
        </p:nvSpPr>
        <p:spPr>
          <a:xfrm>
            <a:off x="1028692" y="2276872"/>
            <a:ext cx="72157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</a:rPr>
              <a:t>JCheckBox</a:t>
            </a:r>
            <a:r>
              <a:rPr lang="en-US" sz="1400" dirty="0"/>
              <a:t>  </a:t>
            </a:r>
            <a:r>
              <a:rPr lang="en-US" sz="1400" dirty="0" err="1">
                <a:solidFill>
                  <a:srgbClr val="000000"/>
                </a:solidFill>
              </a:rPr>
              <a:t>envolver</a:t>
            </a:r>
            <a:r>
              <a:rPr lang="en-US" sz="1400" dirty="0"/>
              <a:t> =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FF0000"/>
                </a:solidFill>
              </a:rPr>
              <a:t>JCheckBox</a:t>
            </a:r>
            <a:r>
              <a:rPr lang="en-US" sz="1400" dirty="0">
                <a:solidFill>
                  <a:srgbClr val="FF0000"/>
                </a:solidFill>
              </a:rPr>
              <a:t>(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50"/>
                </a:solidFill>
              </a:rPr>
              <a:t>“</a:t>
            </a:r>
            <a:r>
              <a:rPr lang="en-US" sz="1400" dirty="0" err="1">
                <a:solidFill>
                  <a:srgbClr val="00B050"/>
                </a:solidFill>
              </a:rPr>
              <a:t>Envolver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 err="1">
                <a:solidFill>
                  <a:srgbClr val="00B050"/>
                </a:solidFill>
              </a:rPr>
              <a:t>Regalo</a:t>
            </a:r>
            <a:r>
              <a:rPr lang="en-US" sz="1400" dirty="0">
                <a:solidFill>
                  <a:srgbClr val="00B050"/>
                </a:solidFill>
              </a:rPr>
              <a:t>”, true 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  <a:r>
              <a:rPr lang="en-US" sz="1400" dirty="0">
                <a:solidFill>
                  <a:srgbClr val="00B050"/>
                </a:solidFill>
              </a:rPr>
              <a:t>;</a:t>
            </a:r>
          </a:p>
          <a:p>
            <a:r>
              <a:rPr lang="en-US" sz="1400" dirty="0" err="1">
                <a:solidFill>
                  <a:schemeClr val="accent1"/>
                </a:solidFill>
              </a:rPr>
              <a:t>JCheckBox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B05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express =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400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FF0000"/>
                </a:solidFill>
              </a:rPr>
              <a:t>JCheckBox</a:t>
            </a:r>
            <a:r>
              <a:rPr lang="en-US" sz="1400" dirty="0">
                <a:solidFill>
                  <a:srgbClr val="FF0000"/>
                </a:solidFill>
              </a:rPr>
              <a:t>( </a:t>
            </a:r>
            <a:r>
              <a:rPr lang="en-US" sz="1400" dirty="0">
                <a:solidFill>
                  <a:srgbClr val="00B050"/>
                </a:solidFill>
              </a:rPr>
              <a:t>“</a:t>
            </a:r>
            <a:r>
              <a:rPr lang="en-US" sz="1400" dirty="0" err="1">
                <a:solidFill>
                  <a:srgbClr val="00B050"/>
                </a:solidFill>
              </a:rPr>
              <a:t>Envío</a:t>
            </a:r>
            <a:r>
              <a:rPr lang="en-US" sz="1400" dirty="0">
                <a:solidFill>
                  <a:srgbClr val="00B050"/>
                </a:solidFill>
              </a:rPr>
              <a:t> Express”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  <a:r>
              <a:rPr lang="en-US" sz="1400" dirty="0">
                <a:solidFill>
                  <a:srgbClr val="000000"/>
                </a:solidFill>
              </a:rPr>
              <a:t>;</a:t>
            </a:r>
          </a:p>
          <a:p>
            <a:r>
              <a:rPr lang="es-ES" sz="1400" dirty="0" err="1">
                <a:solidFill>
                  <a:srgbClr val="FF0000"/>
                </a:solidFill>
              </a:rPr>
              <a:t>add</a:t>
            </a:r>
            <a:r>
              <a:rPr lang="es-ES" sz="1400" dirty="0">
                <a:solidFill>
                  <a:srgbClr val="FF0000"/>
                </a:solidFill>
              </a:rPr>
              <a:t>(</a:t>
            </a:r>
            <a:r>
              <a:rPr lang="en-US" sz="1400" dirty="0" err="1">
                <a:solidFill>
                  <a:srgbClr val="000000"/>
                </a:solidFill>
              </a:rPr>
              <a:t>envolver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  <a:r>
              <a:rPr lang="en-US" sz="1400" dirty="0"/>
              <a:t>; </a:t>
            </a:r>
            <a:r>
              <a:rPr lang="es-ES" sz="1400" dirty="0" err="1">
                <a:solidFill>
                  <a:srgbClr val="FF0000"/>
                </a:solidFill>
              </a:rPr>
              <a:t>add</a:t>
            </a:r>
            <a:r>
              <a:rPr lang="es-ES" sz="1400" dirty="0">
                <a:solidFill>
                  <a:srgbClr val="FF0000"/>
                </a:solidFill>
              </a:rPr>
              <a:t>(</a:t>
            </a:r>
            <a:r>
              <a:rPr lang="en-US" sz="1400" dirty="0">
                <a:solidFill>
                  <a:srgbClr val="000000"/>
                </a:solidFill>
              </a:rPr>
              <a:t>express</a:t>
            </a:r>
            <a:r>
              <a:rPr lang="en-US" sz="1400" dirty="0">
                <a:solidFill>
                  <a:srgbClr val="FF0000"/>
                </a:solidFill>
              </a:rPr>
              <a:t>)</a:t>
            </a:r>
            <a:r>
              <a:rPr lang="en-US" sz="1400" dirty="0"/>
              <a:t>;</a:t>
            </a:r>
          </a:p>
          <a:p>
            <a:endParaRPr lang="en-US" sz="1400" dirty="0"/>
          </a:p>
          <a:p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ManejadorCheckBox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 manejador   = new </a:t>
            </a:r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ManejadorCheckBox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4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envolver</a:t>
            </a:r>
            <a:r>
              <a:rPr lang="es-ES" sz="14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4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addItemListener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 manejador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;  </a:t>
            </a:r>
            <a:r>
              <a:rPr lang="es-ES" sz="14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express</a:t>
            </a:r>
            <a:r>
              <a:rPr lang="es-ES" sz="14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4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addItemListener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 manejador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;</a:t>
            </a:r>
            <a:endParaRPr lang="en-US" sz="1400" dirty="0"/>
          </a:p>
        </p:txBody>
      </p:sp>
      <p:sp>
        <p:nvSpPr>
          <p:cNvPr id="35" name="34 CuadroTexto"/>
          <p:cNvSpPr txBox="1"/>
          <p:nvPr/>
        </p:nvSpPr>
        <p:spPr>
          <a:xfrm>
            <a:off x="5099050" y="1311439"/>
            <a:ext cx="129614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rgbClr val="000000"/>
                </a:solidFill>
              </a:rPr>
              <a:t>Envío Express</a:t>
            </a:r>
          </a:p>
        </p:txBody>
      </p:sp>
      <p:sp>
        <p:nvSpPr>
          <p:cNvPr id="3" name="2 CuadroTexto"/>
          <p:cNvSpPr txBox="1"/>
          <p:nvPr/>
        </p:nvSpPr>
        <p:spPr>
          <a:xfrm>
            <a:off x="3162292" y="1308945"/>
            <a:ext cx="159802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 dirty="0">
                <a:solidFill>
                  <a:srgbClr val="000000"/>
                </a:solidFill>
              </a:rPr>
              <a:t>Envolver Regalo</a:t>
            </a:r>
          </a:p>
        </p:txBody>
      </p:sp>
      <p:sp>
        <p:nvSpPr>
          <p:cNvPr id="2" name="1 Rectángulo"/>
          <p:cNvSpPr/>
          <p:nvPr/>
        </p:nvSpPr>
        <p:spPr bwMode="auto">
          <a:xfrm>
            <a:off x="2946268" y="1355610"/>
            <a:ext cx="176747" cy="169581"/>
          </a:xfrm>
          <a:prstGeom prst="rect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29 Rectángulo"/>
          <p:cNvSpPr/>
          <p:nvPr/>
        </p:nvSpPr>
        <p:spPr bwMode="auto">
          <a:xfrm>
            <a:off x="4883026" y="1367767"/>
            <a:ext cx="176747" cy="169581"/>
          </a:xfrm>
          <a:prstGeom prst="rect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1" name="10 Grupo"/>
          <p:cNvGrpSpPr/>
          <p:nvPr/>
        </p:nvGrpSpPr>
        <p:grpSpPr>
          <a:xfrm>
            <a:off x="2982272" y="1386577"/>
            <a:ext cx="117831" cy="127920"/>
            <a:chOff x="1547664" y="2264635"/>
            <a:chExt cx="201735" cy="228261"/>
          </a:xfrm>
        </p:grpSpPr>
        <p:cxnSp>
          <p:nvCxnSpPr>
            <p:cNvPr id="8" name="7 Conector recto"/>
            <p:cNvCxnSpPr/>
            <p:nvPr/>
          </p:nvCxnSpPr>
          <p:spPr bwMode="auto">
            <a:xfrm>
              <a:off x="1547664" y="2388956"/>
              <a:ext cx="72008" cy="10394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0" name="9 Conector recto"/>
            <p:cNvCxnSpPr/>
            <p:nvPr/>
          </p:nvCxnSpPr>
          <p:spPr bwMode="auto">
            <a:xfrm flipV="1">
              <a:off x="1605383" y="2264635"/>
              <a:ext cx="144016" cy="21602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8" name="37 Grupo"/>
          <p:cNvGrpSpPr/>
          <p:nvPr/>
        </p:nvGrpSpPr>
        <p:grpSpPr>
          <a:xfrm>
            <a:off x="4928555" y="1396401"/>
            <a:ext cx="117831" cy="127917"/>
            <a:chOff x="1547664" y="2264639"/>
            <a:chExt cx="201735" cy="228257"/>
          </a:xfrm>
        </p:grpSpPr>
        <p:cxnSp>
          <p:nvCxnSpPr>
            <p:cNvPr id="39" name="38 Conector recto"/>
            <p:cNvCxnSpPr/>
            <p:nvPr/>
          </p:nvCxnSpPr>
          <p:spPr bwMode="auto">
            <a:xfrm>
              <a:off x="1547664" y="2388956"/>
              <a:ext cx="72008" cy="10394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39 Conector recto"/>
            <p:cNvCxnSpPr/>
            <p:nvPr/>
          </p:nvCxnSpPr>
          <p:spPr bwMode="auto">
            <a:xfrm flipV="1">
              <a:off x="1605383" y="2264639"/>
              <a:ext cx="144016" cy="216024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9" name="28 Grupo"/>
          <p:cNvGrpSpPr/>
          <p:nvPr/>
        </p:nvGrpSpPr>
        <p:grpSpPr>
          <a:xfrm>
            <a:off x="5687493" y="1465408"/>
            <a:ext cx="1729453" cy="912782"/>
            <a:chOff x="3707273" y="1474516"/>
            <a:chExt cx="1729453" cy="912782"/>
          </a:xfrm>
        </p:grpSpPr>
        <p:sp>
          <p:nvSpPr>
            <p:cNvPr id="42" name="41 Explosión 1"/>
            <p:cNvSpPr/>
            <p:nvPr/>
          </p:nvSpPr>
          <p:spPr bwMode="auto">
            <a:xfrm>
              <a:off x="3707273" y="1474516"/>
              <a:ext cx="1729453" cy="91278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42 Rectángulo"/>
            <p:cNvSpPr/>
            <p:nvPr/>
          </p:nvSpPr>
          <p:spPr>
            <a:xfrm>
              <a:off x="3883035" y="1742580"/>
              <a:ext cx="141518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itemEvent</a:t>
              </a:r>
              <a:endParaRPr lang="es-ES" sz="16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grpSp>
        <p:nvGrpSpPr>
          <p:cNvPr id="34" name="33 Grupo"/>
          <p:cNvGrpSpPr/>
          <p:nvPr/>
        </p:nvGrpSpPr>
        <p:grpSpPr>
          <a:xfrm>
            <a:off x="899592" y="3717032"/>
            <a:ext cx="7527272" cy="2492990"/>
            <a:chOff x="899592" y="4077072"/>
            <a:chExt cx="7527272" cy="2492990"/>
          </a:xfrm>
        </p:grpSpPr>
        <p:sp>
          <p:nvSpPr>
            <p:cNvPr id="13" name="12 Rectángulo"/>
            <p:cNvSpPr/>
            <p:nvPr/>
          </p:nvSpPr>
          <p:spPr bwMode="auto">
            <a:xfrm>
              <a:off x="899592" y="4077072"/>
              <a:ext cx="7527272" cy="2232248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1037845" y="4077072"/>
              <a:ext cx="5550379" cy="24929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 err="1">
                  <a:solidFill>
                    <a:srgbClr val="FF3300"/>
                  </a:solidFill>
                </a:rPr>
                <a:t>private</a:t>
              </a:r>
              <a:r>
                <a:rPr lang="es-ES" sz="14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400" b="1" dirty="0" err="1">
                  <a:solidFill>
                    <a:schemeClr val="bg1">
                      <a:lumMod val="50000"/>
                    </a:schemeClr>
                  </a:solidFill>
                </a:rPr>
                <a:t>class</a:t>
              </a:r>
              <a:r>
                <a:rPr lang="es-ES" sz="14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400" b="1" dirty="0" err="1">
                  <a:solidFill>
                    <a:schemeClr val="accent1"/>
                  </a:solidFill>
                </a:rPr>
                <a:t>ManejadorCheckBox</a:t>
              </a:r>
              <a:r>
                <a:rPr lang="es-ES" sz="1400" b="1" dirty="0">
                  <a:solidFill>
                    <a:srgbClr val="002060"/>
                  </a:solidFill>
                </a:rPr>
                <a:t> </a:t>
              </a:r>
              <a:r>
                <a:rPr lang="es-ES" sz="1400" b="1" dirty="0" err="1">
                  <a:solidFill>
                    <a:srgbClr val="002060"/>
                  </a:solidFill>
                </a:rPr>
                <a:t>implements</a:t>
              </a:r>
              <a:r>
                <a:rPr lang="es-ES" sz="1400" b="1" dirty="0">
                  <a:solidFill>
                    <a:srgbClr val="002060"/>
                  </a:solidFill>
                </a:rPr>
                <a:t> </a:t>
              </a:r>
              <a:r>
                <a:rPr lang="es-ES" sz="1400" b="1" dirty="0" err="1">
                  <a:solidFill>
                    <a:srgbClr val="002060"/>
                  </a:solidFill>
                </a:rPr>
                <a:t>ItemListener</a:t>
              </a:r>
              <a:r>
                <a:rPr lang="es-ES" sz="1400" b="1" dirty="0">
                  <a:solidFill>
                    <a:srgbClr val="002060"/>
                  </a:solidFill>
                </a:rPr>
                <a:t>  {</a:t>
              </a:r>
            </a:p>
            <a:p>
              <a:endParaRPr lang="es-ES" sz="1400" b="1" dirty="0">
                <a:solidFill>
                  <a:srgbClr val="002060"/>
                </a:solidFill>
              </a:endParaRPr>
            </a:p>
            <a:p>
              <a:endParaRPr lang="es-ES" sz="1400" b="1" dirty="0">
                <a:solidFill>
                  <a:srgbClr val="002060"/>
                </a:solidFill>
              </a:endParaRPr>
            </a:p>
            <a:p>
              <a:endParaRPr lang="es-ES" sz="1400" b="1" dirty="0">
                <a:solidFill>
                  <a:srgbClr val="002060"/>
                </a:solidFill>
              </a:endParaRPr>
            </a:p>
            <a:p>
              <a:endParaRPr lang="es-ES" sz="1400" b="1" dirty="0">
                <a:solidFill>
                  <a:srgbClr val="002060"/>
                </a:solidFill>
              </a:endParaRPr>
            </a:p>
            <a:p>
              <a:r>
                <a:rPr lang="es-ES" sz="1400" b="1" dirty="0">
                  <a:solidFill>
                    <a:srgbClr val="002060"/>
                  </a:solidFill>
                </a:rPr>
                <a:t> </a:t>
              </a:r>
            </a:p>
            <a:p>
              <a:endParaRPr lang="es-ES" sz="1400" b="1" dirty="0">
                <a:solidFill>
                  <a:srgbClr val="002060"/>
                </a:solidFill>
              </a:endParaRPr>
            </a:p>
            <a:p>
              <a:endParaRPr lang="es-ES" sz="1400" b="1" dirty="0">
                <a:solidFill>
                  <a:srgbClr val="002060"/>
                </a:solidFill>
              </a:endParaRPr>
            </a:p>
            <a:p>
              <a:endParaRPr lang="es-ES" sz="1400" b="1" dirty="0">
                <a:solidFill>
                  <a:srgbClr val="002060"/>
                </a:solidFill>
              </a:endParaRPr>
            </a:p>
            <a:p>
              <a:r>
                <a:rPr lang="es-ES" sz="1400" b="1" dirty="0">
                  <a:solidFill>
                    <a:srgbClr val="002060"/>
                  </a:solidFill>
                </a:rPr>
                <a:t>} </a:t>
              </a:r>
            </a:p>
            <a:p>
              <a:endParaRPr lang="es-ES" sz="16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12" name="11 Rectángulo"/>
          <p:cNvSpPr/>
          <p:nvPr/>
        </p:nvSpPr>
        <p:spPr>
          <a:xfrm>
            <a:off x="1475656" y="4070335"/>
            <a:ext cx="6264696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400" b="1" dirty="0" err="1">
                <a:latin typeface="Adobe Fan Heiti Std B" pitchFamily="34" charset="-128"/>
                <a:ea typeface="Adobe Fan Heiti Std B" pitchFamily="34" charset="-128"/>
              </a:rPr>
              <a:t>public</a:t>
            </a:r>
            <a:r>
              <a:rPr lang="es-ES" sz="14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4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void</a:t>
            </a:r>
            <a:r>
              <a:rPr lang="es-ES" sz="14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400" b="1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itemStateChanged</a:t>
            </a:r>
            <a:r>
              <a:rPr lang="es-ES" sz="14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 </a:t>
            </a:r>
            <a:r>
              <a:rPr lang="es-ES" sz="14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ItemEvent</a:t>
            </a:r>
            <a:r>
              <a:rPr lang="es-ES" sz="1400" b="1" dirty="0">
                <a:latin typeface="Adobe Fan Heiti Std B" pitchFamily="34" charset="-128"/>
                <a:ea typeface="Adobe Fan Heiti Std B" pitchFamily="34" charset="-128"/>
              </a:rPr>
              <a:t> evento </a:t>
            </a:r>
            <a:r>
              <a:rPr lang="es-ES" sz="14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 </a:t>
            </a:r>
            <a:r>
              <a:rPr lang="es-ES" sz="1400" b="1" dirty="0">
                <a:latin typeface="Adobe Fan Heiti Std B" pitchFamily="34" charset="-128"/>
                <a:ea typeface="Adobe Fan Heiti Std B" pitchFamily="34" charset="-128"/>
              </a:rPr>
              <a:t>{</a:t>
            </a:r>
          </a:p>
          <a:p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JCheckBox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</a:t>
            </a:r>
            <a:r>
              <a:rPr lang="es-ES" sz="14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clickeado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= (</a:t>
            </a:r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JCheckBox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 </a:t>
            </a:r>
            <a:r>
              <a:rPr lang="es-ES" sz="14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4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getSource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;</a:t>
            </a:r>
            <a:endParaRPr lang="es-ES" sz="1400" b="1" dirty="0"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                         </a:t>
            </a:r>
            <a:r>
              <a:rPr lang="es-ES" sz="14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clickeado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= (</a:t>
            </a:r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JCheckBox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 </a:t>
            </a:r>
            <a:r>
              <a:rPr lang="es-ES" sz="14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4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getItem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String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4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texto =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400" dirty="0" err="1">
                <a:latin typeface="Adobe Fan Heiti Std B" pitchFamily="34" charset="-128"/>
                <a:ea typeface="Adobe Fan Heiti Std B" pitchFamily="34" charset="-128"/>
              </a:rPr>
              <a:t>clickeado.</a:t>
            </a:r>
            <a:r>
              <a:rPr lang="es-ES" sz="14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getText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4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int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</a:t>
            </a:r>
            <a:r>
              <a:rPr lang="es-ES" sz="14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estado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= </a:t>
            </a:r>
            <a:r>
              <a:rPr lang="es-ES" sz="14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4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getStateChange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;</a:t>
            </a:r>
            <a:endParaRPr lang="es-ES" sz="1400" b="1" dirty="0"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4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boolean</a:t>
            </a:r>
            <a:r>
              <a:rPr lang="es-ES" sz="14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4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marcado =</a:t>
            </a:r>
            <a:r>
              <a:rPr lang="es-ES" sz="14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400" dirty="0" err="1">
                <a:latin typeface="Adobe Fan Heiti Std B" pitchFamily="34" charset="-128"/>
                <a:ea typeface="Adobe Fan Heiti Std B" pitchFamily="34" charset="-128"/>
              </a:rPr>
              <a:t>clickeado.</a:t>
            </a:r>
            <a:r>
              <a:rPr lang="es-ES" sz="14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isSelected</a:t>
            </a:r>
            <a:r>
              <a:rPr lang="es-ES" sz="14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();</a:t>
            </a:r>
            <a:endParaRPr lang="es-ES" sz="1400" b="1" dirty="0"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400" b="1" dirty="0">
                <a:latin typeface="Adobe Fan Heiti Std B" pitchFamily="34" charset="-128"/>
                <a:ea typeface="Adobe Fan Heiti Std B" pitchFamily="34" charset="-128"/>
              </a:rPr>
              <a:t>}</a:t>
            </a:r>
          </a:p>
        </p:txBody>
      </p:sp>
      <p:cxnSp>
        <p:nvCxnSpPr>
          <p:cNvPr id="15" name="14 Conector recto de flecha"/>
          <p:cNvCxnSpPr>
            <a:endCxn id="18" idx="2"/>
          </p:cNvCxnSpPr>
          <p:nvPr/>
        </p:nvCxnSpPr>
        <p:spPr bwMode="auto">
          <a:xfrm>
            <a:off x="6300192" y="4437112"/>
            <a:ext cx="50405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9" name="18 Grupo"/>
          <p:cNvGrpSpPr/>
          <p:nvPr/>
        </p:nvGrpSpPr>
        <p:grpSpPr>
          <a:xfrm>
            <a:off x="6804248" y="4272171"/>
            <a:ext cx="1035816" cy="329882"/>
            <a:chOff x="1475656" y="2081134"/>
            <a:chExt cx="1035816" cy="329882"/>
          </a:xfrm>
        </p:grpSpPr>
        <p:sp>
          <p:nvSpPr>
            <p:cNvPr id="18" name="17 Elipse"/>
            <p:cNvSpPr/>
            <p:nvPr/>
          </p:nvSpPr>
          <p:spPr bwMode="auto">
            <a:xfrm>
              <a:off x="1475656" y="2081134"/>
              <a:ext cx="1035816" cy="329882"/>
            </a:xfrm>
            <a:prstGeom prst="ellipse">
              <a:avLst/>
            </a:prstGeom>
            <a:solidFill>
              <a:srgbClr val="FFDB6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1547664" y="2103239"/>
              <a:ext cx="86409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 err="1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express</a:t>
              </a:r>
              <a:endParaRPr lang="es-ES" sz="1400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endParaRPr>
            </a:p>
          </p:txBody>
        </p:sp>
      </p:grpSp>
      <p:cxnSp>
        <p:nvCxnSpPr>
          <p:cNvPr id="63" name="62 Conector recto de flecha"/>
          <p:cNvCxnSpPr/>
          <p:nvPr/>
        </p:nvCxnSpPr>
        <p:spPr bwMode="auto">
          <a:xfrm flipV="1">
            <a:off x="6319242" y="4509120"/>
            <a:ext cx="485006" cy="14706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36" name="35 Grupo"/>
          <p:cNvGrpSpPr/>
          <p:nvPr/>
        </p:nvGrpSpPr>
        <p:grpSpPr>
          <a:xfrm>
            <a:off x="4653252" y="4717518"/>
            <a:ext cx="2150996" cy="307777"/>
            <a:chOff x="4653252" y="5077558"/>
            <a:chExt cx="2150996" cy="307777"/>
          </a:xfrm>
        </p:grpSpPr>
        <p:cxnSp>
          <p:nvCxnSpPr>
            <p:cNvPr id="71" name="70 Conector recto de flecha"/>
            <p:cNvCxnSpPr/>
            <p:nvPr/>
          </p:nvCxnSpPr>
          <p:spPr bwMode="auto">
            <a:xfrm>
              <a:off x="4653252" y="5231447"/>
              <a:ext cx="504056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71 CuadroTexto"/>
            <p:cNvSpPr txBox="1"/>
            <p:nvPr/>
          </p:nvSpPr>
          <p:spPr>
            <a:xfrm>
              <a:off x="5126754" y="5077558"/>
              <a:ext cx="16774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"Envío Express"</a:t>
              </a:r>
            </a:p>
          </p:txBody>
        </p:sp>
      </p:grpSp>
      <p:grpSp>
        <p:nvGrpSpPr>
          <p:cNvPr id="37" name="36 Grupo"/>
          <p:cNvGrpSpPr/>
          <p:nvPr/>
        </p:nvGrpSpPr>
        <p:grpSpPr>
          <a:xfrm>
            <a:off x="4999103" y="4919031"/>
            <a:ext cx="1085065" cy="307777"/>
            <a:chOff x="4999103" y="5279071"/>
            <a:chExt cx="1085065" cy="307777"/>
          </a:xfrm>
        </p:grpSpPr>
        <p:cxnSp>
          <p:nvCxnSpPr>
            <p:cNvPr id="73" name="72 Conector recto de flecha"/>
            <p:cNvCxnSpPr/>
            <p:nvPr/>
          </p:nvCxnSpPr>
          <p:spPr bwMode="auto">
            <a:xfrm>
              <a:off x="4999103" y="5432960"/>
              <a:ext cx="504056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75 CuadroTexto"/>
            <p:cNvSpPr txBox="1"/>
            <p:nvPr/>
          </p:nvSpPr>
          <p:spPr>
            <a:xfrm>
              <a:off x="5472605" y="5279071"/>
              <a:ext cx="61156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1</a:t>
              </a:r>
            </a:p>
          </p:txBody>
        </p:sp>
      </p:grpSp>
      <p:grpSp>
        <p:nvGrpSpPr>
          <p:cNvPr id="52" name="51 Grupo"/>
          <p:cNvGrpSpPr/>
          <p:nvPr/>
        </p:nvGrpSpPr>
        <p:grpSpPr>
          <a:xfrm>
            <a:off x="5260656" y="5114729"/>
            <a:ext cx="1143192" cy="307777"/>
            <a:chOff x="5260656" y="5474769"/>
            <a:chExt cx="1143192" cy="307777"/>
          </a:xfrm>
        </p:grpSpPr>
        <p:cxnSp>
          <p:nvCxnSpPr>
            <p:cNvPr id="77" name="76 Conector recto de flecha"/>
            <p:cNvCxnSpPr/>
            <p:nvPr/>
          </p:nvCxnSpPr>
          <p:spPr bwMode="auto">
            <a:xfrm>
              <a:off x="5260656" y="5628658"/>
              <a:ext cx="504056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77 CuadroTexto"/>
            <p:cNvSpPr txBox="1"/>
            <p:nvPr/>
          </p:nvSpPr>
          <p:spPr>
            <a:xfrm>
              <a:off x="5715108" y="5474769"/>
              <a:ext cx="6887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true</a:t>
              </a:r>
            </a:p>
          </p:txBody>
        </p:sp>
      </p:grpSp>
      <p:grpSp>
        <p:nvGrpSpPr>
          <p:cNvPr id="41" name="40 Grupo"/>
          <p:cNvGrpSpPr/>
          <p:nvPr/>
        </p:nvGrpSpPr>
        <p:grpSpPr>
          <a:xfrm>
            <a:off x="6300192" y="4959388"/>
            <a:ext cx="2843808" cy="418121"/>
            <a:chOff x="6300192" y="5373216"/>
            <a:chExt cx="2843808" cy="418121"/>
          </a:xfrm>
        </p:grpSpPr>
        <p:sp>
          <p:nvSpPr>
            <p:cNvPr id="26" name="25 Rectángulo"/>
            <p:cNvSpPr/>
            <p:nvPr/>
          </p:nvSpPr>
          <p:spPr bwMode="auto">
            <a:xfrm>
              <a:off x="6309717" y="5373216"/>
              <a:ext cx="2682100" cy="418121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6300192" y="5392266"/>
              <a:ext cx="28438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28600" indent="-228600">
                <a:buAutoNum type="arabicPlain"/>
              </a:pPr>
              <a:r>
                <a:rPr lang="es-ES" sz="900" dirty="0"/>
                <a:t>Seleccionado          </a:t>
              </a:r>
              <a:r>
                <a:rPr lang="es-ES" sz="900" dirty="0" err="1"/>
                <a:t>ItemEvent.</a:t>
              </a:r>
              <a:r>
                <a:rPr lang="es-ES" sz="900" dirty="0" err="1">
                  <a:solidFill>
                    <a:srgbClr val="FF6600"/>
                  </a:solidFill>
                </a:rPr>
                <a:t>SELECTED</a:t>
              </a:r>
              <a:endParaRPr lang="es-ES" sz="900" dirty="0">
                <a:solidFill>
                  <a:srgbClr val="FF6600"/>
                </a:solidFill>
              </a:endParaRPr>
            </a:p>
            <a:p>
              <a:pPr marL="228600" indent="-228600">
                <a:buFontTx/>
                <a:buAutoNum type="arabicPlain"/>
              </a:pPr>
              <a:r>
                <a:rPr lang="es-ES" sz="900" dirty="0"/>
                <a:t>No Seleccionado    </a:t>
              </a:r>
              <a:r>
                <a:rPr lang="es-ES" sz="900" dirty="0" err="1"/>
                <a:t>ItemEvent.</a:t>
              </a:r>
              <a:r>
                <a:rPr lang="es-ES" sz="900" dirty="0" err="1">
                  <a:solidFill>
                    <a:srgbClr val="FF6600"/>
                  </a:solidFill>
                </a:rPr>
                <a:t>DESELECTED</a:t>
              </a:r>
              <a:endParaRPr lang="es-ES" sz="900" dirty="0">
                <a:solidFill>
                  <a:srgbClr val="FF6600"/>
                </a:solidFill>
              </a:endParaRPr>
            </a:p>
          </p:txBody>
        </p:sp>
      </p:grpSp>
      <p:pic>
        <p:nvPicPr>
          <p:cNvPr id="79" name="Picture 2" descr="R:\Salesianos\TIC\Salesianos-cadiz.com\Imágenes\puntero-man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2425" y="1436215"/>
            <a:ext cx="317807" cy="408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ABC5DE70-94E3-0843-949F-8E78C6BAD327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ExampleGUI8</a:t>
            </a:r>
          </a:p>
        </p:txBody>
      </p:sp>
    </p:spTree>
    <p:extLst>
      <p:ext uri="{BB962C8B-B14F-4D97-AF65-F5344CB8AC3E}">
        <p14:creationId xmlns:p14="http://schemas.microsoft.com/office/powerpoint/2010/main" val="372865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2" dur="2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animBg="1"/>
      <p:bldP spid="20" grpId="0" uiExpand="1" build="p"/>
      <p:bldP spid="1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Raúl\Desktop\Ilustraciones GUI\JFrame vacío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052736"/>
            <a:ext cx="5357853" cy="20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7" name="66 Rectángulo"/>
          <p:cNvSpPr/>
          <p:nvPr/>
        </p:nvSpPr>
        <p:spPr bwMode="auto">
          <a:xfrm>
            <a:off x="818878" y="3280229"/>
            <a:ext cx="7585184" cy="312057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 err="1"/>
              <a:t>JRadioButton</a:t>
            </a:r>
            <a:r>
              <a:rPr lang="es-ES" sz="1600" dirty="0">
                <a:solidFill>
                  <a:srgbClr val="FFFF00"/>
                </a:solidFill>
              </a:rPr>
              <a:t> (Botón de Opción)</a:t>
            </a:r>
          </a:p>
        </p:txBody>
      </p:sp>
      <p:grpSp>
        <p:nvGrpSpPr>
          <p:cNvPr id="32" name="31 Grupo"/>
          <p:cNvGrpSpPr/>
          <p:nvPr/>
        </p:nvGrpSpPr>
        <p:grpSpPr>
          <a:xfrm>
            <a:off x="5180243" y="2420889"/>
            <a:ext cx="1293225" cy="384721"/>
            <a:chOff x="4862951" y="2348880"/>
            <a:chExt cx="1293225" cy="384721"/>
          </a:xfrm>
        </p:grpSpPr>
        <p:sp>
          <p:nvSpPr>
            <p:cNvPr id="55" name="54 CuadroTexto"/>
            <p:cNvSpPr txBox="1"/>
            <p:nvPr/>
          </p:nvSpPr>
          <p:spPr>
            <a:xfrm>
              <a:off x="5022854" y="2348880"/>
              <a:ext cx="1133322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rgbClr val="000000"/>
                  </a:solidFill>
                </a:rPr>
                <a:t> </a:t>
              </a:r>
              <a:r>
                <a:rPr lang="es-ES" sz="1600" dirty="0">
                  <a:solidFill>
                    <a:srgbClr val="000000"/>
                  </a:solidFill>
                </a:rPr>
                <a:t>Soltero/a</a:t>
              </a:r>
            </a:p>
          </p:txBody>
        </p:sp>
        <p:sp>
          <p:nvSpPr>
            <p:cNvPr id="61" name="60 Elipse"/>
            <p:cNvSpPr/>
            <p:nvPr/>
          </p:nvSpPr>
          <p:spPr bwMode="auto">
            <a:xfrm>
              <a:off x="4862951" y="2414667"/>
              <a:ext cx="199073" cy="182667"/>
            </a:xfrm>
            <a:prstGeom prst="ellipse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33" name="32 Grupo"/>
          <p:cNvGrpSpPr/>
          <p:nvPr/>
        </p:nvGrpSpPr>
        <p:grpSpPr>
          <a:xfrm>
            <a:off x="2331466" y="1528327"/>
            <a:ext cx="4196511" cy="548001"/>
            <a:chOff x="2014174" y="1456318"/>
            <a:chExt cx="4196511" cy="548001"/>
          </a:xfrm>
        </p:grpSpPr>
        <p:sp>
          <p:nvSpPr>
            <p:cNvPr id="4" name="3 Rectángulo redondeado"/>
            <p:cNvSpPr/>
            <p:nvPr/>
          </p:nvSpPr>
          <p:spPr bwMode="auto">
            <a:xfrm>
              <a:off x="2959159" y="1456318"/>
              <a:ext cx="3251526" cy="548001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2014174" y="1561041"/>
              <a:ext cx="8541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accent3">
                      <a:lumMod val="65000"/>
                    </a:schemeClr>
                  </a:solidFill>
                </a:rPr>
                <a:t>grupo1</a:t>
              </a:r>
            </a:p>
          </p:txBody>
        </p:sp>
      </p:grpSp>
      <p:sp>
        <p:nvSpPr>
          <p:cNvPr id="20" name="19 Rectángulo"/>
          <p:cNvSpPr/>
          <p:nvPr/>
        </p:nvSpPr>
        <p:spPr>
          <a:xfrm>
            <a:off x="1028692" y="3313450"/>
            <a:ext cx="721571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accent1"/>
                </a:solidFill>
              </a:rPr>
              <a:t>JRadioButton</a:t>
            </a:r>
            <a:r>
              <a:rPr lang="en-US" sz="1600" dirty="0"/>
              <a:t> </a:t>
            </a:r>
            <a:r>
              <a:rPr lang="en-US" sz="1600" dirty="0" err="1"/>
              <a:t>botonHombre</a:t>
            </a:r>
            <a:r>
              <a:rPr lang="en-US" sz="1600" dirty="0"/>
              <a:t> =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JRadioButton</a:t>
            </a:r>
            <a:r>
              <a:rPr lang="en-US" sz="1600" dirty="0">
                <a:solidFill>
                  <a:srgbClr val="FF0000"/>
                </a:solidFill>
              </a:rPr>
              <a:t>(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50"/>
                </a:solidFill>
              </a:rPr>
              <a:t>“Hombre”, true 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  <a:r>
              <a:rPr lang="en-US" sz="1600" dirty="0">
                <a:solidFill>
                  <a:srgbClr val="00B050"/>
                </a:solidFill>
              </a:rPr>
              <a:t>;</a:t>
            </a:r>
          </a:p>
          <a:p>
            <a:r>
              <a:rPr lang="en-US" sz="1600" dirty="0" err="1">
                <a:solidFill>
                  <a:schemeClr val="accent1"/>
                </a:solidFill>
              </a:rPr>
              <a:t>JRadioButton</a:t>
            </a:r>
            <a:r>
              <a:rPr lang="en-US" sz="1600" dirty="0">
                <a:solidFill>
                  <a:srgbClr val="00B05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botonMujer</a:t>
            </a:r>
            <a:r>
              <a:rPr lang="en-US" sz="1600" dirty="0">
                <a:solidFill>
                  <a:srgbClr val="000000"/>
                </a:solidFill>
              </a:rPr>
              <a:t> =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JRadioButton</a:t>
            </a:r>
            <a:r>
              <a:rPr lang="en-US" sz="1600" dirty="0">
                <a:solidFill>
                  <a:srgbClr val="FF0000"/>
                </a:solidFill>
              </a:rPr>
              <a:t>( </a:t>
            </a:r>
            <a:r>
              <a:rPr lang="en-US" sz="1600" dirty="0">
                <a:solidFill>
                  <a:srgbClr val="00B050"/>
                </a:solidFill>
              </a:rPr>
              <a:t>“</a:t>
            </a:r>
            <a:r>
              <a:rPr lang="en-US" sz="1600" dirty="0" err="1">
                <a:solidFill>
                  <a:srgbClr val="00B050"/>
                </a:solidFill>
              </a:rPr>
              <a:t>Mujer</a:t>
            </a:r>
            <a:r>
              <a:rPr lang="en-US" sz="1600" dirty="0">
                <a:solidFill>
                  <a:srgbClr val="00B050"/>
                </a:solidFill>
              </a:rPr>
              <a:t>”, false</a:t>
            </a:r>
            <a:r>
              <a:rPr lang="en-US" sz="1600" dirty="0">
                <a:solidFill>
                  <a:srgbClr val="FF0000"/>
                </a:solidFill>
              </a:rPr>
              <a:t> )</a:t>
            </a:r>
            <a:r>
              <a:rPr lang="en-US" sz="1600" dirty="0">
                <a:solidFill>
                  <a:srgbClr val="000000"/>
                </a:solidFill>
              </a:rPr>
              <a:t>;</a:t>
            </a:r>
          </a:p>
          <a:p>
            <a:endParaRPr lang="en-US" sz="1600" dirty="0"/>
          </a:p>
          <a:p>
            <a:r>
              <a:rPr lang="en-US" sz="1600" dirty="0" err="1">
                <a:solidFill>
                  <a:schemeClr val="accent1"/>
                </a:solidFill>
              </a:rPr>
              <a:t>JRadioButton</a:t>
            </a:r>
            <a:r>
              <a:rPr lang="en-US" sz="1600" dirty="0"/>
              <a:t> </a:t>
            </a:r>
            <a:r>
              <a:rPr lang="en-US" sz="1600" dirty="0" err="1"/>
              <a:t>botonCasado</a:t>
            </a:r>
            <a:r>
              <a:rPr lang="en-US" sz="1600" dirty="0"/>
              <a:t> =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JRadioButton</a:t>
            </a:r>
            <a:r>
              <a:rPr lang="en-US" sz="1600" dirty="0">
                <a:solidFill>
                  <a:srgbClr val="FF0000"/>
                </a:solidFill>
              </a:rPr>
              <a:t>(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00B050"/>
                </a:solidFill>
              </a:rPr>
              <a:t>“</a:t>
            </a:r>
            <a:r>
              <a:rPr lang="en-US" sz="1600" dirty="0" err="1">
                <a:solidFill>
                  <a:srgbClr val="00B050"/>
                </a:solidFill>
              </a:rPr>
              <a:t>Casado</a:t>
            </a:r>
            <a:r>
              <a:rPr lang="en-US" sz="1600" dirty="0">
                <a:solidFill>
                  <a:srgbClr val="00B050"/>
                </a:solidFill>
              </a:rPr>
              <a:t>”, true 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  <a:r>
              <a:rPr lang="en-US" sz="1600" dirty="0">
                <a:solidFill>
                  <a:srgbClr val="00B050"/>
                </a:solidFill>
              </a:rPr>
              <a:t>;</a:t>
            </a:r>
          </a:p>
          <a:p>
            <a:r>
              <a:rPr lang="en-US" sz="1600" dirty="0" err="1">
                <a:solidFill>
                  <a:schemeClr val="accent1"/>
                </a:solidFill>
              </a:rPr>
              <a:t>JRadioButton</a:t>
            </a:r>
            <a:r>
              <a:rPr lang="en-US" sz="1600" dirty="0">
                <a:solidFill>
                  <a:srgbClr val="00B050"/>
                </a:solidFill>
              </a:rPr>
              <a:t> </a:t>
            </a:r>
            <a:r>
              <a:rPr lang="en-US" sz="1600" dirty="0" err="1">
                <a:solidFill>
                  <a:srgbClr val="000000"/>
                </a:solidFill>
              </a:rPr>
              <a:t>botonSoltero</a:t>
            </a:r>
            <a:r>
              <a:rPr lang="en-US" sz="1600" dirty="0">
                <a:solidFill>
                  <a:srgbClr val="000000"/>
                </a:solidFill>
              </a:rPr>
              <a:t> =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600" dirty="0">
                <a:solidFill>
                  <a:srgbClr val="000000"/>
                </a:solidFill>
              </a:rPr>
              <a:t> </a:t>
            </a:r>
            <a:r>
              <a:rPr lang="en-US" sz="1600" dirty="0" err="1">
                <a:solidFill>
                  <a:srgbClr val="FF0000"/>
                </a:solidFill>
              </a:rPr>
              <a:t>JRadioButton</a:t>
            </a:r>
            <a:r>
              <a:rPr lang="en-US" sz="1600" dirty="0">
                <a:solidFill>
                  <a:srgbClr val="FF0000"/>
                </a:solidFill>
              </a:rPr>
              <a:t>( </a:t>
            </a:r>
            <a:r>
              <a:rPr lang="en-US" sz="1600" dirty="0">
                <a:solidFill>
                  <a:srgbClr val="00B050"/>
                </a:solidFill>
              </a:rPr>
              <a:t>“</a:t>
            </a:r>
            <a:r>
              <a:rPr lang="en-US" sz="1600" dirty="0" err="1">
                <a:solidFill>
                  <a:srgbClr val="00B050"/>
                </a:solidFill>
              </a:rPr>
              <a:t>Soltero</a:t>
            </a:r>
            <a:r>
              <a:rPr lang="en-US" sz="1600" dirty="0">
                <a:solidFill>
                  <a:srgbClr val="00B050"/>
                </a:solidFill>
              </a:rPr>
              <a:t>”, false</a:t>
            </a:r>
            <a:r>
              <a:rPr lang="en-US" sz="1600" dirty="0">
                <a:solidFill>
                  <a:srgbClr val="FF0000"/>
                </a:solidFill>
              </a:rPr>
              <a:t> )</a:t>
            </a:r>
            <a:r>
              <a:rPr lang="en-US" sz="1600" dirty="0">
                <a:solidFill>
                  <a:srgbClr val="000000"/>
                </a:solidFill>
              </a:rPr>
              <a:t>;</a:t>
            </a:r>
          </a:p>
          <a:p>
            <a:endParaRPr lang="es-ES" sz="1600" dirty="0"/>
          </a:p>
          <a:p>
            <a:r>
              <a:rPr lang="es-ES" sz="1600" dirty="0" err="1">
                <a:solidFill>
                  <a:srgbClr val="FF0000"/>
                </a:solidFill>
              </a:rPr>
              <a:t>add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n-US" sz="1600" dirty="0" err="1"/>
              <a:t>botonHombre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  <a:r>
              <a:rPr lang="en-US" sz="1600" dirty="0"/>
              <a:t>; </a:t>
            </a:r>
            <a:r>
              <a:rPr lang="es-ES" sz="1600" dirty="0" err="1">
                <a:solidFill>
                  <a:srgbClr val="FF0000"/>
                </a:solidFill>
              </a:rPr>
              <a:t>add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n-US" sz="1600" dirty="0" err="1"/>
              <a:t>botonMujer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  <a:r>
              <a:rPr lang="en-US" sz="1600" dirty="0"/>
              <a:t>; </a:t>
            </a:r>
            <a:r>
              <a:rPr lang="es-ES" sz="1600" dirty="0" err="1">
                <a:solidFill>
                  <a:srgbClr val="FF0000"/>
                </a:solidFill>
              </a:rPr>
              <a:t>add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n-US" sz="1600" dirty="0" err="1"/>
              <a:t>botonCasado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  <a:r>
              <a:rPr lang="en-US" sz="1600" dirty="0"/>
              <a:t>; </a:t>
            </a:r>
            <a:r>
              <a:rPr lang="es-ES" sz="1600" dirty="0" err="1">
                <a:solidFill>
                  <a:srgbClr val="FF0000"/>
                </a:solidFill>
              </a:rPr>
              <a:t>add</a:t>
            </a:r>
            <a:r>
              <a:rPr lang="es-ES" sz="1600" dirty="0">
                <a:solidFill>
                  <a:srgbClr val="FF0000"/>
                </a:solidFill>
              </a:rPr>
              <a:t>(</a:t>
            </a:r>
            <a:r>
              <a:rPr lang="en-US" sz="1600" dirty="0" err="1"/>
              <a:t>botonSoltero</a:t>
            </a:r>
            <a:r>
              <a:rPr lang="en-US" sz="1600" dirty="0">
                <a:solidFill>
                  <a:srgbClr val="FF0000"/>
                </a:solidFill>
              </a:rPr>
              <a:t>)</a:t>
            </a:r>
            <a:r>
              <a:rPr lang="en-US" sz="1600" dirty="0"/>
              <a:t>;  </a:t>
            </a:r>
          </a:p>
          <a:p>
            <a:endParaRPr lang="en-US" sz="1600" dirty="0"/>
          </a:p>
          <a:p>
            <a:r>
              <a:rPr lang="en-US" sz="1600" dirty="0" err="1">
                <a:solidFill>
                  <a:schemeClr val="accent1"/>
                </a:solidFill>
              </a:rPr>
              <a:t>ButtonGroup</a:t>
            </a:r>
            <a:r>
              <a:rPr lang="en-US" sz="1600" dirty="0"/>
              <a:t> grupo1 =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ButtonGroup</a:t>
            </a:r>
            <a:r>
              <a:rPr lang="en-US" sz="1600" dirty="0">
                <a:solidFill>
                  <a:srgbClr val="FF0000"/>
                </a:solidFill>
              </a:rPr>
              <a:t>()</a:t>
            </a:r>
            <a:r>
              <a:rPr lang="en-US" sz="1600" dirty="0"/>
              <a:t>; </a:t>
            </a:r>
          </a:p>
          <a:p>
            <a:r>
              <a:rPr lang="es-ES" sz="1600" dirty="0"/>
              <a:t>grupo1.</a:t>
            </a:r>
            <a:r>
              <a:rPr lang="es-ES" sz="1600" dirty="0">
                <a:solidFill>
                  <a:srgbClr val="FF3300"/>
                </a:solidFill>
              </a:rPr>
              <a:t>add( </a:t>
            </a:r>
            <a:r>
              <a:rPr lang="en-US" sz="1600" dirty="0" err="1"/>
              <a:t>botonHombre</a:t>
            </a:r>
            <a:r>
              <a:rPr lang="en-US" sz="1600" dirty="0"/>
              <a:t> </a:t>
            </a:r>
            <a:r>
              <a:rPr lang="es-ES" sz="1600" dirty="0">
                <a:solidFill>
                  <a:srgbClr val="FF3300"/>
                </a:solidFill>
              </a:rPr>
              <a:t>)</a:t>
            </a:r>
            <a:r>
              <a:rPr lang="es-ES" sz="1600" dirty="0"/>
              <a:t>;    grupo1.</a:t>
            </a:r>
            <a:r>
              <a:rPr lang="es-ES" sz="1600" dirty="0">
                <a:solidFill>
                  <a:srgbClr val="FF3300"/>
                </a:solidFill>
              </a:rPr>
              <a:t>add( </a:t>
            </a:r>
            <a:r>
              <a:rPr lang="en-US" sz="1600" dirty="0" err="1"/>
              <a:t>botonMujer</a:t>
            </a:r>
            <a:r>
              <a:rPr lang="en-US" sz="1600" dirty="0"/>
              <a:t> </a:t>
            </a:r>
            <a:r>
              <a:rPr lang="es-ES" sz="1600" dirty="0">
                <a:solidFill>
                  <a:srgbClr val="FF3300"/>
                </a:solidFill>
              </a:rPr>
              <a:t>)</a:t>
            </a:r>
            <a:r>
              <a:rPr lang="es-ES" sz="1600" dirty="0"/>
              <a:t>;</a:t>
            </a:r>
          </a:p>
          <a:p>
            <a:r>
              <a:rPr lang="en-US" sz="1600" dirty="0" err="1">
                <a:solidFill>
                  <a:schemeClr val="accent1"/>
                </a:solidFill>
              </a:rPr>
              <a:t>ButtonGroup</a:t>
            </a:r>
            <a:r>
              <a:rPr lang="en-US" sz="1600" dirty="0"/>
              <a:t> grupo2 = 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FF0000"/>
                </a:solidFill>
              </a:rPr>
              <a:t>ButtonGroup</a:t>
            </a:r>
            <a:r>
              <a:rPr lang="en-US" sz="1600" dirty="0">
                <a:solidFill>
                  <a:srgbClr val="FF0000"/>
                </a:solidFill>
              </a:rPr>
              <a:t>()</a:t>
            </a:r>
            <a:r>
              <a:rPr lang="en-US" sz="1600" dirty="0"/>
              <a:t>; </a:t>
            </a:r>
          </a:p>
          <a:p>
            <a:r>
              <a:rPr lang="es-ES" sz="1600" dirty="0"/>
              <a:t>grupo2.</a:t>
            </a:r>
            <a:r>
              <a:rPr lang="es-ES" sz="1600" dirty="0">
                <a:solidFill>
                  <a:srgbClr val="FF3300"/>
                </a:solidFill>
              </a:rPr>
              <a:t>add( </a:t>
            </a:r>
            <a:r>
              <a:rPr lang="en-US" sz="1600" dirty="0" err="1"/>
              <a:t>botonCasado</a:t>
            </a:r>
            <a:r>
              <a:rPr lang="en-US" sz="1600" dirty="0"/>
              <a:t> </a:t>
            </a:r>
            <a:r>
              <a:rPr lang="es-ES" sz="1600" dirty="0">
                <a:solidFill>
                  <a:srgbClr val="FF3300"/>
                </a:solidFill>
              </a:rPr>
              <a:t>)</a:t>
            </a:r>
            <a:r>
              <a:rPr lang="es-ES" sz="1600" dirty="0"/>
              <a:t>;    grupo2.</a:t>
            </a:r>
            <a:r>
              <a:rPr lang="es-ES" sz="1600" dirty="0">
                <a:solidFill>
                  <a:srgbClr val="FF3300"/>
                </a:solidFill>
              </a:rPr>
              <a:t>add( </a:t>
            </a:r>
            <a:r>
              <a:rPr lang="en-US" sz="1600" dirty="0" err="1"/>
              <a:t>botonSoltero</a:t>
            </a:r>
            <a:r>
              <a:rPr lang="en-US" sz="1600" dirty="0"/>
              <a:t> </a:t>
            </a:r>
            <a:r>
              <a:rPr lang="es-ES" sz="1600" dirty="0">
                <a:solidFill>
                  <a:srgbClr val="FF3300"/>
                </a:solidFill>
              </a:rPr>
              <a:t>)</a:t>
            </a:r>
            <a:r>
              <a:rPr lang="es-ES" sz="1600" dirty="0"/>
              <a:t>;</a:t>
            </a:r>
          </a:p>
        </p:txBody>
      </p:sp>
      <p:grpSp>
        <p:nvGrpSpPr>
          <p:cNvPr id="70" name="69 Grupo"/>
          <p:cNvGrpSpPr/>
          <p:nvPr/>
        </p:nvGrpSpPr>
        <p:grpSpPr>
          <a:xfrm>
            <a:off x="2331466" y="2305901"/>
            <a:ext cx="4214010" cy="548001"/>
            <a:chOff x="2014174" y="2233892"/>
            <a:chExt cx="4214010" cy="548001"/>
          </a:xfrm>
        </p:grpSpPr>
        <p:sp>
          <p:nvSpPr>
            <p:cNvPr id="64" name="63 Rectángulo redondeado"/>
            <p:cNvSpPr/>
            <p:nvPr/>
          </p:nvSpPr>
          <p:spPr bwMode="auto">
            <a:xfrm>
              <a:off x="2976658" y="2233892"/>
              <a:ext cx="3251526" cy="548001"/>
            </a:xfrm>
            <a:prstGeom prst="roundRect">
              <a:avLst/>
            </a:prstGeom>
            <a:noFill/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6" name="65 CuadroTexto"/>
            <p:cNvSpPr txBox="1"/>
            <p:nvPr/>
          </p:nvSpPr>
          <p:spPr>
            <a:xfrm>
              <a:off x="2014174" y="2343227"/>
              <a:ext cx="85412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chemeClr val="accent3">
                      <a:lumMod val="65000"/>
                    </a:schemeClr>
                  </a:solidFill>
                </a:rPr>
                <a:t>grupo2</a:t>
              </a:r>
            </a:p>
          </p:txBody>
        </p:sp>
      </p:grpSp>
      <p:grpSp>
        <p:nvGrpSpPr>
          <p:cNvPr id="24" name="23 Grupo"/>
          <p:cNvGrpSpPr/>
          <p:nvPr/>
        </p:nvGrpSpPr>
        <p:grpSpPr>
          <a:xfrm>
            <a:off x="5180242" y="1641141"/>
            <a:ext cx="950498" cy="338554"/>
            <a:chOff x="4862950" y="1569132"/>
            <a:chExt cx="950498" cy="338554"/>
          </a:xfrm>
        </p:grpSpPr>
        <p:sp>
          <p:nvSpPr>
            <p:cNvPr id="35" name="34 CuadroTexto"/>
            <p:cNvSpPr txBox="1"/>
            <p:nvPr/>
          </p:nvSpPr>
          <p:spPr>
            <a:xfrm>
              <a:off x="5078975" y="1569132"/>
              <a:ext cx="7344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rgbClr val="000000"/>
                  </a:solidFill>
                </a:rPr>
                <a:t>Mujer</a:t>
              </a:r>
            </a:p>
          </p:txBody>
        </p:sp>
        <p:sp>
          <p:nvSpPr>
            <p:cNvPr id="69" name="68 Elipse"/>
            <p:cNvSpPr/>
            <p:nvPr/>
          </p:nvSpPr>
          <p:spPr bwMode="auto">
            <a:xfrm>
              <a:off x="4862950" y="1647075"/>
              <a:ext cx="199073" cy="182667"/>
            </a:xfrm>
            <a:prstGeom prst="ellipse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2" name="21 Grupo"/>
          <p:cNvGrpSpPr/>
          <p:nvPr/>
        </p:nvGrpSpPr>
        <p:grpSpPr>
          <a:xfrm>
            <a:off x="3545307" y="1628984"/>
            <a:ext cx="1193191" cy="338554"/>
            <a:chOff x="3228015" y="1556975"/>
            <a:chExt cx="1193191" cy="338554"/>
          </a:xfrm>
        </p:grpSpPr>
        <p:sp>
          <p:nvSpPr>
            <p:cNvPr id="3" name="2 CuadroTexto"/>
            <p:cNvSpPr txBox="1"/>
            <p:nvPr/>
          </p:nvSpPr>
          <p:spPr>
            <a:xfrm>
              <a:off x="3448900" y="1556975"/>
              <a:ext cx="9723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rgbClr val="000000"/>
                  </a:solidFill>
                </a:rPr>
                <a:t>Hombre</a:t>
              </a:r>
            </a:p>
          </p:txBody>
        </p:sp>
        <p:sp>
          <p:nvSpPr>
            <p:cNvPr id="68" name="67 Elipse"/>
            <p:cNvSpPr/>
            <p:nvPr/>
          </p:nvSpPr>
          <p:spPr bwMode="auto">
            <a:xfrm>
              <a:off x="3228015" y="1647075"/>
              <a:ext cx="199073" cy="182667"/>
            </a:xfrm>
            <a:prstGeom prst="ellipse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0" name="59 Elipse"/>
            <p:cNvSpPr/>
            <p:nvPr/>
          </p:nvSpPr>
          <p:spPr bwMode="auto">
            <a:xfrm>
              <a:off x="3281044" y="1695734"/>
              <a:ext cx="93014" cy="85348"/>
            </a:xfrm>
            <a:prstGeom prst="ellipse">
              <a:avLst/>
            </a:prstGeom>
            <a:solidFill>
              <a:srgbClr val="0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grpSp>
        <p:nvGrpSpPr>
          <p:cNvPr id="23" name="22 Grupo"/>
          <p:cNvGrpSpPr/>
          <p:nvPr/>
        </p:nvGrpSpPr>
        <p:grpSpPr>
          <a:xfrm>
            <a:off x="3545308" y="2420889"/>
            <a:ext cx="1350587" cy="338554"/>
            <a:chOff x="3228016" y="2348880"/>
            <a:chExt cx="1350587" cy="338554"/>
          </a:xfrm>
        </p:grpSpPr>
        <p:sp>
          <p:nvSpPr>
            <p:cNvPr id="53" name="52 CuadroTexto"/>
            <p:cNvSpPr txBox="1"/>
            <p:nvPr/>
          </p:nvSpPr>
          <p:spPr>
            <a:xfrm>
              <a:off x="3443804" y="2348880"/>
              <a:ext cx="11347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rgbClr val="000000"/>
                  </a:solidFill>
                </a:rPr>
                <a:t>Casado/a</a:t>
              </a:r>
            </a:p>
          </p:txBody>
        </p:sp>
        <p:sp>
          <p:nvSpPr>
            <p:cNvPr id="59" name="58 Elipse"/>
            <p:cNvSpPr/>
            <p:nvPr/>
          </p:nvSpPr>
          <p:spPr bwMode="auto">
            <a:xfrm>
              <a:off x="3228016" y="2414667"/>
              <a:ext cx="199073" cy="182667"/>
            </a:xfrm>
            <a:prstGeom prst="ellipse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2" name="61 Elipse"/>
            <p:cNvSpPr/>
            <p:nvPr/>
          </p:nvSpPr>
          <p:spPr bwMode="auto">
            <a:xfrm>
              <a:off x="3281045" y="2463326"/>
              <a:ext cx="93014" cy="85348"/>
            </a:xfrm>
            <a:prstGeom prst="ellipse">
              <a:avLst/>
            </a:prstGeom>
            <a:solidFill>
              <a:srgbClr val="00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28" name="27 CuadroTexto"/>
          <p:cNvSpPr txBox="1"/>
          <p:nvPr/>
        </p:nvSpPr>
        <p:spPr>
          <a:xfrm>
            <a:off x="3989950" y="619763"/>
            <a:ext cx="11641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Creación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ABED348-2EC0-FE4A-85A3-AA8D850D116C}"/>
              </a:ext>
            </a:extLst>
          </p:cNvPr>
          <p:cNvSpPr txBox="1"/>
          <p:nvPr/>
        </p:nvSpPr>
        <p:spPr>
          <a:xfrm>
            <a:off x="2995774" y="6473279"/>
            <a:ext cx="18002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ExampleGUI9</a:t>
            </a:r>
          </a:p>
        </p:txBody>
      </p:sp>
    </p:spTree>
    <p:extLst>
      <p:ext uri="{BB962C8B-B14F-4D97-AF65-F5344CB8AC3E}">
        <p14:creationId xmlns:p14="http://schemas.microsoft.com/office/powerpoint/2010/main" val="253359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66 Rectángulo"/>
          <p:cNvSpPr/>
          <p:nvPr/>
        </p:nvSpPr>
        <p:spPr bwMode="auto">
          <a:xfrm>
            <a:off x="683060" y="2492896"/>
            <a:ext cx="7899236" cy="390790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1026" name="Picture 2" descr="C:\Users\Raúl\Desktop\Ilustraciones GUI\JFrame vacío 3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1472" y="980729"/>
            <a:ext cx="4148760" cy="720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 err="1"/>
              <a:t>JRadioButton</a:t>
            </a:r>
            <a:r>
              <a:rPr lang="es-ES" sz="1600" dirty="0">
                <a:solidFill>
                  <a:srgbClr val="FFFF00"/>
                </a:solidFill>
              </a:rPr>
              <a:t> (Botón de Opción)</a:t>
            </a:r>
            <a:endParaRPr lang="es-ES" sz="1600" dirty="0"/>
          </a:p>
        </p:txBody>
      </p:sp>
      <p:grpSp>
        <p:nvGrpSpPr>
          <p:cNvPr id="14" name="13 Grupo"/>
          <p:cNvGrpSpPr/>
          <p:nvPr/>
        </p:nvGrpSpPr>
        <p:grpSpPr>
          <a:xfrm>
            <a:off x="1403648" y="4360454"/>
            <a:ext cx="5760640" cy="2092882"/>
            <a:chOff x="1127808" y="4360454"/>
            <a:chExt cx="5760640" cy="2092882"/>
          </a:xfrm>
        </p:grpSpPr>
        <p:sp>
          <p:nvSpPr>
            <p:cNvPr id="13" name="12 Rectángulo"/>
            <p:cNvSpPr/>
            <p:nvPr/>
          </p:nvSpPr>
          <p:spPr bwMode="auto">
            <a:xfrm>
              <a:off x="1127808" y="4360454"/>
              <a:ext cx="5760640" cy="1948865"/>
            </a:xfrm>
            <a:prstGeom prst="rect">
              <a:avLst/>
            </a:prstGeom>
            <a:solidFill>
              <a:schemeClr val="accent4">
                <a:lumMod val="10000"/>
                <a:lumOff val="9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1266061" y="4360455"/>
              <a:ext cx="5550379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300" b="1" dirty="0" err="1">
                  <a:solidFill>
                    <a:srgbClr val="FF3300"/>
                  </a:solidFill>
                </a:rPr>
                <a:t>private</a:t>
              </a:r>
              <a:r>
                <a:rPr lang="es-ES" sz="13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300" b="1" dirty="0" err="1">
                  <a:solidFill>
                    <a:schemeClr val="bg1">
                      <a:lumMod val="50000"/>
                    </a:schemeClr>
                  </a:solidFill>
                </a:rPr>
                <a:t>class</a:t>
              </a:r>
              <a:r>
                <a:rPr lang="es-ES" sz="13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300" b="1" dirty="0" err="1">
                  <a:solidFill>
                    <a:schemeClr val="accent1"/>
                  </a:solidFill>
                </a:rPr>
                <a:t>ManejadorRadioButton</a:t>
              </a:r>
              <a:r>
                <a:rPr lang="es-ES" sz="1300" b="1" dirty="0">
                  <a:solidFill>
                    <a:schemeClr val="accent1"/>
                  </a:solidFill>
                </a:rPr>
                <a:t> </a:t>
              </a:r>
              <a:r>
                <a:rPr lang="es-ES" sz="1300" b="1" dirty="0" err="1">
                  <a:solidFill>
                    <a:srgbClr val="002060"/>
                  </a:solidFill>
                </a:rPr>
                <a:t>implements</a:t>
              </a:r>
              <a:r>
                <a:rPr lang="es-ES" sz="1300" b="1" dirty="0">
                  <a:solidFill>
                    <a:srgbClr val="002060"/>
                  </a:solidFill>
                </a:rPr>
                <a:t> </a:t>
              </a:r>
              <a:r>
                <a:rPr lang="es-ES" sz="1300" b="1" dirty="0" err="1">
                  <a:solidFill>
                    <a:srgbClr val="002060"/>
                  </a:solidFill>
                </a:rPr>
                <a:t>ItemListener</a:t>
              </a:r>
              <a:r>
                <a:rPr lang="es-ES" sz="1300" b="1" dirty="0">
                  <a:solidFill>
                    <a:srgbClr val="002060"/>
                  </a:solidFill>
                </a:rPr>
                <a:t>  {</a:t>
              </a:r>
            </a:p>
            <a:p>
              <a:endParaRPr lang="es-ES" sz="1300" b="1" dirty="0">
                <a:solidFill>
                  <a:srgbClr val="002060"/>
                </a:solidFill>
              </a:endParaRPr>
            </a:p>
            <a:p>
              <a:endParaRPr lang="es-ES" sz="1300" b="1" dirty="0">
                <a:solidFill>
                  <a:srgbClr val="002060"/>
                </a:solidFill>
              </a:endParaRPr>
            </a:p>
            <a:p>
              <a:endParaRPr lang="es-ES" sz="1300" b="1" dirty="0">
                <a:solidFill>
                  <a:srgbClr val="002060"/>
                </a:solidFill>
              </a:endParaRPr>
            </a:p>
            <a:p>
              <a:endParaRPr lang="es-ES" sz="1300" b="1" dirty="0">
                <a:solidFill>
                  <a:srgbClr val="002060"/>
                </a:solidFill>
              </a:endParaRPr>
            </a:p>
            <a:p>
              <a:r>
                <a:rPr lang="es-ES" sz="1300" b="1" dirty="0">
                  <a:solidFill>
                    <a:srgbClr val="002060"/>
                  </a:solidFill>
                </a:rPr>
                <a:t> </a:t>
              </a:r>
            </a:p>
            <a:p>
              <a:endParaRPr lang="es-ES" sz="1300" b="1" dirty="0">
                <a:solidFill>
                  <a:srgbClr val="002060"/>
                </a:solidFill>
              </a:endParaRPr>
            </a:p>
            <a:p>
              <a:endParaRPr lang="es-ES" sz="1300" b="1" dirty="0">
                <a:solidFill>
                  <a:srgbClr val="002060"/>
                </a:solidFill>
              </a:endParaRPr>
            </a:p>
            <a:p>
              <a:r>
                <a:rPr lang="es-ES" sz="1300" b="1" dirty="0">
                  <a:solidFill>
                    <a:srgbClr val="002060"/>
                  </a:solidFill>
                </a:rPr>
                <a:t>} </a:t>
              </a:r>
            </a:p>
            <a:p>
              <a:endParaRPr lang="es-ES" sz="13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12" name="11 Rectángulo"/>
          <p:cNvSpPr/>
          <p:nvPr/>
        </p:nvSpPr>
        <p:spPr>
          <a:xfrm>
            <a:off x="1979712" y="4580408"/>
            <a:ext cx="6264696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300" b="1" dirty="0" err="1">
                <a:latin typeface="Adobe Fan Heiti Std B" pitchFamily="34" charset="-128"/>
                <a:ea typeface="Adobe Fan Heiti Std B" pitchFamily="34" charset="-128"/>
              </a:rPr>
              <a:t>public</a:t>
            </a:r>
            <a:r>
              <a:rPr lang="es-ES" sz="13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3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void</a:t>
            </a:r>
            <a:r>
              <a:rPr lang="es-ES" sz="13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300" b="1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itemStateChanged</a:t>
            </a:r>
            <a:r>
              <a:rPr lang="es-ES" sz="13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 </a:t>
            </a:r>
            <a:r>
              <a:rPr lang="es-ES" sz="13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ItemEvent</a:t>
            </a:r>
            <a:r>
              <a:rPr lang="es-ES" sz="1300" b="1" dirty="0">
                <a:latin typeface="Adobe Fan Heiti Std B" pitchFamily="34" charset="-128"/>
                <a:ea typeface="Adobe Fan Heiti Std B" pitchFamily="34" charset="-128"/>
              </a:rPr>
              <a:t> evento </a:t>
            </a:r>
            <a:r>
              <a:rPr lang="es-ES" sz="13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 </a:t>
            </a:r>
            <a:r>
              <a:rPr lang="es-ES" sz="1300" b="1" dirty="0">
                <a:latin typeface="Adobe Fan Heiti Std B" pitchFamily="34" charset="-128"/>
                <a:ea typeface="Adobe Fan Heiti Std B" pitchFamily="34" charset="-128"/>
              </a:rPr>
              <a:t>{</a:t>
            </a:r>
          </a:p>
          <a:p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3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JRadioButton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</a:t>
            </a:r>
            <a:r>
              <a:rPr lang="es-ES" sz="13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modificado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= (</a:t>
            </a:r>
            <a:r>
              <a:rPr lang="es-ES" sz="13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JRadioButton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 </a:t>
            </a:r>
            <a:r>
              <a:rPr lang="es-ES" sz="13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3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getSource</a:t>
            </a:r>
            <a:r>
              <a:rPr lang="es-ES" sz="13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;</a:t>
            </a:r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                         </a:t>
            </a:r>
            <a:r>
              <a:rPr lang="es-ES" sz="13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        modificado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= (</a:t>
            </a:r>
            <a:r>
              <a:rPr lang="es-ES" sz="13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JRadioButton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) </a:t>
            </a:r>
            <a:r>
              <a:rPr lang="es-ES" sz="13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3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getItem</a:t>
            </a:r>
            <a:r>
              <a:rPr lang="es-ES" sz="13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3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String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3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texto =</a:t>
            </a:r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3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modificado</a:t>
            </a:r>
            <a:r>
              <a:rPr lang="es-ES" sz="13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3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getText</a:t>
            </a:r>
            <a:r>
              <a:rPr lang="es-ES" sz="13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300" dirty="0">
                <a:solidFill>
                  <a:srgbClr val="00B050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3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int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</a:t>
            </a:r>
            <a:r>
              <a:rPr lang="es-ES" sz="13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estado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= </a:t>
            </a:r>
            <a:r>
              <a:rPr lang="es-ES" sz="1300" dirty="0" err="1">
                <a:latin typeface="Adobe Fan Heiti Std B" pitchFamily="34" charset="-128"/>
                <a:ea typeface="Adobe Fan Heiti Std B" pitchFamily="34" charset="-128"/>
              </a:rPr>
              <a:t>evento.</a:t>
            </a:r>
            <a:r>
              <a:rPr lang="es-ES" sz="13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getStateChange</a:t>
            </a:r>
            <a:r>
              <a:rPr lang="es-ES" sz="13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;</a:t>
            </a:r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     </a:t>
            </a:r>
            <a:r>
              <a:rPr lang="es-ES" sz="13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boolean</a:t>
            </a:r>
            <a:r>
              <a:rPr lang="es-ES" sz="13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3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marcado =</a:t>
            </a:r>
            <a:r>
              <a:rPr lang="es-ES" sz="1300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3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modificado</a:t>
            </a:r>
            <a:r>
              <a:rPr lang="es-ES" sz="13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3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isSelected</a:t>
            </a:r>
            <a:r>
              <a:rPr lang="es-ES" sz="13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();</a:t>
            </a:r>
            <a:endParaRPr lang="es-ES" sz="1300" b="1" dirty="0">
              <a:latin typeface="Adobe Fan Heiti Std B" pitchFamily="34" charset="-128"/>
              <a:ea typeface="Adobe Fan Heiti Std B" pitchFamily="34" charset="-128"/>
            </a:endParaRPr>
          </a:p>
          <a:p>
            <a:r>
              <a:rPr lang="es-ES" sz="1300" b="1" dirty="0">
                <a:latin typeface="Adobe Fan Heiti Std B" pitchFamily="34" charset="-128"/>
                <a:ea typeface="Adobe Fan Heiti Std B" pitchFamily="34" charset="-128"/>
              </a:rPr>
              <a:t>}</a:t>
            </a:r>
          </a:p>
        </p:txBody>
      </p:sp>
      <p:cxnSp>
        <p:nvCxnSpPr>
          <p:cNvPr id="15" name="14 Conector recto de flecha"/>
          <p:cNvCxnSpPr/>
          <p:nvPr/>
        </p:nvCxnSpPr>
        <p:spPr bwMode="auto">
          <a:xfrm>
            <a:off x="6948264" y="4901292"/>
            <a:ext cx="50405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19" name="18 Grupo"/>
          <p:cNvGrpSpPr/>
          <p:nvPr/>
        </p:nvGrpSpPr>
        <p:grpSpPr>
          <a:xfrm>
            <a:off x="7452320" y="4736351"/>
            <a:ext cx="1467864" cy="329882"/>
            <a:chOff x="1475656" y="2081134"/>
            <a:chExt cx="1467864" cy="329882"/>
          </a:xfrm>
        </p:grpSpPr>
        <p:sp>
          <p:nvSpPr>
            <p:cNvPr id="18" name="17 Elipse"/>
            <p:cNvSpPr/>
            <p:nvPr/>
          </p:nvSpPr>
          <p:spPr bwMode="auto">
            <a:xfrm>
              <a:off x="1475656" y="2081134"/>
              <a:ext cx="1467864" cy="329882"/>
            </a:xfrm>
            <a:prstGeom prst="ellipse">
              <a:avLst/>
            </a:prstGeom>
            <a:solidFill>
              <a:srgbClr val="FFDB6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1547664" y="2103239"/>
              <a:ext cx="13958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 err="1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botonHombre</a:t>
              </a:r>
              <a:endParaRPr lang="es-ES" sz="1400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endParaRPr>
            </a:p>
          </p:txBody>
        </p:sp>
      </p:grpSp>
      <p:cxnSp>
        <p:nvCxnSpPr>
          <p:cNvPr id="63" name="62 Conector recto de flecha"/>
          <p:cNvCxnSpPr/>
          <p:nvPr/>
        </p:nvCxnSpPr>
        <p:spPr bwMode="auto">
          <a:xfrm flipV="1">
            <a:off x="6967314" y="4973300"/>
            <a:ext cx="485006" cy="147067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1" name="70 Conector recto de flecha"/>
          <p:cNvCxnSpPr/>
          <p:nvPr/>
        </p:nvCxnSpPr>
        <p:spPr bwMode="auto">
          <a:xfrm>
            <a:off x="4905280" y="5334886"/>
            <a:ext cx="50405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3" name="72 Conector recto de flecha"/>
          <p:cNvCxnSpPr/>
          <p:nvPr/>
        </p:nvCxnSpPr>
        <p:spPr bwMode="auto">
          <a:xfrm>
            <a:off x="5240214" y="5528904"/>
            <a:ext cx="50405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7" name="76 Conector recto de flecha"/>
          <p:cNvCxnSpPr/>
          <p:nvPr/>
        </p:nvCxnSpPr>
        <p:spPr bwMode="auto">
          <a:xfrm>
            <a:off x="5501767" y="5724602"/>
            <a:ext cx="50405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45" name="44 Grupo"/>
          <p:cNvGrpSpPr/>
          <p:nvPr/>
        </p:nvGrpSpPr>
        <p:grpSpPr>
          <a:xfrm>
            <a:off x="5023562" y="1265621"/>
            <a:ext cx="950498" cy="338554"/>
            <a:chOff x="4862950" y="1569132"/>
            <a:chExt cx="950498" cy="338554"/>
          </a:xfrm>
        </p:grpSpPr>
        <p:sp>
          <p:nvSpPr>
            <p:cNvPr id="46" name="45 CuadroTexto"/>
            <p:cNvSpPr txBox="1"/>
            <p:nvPr/>
          </p:nvSpPr>
          <p:spPr>
            <a:xfrm>
              <a:off x="5078975" y="1569132"/>
              <a:ext cx="73447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>
                  <a:solidFill>
                    <a:srgbClr val="000000"/>
                  </a:solidFill>
                </a:rPr>
                <a:t>Mujer</a:t>
              </a:r>
            </a:p>
          </p:txBody>
        </p:sp>
        <p:sp>
          <p:nvSpPr>
            <p:cNvPr id="47" name="46 Elipse"/>
            <p:cNvSpPr/>
            <p:nvPr/>
          </p:nvSpPr>
          <p:spPr bwMode="auto">
            <a:xfrm>
              <a:off x="4862950" y="1647075"/>
              <a:ext cx="199073" cy="182667"/>
            </a:xfrm>
            <a:prstGeom prst="ellipse">
              <a:avLst/>
            </a:prstGeom>
            <a:ln w="28575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50" name="49 CuadroTexto"/>
          <p:cNvSpPr txBox="1"/>
          <p:nvPr/>
        </p:nvSpPr>
        <p:spPr>
          <a:xfrm>
            <a:off x="3609512" y="1253464"/>
            <a:ext cx="972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0000"/>
                </a:solidFill>
              </a:rPr>
              <a:t>Hombre</a:t>
            </a:r>
          </a:p>
        </p:txBody>
      </p:sp>
      <p:sp>
        <p:nvSpPr>
          <p:cNvPr id="51" name="50 Elipse"/>
          <p:cNvSpPr/>
          <p:nvPr/>
        </p:nvSpPr>
        <p:spPr bwMode="auto">
          <a:xfrm>
            <a:off x="3388627" y="1343564"/>
            <a:ext cx="199073" cy="182667"/>
          </a:xfrm>
          <a:prstGeom prst="ellipse">
            <a:avLst/>
          </a:prstGeom>
          <a:ln w="28575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2" name="51 Elipse"/>
          <p:cNvSpPr/>
          <p:nvPr/>
        </p:nvSpPr>
        <p:spPr bwMode="auto">
          <a:xfrm>
            <a:off x="3441656" y="1392223"/>
            <a:ext cx="93014" cy="85348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3" name="52 Elipse"/>
          <p:cNvSpPr/>
          <p:nvPr/>
        </p:nvSpPr>
        <p:spPr bwMode="auto">
          <a:xfrm>
            <a:off x="5073853" y="1392224"/>
            <a:ext cx="93014" cy="85348"/>
          </a:xfrm>
          <a:prstGeom prst="ellipse">
            <a:avLst/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5" name="54 Rectángulo"/>
          <p:cNvSpPr/>
          <p:nvPr/>
        </p:nvSpPr>
        <p:spPr>
          <a:xfrm>
            <a:off x="1403648" y="2636912"/>
            <a:ext cx="5904656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 err="1">
                <a:solidFill>
                  <a:schemeClr val="accent1"/>
                </a:solidFill>
              </a:rPr>
              <a:t>JRadioButton</a:t>
            </a:r>
            <a:r>
              <a:rPr lang="en-US" sz="1300" dirty="0"/>
              <a:t> </a:t>
            </a:r>
            <a:r>
              <a:rPr lang="en-US" sz="1300" dirty="0" err="1">
                <a:solidFill>
                  <a:srgbClr val="000000"/>
                </a:solidFill>
              </a:rPr>
              <a:t>botonHombre</a:t>
            </a:r>
            <a:r>
              <a:rPr lang="en-US" sz="1300" dirty="0"/>
              <a:t> =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300" dirty="0"/>
              <a:t> </a:t>
            </a:r>
            <a:r>
              <a:rPr lang="en-US" sz="1300" dirty="0" err="1">
                <a:solidFill>
                  <a:srgbClr val="FF0000"/>
                </a:solidFill>
              </a:rPr>
              <a:t>JRadioButton</a:t>
            </a:r>
            <a:r>
              <a:rPr lang="en-US" sz="1300" dirty="0">
                <a:solidFill>
                  <a:srgbClr val="FF0000"/>
                </a:solidFill>
              </a:rPr>
              <a:t>(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00B050"/>
                </a:solidFill>
              </a:rPr>
              <a:t>“Hombre”, true 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rgbClr val="00B050"/>
                </a:solidFill>
              </a:rPr>
              <a:t>;</a:t>
            </a:r>
          </a:p>
          <a:p>
            <a:r>
              <a:rPr lang="en-US" sz="1300" dirty="0" err="1">
                <a:solidFill>
                  <a:schemeClr val="accent1"/>
                </a:solidFill>
              </a:rPr>
              <a:t>JRadioButton</a:t>
            </a:r>
            <a:r>
              <a:rPr lang="en-US" sz="1300" dirty="0">
                <a:solidFill>
                  <a:srgbClr val="00B050"/>
                </a:solidFill>
              </a:rPr>
              <a:t> </a:t>
            </a:r>
            <a:r>
              <a:rPr lang="en-US" sz="1300" dirty="0" err="1">
                <a:solidFill>
                  <a:srgbClr val="000000"/>
                </a:solidFill>
              </a:rPr>
              <a:t>botonMujer</a:t>
            </a:r>
            <a:r>
              <a:rPr lang="en-US" sz="1300" dirty="0">
                <a:solidFill>
                  <a:srgbClr val="000000"/>
                </a:solidFill>
              </a:rPr>
              <a:t> =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300" dirty="0">
                <a:solidFill>
                  <a:srgbClr val="000000"/>
                </a:solidFill>
              </a:rPr>
              <a:t> </a:t>
            </a:r>
            <a:r>
              <a:rPr lang="en-US" sz="1300" dirty="0" err="1">
                <a:solidFill>
                  <a:srgbClr val="FF0000"/>
                </a:solidFill>
              </a:rPr>
              <a:t>JRadioButton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“</a:t>
            </a:r>
            <a:r>
              <a:rPr lang="en-US" sz="1300" dirty="0" err="1">
                <a:solidFill>
                  <a:srgbClr val="00B050"/>
                </a:solidFill>
              </a:rPr>
              <a:t>Mujer</a:t>
            </a:r>
            <a:r>
              <a:rPr lang="en-US" sz="1300" dirty="0">
                <a:solidFill>
                  <a:srgbClr val="00B050"/>
                </a:solidFill>
              </a:rPr>
              <a:t>”, false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rgbClr val="000000"/>
                </a:solidFill>
              </a:rPr>
              <a:t>;</a:t>
            </a:r>
          </a:p>
          <a:p>
            <a:r>
              <a:rPr lang="es-ES" sz="1300" dirty="0" err="1">
                <a:solidFill>
                  <a:srgbClr val="FF0000"/>
                </a:solidFill>
              </a:rPr>
              <a:t>add</a:t>
            </a:r>
            <a:r>
              <a:rPr lang="es-ES" sz="1300" dirty="0">
                <a:solidFill>
                  <a:srgbClr val="FF0000"/>
                </a:solidFill>
              </a:rPr>
              <a:t>(</a:t>
            </a:r>
            <a:r>
              <a:rPr lang="en-US" sz="1300" dirty="0" err="1">
                <a:solidFill>
                  <a:srgbClr val="000000"/>
                </a:solidFill>
              </a:rPr>
              <a:t>botonHombre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/>
              <a:t>; </a:t>
            </a:r>
            <a:r>
              <a:rPr lang="es-ES" sz="1300" dirty="0" err="1">
                <a:solidFill>
                  <a:srgbClr val="FF0000"/>
                </a:solidFill>
              </a:rPr>
              <a:t>add</a:t>
            </a:r>
            <a:r>
              <a:rPr lang="es-ES" sz="1300" dirty="0">
                <a:solidFill>
                  <a:srgbClr val="FF0000"/>
                </a:solidFill>
              </a:rPr>
              <a:t>(</a:t>
            </a:r>
            <a:r>
              <a:rPr lang="en-US" sz="1300" dirty="0" err="1">
                <a:solidFill>
                  <a:srgbClr val="000000"/>
                </a:solidFill>
              </a:rPr>
              <a:t>botonMujer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/>
              <a:t>;  </a:t>
            </a:r>
          </a:p>
          <a:p>
            <a:r>
              <a:rPr lang="en-US" sz="1300" dirty="0" err="1">
                <a:solidFill>
                  <a:schemeClr val="accent1"/>
                </a:solidFill>
              </a:rPr>
              <a:t>ButtonGroup</a:t>
            </a:r>
            <a:r>
              <a:rPr lang="en-US" sz="1300" dirty="0"/>
              <a:t> grupo1 =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300" dirty="0"/>
              <a:t> </a:t>
            </a:r>
            <a:r>
              <a:rPr lang="en-US" sz="1300" dirty="0" err="1">
                <a:solidFill>
                  <a:srgbClr val="FF0000"/>
                </a:solidFill>
              </a:rPr>
              <a:t>ButtonGroup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r>
              <a:rPr lang="en-US" sz="1300" dirty="0"/>
              <a:t>; </a:t>
            </a:r>
          </a:p>
          <a:p>
            <a:r>
              <a:rPr lang="es-ES" sz="1300" dirty="0"/>
              <a:t>grupo1.</a:t>
            </a:r>
            <a:r>
              <a:rPr lang="es-ES" sz="1300" dirty="0">
                <a:solidFill>
                  <a:srgbClr val="FF3300"/>
                </a:solidFill>
              </a:rPr>
              <a:t>add( </a:t>
            </a:r>
            <a:r>
              <a:rPr lang="en-US" sz="1300" dirty="0" err="1">
                <a:solidFill>
                  <a:srgbClr val="000000"/>
                </a:solidFill>
              </a:rPr>
              <a:t>botonHombre</a:t>
            </a:r>
            <a:r>
              <a:rPr lang="en-US" sz="1300" dirty="0"/>
              <a:t> </a:t>
            </a:r>
            <a:r>
              <a:rPr lang="es-ES" sz="1300" dirty="0">
                <a:solidFill>
                  <a:srgbClr val="FF3300"/>
                </a:solidFill>
              </a:rPr>
              <a:t>)</a:t>
            </a:r>
            <a:r>
              <a:rPr lang="es-ES" sz="1300" dirty="0"/>
              <a:t>;    grupo1.</a:t>
            </a:r>
            <a:r>
              <a:rPr lang="es-ES" sz="1300" dirty="0">
                <a:solidFill>
                  <a:srgbClr val="FF3300"/>
                </a:solidFill>
              </a:rPr>
              <a:t>add( </a:t>
            </a:r>
            <a:r>
              <a:rPr lang="en-US" sz="1300" dirty="0" err="1">
                <a:solidFill>
                  <a:srgbClr val="000000"/>
                </a:solidFill>
              </a:rPr>
              <a:t>botonMujer</a:t>
            </a:r>
            <a:r>
              <a:rPr lang="en-US" sz="1300" dirty="0"/>
              <a:t> </a:t>
            </a:r>
            <a:r>
              <a:rPr lang="es-ES" sz="1300" dirty="0">
                <a:solidFill>
                  <a:srgbClr val="FF3300"/>
                </a:solidFill>
              </a:rPr>
              <a:t>)</a:t>
            </a:r>
            <a:r>
              <a:rPr lang="es-ES" sz="1300" dirty="0"/>
              <a:t>;</a:t>
            </a:r>
            <a:endParaRPr lang="es-ES" sz="1200" dirty="0">
              <a:latin typeface="Adobe Fan Heiti Std B" pitchFamily="34" charset="-128"/>
              <a:ea typeface="Adobe Fan Heiti Std B" pitchFamily="34" charset="-128"/>
            </a:endParaRPr>
          </a:p>
        </p:txBody>
      </p:sp>
      <p:grpSp>
        <p:nvGrpSpPr>
          <p:cNvPr id="56" name="55 Grupo"/>
          <p:cNvGrpSpPr/>
          <p:nvPr/>
        </p:nvGrpSpPr>
        <p:grpSpPr>
          <a:xfrm>
            <a:off x="7452320" y="4737844"/>
            <a:ext cx="1467864" cy="329882"/>
            <a:chOff x="1475656" y="2081134"/>
            <a:chExt cx="1467864" cy="329882"/>
          </a:xfrm>
        </p:grpSpPr>
        <p:sp>
          <p:nvSpPr>
            <p:cNvPr id="57" name="56 Elipse"/>
            <p:cNvSpPr/>
            <p:nvPr/>
          </p:nvSpPr>
          <p:spPr bwMode="auto">
            <a:xfrm>
              <a:off x="1475656" y="2081134"/>
              <a:ext cx="1467864" cy="329882"/>
            </a:xfrm>
            <a:prstGeom prst="ellipse">
              <a:avLst/>
            </a:prstGeom>
            <a:solidFill>
              <a:srgbClr val="FFDB6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57 CuadroTexto"/>
            <p:cNvSpPr txBox="1"/>
            <p:nvPr/>
          </p:nvSpPr>
          <p:spPr>
            <a:xfrm>
              <a:off x="1547664" y="2103239"/>
              <a:ext cx="139585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400" dirty="0" err="1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botonMujer</a:t>
              </a:r>
              <a:endParaRPr lang="es-ES" sz="1400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endParaRPr>
            </a:p>
          </p:txBody>
        </p:sp>
      </p:grpSp>
      <p:sp>
        <p:nvSpPr>
          <p:cNvPr id="59" name="58 CuadroTexto"/>
          <p:cNvSpPr txBox="1"/>
          <p:nvPr/>
        </p:nvSpPr>
        <p:spPr>
          <a:xfrm>
            <a:off x="5375610" y="5182402"/>
            <a:ext cx="25848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rPr>
              <a:t>"Mujer"</a:t>
            </a:r>
          </a:p>
        </p:txBody>
      </p:sp>
      <p:sp>
        <p:nvSpPr>
          <p:cNvPr id="60" name="59 CuadroTexto"/>
          <p:cNvSpPr txBox="1"/>
          <p:nvPr/>
        </p:nvSpPr>
        <p:spPr>
          <a:xfrm>
            <a:off x="5713716" y="5375014"/>
            <a:ext cx="13072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61" name="60 CuadroTexto"/>
          <p:cNvSpPr txBox="1"/>
          <p:nvPr/>
        </p:nvSpPr>
        <p:spPr>
          <a:xfrm>
            <a:off x="5958396" y="5569495"/>
            <a:ext cx="1472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rPr>
              <a:t>true</a:t>
            </a:r>
          </a:p>
        </p:txBody>
      </p:sp>
      <p:sp>
        <p:nvSpPr>
          <p:cNvPr id="72" name="71 CuadroTexto"/>
          <p:cNvSpPr txBox="1"/>
          <p:nvPr/>
        </p:nvSpPr>
        <p:spPr>
          <a:xfrm>
            <a:off x="5378782" y="5180997"/>
            <a:ext cx="10993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rPr>
              <a:t>"Hombre"</a:t>
            </a:r>
          </a:p>
        </p:txBody>
      </p:sp>
      <p:sp>
        <p:nvSpPr>
          <p:cNvPr id="76" name="75 CuadroTexto"/>
          <p:cNvSpPr txBox="1"/>
          <p:nvPr/>
        </p:nvSpPr>
        <p:spPr>
          <a:xfrm>
            <a:off x="5705078" y="5384540"/>
            <a:ext cx="459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78" name="77 CuadroTexto"/>
          <p:cNvSpPr txBox="1"/>
          <p:nvPr/>
        </p:nvSpPr>
        <p:spPr>
          <a:xfrm>
            <a:off x="5956219" y="5570713"/>
            <a:ext cx="688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i="1" dirty="0">
                <a:solidFill>
                  <a:srgbClr val="FF6600"/>
                </a:solidFill>
                <a:latin typeface="Adobe Gothic Std B" pitchFamily="34" charset="-128"/>
                <a:ea typeface="Adobe Gothic Std B" pitchFamily="34" charset="-128"/>
                <a:cs typeface="Aharoni" panose="02010803020104030203" pitchFamily="2" charset="-79"/>
              </a:rPr>
              <a:t>false</a:t>
            </a:r>
          </a:p>
        </p:txBody>
      </p:sp>
      <p:sp>
        <p:nvSpPr>
          <p:cNvPr id="62" name="61 Rectángulo"/>
          <p:cNvSpPr/>
          <p:nvPr/>
        </p:nvSpPr>
        <p:spPr>
          <a:xfrm>
            <a:off x="1417018" y="3777981"/>
            <a:ext cx="58912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2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ManejadorRadioButton</a:t>
            </a:r>
            <a:r>
              <a:rPr lang="es-ES" sz="1200" dirty="0">
                <a:latin typeface="Adobe Fan Heiti Std B" pitchFamily="34" charset="-128"/>
                <a:ea typeface="Adobe Fan Heiti Std B" pitchFamily="34" charset="-128"/>
              </a:rPr>
              <a:t> manejador   = new </a:t>
            </a:r>
            <a:r>
              <a:rPr lang="es-ES" sz="1200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ManejadorRadioButton</a:t>
            </a:r>
            <a:r>
              <a:rPr lang="es-ES" sz="1200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()</a:t>
            </a:r>
            <a:r>
              <a:rPr lang="es-ES" sz="12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r>
              <a:rPr lang="es-ES" sz="12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botonHombre</a:t>
            </a:r>
            <a:r>
              <a:rPr lang="es-ES" sz="12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2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addItemListener</a:t>
            </a:r>
            <a:r>
              <a:rPr lang="es-ES" sz="12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200" dirty="0">
                <a:latin typeface="Adobe Fan Heiti Std B" pitchFamily="34" charset="-128"/>
                <a:ea typeface="Adobe Fan Heiti Std B" pitchFamily="34" charset="-128"/>
              </a:rPr>
              <a:t> manejador</a:t>
            </a:r>
            <a:r>
              <a:rPr lang="es-ES" sz="12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200" dirty="0">
                <a:latin typeface="Adobe Fan Heiti Std B" pitchFamily="34" charset="-128"/>
                <a:ea typeface="Adobe Fan Heiti Std B" pitchFamily="34" charset="-128"/>
              </a:rPr>
              <a:t>;  </a:t>
            </a:r>
            <a:r>
              <a:rPr lang="es-ES" sz="1200" dirty="0" err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botonMujer</a:t>
            </a:r>
            <a:r>
              <a:rPr lang="es-ES" sz="1200" dirty="0" err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200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addItemListener</a:t>
            </a:r>
            <a:r>
              <a:rPr lang="es-ES" sz="12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200" dirty="0">
                <a:latin typeface="Adobe Fan Heiti Std B" pitchFamily="34" charset="-128"/>
                <a:ea typeface="Adobe Fan Heiti Std B" pitchFamily="34" charset="-128"/>
              </a:rPr>
              <a:t> manejador</a:t>
            </a:r>
            <a:r>
              <a:rPr lang="es-ES" sz="12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200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</p:txBody>
      </p:sp>
      <p:pic>
        <p:nvPicPr>
          <p:cNvPr id="2050" name="Picture 2" descr="R:\Salesianos\TIC\Salesianos-cadiz.com\Imágenes\puntero-man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087" y="1392223"/>
            <a:ext cx="2667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15 Flecha abajo"/>
          <p:cNvSpPr/>
          <p:nvPr/>
        </p:nvSpPr>
        <p:spPr bwMode="auto">
          <a:xfrm>
            <a:off x="3534670" y="2091402"/>
            <a:ext cx="314416" cy="2564357"/>
          </a:xfrm>
          <a:prstGeom prst="downArrow">
            <a:avLst/>
          </a:prstGeom>
          <a:solidFill>
            <a:srgbClr val="FFFF00">
              <a:alpha val="52941"/>
            </a:srgbClr>
          </a:solidFill>
          <a:ln w="28575" cap="flat" cmpd="sng" algn="ctr">
            <a:solidFill>
              <a:srgbClr val="F8A602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9" name="68 Flecha abajo"/>
          <p:cNvSpPr/>
          <p:nvPr/>
        </p:nvSpPr>
        <p:spPr bwMode="auto">
          <a:xfrm rot="2174683">
            <a:off x="4505670" y="1732611"/>
            <a:ext cx="314416" cy="3245621"/>
          </a:xfrm>
          <a:prstGeom prst="downArrow">
            <a:avLst/>
          </a:prstGeom>
          <a:solidFill>
            <a:srgbClr val="FFFF00">
              <a:alpha val="52941"/>
            </a:srgbClr>
          </a:solidFill>
          <a:ln w="28575" cap="flat" cmpd="sng" algn="ctr">
            <a:solidFill>
              <a:srgbClr val="F8A602">
                <a:alpha val="50196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9" name="8 Grupo"/>
          <p:cNvGrpSpPr/>
          <p:nvPr/>
        </p:nvGrpSpPr>
        <p:grpSpPr>
          <a:xfrm>
            <a:off x="2890089" y="1482161"/>
            <a:ext cx="1729453" cy="912782"/>
            <a:chOff x="3707273" y="1474516"/>
            <a:chExt cx="1729453" cy="912782"/>
          </a:xfrm>
        </p:grpSpPr>
        <p:sp>
          <p:nvSpPr>
            <p:cNvPr id="42" name="41 Explosión 1"/>
            <p:cNvSpPr/>
            <p:nvPr/>
          </p:nvSpPr>
          <p:spPr bwMode="auto">
            <a:xfrm>
              <a:off x="3707273" y="1474516"/>
              <a:ext cx="1729453" cy="91278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3" name="42 Rectángulo"/>
            <p:cNvSpPr/>
            <p:nvPr/>
          </p:nvSpPr>
          <p:spPr>
            <a:xfrm>
              <a:off x="3883035" y="1742580"/>
              <a:ext cx="141518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itemEvent</a:t>
              </a:r>
              <a:endParaRPr lang="es-ES" sz="16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grpSp>
        <p:nvGrpSpPr>
          <p:cNvPr id="65" name="64 Grupo"/>
          <p:cNvGrpSpPr/>
          <p:nvPr/>
        </p:nvGrpSpPr>
        <p:grpSpPr>
          <a:xfrm>
            <a:off x="4742096" y="1484784"/>
            <a:ext cx="1729453" cy="912782"/>
            <a:chOff x="3707273" y="1474516"/>
            <a:chExt cx="1729453" cy="912782"/>
          </a:xfrm>
        </p:grpSpPr>
        <p:sp>
          <p:nvSpPr>
            <p:cNvPr id="66" name="65 Explosión 1"/>
            <p:cNvSpPr/>
            <p:nvPr/>
          </p:nvSpPr>
          <p:spPr bwMode="auto">
            <a:xfrm>
              <a:off x="3707273" y="1474516"/>
              <a:ext cx="1729453" cy="91278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68" name="67 Rectángulo"/>
            <p:cNvSpPr/>
            <p:nvPr/>
          </p:nvSpPr>
          <p:spPr>
            <a:xfrm>
              <a:off x="3883035" y="1742580"/>
              <a:ext cx="1415183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6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itemEvent</a:t>
              </a:r>
              <a:endParaRPr lang="es-ES" sz="16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961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52" grpId="0" animBg="1"/>
      <p:bldP spid="53" grpId="0" animBg="1"/>
      <p:bldP spid="59" grpId="0"/>
      <p:bldP spid="60" grpId="0"/>
      <p:bldP spid="61" grpId="0"/>
      <p:bldP spid="72" grpId="0"/>
      <p:bldP spid="72" grpId="1"/>
      <p:bldP spid="76" grpId="0"/>
      <p:bldP spid="76" grpId="1"/>
      <p:bldP spid="78" grpId="0"/>
      <p:bldP spid="78" grpId="1"/>
      <p:bldP spid="62" grpId="0" build="p"/>
      <p:bldP spid="16" grpId="0" animBg="1"/>
      <p:bldP spid="16" grpId="1" animBg="1"/>
      <p:bldP spid="6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 bwMode="auto">
          <a:xfrm>
            <a:off x="107504" y="1077417"/>
            <a:ext cx="8856984" cy="539586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10 Rectángulo"/>
          <p:cNvSpPr/>
          <p:nvPr/>
        </p:nvSpPr>
        <p:spPr bwMode="auto">
          <a:xfrm>
            <a:off x="251521" y="1519052"/>
            <a:ext cx="4494650" cy="25517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0" name="9 Grupo"/>
          <p:cNvGrpSpPr/>
          <p:nvPr/>
        </p:nvGrpSpPr>
        <p:grpSpPr>
          <a:xfrm>
            <a:off x="395536" y="4124815"/>
            <a:ext cx="4320480" cy="2149663"/>
            <a:chOff x="943824" y="4238743"/>
            <a:chExt cx="4320480" cy="1948896"/>
          </a:xfrm>
        </p:grpSpPr>
        <p:sp>
          <p:nvSpPr>
            <p:cNvPr id="7" name="6 Rectángulo redondeado"/>
            <p:cNvSpPr/>
            <p:nvPr/>
          </p:nvSpPr>
          <p:spPr bwMode="auto">
            <a:xfrm>
              <a:off x="943824" y="4238743"/>
              <a:ext cx="3960440" cy="194152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1098724" y="4318126"/>
              <a:ext cx="4165580" cy="1869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 err="1">
                  <a:solidFill>
                    <a:srgbClr val="FF3300"/>
                  </a:solidFill>
                </a:rPr>
                <a:t>private</a:t>
              </a:r>
              <a:r>
                <a:rPr lang="es-ES" sz="16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 err="1">
                  <a:solidFill>
                    <a:schemeClr val="bg1">
                      <a:lumMod val="50000"/>
                    </a:schemeClr>
                  </a:solidFill>
                </a:rPr>
                <a:t>class</a:t>
              </a:r>
              <a:r>
                <a:rPr lang="es-ES" sz="1600" b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>
                  <a:solidFill>
                    <a:srgbClr val="002060"/>
                  </a:solidFill>
                </a:rPr>
                <a:t>ManejadorCampoTexto</a:t>
              </a:r>
            </a:p>
            <a:p>
              <a:r>
                <a:rPr lang="es-ES" sz="1600" b="1">
                  <a:solidFill>
                    <a:srgbClr val="002060"/>
                  </a:solidFill>
                </a:rPr>
                <a:t>             </a:t>
              </a:r>
              <a:r>
                <a:rPr lang="es-ES" sz="1600" b="1">
                  <a:solidFill>
                    <a:schemeClr val="bg1"/>
                  </a:solidFill>
                </a:rPr>
                <a:t>implements</a:t>
              </a:r>
              <a:r>
                <a:rPr lang="es-ES" sz="1600" b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 err="1">
                  <a:solidFill>
                    <a:srgbClr val="002060"/>
                  </a:solidFill>
                </a:rPr>
                <a:t>ActionListener</a:t>
              </a:r>
              <a:r>
                <a:rPr lang="es-ES" sz="1600" b="1">
                  <a:solidFill>
                    <a:srgbClr val="002060"/>
                  </a:solidFill>
                </a:rPr>
                <a:t> {</a:t>
              </a: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r>
                <a:rPr lang="es-ES" sz="1600" b="1">
                  <a:solidFill>
                    <a:srgbClr val="002060"/>
                  </a:solidFill>
                </a:rPr>
                <a:t>}</a:t>
              </a:r>
              <a:endParaRPr lang="es-ES" sz="16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21" name="20 Rectángulo"/>
          <p:cNvSpPr/>
          <p:nvPr/>
        </p:nvSpPr>
        <p:spPr bwMode="auto">
          <a:xfrm>
            <a:off x="751374" y="4869160"/>
            <a:ext cx="3445746" cy="9361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/>
              <a:t>Clases Anónimas y Eventos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403648" y="692696"/>
            <a:ext cx="640871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rgbClr val="FF3300"/>
                </a:solidFill>
              </a:rPr>
              <a:t>public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class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1" dirty="0" err="1"/>
              <a:t>miFrame</a:t>
            </a:r>
            <a:r>
              <a:rPr lang="es-ES" b="1" dirty="0"/>
              <a:t> </a:t>
            </a:r>
            <a:r>
              <a:rPr lang="es-ES" b="1" dirty="0" err="1">
                <a:solidFill>
                  <a:schemeClr val="accent1"/>
                </a:solidFill>
              </a:rPr>
              <a:t>extends</a:t>
            </a:r>
            <a:r>
              <a:rPr lang="es-ES" b="1" dirty="0">
                <a:solidFill>
                  <a:schemeClr val="accent1"/>
                </a:solidFill>
              </a:rPr>
              <a:t> </a:t>
            </a:r>
            <a:r>
              <a:rPr lang="es-ES" b="1" dirty="0" err="1">
                <a:solidFill>
                  <a:srgbClr val="002060"/>
                </a:solidFill>
              </a:rPr>
              <a:t>JFrame</a:t>
            </a:r>
            <a:r>
              <a:rPr lang="es-ES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251520" y="1589321"/>
            <a:ext cx="4536504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dirty="0" err="1">
                <a:solidFill>
                  <a:schemeClr val="bg1">
                    <a:lumMod val="6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public</a:t>
            </a:r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 err="1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miFrame</a:t>
            </a:r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() {</a:t>
            </a:r>
          </a:p>
          <a:p>
            <a:r>
              <a:rPr lang="es-ES" sz="1500" b="1" dirty="0"/>
              <a:t>     </a:t>
            </a:r>
            <a:r>
              <a:rPr lang="es-ES" sz="1500" b="1" dirty="0">
                <a:ea typeface="Adobe Fan Heiti Std B" pitchFamily="34" charset="-128"/>
              </a:rPr>
              <a:t>…</a:t>
            </a: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    </a:t>
            </a:r>
            <a:r>
              <a:rPr lang="es-ES" sz="1500" b="1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= new   </a:t>
            </a:r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JTextField</a:t>
            </a:r>
            <a:r>
              <a:rPr lang="es-ES" sz="15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( 10 )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    </a:t>
            </a:r>
            <a:r>
              <a:rPr lang="es-ES" sz="1500" b="1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r>
              <a:rPr lang="es-ES" sz="1500" b="1">
                <a:ea typeface="Adobe Fan Heiti Std B" pitchFamily="34" charset="-128"/>
              </a:rPr>
              <a:t>     ...</a:t>
            </a:r>
            <a:endParaRPr lang="es-ES" sz="1500" b="1" dirty="0">
              <a:ea typeface="Adobe Fan Heiti Std B" pitchFamily="34" charset="-128"/>
            </a:endParaRPr>
          </a:p>
          <a:p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}</a:t>
            </a:r>
          </a:p>
        </p:txBody>
      </p:sp>
      <p:sp>
        <p:nvSpPr>
          <p:cNvPr id="19" name="18 Rectángulo"/>
          <p:cNvSpPr/>
          <p:nvPr/>
        </p:nvSpPr>
        <p:spPr>
          <a:xfrm>
            <a:off x="863006" y="4948426"/>
            <a:ext cx="3304286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dirty="0" err="1">
                <a:solidFill>
                  <a:schemeClr val="bg1">
                    <a:lumMod val="6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public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void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actionPerformed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 ...)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{</a:t>
            </a: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  ...</a:t>
            </a: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}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251521" y="1180498"/>
            <a:ext cx="428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/>
              <a:t>     </a:t>
            </a:r>
            <a:r>
              <a:rPr lang="es-ES" sz="16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JTextField</a:t>
            </a:r>
            <a:r>
              <a:rPr lang="es-ES" sz="1600" b="1" dirty="0">
                <a:latin typeface="Adobe Fan Heiti Std B" pitchFamily="34" charset="-128"/>
                <a:ea typeface="Adobe Fan Heiti Std B" pitchFamily="34" charset="-128"/>
              </a:rPr>
              <a:t>  campoTexto1;</a:t>
            </a:r>
          </a:p>
        </p:txBody>
      </p:sp>
      <p:grpSp>
        <p:nvGrpSpPr>
          <p:cNvPr id="2048" name="2047 Grupo"/>
          <p:cNvGrpSpPr/>
          <p:nvPr/>
        </p:nvGrpSpPr>
        <p:grpSpPr>
          <a:xfrm>
            <a:off x="4499992" y="1196752"/>
            <a:ext cx="4320480" cy="4334920"/>
            <a:chOff x="4499992" y="1196752"/>
            <a:chExt cx="4320480" cy="4334920"/>
          </a:xfrm>
        </p:grpSpPr>
        <p:sp>
          <p:nvSpPr>
            <p:cNvPr id="28" name="27 Rectángulo"/>
            <p:cNvSpPr/>
            <p:nvPr/>
          </p:nvSpPr>
          <p:spPr bwMode="auto">
            <a:xfrm>
              <a:off x="4788024" y="1519052"/>
              <a:ext cx="4032448" cy="392617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5" name="24 Rectángulo"/>
            <p:cNvSpPr/>
            <p:nvPr/>
          </p:nvSpPr>
          <p:spPr bwMode="auto">
            <a:xfrm>
              <a:off x="4932040" y="2646212"/>
              <a:ext cx="3816425" cy="2222948"/>
            </a:xfrm>
            <a:prstGeom prst="rect">
              <a:avLst/>
            </a:prstGeom>
            <a:solidFill>
              <a:srgbClr val="FFE79B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" name="2 Rectángulo"/>
            <p:cNvSpPr/>
            <p:nvPr/>
          </p:nvSpPr>
          <p:spPr bwMode="auto">
            <a:xfrm>
              <a:off x="5220072" y="3114074"/>
              <a:ext cx="3473985" cy="1244600"/>
            </a:xfrm>
            <a:prstGeom prst="rect">
              <a:avLst/>
            </a:prstGeom>
            <a:solidFill>
              <a:srgbClr val="FFFF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0" name="29 Rectángulo"/>
            <p:cNvSpPr/>
            <p:nvPr/>
          </p:nvSpPr>
          <p:spPr>
            <a:xfrm>
              <a:off x="4499992" y="1196752"/>
              <a:ext cx="41764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600" b="1" dirty="0"/>
                <a:t>     </a:t>
              </a:r>
              <a:r>
                <a:rPr lang="es-ES" sz="1600" b="1" dirty="0" err="1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JTextField</a:t>
              </a:r>
              <a:r>
                <a:rPr lang="es-ES" sz="1600" b="1" dirty="0">
                  <a:latin typeface="Adobe Fan Heiti Std B" pitchFamily="34" charset="-128"/>
                  <a:ea typeface="Adobe Fan Heiti Std B" pitchFamily="34" charset="-128"/>
                </a:rPr>
                <a:t>  campoTexto1;</a:t>
              </a:r>
            </a:p>
          </p:txBody>
        </p:sp>
        <p:sp>
          <p:nvSpPr>
            <p:cNvPr id="26" name="28 Rectángulo"/>
            <p:cNvSpPr/>
            <p:nvPr/>
          </p:nvSpPr>
          <p:spPr>
            <a:xfrm>
              <a:off x="4788025" y="1592132"/>
              <a:ext cx="4032447" cy="39395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500" b="1" dirty="0" err="1">
                  <a:solidFill>
                    <a:schemeClr val="bg1">
                      <a:lumMod val="65000"/>
                    </a:schemeClr>
                  </a:solidFill>
                  <a:latin typeface="Adobe Fan Heiti Std B" pitchFamily="34" charset="-128"/>
                  <a:ea typeface="Adobe Fan Heiti Std B" pitchFamily="34" charset="-128"/>
                </a:rPr>
                <a:t>public</a:t>
              </a:r>
              <a:r>
                <a:rPr lang="es-ES" sz="1500" b="1" dirty="0">
                  <a:solidFill>
                    <a:schemeClr val="accent5">
                      <a:lumMod val="25000"/>
                    </a:schemeClr>
                  </a:solidFill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b="1" dirty="0" err="1">
                  <a:solidFill>
                    <a:schemeClr val="accent5">
                      <a:lumMod val="25000"/>
                    </a:schemeClr>
                  </a:solidFill>
                  <a:latin typeface="Adobe Fan Heiti Std B" pitchFamily="34" charset="-128"/>
                  <a:ea typeface="Adobe Fan Heiti Std B" pitchFamily="34" charset="-128"/>
                </a:rPr>
                <a:t>miFrame</a:t>
              </a:r>
              <a:r>
                <a:rPr lang="es-ES" sz="1500" b="1" dirty="0">
                  <a:solidFill>
                    <a:schemeClr val="accent5">
                      <a:lumMod val="25000"/>
                    </a:schemeClr>
                  </a:solidFill>
                  <a:latin typeface="Adobe Fan Heiti Std B" pitchFamily="34" charset="-128"/>
                  <a:ea typeface="Adobe Fan Heiti Std B" pitchFamily="34" charset="-128"/>
                </a:rPr>
                <a:t>() {</a:t>
              </a:r>
            </a:p>
            <a:p>
              <a:r>
                <a:rPr lang="es-ES" sz="1500" dirty="0"/>
                <a:t>     </a:t>
              </a:r>
              <a:r>
                <a:rPr lang="es-ES" sz="1500" dirty="0">
                  <a:ea typeface="Adobe Fan Heiti Std B" pitchFamily="34" charset="-128"/>
                </a:rPr>
                <a:t>…</a:t>
              </a:r>
            </a:p>
            <a:p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      </a:t>
              </a:r>
              <a:r>
                <a:rPr lang="es-ES" sz="1500" dirty="0">
                  <a:solidFill>
                    <a:srgbClr val="000000"/>
                  </a:solidFill>
                  <a:latin typeface="Adobe Fan Heiti Std B" pitchFamily="34" charset="-128"/>
                  <a:ea typeface="Adobe Fan Heiti Std B" pitchFamily="34" charset="-128"/>
                </a:rPr>
                <a:t>campoTexto1</a:t>
              </a:r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 = new   </a:t>
              </a:r>
              <a:r>
                <a:rPr lang="es-ES" sz="1500" dirty="0" err="1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JTextField</a:t>
              </a:r>
              <a:r>
                <a:rPr lang="es-ES" sz="1500" dirty="0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( 10 )</a:t>
              </a:r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; </a:t>
              </a:r>
            </a:p>
            <a:p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      </a:t>
              </a:r>
              <a:r>
                <a:rPr lang="es-ES" sz="1500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add</a:t>
              </a:r>
              <a:r>
                <a:rPr lang="es-ES" sz="1500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(</a:t>
              </a:r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dirty="0">
                  <a:solidFill>
                    <a:srgbClr val="000000"/>
                  </a:solidFill>
                  <a:latin typeface="Adobe Fan Heiti Std B" pitchFamily="34" charset="-128"/>
                  <a:ea typeface="Adobe Fan Heiti Std B" pitchFamily="34" charset="-128"/>
                </a:rPr>
                <a:t>campoTexto1</a:t>
              </a:r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)</a:t>
              </a:r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;</a:t>
              </a:r>
              <a:endParaRPr lang="es-ES" sz="1500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endParaRPr>
            </a:p>
            <a:p>
              <a:pPr>
                <a:spcBef>
                  <a:spcPts val="1200"/>
                </a:spcBef>
              </a:pPr>
              <a:r>
                <a:rPr lang="es-ES" sz="1500" dirty="0">
                  <a:solidFill>
                    <a:srgbClr val="000000"/>
                  </a:solidFill>
                  <a:latin typeface="Adobe Fan Heiti Std B" pitchFamily="34" charset="-128"/>
                  <a:ea typeface="Adobe Fan Heiti Std B" pitchFamily="34" charset="-128"/>
                </a:rPr>
                <a:t>      campoTexto1</a:t>
              </a:r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.</a:t>
              </a:r>
              <a:r>
                <a:rPr lang="es-ES" sz="1500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addActionListener(</a:t>
              </a:r>
            </a:p>
            <a:p>
              <a:endPara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  <a:p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            new </a:t>
              </a:r>
              <a:r>
                <a:rPr lang="es-ES" sz="1500" b="1" dirty="0" err="1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ActionListener</a:t>
              </a:r>
              <a:r>
                <a:rPr lang="es-ES" sz="1500" b="1" dirty="0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() {</a:t>
              </a:r>
            </a:p>
            <a:p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             </a:t>
              </a:r>
              <a:r>
                <a:rPr lang="es-ES" sz="1500" b="1" dirty="0" err="1">
                  <a:solidFill>
                    <a:schemeClr val="bg1">
                      <a:lumMod val="65000"/>
                    </a:schemeClr>
                  </a:solidFill>
                  <a:latin typeface="Adobe Fan Heiti Std B" pitchFamily="34" charset="-128"/>
                  <a:ea typeface="Adobe Fan Heiti Std B" pitchFamily="34" charset="-128"/>
                </a:rPr>
                <a:t>public</a:t>
              </a:r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b="1" dirty="0" err="1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void</a:t>
              </a:r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actionPerformed</a:t>
              </a:r>
              <a:r>
                <a:rPr lang="es-ES" sz="1500" b="1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( ...)</a:t>
              </a:r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   	{</a:t>
              </a:r>
            </a:p>
            <a:p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                      ...</a:t>
              </a:r>
            </a:p>
            <a:p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                   }</a:t>
              </a:r>
            </a:p>
            <a:p>
              <a:r>
                <a:rPr lang="es-ES" sz="1500" b="1" dirty="0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             }</a:t>
              </a:r>
            </a:p>
            <a:p>
              <a:endParaRPr lang="es-ES" sz="1500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  <a:p>
              <a:r>
                <a:rPr lang="es-ES" sz="1500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      )</a:t>
              </a:r>
              <a:r>
                <a:rPr lang="es-ES" sz="1500" dirty="0">
                  <a:latin typeface="Adobe Fan Heiti Std B" pitchFamily="34" charset="-128"/>
                  <a:ea typeface="Adobe Fan Heiti Std B" pitchFamily="34" charset="-128"/>
                </a:rPr>
                <a:t>;</a:t>
              </a:r>
            </a:p>
            <a:p>
              <a:r>
                <a:rPr lang="es-ES" sz="1500" dirty="0">
                  <a:ea typeface="Adobe Fan Heiti Std B" pitchFamily="34" charset="-128"/>
                </a:rPr>
                <a:t>     ...</a:t>
              </a:r>
            </a:p>
            <a:p>
              <a:r>
                <a:rPr lang="es-ES" sz="1500" b="1" dirty="0">
                  <a:solidFill>
                    <a:schemeClr val="accent5">
                      <a:lumMod val="25000"/>
                    </a:schemeClr>
                  </a:solidFill>
                  <a:latin typeface="Adobe Fan Heiti Std B" pitchFamily="34" charset="-128"/>
                  <a:ea typeface="Adobe Fan Heiti Std B" pitchFamily="34" charset="-128"/>
                </a:rPr>
                <a:t>}</a:t>
              </a:r>
            </a:p>
          </p:txBody>
        </p:sp>
      </p:grpSp>
      <p:sp>
        <p:nvSpPr>
          <p:cNvPr id="15" name="14 Rectángulo"/>
          <p:cNvSpPr/>
          <p:nvPr/>
        </p:nvSpPr>
        <p:spPr bwMode="auto">
          <a:xfrm>
            <a:off x="395536" y="2646212"/>
            <a:ext cx="4263550" cy="880759"/>
          </a:xfrm>
          <a:prstGeom prst="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12 Rectángulo"/>
          <p:cNvSpPr/>
          <p:nvPr/>
        </p:nvSpPr>
        <p:spPr>
          <a:xfrm>
            <a:off x="495136" y="2664871"/>
            <a:ext cx="453650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ManejadorCampoTexto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manejador </a:t>
            </a: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          = new </a:t>
            </a:r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ManejadorCampoTexto</a:t>
            </a:r>
            <a:r>
              <a:rPr lang="es-ES" sz="15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pPr>
              <a:spcBef>
                <a:spcPts val="600"/>
              </a:spcBef>
            </a:pPr>
            <a:r>
              <a:rPr lang="es-ES" sz="1500" b="1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addActionListener(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manejador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 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</p:txBody>
      </p:sp>
      <p:sp>
        <p:nvSpPr>
          <p:cNvPr id="24" name="12 Rectángulo"/>
          <p:cNvSpPr/>
          <p:nvPr/>
        </p:nvSpPr>
        <p:spPr>
          <a:xfrm>
            <a:off x="496730" y="2700919"/>
            <a:ext cx="3414790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ES" sz="1500" b="1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addActionListener (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       new </a:t>
            </a:r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ManejadorCampoTexto</a:t>
            </a:r>
            <a:r>
              <a:rPr lang="es-ES" sz="15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</a:p>
          <a:p>
            <a:pPr>
              <a:spcBef>
                <a:spcPts val="0"/>
              </a:spcBef>
            </a:pP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7250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1.11111E-6 L 0.47343 1.11111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63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2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 redondeado"/>
          <p:cNvSpPr/>
          <p:nvPr/>
        </p:nvSpPr>
        <p:spPr bwMode="auto">
          <a:xfrm>
            <a:off x="683568" y="1077417"/>
            <a:ext cx="8061523" cy="5395862"/>
          </a:xfrm>
          <a:prstGeom prst="roundRect">
            <a:avLst>
              <a:gd name="adj" fmla="val 5453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1" name="10 Rectángulo"/>
          <p:cNvSpPr/>
          <p:nvPr/>
        </p:nvSpPr>
        <p:spPr bwMode="auto">
          <a:xfrm>
            <a:off x="1043609" y="1519050"/>
            <a:ext cx="5256583" cy="407018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/>
              <a:t>Clases Anónimas y Eventos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1403648" y="692696"/>
            <a:ext cx="640871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 err="1">
                <a:solidFill>
                  <a:srgbClr val="FF3300"/>
                </a:solidFill>
              </a:rPr>
              <a:t>public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</a:rPr>
              <a:t>class</a:t>
            </a:r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" b="1" dirty="0" err="1"/>
              <a:t>miFrame</a:t>
            </a:r>
            <a:r>
              <a:rPr lang="es-ES" b="1" dirty="0"/>
              <a:t> </a:t>
            </a:r>
            <a:r>
              <a:rPr lang="es-ES" b="1" dirty="0" err="1">
                <a:solidFill>
                  <a:schemeClr val="accent1"/>
                </a:solidFill>
              </a:rPr>
              <a:t>extends</a:t>
            </a:r>
            <a:r>
              <a:rPr lang="es-ES" b="1" dirty="0">
                <a:solidFill>
                  <a:schemeClr val="accent1"/>
                </a:solidFill>
              </a:rPr>
              <a:t> </a:t>
            </a:r>
            <a:r>
              <a:rPr lang="es-ES" b="1" dirty="0" err="1">
                <a:solidFill>
                  <a:srgbClr val="002060"/>
                </a:solidFill>
              </a:rPr>
              <a:t>JFrame</a:t>
            </a:r>
            <a:r>
              <a:rPr lang="es-ES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043609" y="1589321"/>
            <a:ext cx="453650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500" b="1" dirty="0" err="1">
                <a:solidFill>
                  <a:schemeClr val="bg1">
                    <a:lumMod val="6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public</a:t>
            </a:r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 err="1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miFrame</a:t>
            </a:r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() {</a:t>
            </a:r>
          </a:p>
          <a:p>
            <a:r>
              <a:rPr lang="es-ES" sz="1500" b="1" dirty="0"/>
              <a:t>     </a:t>
            </a:r>
            <a:r>
              <a:rPr lang="es-ES" sz="1500" b="1" dirty="0">
                <a:ea typeface="Adobe Fan Heiti Std B" pitchFamily="34" charset="-128"/>
              </a:rPr>
              <a:t>…</a:t>
            </a: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    </a:t>
            </a:r>
            <a:r>
              <a:rPr lang="es-ES" sz="1500" b="1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= new   </a:t>
            </a:r>
            <a:r>
              <a:rPr lang="es-ES" sz="15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JTextField</a:t>
            </a:r>
            <a:r>
              <a:rPr lang="es-ES" sz="1500" b="1" dirty="0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( 10 )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; </a:t>
            </a:r>
          </a:p>
          <a:p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     </a:t>
            </a:r>
            <a:r>
              <a:rPr lang="es-ES" sz="1500" b="1" dirty="0" err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(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 </a:t>
            </a:r>
            <a:r>
              <a:rPr lang="es-ES" sz="15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b="1" dirty="0">
                <a:latin typeface="Adobe Fan Heiti Std B" pitchFamily="34" charset="-128"/>
                <a:ea typeface="Adobe Fan Heiti Std B" pitchFamily="34" charset="-128"/>
              </a:rPr>
              <a:t>;</a:t>
            </a: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r>
              <a:rPr lang="es-ES" sz="1500" b="1">
                <a:ea typeface="Adobe Fan Heiti Std B" pitchFamily="34" charset="-128"/>
              </a:rPr>
              <a:t>    </a:t>
            </a:r>
          </a:p>
          <a:p>
            <a:endParaRPr lang="es-ES" sz="1500" b="1">
              <a:ea typeface="Adobe Fan Heiti Std B" pitchFamily="34" charset="-128"/>
            </a:endParaRPr>
          </a:p>
          <a:p>
            <a:r>
              <a:rPr lang="es-ES" sz="1500" b="1">
                <a:ea typeface="Adobe Fan Heiti Std B" pitchFamily="34" charset="-128"/>
              </a:rPr>
              <a:t>  </a:t>
            </a: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endParaRPr lang="es-ES" sz="1500" b="1">
              <a:ea typeface="Adobe Fan Heiti Std B" pitchFamily="34" charset="-128"/>
            </a:endParaRPr>
          </a:p>
          <a:p>
            <a:r>
              <a:rPr lang="es-ES" sz="1500" b="1">
                <a:ea typeface="Adobe Fan Heiti Std B" pitchFamily="34" charset="-128"/>
              </a:rPr>
              <a:t>    ...</a:t>
            </a:r>
            <a:endParaRPr lang="es-ES" sz="1500" b="1" dirty="0">
              <a:ea typeface="Adobe Fan Heiti Std B" pitchFamily="34" charset="-128"/>
            </a:endParaRPr>
          </a:p>
          <a:p>
            <a:r>
              <a:rPr lang="es-ES" sz="1500" b="1" dirty="0">
                <a:solidFill>
                  <a:schemeClr val="accent5">
                    <a:lumMod val="25000"/>
                  </a:schemeClr>
                </a:solidFill>
                <a:latin typeface="Adobe Fan Heiti Std B" pitchFamily="34" charset="-128"/>
                <a:ea typeface="Adobe Fan Heiti Std B" pitchFamily="34" charset="-128"/>
              </a:rPr>
              <a:t>}</a:t>
            </a:r>
          </a:p>
        </p:txBody>
      </p:sp>
      <p:sp>
        <p:nvSpPr>
          <p:cNvPr id="20" name="19 Rectángulo"/>
          <p:cNvSpPr/>
          <p:nvPr/>
        </p:nvSpPr>
        <p:spPr>
          <a:xfrm>
            <a:off x="1043610" y="1180498"/>
            <a:ext cx="428447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/>
              <a:t>     </a:t>
            </a:r>
            <a:r>
              <a:rPr lang="es-ES" sz="1600" b="1" dirty="0" err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JTextField</a:t>
            </a:r>
            <a:r>
              <a:rPr lang="es-ES" sz="1600" b="1" dirty="0">
                <a:latin typeface="Adobe Fan Heiti Std B" pitchFamily="34" charset="-128"/>
                <a:ea typeface="Adobe Fan Heiti Std B" pitchFamily="34" charset="-128"/>
              </a:rPr>
              <a:t>  campoTexto1;</a:t>
            </a:r>
          </a:p>
        </p:txBody>
      </p:sp>
      <p:sp>
        <p:nvSpPr>
          <p:cNvPr id="15" name="14 Rectángulo"/>
          <p:cNvSpPr/>
          <p:nvPr/>
        </p:nvSpPr>
        <p:spPr bwMode="auto">
          <a:xfrm>
            <a:off x="1244554" y="2646212"/>
            <a:ext cx="4839614" cy="2249227"/>
          </a:xfrm>
          <a:prstGeom prst="rect">
            <a:avLst/>
          </a:prstGeom>
          <a:solidFill>
            <a:srgbClr val="FFE79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4" name="12 Rectángulo"/>
          <p:cNvSpPr/>
          <p:nvPr/>
        </p:nvSpPr>
        <p:spPr>
          <a:xfrm>
            <a:off x="1318192" y="2677290"/>
            <a:ext cx="3928773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ES" sz="1500" b="1">
                <a:solidFill>
                  <a:srgbClr val="000000"/>
                </a:solidFill>
                <a:latin typeface="Adobe Fan Heiti Std B" pitchFamily="34" charset="-128"/>
                <a:ea typeface="Adobe Fan Heiti Std B" pitchFamily="34" charset="-128"/>
              </a:rPr>
              <a:t>campoTexto1</a:t>
            </a:r>
            <a:r>
              <a:rPr lang="es-ES" sz="1500" b="1">
                <a:latin typeface="Adobe Fan Heiti Std B" pitchFamily="34" charset="-128"/>
                <a:ea typeface="Adobe Fan Heiti Std B" pitchFamily="34" charset="-128"/>
              </a:rPr>
              <a:t>.</a:t>
            </a:r>
            <a:r>
              <a:rPr lang="es-ES" sz="1500" b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addActionListener (</a:t>
            </a:r>
            <a:r>
              <a:rPr lang="es-ES" sz="1500" b="1">
                <a:latin typeface="Adobe Fan Heiti Std B" pitchFamily="34" charset="-128"/>
                <a:ea typeface="Adobe Fan Heiti Std B" pitchFamily="34" charset="-128"/>
              </a:rPr>
              <a:t> </a:t>
            </a:r>
          </a:p>
          <a:p>
            <a:pPr>
              <a:spcBef>
                <a:spcPts val="0"/>
              </a:spcBef>
            </a:pPr>
            <a:r>
              <a:rPr lang="es-ES" sz="1500" b="1">
                <a:latin typeface="Adobe Fan Heiti Std B" pitchFamily="34" charset="-128"/>
                <a:ea typeface="Adobe Fan Heiti Std B" pitchFamily="34" charset="-128"/>
              </a:rPr>
              <a:t>             new                                                  </a:t>
            </a:r>
            <a:r>
              <a:rPr lang="es-ES" sz="1500" b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()</a:t>
            </a:r>
          </a:p>
          <a:p>
            <a:pPr>
              <a:spcBef>
                <a:spcPts val="0"/>
              </a:spcBef>
            </a:pPr>
            <a:endParaRPr lang="es-ES" sz="1500" b="1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>
              <a:spcBef>
                <a:spcPts val="0"/>
              </a:spcBef>
            </a:pPr>
            <a:endParaRPr lang="es-ES" sz="1500" b="1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>
              <a:spcBef>
                <a:spcPts val="0"/>
              </a:spcBef>
            </a:pPr>
            <a:endParaRPr lang="es-ES" sz="1500" b="1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>
              <a:spcBef>
                <a:spcPts val="0"/>
              </a:spcBef>
            </a:pPr>
            <a:endParaRPr lang="es-ES" sz="1500" b="1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>
              <a:spcBef>
                <a:spcPts val="0"/>
              </a:spcBef>
            </a:pPr>
            <a:endParaRPr lang="es-ES" sz="1500" b="1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>
              <a:spcBef>
                <a:spcPts val="0"/>
              </a:spcBef>
            </a:pPr>
            <a:endParaRPr lang="es-ES" sz="1500" b="1">
              <a:solidFill>
                <a:srgbClr val="FF0000"/>
              </a:solidFill>
              <a:latin typeface="Adobe Fan Heiti Std B" pitchFamily="34" charset="-128"/>
              <a:ea typeface="Adobe Fan Heiti Std B" pitchFamily="34" charset="-128"/>
            </a:endParaRPr>
          </a:p>
          <a:p>
            <a:pPr>
              <a:spcBef>
                <a:spcPts val="0"/>
              </a:spcBef>
            </a:pPr>
            <a:r>
              <a:rPr lang="es-ES" sz="1500" b="1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rPr>
              <a:t>)</a:t>
            </a:r>
            <a:r>
              <a:rPr lang="es-ES" sz="1500" b="1">
                <a:latin typeface="Adobe Fan Heiti Std B" pitchFamily="34" charset="-128"/>
                <a:ea typeface="Adobe Fan Heiti Std B" pitchFamily="34" charset="-128"/>
              </a:rPr>
              <a:t>;</a:t>
            </a:r>
            <a:endParaRPr lang="es-ES" sz="15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27" name="12 Rectángulo"/>
          <p:cNvSpPr/>
          <p:nvPr/>
        </p:nvSpPr>
        <p:spPr>
          <a:xfrm>
            <a:off x="2834409" y="2912596"/>
            <a:ext cx="2122127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lang="es-ES" sz="1500" b="1">
                <a:solidFill>
                  <a:schemeClr val="accent1"/>
                </a:solidFill>
                <a:latin typeface="Adobe Fan Heiti Std B" pitchFamily="34" charset="-128"/>
                <a:ea typeface="Adobe Fan Heiti Std B" pitchFamily="34" charset="-128"/>
              </a:rPr>
              <a:t>  ManejadorTexto     ;</a:t>
            </a:r>
          </a:p>
        </p:txBody>
      </p:sp>
      <p:grpSp>
        <p:nvGrpSpPr>
          <p:cNvPr id="10" name="9 Grupo"/>
          <p:cNvGrpSpPr/>
          <p:nvPr/>
        </p:nvGrpSpPr>
        <p:grpSpPr>
          <a:xfrm>
            <a:off x="4600698" y="4375470"/>
            <a:ext cx="4320480" cy="1933850"/>
            <a:chOff x="943824" y="4238743"/>
            <a:chExt cx="4320480" cy="1753239"/>
          </a:xfrm>
        </p:grpSpPr>
        <p:sp>
          <p:nvSpPr>
            <p:cNvPr id="7" name="6 Rectángulo redondeado"/>
            <p:cNvSpPr/>
            <p:nvPr/>
          </p:nvSpPr>
          <p:spPr bwMode="auto">
            <a:xfrm>
              <a:off x="943824" y="4238743"/>
              <a:ext cx="3960440" cy="1753239"/>
            </a:xfrm>
            <a:prstGeom prst="roundRect">
              <a:avLst>
                <a:gd name="adj" fmla="val 9132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8 CuadroTexto"/>
            <p:cNvSpPr txBox="1"/>
            <p:nvPr/>
          </p:nvSpPr>
          <p:spPr>
            <a:xfrm>
              <a:off x="1098724" y="4318126"/>
              <a:ext cx="4165580" cy="5022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 err="1">
                  <a:solidFill>
                    <a:srgbClr val="FF3300"/>
                  </a:solidFill>
                </a:rPr>
                <a:t>private</a:t>
              </a:r>
              <a:r>
                <a:rPr lang="es-ES" sz="1600" b="1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 err="1">
                  <a:solidFill>
                    <a:schemeClr val="bg1">
                      <a:lumMod val="50000"/>
                    </a:schemeClr>
                  </a:solidFill>
                </a:rPr>
                <a:t>class</a:t>
              </a:r>
              <a:r>
                <a:rPr lang="es-ES" sz="1600" b="1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s-ES" sz="1600" b="1">
                  <a:solidFill>
                    <a:srgbClr val="002060"/>
                  </a:solidFill>
                </a:rPr>
                <a:t>ManejadorCampoTexto</a:t>
              </a:r>
            </a:p>
            <a:p>
              <a:r>
                <a:rPr lang="es-ES" sz="1400" b="1">
                  <a:solidFill>
                    <a:schemeClr val="bg1"/>
                  </a:solidFill>
                </a:rPr>
                <a:t>implements</a:t>
              </a:r>
              <a:endParaRPr lang="es-ES" sz="14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4" name="Grupo 3"/>
          <p:cNvGrpSpPr/>
          <p:nvPr/>
        </p:nvGrpSpPr>
        <p:grpSpPr>
          <a:xfrm>
            <a:off x="4615516" y="4677704"/>
            <a:ext cx="4165580" cy="1569660"/>
            <a:chOff x="4615516" y="4677704"/>
            <a:chExt cx="4165580" cy="1569660"/>
          </a:xfrm>
        </p:grpSpPr>
        <p:sp>
          <p:nvSpPr>
            <p:cNvPr id="21" name="20 Rectángulo"/>
            <p:cNvSpPr/>
            <p:nvPr/>
          </p:nvSpPr>
          <p:spPr bwMode="auto">
            <a:xfrm>
              <a:off x="4956536" y="5083559"/>
              <a:ext cx="3445746" cy="76729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18 Rectángulo"/>
            <p:cNvSpPr/>
            <p:nvPr/>
          </p:nvSpPr>
          <p:spPr>
            <a:xfrm>
              <a:off x="5068168" y="5079475"/>
              <a:ext cx="3304286" cy="7848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500" b="1" dirty="0" err="1">
                  <a:solidFill>
                    <a:schemeClr val="bg1">
                      <a:lumMod val="65000"/>
                    </a:schemeClr>
                  </a:solidFill>
                  <a:latin typeface="Adobe Fan Heiti Std B" pitchFamily="34" charset="-128"/>
                  <a:ea typeface="Adobe Fan Heiti Std B" pitchFamily="34" charset="-128"/>
                </a:rPr>
                <a:t>public</a:t>
              </a:r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b="1" dirty="0" err="1">
                  <a:solidFill>
                    <a:schemeClr val="accent1"/>
                  </a:solidFill>
                  <a:latin typeface="Adobe Fan Heiti Std B" pitchFamily="34" charset="-128"/>
                  <a:ea typeface="Adobe Fan Heiti Std B" pitchFamily="34" charset="-128"/>
                </a:rPr>
                <a:t>void</a:t>
              </a:r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</a:t>
              </a:r>
              <a:r>
                <a:rPr lang="es-ES" sz="15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actionPerformed</a:t>
              </a:r>
              <a:r>
                <a:rPr lang="es-ES" sz="1500" b="1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( ...)</a:t>
              </a:r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 {</a:t>
              </a:r>
            </a:p>
            <a:p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    ...</a:t>
              </a:r>
            </a:p>
            <a:p>
              <a:r>
                <a:rPr lang="es-ES" sz="1500" b="1" dirty="0">
                  <a:latin typeface="Adobe Fan Heiti Std B" pitchFamily="34" charset="-128"/>
                  <a:ea typeface="Adobe Fan Heiti Std B" pitchFamily="34" charset="-128"/>
                </a:rPr>
                <a:t>}</a:t>
              </a:r>
            </a:p>
          </p:txBody>
        </p:sp>
        <p:sp>
          <p:nvSpPr>
            <p:cNvPr id="31" name="8 CuadroTexto"/>
            <p:cNvSpPr txBox="1"/>
            <p:nvPr/>
          </p:nvSpPr>
          <p:spPr>
            <a:xfrm>
              <a:off x="4615516" y="4677704"/>
              <a:ext cx="41655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>
                  <a:solidFill>
                    <a:srgbClr val="002060"/>
                  </a:solidFill>
                </a:rPr>
                <a:t>  </a:t>
              </a:r>
              <a:r>
                <a:rPr lang="es-ES" sz="1600" b="1">
                  <a:solidFill>
                    <a:schemeClr val="bg1"/>
                  </a:solidFill>
                </a:rPr>
                <a:t>                   </a:t>
              </a:r>
              <a:r>
                <a:rPr lang="es-ES" sz="1600" b="1">
                  <a:solidFill>
                    <a:schemeClr val="accent1"/>
                  </a:solidFill>
                </a:rPr>
                <a:t>ActionListener </a:t>
              </a:r>
              <a:r>
                <a:rPr lang="es-ES" sz="1600" b="1">
                  <a:solidFill>
                    <a:srgbClr val="002060"/>
                  </a:solidFill>
                </a:rPr>
                <a:t>   {</a:t>
              </a: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endParaRPr lang="es-ES" sz="1600" b="1">
                <a:solidFill>
                  <a:srgbClr val="002060"/>
                </a:solidFill>
              </a:endParaRPr>
            </a:p>
            <a:p>
              <a:r>
                <a:rPr lang="es-ES" sz="1600" b="1">
                  <a:solidFill>
                    <a:srgbClr val="002060"/>
                  </a:solidFill>
                </a:rPr>
                <a:t>  }</a:t>
              </a:r>
              <a:endParaRPr lang="es-ES" sz="1600" b="1" dirty="0">
                <a:solidFill>
                  <a:srgbClr val="00206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892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2.22222E-6 L -0.3191 -0.26042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955" y="-130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/>
              <a:t>JComboBox</a:t>
            </a:r>
            <a:endParaRPr lang="es-ES" sz="1600" dirty="0"/>
          </a:p>
        </p:txBody>
      </p:sp>
      <p:pic>
        <p:nvPicPr>
          <p:cNvPr id="1026" name="Picture 2" descr="C:\Users\Raúl\Desktop\Ilustraciones GUI\35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895350"/>
            <a:ext cx="444500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aúl\Desktop\Ilustraciones GUI\35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241" y="1355725"/>
            <a:ext cx="9652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Raúl\Desktop\Ilustraciones GUI\35b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241" y="1355725"/>
            <a:ext cx="9652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aúl\Desktop\Ilustraciones GUI\35c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5241" y="1355725"/>
            <a:ext cx="965200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:\Users\Raúl\Desktop\Ilustraciones GUI\35d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4766" y="1355725"/>
            <a:ext cx="965200" cy="31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:\Salesianos\TIC\Salesianos-cadiz.com\Imágenes\puntero-mano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253" y="1473200"/>
            <a:ext cx="2667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12 Rectángulo"/>
          <p:cNvSpPr/>
          <p:nvPr/>
        </p:nvSpPr>
        <p:spPr bwMode="auto">
          <a:xfrm>
            <a:off x="683060" y="3140968"/>
            <a:ext cx="7899236" cy="32598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949623" y="3150408"/>
            <a:ext cx="59046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</a:rPr>
              <a:t>String[] </a:t>
            </a:r>
            <a:r>
              <a:rPr lang="en-US" sz="1300" dirty="0" err="1">
                <a:solidFill>
                  <a:srgbClr val="000000"/>
                </a:solidFill>
              </a:rPr>
              <a:t>provincias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= {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>
                <a:solidFill>
                  <a:srgbClr val="00B050"/>
                </a:solidFill>
              </a:rPr>
              <a:t>"Cádiz", "</a:t>
            </a:r>
            <a:r>
              <a:rPr lang="en-US" sz="1300" dirty="0" err="1">
                <a:solidFill>
                  <a:srgbClr val="00B050"/>
                </a:solidFill>
              </a:rPr>
              <a:t>Sevilla</a:t>
            </a:r>
            <a:r>
              <a:rPr lang="en-US" sz="1300" dirty="0">
                <a:solidFill>
                  <a:srgbClr val="00B050"/>
                </a:solidFill>
              </a:rPr>
              <a:t>", "Huelva", "</a:t>
            </a:r>
            <a:r>
              <a:rPr lang="en-US" sz="1300" dirty="0" err="1">
                <a:solidFill>
                  <a:srgbClr val="00B050"/>
                </a:solidFill>
              </a:rPr>
              <a:t>Málaga</a:t>
            </a:r>
            <a:r>
              <a:rPr lang="en-US" sz="1300" dirty="0">
                <a:solidFill>
                  <a:srgbClr val="00B050"/>
                </a:solidFill>
              </a:rPr>
              <a:t>", "Córdoba "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};</a:t>
            </a:r>
          </a:p>
          <a:p>
            <a:r>
              <a:rPr lang="en-US" sz="1300" dirty="0" err="1">
                <a:solidFill>
                  <a:schemeClr val="accent1"/>
                </a:solidFill>
              </a:rPr>
              <a:t>JComboBox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/>
              <a:t>comboProvincias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new </a:t>
            </a:r>
            <a:r>
              <a:rPr lang="en-US" sz="1300" dirty="0" err="1">
                <a:solidFill>
                  <a:srgbClr val="FF0000"/>
                </a:solidFill>
              </a:rPr>
              <a:t>JComboBox</a:t>
            </a:r>
            <a:r>
              <a:rPr lang="en-US" sz="1300" dirty="0">
                <a:solidFill>
                  <a:srgbClr val="FF0000"/>
                </a:solidFill>
              </a:rPr>
              <a:t>(</a:t>
            </a:r>
            <a:r>
              <a:rPr lang="en-US" sz="1300" dirty="0"/>
              <a:t> </a:t>
            </a:r>
            <a:r>
              <a:rPr lang="en-US" sz="1300" dirty="0" err="1"/>
              <a:t>provincias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comboProvincias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setMaximumRowCount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3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comboProvincias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setSelectedIndex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2 </a:t>
            </a:r>
            <a:r>
              <a:rPr lang="en-US" sz="1300" dirty="0">
                <a:solidFill>
                  <a:srgbClr val="FF0000"/>
                </a:solidFill>
              </a:rPr>
              <a:t> );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sz="1300" dirty="0" err="1"/>
              <a:t>comboProvincias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setSelectedItem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"Huelva" 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FF0000"/>
                </a:solidFill>
              </a:rPr>
              <a:t>add( </a:t>
            </a:r>
            <a:r>
              <a:rPr lang="en-US" sz="1300" dirty="0" err="1"/>
              <a:t>comboProvincias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endParaRPr lang="es-ES" sz="1200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15" name="14 Rectángulo"/>
          <p:cNvSpPr/>
          <p:nvPr/>
        </p:nvSpPr>
        <p:spPr>
          <a:xfrm>
            <a:off x="949623" y="4365104"/>
            <a:ext cx="7251352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 err="1"/>
              <a:t>comboProvincias</a:t>
            </a:r>
            <a:r>
              <a:rPr lang="en-US" sz="1300" dirty="0" err="1">
                <a:solidFill>
                  <a:schemeClr val="accent1"/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addItemListener</a:t>
            </a:r>
            <a:r>
              <a:rPr lang="en-US" sz="1300" dirty="0">
                <a:solidFill>
                  <a:srgbClr val="FF0000"/>
                </a:solidFill>
              </a:rPr>
              <a:t>(</a:t>
            </a:r>
          </a:p>
          <a:p>
            <a:r>
              <a:rPr lang="en-US" sz="1300" dirty="0">
                <a:solidFill>
                  <a:schemeClr val="accent1"/>
                </a:solidFill>
              </a:rPr>
              <a:t>      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new </a:t>
            </a:r>
            <a:r>
              <a:rPr lang="en-US" sz="1300" dirty="0" err="1">
                <a:solidFill>
                  <a:schemeClr val="accent1"/>
                </a:solidFill>
              </a:rPr>
              <a:t>ItemListener</a:t>
            </a:r>
            <a:r>
              <a:rPr lang="en-US" sz="1300" dirty="0">
                <a:solidFill>
                  <a:schemeClr val="accent1"/>
                </a:solidFill>
              </a:rPr>
              <a:t>()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{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public void </a:t>
            </a:r>
            <a:r>
              <a:rPr lang="en-US" sz="1300" dirty="0" err="1">
                <a:solidFill>
                  <a:srgbClr val="FF0000"/>
                </a:solidFill>
              </a:rPr>
              <a:t>itemStateChanged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 err="1">
                <a:solidFill>
                  <a:schemeClr val="accent1"/>
                </a:solidFill>
              </a:rPr>
              <a:t>ItemEven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t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/>
              <a:t>evento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{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     </a:t>
            </a:r>
            <a:r>
              <a:rPr lang="en-US" sz="1300" dirty="0" err="1">
                <a:solidFill>
                  <a:schemeClr val="accent1"/>
                </a:solidFill>
              </a:rPr>
              <a:t>JComboBox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/>
              <a:t>combo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300" dirty="0">
                <a:solidFill>
                  <a:schemeClr val="accent1"/>
                </a:solidFill>
              </a:rPr>
              <a:t>(</a:t>
            </a:r>
            <a:r>
              <a:rPr lang="en-US" sz="1300" dirty="0" err="1">
                <a:solidFill>
                  <a:schemeClr val="accent1"/>
                </a:solidFill>
              </a:rPr>
              <a:t>JComboBox</a:t>
            </a:r>
            <a:r>
              <a:rPr lang="en-US" sz="1300" dirty="0">
                <a:solidFill>
                  <a:schemeClr val="accent1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/>
              <a:t>evento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getSource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     </a:t>
            </a:r>
            <a:r>
              <a:rPr lang="en-US" sz="1300" dirty="0">
                <a:solidFill>
                  <a:schemeClr val="accent1"/>
                </a:solidFill>
              </a:rPr>
              <a:t>String </a:t>
            </a:r>
            <a:r>
              <a:rPr lang="en-US" sz="1300" dirty="0"/>
              <a:t>item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300" dirty="0">
                <a:solidFill>
                  <a:schemeClr val="accent1"/>
                </a:solidFill>
              </a:rPr>
              <a:t>(String)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/>
              <a:t>evento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getItem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300" dirty="0">
                <a:solidFill>
                  <a:schemeClr val="accent1"/>
                </a:solidFill>
              </a:rPr>
              <a:t>                   </a:t>
            </a:r>
            <a:r>
              <a:rPr lang="en-US" sz="1300" dirty="0" err="1">
                <a:solidFill>
                  <a:schemeClr val="accent1"/>
                </a:solidFill>
              </a:rPr>
              <a:t>int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 err="1"/>
              <a:t>estado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300" dirty="0" err="1"/>
              <a:t>evento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getStateChange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}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}</a:t>
            </a:r>
          </a:p>
          <a:p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  <a:endParaRPr lang="es-ES" sz="1200" dirty="0">
              <a:solidFill>
                <a:schemeClr val="bg1">
                  <a:lumMod val="50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16" name="15 Rectángulo"/>
          <p:cNvSpPr/>
          <p:nvPr/>
        </p:nvSpPr>
        <p:spPr>
          <a:xfrm>
            <a:off x="194240" y="1177702"/>
            <a:ext cx="2682252" cy="1627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s-ES" sz="1300" dirty="0" err="1">
                <a:solidFill>
                  <a:schemeClr val="accent4"/>
                </a:solidFill>
                <a:latin typeface="+mn-lt"/>
                <a:ea typeface="Adobe Fan Heiti Std B" pitchFamily="34" charset="-128"/>
              </a:rPr>
              <a:t>combo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itchFamily="34" charset="-128"/>
              </a:rPr>
              <a:t>.</a:t>
            </a:r>
            <a:r>
              <a:rPr lang="es-ES" sz="1300" dirty="0" err="1">
                <a:solidFill>
                  <a:srgbClr val="FF0000"/>
                </a:solidFill>
                <a:latin typeface="+mn-lt"/>
                <a:ea typeface="Adobe Fan Heiti Std B" pitchFamily="34" charset="-128"/>
              </a:rPr>
              <a:t>getItemCount</a:t>
            </a:r>
            <a:r>
              <a:rPr lang="es-ES" sz="1300" dirty="0">
                <a:solidFill>
                  <a:srgbClr val="FF0000"/>
                </a:solidFill>
                <a:latin typeface="+mn-lt"/>
                <a:ea typeface="Adobe Fan Heiti Std B" pitchFamily="34" charset="-128"/>
              </a:rPr>
              <a:t>()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itchFamily="34" charset="-128"/>
              </a:rPr>
              <a:t>;</a:t>
            </a: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sz="1300" dirty="0" err="1">
                <a:latin typeface="+mn-lt"/>
              </a:rPr>
              <a:t>combo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.</a:t>
            </a:r>
            <a:r>
              <a:rPr lang="en-US" sz="1300" dirty="0" err="1">
                <a:solidFill>
                  <a:srgbClr val="FF0000"/>
                </a:solidFill>
                <a:latin typeface="+mn-lt"/>
              </a:rPr>
              <a:t>getSelectedItem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();</a:t>
            </a:r>
            <a:endParaRPr lang="en-US" sz="13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n-US" sz="1300" dirty="0" err="1">
                <a:latin typeface="+mn-lt"/>
              </a:rPr>
              <a:t>combo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  <a:latin typeface="+mn-lt"/>
              </a:rPr>
              <a:t>.</a:t>
            </a:r>
            <a:r>
              <a:rPr lang="en-US" sz="1300" dirty="0" err="1">
                <a:solidFill>
                  <a:srgbClr val="FF0000"/>
                </a:solidFill>
                <a:latin typeface="+mn-lt"/>
              </a:rPr>
              <a:t>getSelectedIndex</a:t>
            </a:r>
            <a:r>
              <a:rPr lang="en-US" sz="1300" dirty="0">
                <a:solidFill>
                  <a:srgbClr val="FF0000"/>
                </a:solidFill>
                <a:latin typeface="+mn-lt"/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;</a:t>
            </a:r>
          </a:p>
          <a:p>
            <a:pPr>
              <a:lnSpc>
                <a:spcPct val="200000"/>
              </a:lnSpc>
              <a:spcAft>
                <a:spcPts val="0"/>
              </a:spcAft>
            </a:pPr>
            <a:r>
              <a:rPr lang="es-ES" sz="1300" dirty="0" err="1">
                <a:solidFill>
                  <a:schemeClr val="accent4"/>
                </a:solidFill>
                <a:latin typeface="+mn-lt"/>
                <a:ea typeface="Adobe Fan Heiti Std B" pitchFamily="34" charset="-128"/>
              </a:rPr>
              <a:t>combo</a:t>
            </a:r>
            <a:r>
              <a:rPr lang="es-ES" sz="1300" dirty="0" err="1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itchFamily="34" charset="-128"/>
              </a:rPr>
              <a:t>.</a:t>
            </a:r>
            <a:r>
              <a:rPr lang="es-ES" sz="1300" dirty="0" err="1">
                <a:solidFill>
                  <a:srgbClr val="FF0000"/>
                </a:solidFill>
                <a:latin typeface="+mn-lt"/>
                <a:ea typeface="Adobe Fan Heiti Std B" pitchFamily="34" charset="-128"/>
              </a:rPr>
              <a:t>getItemAt</a:t>
            </a:r>
            <a:r>
              <a:rPr lang="es-ES" sz="1300" dirty="0">
                <a:solidFill>
                  <a:srgbClr val="FF0000"/>
                </a:solidFill>
                <a:latin typeface="+mn-lt"/>
                <a:ea typeface="Adobe Fan Heiti Std B" pitchFamily="34" charset="-128"/>
              </a:rPr>
              <a:t>(2)</a:t>
            </a:r>
            <a:r>
              <a:rPr lang="es-ES" sz="1300" dirty="0">
                <a:solidFill>
                  <a:schemeClr val="bg1">
                    <a:lumMod val="50000"/>
                  </a:schemeClr>
                </a:solidFill>
                <a:latin typeface="+mn-lt"/>
                <a:ea typeface="Adobe Fan Heiti Std B" pitchFamily="34" charset="-128"/>
              </a:rPr>
              <a:t>;</a:t>
            </a:r>
          </a:p>
        </p:txBody>
      </p:sp>
      <p:grpSp>
        <p:nvGrpSpPr>
          <p:cNvPr id="21" name="20 Grupo"/>
          <p:cNvGrpSpPr/>
          <p:nvPr/>
        </p:nvGrpSpPr>
        <p:grpSpPr>
          <a:xfrm>
            <a:off x="2627784" y="2139478"/>
            <a:ext cx="969294" cy="307777"/>
            <a:chOff x="4576393" y="5255738"/>
            <a:chExt cx="969294" cy="307777"/>
          </a:xfrm>
        </p:grpSpPr>
        <p:cxnSp>
          <p:nvCxnSpPr>
            <p:cNvPr id="22" name="21 Conector recto de flecha"/>
            <p:cNvCxnSpPr/>
            <p:nvPr/>
          </p:nvCxnSpPr>
          <p:spPr bwMode="auto">
            <a:xfrm>
              <a:off x="4576393" y="5379606"/>
              <a:ext cx="609432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22 CuadroTexto"/>
            <p:cNvSpPr txBox="1"/>
            <p:nvPr/>
          </p:nvSpPr>
          <p:spPr>
            <a:xfrm>
              <a:off x="5164618" y="5255738"/>
              <a:ext cx="381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3</a:t>
              </a:r>
            </a:p>
          </p:txBody>
        </p:sp>
      </p:grpSp>
      <p:grpSp>
        <p:nvGrpSpPr>
          <p:cNvPr id="32" name="31 Grupo"/>
          <p:cNvGrpSpPr/>
          <p:nvPr/>
        </p:nvGrpSpPr>
        <p:grpSpPr>
          <a:xfrm>
            <a:off x="2157636" y="2516282"/>
            <a:ext cx="1900783" cy="299140"/>
            <a:chOff x="2157636" y="2607340"/>
            <a:chExt cx="1900783" cy="299140"/>
          </a:xfrm>
        </p:grpSpPr>
        <p:grpSp>
          <p:nvGrpSpPr>
            <p:cNvPr id="18" name="17 Grupo"/>
            <p:cNvGrpSpPr/>
            <p:nvPr/>
          </p:nvGrpSpPr>
          <p:grpSpPr>
            <a:xfrm>
              <a:off x="3194323" y="2607340"/>
              <a:ext cx="864096" cy="299140"/>
              <a:chOff x="1589653" y="2081134"/>
              <a:chExt cx="864096" cy="329882"/>
            </a:xfrm>
          </p:grpSpPr>
          <p:sp>
            <p:nvSpPr>
              <p:cNvPr id="19" name="18 Elipse"/>
              <p:cNvSpPr/>
              <p:nvPr/>
            </p:nvSpPr>
            <p:spPr bwMode="auto">
              <a:xfrm>
                <a:off x="1609798" y="2081134"/>
                <a:ext cx="801961" cy="329882"/>
              </a:xfrm>
              <a:prstGeom prst="ellipse">
                <a:avLst/>
              </a:prstGeom>
              <a:solidFill>
                <a:srgbClr val="FFDB6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20" name="19 CuadroTexto"/>
              <p:cNvSpPr txBox="1"/>
              <p:nvPr/>
            </p:nvSpPr>
            <p:spPr>
              <a:xfrm>
                <a:off x="1589653" y="2091756"/>
                <a:ext cx="86409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400" dirty="0">
                    <a:solidFill>
                      <a:srgbClr val="FF6600"/>
                    </a:solidFill>
                    <a:latin typeface="Adobe Gothic Std B" pitchFamily="34" charset="-128"/>
                    <a:ea typeface="Adobe Gothic Std B" pitchFamily="34" charset="-128"/>
                    <a:cs typeface="Aharoni" panose="02010803020104030203" pitchFamily="2" charset="-79"/>
                  </a:rPr>
                  <a:t>Sevilla</a:t>
                </a:r>
              </a:p>
            </p:txBody>
          </p:sp>
        </p:grpSp>
        <p:cxnSp>
          <p:nvCxnSpPr>
            <p:cNvPr id="24" name="23 Conector recto de flecha"/>
            <p:cNvCxnSpPr/>
            <p:nvPr/>
          </p:nvCxnSpPr>
          <p:spPr bwMode="auto">
            <a:xfrm>
              <a:off x="2157636" y="2756519"/>
              <a:ext cx="1070595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29 Grupo"/>
          <p:cNvGrpSpPr/>
          <p:nvPr/>
        </p:nvGrpSpPr>
        <p:grpSpPr>
          <a:xfrm>
            <a:off x="2312090" y="1333028"/>
            <a:ext cx="1331854" cy="307777"/>
            <a:chOff x="2312090" y="1424086"/>
            <a:chExt cx="1331854" cy="307777"/>
          </a:xfrm>
        </p:grpSpPr>
        <p:cxnSp>
          <p:nvCxnSpPr>
            <p:cNvPr id="3" name="2 Conector recto de flecha"/>
            <p:cNvCxnSpPr/>
            <p:nvPr/>
          </p:nvCxnSpPr>
          <p:spPr bwMode="auto">
            <a:xfrm>
              <a:off x="2312090" y="1549400"/>
              <a:ext cx="936062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28 CuadroTexto"/>
            <p:cNvSpPr txBox="1"/>
            <p:nvPr/>
          </p:nvSpPr>
          <p:spPr>
            <a:xfrm>
              <a:off x="3262875" y="1424086"/>
              <a:ext cx="381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5</a:t>
              </a:r>
            </a:p>
          </p:txBody>
        </p:sp>
      </p:grpSp>
      <p:grpSp>
        <p:nvGrpSpPr>
          <p:cNvPr id="31" name="30 Grupo"/>
          <p:cNvGrpSpPr/>
          <p:nvPr/>
        </p:nvGrpSpPr>
        <p:grpSpPr>
          <a:xfrm>
            <a:off x="2555776" y="1719499"/>
            <a:ext cx="1523496" cy="317409"/>
            <a:chOff x="2555776" y="1810557"/>
            <a:chExt cx="1523496" cy="317409"/>
          </a:xfrm>
        </p:grpSpPr>
        <p:grpSp>
          <p:nvGrpSpPr>
            <p:cNvPr id="35" name="34 Grupo"/>
            <p:cNvGrpSpPr/>
            <p:nvPr/>
          </p:nvGrpSpPr>
          <p:grpSpPr>
            <a:xfrm>
              <a:off x="3215176" y="1810557"/>
              <a:ext cx="864096" cy="317409"/>
              <a:chOff x="1589653" y="2081134"/>
              <a:chExt cx="864096" cy="350029"/>
            </a:xfrm>
          </p:grpSpPr>
          <p:sp>
            <p:nvSpPr>
              <p:cNvPr id="36" name="35 Elipse"/>
              <p:cNvSpPr/>
              <p:nvPr/>
            </p:nvSpPr>
            <p:spPr bwMode="auto">
              <a:xfrm>
                <a:off x="1609798" y="2081134"/>
                <a:ext cx="801961" cy="329882"/>
              </a:xfrm>
              <a:prstGeom prst="ellipse">
                <a:avLst/>
              </a:prstGeom>
              <a:solidFill>
                <a:srgbClr val="FFDB6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37" name="36 CuadroTexto"/>
              <p:cNvSpPr txBox="1"/>
              <p:nvPr/>
            </p:nvSpPr>
            <p:spPr>
              <a:xfrm>
                <a:off x="1589653" y="2091756"/>
                <a:ext cx="864096" cy="339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400" dirty="0">
                    <a:solidFill>
                      <a:srgbClr val="FF6600"/>
                    </a:solidFill>
                    <a:latin typeface="Adobe Gothic Std B" pitchFamily="34" charset="-128"/>
                    <a:ea typeface="Adobe Gothic Std B" pitchFamily="34" charset="-128"/>
                    <a:cs typeface="Aharoni" panose="02010803020104030203" pitchFamily="2" charset="-79"/>
                  </a:rPr>
                  <a:t>Huelva</a:t>
                </a:r>
              </a:p>
            </p:txBody>
          </p:sp>
        </p:grpSp>
        <p:cxnSp>
          <p:nvCxnSpPr>
            <p:cNvPr id="38" name="37 Conector recto de flecha"/>
            <p:cNvCxnSpPr/>
            <p:nvPr/>
          </p:nvCxnSpPr>
          <p:spPr bwMode="auto">
            <a:xfrm>
              <a:off x="2555776" y="1959740"/>
              <a:ext cx="693308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43 Grupo"/>
          <p:cNvGrpSpPr/>
          <p:nvPr/>
        </p:nvGrpSpPr>
        <p:grpSpPr>
          <a:xfrm>
            <a:off x="6096552" y="4975061"/>
            <a:ext cx="2339837" cy="302021"/>
            <a:chOff x="2555776" y="1810560"/>
            <a:chExt cx="2339837" cy="302021"/>
          </a:xfrm>
        </p:grpSpPr>
        <p:grpSp>
          <p:nvGrpSpPr>
            <p:cNvPr id="45" name="44 Grupo"/>
            <p:cNvGrpSpPr/>
            <p:nvPr/>
          </p:nvGrpSpPr>
          <p:grpSpPr>
            <a:xfrm>
              <a:off x="3224701" y="1810560"/>
              <a:ext cx="1670912" cy="302021"/>
              <a:chOff x="1599178" y="2081134"/>
              <a:chExt cx="1670912" cy="333059"/>
            </a:xfrm>
          </p:grpSpPr>
          <p:sp>
            <p:nvSpPr>
              <p:cNvPr id="47" name="46 Elipse"/>
              <p:cNvSpPr/>
              <p:nvPr/>
            </p:nvSpPr>
            <p:spPr bwMode="auto">
              <a:xfrm>
                <a:off x="1609798" y="2081134"/>
                <a:ext cx="1650767" cy="329882"/>
              </a:xfrm>
              <a:prstGeom prst="ellipse">
                <a:avLst/>
              </a:prstGeom>
              <a:solidFill>
                <a:srgbClr val="FFDB6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8" name="47 CuadroTexto"/>
              <p:cNvSpPr txBox="1"/>
              <p:nvPr/>
            </p:nvSpPr>
            <p:spPr>
              <a:xfrm>
                <a:off x="1599178" y="2091756"/>
                <a:ext cx="1670912" cy="322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300" dirty="0" err="1">
                    <a:solidFill>
                      <a:srgbClr val="FF6600"/>
                    </a:solidFill>
                    <a:latin typeface="Adobe Gothic Std B" pitchFamily="34" charset="-128"/>
                    <a:ea typeface="Adobe Gothic Std B" pitchFamily="34" charset="-128"/>
                    <a:cs typeface="Aharoni" panose="02010803020104030203" pitchFamily="2" charset="-79"/>
                  </a:rPr>
                  <a:t>comboProvincias</a:t>
                </a:r>
                <a:endParaRPr lang="es-ES" sz="1300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endParaRPr>
              </a:p>
            </p:txBody>
          </p:sp>
        </p:grpSp>
        <p:cxnSp>
          <p:nvCxnSpPr>
            <p:cNvPr id="46" name="45 Conector recto de flecha"/>
            <p:cNvCxnSpPr/>
            <p:nvPr/>
          </p:nvCxnSpPr>
          <p:spPr bwMode="auto">
            <a:xfrm>
              <a:off x="2555776" y="1959740"/>
              <a:ext cx="693308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53 Grupo"/>
          <p:cNvGrpSpPr/>
          <p:nvPr/>
        </p:nvGrpSpPr>
        <p:grpSpPr>
          <a:xfrm>
            <a:off x="4706491" y="5185767"/>
            <a:ext cx="1925166" cy="307777"/>
            <a:chOff x="2137897" y="1839240"/>
            <a:chExt cx="1925166" cy="307777"/>
          </a:xfrm>
        </p:grpSpPr>
        <p:grpSp>
          <p:nvGrpSpPr>
            <p:cNvPr id="55" name="54 Grupo"/>
            <p:cNvGrpSpPr/>
            <p:nvPr/>
          </p:nvGrpSpPr>
          <p:grpSpPr>
            <a:xfrm>
              <a:off x="3198967" y="1839240"/>
              <a:ext cx="864096" cy="307777"/>
              <a:chOff x="1573444" y="2112764"/>
              <a:chExt cx="864096" cy="339407"/>
            </a:xfrm>
          </p:grpSpPr>
          <p:sp>
            <p:nvSpPr>
              <p:cNvPr id="57" name="56 Elipse"/>
              <p:cNvSpPr/>
              <p:nvPr/>
            </p:nvSpPr>
            <p:spPr bwMode="auto">
              <a:xfrm>
                <a:off x="1609798" y="2123383"/>
                <a:ext cx="801961" cy="287632"/>
              </a:xfrm>
              <a:prstGeom prst="ellipse">
                <a:avLst/>
              </a:prstGeom>
              <a:solidFill>
                <a:srgbClr val="FFDB6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58" name="57 CuadroTexto"/>
              <p:cNvSpPr txBox="1"/>
              <p:nvPr/>
            </p:nvSpPr>
            <p:spPr>
              <a:xfrm>
                <a:off x="1573444" y="2112764"/>
                <a:ext cx="864096" cy="339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400" dirty="0">
                    <a:solidFill>
                      <a:srgbClr val="FF6600"/>
                    </a:solidFill>
                    <a:latin typeface="Adobe Gothic Std B" pitchFamily="34" charset="-128"/>
                    <a:ea typeface="Adobe Gothic Std B" pitchFamily="34" charset="-128"/>
                    <a:cs typeface="Aharoni" panose="02010803020104030203" pitchFamily="2" charset="-79"/>
                  </a:rPr>
                  <a:t>Cádiz</a:t>
                </a:r>
              </a:p>
            </p:txBody>
          </p:sp>
        </p:grpSp>
        <p:cxnSp>
          <p:nvCxnSpPr>
            <p:cNvPr id="56" name="55 Conector recto de flecha"/>
            <p:cNvCxnSpPr/>
            <p:nvPr/>
          </p:nvCxnSpPr>
          <p:spPr bwMode="auto">
            <a:xfrm>
              <a:off x="2137897" y="1978790"/>
              <a:ext cx="1101662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59 Grupo"/>
          <p:cNvGrpSpPr/>
          <p:nvPr/>
        </p:nvGrpSpPr>
        <p:grpSpPr>
          <a:xfrm>
            <a:off x="4705018" y="5385901"/>
            <a:ext cx="969294" cy="307777"/>
            <a:chOff x="4576393" y="5246213"/>
            <a:chExt cx="969294" cy="307777"/>
          </a:xfrm>
        </p:grpSpPr>
        <p:cxnSp>
          <p:nvCxnSpPr>
            <p:cNvPr id="61" name="60 Conector recto de flecha"/>
            <p:cNvCxnSpPr/>
            <p:nvPr/>
          </p:nvCxnSpPr>
          <p:spPr bwMode="auto">
            <a:xfrm>
              <a:off x="4576393" y="5379606"/>
              <a:ext cx="609432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61 CuadroTexto"/>
            <p:cNvSpPr txBox="1"/>
            <p:nvPr/>
          </p:nvSpPr>
          <p:spPr>
            <a:xfrm>
              <a:off x="5164618" y="5246213"/>
              <a:ext cx="381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2</a:t>
              </a:r>
            </a:p>
          </p:txBody>
        </p:sp>
      </p:grpSp>
      <p:grpSp>
        <p:nvGrpSpPr>
          <p:cNvPr id="39" name="38 Grupo"/>
          <p:cNvGrpSpPr/>
          <p:nvPr/>
        </p:nvGrpSpPr>
        <p:grpSpPr>
          <a:xfrm>
            <a:off x="5866025" y="1380271"/>
            <a:ext cx="2560839" cy="644718"/>
            <a:chOff x="5866025" y="1380271"/>
            <a:chExt cx="2560839" cy="644718"/>
          </a:xfrm>
        </p:grpSpPr>
        <p:grpSp>
          <p:nvGrpSpPr>
            <p:cNvPr id="63" name="62 Grupo"/>
            <p:cNvGrpSpPr/>
            <p:nvPr/>
          </p:nvGrpSpPr>
          <p:grpSpPr>
            <a:xfrm>
              <a:off x="5866025" y="1380271"/>
              <a:ext cx="1370271" cy="644718"/>
              <a:chOff x="3707273" y="1501486"/>
              <a:chExt cx="1729453" cy="912782"/>
            </a:xfrm>
          </p:grpSpPr>
          <p:sp>
            <p:nvSpPr>
              <p:cNvPr id="64" name="63 Explosión 1"/>
              <p:cNvSpPr/>
              <p:nvPr/>
            </p:nvSpPr>
            <p:spPr bwMode="auto">
              <a:xfrm>
                <a:off x="3707273" y="1501486"/>
                <a:ext cx="1729453" cy="912782"/>
              </a:xfrm>
              <a:prstGeom prst="irregularSeal1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5" name="64 Rectángulo"/>
              <p:cNvSpPr/>
              <p:nvPr/>
            </p:nvSpPr>
            <p:spPr>
              <a:xfrm>
                <a:off x="3883036" y="1742579"/>
                <a:ext cx="1415183" cy="4139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1300" b="1" dirty="0" err="1">
                    <a:solidFill>
                      <a:srgbClr val="FF0000"/>
                    </a:solidFill>
                    <a:latin typeface="Adobe Fan Heiti Std B" pitchFamily="34" charset="-128"/>
                    <a:ea typeface="Adobe Fan Heiti Std B" pitchFamily="34" charset="-128"/>
                  </a:rPr>
                  <a:t>itemEvent</a:t>
                </a:r>
                <a:endParaRPr lang="es-ES" sz="1300" b="1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endParaRPr>
              </a:p>
            </p:txBody>
          </p:sp>
        </p:grpSp>
        <p:sp>
          <p:nvSpPr>
            <p:cNvPr id="34" name="33 CuadroTexto"/>
            <p:cNvSpPr txBox="1"/>
            <p:nvPr/>
          </p:nvSpPr>
          <p:spPr>
            <a:xfrm>
              <a:off x="7381386" y="1486916"/>
              <a:ext cx="1045478" cy="437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s-ES" sz="1400" dirty="0" err="1">
                  <a:solidFill>
                    <a:srgbClr val="FFFF00"/>
                  </a:solidFill>
                  <a:latin typeface="Exotc350 Bd BT" panose="04030805050B02020A03" pitchFamily="82" charset="0"/>
                </a:rPr>
                <a:t>Deselección</a:t>
              </a:r>
              <a:endParaRPr lang="es-ES" sz="1400" dirty="0">
                <a:solidFill>
                  <a:srgbClr val="FFFF00"/>
                </a:solidFill>
                <a:latin typeface="Exotc350 Bd BT" panose="04030805050B02020A03" pitchFamily="82" charset="0"/>
              </a:endParaRPr>
            </a:p>
            <a:p>
              <a:pPr algn="ctr">
                <a:lnSpc>
                  <a:spcPct val="80000"/>
                </a:lnSpc>
              </a:pPr>
              <a:r>
                <a:rPr lang="es-ES" sz="1400" dirty="0">
                  <a:solidFill>
                    <a:srgbClr val="FFFF00"/>
                  </a:solidFill>
                  <a:latin typeface="Exotc350 Bd BT" panose="04030805050B02020A03" pitchFamily="82" charset="0"/>
                </a:rPr>
                <a:t>de Cádiz</a:t>
              </a:r>
            </a:p>
          </p:txBody>
        </p:sp>
      </p:grpSp>
      <p:grpSp>
        <p:nvGrpSpPr>
          <p:cNvPr id="71" name="70 Grupo"/>
          <p:cNvGrpSpPr/>
          <p:nvPr/>
        </p:nvGrpSpPr>
        <p:grpSpPr>
          <a:xfrm>
            <a:off x="5863985" y="2136303"/>
            <a:ext cx="2491910" cy="644718"/>
            <a:chOff x="5866025" y="1380271"/>
            <a:chExt cx="2491910" cy="644718"/>
          </a:xfrm>
        </p:grpSpPr>
        <p:grpSp>
          <p:nvGrpSpPr>
            <p:cNvPr id="72" name="71 Grupo"/>
            <p:cNvGrpSpPr/>
            <p:nvPr/>
          </p:nvGrpSpPr>
          <p:grpSpPr>
            <a:xfrm>
              <a:off x="5866025" y="1380271"/>
              <a:ext cx="1370271" cy="644718"/>
              <a:chOff x="3707273" y="1501486"/>
              <a:chExt cx="1729453" cy="912782"/>
            </a:xfrm>
          </p:grpSpPr>
          <p:sp>
            <p:nvSpPr>
              <p:cNvPr id="76" name="75 Explosión 1"/>
              <p:cNvSpPr/>
              <p:nvPr/>
            </p:nvSpPr>
            <p:spPr bwMode="auto">
              <a:xfrm>
                <a:off x="3707273" y="1501486"/>
                <a:ext cx="1729453" cy="912782"/>
              </a:xfrm>
              <a:prstGeom prst="irregularSeal1">
                <a:avLst/>
              </a:prstGeom>
              <a:solidFill>
                <a:srgbClr val="FFFF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77" name="76 Rectángulo"/>
              <p:cNvSpPr/>
              <p:nvPr/>
            </p:nvSpPr>
            <p:spPr>
              <a:xfrm>
                <a:off x="3883036" y="1742579"/>
                <a:ext cx="1415183" cy="4139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s-ES" sz="1300" b="1" dirty="0" err="1">
                    <a:solidFill>
                      <a:srgbClr val="FF0000"/>
                    </a:solidFill>
                    <a:latin typeface="Adobe Fan Heiti Std B" pitchFamily="34" charset="-128"/>
                    <a:ea typeface="Adobe Fan Heiti Std B" pitchFamily="34" charset="-128"/>
                  </a:rPr>
                  <a:t>itemEvent</a:t>
                </a:r>
                <a:endParaRPr lang="es-ES" sz="1300" b="1" dirty="0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endParaRPr>
              </a:p>
            </p:txBody>
          </p:sp>
        </p:grpSp>
        <p:sp>
          <p:nvSpPr>
            <p:cNvPr id="73" name="72 CuadroTexto"/>
            <p:cNvSpPr txBox="1"/>
            <p:nvPr/>
          </p:nvSpPr>
          <p:spPr>
            <a:xfrm>
              <a:off x="7450314" y="1486916"/>
              <a:ext cx="907621" cy="4370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s-ES" sz="1400" dirty="0">
                  <a:solidFill>
                    <a:srgbClr val="FFFF00"/>
                  </a:solidFill>
                  <a:latin typeface="Exotc350 Bd BT" panose="04030805050B02020A03" pitchFamily="82" charset="0"/>
                </a:rPr>
                <a:t>Selección</a:t>
              </a:r>
            </a:p>
            <a:p>
              <a:pPr algn="ctr">
                <a:lnSpc>
                  <a:spcPct val="80000"/>
                </a:lnSpc>
              </a:pPr>
              <a:r>
                <a:rPr lang="es-ES" sz="1400" dirty="0">
                  <a:solidFill>
                    <a:srgbClr val="FFFF00"/>
                  </a:solidFill>
                  <a:latin typeface="Exotc350 Bd BT" panose="04030805050B02020A03" pitchFamily="82" charset="0"/>
                </a:rPr>
                <a:t>de Huelva</a:t>
              </a:r>
            </a:p>
          </p:txBody>
        </p:sp>
      </p:grpSp>
      <p:grpSp>
        <p:nvGrpSpPr>
          <p:cNvPr id="78" name="77 Grupo"/>
          <p:cNvGrpSpPr/>
          <p:nvPr/>
        </p:nvGrpSpPr>
        <p:grpSpPr>
          <a:xfrm>
            <a:off x="4711729" y="5181445"/>
            <a:ext cx="1925166" cy="307777"/>
            <a:chOff x="2137897" y="1839240"/>
            <a:chExt cx="1925166" cy="307777"/>
          </a:xfrm>
        </p:grpSpPr>
        <p:grpSp>
          <p:nvGrpSpPr>
            <p:cNvPr id="79" name="78 Grupo"/>
            <p:cNvGrpSpPr/>
            <p:nvPr/>
          </p:nvGrpSpPr>
          <p:grpSpPr>
            <a:xfrm>
              <a:off x="3198967" y="1839240"/>
              <a:ext cx="864096" cy="307777"/>
              <a:chOff x="1573444" y="2112764"/>
              <a:chExt cx="864096" cy="339407"/>
            </a:xfrm>
          </p:grpSpPr>
          <p:sp>
            <p:nvSpPr>
              <p:cNvPr id="81" name="80 Elipse"/>
              <p:cNvSpPr/>
              <p:nvPr/>
            </p:nvSpPr>
            <p:spPr bwMode="auto">
              <a:xfrm>
                <a:off x="1609798" y="2123383"/>
                <a:ext cx="801961" cy="287632"/>
              </a:xfrm>
              <a:prstGeom prst="ellipse">
                <a:avLst/>
              </a:prstGeom>
              <a:solidFill>
                <a:srgbClr val="FFDB6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82" name="81 CuadroTexto"/>
              <p:cNvSpPr txBox="1"/>
              <p:nvPr/>
            </p:nvSpPr>
            <p:spPr>
              <a:xfrm>
                <a:off x="1573444" y="2112764"/>
                <a:ext cx="864096" cy="339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400" dirty="0">
                    <a:solidFill>
                      <a:srgbClr val="FF6600"/>
                    </a:solidFill>
                    <a:latin typeface="Adobe Gothic Std B" pitchFamily="34" charset="-128"/>
                    <a:ea typeface="Adobe Gothic Std B" pitchFamily="34" charset="-128"/>
                    <a:cs typeface="Aharoni" panose="02010803020104030203" pitchFamily="2" charset="-79"/>
                  </a:rPr>
                  <a:t>Huelva</a:t>
                </a:r>
              </a:p>
            </p:txBody>
          </p:sp>
        </p:grpSp>
        <p:cxnSp>
          <p:nvCxnSpPr>
            <p:cNvPr id="80" name="79 Conector recto de flecha"/>
            <p:cNvCxnSpPr/>
            <p:nvPr/>
          </p:nvCxnSpPr>
          <p:spPr bwMode="auto">
            <a:xfrm>
              <a:off x="2137897" y="1978790"/>
              <a:ext cx="1101662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82 Grupo"/>
          <p:cNvGrpSpPr/>
          <p:nvPr/>
        </p:nvGrpSpPr>
        <p:grpSpPr>
          <a:xfrm>
            <a:off x="4711729" y="5385901"/>
            <a:ext cx="969294" cy="307777"/>
            <a:chOff x="4576393" y="5246213"/>
            <a:chExt cx="969294" cy="307777"/>
          </a:xfrm>
        </p:grpSpPr>
        <p:cxnSp>
          <p:nvCxnSpPr>
            <p:cNvPr id="84" name="83 Conector recto de flecha"/>
            <p:cNvCxnSpPr/>
            <p:nvPr/>
          </p:nvCxnSpPr>
          <p:spPr bwMode="auto">
            <a:xfrm>
              <a:off x="4576393" y="5379606"/>
              <a:ext cx="609432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84 CuadroTexto"/>
            <p:cNvSpPr txBox="1"/>
            <p:nvPr/>
          </p:nvSpPr>
          <p:spPr>
            <a:xfrm>
              <a:off x="5164618" y="5246213"/>
              <a:ext cx="381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1</a:t>
              </a:r>
            </a:p>
          </p:txBody>
        </p:sp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E301491-3C5E-3743-8D50-CA9F42A97247}"/>
              </a:ext>
            </a:extLst>
          </p:cNvPr>
          <p:cNvSpPr txBox="1"/>
          <p:nvPr/>
        </p:nvSpPr>
        <p:spPr>
          <a:xfrm>
            <a:off x="2995774" y="6473279"/>
            <a:ext cx="200827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ExampleGUI10</a:t>
            </a:r>
          </a:p>
        </p:txBody>
      </p:sp>
    </p:spTree>
    <p:extLst>
      <p:ext uri="{BB962C8B-B14F-4D97-AF65-F5344CB8AC3E}">
        <p14:creationId xmlns:p14="http://schemas.microsoft.com/office/powerpoint/2010/main" val="392829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4.81481E-6 L -0.06597 0.10278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99" y="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uiExpand="1" build="p"/>
      <p:bldP spid="15" grpId="0" uiExpand="1" build="p"/>
      <p:bldP spid="16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Raúl\Desktop\Ilustraciones GUI\3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8829" y="908720"/>
            <a:ext cx="4445000" cy="181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 err="1"/>
              <a:t>JList</a:t>
            </a:r>
            <a:endParaRPr lang="es-ES" sz="1600" dirty="0"/>
          </a:p>
        </p:txBody>
      </p:sp>
      <p:sp>
        <p:nvSpPr>
          <p:cNvPr id="13" name="12 Rectángulo"/>
          <p:cNvSpPr/>
          <p:nvPr/>
        </p:nvSpPr>
        <p:spPr bwMode="auto">
          <a:xfrm>
            <a:off x="683060" y="2852936"/>
            <a:ext cx="7899236" cy="32598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953643" y="3068960"/>
            <a:ext cx="7402251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</a:rPr>
              <a:t>String[] </a:t>
            </a:r>
            <a:r>
              <a:rPr lang="en-US" sz="1300" dirty="0" err="1">
                <a:solidFill>
                  <a:srgbClr val="000000"/>
                </a:solidFill>
              </a:rPr>
              <a:t>nombresColores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= {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>
                <a:solidFill>
                  <a:srgbClr val="00B050"/>
                </a:solidFill>
              </a:rPr>
              <a:t>"Negro", "Azul", "Cyan", "Gris </a:t>
            </a:r>
            <a:r>
              <a:rPr lang="en-US" sz="1300" dirty="0" err="1">
                <a:solidFill>
                  <a:srgbClr val="00B050"/>
                </a:solidFill>
              </a:rPr>
              <a:t>oscuro</a:t>
            </a:r>
            <a:r>
              <a:rPr lang="en-US" sz="1300" dirty="0">
                <a:solidFill>
                  <a:srgbClr val="00B050"/>
                </a:solidFill>
              </a:rPr>
              <a:t>", "Gris", "Verde", "Magenta"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};</a:t>
            </a:r>
          </a:p>
          <a:p>
            <a:r>
              <a:rPr lang="en-US" sz="1300" dirty="0" err="1">
                <a:solidFill>
                  <a:schemeClr val="accent1"/>
                </a:solidFill>
              </a:rPr>
              <a:t>JList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/>
              <a:t>jListColores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new </a:t>
            </a:r>
            <a:r>
              <a:rPr lang="en-US" sz="1300" dirty="0" err="1">
                <a:solidFill>
                  <a:srgbClr val="FF0000"/>
                </a:solidFill>
              </a:rPr>
              <a:t>JList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 err="1">
                <a:solidFill>
                  <a:srgbClr val="000000"/>
                </a:solidFill>
              </a:rPr>
              <a:t>nombresColores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setVisibleRowCount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5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setSelectedIndex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1 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setSelectionMode</a:t>
            </a:r>
            <a:r>
              <a:rPr lang="en-US" sz="1300" dirty="0">
                <a:solidFill>
                  <a:srgbClr val="FF0000"/>
                </a:solidFill>
              </a:rPr>
              <a:t>(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accent1"/>
                </a:solidFill>
              </a:rPr>
              <a:t>ListSelectionModel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00B050"/>
                </a:solidFill>
              </a:rPr>
              <a:t>SINGLE_SELECTION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>
                <a:solidFill>
                  <a:srgbClr val="FF0000"/>
                </a:solidFill>
              </a:rPr>
              <a:t>)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FF0000"/>
                </a:solidFill>
              </a:rPr>
              <a:t>add(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 err="1">
                <a:solidFill>
                  <a:srgbClr val="0070C0"/>
                </a:solidFill>
              </a:rPr>
              <a:t>JScrollPane</a:t>
            </a:r>
            <a:r>
              <a:rPr lang="en-US" sz="1300" dirty="0">
                <a:solidFill>
                  <a:srgbClr val="0070C0"/>
                </a:solidFill>
              </a:rPr>
              <a:t>(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 err="1">
                <a:solidFill>
                  <a:srgbClr val="002060"/>
                </a:solidFill>
              </a:rPr>
              <a:t>jListColores</a:t>
            </a:r>
            <a:r>
              <a:rPr lang="en-US" sz="1300" dirty="0">
                <a:solidFill>
                  <a:srgbClr val="002060"/>
                </a:solidFill>
              </a:rPr>
              <a:t> </a:t>
            </a:r>
            <a:r>
              <a:rPr lang="en-US" sz="1300" dirty="0">
                <a:solidFill>
                  <a:srgbClr val="0070C0"/>
                </a:solidFill>
              </a:rPr>
              <a:t>) 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</p:txBody>
      </p:sp>
      <p:sp>
        <p:nvSpPr>
          <p:cNvPr id="15" name="14 Rectángulo"/>
          <p:cNvSpPr/>
          <p:nvPr/>
        </p:nvSpPr>
        <p:spPr>
          <a:xfrm>
            <a:off x="949623" y="4344486"/>
            <a:ext cx="725135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accent1"/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addListSelectionListener</a:t>
            </a:r>
            <a:r>
              <a:rPr lang="en-US" sz="1300" dirty="0">
                <a:solidFill>
                  <a:srgbClr val="FF0000"/>
                </a:solidFill>
              </a:rPr>
              <a:t>(</a:t>
            </a:r>
          </a:p>
          <a:p>
            <a:r>
              <a:rPr lang="en-US" sz="1300" dirty="0">
                <a:solidFill>
                  <a:schemeClr val="accent1"/>
                </a:solidFill>
              </a:rPr>
              <a:t>      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new </a:t>
            </a:r>
            <a:r>
              <a:rPr lang="en-US" sz="1300" dirty="0" err="1">
                <a:solidFill>
                  <a:schemeClr val="accent1"/>
                </a:solidFill>
              </a:rPr>
              <a:t>ListSelectionListener</a:t>
            </a:r>
            <a:r>
              <a:rPr lang="en-US" sz="1300" dirty="0">
                <a:solidFill>
                  <a:schemeClr val="accent1"/>
                </a:solidFill>
              </a:rPr>
              <a:t>()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{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public void </a:t>
            </a:r>
            <a:r>
              <a:rPr lang="en-US" sz="1300" dirty="0" err="1">
                <a:solidFill>
                  <a:srgbClr val="FF0000"/>
                </a:solidFill>
              </a:rPr>
              <a:t>valueChanged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 err="1">
                <a:solidFill>
                  <a:schemeClr val="accent1"/>
                </a:solidFill>
              </a:rPr>
              <a:t>ListSelectionEvent</a:t>
            </a:r>
            <a:r>
              <a:rPr lang="en-US" sz="1300" dirty="0">
                <a:solidFill>
                  <a:srgbClr val="FF0000"/>
                </a:solidFill>
              </a:rPr>
              <a:t> </a:t>
            </a:r>
            <a:r>
              <a:rPr lang="en-US" sz="1300" dirty="0" err="1">
                <a:solidFill>
                  <a:srgbClr val="000000"/>
                </a:solidFill>
              </a:rPr>
              <a:t>evento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{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     </a:t>
            </a:r>
            <a:r>
              <a:rPr lang="en-US" sz="1300" dirty="0" err="1">
                <a:solidFill>
                  <a:schemeClr val="accent1"/>
                </a:solidFill>
              </a:rPr>
              <a:t>JList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 err="1"/>
              <a:t>lista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300" dirty="0">
                <a:solidFill>
                  <a:schemeClr val="accent1"/>
                </a:solidFill>
              </a:rPr>
              <a:t>(</a:t>
            </a:r>
            <a:r>
              <a:rPr lang="en-US" sz="1300" dirty="0" err="1">
                <a:solidFill>
                  <a:schemeClr val="accent1"/>
                </a:solidFill>
              </a:rPr>
              <a:t>JList</a:t>
            </a:r>
            <a:r>
              <a:rPr lang="en-US" sz="1300" dirty="0">
                <a:solidFill>
                  <a:schemeClr val="accent1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/>
              <a:t>evento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getSource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chemeClr val="accent1"/>
                </a:solidFill>
              </a:rPr>
              <a:t>                   </a:t>
            </a:r>
            <a:r>
              <a:rPr lang="en-US" sz="1300" dirty="0" err="1">
                <a:solidFill>
                  <a:schemeClr val="accent1"/>
                </a:solidFill>
              </a:rPr>
              <a:t>int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 err="1"/>
              <a:t>seleccionado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</a:t>
            </a:r>
            <a:r>
              <a:rPr lang="en-US" sz="1300" dirty="0" err="1"/>
              <a:t>lista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getSelectedIndex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}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}</a:t>
            </a:r>
          </a:p>
          <a:p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  <a:endParaRPr lang="es-ES" sz="1200" dirty="0">
              <a:solidFill>
                <a:schemeClr val="bg1">
                  <a:lumMod val="50000"/>
                </a:schemeClr>
              </a:solidFill>
              <a:latin typeface="Adobe Fan Heiti Std B" pitchFamily="34" charset="-128"/>
              <a:ea typeface="Adobe Fan Heiti Std B" pitchFamily="34" charset="-128"/>
            </a:endParaRPr>
          </a:p>
        </p:txBody>
      </p:sp>
      <p:grpSp>
        <p:nvGrpSpPr>
          <p:cNvPr id="44" name="43 Grupo"/>
          <p:cNvGrpSpPr/>
          <p:nvPr/>
        </p:nvGrpSpPr>
        <p:grpSpPr>
          <a:xfrm>
            <a:off x="4791329" y="4944981"/>
            <a:ext cx="2568224" cy="302021"/>
            <a:chOff x="2327389" y="1810560"/>
            <a:chExt cx="2568224" cy="302021"/>
          </a:xfrm>
        </p:grpSpPr>
        <p:grpSp>
          <p:nvGrpSpPr>
            <p:cNvPr id="45" name="44 Grupo"/>
            <p:cNvGrpSpPr/>
            <p:nvPr/>
          </p:nvGrpSpPr>
          <p:grpSpPr>
            <a:xfrm>
              <a:off x="3224701" y="1810560"/>
              <a:ext cx="1670912" cy="302021"/>
              <a:chOff x="1599178" y="2081134"/>
              <a:chExt cx="1670912" cy="333059"/>
            </a:xfrm>
          </p:grpSpPr>
          <p:sp>
            <p:nvSpPr>
              <p:cNvPr id="47" name="46 Elipse"/>
              <p:cNvSpPr/>
              <p:nvPr/>
            </p:nvSpPr>
            <p:spPr bwMode="auto">
              <a:xfrm>
                <a:off x="1609798" y="2081134"/>
                <a:ext cx="1650767" cy="329882"/>
              </a:xfrm>
              <a:prstGeom prst="ellipse">
                <a:avLst/>
              </a:prstGeom>
              <a:solidFill>
                <a:srgbClr val="FFDB69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57263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s-ES" sz="19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8" name="47 CuadroTexto"/>
              <p:cNvSpPr txBox="1"/>
              <p:nvPr/>
            </p:nvSpPr>
            <p:spPr>
              <a:xfrm>
                <a:off x="1599178" y="2091756"/>
                <a:ext cx="1670912" cy="3224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1300" dirty="0" err="1">
                    <a:solidFill>
                      <a:srgbClr val="FF6600"/>
                    </a:solidFill>
                    <a:latin typeface="Adobe Gothic Std B" pitchFamily="34" charset="-128"/>
                    <a:ea typeface="Adobe Gothic Std B" pitchFamily="34" charset="-128"/>
                    <a:cs typeface="Aharoni" panose="02010803020104030203" pitchFamily="2" charset="-79"/>
                  </a:rPr>
                  <a:t>jListColores</a:t>
                </a:r>
                <a:endParaRPr lang="es-ES" sz="1300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endParaRPr>
              </a:p>
            </p:txBody>
          </p:sp>
        </p:grpSp>
        <p:cxnSp>
          <p:nvCxnSpPr>
            <p:cNvPr id="46" name="45 Conector recto de flecha"/>
            <p:cNvCxnSpPr/>
            <p:nvPr/>
          </p:nvCxnSpPr>
          <p:spPr bwMode="auto">
            <a:xfrm>
              <a:off x="2327389" y="1959740"/>
              <a:ext cx="921695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" name="71 Grupo"/>
          <p:cNvGrpSpPr/>
          <p:nvPr/>
        </p:nvGrpSpPr>
        <p:grpSpPr>
          <a:xfrm>
            <a:off x="5634690" y="1610984"/>
            <a:ext cx="2249678" cy="863318"/>
            <a:chOff x="3707273" y="1501486"/>
            <a:chExt cx="2839375" cy="1222273"/>
          </a:xfrm>
        </p:grpSpPr>
        <p:sp>
          <p:nvSpPr>
            <p:cNvPr id="76" name="75 Explosión 1"/>
            <p:cNvSpPr/>
            <p:nvPr/>
          </p:nvSpPr>
          <p:spPr bwMode="auto">
            <a:xfrm>
              <a:off x="3707273" y="1501486"/>
              <a:ext cx="2839375" cy="1222273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77" name="76 Rectángulo"/>
            <p:cNvSpPr/>
            <p:nvPr/>
          </p:nvSpPr>
          <p:spPr>
            <a:xfrm>
              <a:off x="3975168" y="1892532"/>
              <a:ext cx="2300079" cy="3921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2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ListSelectionEvent</a:t>
              </a:r>
              <a:endParaRPr lang="es-ES" sz="12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grpSp>
        <p:nvGrpSpPr>
          <p:cNvPr id="83" name="82 Grupo"/>
          <p:cNvGrpSpPr/>
          <p:nvPr/>
        </p:nvGrpSpPr>
        <p:grpSpPr>
          <a:xfrm>
            <a:off x="5040141" y="5171820"/>
            <a:ext cx="969294" cy="307777"/>
            <a:chOff x="4576393" y="5246213"/>
            <a:chExt cx="969294" cy="307777"/>
          </a:xfrm>
        </p:grpSpPr>
        <p:cxnSp>
          <p:nvCxnSpPr>
            <p:cNvPr id="84" name="83 Conector recto de flecha"/>
            <p:cNvCxnSpPr/>
            <p:nvPr/>
          </p:nvCxnSpPr>
          <p:spPr bwMode="auto">
            <a:xfrm>
              <a:off x="4576393" y="5379606"/>
              <a:ext cx="609432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84 CuadroTexto"/>
            <p:cNvSpPr txBox="1"/>
            <p:nvPr/>
          </p:nvSpPr>
          <p:spPr>
            <a:xfrm>
              <a:off x="5164618" y="5246213"/>
              <a:ext cx="38106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i="1" dirty="0">
                  <a:solidFill>
                    <a:srgbClr val="FF6600"/>
                  </a:solidFill>
                  <a:latin typeface="Adobe Gothic Std B" pitchFamily="34" charset="-128"/>
                  <a:ea typeface="Adobe Gothic Std B" pitchFamily="34" charset="-128"/>
                  <a:cs typeface="Aharoni" panose="02010803020104030203" pitchFamily="2" charset="-79"/>
                </a:rPr>
                <a:t>2</a:t>
              </a:r>
            </a:p>
          </p:txBody>
        </p:sp>
      </p:grpSp>
      <p:pic>
        <p:nvPicPr>
          <p:cNvPr id="4" name="Picture 3" descr="C:\Users\Raúl\Desktop\Ilustraciones GUI\36a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868" y="1612488"/>
            <a:ext cx="8763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:\Users\Raúl\Desktop\Ilustraciones GUI\36b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868" y="1833357"/>
            <a:ext cx="889000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 bwMode="auto">
          <a:xfrm>
            <a:off x="4255394" y="1379330"/>
            <a:ext cx="864000" cy="1134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9 CuadroTexto"/>
          <p:cNvSpPr txBox="1"/>
          <p:nvPr/>
        </p:nvSpPr>
        <p:spPr>
          <a:xfrm>
            <a:off x="2757286" y="1742496"/>
            <a:ext cx="10888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i="1" dirty="0" err="1">
                <a:latin typeface="Aller Light" panose="02000503000000020004" pitchFamily="2" charset="0"/>
              </a:rPr>
              <a:t>JScrollPane</a:t>
            </a:r>
            <a:endParaRPr lang="es-ES" sz="1400" i="1" dirty="0">
              <a:latin typeface="Aller Light" panose="02000503000000020004" pitchFamily="2" charset="0"/>
            </a:endParaRPr>
          </a:p>
        </p:txBody>
      </p:sp>
      <p:cxnSp>
        <p:nvCxnSpPr>
          <p:cNvPr id="17" name="16 Conector recto de flecha"/>
          <p:cNvCxnSpPr>
            <a:stCxn id="10" idx="3"/>
          </p:cNvCxnSpPr>
          <p:nvPr/>
        </p:nvCxnSpPr>
        <p:spPr bwMode="auto">
          <a:xfrm flipV="1">
            <a:off x="3846174" y="1896384"/>
            <a:ext cx="399694" cy="1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3A33DAD-C609-5D4E-9CC8-9FDA9360CAD7}"/>
              </a:ext>
            </a:extLst>
          </p:cNvPr>
          <p:cNvSpPr txBox="1"/>
          <p:nvPr/>
        </p:nvSpPr>
        <p:spPr>
          <a:xfrm>
            <a:off x="2995774" y="6473279"/>
            <a:ext cx="193626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ExampleGUI11</a:t>
            </a:r>
          </a:p>
        </p:txBody>
      </p:sp>
    </p:spTree>
    <p:extLst>
      <p:ext uri="{BB962C8B-B14F-4D97-AF65-F5344CB8AC3E}">
        <p14:creationId xmlns:p14="http://schemas.microsoft.com/office/powerpoint/2010/main" val="375160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uiExpand="1" build="p"/>
      <p:bldP spid="15" grpId="0" uiExpand="1" build="p"/>
      <p:bldP spid="9" grpId="0" animBg="1"/>
      <p:bldP spid="9" grpId="1" animBg="1"/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:\Users\Raúl\Desktop\Ilustraciones GUI\38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7581" y="692696"/>
            <a:ext cx="444500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 err="1"/>
              <a:t>JList</a:t>
            </a:r>
            <a:r>
              <a:rPr lang="es-ES" dirty="0"/>
              <a:t>. Selección múltiple</a:t>
            </a:r>
            <a:endParaRPr lang="es-ES" sz="1600" dirty="0"/>
          </a:p>
        </p:txBody>
      </p:sp>
      <p:sp>
        <p:nvSpPr>
          <p:cNvPr id="13" name="12 Rectángulo"/>
          <p:cNvSpPr/>
          <p:nvPr/>
        </p:nvSpPr>
        <p:spPr bwMode="auto">
          <a:xfrm>
            <a:off x="683060" y="3412779"/>
            <a:ext cx="7899236" cy="200143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13 Rectángulo"/>
          <p:cNvSpPr/>
          <p:nvPr/>
        </p:nvSpPr>
        <p:spPr>
          <a:xfrm>
            <a:off x="931552" y="3450878"/>
            <a:ext cx="7402251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chemeClr val="accent1"/>
                </a:solidFill>
              </a:rPr>
              <a:t>String[] </a:t>
            </a:r>
            <a:r>
              <a:rPr lang="en-US" sz="1300" dirty="0" err="1">
                <a:solidFill>
                  <a:srgbClr val="000000"/>
                </a:solidFill>
              </a:rPr>
              <a:t>nombresColores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= {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>
                <a:solidFill>
                  <a:srgbClr val="00B050"/>
                </a:solidFill>
              </a:rPr>
              <a:t>"Negro", "Azul", "Cyan", "Gris </a:t>
            </a:r>
            <a:r>
              <a:rPr lang="en-US" sz="1300" dirty="0" err="1">
                <a:solidFill>
                  <a:srgbClr val="00B050"/>
                </a:solidFill>
              </a:rPr>
              <a:t>oscuro</a:t>
            </a:r>
            <a:r>
              <a:rPr lang="en-US" sz="1300" dirty="0">
                <a:solidFill>
                  <a:srgbClr val="00B050"/>
                </a:solidFill>
              </a:rPr>
              <a:t>", "Gris", "Verde", "Magenta"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};</a:t>
            </a:r>
          </a:p>
          <a:p>
            <a:r>
              <a:rPr lang="en-US" sz="1300" dirty="0" err="1">
                <a:solidFill>
                  <a:schemeClr val="accent1"/>
                </a:solidFill>
              </a:rPr>
              <a:t>JList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/>
              <a:t>jListColores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new </a:t>
            </a:r>
            <a:r>
              <a:rPr lang="en-US" sz="1300" dirty="0" err="1">
                <a:solidFill>
                  <a:srgbClr val="FF0000"/>
                </a:solidFill>
              </a:rPr>
              <a:t>JList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setListData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 err="1">
                <a:solidFill>
                  <a:srgbClr val="000000"/>
                </a:solidFill>
              </a:rPr>
              <a:t>nombresColores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setVisibleRowCount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5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setSelectedIndex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1 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setFixedCellWidth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100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setFixedCellHeight</a:t>
            </a:r>
            <a:r>
              <a:rPr lang="en-US" sz="1300" dirty="0">
                <a:solidFill>
                  <a:srgbClr val="FF0000"/>
                </a:solidFill>
              </a:rPr>
              <a:t>( </a:t>
            </a:r>
            <a:r>
              <a:rPr lang="en-US" sz="1300" dirty="0">
                <a:solidFill>
                  <a:srgbClr val="00B050"/>
                </a:solidFill>
              </a:rPr>
              <a:t>15</a:t>
            </a:r>
            <a:r>
              <a:rPr lang="en-US" sz="1300" dirty="0">
                <a:solidFill>
                  <a:srgbClr val="FF0000"/>
                </a:solidFill>
              </a:rPr>
              <a:t> 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 </a:t>
            </a:r>
          </a:p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setSelectionMode</a:t>
            </a:r>
            <a:r>
              <a:rPr lang="en-US" sz="1300" dirty="0">
                <a:solidFill>
                  <a:srgbClr val="FF0000"/>
                </a:solidFill>
              </a:rPr>
              <a:t>(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 err="1">
                <a:solidFill>
                  <a:schemeClr val="accent1"/>
                </a:solidFill>
              </a:rPr>
              <a:t>ListSelectionModel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00B050"/>
                </a:solidFill>
              </a:rPr>
              <a:t>MULTIPLE_INTERVAL_SELECTION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1300" dirty="0">
                <a:solidFill>
                  <a:srgbClr val="FF0000"/>
                </a:solidFill>
              </a:rPr>
              <a:t>)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FF0000"/>
                </a:solidFill>
              </a:rPr>
              <a:t>add( 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new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 err="1">
                <a:solidFill>
                  <a:srgbClr val="0070C0"/>
                </a:solidFill>
              </a:rPr>
              <a:t>JScrollPane</a:t>
            </a:r>
            <a:r>
              <a:rPr lang="en-US" sz="1300" dirty="0">
                <a:solidFill>
                  <a:srgbClr val="0070C0"/>
                </a:solidFill>
              </a:rPr>
              <a:t>(</a:t>
            </a:r>
            <a:r>
              <a:rPr lang="en-US" sz="1300" dirty="0">
                <a:solidFill>
                  <a:schemeClr val="accent1"/>
                </a:solidFill>
              </a:rPr>
              <a:t> </a:t>
            </a:r>
            <a:r>
              <a:rPr lang="en-US" sz="1300" dirty="0" err="1">
                <a:solidFill>
                  <a:srgbClr val="002060"/>
                </a:solidFill>
              </a:rPr>
              <a:t>jListColores</a:t>
            </a:r>
            <a:r>
              <a:rPr lang="en-US" sz="1300" dirty="0">
                <a:solidFill>
                  <a:srgbClr val="002060"/>
                </a:solidFill>
              </a:rPr>
              <a:t> </a:t>
            </a:r>
            <a:r>
              <a:rPr lang="en-US" sz="1300" dirty="0">
                <a:solidFill>
                  <a:srgbClr val="0070C0"/>
                </a:solidFill>
              </a:rPr>
              <a:t>) 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</p:txBody>
      </p:sp>
      <p:pic>
        <p:nvPicPr>
          <p:cNvPr id="1026" name="Picture 2" descr="C:\Users\Raúl\Desktop\Ilustraciones GUI\38b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281" y="1097879"/>
            <a:ext cx="21336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Raúl\Desktop\Ilustraciones GUI\38c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981" y="2309512"/>
            <a:ext cx="1905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Raúl\Desktop\Ilustraciones GUI\38d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308" y="2244795"/>
            <a:ext cx="1063402" cy="51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Raúl\Desktop\Ilustraciones GUI\38e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83" y="2239415"/>
            <a:ext cx="1063402" cy="510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C:\Users\Raúl\Desktop\Ilustraciones GUI\38f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147" y="1498157"/>
            <a:ext cx="1905000" cy="1194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R:\Salesianos\TIC\Salesianos-cadiz.com\Imágenes\puntero-mano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357" y="2442863"/>
            <a:ext cx="2667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4788024" y="5512459"/>
            <a:ext cx="3816424" cy="484319"/>
            <a:chOff x="3792091" y="5969176"/>
            <a:chExt cx="4812357" cy="484319"/>
          </a:xfrm>
        </p:grpSpPr>
        <p:sp>
          <p:nvSpPr>
            <p:cNvPr id="3" name="2 Rectángulo"/>
            <p:cNvSpPr/>
            <p:nvPr/>
          </p:nvSpPr>
          <p:spPr bwMode="auto">
            <a:xfrm>
              <a:off x="3792091" y="5983024"/>
              <a:ext cx="1603995" cy="25585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7" name="36 Rectángulo"/>
            <p:cNvSpPr/>
            <p:nvPr/>
          </p:nvSpPr>
          <p:spPr bwMode="auto">
            <a:xfrm>
              <a:off x="5396458" y="5983024"/>
              <a:ext cx="1603995" cy="25585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8" name="37 Rectángulo"/>
            <p:cNvSpPr/>
            <p:nvPr/>
          </p:nvSpPr>
          <p:spPr bwMode="auto">
            <a:xfrm>
              <a:off x="7000453" y="5983024"/>
              <a:ext cx="1603995" cy="25585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9" name="38 Rectángulo"/>
            <p:cNvSpPr/>
            <p:nvPr/>
          </p:nvSpPr>
          <p:spPr>
            <a:xfrm>
              <a:off x="3792091" y="6207274"/>
              <a:ext cx="1604367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accent1"/>
                  </a:solidFill>
                  <a:latin typeface="Aller" panose="02000503030000020004" pitchFamily="2" charset="0"/>
                </a:rPr>
                <a:t>Object</a:t>
              </a:r>
            </a:p>
          </p:txBody>
        </p:sp>
        <p:sp>
          <p:nvSpPr>
            <p:cNvPr id="40" name="39 Rectángulo"/>
            <p:cNvSpPr/>
            <p:nvPr/>
          </p:nvSpPr>
          <p:spPr>
            <a:xfrm>
              <a:off x="5471889" y="6207274"/>
              <a:ext cx="149998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accent1"/>
                  </a:solidFill>
                  <a:latin typeface="Aller" panose="02000503030000020004" pitchFamily="2" charset="0"/>
                </a:rPr>
                <a:t>Object</a:t>
              </a:r>
            </a:p>
          </p:txBody>
        </p:sp>
        <p:sp>
          <p:nvSpPr>
            <p:cNvPr id="41" name="40 Rectángulo"/>
            <p:cNvSpPr/>
            <p:nvPr/>
          </p:nvSpPr>
          <p:spPr>
            <a:xfrm>
              <a:off x="7072833" y="6207274"/>
              <a:ext cx="1499989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000" dirty="0">
                  <a:solidFill>
                    <a:schemeClr val="accent1"/>
                  </a:solidFill>
                  <a:latin typeface="Aller" panose="02000503030000020004" pitchFamily="2" charset="0"/>
                </a:rPr>
                <a:t>Object</a:t>
              </a:r>
            </a:p>
          </p:txBody>
        </p:sp>
        <p:sp>
          <p:nvSpPr>
            <p:cNvPr id="42" name="41 Rectángulo"/>
            <p:cNvSpPr/>
            <p:nvPr/>
          </p:nvSpPr>
          <p:spPr>
            <a:xfrm>
              <a:off x="3844093" y="5969176"/>
              <a:ext cx="1499989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B050"/>
                  </a:solidFill>
                  <a:latin typeface="Aller" panose="02000503030000020004" pitchFamily="2" charset="0"/>
                </a:rPr>
                <a:t>"Azul"</a:t>
              </a:r>
            </a:p>
          </p:txBody>
        </p:sp>
        <p:sp>
          <p:nvSpPr>
            <p:cNvPr id="43" name="42 Rectángulo"/>
            <p:cNvSpPr/>
            <p:nvPr/>
          </p:nvSpPr>
          <p:spPr>
            <a:xfrm>
              <a:off x="7052455" y="5969176"/>
              <a:ext cx="1499989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B050"/>
                  </a:solidFill>
                  <a:latin typeface="Aller" panose="02000503030000020004" pitchFamily="2" charset="0"/>
                </a:rPr>
                <a:t>"Gris </a:t>
              </a:r>
              <a:r>
                <a:rPr lang="en-US" sz="1300" dirty="0" err="1">
                  <a:solidFill>
                    <a:srgbClr val="00B050"/>
                  </a:solidFill>
                  <a:latin typeface="Aller" panose="02000503030000020004" pitchFamily="2" charset="0"/>
                </a:rPr>
                <a:t>oscuro</a:t>
              </a:r>
              <a:r>
                <a:rPr lang="en-US" sz="1300" dirty="0">
                  <a:solidFill>
                    <a:srgbClr val="00B050"/>
                  </a:solidFill>
                  <a:latin typeface="Aller" panose="02000503030000020004" pitchFamily="2" charset="0"/>
                </a:rPr>
                <a:t>"</a:t>
              </a:r>
            </a:p>
          </p:txBody>
        </p:sp>
        <p:sp>
          <p:nvSpPr>
            <p:cNvPr id="49" name="48 Rectángulo"/>
            <p:cNvSpPr/>
            <p:nvPr/>
          </p:nvSpPr>
          <p:spPr>
            <a:xfrm>
              <a:off x="5448548" y="5969176"/>
              <a:ext cx="1499989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 dirty="0">
                  <a:solidFill>
                    <a:srgbClr val="00B050"/>
                  </a:solidFill>
                  <a:latin typeface="Aller" panose="02000503030000020004" pitchFamily="2" charset="0"/>
                </a:rPr>
                <a:t>"Cyan"</a:t>
              </a:r>
            </a:p>
          </p:txBody>
        </p:sp>
      </p:grpSp>
      <p:cxnSp>
        <p:nvCxnSpPr>
          <p:cNvPr id="12" name="11 Conector recto de flecha"/>
          <p:cNvCxnSpPr/>
          <p:nvPr/>
        </p:nvCxnSpPr>
        <p:spPr bwMode="auto">
          <a:xfrm>
            <a:off x="3995936" y="5654232"/>
            <a:ext cx="50405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49 Rectángulo"/>
          <p:cNvSpPr/>
          <p:nvPr/>
        </p:nvSpPr>
        <p:spPr>
          <a:xfrm>
            <a:off x="283180" y="5512459"/>
            <a:ext cx="3640748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 err="1"/>
              <a:t>jListColores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FF0000"/>
                </a:solidFill>
              </a:rPr>
              <a:t>getSelectedValuesList</a:t>
            </a:r>
            <a:r>
              <a:rPr lang="en-US" sz="1300" dirty="0">
                <a:solidFill>
                  <a:srgbClr val="FF0000"/>
                </a:solidFill>
              </a:rPr>
              <a:t>().</a:t>
            </a:r>
            <a:r>
              <a:rPr lang="en-US" sz="1300" dirty="0" err="1">
                <a:solidFill>
                  <a:srgbClr val="FF0000"/>
                </a:solidFill>
              </a:rPr>
              <a:t>toArray</a:t>
            </a:r>
            <a:r>
              <a:rPr lang="en-US" sz="1300" dirty="0">
                <a:solidFill>
                  <a:srgbClr val="FF0000"/>
                </a:solidFill>
              </a:rPr>
              <a:t>()</a:t>
            </a:r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3" name="7 Grupo"/>
          <p:cNvGrpSpPr/>
          <p:nvPr/>
        </p:nvGrpSpPr>
        <p:grpSpPr>
          <a:xfrm>
            <a:off x="4756364" y="6023899"/>
            <a:ext cx="3816424" cy="515097"/>
            <a:chOff x="3792091" y="5969176"/>
            <a:chExt cx="4812357" cy="515097"/>
          </a:xfrm>
        </p:grpSpPr>
        <p:sp>
          <p:nvSpPr>
            <p:cNvPr id="36" name="2 Rectángulo"/>
            <p:cNvSpPr/>
            <p:nvPr/>
          </p:nvSpPr>
          <p:spPr bwMode="auto">
            <a:xfrm>
              <a:off x="3792091" y="5983024"/>
              <a:ext cx="1603995" cy="25585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4" name="36 Rectángulo"/>
            <p:cNvSpPr/>
            <p:nvPr/>
          </p:nvSpPr>
          <p:spPr bwMode="auto">
            <a:xfrm>
              <a:off x="5396458" y="5983024"/>
              <a:ext cx="1603995" cy="25585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5" name="37 Rectángulo"/>
            <p:cNvSpPr/>
            <p:nvPr/>
          </p:nvSpPr>
          <p:spPr bwMode="auto">
            <a:xfrm>
              <a:off x="7000453" y="5983024"/>
              <a:ext cx="1603995" cy="25585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6" name="38 Rectángulo"/>
            <p:cNvSpPr/>
            <p:nvPr/>
          </p:nvSpPr>
          <p:spPr>
            <a:xfrm>
              <a:off x="3792091" y="6207274"/>
              <a:ext cx="1604367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Aller" panose="02000503030000020004" pitchFamily="2" charset="0"/>
                </a:rPr>
                <a:t>int</a:t>
              </a:r>
              <a:endParaRPr lang="en-US" sz="1200" dirty="0">
                <a:solidFill>
                  <a:schemeClr val="accent1"/>
                </a:solidFill>
                <a:latin typeface="Aller" panose="02000503030000020004" pitchFamily="2" charset="0"/>
              </a:endParaRPr>
            </a:p>
          </p:txBody>
        </p:sp>
        <p:sp>
          <p:nvSpPr>
            <p:cNvPr id="47" name="39 Rectángulo"/>
            <p:cNvSpPr/>
            <p:nvPr/>
          </p:nvSpPr>
          <p:spPr>
            <a:xfrm>
              <a:off x="5471889" y="6207274"/>
              <a:ext cx="149998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Aller" panose="02000503030000020004" pitchFamily="2" charset="0"/>
                </a:rPr>
                <a:t>int</a:t>
              </a:r>
              <a:endParaRPr lang="en-US" sz="1200" dirty="0">
                <a:solidFill>
                  <a:schemeClr val="accent1"/>
                </a:solidFill>
                <a:latin typeface="Aller" panose="02000503030000020004" pitchFamily="2" charset="0"/>
              </a:endParaRPr>
            </a:p>
          </p:txBody>
        </p:sp>
        <p:sp>
          <p:nvSpPr>
            <p:cNvPr id="48" name="40 Rectángulo"/>
            <p:cNvSpPr/>
            <p:nvPr/>
          </p:nvSpPr>
          <p:spPr>
            <a:xfrm>
              <a:off x="7072833" y="6207274"/>
              <a:ext cx="149998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>
                  <a:solidFill>
                    <a:schemeClr val="accent1"/>
                  </a:solidFill>
                  <a:latin typeface="Aller" panose="02000503030000020004" pitchFamily="2" charset="0"/>
                </a:rPr>
                <a:t>int</a:t>
              </a:r>
              <a:endParaRPr lang="en-US" sz="1200" dirty="0">
                <a:solidFill>
                  <a:schemeClr val="accent1"/>
                </a:solidFill>
                <a:latin typeface="Aller" panose="02000503030000020004" pitchFamily="2" charset="0"/>
              </a:endParaRPr>
            </a:p>
          </p:txBody>
        </p:sp>
        <p:sp>
          <p:nvSpPr>
            <p:cNvPr id="51" name="41 Rectángulo"/>
            <p:cNvSpPr/>
            <p:nvPr/>
          </p:nvSpPr>
          <p:spPr>
            <a:xfrm>
              <a:off x="3844093" y="5969176"/>
              <a:ext cx="1499989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>
                  <a:solidFill>
                    <a:srgbClr val="00B050"/>
                  </a:solidFill>
                  <a:latin typeface="Aller" panose="02000503030000020004" pitchFamily="2" charset="0"/>
                </a:rPr>
                <a:t>1</a:t>
              </a:r>
              <a:endParaRPr lang="en-US" sz="1300" dirty="0">
                <a:solidFill>
                  <a:srgbClr val="00B050"/>
                </a:solidFill>
                <a:latin typeface="Aller" panose="02000503030000020004" pitchFamily="2" charset="0"/>
              </a:endParaRPr>
            </a:p>
          </p:txBody>
        </p:sp>
        <p:sp>
          <p:nvSpPr>
            <p:cNvPr id="52" name="42 Rectángulo"/>
            <p:cNvSpPr/>
            <p:nvPr/>
          </p:nvSpPr>
          <p:spPr>
            <a:xfrm>
              <a:off x="7052455" y="5969176"/>
              <a:ext cx="1499989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>
                  <a:solidFill>
                    <a:srgbClr val="00B050"/>
                  </a:solidFill>
                  <a:latin typeface="Aller" panose="02000503030000020004" pitchFamily="2" charset="0"/>
                </a:rPr>
                <a:t>3</a:t>
              </a:r>
              <a:endParaRPr lang="en-US" sz="1300" dirty="0">
                <a:solidFill>
                  <a:srgbClr val="00B050"/>
                </a:solidFill>
                <a:latin typeface="Aller" panose="02000503030000020004" pitchFamily="2" charset="0"/>
              </a:endParaRPr>
            </a:p>
          </p:txBody>
        </p:sp>
        <p:sp>
          <p:nvSpPr>
            <p:cNvPr id="53" name="48 Rectángulo"/>
            <p:cNvSpPr/>
            <p:nvPr/>
          </p:nvSpPr>
          <p:spPr>
            <a:xfrm>
              <a:off x="5448548" y="5969176"/>
              <a:ext cx="1499989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300">
                  <a:solidFill>
                    <a:srgbClr val="00B050"/>
                  </a:solidFill>
                  <a:latin typeface="Aller" panose="02000503030000020004" pitchFamily="2" charset="0"/>
                </a:rPr>
                <a:t>2</a:t>
              </a:r>
              <a:endParaRPr lang="en-US" sz="1300" dirty="0">
                <a:solidFill>
                  <a:srgbClr val="00B050"/>
                </a:solidFill>
                <a:latin typeface="Aller" panose="02000503030000020004" pitchFamily="2" charset="0"/>
              </a:endParaRPr>
            </a:p>
          </p:txBody>
        </p:sp>
      </p:grpSp>
      <p:cxnSp>
        <p:nvCxnSpPr>
          <p:cNvPr id="54" name="11 Conector recto de flecha"/>
          <p:cNvCxnSpPr/>
          <p:nvPr/>
        </p:nvCxnSpPr>
        <p:spPr bwMode="auto">
          <a:xfrm>
            <a:off x="3964276" y="6165672"/>
            <a:ext cx="504056" cy="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5" name="49 Rectángulo"/>
          <p:cNvSpPr/>
          <p:nvPr/>
        </p:nvSpPr>
        <p:spPr>
          <a:xfrm>
            <a:off x="1187624" y="6037747"/>
            <a:ext cx="2704644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/>
              <a:t>jListColores</a:t>
            </a:r>
            <a:r>
              <a:rPr lang="en-US" sz="130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>
                <a:solidFill>
                  <a:srgbClr val="FF0000"/>
                </a:solidFill>
              </a:rPr>
              <a:t>getSelectedIndices()</a:t>
            </a:r>
            <a:endParaRPr lang="en-US" sz="13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88A05D3C-4E84-7642-A8FB-BF9C1B27DC36}"/>
              </a:ext>
            </a:extLst>
          </p:cNvPr>
          <p:cNvSpPr txBox="1"/>
          <p:nvPr/>
        </p:nvSpPr>
        <p:spPr>
          <a:xfrm>
            <a:off x="2995773" y="6473279"/>
            <a:ext cx="1960583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ExampleGUI12</a:t>
            </a:r>
          </a:p>
        </p:txBody>
      </p:sp>
    </p:spTree>
    <p:extLst>
      <p:ext uri="{BB962C8B-B14F-4D97-AF65-F5344CB8AC3E}">
        <p14:creationId xmlns:p14="http://schemas.microsoft.com/office/powerpoint/2010/main" val="175309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50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uiExpand="1" build="p"/>
      <p:bldP spid="50" grpId="0"/>
      <p:bldP spid="5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12 Rectángulo"/>
          <p:cNvSpPr/>
          <p:nvPr/>
        </p:nvSpPr>
        <p:spPr bwMode="auto">
          <a:xfrm>
            <a:off x="5035501" y="3068960"/>
            <a:ext cx="3784971" cy="167458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8061523" cy="563563"/>
          </a:xfrm>
        </p:spPr>
        <p:txBody>
          <a:bodyPr/>
          <a:lstStyle/>
          <a:p>
            <a:r>
              <a:rPr lang="es-ES" dirty="0" err="1"/>
              <a:t>ScrollBar</a:t>
            </a:r>
            <a:r>
              <a:rPr lang="es-ES" dirty="0"/>
              <a:t> y Slider</a:t>
            </a:r>
            <a:endParaRPr lang="es-ES" sz="1600" dirty="0"/>
          </a:p>
        </p:txBody>
      </p:sp>
      <p:sp>
        <p:nvSpPr>
          <p:cNvPr id="14" name="13 Rectángulo"/>
          <p:cNvSpPr/>
          <p:nvPr/>
        </p:nvSpPr>
        <p:spPr>
          <a:xfrm>
            <a:off x="5257058" y="3118172"/>
            <a:ext cx="3424423" cy="14927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>
                <a:solidFill>
                  <a:srgbClr val="000000"/>
                </a:solidFill>
              </a:rPr>
              <a:t>jScrollBar2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= new </a:t>
            </a:r>
            <a:r>
              <a:rPr lang="en-US" sz="1300" dirty="0" err="1">
                <a:solidFill>
                  <a:schemeClr val="tx1">
                    <a:lumMod val="40000"/>
                    <a:lumOff val="60000"/>
                  </a:schemeClr>
                </a:solidFill>
              </a:rPr>
              <a:t>JScrollBar</a:t>
            </a:r>
            <a:r>
              <a:rPr lang="en-US" sz="1300" dirty="0">
                <a:solidFill>
                  <a:schemeClr val="tx1">
                    <a:lumMod val="40000"/>
                    <a:lumOff val="60000"/>
                  </a:schemeClr>
                </a:solidFill>
              </a:rPr>
              <a:t>()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</a:rPr>
              <a:t>jScrollBar2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>
                <a:solidFill>
                  <a:srgbClr val="FF0000"/>
                </a:solidFill>
              </a:rPr>
              <a:t>setOrientation(</a:t>
            </a:r>
          </a:p>
          <a:p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                            </a:t>
            </a:r>
            <a:r>
              <a:rPr lang="en-US" sz="1300" dirty="0" err="1">
                <a:solidFill>
                  <a:schemeClr val="accent1"/>
                </a:solidFill>
              </a:rPr>
              <a:t>JScrollBar</a:t>
            </a:r>
            <a:r>
              <a:rPr lang="en-US" sz="1300" dirty="0" err="1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 err="1">
                <a:solidFill>
                  <a:srgbClr val="00B050"/>
                </a:solidFill>
              </a:rPr>
              <a:t>HORIZONTAL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</a:rPr>
              <a:t>jScrollBar2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>
                <a:solidFill>
                  <a:srgbClr val="FF0000"/>
                </a:solidFill>
              </a:rPr>
              <a:t>setBlockIncrement(</a:t>
            </a:r>
            <a:r>
              <a:rPr lang="en-US" sz="1300" dirty="0">
                <a:solidFill>
                  <a:srgbClr val="00B050"/>
                </a:solidFill>
              </a:rPr>
              <a:t>5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</a:rPr>
              <a:t>jScrollBar2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>
                <a:solidFill>
                  <a:srgbClr val="FF0000"/>
                </a:solidFill>
              </a:rPr>
              <a:t>setMaximum(</a:t>
            </a:r>
            <a:r>
              <a:rPr lang="en-US" sz="1300" dirty="0">
                <a:solidFill>
                  <a:srgbClr val="00B050"/>
                </a:solidFill>
              </a:rPr>
              <a:t>200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</a:rPr>
              <a:t>jScrollBar2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>
                <a:solidFill>
                  <a:srgbClr val="FF0000"/>
                </a:solidFill>
              </a:rPr>
              <a:t>setUnitIncrement(</a:t>
            </a:r>
            <a:r>
              <a:rPr lang="en-US" sz="1300" dirty="0">
                <a:solidFill>
                  <a:srgbClr val="00B050"/>
                </a:solidFill>
              </a:rPr>
              <a:t>2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  <a:p>
            <a:r>
              <a:rPr lang="en-US" sz="1300" dirty="0">
                <a:solidFill>
                  <a:srgbClr val="000000"/>
                </a:solidFill>
              </a:rPr>
              <a:t>jScrollBar2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sz="1300" dirty="0">
                <a:solidFill>
                  <a:srgbClr val="FF0000"/>
                </a:solidFill>
              </a:rPr>
              <a:t>setValue(</a:t>
            </a:r>
            <a:r>
              <a:rPr lang="en-US" sz="1300" dirty="0">
                <a:solidFill>
                  <a:srgbClr val="00B050"/>
                </a:solidFill>
              </a:rPr>
              <a:t>33</a:t>
            </a:r>
            <a:r>
              <a:rPr lang="en-US" sz="1300" dirty="0">
                <a:solidFill>
                  <a:srgbClr val="FF0000"/>
                </a:solidFill>
              </a:rPr>
              <a:t>)</a:t>
            </a:r>
            <a:r>
              <a:rPr lang="en-US" sz="1300" dirty="0">
                <a:solidFill>
                  <a:schemeClr val="bg1">
                    <a:lumMod val="50000"/>
                  </a:schemeClr>
                </a:solidFill>
              </a:rPr>
              <a:t>;</a:t>
            </a:r>
          </a:p>
        </p:txBody>
      </p:sp>
      <p:pic>
        <p:nvPicPr>
          <p:cNvPr id="2051" name="Picture 3" descr="C:\Users\Raúl\Desktop\Ilustraciones GUI\39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764704"/>
            <a:ext cx="4146330" cy="2178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3 Grupo"/>
          <p:cNvGrpSpPr/>
          <p:nvPr/>
        </p:nvGrpSpPr>
        <p:grpSpPr>
          <a:xfrm>
            <a:off x="481659" y="3068960"/>
            <a:ext cx="4306365" cy="985826"/>
            <a:chOff x="481659" y="3307270"/>
            <a:chExt cx="4306365" cy="985826"/>
          </a:xfrm>
        </p:grpSpPr>
        <p:sp>
          <p:nvSpPr>
            <p:cNvPr id="36" name="35 Rectángulo"/>
            <p:cNvSpPr/>
            <p:nvPr/>
          </p:nvSpPr>
          <p:spPr bwMode="auto">
            <a:xfrm>
              <a:off x="481659" y="3307270"/>
              <a:ext cx="4306365" cy="98582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3" name="32 Rectángulo"/>
            <p:cNvSpPr/>
            <p:nvPr/>
          </p:nvSpPr>
          <p:spPr>
            <a:xfrm>
              <a:off x="661119" y="3354900"/>
              <a:ext cx="3766865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jSlider1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= new </a:t>
              </a:r>
              <a:r>
                <a:rPr lang="en-US" sz="1300" dirty="0" err="1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JSlider</a:t>
              </a:r>
              <a:r>
                <a:rPr lang="en-US" sz="1300" dirty="0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()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;</a:t>
              </a:r>
            </a:p>
            <a:p>
              <a:r>
                <a:rPr lang="en-US" sz="1300" dirty="0"/>
                <a:t>jSlider1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r>
                <a:rPr lang="en-US" sz="1300" dirty="0">
                  <a:solidFill>
                    <a:srgbClr val="FF3300"/>
                  </a:solidFill>
                </a:rPr>
                <a:t>setMaximum(200)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;</a:t>
              </a:r>
            </a:p>
            <a:p>
              <a:r>
                <a:rPr lang="en-US" sz="1300" dirty="0"/>
                <a:t>jSlider1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r>
                <a:rPr lang="en-US" sz="1300" dirty="0">
                  <a:solidFill>
                    <a:srgbClr val="FF0000"/>
                  </a:solidFill>
                </a:rPr>
                <a:t>setMinimum(10)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;</a:t>
              </a:r>
            </a:p>
            <a:p>
              <a:r>
                <a:rPr lang="en-US" sz="1300" dirty="0"/>
                <a:t>jSlider1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r>
                <a:rPr lang="en-US" sz="1300" dirty="0">
                  <a:solidFill>
                    <a:srgbClr val="FF0000"/>
                  </a:solidFill>
                </a:rPr>
                <a:t>setValue(67)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;</a:t>
              </a:r>
            </a:p>
          </p:txBody>
        </p:sp>
      </p:grpSp>
      <p:grpSp>
        <p:nvGrpSpPr>
          <p:cNvPr id="45" name="44 Grupo"/>
          <p:cNvGrpSpPr/>
          <p:nvPr/>
        </p:nvGrpSpPr>
        <p:grpSpPr>
          <a:xfrm>
            <a:off x="481659" y="1425875"/>
            <a:ext cx="2575544" cy="912782"/>
            <a:chOff x="3707273" y="1474516"/>
            <a:chExt cx="1729453" cy="912782"/>
          </a:xfrm>
        </p:grpSpPr>
        <p:sp>
          <p:nvSpPr>
            <p:cNvPr id="46" name="45 Explosión 1"/>
            <p:cNvSpPr/>
            <p:nvPr/>
          </p:nvSpPr>
          <p:spPr bwMode="auto">
            <a:xfrm>
              <a:off x="3707273" y="1474516"/>
              <a:ext cx="1729453" cy="91278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7" name="46 Rectángulo"/>
            <p:cNvSpPr/>
            <p:nvPr/>
          </p:nvSpPr>
          <p:spPr>
            <a:xfrm>
              <a:off x="3883035" y="1742580"/>
              <a:ext cx="141518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4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AdjustmentEvent</a:t>
              </a:r>
              <a:endParaRPr lang="es-ES" sz="14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grpSp>
        <p:nvGrpSpPr>
          <p:cNvPr id="53" name="52 Grupo"/>
          <p:cNvGrpSpPr/>
          <p:nvPr/>
        </p:nvGrpSpPr>
        <p:grpSpPr>
          <a:xfrm>
            <a:off x="4315618" y="1904646"/>
            <a:ext cx="2160240" cy="912782"/>
            <a:chOff x="3707273" y="1474516"/>
            <a:chExt cx="1729453" cy="912782"/>
          </a:xfrm>
        </p:grpSpPr>
        <p:sp>
          <p:nvSpPr>
            <p:cNvPr id="54" name="53 Explosión 1"/>
            <p:cNvSpPr/>
            <p:nvPr/>
          </p:nvSpPr>
          <p:spPr bwMode="auto">
            <a:xfrm>
              <a:off x="3707273" y="1474516"/>
              <a:ext cx="1729453" cy="912782"/>
            </a:xfrm>
            <a:prstGeom prst="irregularSeal1">
              <a:avLst/>
            </a:prstGeom>
            <a:solidFill>
              <a:srgbClr val="FFFF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5" name="54 Rectángulo"/>
            <p:cNvSpPr/>
            <p:nvPr/>
          </p:nvSpPr>
          <p:spPr>
            <a:xfrm>
              <a:off x="3883035" y="1742580"/>
              <a:ext cx="1415183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sz="1400" b="1" dirty="0" err="1">
                  <a:solidFill>
                    <a:srgbClr val="FF0000"/>
                  </a:solidFill>
                  <a:latin typeface="Adobe Fan Heiti Std B" pitchFamily="34" charset="-128"/>
                  <a:ea typeface="Adobe Fan Heiti Std B" pitchFamily="34" charset="-128"/>
                </a:rPr>
                <a:t>ChangeEvent</a:t>
              </a:r>
              <a:endParaRPr lang="es-ES" sz="1400" b="1" dirty="0">
                <a:solidFill>
                  <a:srgbClr val="FF0000"/>
                </a:solidFill>
                <a:latin typeface="Adobe Fan Heiti Std B" pitchFamily="34" charset="-128"/>
                <a:ea typeface="Adobe Fan Heiti Std B" pitchFamily="34" charset="-128"/>
              </a:endParaRPr>
            </a:p>
          </p:txBody>
        </p:sp>
      </p:grpSp>
      <p:grpSp>
        <p:nvGrpSpPr>
          <p:cNvPr id="7" name="6 Grupo"/>
          <p:cNvGrpSpPr/>
          <p:nvPr/>
        </p:nvGrpSpPr>
        <p:grpSpPr>
          <a:xfrm>
            <a:off x="492372" y="4190051"/>
            <a:ext cx="4295652" cy="1376903"/>
            <a:chOff x="492372" y="4428361"/>
            <a:chExt cx="4295652" cy="1376903"/>
          </a:xfrm>
        </p:grpSpPr>
        <p:sp>
          <p:nvSpPr>
            <p:cNvPr id="59" name="58 Rectángulo"/>
            <p:cNvSpPr/>
            <p:nvPr/>
          </p:nvSpPr>
          <p:spPr bwMode="auto">
            <a:xfrm>
              <a:off x="492372" y="4428361"/>
              <a:ext cx="4295652" cy="1376903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6" name="55 Rectángulo"/>
            <p:cNvSpPr/>
            <p:nvPr/>
          </p:nvSpPr>
          <p:spPr>
            <a:xfrm>
              <a:off x="679124" y="4456564"/>
              <a:ext cx="4108900" cy="129266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300" dirty="0">
                  <a:solidFill>
                    <a:srgbClr val="000000"/>
                  </a:solidFill>
                </a:rPr>
                <a:t>jSlider1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r>
                <a:rPr lang="en-US" sz="1300" dirty="0">
                  <a:solidFill>
                    <a:srgbClr val="FF0000"/>
                  </a:solidFill>
                </a:rPr>
                <a:t>addChangeListener (</a:t>
              </a:r>
            </a:p>
            <a:p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    new </a:t>
              </a:r>
              <a:r>
                <a:rPr lang="en-US" sz="1300" dirty="0" err="1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ChangeListener</a:t>
              </a:r>
              <a:r>
                <a:rPr lang="en-US" sz="1300" dirty="0">
                  <a:solidFill>
                    <a:srgbClr val="FF0000"/>
                  </a:solidFill>
                </a:rPr>
                <a:t>()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 </a:t>
              </a:r>
              <a:r>
                <a:rPr lang="en-US" sz="1300" dirty="0">
                  <a:solidFill>
                    <a:schemeClr val="accent1"/>
                  </a:solidFill>
                </a:rPr>
                <a:t>{</a:t>
              </a:r>
            </a:p>
            <a:p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           public void </a:t>
              </a:r>
              <a:r>
                <a:rPr lang="en-US" sz="1300" dirty="0" err="1">
                  <a:solidFill>
                    <a:srgbClr val="FF3300"/>
                  </a:solidFill>
                </a:rPr>
                <a:t>stateChanged</a:t>
              </a:r>
              <a:r>
                <a:rPr lang="en-US" sz="1300" dirty="0">
                  <a:solidFill>
                    <a:srgbClr val="FF3300"/>
                  </a:solidFill>
                </a:rPr>
                <a:t>( </a:t>
              </a:r>
              <a:r>
                <a:rPr lang="en-US" sz="1300" dirty="0" err="1">
                  <a:solidFill>
                    <a:schemeClr val="accent1"/>
                  </a:solidFill>
                </a:rPr>
                <a:t>ChangeEvent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300" dirty="0" err="1">
                  <a:solidFill>
                    <a:srgbClr val="00B050"/>
                  </a:solidFill>
                </a:rPr>
                <a:t>evt</a:t>
              </a:r>
              <a:r>
                <a:rPr lang="en-US" sz="1300" dirty="0">
                  <a:solidFill>
                    <a:srgbClr val="00B050"/>
                  </a:solidFill>
                </a:rPr>
                <a:t> </a:t>
              </a:r>
              <a:r>
                <a:rPr lang="en-US" sz="1300" dirty="0">
                  <a:solidFill>
                    <a:srgbClr val="FF0000"/>
                  </a:solidFill>
                </a:rPr>
                <a:t>)</a:t>
              </a:r>
            </a:p>
            <a:p>
              <a:r>
                <a:rPr lang="en-US" sz="1300" dirty="0">
                  <a:solidFill>
                    <a:srgbClr val="FF3300"/>
                  </a:solidFill>
                </a:rPr>
                <a:t>                 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 {…} </a:t>
              </a:r>
            </a:p>
            <a:p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    </a:t>
              </a:r>
              <a:r>
                <a:rPr lang="en-US" sz="1300" dirty="0">
                  <a:solidFill>
                    <a:schemeClr val="accent1"/>
                  </a:solidFill>
                </a:rPr>
                <a:t>}</a:t>
              </a:r>
            </a:p>
            <a:p>
              <a:r>
                <a:rPr lang="en-US" sz="1300" dirty="0">
                  <a:solidFill>
                    <a:srgbClr val="FF0000"/>
                  </a:solidFill>
                </a:rPr>
                <a:t>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; </a:t>
              </a:r>
            </a:p>
          </p:txBody>
        </p:sp>
      </p:grpSp>
      <p:grpSp>
        <p:nvGrpSpPr>
          <p:cNvPr id="10" name="9 Grupo"/>
          <p:cNvGrpSpPr/>
          <p:nvPr/>
        </p:nvGrpSpPr>
        <p:grpSpPr>
          <a:xfrm>
            <a:off x="3208915" y="5205834"/>
            <a:ext cx="6664783" cy="1224136"/>
            <a:chOff x="2195737" y="5517231"/>
            <a:chExt cx="6664783" cy="1224136"/>
          </a:xfrm>
        </p:grpSpPr>
        <p:sp>
          <p:nvSpPr>
            <p:cNvPr id="57" name="56 Rectángulo"/>
            <p:cNvSpPr/>
            <p:nvPr/>
          </p:nvSpPr>
          <p:spPr bwMode="auto">
            <a:xfrm>
              <a:off x="2195738" y="5517231"/>
              <a:ext cx="5627636" cy="122413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8" name="57 Rectángulo"/>
            <p:cNvSpPr/>
            <p:nvPr/>
          </p:nvSpPr>
          <p:spPr>
            <a:xfrm>
              <a:off x="2195737" y="5576753"/>
              <a:ext cx="6664783" cy="10926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300" dirty="0">
                  <a:solidFill>
                    <a:srgbClr val="000000"/>
                  </a:solidFill>
                </a:rPr>
                <a:t>jScrollBar2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r>
                <a:rPr lang="en-US" sz="1300" dirty="0">
                  <a:solidFill>
                    <a:srgbClr val="FF3300"/>
                  </a:solidFill>
                </a:rPr>
                <a:t>addAdjustmentListener(</a:t>
              </a:r>
            </a:p>
            <a:p>
              <a:r>
                <a:rPr lang="en-US" sz="1300" dirty="0">
                  <a:solidFill>
                    <a:srgbClr val="FF3300"/>
                  </a:solidFill>
                </a:rPr>
                <a:t>       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new </a:t>
              </a:r>
              <a:r>
                <a:rPr lang="en-US" sz="1300" dirty="0" err="1">
                  <a:solidFill>
                    <a:schemeClr val="tx1">
                      <a:lumMod val="40000"/>
                      <a:lumOff val="60000"/>
                    </a:schemeClr>
                  </a:solidFill>
                </a:rPr>
                <a:t>AdjustmentListener</a:t>
              </a:r>
              <a:r>
                <a:rPr lang="en-US" sz="1300" dirty="0">
                  <a:solidFill>
                    <a:srgbClr val="FF0000"/>
                  </a:solidFill>
                </a:rPr>
                <a:t>()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300" dirty="0">
                  <a:solidFill>
                    <a:schemeClr val="accent1"/>
                  </a:solidFill>
                </a:rPr>
                <a:t>{</a:t>
              </a:r>
            </a:p>
            <a:p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           public void </a:t>
              </a:r>
              <a:r>
                <a:rPr lang="en-US" sz="1300" dirty="0" err="1">
                  <a:solidFill>
                    <a:srgbClr val="FF0000"/>
                  </a:solidFill>
                </a:rPr>
                <a:t>adjustmentValueChanged</a:t>
              </a:r>
              <a:r>
                <a:rPr lang="en-US" sz="1300" dirty="0">
                  <a:solidFill>
                    <a:srgbClr val="FF0000"/>
                  </a:solidFill>
                </a:rPr>
                <a:t>( </a:t>
              </a:r>
              <a:r>
                <a:rPr lang="en-US" sz="1300" dirty="0" err="1">
                  <a:solidFill>
                    <a:schemeClr val="accent1"/>
                  </a:solidFill>
                </a:rPr>
                <a:t>AdjustmentEvent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</a:t>
              </a:r>
              <a:r>
                <a:rPr lang="en-US" sz="1300" dirty="0" err="1">
                  <a:solidFill>
                    <a:srgbClr val="00B050"/>
                  </a:solidFill>
                </a:rPr>
                <a:t>evt</a:t>
              </a:r>
              <a:r>
                <a:rPr lang="en-US" sz="1300" dirty="0">
                  <a:solidFill>
                    <a:srgbClr val="00B050"/>
                  </a:solidFill>
                </a:rPr>
                <a:t> </a:t>
              </a:r>
              <a:r>
                <a:rPr lang="en-US" sz="1300" dirty="0">
                  <a:solidFill>
                    <a:srgbClr val="FF0000"/>
                  </a:solidFill>
                </a:rPr>
                <a:t>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{…}</a:t>
              </a:r>
            </a:p>
            <a:p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       </a:t>
              </a:r>
              <a:r>
                <a:rPr lang="en-US" sz="1300" dirty="0">
                  <a:solidFill>
                    <a:schemeClr val="accent1"/>
                  </a:solidFill>
                </a:rPr>
                <a:t>}</a:t>
              </a:r>
            </a:p>
            <a:p>
              <a:r>
                <a:rPr lang="en-US" sz="1300" dirty="0">
                  <a:solidFill>
                    <a:srgbClr val="FF0000"/>
                  </a:solidFill>
                </a:rPr>
                <a:t>)</a:t>
              </a:r>
              <a:r>
                <a:rPr lang="en-US" sz="1300" dirty="0">
                  <a:solidFill>
                    <a:schemeClr val="bg1">
                      <a:lumMod val="50000"/>
                    </a:schemeClr>
                  </a:solidFill>
                </a:rPr>
                <a:t>;</a:t>
              </a:r>
            </a:p>
          </p:txBody>
        </p:sp>
      </p:grpSp>
      <p:sp>
        <p:nvSpPr>
          <p:cNvPr id="3" name="Rectángulo 2"/>
          <p:cNvSpPr/>
          <p:nvPr/>
        </p:nvSpPr>
        <p:spPr bwMode="auto">
          <a:xfrm>
            <a:off x="3347864" y="1268760"/>
            <a:ext cx="432048" cy="1368152"/>
          </a:xfrm>
          <a:prstGeom prst="rect">
            <a:avLst/>
          </a:prstGeom>
          <a:solidFill>
            <a:srgbClr val="D6D9D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9" name="Rectángulo 28"/>
          <p:cNvSpPr/>
          <p:nvPr/>
        </p:nvSpPr>
        <p:spPr bwMode="auto">
          <a:xfrm>
            <a:off x="4011010" y="1383346"/>
            <a:ext cx="2464847" cy="349734"/>
          </a:xfrm>
          <a:prstGeom prst="rect">
            <a:avLst/>
          </a:prstGeom>
          <a:solidFill>
            <a:srgbClr val="D6D9D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8" name="Grupo 7"/>
          <p:cNvGrpSpPr/>
          <p:nvPr/>
        </p:nvGrpSpPr>
        <p:grpSpPr>
          <a:xfrm>
            <a:off x="391633" y="5721102"/>
            <a:ext cx="2524183" cy="307777"/>
            <a:chOff x="244145" y="5721102"/>
            <a:chExt cx="2524183" cy="307777"/>
          </a:xfrm>
        </p:grpSpPr>
        <p:sp>
          <p:nvSpPr>
            <p:cNvPr id="34" name="32 Rectángulo"/>
            <p:cNvSpPr/>
            <p:nvPr/>
          </p:nvSpPr>
          <p:spPr>
            <a:xfrm>
              <a:off x="244145" y="5723598"/>
              <a:ext cx="1807575" cy="2976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300"/>
                <a:t>jSlider1</a:t>
              </a:r>
              <a:r>
                <a:rPr lang="en-US" sz="130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r>
                <a:rPr lang="en-US" sz="1300">
                  <a:solidFill>
                    <a:srgbClr val="FF0000"/>
                  </a:solidFill>
                </a:rPr>
                <a:t>getValue()</a:t>
              </a:r>
              <a:r>
                <a:rPr lang="en-US" sz="1300">
                  <a:solidFill>
                    <a:schemeClr val="bg1">
                      <a:lumMod val="50000"/>
                    </a:schemeClr>
                  </a:solidFill>
                </a:rPr>
                <a:t>;</a:t>
              </a:r>
              <a:endParaRPr lang="en-US" sz="13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35" name="11 Conector recto de flecha"/>
            <p:cNvCxnSpPr/>
            <p:nvPr/>
          </p:nvCxnSpPr>
          <p:spPr bwMode="auto">
            <a:xfrm>
              <a:off x="1799692" y="5877272"/>
              <a:ext cx="504056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32 Rectángulo"/>
            <p:cNvSpPr/>
            <p:nvPr/>
          </p:nvSpPr>
          <p:spPr>
            <a:xfrm>
              <a:off x="2318238" y="5721102"/>
              <a:ext cx="4500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/>
                <a:t>67</a:t>
              </a:r>
              <a:endParaRPr lang="en-US" sz="14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38" name="Grupo 37"/>
          <p:cNvGrpSpPr/>
          <p:nvPr/>
        </p:nvGrpSpPr>
        <p:grpSpPr>
          <a:xfrm>
            <a:off x="391633" y="6021288"/>
            <a:ext cx="2812215" cy="307777"/>
            <a:chOff x="244145" y="5708349"/>
            <a:chExt cx="2812215" cy="307777"/>
          </a:xfrm>
        </p:grpSpPr>
        <p:sp>
          <p:nvSpPr>
            <p:cNvPr id="39" name="32 Rectángulo"/>
            <p:cNvSpPr/>
            <p:nvPr/>
          </p:nvSpPr>
          <p:spPr>
            <a:xfrm>
              <a:off x="244145" y="5723598"/>
              <a:ext cx="2059603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300"/>
                <a:t>jScrollBar2</a:t>
              </a:r>
              <a:r>
                <a:rPr lang="en-US" sz="1300">
                  <a:solidFill>
                    <a:schemeClr val="bg1">
                      <a:lumMod val="50000"/>
                    </a:schemeClr>
                  </a:solidFill>
                </a:rPr>
                <a:t>.</a:t>
              </a:r>
              <a:r>
                <a:rPr lang="en-US" sz="1300">
                  <a:solidFill>
                    <a:srgbClr val="FF0000"/>
                  </a:solidFill>
                </a:rPr>
                <a:t>getValue()</a:t>
              </a:r>
              <a:r>
                <a:rPr lang="en-US" sz="1300">
                  <a:solidFill>
                    <a:schemeClr val="bg1">
                      <a:lumMod val="50000"/>
                    </a:schemeClr>
                  </a:solidFill>
                </a:rPr>
                <a:t>;</a:t>
              </a:r>
              <a:endParaRPr lang="en-US" sz="13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40" name="11 Conector recto de flecha"/>
            <p:cNvCxnSpPr/>
            <p:nvPr/>
          </p:nvCxnSpPr>
          <p:spPr bwMode="auto">
            <a:xfrm>
              <a:off x="2066002" y="5851072"/>
              <a:ext cx="504056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32 Rectángulo"/>
            <p:cNvSpPr/>
            <p:nvPr/>
          </p:nvSpPr>
          <p:spPr>
            <a:xfrm>
              <a:off x="2606270" y="5708349"/>
              <a:ext cx="45009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/>
                <a:t>33</a:t>
              </a:r>
              <a:endParaRPr lang="en-US" sz="1400" dirty="0"/>
            </a:p>
          </p:txBody>
        </p:sp>
      </p:grpSp>
      <p:sp>
        <p:nvSpPr>
          <p:cNvPr id="42" name="CuadroTexto 41">
            <a:extLst>
              <a:ext uri="{FF2B5EF4-FFF2-40B4-BE49-F238E27FC236}">
                <a16:creationId xmlns:a16="http://schemas.microsoft.com/office/drawing/2014/main" id="{7599FFCF-C119-064D-80DF-7B854487AB18}"/>
              </a:ext>
            </a:extLst>
          </p:cNvPr>
          <p:cNvSpPr txBox="1"/>
          <p:nvPr/>
        </p:nvSpPr>
        <p:spPr>
          <a:xfrm>
            <a:off x="2995774" y="6473279"/>
            <a:ext cx="193626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ExampleGUI13</a:t>
            </a:r>
          </a:p>
        </p:txBody>
      </p:sp>
    </p:spTree>
    <p:extLst>
      <p:ext uri="{BB962C8B-B14F-4D97-AF65-F5344CB8AC3E}">
        <p14:creationId xmlns:p14="http://schemas.microsoft.com/office/powerpoint/2010/main" val="160157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bldLvl="2"/>
      <p:bldP spid="3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6A936E-4D51-694E-9E6A-FA8A018F5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Window</a:t>
            </a:r>
            <a:r>
              <a:rPr lang="es-ES" dirty="0"/>
              <a:t> </a:t>
            </a:r>
            <a:r>
              <a:rPr lang="es-ES" dirty="0" err="1"/>
              <a:t>Builder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5915F9-8A83-2D44-838A-23C81E940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000" dirty="0"/>
          </a:p>
          <a:p>
            <a:r>
              <a:rPr lang="es-ES" sz="2000" b="0" dirty="0" err="1"/>
              <a:t>Plugin</a:t>
            </a:r>
            <a:r>
              <a:rPr lang="es-ES" sz="2000" b="0" dirty="0"/>
              <a:t> de Eclipse que te permite construir las interfaces gráficas de manera automática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788E0C7-364C-C549-8A91-464D950D1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435649"/>
              </p:ext>
            </p:extLst>
          </p:nvPr>
        </p:nvGraphicFramePr>
        <p:xfrm>
          <a:off x="1252774" y="2492896"/>
          <a:ext cx="7416824" cy="3069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8412">
                  <a:extLst>
                    <a:ext uri="{9D8B030D-6E8A-4147-A177-3AD203B41FA5}">
                      <a16:colId xmlns:a16="http://schemas.microsoft.com/office/drawing/2014/main" val="3836186865"/>
                    </a:ext>
                  </a:extLst>
                </a:gridCol>
                <a:gridCol w="3708412">
                  <a:extLst>
                    <a:ext uri="{9D8B030D-6E8A-4147-A177-3AD203B41FA5}">
                      <a16:colId xmlns:a16="http://schemas.microsoft.com/office/drawing/2014/main" val="2647522227"/>
                    </a:ext>
                  </a:extLst>
                </a:gridCol>
              </a:tblGrid>
              <a:tr h="34322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Ventajas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Inconvenientes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733509"/>
                  </a:ext>
                </a:extLst>
              </a:tr>
              <a:tr h="535991">
                <a:tc>
                  <a:txBody>
                    <a:bodyPr/>
                    <a:lstStyle/>
                    <a:p>
                      <a:r>
                        <a:rPr lang="es-ES" sz="1600" dirty="0"/>
                        <a:t>Creación sencilla de interfaces gráficas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El programador no controla el código que se va generando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216760"/>
                  </a:ext>
                </a:extLst>
              </a:tr>
              <a:tr h="1213032">
                <a:tc>
                  <a:txBody>
                    <a:bodyPr/>
                    <a:lstStyle/>
                    <a:p>
                      <a:r>
                        <a:rPr lang="es-ES" sz="1600" dirty="0"/>
                        <a:t>Ahorro considerable de tiempo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No nos vale cuando queremos crear elementos en tiempo de ejecución (Por ejemplo, si se pide que el usuario introduzca un número de botones, para luego crearlos)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261306"/>
                  </a:ext>
                </a:extLst>
              </a:tr>
              <a:tr h="592411">
                <a:tc>
                  <a:txBody>
                    <a:bodyPr/>
                    <a:lstStyle/>
                    <a:p>
                      <a:r>
                        <a:rPr lang="es-ES" sz="1600" dirty="0"/>
                        <a:t>Configuración de propiedades de elementos muy fácil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3533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1662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F14E4-BA9D-DB44-B291-3F1865FD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Window</a:t>
            </a:r>
            <a:r>
              <a:rPr lang="es-ES" dirty="0"/>
              <a:t> </a:t>
            </a:r>
            <a:r>
              <a:rPr lang="es-ES" dirty="0" err="1"/>
              <a:t>Builder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A036E1-A1DB-2449-9D1E-34C47942D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1800" b="0" dirty="0"/>
          </a:p>
          <a:p>
            <a:r>
              <a:rPr lang="es-ES" sz="1800" b="0" dirty="0"/>
              <a:t>Una vez instalado el </a:t>
            </a:r>
            <a:r>
              <a:rPr lang="es-ES" sz="1800" b="0" dirty="0" err="1"/>
              <a:t>plugin</a:t>
            </a:r>
            <a:r>
              <a:rPr lang="es-ES" sz="1800" b="0" dirty="0"/>
              <a:t>, en New, buscamos crear un nuevo </a:t>
            </a:r>
            <a:r>
              <a:rPr lang="es-ES" sz="1800" b="0" dirty="0" err="1"/>
              <a:t>JFrame</a:t>
            </a:r>
            <a:r>
              <a:rPr lang="es-ES" sz="1800" b="0" dirty="0"/>
              <a:t> (o el elemento contenedor que queramos desarrollar)</a:t>
            </a:r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endParaRPr lang="es-ES" sz="1800" b="0" dirty="0"/>
          </a:p>
          <a:p>
            <a:r>
              <a:rPr lang="es-ES" sz="1800" b="0" dirty="0"/>
              <a:t>Ahora es cuestión de que “juegues” un poco con los distintos elementos y sus propiedades, y los eventos que podemos controlar.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D292731-33B4-B247-9043-C55965062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66" y="2204864"/>
            <a:ext cx="5569867" cy="281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0357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45350-1C7B-E953-E51E-AD7A49C74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JTable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FF2DF5-5786-173A-3482-7B773541F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smtClean="0"/>
              <a:t>Componente que </a:t>
            </a:r>
            <a:r>
              <a:rPr lang="es-ES" sz="1800"/>
              <a:t>se utiliza para mostrar y editar datos tabulares. Es parte del paquete javax.swing y es una parte importante de la biblioteca Swing para el desarrollo de aplicaciones de escritorio en Java.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564904"/>
            <a:ext cx="4414596" cy="3123062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b="66488"/>
          <a:stretch/>
        </p:blipFill>
        <p:spPr>
          <a:xfrm>
            <a:off x="5004048" y="5460505"/>
            <a:ext cx="3471327" cy="86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715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JFreechart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/>
              <a:t>JFreeChart es una biblioteca Java para la creación de gráficos, incluyendo gráficos de barras, líneas, áreas, dispersiones y muchos otros tipos de gráficos. Aquí tienes un ejemplo básico de cómo usar JFreeChart para crear un gráfico de barras: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780928"/>
            <a:ext cx="3024515" cy="3460800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5004048" y="3573016"/>
            <a:ext cx="4032448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>
                <a:solidFill>
                  <a:srgbClr val="FF0000"/>
                </a:solidFill>
              </a:rPr>
              <a:t>IMPORTANTE!</a:t>
            </a:r>
          </a:p>
          <a:p>
            <a:r>
              <a:rPr lang="es-ES" smtClean="0"/>
              <a:t>Necesitamos importar la librería JFreechart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89984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JavaFX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/>
              <a:t>JavaFX es un framework para construir interfaces gráficas en Java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1916832"/>
            <a:ext cx="7674005" cy="390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150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JavaFX</a:t>
            </a:r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700808"/>
            <a:ext cx="6336704" cy="308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2096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Creamos proyecto Java Fx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1800" smtClean="0"/>
              <a:t>Crear proyecto como proyecto Maven</a:t>
            </a:r>
          </a:p>
          <a:p>
            <a:r>
              <a:rPr lang="es-ES" sz="1800" smtClean="0"/>
              <a:t>Añadir la siguiente dependencia en el fichero pom.xml</a:t>
            </a:r>
            <a:endParaRPr lang="es-ES" sz="180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2420888"/>
            <a:ext cx="6309907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12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Creamos proyecto Java Fx</a:t>
            </a:r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484784"/>
            <a:ext cx="6186874" cy="407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704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Primer ejemplo Java Fx</a:t>
            </a:r>
            <a:endParaRPr lang="es-ES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390" y="1344749"/>
            <a:ext cx="5761219" cy="41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01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Primer ejemplo Java Fx</a:t>
            </a:r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971" y="2420888"/>
            <a:ext cx="6027942" cy="2034716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-36512" y="1484784"/>
            <a:ext cx="907300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mtClean="0"/>
              <a:t>Ejecutar proyecto Maven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3084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Primer ejemplo Java Fx</a:t>
            </a:r>
            <a:endParaRPr lang="es-E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1772816"/>
            <a:ext cx="4104456" cy="3113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794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Ejercicio Individual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mtClean="0"/>
              <a:t>Te animo a que pienses una aplicación gráfica sencilla e investigando, intentes desarrollarla con Java Fx.</a:t>
            </a:r>
            <a:endParaRPr lang="es-ES"/>
          </a:p>
        </p:txBody>
      </p:sp>
      <p:pic>
        <p:nvPicPr>
          <p:cNvPr id="1026" name="Picture 2" descr="Sticker para dar animo | Lugu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2420888"/>
            <a:ext cx="2904257" cy="2904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7859126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28386</TotalTime>
  <Words>2430</Words>
  <Application>Microsoft Office PowerPoint</Application>
  <PresentationFormat>Presentación en pantalla (4:3)</PresentationFormat>
  <Paragraphs>740</Paragraphs>
  <Slides>43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54" baseType="lpstr">
      <vt:lpstr>Adobe Fan Heiti Std B</vt:lpstr>
      <vt:lpstr>Adobe Gothic Std B</vt:lpstr>
      <vt:lpstr>Aharoni</vt:lpstr>
      <vt:lpstr>Aller</vt:lpstr>
      <vt:lpstr>Aller Light</vt:lpstr>
      <vt:lpstr>Arial</vt:lpstr>
      <vt:lpstr>Calibri</vt:lpstr>
      <vt:lpstr>Exotc350 Bd BT</vt:lpstr>
      <vt:lpstr>Verdana</vt:lpstr>
      <vt:lpstr>Wingdings</vt:lpstr>
      <vt:lpstr>cdb2004c019l</vt:lpstr>
      <vt:lpstr>Lectura y Escritura de Información</vt:lpstr>
      <vt:lpstr>Contenido</vt:lpstr>
      <vt:lpstr>Introducción</vt:lpstr>
      <vt:lpstr>Introducción</vt:lpstr>
      <vt:lpstr>Introducción</vt:lpstr>
      <vt:lpstr>Hola Mundo con Swing</vt:lpstr>
      <vt:lpstr>Componentes Swing</vt:lpstr>
      <vt:lpstr>Los contenedores Swing</vt:lpstr>
      <vt:lpstr>JFrame (Marco)</vt:lpstr>
      <vt:lpstr>JOptionPane</vt:lpstr>
      <vt:lpstr>JOptionPane</vt:lpstr>
      <vt:lpstr>JFrame y JLabel (etiqueta)</vt:lpstr>
      <vt:lpstr>Extender JFrame</vt:lpstr>
      <vt:lpstr>Imágenes con Jlabel </vt:lpstr>
      <vt:lpstr>JTextField (Campo de Texto)</vt:lpstr>
      <vt:lpstr>Organización de los controles en un contenedor</vt:lpstr>
      <vt:lpstr>Ejemplos Layout Manager</vt:lpstr>
      <vt:lpstr>Organización de los controles en un contenedor</vt:lpstr>
      <vt:lpstr>Clase Privada y Manejadores de Eventos</vt:lpstr>
      <vt:lpstr>Manejo de Eventos</vt:lpstr>
      <vt:lpstr>Presentación de PowerPoint</vt:lpstr>
      <vt:lpstr>Presentación de PowerPoint</vt:lpstr>
      <vt:lpstr>JCheckBox (Casilla de Verificación)</vt:lpstr>
      <vt:lpstr>JRadioButton (Botón de Opción)</vt:lpstr>
      <vt:lpstr>JRadioButton (Botón de Opción)</vt:lpstr>
      <vt:lpstr>Clases Anónimas y Eventos</vt:lpstr>
      <vt:lpstr>Clases Anónimas y Eventos</vt:lpstr>
      <vt:lpstr>JComboBox</vt:lpstr>
      <vt:lpstr>JList</vt:lpstr>
      <vt:lpstr>JList. Selección múltiple</vt:lpstr>
      <vt:lpstr>ScrollBar y Slider</vt:lpstr>
      <vt:lpstr>Window Builder</vt:lpstr>
      <vt:lpstr>Window Builder</vt:lpstr>
      <vt:lpstr>JTable</vt:lpstr>
      <vt:lpstr>JFreechart</vt:lpstr>
      <vt:lpstr>JavaFX</vt:lpstr>
      <vt:lpstr>JavaFX</vt:lpstr>
      <vt:lpstr>Creamos proyecto Java Fx</vt:lpstr>
      <vt:lpstr>Creamos proyecto Java Fx</vt:lpstr>
      <vt:lpstr>Primer ejemplo Java Fx</vt:lpstr>
      <vt:lpstr>Primer ejemplo Java Fx</vt:lpstr>
      <vt:lpstr>Primer ejemplo Java Fx</vt:lpstr>
      <vt:lpstr>Ejercicio Individual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1334</cp:revision>
  <dcterms:created xsi:type="dcterms:W3CDTF">2008-09-25T01:23:28Z</dcterms:created>
  <dcterms:modified xsi:type="dcterms:W3CDTF">2025-03-18T12:10:41Z</dcterms:modified>
</cp:coreProperties>
</file>