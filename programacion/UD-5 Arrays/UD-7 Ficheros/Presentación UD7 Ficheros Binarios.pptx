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9" r:id="rId3"/>
    <p:sldId id="475" r:id="rId4"/>
    <p:sldId id="478" r:id="rId5"/>
    <p:sldId id="483" r:id="rId6"/>
    <p:sldId id="487" r:id="rId7"/>
    <p:sldId id="484" r:id="rId8"/>
    <p:sldId id="485" r:id="rId9"/>
    <p:sldId id="488" r:id="rId10"/>
    <p:sldId id="489" r:id="rId11"/>
    <p:sldId id="486" r:id="rId12"/>
    <p:sldId id="492" r:id="rId13"/>
  </p:sldIdLst>
  <p:sldSz cx="9144000" cy="6858000" type="screen4x3"/>
  <p:notesSz cx="6858000" cy="9144000"/>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ción predeterminada" id="{E249EDBE-9125-4EDC-A34A-0044E829241A}">
          <p14:sldIdLst>
            <p14:sldId id="256"/>
            <p14:sldId id="269"/>
            <p14:sldId id="475"/>
            <p14:sldId id="478"/>
            <p14:sldId id="483"/>
            <p14:sldId id="487"/>
            <p14:sldId id="484"/>
            <p14:sldId id="485"/>
            <p14:sldId id="488"/>
            <p14:sldId id="489"/>
            <p14:sldId id="486"/>
            <p14:sldId id="492"/>
          </p14:sldIdLst>
        </p14:section>
        <p14:section name="Sección sin título" id="{E4FCF462-0BFF-4E95-876C-35E98A900FF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E79B"/>
    <a:srgbClr val="F8A602"/>
    <a:srgbClr val="D6D9DF"/>
    <a:srgbClr val="FF3300"/>
    <a:srgbClr val="FFFFCC"/>
    <a:srgbClr val="EFEFEF"/>
    <a:srgbClr val="FF6600"/>
    <a:srgbClr val="FFFF00"/>
    <a:srgbClr val="FFDB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904" autoAdjust="0"/>
    <p:restoredTop sz="50000" autoAdjust="0"/>
  </p:normalViewPr>
  <p:slideViewPr>
    <p:cSldViewPr>
      <p:cViewPr varScale="1">
        <p:scale>
          <a:sx n="87" d="100"/>
          <a:sy n="87" d="100"/>
        </p:scale>
        <p:origin x="1733"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05/03/2025</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41029783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720975"/>
            <a:ext cx="9144000" cy="564009"/>
          </a:xfrm>
        </p:spPr>
        <p:txBody>
          <a:bodyPr/>
          <a:lstStyle/>
          <a:p>
            <a:r>
              <a:rPr lang="en-US" sz="3200" dirty="0" err="1"/>
              <a:t>Lectura</a:t>
            </a:r>
            <a:r>
              <a:rPr lang="en-US" sz="3200" dirty="0"/>
              <a:t> y </a:t>
            </a:r>
            <a:r>
              <a:rPr lang="en-US" sz="3200" dirty="0" err="1"/>
              <a:t>Escritura</a:t>
            </a:r>
            <a:r>
              <a:rPr lang="en-US" sz="3200" dirty="0"/>
              <a:t> de </a:t>
            </a:r>
            <a:r>
              <a:rPr lang="en-US" sz="3200" dirty="0" err="1"/>
              <a:t>Información</a:t>
            </a:r>
            <a:endParaRPr lang="en-US" sz="3200" dirty="0"/>
          </a:p>
        </p:txBody>
      </p:sp>
      <p:sp>
        <p:nvSpPr>
          <p:cNvPr id="2" name="CuadroTexto 1">
            <a:extLst>
              <a:ext uri="{FF2B5EF4-FFF2-40B4-BE49-F238E27FC236}">
                <a16:creationId xmlns:a16="http://schemas.microsoft.com/office/drawing/2014/main" id="{3C683052-0079-4D4D-9251-97B1352315A0}"/>
              </a:ext>
            </a:extLst>
          </p:cNvPr>
          <p:cNvSpPr txBox="1"/>
          <p:nvPr/>
        </p:nvSpPr>
        <p:spPr>
          <a:xfrm>
            <a:off x="3959932" y="1772816"/>
            <a:ext cx="1224136" cy="584775"/>
          </a:xfrm>
          <a:prstGeom prst="rect">
            <a:avLst/>
          </a:prstGeom>
          <a:noFill/>
        </p:spPr>
        <p:txBody>
          <a:bodyPr wrap="square" rtlCol="0">
            <a:spAutoFit/>
          </a:bodyPr>
          <a:lstStyle/>
          <a:p>
            <a:r>
              <a:rPr lang="es-ES" sz="3200" dirty="0">
                <a:solidFill>
                  <a:schemeClr val="bg1"/>
                </a:solidFill>
              </a:rPr>
              <a:t>UD7</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FC4BB-8607-D848-9E54-6ACCA7AD90DE}"/>
              </a:ext>
            </a:extLst>
          </p:cNvPr>
          <p:cNvSpPr>
            <a:spLocks noGrp="1"/>
          </p:cNvSpPr>
          <p:nvPr>
            <p:ph type="title"/>
          </p:nvPr>
        </p:nvSpPr>
        <p:spPr/>
        <p:txBody>
          <a:bodyPr/>
          <a:lstStyle/>
          <a:p>
            <a:r>
              <a:rPr lang="es-ES" dirty="0"/>
              <a:t>Contenido</a:t>
            </a:r>
          </a:p>
        </p:txBody>
      </p:sp>
      <p:sp>
        <p:nvSpPr>
          <p:cNvPr id="3" name="Marcador de contenido 2">
            <a:extLst>
              <a:ext uri="{FF2B5EF4-FFF2-40B4-BE49-F238E27FC236}">
                <a16:creationId xmlns:a16="http://schemas.microsoft.com/office/drawing/2014/main" id="{08EB94C8-1B73-5A40-9D59-1515017031E3}"/>
              </a:ext>
            </a:extLst>
          </p:cNvPr>
          <p:cNvSpPr>
            <a:spLocks noGrp="1"/>
          </p:cNvSpPr>
          <p:nvPr>
            <p:ph idx="1"/>
          </p:nvPr>
        </p:nvSpPr>
        <p:spPr/>
        <p:txBody>
          <a:bodyPr/>
          <a:lstStyle/>
          <a:p>
            <a:pPr marL="0" indent="0">
              <a:buNone/>
            </a:pPr>
            <a:r>
              <a:rPr lang="es-ES_tradnl" sz="2000" dirty="0"/>
              <a:t>R.A. 5:Realiza operaciones de entrada y salida de información, utilizando procedimientos específicos del lenguaje y librerías de clases.</a:t>
            </a:r>
            <a:endParaRPr lang="es-ES" sz="2000" dirty="0"/>
          </a:p>
          <a:p>
            <a:endParaRPr lang="es-ES" dirty="0"/>
          </a:p>
        </p:txBody>
      </p:sp>
      <p:pic>
        <p:nvPicPr>
          <p:cNvPr id="5" name="Imagen 4"/>
          <p:cNvPicPr>
            <a:picLocks noChangeAspect="1"/>
          </p:cNvPicPr>
          <p:nvPr/>
        </p:nvPicPr>
        <p:blipFill>
          <a:blip r:embed="rId2"/>
          <a:stretch>
            <a:fillRect/>
          </a:stretch>
        </p:blipFill>
        <p:spPr>
          <a:xfrm>
            <a:off x="1868274" y="2164749"/>
            <a:ext cx="5407451" cy="4154398"/>
          </a:xfrm>
          <a:prstGeom prst="rect">
            <a:avLst/>
          </a:prstGeom>
        </p:spPr>
      </p:pic>
    </p:spTree>
    <p:extLst>
      <p:ext uri="{BB962C8B-B14F-4D97-AF65-F5344CB8AC3E}">
        <p14:creationId xmlns:p14="http://schemas.microsoft.com/office/powerpoint/2010/main" val="1525143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C08DC2-1737-EE4F-AA7D-368F44C3DA8A}"/>
              </a:ext>
            </a:extLst>
          </p:cNvPr>
          <p:cNvSpPr>
            <a:spLocks noGrp="1"/>
          </p:cNvSpPr>
          <p:nvPr>
            <p:ph type="title"/>
          </p:nvPr>
        </p:nvSpPr>
        <p:spPr/>
        <p:txBody>
          <a:bodyPr/>
          <a:lstStyle/>
          <a:p>
            <a:r>
              <a:rPr lang="es-ES" dirty="0"/>
              <a:t>Contenido</a:t>
            </a:r>
          </a:p>
        </p:txBody>
      </p:sp>
      <p:sp>
        <p:nvSpPr>
          <p:cNvPr id="4" name="CuadroTexto 3">
            <a:extLst>
              <a:ext uri="{FF2B5EF4-FFF2-40B4-BE49-F238E27FC236}">
                <a16:creationId xmlns:a16="http://schemas.microsoft.com/office/drawing/2014/main" id="{4E36D980-6D78-F242-9108-94F43E5B3B0D}"/>
              </a:ext>
            </a:extLst>
          </p:cNvPr>
          <p:cNvSpPr txBox="1"/>
          <p:nvPr/>
        </p:nvSpPr>
        <p:spPr>
          <a:xfrm>
            <a:off x="1151620" y="2868455"/>
            <a:ext cx="6840760" cy="1077218"/>
          </a:xfrm>
          <a:prstGeom prst="rect">
            <a:avLst/>
          </a:prstGeom>
          <a:noFill/>
        </p:spPr>
        <p:txBody>
          <a:bodyPr wrap="square" rtlCol="0">
            <a:spAutoFit/>
          </a:bodyPr>
          <a:lstStyle/>
          <a:p>
            <a:pPr algn="ctr"/>
            <a:r>
              <a:rPr lang="es-ES" sz="3200" smtClean="0"/>
              <a:t>Ficheros binarios para trabajar con objetos</a:t>
            </a:r>
            <a:endParaRPr lang="es-ES" sz="3200" dirty="0"/>
          </a:p>
        </p:txBody>
      </p:sp>
    </p:spTree>
    <p:extLst>
      <p:ext uri="{BB962C8B-B14F-4D97-AF65-F5344CB8AC3E}">
        <p14:creationId xmlns:p14="http://schemas.microsoft.com/office/powerpoint/2010/main" val="2392054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16427-ADA9-8744-8E8E-A826AEF7D362}"/>
              </a:ext>
            </a:extLst>
          </p:cNvPr>
          <p:cNvSpPr>
            <a:spLocks noGrp="1"/>
          </p:cNvSpPr>
          <p:nvPr>
            <p:ph type="title"/>
          </p:nvPr>
        </p:nvSpPr>
        <p:spPr/>
        <p:txBody>
          <a:bodyPr/>
          <a:lstStyle/>
          <a:p>
            <a:r>
              <a:rPr lang="es-ES"/>
              <a:t>Ficheros </a:t>
            </a:r>
            <a:r>
              <a:rPr lang="es-ES" smtClean="0"/>
              <a:t>binarios</a:t>
            </a:r>
            <a:endParaRPr lang="es-ES" dirty="0"/>
          </a:p>
        </p:txBody>
      </p:sp>
      <p:sp>
        <p:nvSpPr>
          <p:cNvPr id="4" name="Marcador de contenido 3">
            <a:extLst>
              <a:ext uri="{FF2B5EF4-FFF2-40B4-BE49-F238E27FC236}">
                <a16:creationId xmlns:a16="http://schemas.microsoft.com/office/drawing/2014/main" id="{381E3D22-989A-08DE-0CF2-A8BF5327F115}"/>
              </a:ext>
            </a:extLst>
          </p:cNvPr>
          <p:cNvSpPr>
            <a:spLocks noGrp="1"/>
          </p:cNvSpPr>
          <p:nvPr>
            <p:ph idx="1"/>
          </p:nvPr>
        </p:nvSpPr>
        <p:spPr/>
        <p:txBody>
          <a:bodyPr/>
          <a:lstStyle/>
          <a:p>
            <a:pPr marL="0" indent="0" algn="ctr">
              <a:buNone/>
            </a:pPr>
            <a:endParaRPr lang="es-ES" smtClean="0"/>
          </a:p>
          <a:p>
            <a:pPr marL="0" indent="0" algn="ctr">
              <a:buNone/>
            </a:pPr>
            <a:endParaRPr lang="es-ES"/>
          </a:p>
          <a:p>
            <a:pPr marL="0" indent="0" algn="ctr">
              <a:buNone/>
            </a:pPr>
            <a:endParaRPr lang="es-ES" smtClean="0"/>
          </a:p>
          <a:p>
            <a:pPr marL="0" indent="0" algn="ctr">
              <a:buNone/>
            </a:pPr>
            <a:endParaRPr lang="es-ES" smtClean="0"/>
          </a:p>
          <a:p>
            <a:pPr marL="0" indent="0" algn="ctr">
              <a:buNone/>
            </a:pPr>
            <a:r>
              <a:rPr lang="es-ES" sz="4000" smtClean="0"/>
              <a:t>PREVIOUSLY </a:t>
            </a:r>
            <a:r>
              <a:rPr lang="es-ES" sz="4000" dirty="0"/>
              <a:t>ON JAVA…</a:t>
            </a:r>
          </a:p>
        </p:txBody>
      </p:sp>
    </p:spTree>
    <p:extLst>
      <p:ext uri="{BB962C8B-B14F-4D97-AF65-F5344CB8AC3E}">
        <p14:creationId xmlns:p14="http://schemas.microsoft.com/office/powerpoint/2010/main" val="3153754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Ficheros </a:t>
            </a:r>
            <a:r>
              <a:rPr lang="es-ES" smtClean="0"/>
              <a:t>binarios</a:t>
            </a:r>
            <a:endParaRPr lang="es-ES" dirty="0"/>
          </a:p>
        </p:txBody>
      </p:sp>
      <p:sp>
        <p:nvSpPr>
          <p:cNvPr id="3" name="Marcador de contenido 2"/>
          <p:cNvSpPr>
            <a:spLocks noGrp="1"/>
          </p:cNvSpPr>
          <p:nvPr>
            <p:ph idx="1"/>
          </p:nvPr>
        </p:nvSpPr>
        <p:spPr/>
        <p:txBody>
          <a:bodyPr/>
          <a:lstStyle/>
          <a:p>
            <a:endParaRPr lang="es-ES" sz="1600" b="0" smtClean="0"/>
          </a:p>
          <a:p>
            <a:r>
              <a:rPr lang="es-ES" sz="1600" b="0" smtClean="0">
                <a:latin typeface="Calibri" panose="020F0502020204030204" pitchFamily="34" charset="0"/>
                <a:cs typeface="Calibri" panose="020F0502020204030204" pitchFamily="34" charset="0"/>
              </a:rPr>
              <a:t>La </a:t>
            </a:r>
            <a:r>
              <a:rPr lang="es-ES" sz="1600" b="0" dirty="0">
                <a:latin typeface="Calibri" panose="020F0502020204030204" pitchFamily="34" charset="0"/>
                <a:cs typeface="Calibri" panose="020F0502020204030204" pitchFamily="34" charset="0"/>
              </a:rPr>
              <a:t>gran potencia que nos ofrecen los ficheros binarios se ve reflejada con la Programación Orientada </a:t>
            </a:r>
            <a:r>
              <a:rPr lang="es-ES" sz="1600" b="0">
                <a:latin typeface="Calibri" panose="020F0502020204030204" pitchFamily="34" charset="0"/>
                <a:cs typeface="Calibri" panose="020F0502020204030204" pitchFamily="34" charset="0"/>
              </a:rPr>
              <a:t>a </a:t>
            </a:r>
            <a:r>
              <a:rPr lang="es-ES" sz="1600" b="0" smtClean="0">
                <a:latin typeface="Calibri" panose="020F0502020204030204" pitchFamily="34" charset="0"/>
                <a:cs typeface="Calibri" panose="020F0502020204030204" pitchFamily="34" charset="0"/>
              </a:rPr>
              <a:t>Objetos</a:t>
            </a:r>
            <a:endParaRPr lang="es-ES" sz="1600" dirty="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s-ES" sz="1600" b="0" dirty="0">
                <a:effectLst/>
                <a:latin typeface="Calibri" panose="020F0502020204030204" pitchFamily="34" charset="0"/>
                <a:ea typeface="Calibri" panose="020F0502020204030204" pitchFamily="34" charset="0"/>
                <a:cs typeface="Calibri" panose="020F0502020204030204" pitchFamily="34" charset="0"/>
              </a:rPr>
              <a:t>La clase que nos permite leer información de ficheros binarios (siempre que trabajemos con </a:t>
            </a:r>
            <a:r>
              <a:rPr lang="es-ES" sz="1600" b="0">
                <a:effectLst/>
                <a:latin typeface="Calibri" panose="020F0502020204030204" pitchFamily="34" charset="0"/>
                <a:ea typeface="Calibri" panose="020F0502020204030204" pitchFamily="34" charset="0"/>
                <a:cs typeface="Calibri" panose="020F0502020204030204" pitchFamily="34" charset="0"/>
              </a:rPr>
              <a:t>objetos</a:t>
            </a:r>
            <a:r>
              <a:rPr lang="es-ES" sz="1600" b="0" smtClean="0">
                <a:effectLst/>
                <a:latin typeface="Calibri" panose="020F0502020204030204" pitchFamily="34" charset="0"/>
                <a:ea typeface="Calibri" panose="020F0502020204030204" pitchFamily="34" charset="0"/>
                <a:cs typeface="Calibri" panose="020F0502020204030204" pitchFamily="34" charset="0"/>
              </a:rPr>
              <a:t>), </a:t>
            </a:r>
            <a:r>
              <a:rPr lang="es-ES" sz="1600" b="0" dirty="0">
                <a:effectLst/>
                <a:latin typeface="Calibri" panose="020F0502020204030204" pitchFamily="34" charset="0"/>
                <a:ea typeface="Calibri" panose="020F0502020204030204" pitchFamily="34" charset="0"/>
                <a:cs typeface="Calibri" panose="020F0502020204030204" pitchFamily="34" charset="0"/>
              </a:rPr>
              <a:t>sería</a:t>
            </a:r>
            <a:r>
              <a:rPr lang="es-ES" sz="1600" dirty="0">
                <a:effectLst/>
                <a:latin typeface="Calibri" panose="020F0502020204030204" pitchFamily="34" charset="0"/>
                <a:ea typeface="Calibri" panose="020F0502020204030204" pitchFamily="34" charset="0"/>
                <a:cs typeface="Calibri" panose="020F0502020204030204" pitchFamily="34" charset="0"/>
              </a:rPr>
              <a:t> </a:t>
            </a:r>
            <a:r>
              <a:rPr lang="es-ES" sz="1600" dirty="0" err="1">
                <a:effectLst/>
                <a:latin typeface="Calibri" panose="020F0502020204030204" pitchFamily="34" charset="0"/>
                <a:ea typeface="Calibri" panose="020F0502020204030204" pitchFamily="34" charset="0"/>
                <a:cs typeface="Calibri" panose="020F0502020204030204" pitchFamily="34" charset="0"/>
              </a:rPr>
              <a:t>ObjectInputStream</a:t>
            </a:r>
            <a:r>
              <a:rPr lang="es-ES" sz="1600" dirty="0">
                <a:effectLst/>
                <a:latin typeface="Calibri" panose="020F0502020204030204" pitchFamily="34" charset="0"/>
                <a:ea typeface="Calibri" panose="020F0502020204030204" pitchFamily="34" charset="0"/>
                <a:cs typeface="Calibri" panose="020F0502020204030204" pitchFamily="34" charset="0"/>
              </a:rPr>
              <a:t> </a:t>
            </a:r>
            <a:r>
              <a:rPr lang="es-ES" sz="1600" b="0" dirty="0">
                <a:effectLst/>
                <a:latin typeface="Calibri" panose="020F0502020204030204" pitchFamily="34" charset="0"/>
                <a:ea typeface="Calibri" panose="020F0502020204030204" pitchFamily="34" charset="0"/>
                <a:cs typeface="Calibri" panose="020F0502020204030204" pitchFamily="34" charset="0"/>
              </a:rPr>
              <a:t>junto a </a:t>
            </a:r>
            <a:r>
              <a:rPr lang="es-ES" sz="1600" err="1">
                <a:effectLst/>
                <a:latin typeface="Calibri" panose="020F0502020204030204" pitchFamily="34" charset="0"/>
                <a:ea typeface="Calibri" panose="020F0502020204030204" pitchFamily="34" charset="0"/>
                <a:cs typeface="Calibri" panose="020F0502020204030204" pitchFamily="34" charset="0"/>
              </a:rPr>
              <a:t>FileInputStream</a:t>
            </a:r>
            <a:r>
              <a:rPr lang="es-ES" sz="1600" b="0" smtClean="0">
                <a:effectLst/>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endParaRPr lang="es-ES" sz="1600" b="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endParaRPr lang="es-ES" sz="1600" b="0" smtClean="0">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endParaRPr lang="es-ES" sz="1600" b="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endParaRPr lang="es-ES" sz="1600" b="0" smtClean="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s-ES" sz="1600" b="0" smtClean="0">
                <a:latin typeface="Calibri" panose="020F0502020204030204" pitchFamily="34" charset="0"/>
                <a:ea typeface="Calibri" panose="020F0502020204030204" pitchFamily="34" charset="0"/>
                <a:cs typeface="Calibri" panose="020F0502020204030204" pitchFamily="34" charset="0"/>
              </a:rPr>
              <a:t>La </a:t>
            </a:r>
            <a:r>
              <a:rPr lang="es-ES" sz="1600" b="0">
                <a:latin typeface="Calibri" panose="020F0502020204030204" pitchFamily="34" charset="0"/>
                <a:ea typeface="Calibri" panose="020F0502020204030204" pitchFamily="34" charset="0"/>
                <a:cs typeface="Calibri" panose="020F0502020204030204" pitchFamily="34" charset="0"/>
              </a:rPr>
              <a:t>clase que nos permite </a:t>
            </a:r>
            <a:r>
              <a:rPr lang="es-ES" sz="1600" b="0" smtClean="0">
                <a:latin typeface="Calibri" panose="020F0502020204030204" pitchFamily="34" charset="0"/>
                <a:ea typeface="Calibri" panose="020F0502020204030204" pitchFamily="34" charset="0"/>
                <a:cs typeface="Calibri" panose="020F0502020204030204" pitchFamily="34" charset="0"/>
              </a:rPr>
              <a:t>escribir </a:t>
            </a:r>
            <a:r>
              <a:rPr lang="es-ES" sz="1600" b="0">
                <a:latin typeface="Calibri" panose="020F0502020204030204" pitchFamily="34" charset="0"/>
                <a:ea typeface="Calibri" panose="020F0502020204030204" pitchFamily="34" charset="0"/>
                <a:cs typeface="Calibri" panose="020F0502020204030204" pitchFamily="34" charset="0"/>
              </a:rPr>
              <a:t>información </a:t>
            </a:r>
            <a:r>
              <a:rPr lang="es-ES" sz="1600" b="0" smtClean="0">
                <a:latin typeface="Calibri" panose="020F0502020204030204" pitchFamily="34" charset="0"/>
                <a:ea typeface="Calibri" panose="020F0502020204030204" pitchFamily="34" charset="0"/>
                <a:cs typeface="Calibri" panose="020F0502020204030204" pitchFamily="34" charset="0"/>
              </a:rPr>
              <a:t>en </a:t>
            </a:r>
            <a:r>
              <a:rPr lang="es-ES" sz="1600" b="0">
                <a:latin typeface="Calibri" panose="020F0502020204030204" pitchFamily="34" charset="0"/>
                <a:ea typeface="Calibri" panose="020F0502020204030204" pitchFamily="34" charset="0"/>
                <a:cs typeface="Calibri" panose="020F0502020204030204" pitchFamily="34" charset="0"/>
              </a:rPr>
              <a:t>ficheros binarios (siempre que trabajemos con objetos), sería</a:t>
            </a:r>
            <a:r>
              <a:rPr lang="es-ES" sz="1600">
                <a:latin typeface="Calibri" panose="020F0502020204030204" pitchFamily="34" charset="0"/>
                <a:ea typeface="Calibri" panose="020F0502020204030204" pitchFamily="34" charset="0"/>
                <a:cs typeface="Calibri" panose="020F0502020204030204" pitchFamily="34" charset="0"/>
              </a:rPr>
              <a:t> </a:t>
            </a:r>
            <a:r>
              <a:rPr lang="es-ES" sz="1600" smtClean="0">
                <a:latin typeface="Calibri" panose="020F0502020204030204" pitchFamily="34" charset="0"/>
                <a:ea typeface="Calibri" panose="020F0502020204030204" pitchFamily="34" charset="0"/>
                <a:cs typeface="Calibri" panose="020F0502020204030204" pitchFamily="34" charset="0"/>
              </a:rPr>
              <a:t>ObjectOutputStream </a:t>
            </a:r>
            <a:r>
              <a:rPr lang="es-ES" sz="1600" b="0">
                <a:latin typeface="Calibri" panose="020F0502020204030204" pitchFamily="34" charset="0"/>
                <a:ea typeface="Calibri" panose="020F0502020204030204" pitchFamily="34" charset="0"/>
                <a:cs typeface="Calibri" panose="020F0502020204030204" pitchFamily="34" charset="0"/>
              </a:rPr>
              <a:t>junto a </a:t>
            </a:r>
            <a:r>
              <a:rPr lang="es-ES" sz="1600" smtClean="0">
                <a:latin typeface="Calibri" panose="020F0502020204030204" pitchFamily="34" charset="0"/>
                <a:ea typeface="Calibri" panose="020F0502020204030204" pitchFamily="34" charset="0"/>
                <a:cs typeface="Calibri" panose="020F0502020204030204" pitchFamily="34" charset="0"/>
              </a:rPr>
              <a:t>FileOutputStream</a:t>
            </a:r>
            <a:r>
              <a:rPr lang="es-ES" sz="1600" b="0">
                <a:latin typeface="Calibri" panose="020F0502020204030204" pitchFamily="34" charset="0"/>
                <a:ea typeface="Calibri" panose="020F0502020204030204" pitchFamily="34" charset="0"/>
                <a:cs typeface="Calibri" panose="020F0502020204030204" pitchFamily="34" charset="0"/>
              </a:rPr>
              <a:t>.</a:t>
            </a:r>
          </a:p>
          <a:p>
            <a:pPr>
              <a:lnSpc>
                <a:spcPct val="107000"/>
              </a:lnSpc>
              <a:spcAft>
                <a:spcPts val="800"/>
              </a:spcAf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ES" sz="1600" b="0" dirty="0"/>
          </a:p>
        </p:txBody>
      </p:sp>
      <p:pic>
        <p:nvPicPr>
          <p:cNvPr id="4" name="Imagen 3"/>
          <p:cNvPicPr>
            <a:picLocks noChangeAspect="1"/>
          </p:cNvPicPr>
          <p:nvPr/>
        </p:nvPicPr>
        <p:blipFill rotWithShape="1">
          <a:blip r:embed="rId2"/>
          <a:srcRect l="20846" t="10107" r="33672" b="59572"/>
          <a:stretch/>
        </p:blipFill>
        <p:spPr>
          <a:xfrm>
            <a:off x="2195736" y="4874174"/>
            <a:ext cx="3960439" cy="1485165"/>
          </a:xfrm>
          <a:prstGeom prst="rect">
            <a:avLst/>
          </a:prstGeom>
        </p:spPr>
      </p:pic>
      <p:pic>
        <p:nvPicPr>
          <p:cNvPr id="7" name="Imagen 6"/>
          <p:cNvPicPr>
            <a:picLocks noChangeAspect="1"/>
          </p:cNvPicPr>
          <p:nvPr/>
        </p:nvPicPr>
        <p:blipFill rotWithShape="1">
          <a:blip r:embed="rId3"/>
          <a:srcRect l="20808" t="15689" r="35066" b="56553"/>
          <a:stretch/>
        </p:blipFill>
        <p:spPr>
          <a:xfrm>
            <a:off x="2411760" y="2708920"/>
            <a:ext cx="3866517" cy="1368152"/>
          </a:xfrm>
          <a:prstGeom prst="rect">
            <a:avLst/>
          </a:prstGeom>
        </p:spPr>
      </p:pic>
    </p:spTree>
    <p:extLst>
      <p:ext uri="{BB962C8B-B14F-4D97-AF65-F5344CB8AC3E}">
        <p14:creationId xmlns:p14="http://schemas.microsoft.com/office/powerpoint/2010/main" val="117366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16427-ADA9-8744-8E8E-A826AEF7D362}"/>
              </a:ext>
            </a:extLst>
          </p:cNvPr>
          <p:cNvSpPr>
            <a:spLocks noGrp="1"/>
          </p:cNvSpPr>
          <p:nvPr>
            <p:ph type="title"/>
          </p:nvPr>
        </p:nvSpPr>
        <p:spPr/>
        <p:txBody>
          <a:bodyPr/>
          <a:lstStyle/>
          <a:p>
            <a:r>
              <a:rPr lang="es-ES"/>
              <a:t>Ficheros </a:t>
            </a:r>
            <a:r>
              <a:rPr lang="es-ES" smtClean="0"/>
              <a:t>binarios</a:t>
            </a:r>
            <a:endParaRPr lang="es-ES" dirty="0"/>
          </a:p>
        </p:txBody>
      </p:sp>
      <p:sp>
        <p:nvSpPr>
          <p:cNvPr id="4" name="Marcador de contenido 3">
            <a:extLst>
              <a:ext uri="{FF2B5EF4-FFF2-40B4-BE49-F238E27FC236}">
                <a16:creationId xmlns:a16="http://schemas.microsoft.com/office/drawing/2014/main" id="{381E3D22-989A-08DE-0CF2-A8BF5327F115}"/>
              </a:ext>
            </a:extLst>
          </p:cNvPr>
          <p:cNvSpPr>
            <a:spLocks noGrp="1"/>
          </p:cNvSpPr>
          <p:nvPr>
            <p:ph idx="1"/>
          </p:nvPr>
        </p:nvSpPr>
        <p:spPr/>
        <p:txBody>
          <a:bodyPr/>
          <a:lstStyle/>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En clases anteriores, desarrollamos una clase “Equipos”, con una serie de atributos, para que nos pudiese luego servir para </a:t>
            </a:r>
            <a:r>
              <a:rPr lang="es-ES" sz="1800" smtClean="0">
                <a:latin typeface="Calibri" panose="020F0502020204030204" pitchFamily="34" charset="0"/>
                <a:ea typeface="Calibri" panose="020F0502020204030204" pitchFamily="34" charset="0"/>
                <a:cs typeface="Times New Roman" panose="02020603050405020304" pitchFamily="18" charset="0"/>
              </a:rPr>
              <a:t>almacenar un determinado objeto en un fichero binario</a:t>
            </a:r>
          </a:p>
          <a:p>
            <a:pPr marL="0" indent="0">
              <a:lnSpc>
                <a:spcPct val="107000"/>
              </a:lnSpc>
              <a:spcAft>
                <a:spcPts val="800"/>
              </a:spcAft>
              <a:buNone/>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Tendremos nuestros constructores, métodos getters-setters y toString.</a:t>
            </a:r>
          </a:p>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Ahora, construimos nuestra clase Test, pidiendo por consola datos del equipo e intentando almacenar dicho equipo en un fichero binario</a:t>
            </a:r>
          </a:p>
          <a:p>
            <a:pPr marL="0" indent="0">
              <a:lnSpc>
                <a:spcPct val="107000"/>
              </a:lnSpc>
              <a:spcAft>
                <a:spcPts val="800"/>
              </a:spcAft>
              <a:buNone/>
            </a:pPr>
            <a:endParaRPr lang="es-ES" sz="180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ES" dirty="0"/>
          </a:p>
        </p:txBody>
      </p:sp>
      <p:pic>
        <p:nvPicPr>
          <p:cNvPr id="5" name="Imagen 4"/>
          <p:cNvPicPr>
            <a:picLocks noChangeAspect="1"/>
          </p:cNvPicPr>
          <p:nvPr/>
        </p:nvPicPr>
        <p:blipFill rotWithShape="1">
          <a:blip r:embed="rId2"/>
          <a:srcRect l="15630" t="18147" r="55205" b="71483"/>
          <a:stretch/>
        </p:blipFill>
        <p:spPr>
          <a:xfrm>
            <a:off x="2115183" y="2060848"/>
            <a:ext cx="4248472" cy="849693"/>
          </a:xfrm>
          <a:prstGeom prst="rect">
            <a:avLst/>
          </a:prstGeom>
        </p:spPr>
      </p:pic>
      <p:pic>
        <p:nvPicPr>
          <p:cNvPr id="3" name="Imagen 2"/>
          <p:cNvPicPr>
            <a:picLocks noChangeAspect="1"/>
          </p:cNvPicPr>
          <p:nvPr/>
        </p:nvPicPr>
        <p:blipFill rotWithShape="1">
          <a:blip r:embed="rId3"/>
          <a:srcRect l="20917" t="27688" r="33902" b="41075"/>
          <a:stretch/>
        </p:blipFill>
        <p:spPr>
          <a:xfrm>
            <a:off x="1763688" y="4221088"/>
            <a:ext cx="5184576" cy="2016224"/>
          </a:xfrm>
          <a:prstGeom prst="rect">
            <a:avLst/>
          </a:prstGeom>
        </p:spPr>
      </p:pic>
    </p:spTree>
    <p:extLst>
      <p:ext uri="{BB962C8B-B14F-4D97-AF65-F5344CB8AC3E}">
        <p14:creationId xmlns:p14="http://schemas.microsoft.com/office/powerpoint/2010/main" val="258324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16427-ADA9-8744-8E8E-A826AEF7D362}"/>
              </a:ext>
            </a:extLst>
          </p:cNvPr>
          <p:cNvSpPr>
            <a:spLocks noGrp="1"/>
          </p:cNvSpPr>
          <p:nvPr>
            <p:ph type="title"/>
          </p:nvPr>
        </p:nvSpPr>
        <p:spPr/>
        <p:txBody>
          <a:bodyPr/>
          <a:lstStyle/>
          <a:p>
            <a:r>
              <a:rPr lang="es-ES" dirty="0"/>
              <a:t>Ficheros binarios</a:t>
            </a:r>
          </a:p>
        </p:txBody>
      </p:sp>
      <p:sp>
        <p:nvSpPr>
          <p:cNvPr id="4" name="Marcador de contenido 3">
            <a:extLst>
              <a:ext uri="{FF2B5EF4-FFF2-40B4-BE49-F238E27FC236}">
                <a16:creationId xmlns:a16="http://schemas.microsoft.com/office/drawing/2014/main" id="{381E3D22-989A-08DE-0CF2-A8BF5327F115}"/>
              </a:ext>
            </a:extLst>
          </p:cNvPr>
          <p:cNvSpPr>
            <a:spLocks noGrp="1"/>
          </p:cNvSpPr>
          <p:nvPr>
            <p:ph idx="1"/>
          </p:nvPr>
        </p:nvSpPr>
        <p:spPr/>
        <p:txBody>
          <a:bodyPr/>
          <a:lstStyle/>
          <a:p>
            <a:pPr marL="0" indent="0">
              <a:lnSpc>
                <a:spcPct val="107000"/>
              </a:lnSpc>
              <a:spcAft>
                <a:spcPts val="800"/>
              </a:spcAft>
              <a:buNone/>
            </a:pPr>
            <a:r>
              <a:rPr lang="es-ES" sz="1800" b="0" smtClean="0">
                <a:latin typeface="Calibri" panose="020F0502020204030204" pitchFamily="34" charset="0"/>
                <a:ea typeface="Calibri" panose="020F0502020204030204" pitchFamily="34" charset="0"/>
                <a:cs typeface="Times New Roman" panose="02020603050405020304" pitchFamily="18" charset="0"/>
              </a:rPr>
              <a:t>Pero…..</a:t>
            </a:r>
            <a:r>
              <a:rPr lang="es-ES" sz="1800" smtClean="0">
                <a:latin typeface="Calibri" panose="020F0502020204030204" pitchFamily="34" charset="0"/>
                <a:ea typeface="Calibri" panose="020F0502020204030204" pitchFamily="34" charset="0"/>
                <a:cs typeface="Times New Roman" panose="02020603050405020304" pitchFamily="18" charset="0"/>
              </a:rPr>
              <a:t>Houston tenemos un problema…cuando </a:t>
            </a:r>
            <a:r>
              <a:rPr lang="es-ES" sz="1800" b="0" smtClean="0">
                <a:latin typeface="Calibri" panose="020F0502020204030204" pitchFamily="34" charset="0"/>
                <a:ea typeface="Calibri" panose="020F0502020204030204" pitchFamily="34" charset="0"/>
                <a:cs typeface="Times New Roman" panose="02020603050405020304" pitchFamily="18" charset="0"/>
              </a:rPr>
              <a:t>ejecutamos nos encontramos              el siguiente error…</a:t>
            </a:r>
          </a:p>
          <a:p>
            <a:pPr marL="0" indent="0">
              <a:lnSpc>
                <a:spcPct val="107000"/>
              </a:lnSpc>
              <a:spcAft>
                <a:spcPts val="800"/>
              </a:spcAft>
              <a:buNone/>
            </a:pPr>
            <a:endParaRPr lang="es-ES" sz="1800" b="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b="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El error que se nos muestra es porque el sistema no sabe como “comunicar” nuestro objeto con el fichero binario. Para resolverlo, tenemos que configurar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nuestras </a:t>
            </a:r>
            <a:r>
              <a:rPr lang="es-ES" sz="1800" b="0" dirty="0">
                <a:effectLst/>
                <a:latin typeface="Calibri" panose="020F0502020204030204" pitchFamily="34" charset="0"/>
                <a:ea typeface="Calibri" panose="020F0502020204030204" pitchFamily="34" charset="0"/>
                <a:cs typeface="Times New Roman" panose="02020603050405020304" pitchFamily="18" charset="0"/>
              </a:rPr>
              <a:t>clases pertenecientes a aquellos objetos que </a:t>
            </a:r>
            <a:r>
              <a:rPr lang="es-ES" sz="1800" b="0">
                <a:effectLst/>
                <a:latin typeface="Calibri" panose="020F0502020204030204" pitchFamily="34" charset="0"/>
                <a:ea typeface="Calibri" panose="020F0502020204030204" pitchFamily="34" charset="0"/>
                <a:cs typeface="Times New Roman" panose="02020603050405020304" pitchFamily="18" charset="0"/>
              </a:rPr>
              <a:t>queremos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volcar, </a:t>
            </a:r>
            <a:r>
              <a:rPr lang="es-ES" sz="1800" smtClean="0">
                <a:effectLst/>
                <a:latin typeface="Calibri" panose="020F0502020204030204" pitchFamily="34" charset="0"/>
                <a:ea typeface="Calibri" panose="020F0502020204030204" pitchFamily="34" charset="0"/>
                <a:cs typeface="Times New Roman" panose="02020603050405020304" pitchFamily="18" charset="0"/>
              </a:rPr>
              <a:t>implementando la </a:t>
            </a:r>
            <a:r>
              <a:rPr lang="es-ES" sz="1800" dirty="0">
                <a:effectLst/>
                <a:latin typeface="Calibri" panose="020F0502020204030204" pitchFamily="34" charset="0"/>
                <a:ea typeface="Calibri" panose="020F0502020204030204" pitchFamily="34" charset="0"/>
                <a:cs typeface="Times New Roman" panose="02020603050405020304" pitchFamily="18" charset="0"/>
              </a:rPr>
              <a:t>interface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Serializable</a:t>
            </a:r>
            <a:r>
              <a:rPr lang="es-ES" sz="18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implements</a:t>
            </a:r>
            <a:r>
              <a:rPr lang="es-ES" sz="1800" dirty="0">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effectLst/>
                <a:latin typeface="Calibri" panose="020F0502020204030204" pitchFamily="34" charset="0"/>
                <a:ea typeface="Calibri" panose="020F0502020204030204" pitchFamily="34" charset="0"/>
                <a:cs typeface="Times New Roman" panose="02020603050405020304" pitchFamily="18" charset="0"/>
              </a:rPr>
              <a:t>Serializable</a:t>
            </a:r>
            <a:r>
              <a:rPr lang="es-ES" sz="1800">
                <a:effectLst/>
                <a:latin typeface="Calibri" panose="020F0502020204030204" pitchFamily="34" charset="0"/>
                <a:ea typeface="Calibri" panose="020F0502020204030204" pitchFamily="34" charset="0"/>
                <a:cs typeface="Times New Roman" panose="02020603050405020304" pitchFamily="18" charset="0"/>
              </a:rPr>
              <a:t>).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De esta forma, ya sí que podemos realizar dicha comunicación.</a:t>
            </a:r>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ES" dirty="0"/>
          </a:p>
        </p:txBody>
      </p:sp>
      <p:pic>
        <p:nvPicPr>
          <p:cNvPr id="6" name="Imagen 5"/>
          <p:cNvPicPr>
            <a:picLocks noChangeAspect="1"/>
          </p:cNvPicPr>
          <p:nvPr/>
        </p:nvPicPr>
        <p:blipFill rotWithShape="1">
          <a:blip r:embed="rId2"/>
          <a:srcRect l="12900" t="39314" r="15229" b="21372"/>
          <a:stretch/>
        </p:blipFill>
        <p:spPr>
          <a:xfrm>
            <a:off x="1547664" y="1772816"/>
            <a:ext cx="6264850" cy="1927646"/>
          </a:xfrm>
          <a:prstGeom prst="rect">
            <a:avLst/>
          </a:prstGeom>
        </p:spPr>
      </p:pic>
      <p:pic>
        <p:nvPicPr>
          <p:cNvPr id="7" name="Imagen 6"/>
          <p:cNvPicPr>
            <a:picLocks noChangeAspect="1"/>
          </p:cNvPicPr>
          <p:nvPr/>
        </p:nvPicPr>
        <p:blipFill rotWithShape="1">
          <a:blip r:embed="rId3"/>
          <a:srcRect l="15462" t="15708" r="48642" b="67602"/>
          <a:stretch/>
        </p:blipFill>
        <p:spPr>
          <a:xfrm>
            <a:off x="2411760" y="5300054"/>
            <a:ext cx="3793243" cy="992079"/>
          </a:xfrm>
          <a:prstGeom prst="rect">
            <a:avLst/>
          </a:prstGeom>
        </p:spPr>
      </p:pic>
    </p:spTree>
    <p:extLst>
      <p:ext uri="{BB962C8B-B14F-4D97-AF65-F5344CB8AC3E}">
        <p14:creationId xmlns:p14="http://schemas.microsoft.com/office/powerpoint/2010/main" val="4181190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C22F9-FD40-749E-0AAC-8A570E90A1F4}"/>
              </a:ext>
            </a:extLst>
          </p:cNvPr>
          <p:cNvSpPr>
            <a:spLocks noGrp="1"/>
          </p:cNvSpPr>
          <p:nvPr>
            <p:ph type="title"/>
          </p:nvPr>
        </p:nvSpPr>
        <p:spPr/>
        <p:txBody>
          <a:bodyPr/>
          <a:lstStyle/>
          <a:p>
            <a:r>
              <a:rPr lang="es-ES" smtClean="0"/>
              <a:t>Ficheros binarios</a:t>
            </a:r>
            <a:endParaRPr lang="es-ES"/>
          </a:p>
        </p:txBody>
      </p:sp>
      <p:sp>
        <p:nvSpPr>
          <p:cNvPr id="3" name="Marcador de contenido 2">
            <a:extLst>
              <a:ext uri="{FF2B5EF4-FFF2-40B4-BE49-F238E27FC236}">
                <a16:creationId xmlns:a16="http://schemas.microsoft.com/office/drawing/2014/main" id="{744CCEEF-303E-B52F-82A1-42B293E079B3}"/>
              </a:ext>
            </a:extLst>
          </p:cNvPr>
          <p:cNvSpPr>
            <a:spLocks noGrp="1"/>
          </p:cNvSpPr>
          <p:nvPr>
            <p:ph idx="1"/>
          </p:nvPr>
        </p:nvSpPr>
        <p:spPr/>
        <p:txBody>
          <a:bodyPr/>
          <a:lstStyle/>
          <a:p>
            <a:endParaRPr lang="es-ES" sz="2000" b="0" smtClean="0">
              <a:effectLst/>
              <a:latin typeface="Calibri" panose="020F0502020204030204" pitchFamily="34" charset="0"/>
              <a:ea typeface="Calibri" panose="020F0502020204030204" pitchFamily="34" charset="0"/>
              <a:cs typeface="Times New Roman" panose="02020603050405020304" pitchFamily="18" charset="0"/>
            </a:endParaRPr>
          </a:p>
          <a:p>
            <a:r>
              <a:rPr lang="es-ES" sz="2000" b="0" smtClean="0">
                <a:effectLst/>
                <a:latin typeface="Calibri" panose="020F0502020204030204" pitchFamily="34" charset="0"/>
                <a:ea typeface="Calibri" panose="020F0502020204030204" pitchFamily="34" charset="0"/>
                <a:cs typeface="Times New Roman" panose="02020603050405020304" pitchFamily="18" charset="0"/>
              </a:rPr>
              <a:t>Tenemos </a:t>
            </a:r>
            <a:r>
              <a:rPr lang="es-ES" sz="2000" b="0" dirty="0">
                <a:effectLst/>
                <a:latin typeface="Calibri" panose="020F0502020204030204" pitchFamily="34" charset="0"/>
                <a:ea typeface="Calibri" panose="020F0502020204030204" pitchFamily="34" charset="0"/>
                <a:cs typeface="Times New Roman" panose="02020603050405020304" pitchFamily="18" charset="0"/>
              </a:rPr>
              <a:t>que distinguir entre leer un solo objecto, leer varios objetos, o leer un array completo de objetos. Esto nos lo marca la forma en la cual hayamos escrito en ese fichero binario (Si hemos escrito un solo objeto, pues leemos ese solo objeto, como por ejemplo</a:t>
            </a:r>
            <a:r>
              <a:rPr lang="es-ES" sz="2000" b="0">
                <a:effectLst/>
                <a:latin typeface="Calibri" panose="020F0502020204030204" pitchFamily="34" charset="0"/>
                <a:ea typeface="Calibri" panose="020F0502020204030204" pitchFamily="34" charset="0"/>
                <a:cs typeface="Times New Roman" panose="02020603050405020304" pitchFamily="18" charset="0"/>
              </a:rPr>
              <a:t>, </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en el ejemplo anterior, cuando </a:t>
            </a:r>
            <a:r>
              <a:rPr lang="es-ES" sz="2000" b="0" dirty="0">
                <a:effectLst/>
                <a:latin typeface="Calibri" panose="020F0502020204030204" pitchFamily="34" charset="0"/>
                <a:ea typeface="Calibri" panose="020F0502020204030204" pitchFamily="34" charset="0"/>
                <a:cs typeface="Times New Roman" panose="02020603050405020304" pitchFamily="18" charset="0"/>
              </a:rPr>
              <a:t>escribíamos un fichero binario con la información de un solo </a:t>
            </a:r>
            <a:r>
              <a:rPr lang="es-ES" sz="2000" b="0">
                <a:effectLst/>
                <a:latin typeface="Calibri" panose="020F0502020204030204" pitchFamily="34" charset="0"/>
                <a:ea typeface="Calibri" panose="020F0502020204030204" pitchFamily="34" charset="0"/>
                <a:cs typeface="Times New Roman" panose="02020603050405020304" pitchFamily="18" charset="0"/>
              </a:rPr>
              <a:t>equipo</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a:t>
            </a:r>
          </a:p>
          <a:p>
            <a:endParaRPr lang="es-ES" sz="2000" b="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107000"/>
              </a:lnSpc>
              <a:spcAft>
                <a:spcPts val="800"/>
              </a:spcAft>
              <a:buNone/>
            </a:pPr>
            <a:r>
              <a:rPr lang="es-ES" sz="2000" smtClean="0">
                <a:effectLst/>
                <a:latin typeface="Calibri" panose="020F0502020204030204" pitchFamily="34" charset="0"/>
                <a:ea typeface="Calibri" panose="020F0502020204030204" pitchFamily="34" charset="0"/>
                <a:cs typeface="Times New Roman" panose="02020603050405020304" pitchFamily="18" charset="0"/>
              </a:rPr>
              <a:t>Equipos </a:t>
            </a:r>
            <a:r>
              <a:rPr lang="es-ES" sz="2000" dirty="0">
                <a:effectLst/>
                <a:latin typeface="Calibri" panose="020F0502020204030204" pitchFamily="34" charset="0"/>
                <a:ea typeface="Calibri" panose="020F0502020204030204" pitchFamily="34" charset="0"/>
                <a:cs typeface="Times New Roman" panose="02020603050405020304" pitchFamily="18" charset="0"/>
              </a:rPr>
              <a:t>equipo=(Equipo) </a:t>
            </a:r>
            <a:r>
              <a:rPr lang="es-ES" sz="2000" dirty="0" err="1">
                <a:effectLst/>
                <a:latin typeface="Calibri" panose="020F0502020204030204" pitchFamily="34" charset="0"/>
                <a:ea typeface="Calibri" panose="020F0502020204030204" pitchFamily="34" charset="0"/>
                <a:cs typeface="Times New Roman" panose="02020603050405020304" pitchFamily="18" charset="0"/>
              </a:rPr>
              <a:t>is.readObject</a:t>
            </a:r>
            <a:r>
              <a:rPr lang="es-ES" sz="2000">
                <a:effectLst/>
                <a:latin typeface="Calibri" panose="020F0502020204030204" pitchFamily="34" charset="0"/>
                <a:ea typeface="Calibri" panose="020F0502020204030204" pitchFamily="34" charset="0"/>
                <a:cs typeface="Times New Roman" panose="02020603050405020304" pitchFamily="18" charset="0"/>
              </a:rPr>
              <a:t>() </a:t>
            </a:r>
            <a:endParaRPr lang="es-ES" sz="2000" smtClean="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s-ES"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2000" b="0" smtClean="0">
                <a:effectLst/>
                <a:latin typeface="Calibri" panose="020F0502020204030204" pitchFamily="34" charset="0"/>
                <a:ea typeface="Calibri" panose="020F0502020204030204" pitchFamily="34" charset="0"/>
                <a:cs typeface="Times New Roman" panose="02020603050405020304" pitchFamily="18" charset="0"/>
              </a:rPr>
              <a:t>Una cuestión importante es </a:t>
            </a:r>
            <a:r>
              <a:rPr lang="es-ES" sz="2000" smtClean="0">
                <a:effectLst/>
                <a:latin typeface="Calibri" panose="020F0502020204030204" pitchFamily="34" charset="0"/>
                <a:ea typeface="Calibri" panose="020F0502020204030204" pitchFamily="34" charset="0"/>
                <a:cs typeface="Times New Roman" panose="02020603050405020304" pitchFamily="18" charset="0"/>
              </a:rPr>
              <a:t>“castear” </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hacia el tipo de objeto que queremos leer, </a:t>
            </a:r>
            <a:r>
              <a:rPr lang="es-ES" sz="2000" b="0" dirty="0">
                <a:effectLst/>
                <a:latin typeface="Calibri" panose="020F0502020204030204" pitchFamily="34" charset="0"/>
                <a:ea typeface="Calibri" panose="020F0502020204030204" pitchFamily="34" charset="0"/>
                <a:cs typeface="Times New Roman" panose="02020603050405020304" pitchFamily="18" charset="0"/>
              </a:rPr>
              <a:t>porque </a:t>
            </a:r>
            <a:r>
              <a:rPr lang="es-ES" sz="2000" b="0">
                <a:effectLst/>
                <a:latin typeface="Calibri" panose="020F0502020204030204" pitchFamily="34" charset="0"/>
                <a:ea typeface="Calibri" panose="020F0502020204030204" pitchFamily="34" charset="0"/>
                <a:cs typeface="Times New Roman" panose="02020603050405020304" pitchFamily="18" charset="0"/>
              </a:rPr>
              <a:t>el </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método </a:t>
            </a:r>
            <a:r>
              <a:rPr lang="es-ES" sz="2000" smtClean="0">
                <a:effectLst/>
                <a:latin typeface="Calibri" panose="020F0502020204030204" pitchFamily="34" charset="0"/>
                <a:ea typeface="Calibri" panose="020F0502020204030204" pitchFamily="34" charset="0"/>
                <a:cs typeface="Times New Roman" panose="02020603050405020304" pitchFamily="18" charset="0"/>
              </a:rPr>
              <a:t>readObject</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 </a:t>
            </a:r>
            <a:r>
              <a:rPr lang="es-ES" sz="2000" b="0" dirty="0">
                <a:effectLst/>
                <a:latin typeface="Calibri" panose="020F0502020204030204" pitchFamily="34" charset="0"/>
                <a:ea typeface="Calibri" panose="020F0502020204030204" pitchFamily="34" charset="0"/>
                <a:cs typeface="Times New Roman" panose="02020603050405020304" pitchFamily="18" charset="0"/>
              </a:rPr>
              <a:t>devuelve un </a:t>
            </a:r>
            <a:r>
              <a:rPr lang="es-ES" sz="2000" b="0" dirty="0" err="1">
                <a:effectLst/>
                <a:latin typeface="Calibri" panose="020F0502020204030204" pitchFamily="34" charset="0"/>
                <a:ea typeface="Calibri" panose="020F0502020204030204" pitchFamily="34" charset="0"/>
                <a:cs typeface="Times New Roman" panose="02020603050405020304" pitchFamily="18" charset="0"/>
              </a:rPr>
              <a:t>Object</a:t>
            </a:r>
            <a:r>
              <a:rPr lang="es-ES" sz="2000" b="0" dirty="0">
                <a:effectLst/>
                <a:latin typeface="Calibri" panose="020F0502020204030204" pitchFamily="34" charset="0"/>
                <a:ea typeface="Calibri" panose="020F0502020204030204" pitchFamily="34" charset="0"/>
                <a:cs typeface="Times New Roman" panose="02020603050405020304" pitchFamily="18" charset="0"/>
              </a:rPr>
              <a:t>, entonces tenemos que pasarlo a la clase que queremos trabajar, en este </a:t>
            </a:r>
            <a:r>
              <a:rPr lang="es-ES" sz="2000" b="0">
                <a:effectLst/>
                <a:latin typeface="Calibri" panose="020F0502020204030204" pitchFamily="34" charset="0"/>
                <a:ea typeface="Calibri" panose="020F0502020204030204" pitchFamily="34" charset="0"/>
                <a:cs typeface="Times New Roman" panose="02020603050405020304" pitchFamily="18" charset="0"/>
              </a:rPr>
              <a:t>caso </a:t>
            </a:r>
            <a:r>
              <a:rPr lang="es-ES" sz="2000" b="0" smtClean="0">
                <a:effectLst/>
                <a:latin typeface="Calibri" panose="020F0502020204030204" pitchFamily="34" charset="0"/>
                <a:ea typeface="Calibri" panose="020F0502020204030204" pitchFamily="34" charset="0"/>
                <a:cs typeface="Times New Roman" panose="02020603050405020304" pitchFamily="18" charset="0"/>
              </a:rPr>
              <a:t>Equipos.</a:t>
            </a:r>
            <a:endParaRPr lang="es-ES" sz="2000" b="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313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C22F9-FD40-749E-0AAC-8A570E90A1F4}"/>
              </a:ext>
            </a:extLst>
          </p:cNvPr>
          <p:cNvSpPr>
            <a:spLocks noGrp="1"/>
          </p:cNvSpPr>
          <p:nvPr>
            <p:ph type="title"/>
          </p:nvPr>
        </p:nvSpPr>
        <p:spPr/>
        <p:txBody>
          <a:bodyPr/>
          <a:lstStyle/>
          <a:p>
            <a:r>
              <a:rPr lang="es-ES" smtClean="0"/>
              <a:t>Ficheros binarios</a:t>
            </a:r>
            <a:endParaRPr lang="es-ES"/>
          </a:p>
        </p:txBody>
      </p:sp>
      <p:sp>
        <p:nvSpPr>
          <p:cNvPr id="3" name="Marcador de contenido 2">
            <a:extLst>
              <a:ext uri="{FF2B5EF4-FFF2-40B4-BE49-F238E27FC236}">
                <a16:creationId xmlns:a16="http://schemas.microsoft.com/office/drawing/2014/main" id="{744CCEEF-303E-B52F-82A1-42B293E079B3}"/>
              </a:ext>
            </a:extLst>
          </p:cNvPr>
          <p:cNvSpPr>
            <a:spLocks noGrp="1"/>
          </p:cNvSpPr>
          <p:nvPr>
            <p:ph idx="1"/>
          </p:nvPr>
        </p:nvSpPr>
        <p:spPr/>
        <p:txBody>
          <a:bodyPr/>
          <a:lstStyle/>
          <a:p>
            <a:pPr>
              <a:lnSpc>
                <a:spcPct val="107000"/>
              </a:lnSpc>
              <a:spcAft>
                <a:spcPts val="800"/>
              </a:spcAft>
            </a:pPr>
            <a:r>
              <a:rPr lang="es-ES" sz="1800" b="0" smtClean="0">
                <a:effectLst/>
                <a:latin typeface="Calibri" panose="020F0502020204030204" pitchFamily="34" charset="0"/>
                <a:ea typeface="Calibri" panose="020F0502020204030204" pitchFamily="34" charset="0"/>
                <a:cs typeface="Times New Roman" panose="02020603050405020304" pitchFamily="18" charset="0"/>
              </a:rPr>
              <a:t>Si </a:t>
            </a:r>
            <a:r>
              <a:rPr lang="es-ES" sz="1800" b="0" dirty="0">
                <a:effectLst/>
                <a:latin typeface="Calibri" panose="020F0502020204030204" pitchFamily="34" charset="0"/>
                <a:ea typeface="Calibri" panose="020F0502020204030204" pitchFamily="34" charset="0"/>
                <a:cs typeface="Times New Roman" panose="02020603050405020304" pitchFamily="18" charset="0"/>
              </a:rPr>
              <a:t>en un fichero binario hemos escrito varios objetos, uno a uno, sin que compartan una colección común (</a:t>
            </a:r>
            <a:r>
              <a:rPr lang="es-ES" sz="1800" b="0">
                <a:effectLst/>
                <a:latin typeface="Calibri" panose="020F0502020204030204" pitchFamily="34" charset="0"/>
                <a:ea typeface="Calibri" panose="020F0502020204030204" pitchFamily="34" charset="0"/>
                <a:cs typeface="Times New Roman" panose="02020603050405020304" pitchFamily="18" charset="0"/>
              </a:rPr>
              <a:t>un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arrayList u otro tipo), </a:t>
            </a:r>
            <a:r>
              <a:rPr lang="es-ES" sz="1800" b="0" dirty="0">
                <a:effectLst/>
                <a:latin typeface="Calibri" panose="020F0502020204030204" pitchFamily="34" charset="0"/>
                <a:ea typeface="Calibri" panose="020F0502020204030204" pitchFamily="34" charset="0"/>
                <a:cs typeface="Times New Roman" panose="02020603050405020304" pitchFamily="18" charset="0"/>
              </a:rPr>
              <a:t>tendremos que leer esos objetos mediante un bucle (hasta llegar a final de fichero, y tenemos que trabajar las excepciones para no tener problemas</a:t>
            </a:r>
            <a:r>
              <a:rPr lang="es-ES" sz="1800" b="0">
                <a:effectLst/>
                <a:latin typeface="Calibri" panose="020F0502020204030204" pitchFamily="34" charset="0"/>
                <a:ea typeface="Calibri" panose="020F0502020204030204" pitchFamily="34" charset="0"/>
                <a:cs typeface="Times New Roman" panose="02020603050405020304" pitchFamily="18" charset="0"/>
              </a:rPr>
              <a:t>). </a:t>
            </a: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El </a:t>
            </a:r>
            <a:r>
              <a:rPr lang="es-ES" sz="1800" smtClean="0">
                <a:latin typeface="Calibri" panose="020F0502020204030204" pitchFamily="34" charset="0"/>
                <a:ea typeface="Calibri" panose="020F0502020204030204" pitchFamily="34" charset="0"/>
                <a:cs typeface="Times New Roman" panose="02020603050405020304" pitchFamily="18" charset="0"/>
              </a:rPr>
              <a:t>código</a:t>
            </a:r>
            <a:r>
              <a:rPr lang="es-ES" sz="1800" b="0" smtClean="0">
                <a:latin typeface="Calibri" panose="020F0502020204030204" pitchFamily="34" charset="0"/>
                <a:ea typeface="Calibri" panose="020F0502020204030204" pitchFamily="34" charset="0"/>
                <a:cs typeface="Times New Roman" panose="02020603050405020304" pitchFamily="18" charset="0"/>
              </a:rPr>
              <a:t> para poder leer esos objetos sería el siguiente (hay que tener en cuenta capturar bien las excepciones para no tener errores de fin de fichero)</a:t>
            </a: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1365885" algn="l"/>
              </a:tabLst>
            </a:pPr>
            <a:endParaRPr lang="es-ES" dirty="0"/>
          </a:p>
        </p:txBody>
      </p:sp>
      <p:pic>
        <p:nvPicPr>
          <p:cNvPr id="4" name="Imagen 3"/>
          <p:cNvPicPr>
            <a:picLocks noChangeAspect="1"/>
          </p:cNvPicPr>
          <p:nvPr/>
        </p:nvPicPr>
        <p:blipFill rotWithShape="1">
          <a:blip r:embed="rId2"/>
          <a:srcRect l="20529" t="33031" r="35904" b="36217"/>
          <a:stretch/>
        </p:blipFill>
        <p:spPr>
          <a:xfrm>
            <a:off x="2123728" y="3861048"/>
            <a:ext cx="4715192" cy="1872208"/>
          </a:xfrm>
          <a:prstGeom prst="rect">
            <a:avLst/>
          </a:prstGeom>
        </p:spPr>
      </p:pic>
    </p:spTree>
    <p:extLst>
      <p:ext uri="{BB962C8B-B14F-4D97-AF65-F5344CB8AC3E}">
        <p14:creationId xmlns:p14="http://schemas.microsoft.com/office/powerpoint/2010/main" val="167218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2C22F9-FD40-749E-0AAC-8A570E90A1F4}"/>
              </a:ext>
            </a:extLst>
          </p:cNvPr>
          <p:cNvSpPr>
            <a:spLocks noGrp="1"/>
          </p:cNvSpPr>
          <p:nvPr>
            <p:ph type="title"/>
          </p:nvPr>
        </p:nvSpPr>
        <p:spPr/>
        <p:txBody>
          <a:bodyPr/>
          <a:lstStyle/>
          <a:p>
            <a:r>
              <a:rPr lang="es-ES" smtClean="0"/>
              <a:t>Ficheros binarios</a:t>
            </a:r>
            <a:endParaRPr lang="es-ES"/>
          </a:p>
        </p:txBody>
      </p:sp>
      <p:sp>
        <p:nvSpPr>
          <p:cNvPr id="3" name="Marcador de contenido 2">
            <a:extLst>
              <a:ext uri="{FF2B5EF4-FFF2-40B4-BE49-F238E27FC236}">
                <a16:creationId xmlns:a16="http://schemas.microsoft.com/office/drawing/2014/main" id="{744CCEEF-303E-B52F-82A1-42B293E079B3}"/>
              </a:ext>
            </a:extLst>
          </p:cNvPr>
          <p:cNvSpPr>
            <a:spLocks noGrp="1"/>
          </p:cNvSpPr>
          <p:nvPr>
            <p:ph idx="1"/>
          </p:nvPr>
        </p:nvSpPr>
        <p:spPr/>
        <p:txBody>
          <a:bodyPr/>
          <a:lstStyle/>
          <a:p>
            <a:pPr>
              <a:lnSpc>
                <a:spcPct val="107000"/>
              </a:lnSpc>
              <a:spcAft>
                <a:spcPts val="800"/>
              </a:spcAft>
            </a:pPr>
            <a:r>
              <a:rPr lang="es-ES" sz="1800" b="0" smtClean="0">
                <a:effectLst/>
                <a:latin typeface="Calibri" panose="020F0502020204030204" pitchFamily="34" charset="0"/>
                <a:ea typeface="Calibri" panose="020F0502020204030204" pitchFamily="34" charset="0"/>
                <a:cs typeface="Times New Roman" panose="02020603050405020304" pitchFamily="18" charset="0"/>
              </a:rPr>
              <a:t>Si queremos trabajar con una colección de equipos (ArrayList), volcando la información a un fichero binario, podemos leer directamente la colección.</a:t>
            </a:r>
          </a:p>
          <a:p>
            <a:pPr>
              <a:lnSpc>
                <a:spcPct val="107000"/>
              </a:lnSpc>
              <a:spcAft>
                <a:spcPts val="800"/>
              </a:spcAft>
            </a:pPr>
            <a:r>
              <a:rPr lang="es-ES" sz="1800" b="0" smtClean="0">
                <a:latin typeface="Calibri" panose="020F0502020204030204" pitchFamily="34" charset="0"/>
                <a:ea typeface="Calibri" panose="020F0502020204030204" pitchFamily="34" charset="0"/>
                <a:cs typeface="Times New Roman" panose="02020603050405020304" pitchFamily="18" charset="0"/>
              </a:rPr>
              <a:t>El primer paso sería escribir la lista de equipos al fichero.</a:t>
            </a:r>
          </a:p>
          <a:p>
            <a:pPr>
              <a:lnSpc>
                <a:spcPct val="107000"/>
              </a:lnSpc>
              <a:spcAft>
                <a:spcPts val="800"/>
              </a:spcAft>
              <a:tabLst>
                <a:tab pos="1365885" algn="l"/>
              </a:tabLs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endParaRPr lang="es-ES" sz="1800" b="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r>
              <a:rPr lang="es-ES" sz="1800" b="0" smtClean="0">
                <a:effectLst/>
                <a:latin typeface="Calibri" panose="020F0502020204030204" pitchFamily="34" charset="0"/>
                <a:ea typeface="Calibri" panose="020F0502020204030204" pitchFamily="34" charset="0"/>
                <a:cs typeface="Times New Roman" panose="02020603050405020304" pitchFamily="18" charset="0"/>
              </a:rPr>
              <a:t>Ahora, podemos leer directamente el objeto correspondiente a la colección, y procesarlo.</a:t>
            </a:r>
          </a:p>
          <a:p>
            <a:pPr marL="0" indent="0">
              <a:lnSpc>
                <a:spcPct val="107000"/>
              </a:lnSpc>
              <a:spcAft>
                <a:spcPts val="800"/>
              </a:spcAft>
              <a:buNone/>
              <a:tabLst>
                <a:tab pos="1365885" algn="l"/>
              </a:tabLst>
            </a:pPr>
            <a:endParaRPr lang="es-ES" sz="1800" b="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1365885" algn="l"/>
              </a:tabLst>
            </a:pPr>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ES" dirty="0"/>
          </a:p>
        </p:txBody>
      </p:sp>
      <p:pic>
        <p:nvPicPr>
          <p:cNvPr id="4" name="Imagen 3"/>
          <p:cNvPicPr>
            <a:picLocks noChangeAspect="1"/>
          </p:cNvPicPr>
          <p:nvPr/>
        </p:nvPicPr>
        <p:blipFill rotWithShape="1">
          <a:blip r:embed="rId2"/>
          <a:srcRect l="30056" t="57809" r="29367" b="30168"/>
          <a:stretch/>
        </p:blipFill>
        <p:spPr>
          <a:xfrm>
            <a:off x="1619672" y="2348880"/>
            <a:ext cx="6048669" cy="1008113"/>
          </a:xfrm>
          <a:prstGeom prst="rect">
            <a:avLst/>
          </a:prstGeom>
        </p:spPr>
      </p:pic>
      <p:pic>
        <p:nvPicPr>
          <p:cNvPr id="5" name="Imagen 4"/>
          <p:cNvPicPr>
            <a:picLocks noChangeAspect="1"/>
          </p:cNvPicPr>
          <p:nvPr/>
        </p:nvPicPr>
        <p:blipFill rotWithShape="1">
          <a:blip r:embed="rId3"/>
          <a:srcRect l="24399" t="40383" r="21757" b="19233"/>
          <a:stretch/>
        </p:blipFill>
        <p:spPr>
          <a:xfrm>
            <a:off x="2123728" y="4293096"/>
            <a:ext cx="4608512" cy="1944216"/>
          </a:xfrm>
          <a:prstGeom prst="rect">
            <a:avLst/>
          </a:prstGeom>
        </p:spPr>
      </p:pic>
    </p:spTree>
    <p:extLst>
      <p:ext uri="{BB962C8B-B14F-4D97-AF65-F5344CB8AC3E}">
        <p14:creationId xmlns:p14="http://schemas.microsoft.com/office/powerpoint/2010/main" val="334313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7A53C-0638-8B48-9772-4C5F0526ECD7}"/>
              </a:ext>
            </a:extLst>
          </p:cNvPr>
          <p:cNvSpPr>
            <a:spLocks noGrp="1"/>
          </p:cNvSpPr>
          <p:nvPr>
            <p:ph type="title"/>
          </p:nvPr>
        </p:nvSpPr>
        <p:spPr/>
        <p:txBody>
          <a:bodyPr/>
          <a:lstStyle/>
          <a:p>
            <a:r>
              <a:rPr lang="es-ES" smtClean="0"/>
              <a:t>Ficheros binarios</a:t>
            </a:r>
            <a:endParaRPr lang="es-ES"/>
          </a:p>
        </p:txBody>
      </p:sp>
      <p:sp>
        <p:nvSpPr>
          <p:cNvPr id="3" name="Marcador de contenido 2">
            <a:extLst>
              <a:ext uri="{FF2B5EF4-FFF2-40B4-BE49-F238E27FC236}">
                <a16:creationId xmlns:a16="http://schemas.microsoft.com/office/drawing/2014/main" id="{374644D5-08DF-9F4B-7359-3D454A7F40A9}"/>
              </a:ext>
            </a:extLst>
          </p:cNvPr>
          <p:cNvSpPr>
            <a:spLocks noGrp="1"/>
          </p:cNvSpPr>
          <p:nvPr>
            <p:ph idx="1"/>
          </p:nvPr>
        </p:nvSpPr>
        <p:spPr/>
        <p:txBody>
          <a:bodyPr/>
          <a:lstStyle/>
          <a:p>
            <a:pPr marL="0" indent="0">
              <a:lnSpc>
                <a:spcPct val="107000"/>
              </a:lnSpc>
              <a:spcAft>
                <a:spcPts val="800"/>
              </a:spcAft>
              <a:buNone/>
              <a:tabLst>
                <a:tab pos="1365885" algn="l"/>
              </a:tabLst>
            </a:pPr>
            <a:endParaRPr lang="es-ES" sz="180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r>
              <a:rPr lang="es-ES" sz="1800" b="0" smtClean="0">
                <a:effectLst/>
                <a:latin typeface="Calibri" panose="020F0502020204030204" pitchFamily="34" charset="0"/>
                <a:ea typeface="Calibri" panose="020F0502020204030204" pitchFamily="34" charset="0"/>
                <a:cs typeface="Times New Roman" panose="02020603050405020304" pitchFamily="18" charset="0"/>
              </a:rPr>
              <a:t>A </a:t>
            </a:r>
            <a:r>
              <a:rPr lang="es-ES" sz="1800" b="0" dirty="0">
                <a:effectLst/>
                <a:latin typeface="Calibri" panose="020F0502020204030204" pitchFamily="34" charset="0"/>
                <a:ea typeface="Calibri" panose="020F0502020204030204" pitchFamily="34" charset="0"/>
                <a:cs typeface="Times New Roman" panose="02020603050405020304" pitchFamily="18" charset="0"/>
              </a:rPr>
              <a:t>la hora de escribir objetos en ficheros binarios, tenemos que tener en cuenta si queremos “machacar” el </a:t>
            </a:r>
            <a:r>
              <a:rPr lang="es-ES" sz="1800" b="0">
                <a:effectLst/>
                <a:latin typeface="Calibri" panose="020F0502020204030204" pitchFamily="34" charset="0"/>
                <a:ea typeface="Calibri" panose="020F0502020204030204" pitchFamily="34" charset="0"/>
                <a:cs typeface="Times New Roman" panose="02020603050405020304" pitchFamily="18" charset="0"/>
              </a:rPr>
              <a:t>fichero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binario (podemos recuperar toda la información, introducir dicha información en una colección, trabajar con la colección y volcarla en el fichero, reemplazando el contenido), </a:t>
            </a:r>
            <a:r>
              <a:rPr lang="es-ES" sz="1800" b="0" dirty="0">
                <a:effectLst/>
                <a:latin typeface="Calibri" panose="020F0502020204030204" pitchFamily="34" charset="0"/>
                <a:ea typeface="Calibri" panose="020F0502020204030204" pitchFamily="34" charset="0"/>
                <a:cs typeface="Times New Roman" panose="02020603050405020304" pitchFamily="18" charset="0"/>
              </a:rPr>
              <a:t>o añadir </a:t>
            </a:r>
            <a:r>
              <a:rPr lang="es-ES" sz="1800" b="0">
                <a:effectLst/>
                <a:latin typeface="Calibri" panose="020F0502020204030204" pitchFamily="34" charset="0"/>
                <a:ea typeface="Calibri" panose="020F0502020204030204" pitchFamily="34" charset="0"/>
                <a:cs typeface="Times New Roman" panose="02020603050405020304" pitchFamily="18" charset="0"/>
              </a:rPr>
              <a:t>al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final del fichero (insertando el parámetro </a:t>
            </a:r>
            <a:r>
              <a:rPr lang="es-ES" sz="1800" smtClean="0">
                <a:effectLst/>
                <a:latin typeface="Calibri" panose="020F0502020204030204" pitchFamily="34" charset="0"/>
                <a:ea typeface="Calibri" panose="020F0502020204030204" pitchFamily="34" charset="0"/>
                <a:cs typeface="Times New Roman" panose="02020603050405020304" pitchFamily="18" charset="0"/>
              </a:rPr>
              <a:t>true </a:t>
            </a:r>
            <a:r>
              <a:rPr lang="es-ES" sz="1800" b="0" smtClean="0">
                <a:latin typeface="Calibri" panose="020F0502020204030204" pitchFamily="34" charset="0"/>
                <a:ea typeface="Calibri" panose="020F0502020204030204" pitchFamily="34" charset="0"/>
                <a:cs typeface="Times New Roman" panose="02020603050405020304" pitchFamily="18" charset="0"/>
              </a:rPr>
              <a:t>a la hora de construir el objeto ObjectOutputStream).</a:t>
            </a:r>
            <a:endParaRPr lang="es-ES" sz="1800" b="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r>
              <a:rPr lang="es-ES" sz="1800" b="0" dirty="0">
                <a:effectLst/>
                <a:latin typeface="Calibri" panose="020F0502020204030204" pitchFamily="34" charset="0"/>
                <a:ea typeface="Calibri" panose="020F0502020204030204" pitchFamily="34" charset="0"/>
                <a:cs typeface="Times New Roman" panose="02020603050405020304" pitchFamily="18" charset="0"/>
              </a:rPr>
              <a:t>Si queremos añadir al final, surge un </a:t>
            </a:r>
            <a:r>
              <a:rPr lang="es-ES" sz="1800" b="0">
                <a:effectLst/>
                <a:latin typeface="Calibri" panose="020F0502020204030204" pitchFamily="34" charset="0"/>
                <a:ea typeface="Calibri" panose="020F0502020204030204" pitchFamily="34" charset="0"/>
                <a:cs typeface="Times New Roman" panose="02020603050405020304" pitchFamily="18" charset="0"/>
              </a:rPr>
              <a:t>problema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dado que cuando escribimos un objeto en un fichero binario </a:t>
            </a:r>
            <a:r>
              <a:rPr lang="es-ES" sz="1800" smtClean="0">
                <a:effectLst/>
                <a:latin typeface="Calibri" panose="020F0502020204030204" pitchFamily="34" charset="0"/>
                <a:ea typeface="Calibri" panose="020F0502020204030204" pitchFamily="34" charset="0"/>
                <a:cs typeface="Times New Roman" panose="02020603050405020304" pitchFamily="18" charset="0"/>
              </a:rPr>
              <a:t>ObjectOutputStream </a:t>
            </a:r>
            <a:r>
              <a:rPr lang="es-ES" sz="1800" b="0" smtClean="0">
                <a:effectLst/>
                <a:latin typeface="Calibri" panose="020F0502020204030204" pitchFamily="34" charset="0"/>
                <a:ea typeface="Calibri" panose="020F0502020204030204" pitchFamily="34" charset="0"/>
                <a:cs typeface="Times New Roman" panose="02020603050405020304" pitchFamily="18" charset="0"/>
              </a:rPr>
              <a:t>crea una cabecera al principio y cuando cerramos el fichero y volvemos a añadir un objeto, crea de nuevo una cabecera, haciendo que la información a partir de ésta no pueda ser leída.</a:t>
            </a:r>
          </a:p>
          <a:p>
            <a:pPr>
              <a:lnSpc>
                <a:spcPct val="107000"/>
              </a:lnSpc>
              <a:spcAft>
                <a:spcPts val="800"/>
              </a:spcAft>
              <a:tabLst>
                <a:tab pos="1365885" algn="l"/>
              </a:tabLst>
            </a:pPr>
            <a:r>
              <a:rPr lang="es-ES" sz="1800" b="0" smtClean="0">
                <a:latin typeface="Calibri" panose="020F0502020204030204" pitchFamily="34" charset="0"/>
                <a:ea typeface="Calibri" panose="020F0502020204030204" pitchFamily="34" charset="0"/>
                <a:cs typeface="Times New Roman" panose="02020603050405020304" pitchFamily="18" charset="0"/>
              </a:rPr>
              <a:t>¿Cómo lo solucionamos?</a:t>
            </a:r>
          </a:p>
          <a:p>
            <a:pPr>
              <a:lnSpc>
                <a:spcPct val="107000"/>
              </a:lnSpc>
              <a:spcAft>
                <a:spcPts val="800"/>
              </a:spcAft>
              <a:tabLst>
                <a:tab pos="1365885" algn="l"/>
              </a:tabLst>
            </a:pPr>
            <a:r>
              <a:rPr lang="es-ES" sz="1800" b="0">
                <a:latin typeface="Calibri" panose="020F0502020204030204" pitchFamily="34" charset="0"/>
                <a:ea typeface="Calibri" panose="020F0502020204030204" pitchFamily="34" charset="0"/>
                <a:cs typeface="Times New Roman" panose="02020603050405020304" pitchFamily="18" charset="0"/>
              </a:rPr>
              <a:t>Para resolver este problema, creamos nuestra propia clase personalizada que hereda de </a:t>
            </a:r>
            <a:r>
              <a:rPr lang="es-ES" sz="1800">
                <a:latin typeface="Calibri" panose="020F0502020204030204" pitchFamily="34" charset="0"/>
                <a:ea typeface="Calibri" panose="020F0502020204030204" pitchFamily="34" charset="0"/>
                <a:cs typeface="Times New Roman" panose="02020603050405020304" pitchFamily="18" charset="0"/>
              </a:rPr>
              <a:t>ObjectOutputStream</a:t>
            </a:r>
            <a:r>
              <a:rPr lang="es-ES" sz="1800" b="0">
                <a:latin typeface="Calibri" panose="020F0502020204030204" pitchFamily="34" charset="0"/>
                <a:ea typeface="Calibri" panose="020F0502020204030204" pitchFamily="34" charset="0"/>
                <a:cs typeface="Times New Roman" panose="02020603050405020304" pitchFamily="18" charset="0"/>
              </a:rPr>
              <a:t>, y básicamente lo que hacemos es dejar sin comportamiento al método </a:t>
            </a:r>
            <a:r>
              <a:rPr lang="es-ES" sz="1800">
                <a:latin typeface="Calibri" panose="020F0502020204030204" pitchFamily="34" charset="0"/>
                <a:ea typeface="Calibri" panose="020F0502020204030204" pitchFamily="34" charset="0"/>
                <a:cs typeface="Times New Roman" panose="02020603050405020304" pitchFamily="18" charset="0"/>
              </a:rPr>
              <a:t>writeStreamHeader</a:t>
            </a:r>
            <a:r>
              <a:rPr lang="es-ES" sz="1800" smtClean="0">
                <a:latin typeface="Calibri" panose="020F0502020204030204" pitchFamily="34" charset="0"/>
                <a:ea typeface="Calibri" panose="020F0502020204030204" pitchFamily="34" charset="0"/>
                <a:cs typeface="Times New Roman" panose="02020603050405020304" pitchFamily="18" charset="0"/>
              </a:rPr>
              <a:t>().</a:t>
            </a:r>
            <a:endParaRPr lang="es-ES" sz="18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8003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7A53C-0638-8B48-9772-4C5F0526ECD7}"/>
              </a:ext>
            </a:extLst>
          </p:cNvPr>
          <p:cNvSpPr>
            <a:spLocks noGrp="1"/>
          </p:cNvSpPr>
          <p:nvPr>
            <p:ph type="title"/>
          </p:nvPr>
        </p:nvSpPr>
        <p:spPr/>
        <p:txBody>
          <a:bodyPr/>
          <a:lstStyle/>
          <a:p>
            <a:r>
              <a:rPr lang="es-ES" smtClean="0"/>
              <a:t>Ficheros binarios</a:t>
            </a:r>
            <a:endParaRPr lang="es-ES"/>
          </a:p>
        </p:txBody>
      </p:sp>
      <p:sp>
        <p:nvSpPr>
          <p:cNvPr id="3" name="Marcador de contenido 2">
            <a:extLst>
              <a:ext uri="{FF2B5EF4-FFF2-40B4-BE49-F238E27FC236}">
                <a16:creationId xmlns:a16="http://schemas.microsoft.com/office/drawing/2014/main" id="{374644D5-08DF-9F4B-7359-3D454A7F40A9}"/>
              </a:ext>
            </a:extLst>
          </p:cNvPr>
          <p:cNvSpPr>
            <a:spLocks noGrp="1"/>
          </p:cNvSpPr>
          <p:nvPr>
            <p:ph idx="1"/>
          </p:nvPr>
        </p:nvSpPr>
        <p:spPr/>
        <p:txBody>
          <a:bodyPr/>
          <a:lstStyle/>
          <a:p>
            <a:pPr marL="0" indent="0">
              <a:lnSpc>
                <a:spcPct val="107000"/>
              </a:lnSpc>
              <a:spcAft>
                <a:spcPts val="800"/>
              </a:spcAft>
              <a:buNone/>
              <a:tabLst>
                <a:tab pos="1365885" algn="l"/>
              </a:tabLst>
            </a:pPr>
            <a:r>
              <a:rPr lang="es-ES" sz="1800" b="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tabLst>
                <a:tab pos="1365885" algn="l"/>
              </a:tabLst>
            </a:pPr>
            <a:endParaRPr lang="es-ES" sz="1800" b="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endParaRPr lang="es-ES" sz="1800" b="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tabLst>
                <a:tab pos="1365885" algn="l"/>
              </a:tabLst>
            </a:pPr>
            <a:endParaRPr lang="es-ES" sz="180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1365885" algn="l"/>
              </a:tabLst>
            </a:pPr>
            <a:r>
              <a:rPr lang="es-ES" sz="1400" smtClean="0">
                <a:effectLst/>
                <a:latin typeface="Calibri" panose="020F0502020204030204" pitchFamily="34" charset="0"/>
                <a:ea typeface="Calibri" panose="020F0502020204030204" pitchFamily="34" charset="0"/>
                <a:cs typeface="Times New Roman" panose="02020603050405020304" pitchFamily="18" charset="0"/>
              </a:rPr>
              <a:t>Una </a:t>
            </a:r>
            <a:r>
              <a:rPr lang="es-ES" sz="1400" dirty="0">
                <a:effectLst/>
                <a:latin typeface="Calibri" panose="020F0502020204030204" pitchFamily="34" charset="0"/>
                <a:ea typeface="Calibri" panose="020F0502020204030204" pitchFamily="34" charset="0"/>
                <a:cs typeface="Times New Roman" panose="02020603050405020304" pitchFamily="18" charset="0"/>
              </a:rPr>
              <a:t>vez creada esta clase, cuando queremos trabajar con el fichero binario, mediante el método </a:t>
            </a:r>
            <a:r>
              <a:rPr lang="es-ES" sz="1400" dirty="0" err="1">
                <a:effectLst/>
                <a:latin typeface="Calibri" panose="020F0502020204030204" pitchFamily="34" charset="0"/>
                <a:ea typeface="Calibri" panose="020F0502020204030204" pitchFamily="34" charset="0"/>
                <a:cs typeface="Times New Roman" panose="02020603050405020304" pitchFamily="18" charset="0"/>
              </a:rPr>
              <a:t>exists</a:t>
            </a:r>
            <a:r>
              <a:rPr lang="es-ES" sz="1400" dirty="0">
                <a:effectLst/>
                <a:latin typeface="Calibri" panose="020F0502020204030204" pitchFamily="34" charset="0"/>
                <a:ea typeface="Calibri" panose="020F0502020204030204" pitchFamily="34" charset="0"/>
                <a:cs typeface="Times New Roman" panose="02020603050405020304" pitchFamily="18" charset="0"/>
              </a:rPr>
              <a:t> </a:t>
            </a:r>
            <a:r>
              <a:rPr lang="es-ES" sz="1400" b="0" dirty="0">
                <a:effectLst/>
                <a:latin typeface="Calibri" panose="020F0502020204030204" pitchFamily="34" charset="0"/>
                <a:ea typeface="Calibri" panose="020F0502020204030204" pitchFamily="34" charset="0"/>
                <a:cs typeface="Times New Roman" panose="02020603050405020304" pitchFamily="18" charset="0"/>
              </a:rPr>
              <a:t>(aplicado a un File), preguntamos si el fichero binario existe. Si no existe, creamos un </a:t>
            </a:r>
            <a:r>
              <a:rPr lang="es-ES" sz="1400" b="0" dirty="0" err="1">
                <a:effectLst/>
                <a:latin typeface="Calibri" panose="020F0502020204030204" pitchFamily="34" charset="0"/>
                <a:ea typeface="Calibri" panose="020F0502020204030204" pitchFamily="34" charset="0"/>
                <a:cs typeface="Times New Roman" panose="02020603050405020304" pitchFamily="18" charset="0"/>
              </a:rPr>
              <a:t>ObjectOutputStream</a:t>
            </a:r>
            <a:r>
              <a:rPr lang="es-ES" sz="1400" b="0" dirty="0">
                <a:effectLst/>
                <a:latin typeface="Calibri" panose="020F0502020204030204" pitchFamily="34" charset="0"/>
                <a:ea typeface="Calibri" panose="020F0502020204030204" pitchFamily="34" charset="0"/>
                <a:cs typeface="Times New Roman" panose="02020603050405020304" pitchFamily="18" charset="0"/>
              </a:rPr>
              <a:t> (que nos permite generar la primera y única cabecera que vamos a tener). Si el fichero existe, significa que queremos añadir, y para no crear nuevas cabeceras, creamos el objeto correspondiente a la clase personalizada generada </a:t>
            </a:r>
            <a:r>
              <a:rPr lang="es-ES" sz="1400" b="0">
                <a:effectLst/>
                <a:latin typeface="Calibri" panose="020F0502020204030204" pitchFamily="34" charset="0"/>
                <a:ea typeface="Calibri" panose="020F0502020204030204" pitchFamily="34" charset="0"/>
                <a:cs typeface="Times New Roman" panose="02020603050405020304" pitchFamily="18" charset="0"/>
              </a:rPr>
              <a:t>anteriormente </a:t>
            </a:r>
            <a:r>
              <a:rPr lang="en-US" sz="1600" b="0">
                <a:effectLst/>
                <a:latin typeface="Calibri" panose="020F0502020204030204" pitchFamily="34" charset="0"/>
                <a:ea typeface="Calibri" panose="020F0502020204030204" pitchFamily="34" charset="0"/>
                <a:cs typeface="Times New Roman" panose="02020603050405020304" pitchFamily="18" charset="0"/>
              </a:rPr>
              <a:t> </a:t>
            </a:r>
            <a:r>
              <a:rPr lang="en-US" sz="1600" b="0" smtClean="0">
                <a:effectLst/>
                <a:latin typeface="Calibri" panose="020F0502020204030204" pitchFamily="34" charset="0"/>
                <a:ea typeface="Calibri" panose="020F0502020204030204" pitchFamily="34" charset="0"/>
                <a:cs typeface="Times New Roman" panose="02020603050405020304" pitchFamily="18" charset="0"/>
              </a:rPr>
              <a:t>.</a:t>
            </a:r>
            <a:endParaRPr lang="es-ES" sz="1600" b="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ES" sz="1800" b="0">
                <a:effectLst/>
                <a:latin typeface="Calibri" panose="020F0502020204030204" pitchFamily="34" charset="0"/>
                <a:ea typeface="Calibri" panose="020F0502020204030204" pitchFamily="34" charset="0"/>
                <a:cs typeface="Times New Roman" panose="02020603050405020304" pitchFamily="18" charset="0"/>
              </a:rPr>
              <a:t>	</a:t>
            </a:r>
          </a:p>
          <a:p>
            <a:endParaRPr lang="es-ES" b="0"/>
          </a:p>
        </p:txBody>
      </p:sp>
      <p:pic>
        <p:nvPicPr>
          <p:cNvPr id="4" name="Imagen 3"/>
          <p:cNvPicPr>
            <a:picLocks noChangeAspect="1"/>
          </p:cNvPicPr>
          <p:nvPr/>
        </p:nvPicPr>
        <p:blipFill rotWithShape="1">
          <a:blip r:embed="rId2"/>
          <a:srcRect l="21466" t="21312" r="17738" b="34542"/>
          <a:stretch/>
        </p:blipFill>
        <p:spPr>
          <a:xfrm>
            <a:off x="1979712" y="980728"/>
            <a:ext cx="4583681" cy="1872208"/>
          </a:xfrm>
          <a:prstGeom prst="rect">
            <a:avLst/>
          </a:prstGeom>
        </p:spPr>
      </p:pic>
      <p:pic>
        <p:nvPicPr>
          <p:cNvPr id="5" name="Imagen 4"/>
          <p:cNvPicPr>
            <a:picLocks noChangeAspect="1"/>
          </p:cNvPicPr>
          <p:nvPr/>
        </p:nvPicPr>
        <p:blipFill rotWithShape="1">
          <a:blip r:embed="rId3"/>
          <a:srcRect l="23833" t="37036" r="20614" b="21813"/>
          <a:stretch/>
        </p:blipFill>
        <p:spPr>
          <a:xfrm>
            <a:off x="2053925" y="4158574"/>
            <a:ext cx="5188240" cy="2161767"/>
          </a:xfrm>
          <a:prstGeom prst="rect">
            <a:avLst/>
          </a:prstGeom>
        </p:spPr>
      </p:pic>
    </p:spTree>
    <p:extLst>
      <p:ext uri="{BB962C8B-B14F-4D97-AF65-F5344CB8AC3E}">
        <p14:creationId xmlns:p14="http://schemas.microsoft.com/office/powerpoint/2010/main" val="72871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28405</TotalTime>
  <Words>672</Words>
  <Application>Microsoft Office PowerPoint</Application>
  <PresentationFormat>Presentación en pantalla (4:3)</PresentationFormat>
  <Paragraphs>69</Paragraphs>
  <Slides>12</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Calibri</vt:lpstr>
      <vt:lpstr>Times New Roman</vt:lpstr>
      <vt:lpstr>Verdana</vt:lpstr>
      <vt:lpstr>Wingdings</vt:lpstr>
      <vt:lpstr>cdb2004c019l</vt:lpstr>
      <vt:lpstr>Lectura y Escritura de Información</vt:lpstr>
      <vt:lpstr>Contenido</vt:lpstr>
      <vt:lpstr>Contenido</vt:lpstr>
      <vt:lpstr>Ficheros binarios</vt:lpstr>
      <vt:lpstr>Ficheros binarios</vt:lpstr>
      <vt:lpstr>Ficheros binarios</vt:lpstr>
      <vt:lpstr>Ficheros binarios</vt:lpstr>
      <vt:lpstr>Ficheros binarios</vt:lpstr>
      <vt:lpstr>Ficheros binarios</vt:lpstr>
      <vt:lpstr>Ficheros binarios</vt:lpstr>
      <vt:lpstr>Ficheros binarios</vt:lpstr>
      <vt:lpstr>Ficheros binarios</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Usuario</cp:lastModifiedBy>
  <cp:revision>1348</cp:revision>
  <dcterms:created xsi:type="dcterms:W3CDTF">2008-09-25T01:23:28Z</dcterms:created>
  <dcterms:modified xsi:type="dcterms:W3CDTF">2025-03-05T11:54:32Z</dcterms:modified>
</cp:coreProperties>
</file>