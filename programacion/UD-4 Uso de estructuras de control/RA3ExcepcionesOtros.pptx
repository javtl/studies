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350" r:id="rId3"/>
    <p:sldId id="397" r:id="rId4"/>
    <p:sldId id="399" r:id="rId5"/>
    <p:sldId id="359" r:id="rId6"/>
    <p:sldId id="360" r:id="rId7"/>
    <p:sldId id="361" r:id="rId8"/>
    <p:sldId id="401" r:id="rId9"/>
    <p:sldId id="364" r:id="rId10"/>
    <p:sldId id="394" r:id="rId11"/>
    <p:sldId id="381" r:id="rId12"/>
    <p:sldId id="380" r:id="rId13"/>
    <p:sldId id="371" r:id="rId14"/>
    <p:sldId id="372" r:id="rId15"/>
    <p:sldId id="373" r:id="rId16"/>
    <p:sldId id="374" r:id="rId17"/>
    <p:sldId id="375" r:id="rId18"/>
    <p:sldId id="388" r:id="rId19"/>
    <p:sldId id="389" r:id="rId20"/>
    <p:sldId id="376" r:id="rId21"/>
    <p:sldId id="377" r:id="rId22"/>
    <p:sldId id="378" r:id="rId23"/>
    <p:sldId id="390" r:id="rId24"/>
    <p:sldId id="382" r:id="rId25"/>
    <p:sldId id="403" r:id="rId26"/>
    <p:sldId id="404" r:id="rId27"/>
    <p:sldId id="405" r:id="rId28"/>
    <p:sldId id="406" r:id="rId29"/>
    <p:sldId id="407" r:id="rId30"/>
    <p:sldId id="408" r:id="rId31"/>
    <p:sldId id="409" r:id="rId32"/>
    <p:sldId id="410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9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0C1"/>
    <a:srgbClr val="FFDF79"/>
    <a:srgbClr val="000000"/>
    <a:srgbClr val="009900"/>
    <a:srgbClr val="FF6600"/>
    <a:srgbClr val="FF3300"/>
    <a:srgbClr val="C00000"/>
    <a:srgbClr val="99FF66"/>
    <a:srgbClr val="57FF57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3056" autoAdjust="0"/>
  </p:normalViewPr>
  <p:slideViewPr>
    <p:cSldViewPr>
      <p:cViewPr varScale="1">
        <p:scale>
          <a:sx n="80" d="100"/>
          <a:sy n="80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60469D27-3A80-4AE4-983A-5127F419349B}" type="datetimeFigureOut">
              <a:rPr lang="es-ES_tradnl"/>
              <a:pPr>
                <a:defRPr/>
              </a:pPr>
              <a:t>14/10/2024</a:t>
            </a:fld>
            <a:endParaRPr lang="es-ES_tradnl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ES_tradnl" noProof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ES_tradnl" noProof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_tradn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FB2CE7FE-09D1-49CA-91BF-39EACD17411D}" type="slidenum">
              <a:rPr lang="es-ES_tradnl"/>
              <a:pPr>
                <a:defRPr/>
              </a:pPr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26755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Marcador de imagen de diapositiva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2 Marcador de notas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s-ES_tradnl"/>
          </a:p>
        </p:txBody>
      </p:sp>
      <p:sp>
        <p:nvSpPr>
          <p:cNvPr id="13316" name="3 Marcador de número de diapositiva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36EE85E-37C0-4958-BA08-E096993B5EBD}" type="slidenum">
              <a:rPr lang="es-ES_tradnl" sz="1200"/>
              <a:pPr eaLnBrk="1" hangingPunct="1"/>
              <a:t>1</a:t>
            </a:fld>
            <a:endParaRPr lang="es-ES_tradnl" sz="1200"/>
          </a:p>
        </p:txBody>
      </p:sp>
    </p:spTree>
    <p:extLst>
      <p:ext uri="{BB962C8B-B14F-4D97-AF65-F5344CB8AC3E}">
        <p14:creationId xmlns:p14="http://schemas.microsoft.com/office/powerpoint/2010/main" val="1253335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 bwMode="ltGray"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1"/>
          <p:cNvSpPr>
            <a:spLocks noChangeArrowheads="1"/>
          </p:cNvSpPr>
          <p:nvPr/>
        </p:nvSpPr>
        <p:spPr bwMode="gray">
          <a:xfrm>
            <a:off x="0" y="2708275"/>
            <a:ext cx="9144000" cy="874713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28575">
            <a:solidFill>
              <a:schemeClr val="bg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_tradnl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black">
          <a:xfrm>
            <a:off x="381000" y="271463"/>
            <a:ext cx="1089025" cy="41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95782" tIns="47891" rIns="95782" bIns="47891">
            <a:spAutoFit/>
          </a:bodyPr>
          <a:lstStyle/>
          <a:p>
            <a:pPr defTabSz="957263">
              <a:defRPr/>
            </a:pPr>
            <a:r>
              <a:rPr lang="en-US" sz="2100" b="1">
                <a:solidFill>
                  <a:schemeClr val="bg1"/>
                </a:solidFill>
                <a:latin typeface="Verdana" pitchFamily="34" charset="0"/>
              </a:rPr>
              <a:t>LOGO</a:t>
            </a:r>
          </a:p>
        </p:txBody>
      </p:sp>
      <p:grpSp>
        <p:nvGrpSpPr>
          <p:cNvPr id="6" name="Group 42"/>
          <p:cNvGrpSpPr>
            <a:grpSpLocks/>
          </p:cNvGrpSpPr>
          <p:nvPr/>
        </p:nvGrpSpPr>
        <p:grpSpPr bwMode="auto">
          <a:xfrm>
            <a:off x="-11113" y="-12700"/>
            <a:ext cx="9175751" cy="6870700"/>
            <a:chOff x="-7" y="-8"/>
            <a:chExt cx="5780" cy="4328"/>
          </a:xfrm>
        </p:grpSpPr>
        <p:sp>
          <p:nvSpPr>
            <p:cNvPr id="7" name="AutoShape 36"/>
            <p:cNvSpPr>
              <a:spLocks noChangeArrowheads="1"/>
            </p:cNvSpPr>
            <p:nvPr/>
          </p:nvSpPr>
          <p:spPr bwMode="gray">
            <a:xfrm>
              <a:off x="17" y="16"/>
              <a:ext cx="5729" cy="42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8" name="Freeform 37"/>
            <p:cNvSpPr>
              <a:spLocks/>
            </p:cNvSpPr>
            <p:nvPr/>
          </p:nvSpPr>
          <p:spPr bwMode="gray">
            <a:xfrm>
              <a:off x="-3" y="-8"/>
              <a:ext cx="295" cy="289"/>
            </a:xfrm>
            <a:custGeom>
              <a:avLst/>
              <a:gdLst/>
              <a:ahLst/>
              <a:cxnLst>
                <a:cxn ang="0">
                  <a:pos x="3" y="395"/>
                </a:cxn>
                <a:cxn ang="0">
                  <a:pos x="74" y="216"/>
                </a:cxn>
                <a:cxn ang="0">
                  <a:pos x="231" y="50"/>
                </a:cxn>
                <a:cxn ang="0">
                  <a:pos x="403" y="0"/>
                </a:cxn>
                <a:cxn ang="0">
                  <a:pos x="0" y="0"/>
                </a:cxn>
              </a:cxnLst>
              <a:rect l="0" t="0" r="r" b="b"/>
              <a:pathLst>
                <a:path w="403" h="395">
                  <a:moveTo>
                    <a:pt x="3" y="395"/>
                  </a:moveTo>
                  <a:lnTo>
                    <a:pt x="74" y="216"/>
                  </a:lnTo>
                  <a:lnTo>
                    <a:pt x="231" y="50"/>
                  </a:lnTo>
                  <a:lnTo>
                    <a:pt x="403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9" name="Freeform 38"/>
            <p:cNvSpPr>
              <a:spLocks/>
            </p:cNvSpPr>
            <p:nvPr/>
          </p:nvSpPr>
          <p:spPr bwMode="gray">
            <a:xfrm>
              <a:off x="-7" y="3982"/>
              <a:ext cx="287" cy="338"/>
            </a:xfrm>
            <a:custGeom>
              <a:avLst/>
              <a:gdLst/>
              <a:ahLst/>
              <a:cxnLst>
                <a:cxn ang="0">
                  <a:pos x="391" y="473"/>
                </a:cxn>
                <a:cxn ang="0">
                  <a:pos x="151" y="353"/>
                </a:cxn>
                <a:cxn ang="0">
                  <a:pos x="42" y="201"/>
                </a:cxn>
                <a:cxn ang="0">
                  <a:pos x="0" y="0"/>
                </a:cxn>
                <a:cxn ang="0">
                  <a:pos x="1" y="470"/>
                </a:cxn>
              </a:cxnLst>
              <a:rect l="0" t="0" r="r" b="b"/>
              <a:pathLst>
                <a:path w="391" h="473">
                  <a:moveTo>
                    <a:pt x="391" y="473"/>
                  </a:moveTo>
                  <a:lnTo>
                    <a:pt x="151" y="353"/>
                  </a:lnTo>
                  <a:lnTo>
                    <a:pt x="42" y="201"/>
                  </a:lnTo>
                  <a:lnTo>
                    <a:pt x="0" y="0"/>
                  </a:lnTo>
                  <a:lnTo>
                    <a:pt x="1" y="47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" name="Freeform 39"/>
            <p:cNvSpPr>
              <a:spLocks/>
            </p:cNvSpPr>
            <p:nvPr/>
          </p:nvSpPr>
          <p:spPr bwMode="gray">
            <a:xfrm>
              <a:off x="5499" y="4026"/>
              <a:ext cx="274" cy="287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1" name="Freeform 40"/>
            <p:cNvSpPr>
              <a:spLocks/>
            </p:cNvSpPr>
            <p:nvPr/>
          </p:nvSpPr>
          <p:spPr bwMode="gray">
            <a:xfrm>
              <a:off x="5467" y="0"/>
              <a:ext cx="302" cy="28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21" y="96"/>
                </a:cxn>
                <a:cxn ang="0">
                  <a:pos x="353" y="231"/>
                </a:cxn>
                <a:cxn ang="0">
                  <a:pos x="403" y="403"/>
                </a:cxn>
                <a:cxn ang="0">
                  <a:pos x="403" y="0"/>
                </a:cxn>
              </a:cxnLst>
              <a:rect l="0" t="0" r="r" b="b"/>
              <a:pathLst>
                <a:path w="403" h="403">
                  <a:moveTo>
                    <a:pt x="0" y="0"/>
                  </a:moveTo>
                  <a:lnTo>
                    <a:pt x="221" y="96"/>
                  </a:lnTo>
                  <a:lnTo>
                    <a:pt x="353" y="231"/>
                  </a:lnTo>
                  <a:lnTo>
                    <a:pt x="403" y="403"/>
                  </a:lnTo>
                  <a:lnTo>
                    <a:pt x="403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0" y="2720975"/>
            <a:ext cx="9144000" cy="817563"/>
          </a:xfrm>
        </p:spPr>
        <p:txBody>
          <a:bodyPr/>
          <a:lstStyle>
            <a:lvl1pPr>
              <a:defRPr sz="46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990600" y="2176463"/>
            <a:ext cx="7086600" cy="436562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190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11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C10960-1D47-4F31-A178-4215E754AE7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04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8B1BE4-FB56-497F-AC71-04F364CF33BF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41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AD86F26-C6EC-496E-AD78-D42D5BE6465A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666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AED370-19CA-4C7C-85E3-1587DE8EE63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16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14D8DD-9D00-4312-B4C4-A03ADF0178CC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196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537A5B-A9CE-4669-BC99-AE9F32CE8D07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97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D770F1-8B0E-485D-8FC1-DD5CDADCB470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139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ES_tradnl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368E41-874E-4862-AAFD-AC18B393D09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7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01FC98-F929-48AB-9F4D-6385B8877736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84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53975"/>
            <a:ext cx="2057400" cy="62706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53975"/>
            <a:ext cx="6019800" cy="62706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FA751-5FBB-4471-AF6F-9D0A8609C3C1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6006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ítulo y 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5" y="53975"/>
            <a:ext cx="7392988" cy="563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2 Marcador de tabla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s-ES" noProof="0"/>
              <a:t>Haga clic en el icono para agregar una tabla</a:t>
            </a:r>
            <a:endParaRPr lang="es-ES_tradnl" noProof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7F47353-9D15-4571-BF0B-64C1267AE8A4}" type="slidenum">
              <a:rPr lang="en-US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788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Freeform 15" descr="29641"/>
          <p:cNvSpPr>
            <a:spLocks/>
          </p:cNvSpPr>
          <p:nvPr/>
        </p:nvSpPr>
        <p:spPr bwMode="gray">
          <a:xfrm>
            <a:off x="36513" y="80963"/>
            <a:ext cx="9077325" cy="1595437"/>
          </a:xfrm>
          <a:custGeom>
            <a:avLst/>
            <a:gdLst/>
            <a:ahLst/>
            <a:cxnLst>
              <a:cxn ang="0">
                <a:pos x="0" y="756"/>
              </a:cxn>
              <a:cxn ang="0">
                <a:pos x="576" y="560"/>
              </a:cxn>
              <a:cxn ang="0">
                <a:pos x="1403" y="390"/>
              </a:cxn>
              <a:cxn ang="0">
                <a:pos x="2452" y="314"/>
              </a:cxn>
              <a:cxn ang="0">
                <a:pos x="3102" y="326"/>
              </a:cxn>
              <a:cxn ang="0">
                <a:pos x="4043" y="434"/>
              </a:cxn>
              <a:cxn ang="0">
                <a:pos x="4944" y="668"/>
              </a:cxn>
              <a:cxn ang="0">
                <a:pos x="5691" y="971"/>
              </a:cxn>
              <a:cxn ang="0">
                <a:pos x="5718" y="19"/>
              </a:cxn>
              <a:cxn ang="0">
                <a:pos x="9" y="0"/>
              </a:cxn>
            </a:cxnLst>
            <a:rect l="0" t="0" r="r" b="b"/>
            <a:pathLst>
              <a:path w="5718" h="1005">
                <a:moveTo>
                  <a:pt x="0" y="756"/>
                </a:moveTo>
                <a:cubicBezTo>
                  <a:pt x="96" y="724"/>
                  <a:pt x="297" y="635"/>
                  <a:pt x="576" y="560"/>
                </a:cubicBezTo>
                <a:cubicBezTo>
                  <a:pt x="855" y="485"/>
                  <a:pt x="1037" y="442"/>
                  <a:pt x="1403" y="390"/>
                </a:cubicBezTo>
                <a:cubicBezTo>
                  <a:pt x="1769" y="337"/>
                  <a:pt x="2154" y="320"/>
                  <a:pt x="2452" y="314"/>
                </a:cubicBezTo>
                <a:lnTo>
                  <a:pt x="3102" y="326"/>
                </a:lnTo>
                <a:cubicBezTo>
                  <a:pt x="3367" y="346"/>
                  <a:pt x="3736" y="377"/>
                  <a:pt x="4043" y="434"/>
                </a:cubicBezTo>
                <a:cubicBezTo>
                  <a:pt x="4350" y="490"/>
                  <a:pt x="4669" y="578"/>
                  <a:pt x="4944" y="668"/>
                </a:cubicBezTo>
                <a:cubicBezTo>
                  <a:pt x="5219" y="757"/>
                  <a:pt x="5679" y="1005"/>
                  <a:pt x="5691" y="971"/>
                </a:cubicBezTo>
                <a:cubicBezTo>
                  <a:pt x="5695" y="964"/>
                  <a:pt x="5718" y="25"/>
                  <a:pt x="5718" y="19"/>
                </a:cubicBezTo>
                <a:cubicBezTo>
                  <a:pt x="5718" y="7"/>
                  <a:pt x="1198" y="4"/>
                  <a:pt x="9" y="0"/>
                </a:cubicBezTo>
              </a:path>
            </a:pathLst>
          </a:custGeom>
          <a:blipFill dpi="0" rotWithShape="1">
            <a:blip r:embed="rId15" cstate="print"/>
            <a:srcRect/>
            <a:stretch>
              <a:fillRect/>
            </a:stretch>
          </a:blip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84888" y="6450013"/>
            <a:ext cx="2897187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r">
              <a:defRPr sz="1300" b="1">
                <a:latin typeface="Verdana" pitchFamily="34" charset="0"/>
              </a:defRPr>
            </a:lvl1pPr>
          </a:lstStyle>
          <a:p>
            <a:r>
              <a:rPr lang="en-US"/>
              <a:t>www.themegallery.com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7950" y="6454775"/>
            <a:ext cx="927100" cy="239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82" tIns="47891" rIns="95782" bIns="47891" numCol="1" anchor="t" anchorCtr="0" compatLnSpc="1">
            <a:prstTxWarp prst="textNoShape">
              <a:avLst/>
            </a:prstTxWarp>
          </a:bodyPr>
          <a:lstStyle>
            <a:lvl1pPr algn="ctr">
              <a:defRPr sz="1300" b="1">
                <a:latin typeface="Verdana" pitchFamily="34" charset="0"/>
              </a:defRPr>
            </a:lvl1pPr>
          </a:lstStyle>
          <a:p>
            <a:fld id="{BD04EC93-4901-40B8-B615-125461DCA23D}" type="slidenum">
              <a:rPr lang="en-US"/>
              <a:pPr/>
              <a:t>‹Nº›</a:t>
            </a:fld>
            <a:endParaRPr lang="en-US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42925" y="53975"/>
            <a:ext cx="7392988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5782" tIns="47891" rIns="95782" bIns="478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n-US"/>
          </a:p>
        </p:txBody>
      </p:sp>
      <p:grpSp>
        <p:nvGrpSpPr>
          <p:cNvPr id="1031" name="Group 16"/>
          <p:cNvGrpSpPr>
            <a:grpSpLocks/>
          </p:cNvGrpSpPr>
          <p:nvPr/>
        </p:nvGrpSpPr>
        <p:grpSpPr bwMode="auto">
          <a:xfrm>
            <a:off x="-1588" y="0"/>
            <a:ext cx="9145588" cy="6858000"/>
            <a:chOff x="-1" y="0"/>
            <a:chExt cx="8065" cy="6048"/>
          </a:xfrm>
        </p:grpSpPr>
        <p:sp>
          <p:nvSpPr>
            <p:cNvPr id="1041" name="Freeform 17"/>
            <p:cNvSpPr>
              <a:spLocks/>
            </p:cNvSpPr>
            <p:nvPr/>
          </p:nvSpPr>
          <p:spPr bwMode="gray">
            <a:xfrm>
              <a:off x="-1" y="5629"/>
              <a:ext cx="389" cy="417"/>
            </a:xfrm>
            <a:custGeom>
              <a:avLst/>
              <a:gdLst/>
              <a:ahLst/>
              <a:cxnLst>
                <a:cxn ang="0">
                  <a:pos x="314" y="416"/>
                </a:cxn>
                <a:cxn ang="0">
                  <a:pos x="389" y="417"/>
                </a:cxn>
                <a:cxn ang="0">
                  <a:pos x="158" y="297"/>
                </a:cxn>
                <a:cxn ang="0">
                  <a:pos x="39" y="179"/>
                </a:cxn>
                <a:cxn ang="0">
                  <a:pos x="0" y="0"/>
                </a:cxn>
                <a:cxn ang="0">
                  <a:pos x="1" y="417"/>
                </a:cxn>
              </a:cxnLst>
              <a:rect l="0" t="0" r="r" b="b"/>
              <a:pathLst>
                <a:path w="389" h="417">
                  <a:moveTo>
                    <a:pt x="314" y="416"/>
                  </a:moveTo>
                  <a:lnTo>
                    <a:pt x="389" y="417"/>
                  </a:lnTo>
                  <a:lnTo>
                    <a:pt x="158" y="297"/>
                  </a:lnTo>
                  <a:lnTo>
                    <a:pt x="39" y="179"/>
                  </a:lnTo>
                  <a:lnTo>
                    <a:pt x="0" y="0"/>
                  </a:lnTo>
                  <a:lnTo>
                    <a:pt x="1" y="417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2" name="Freeform 18"/>
            <p:cNvSpPr>
              <a:spLocks/>
            </p:cNvSpPr>
            <p:nvPr/>
          </p:nvSpPr>
          <p:spPr bwMode="gray">
            <a:xfrm>
              <a:off x="7701" y="5645"/>
              <a:ext cx="363" cy="403"/>
            </a:xfrm>
            <a:custGeom>
              <a:avLst/>
              <a:gdLst/>
              <a:ahLst/>
              <a:cxnLst>
                <a:cxn ang="0">
                  <a:pos x="229" y="0"/>
                </a:cxn>
                <a:cxn ang="0">
                  <a:pos x="164" y="144"/>
                </a:cxn>
                <a:cxn ang="0">
                  <a:pos x="98" y="253"/>
                </a:cxn>
                <a:cxn ang="0">
                  <a:pos x="0" y="290"/>
                </a:cxn>
                <a:cxn ang="0">
                  <a:pos x="232" y="287"/>
                </a:cxn>
              </a:cxnLst>
              <a:rect l="0" t="0" r="r" b="b"/>
              <a:pathLst>
                <a:path w="232" h="290">
                  <a:moveTo>
                    <a:pt x="229" y="0"/>
                  </a:moveTo>
                  <a:lnTo>
                    <a:pt x="164" y="144"/>
                  </a:lnTo>
                  <a:lnTo>
                    <a:pt x="98" y="253"/>
                  </a:lnTo>
                  <a:lnTo>
                    <a:pt x="0" y="290"/>
                  </a:lnTo>
                  <a:lnTo>
                    <a:pt x="232" y="287"/>
                  </a:lnTo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3" name="AutoShape 19"/>
            <p:cNvSpPr>
              <a:spLocks noChangeArrowheads="1"/>
            </p:cNvSpPr>
            <p:nvPr/>
          </p:nvSpPr>
          <p:spPr bwMode="gray">
            <a:xfrm>
              <a:off x="26" y="42"/>
              <a:ext cx="8012" cy="5985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4" name="Freeform 20"/>
            <p:cNvSpPr>
              <a:spLocks/>
            </p:cNvSpPr>
            <p:nvPr/>
          </p:nvSpPr>
          <p:spPr bwMode="gray">
            <a:xfrm>
              <a:off x="-1" y="13"/>
              <a:ext cx="405" cy="441"/>
            </a:xfrm>
            <a:custGeom>
              <a:avLst/>
              <a:gdLst/>
              <a:ahLst/>
              <a:cxnLst>
                <a:cxn ang="0">
                  <a:pos x="2" y="441"/>
                </a:cxn>
                <a:cxn ang="0">
                  <a:pos x="107" y="175"/>
                </a:cxn>
                <a:cxn ang="0">
                  <a:pos x="387" y="0"/>
                </a:cxn>
                <a:cxn ang="0">
                  <a:pos x="1" y="0"/>
                </a:cxn>
              </a:cxnLst>
              <a:rect l="0" t="0" r="r" b="b"/>
              <a:pathLst>
                <a:path w="405" h="441">
                  <a:moveTo>
                    <a:pt x="2" y="441"/>
                  </a:moveTo>
                  <a:cubicBezTo>
                    <a:pt x="19" y="397"/>
                    <a:pt x="0" y="345"/>
                    <a:pt x="107" y="175"/>
                  </a:cubicBezTo>
                  <a:cubicBezTo>
                    <a:pt x="214" y="6"/>
                    <a:pt x="405" y="16"/>
                    <a:pt x="387" y="0"/>
                  </a:cubicBezTo>
                  <a:lnTo>
                    <a:pt x="1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  <p:sp>
          <p:nvSpPr>
            <p:cNvPr id="1045" name="Freeform 21"/>
            <p:cNvSpPr>
              <a:spLocks/>
            </p:cNvSpPr>
            <p:nvPr/>
          </p:nvSpPr>
          <p:spPr bwMode="gray">
            <a:xfrm>
              <a:off x="7588" y="0"/>
              <a:ext cx="470" cy="483"/>
            </a:xfrm>
            <a:custGeom>
              <a:avLst/>
              <a:gdLst/>
              <a:ahLst/>
              <a:cxnLst>
                <a:cxn ang="0">
                  <a:pos x="0" y="4"/>
                </a:cxn>
                <a:cxn ang="0">
                  <a:pos x="342" y="150"/>
                </a:cxn>
                <a:cxn ang="0">
                  <a:pos x="470" y="461"/>
                </a:cxn>
                <a:cxn ang="0">
                  <a:pos x="470" y="0"/>
                </a:cxn>
              </a:cxnLst>
              <a:rect l="0" t="0" r="r" b="b"/>
              <a:pathLst>
                <a:path w="470" h="483">
                  <a:moveTo>
                    <a:pt x="0" y="4"/>
                  </a:moveTo>
                  <a:cubicBezTo>
                    <a:pt x="57" y="28"/>
                    <a:pt x="264" y="74"/>
                    <a:pt x="342" y="150"/>
                  </a:cubicBezTo>
                  <a:cubicBezTo>
                    <a:pt x="450" y="275"/>
                    <a:pt x="452" y="483"/>
                    <a:pt x="470" y="461"/>
                  </a:cubicBezTo>
                  <a:lnTo>
                    <a:pt x="47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_tradnl"/>
            </a:p>
          </p:txBody>
        </p:sp>
      </p:grpSp>
      <p:sp>
        <p:nvSpPr>
          <p:cNvPr id="1046" name="Line 22"/>
          <p:cNvSpPr>
            <a:spLocks noChangeShapeType="1"/>
          </p:cNvSpPr>
          <p:nvPr/>
        </p:nvSpPr>
        <p:spPr bwMode="gray">
          <a:xfrm>
            <a:off x="323850" y="6500813"/>
            <a:ext cx="85693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es-ES_trad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dt="0"/>
  <p:txStyles>
    <p:titleStyle>
      <a:lvl1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+mj-lt"/>
          <a:ea typeface="+mj-ea"/>
          <a:cs typeface="+mj-cs"/>
        </a:defRPr>
      </a:lvl1pPr>
      <a:lvl2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2pPr>
      <a:lvl3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3pPr>
      <a:lvl4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4pPr>
      <a:lvl5pPr algn="ctr" defTabSz="957263" rtl="0" fontAlgn="base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5pPr>
      <a:lvl6pPr marL="4572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6pPr>
      <a:lvl7pPr marL="9144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7pPr>
      <a:lvl8pPr marL="13716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8pPr>
      <a:lvl9pPr marL="1828800" algn="ctr" defTabSz="957263" rtl="0" eaLnBrk="1" fontAlgn="base" hangingPunct="1">
        <a:spcBef>
          <a:spcPct val="0"/>
        </a:spcBef>
        <a:spcAft>
          <a:spcPct val="0"/>
        </a:spcAft>
        <a:defRPr sz="2900" b="1">
          <a:solidFill>
            <a:schemeClr val="bg1"/>
          </a:solidFill>
          <a:latin typeface="Arial" charset="0"/>
        </a:defRPr>
      </a:lvl9pPr>
    </p:titleStyle>
    <p:bodyStyle>
      <a:lvl1pPr marL="358775" indent="-358775" algn="l" defTabSz="957263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77875" indent="-298450" algn="l" defTabSz="957263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100">
          <a:solidFill>
            <a:schemeClr val="tx1"/>
          </a:solidFill>
          <a:latin typeface="+mj-lt"/>
        </a:defRPr>
      </a:lvl2pPr>
      <a:lvl3pPr marL="1196975" indent="-239713" algn="l" defTabSz="957263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j-lt"/>
        </a:defRPr>
      </a:lvl3pPr>
      <a:lvl4pPr marL="1676400" indent="-239713" algn="l" defTabSz="957263" rtl="0" fontAlgn="base">
        <a:spcBef>
          <a:spcPct val="20000"/>
        </a:spcBef>
        <a:spcAft>
          <a:spcPct val="0"/>
        </a:spcAft>
        <a:buChar char="–"/>
        <a:defRPr sz="2100">
          <a:solidFill>
            <a:schemeClr val="tx1"/>
          </a:solidFill>
          <a:latin typeface="+mj-lt"/>
        </a:defRPr>
      </a:lvl4pPr>
      <a:lvl5pPr marL="2154238" indent="-238125" algn="l" defTabSz="957263" rtl="0" fontAlgn="base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5pPr>
      <a:lvl6pPr marL="26114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6pPr>
      <a:lvl7pPr marL="30686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7pPr>
      <a:lvl8pPr marL="35258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8pPr>
      <a:lvl9pPr marL="3983038" indent="-238125" algn="l" defTabSz="957263" rtl="0" eaLnBrk="1" fontAlgn="base" hangingPunct="1">
        <a:spcBef>
          <a:spcPct val="20000"/>
        </a:spcBef>
        <a:spcAft>
          <a:spcPct val="0"/>
        </a:spcAft>
        <a:buChar char="»"/>
        <a:defRPr sz="2100">
          <a:solidFill>
            <a:schemeClr val="tx1"/>
          </a:solidFill>
          <a:latin typeface="+mj-lt"/>
        </a:defRPr>
      </a:lvl9pPr>
    </p:bodyStyle>
    <p:otherStyle>
      <a:defPPr>
        <a:defRPr lang="es-ES_trad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dirty="0" err="1"/>
              <a:t>Uso</a:t>
            </a:r>
            <a:r>
              <a:rPr lang="en-US" sz="3200" dirty="0"/>
              <a:t> de </a:t>
            </a:r>
            <a:r>
              <a:rPr lang="en-US" sz="3200" dirty="0" err="1"/>
              <a:t>estructuras</a:t>
            </a:r>
            <a:r>
              <a:rPr lang="en-US" sz="3200" dirty="0"/>
              <a:t> de control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90600" y="2122488"/>
            <a:ext cx="7086600" cy="434975"/>
          </a:xfrm>
        </p:spPr>
        <p:txBody>
          <a:bodyPr/>
          <a:lstStyle/>
          <a:p>
            <a:r>
              <a:rPr lang="en-US"/>
              <a:t>UNIDAD </a:t>
            </a:r>
            <a:r>
              <a:rPr lang="en-US" smtClean="0"/>
              <a:t>4</a:t>
            </a:r>
            <a:endParaRPr lang="en-US" dirty="0"/>
          </a:p>
        </p:txBody>
      </p:sp>
      <p:sp>
        <p:nvSpPr>
          <p:cNvPr id="4" name="3 Botón de acción: Hacia delante o Siguiente">
            <a:hlinkClick r:id="" action="ppaction://hlinkshowjump?jump=nextslide" highlightClick="1"/>
          </p:cNvPr>
          <p:cNvSpPr/>
          <p:nvPr/>
        </p:nvSpPr>
        <p:spPr bwMode="auto">
          <a:xfrm>
            <a:off x="8426864" y="290916"/>
            <a:ext cx="521208" cy="521208"/>
          </a:xfrm>
          <a:prstGeom prst="actionButtonForwardNext">
            <a:avLst/>
          </a:prstGeom>
          <a:solidFill>
            <a:srgbClr val="00B0F0"/>
          </a:solidFill>
          <a:ln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Contenido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_tradnl" sz="1800" dirty="0"/>
              <a:t>R.A. 3: Escribe y depura código, analizando y utilizando las estructuras de control del lenguaje.</a:t>
            </a:r>
          </a:p>
          <a:p>
            <a:endParaRPr lang="es-ES_tradnl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23800"/>
              </p:ext>
            </p:extLst>
          </p:nvPr>
        </p:nvGraphicFramePr>
        <p:xfrm>
          <a:off x="1187624" y="1988840"/>
          <a:ext cx="5536565" cy="3108960"/>
        </p:xfrm>
        <a:graphic>
          <a:graphicData uri="http://schemas.openxmlformats.org/drawingml/2006/table">
            <a:tbl>
              <a:tblPr firstRow="1" firstCol="1" bandRow="1"/>
              <a:tblGrid>
                <a:gridCol w="1847850">
                  <a:extLst>
                    <a:ext uri="{9D8B030D-6E8A-4147-A177-3AD203B41FA5}">
                      <a16:colId xmlns:a16="http://schemas.microsoft.com/office/drawing/2014/main" val="2684575648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1062001255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3299416789"/>
                    </a:ext>
                  </a:extLst>
                </a:gridCol>
                <a:gridCol w="1329690">
                  <a:extLst>
                    <a:ext uri="{9D8B030D-6E8A-4147-A177-3AD203B41FA5}">
                      <a16:colId xmlns:a16="http://schemas.microsoft.com/office/drawing/2014/main" val="3833955849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CRITERIOS DE 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PROCEDIMIENTOS ESENCIALES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EVALUACIÓN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11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CONTENIDOS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10544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y probado código que haga uso de estructuras de selección.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utilizado estructuras de repetición.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reconocido las posibilidades de las sentencias de salto.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escrito código utilizando control de excepciones.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creado programas ejecutables utilizando diferentes estructuras de control.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han probado y depurado los programas.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 marL="342900" lvl="0" indent="-342900">
                        <a:spcAft>
                          <a:spcPts val="0"/>
                        </a:spcAft>
                        <a:buFont typeface="+mj-lt"/>
                        <a:buAutoNum type="alphaLcParenR" startAt="4"/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NewsGotT-Regu"/>
                        </a:rPr>
                        <a:t>Se ha comentado y documentado el código.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 3. Desarrollar programas que hagan uso de estructuras de selección, estructuras de repetición, control de excepciones y recursividad.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Prueba Práctica 1 (100%)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DB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Estructuras de selección. Estructuras de repetición. Estructuras de salto. Control de excepciones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Recursividad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Depuración de programas. El depurador como herramienta de control de errores.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</a:rPr>
                        <a:t>Documentación de programas. Documentación interna, comentarios. Documentación externa, diagramas de clases, requisitos, guías, etc.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_tradnl" sz="9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Aserciones, Pruebas.</a:t>
                      </a:r>
                      <a:endParaRPr lang="es-ES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8493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548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Excepciones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sz="2000" b="0" dirty="0"/>
          </a:p>
          <a:p>
            <a:r>
              <a:rPr lang="es-ES" sz="2000" b="0" dirty="0"/>
              <a:t>Son aquellas situaciones que </a:t>
            </a:r>
            <a:r>
              <a:rPr lang="es-ES" sz="2000" dirty="0"/>
              <a:t>alteran la ejecución normal </a:t>
            </a:r>
            <a:r>
              <a:rPr lang="es-ES" sz="2000" b="0" dirty="0"/>
              <a:t>del programa.</a:t>
            </a:r>
          </a:p>
          <a:p>
            <a:r>
              <a:rPr lang="es-ES" sz="2000" b="0" dirty="0"/>
              <a:t>El método donde sucede crea un objeto, llamado </a:t>
            </a:r>
            <a:r>
              <a:rPr lang="es-ES" sz="2000" b="0" i="1" dirty="0"/>
              <a:t>objeto de excepción</a:t>
            </a:r>
            <a:r>
              <a:rPr lang="es-ES" sz="2000" b="0" dirty="0"/>
              <a:t>, y se lo pasa a alguien que pueda tratarlo.</a:t>
            </a:r>
          </a:p>
          <a:p>
            <a:pPr lvl="1"/>
            <a:r>
              <a:rPr lang="es-ES" sz="1700" b="0" dirty="0"/>
              <a:t>Si existe quien pueda manejarlo, la recoge.</a:t>
            </a:r>
          </a:p>
          <a:p>
            <a:pPr lvl="1"/>
            <a:r>
              <a:rPr lang="es-ES" sz="1700" b="0" dirty="0"/>
              <a:t>Si no existe, se encarga la JVM.</a:t>
            </a:r>
          </a:p>
          <a:p>
            <a:endParaRPr lang="es-ES" sz="2000" b="0" dirty="0"/>
          </a:p>
          <a:p>
            <a:r>
              <a:rPr lang="es-ES" sz="2000" b="0" dirty="0"/>
              <a:t>Permiten </a:t>
            </a:r>
            <a:r>
              <a:rPr lang="es-ES" sz="2000" dirty="0"/>
              <a:t>separar el código de tratamiento de errores </a:t>
            </a:r>
            <a:r>
              <a:rPr lang="es-ES" sz="2000" b="0" dirty="0"/>
              <a:t>del código normal.</a:t>
            </a:r>
          </a:p>
          <a:p>
            <a:r>
              <a:rPr lang="es-ES" sz="2000" dirty="0"/>
              <a:t>Evitan que haya errores inadvertidos</a:t>
            </a:r>
            <a:r>
              <a:rPr lang="es-ES" sz="2000" b="0" dirty="0"/>
              <a:t>.</a:t>
            </a:r>
          </a:p>
          <a:p>
            <a:r>
              <a:rPr lang="es-ES" sz="2000" dirty="0"/>
              <a:t>Permiten la propagación de los errores</a:t>
            </a:r>
            <a:r>
              <a:rPr lang="es-ES" sz="2000" b="0" dirty="0"/>
              <a:t>.</a:t>
            </a:r>
          </a:p>
          <a:p>
            <a:r>
              <a:rPr lang="es-ES" sz="2000" dirty="0"/>
              <a:t>Permiten agrupar en un lugar común el tratamiento de errores.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6172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Tratamiento de excepciones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500" t="41025" r="38626" b="12309"/>
          <a:stretch/>
        </p:blipFill>
        <p:spPr>
          <a:xfrm>
            <a:off x="1547664" y="1988840"/>
            <a:ext cx="624069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93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Rectángulo"/>
          <p:cNvSpPr/>
          <p:nvPr/>
        </p:nvSpPr>
        <p:spPr bwMode="auto">
          <a:xfrm>
            <a:off x="1739563" y="1721128"/>
            <a:ext cx="6000789" cy="3796104"/>
          </a:xfrm>
          <a:prstGeom prst="rect">
            <a:avLst/>
          </a:prstGeom>
          <a:solidFill>
            <a:srgbClr val="FBFDB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7" name="16 Grupo"/>
          <p:cNvGrpSpPr/>
          <p:nvPr/>
        </p:nvGrpSpPr>
        <p:grpSpPr>
          <a:xfrm>
            <a:off x="1907704" y="2267811"/>
            <a:ext cx="5400600" cy="1381055"/>
            <a:chOff x="1907704" y="1835763"/>
            <a:chExt cx="5400600" cy="1381055"/>
          </a:xfrm>
        </p:grpSpPr>
        <p:sp>
          <p:nvSpPr>
            <p:cNvPr id="9" name="8 Rectángulo"/>
            <p:cNvSpPr/>
            <p:nvPr/>
          </p:nvSpPr>
          <p:spPr bwMode="auto">
            <a:xfrm>
              <a:off x="2411760" y="1835763"/>
              <a:ext cx="4896544" cy="1381055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" name="3 Rectángulo"/>
            <p:cNvSpPr/>
            <p:nvPr/>
          </p:nvSpPr>
          <p:spPr>
            <a:xfrm>
              <a:off x="1907704" y="1873270"/>
              <a:ext cx="5112568" cy="126188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dirty="0"/>
                <a:t>        try {</a:t>
              </a:r>
            </a:p>
            <a:p>
              <a:endParaRPr lang="es-ES" dirty="0"/>
            </a:p>
            <a:p>
              <a:endParaRPr lang="es-ES" dirty="0"/>
            </a:p>
            <a:p>
              <a:r>
                <a:rPr lang="es-ES" dirty="0"/>
                <a:t>        }</a:t>
              </a:r>
            </a:p>
          </p:txBody>
        </p:sp>
      </p:grpSp>
      <p:sp>
        <p:nvSpPr>
          <p:cNvPr id="3" name="2 Rectángulo"/>
          <p:cNvSpPr/>
          <p:nvPr/>
        </p:nvSpPr>
        <p:spPr>
          <a:xfrm>
            <a:off x="2011592" y="1793136"/>
            <a:ext cx="5152696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accent1"/>
                </a:solidFill>
              </a:rPr>
              <a:t>void</a:t>
            </a:r>
            <a:r>
              <a:rPr lang="es-ES" dirty="0"/>
              <a:t> </a:t>
            </a:r>
            <a:r>
              <a:rPr lang="es-ES" dirty="0">
                <a:solidFill>
                  <a:srgbClr val="FF0000"/>
                </a:solidFill>
              </a:rPr>
              <a:t>dividir(</a:t>
            </a:r>
            <a:r>
              <a:rPr lang="es-ES" dirty="0" err="1">
                <a:solidFill>
                  <a:schemeClr val="accent1"/>
                </a:solidFill>
              </a:rPr>
              <a:t>int</a:t>
            </a:r>
            <a:r>
              <a:rPr lang="es-ES" dirty="0"/>
              <a:t> dividendo, </a:t>
            </a:r>
            <a:r>
              <a:rPr lang="es-ES" dirty="0" err="1">
                <a:solidFill>
                  <a:schemeClr val="accent1"/>
                </a:solidFill>
              </a:rPr>
              <a:t>int</a:t>
            </a:r>
            <a:r>
              <a:rPr lang="es-ES" dirty="0"/>
              <a:t> divisor</a:t>
            </a:r>
            <a:r>
              <a:rPr lang="es-ES" dirty="0">
                <a:solidFill>
                  <a:srgbClr val="FF0000"/>
                </a:solidFill>
              </a:rPr>
              <a:t>)</a:t>
            </a:r>
            <a:r>
              <a:rPr lang="es-ES" dirty="0"/>
              <a:t> {</a:t>
            </a:r>
          </a:p>
          <a:p>
            <a:endParaRPr lang="es-ES" dirty="0"/>
          </a:p>
          <a:p>
            <a:r>
              <a:rPr lang="es-ES" dirty="0"/>
              <a:t>        </a:t>
            </a:r>
          </a:p>
          <a:p>
            <a:r>
              <a:rPr lang="es-ES"/>
              <a:t>            </a:t>
            </a:r>
            <a:r>
              <a:rPr lang="es-ES">
                <a:solidFill>
                  <a:schemeClr val="accent1"/>
                </a:solidFill>
              </a:rPr>
              <a:t>int</a:t>
            </a:r>
            <a:r>
              <a:rPr lang="es-ES"/>
              <a:t> </a:t>
            </a:r>
            <a:r>
              <a:rPr lang="es-ES" dirty="0"/>
              <a:t>resultado = dividendo </a:t>
            </a:r>
            <a:r>
              <a:rPr lang="es-ES" dirty="0">
                <a:solidFill>
                  <a:srgbClr val="FF0000"/>
                </a:solidFill>
              </a:rPr>
              <a:t>/ </a:t>
            </a:r>
            <a:r>
              <a:rPr lang="es-ES" dirty="0"/>
              <a:t>divisor;</a:t>
            </a:r>
          </a:p>
          <a:p>
            <a:r>
              <a:rPr lang="es-ES" dirty="0"/>
              <a:t>            </a:t>
            </a:r>
            <a:r>
              <a:rPr lang="es-ES" dirty="0" err="1"/>
              <a:t>System.out.</a:t>
            </a:r>
            <a:r>
              <a:rPr lang="es-ES" dirty="0" err="1">
                <a:solidFill>
                  <a:srgbClr val="FF0000"/>
                </a:solidFill>
              </a:rPr>
              <a:t>println</a:t>
            </a:r>
            <a:r>
              <a:rPr lang="es-ES" dirty="0">
                <a:solidFill>
                  <a:srgbClr val="FF0000"/>
                </a:solidFill>
              </a:rPr>
              <a:t>(</a:t>
            </a:r>
            <a:r>
              <a:rPr lang="es-ES" dirty="0"/>
              <a:t>resultado</a:t>
            </a:r>
            <a:r>
              <a:rPr lang="es-ES" dirty="0">
                <a:solidFill>
                  <a:srgbClr val="FF0000"/>
                </a:solidFill>
              </a:rPr>
              <a:t>)</a:t>
            </a:r>
            <a:r>
              <a:rPr lang="es-ES" dirty="0"/>
              <a:t>;</a:t>
            </a:r>
          </a:p>
          <a:p>
            <a:r>
              <a:rPr lang="es-ES" dirty="0"/>
              <a:t>        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sz="800" dirty="0"/>
          </a:p>
          <a:p>
            <a:r>
              <a:rPr lang="es-ES" dirty="0"/>
              <a:t>}</a:t>
            </a:r>
          </a:p>
        </p:txBody>
      </p:sp>
      <p:sp>
        <p:nvSpPr>
          <p:cNvPr id="10" name="9 Rectángulo"/>
          <p:cNvSpPr/>
          <p:nvPr/>
        </p:nvSpPr>
        <p:spPr bwMode="auto">
          <a:xfrm>
            <a:off x="2411760" y="3800392"/>
            <a:ext cx="4896544" cy="137502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21 Rectángulo"/>
          <p:cNvSpPr/>
          <p:nvPr/>
        </p:nvSpPr>
        <p:spPr>
          <a:xfrm>
            <a:off x="1907704" y="3809853"/>
            <a:ext cx="5112568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        catch                        {</a:t>
            </a:r>
          </a:p>
          <a:p>
            <a:r>
              <a:rPr lang="es-ES" dirty="0"/>
              <a:t>              </a:t>
            </a:r>
            <a:r>
              <a:rPr lang="es-ES" dirty="0" err="1"/>
              <a:t>System.out.</a:t>
            </a:r>
            <a:r>
              <a:rPr lang="es-ES" dirty="0" err="1">
                <a:solidFill>
                  <a:srgbClr val="FF0000"/>
                </a:solidFill>
              </a:rPr>
              <a:t>println</a:t>
            </a:r>
            <a:r>
              <a:rPr lang="es-ES" dirty="0">
                <a:solidFill>
                  <a:srgbClr val="FF0000"/>
                </a:solidFill>
              </a:rPr>
              <a:t>(</a:t>
            </a:r>
            <a:r>
              <a:rPr lang="es-ES" dirty="0">
                <a:solidFill>
                  <a:srgbClr val="009900"/>
                </a:solidFill>
              </a:rPr>
              <a:t>"Infinito"</a:t>
            </a:r>
            <a:r>
              <a:rPr lang="es-ES" dirty="0">
                <a:solidFill>
                  <a:srgbClr val="FF0000"/>
                </a:solidFill>
              </a:rPr>
              <a:t>)</a:t>
            </a:r>
            <a:r>
              <a:rPr lang="es-ES" dirty="0"/>
              <a:t>;</a:t>
            </a:r>
          </a:p>
          <a:p>
            <a:endParaRPr lang="es-ES" dirty="0"/>
          </a:p>
          <a:p>
            <a:r>
              <a:rPr lang="es-ES" dirty="0"/>
              <a:t>        }</a:t>
            </a:r>
          </a:p>
        </p:txBody>
      </p:sp>
      <p:grpSp>
        <p:nvGrpSpPr>
          <p:cNvPr id="18" name="17 Grupo"/>
          <p:cNvGrpSpPr/>
          <p:nvPr/>
        </p:nvGrpSpPr>
        <p:grpSpPr>
          <a:xfrm>
            <a:off x="467544" y="1916832"/>
            <a:ext cx="1380852" cy="1707559"/>
            <a:chOff x="467544" y="1484784"/>
            <a:chExt cx="1380852" cy="1707559"/>
          </a:xfrm>
        </p:grpSpPr>
        <p:sp>
          <p:nvSpPr>
            <p:cNvPr id="5" name="4 Elipse"/>
            <p:cNvSpPr/>
            <p:nvPr/>
          </p:nvSpPr>
          <p:spPr bwMode="auto">
            <a:xfrm>
              <a:off x="529749" y="1848795"/>
              <a:ext cx="1296144" cy="1343548"/>
            </a:xfrm>
            <a:prstGeom prst="ellipse">
              <a:avLst/>
            </a:prstGeom>
            <a:solidFill>
              <a:srgbClr val="FFD8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467544" y="1484784"/>
              <a:ext cx="1380852" cy="3847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s-ES" dirty="0" err="1">
                  <a:solidFill>
                    <a:schemeClr val="accent1"/>
                  </a:solidFill>
                </a:rPr>
                <a:t>Exception</a:t>
              </a:r>
              <a:endParaRPr lang="es-ES" dirty="0"/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 dirty="0"/>
              <a:t>Control de Excepciones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3079831" y="3814133"/>
            <a:ext cx="1656184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(</a:t>
            </a:r>
            <a:r>
              <a:rPr lang="es-ES" dirty="0" err="1">
                <a:solidFill>
                  <a:schemeClr val="accent1"/>
                </a:solidFill>
              </a:rPr>
              <a:t>Exception</a:t>
            </a:r>
            <a:r>
              <a:rPr lang="es-ES" dirty="0"/>
              <a:t> e)</a:t>
            </a:r>
          </a:p>
        </p:txBody>
      </p:sp>
      <p:sp>
        <p:nvSpPr>
          <p:cNvPr id="13" name="12 Flecha curvada hacia la izquierda"/>
          <p:cNvSpPr/>
          <p:nvPr/>
        </p:nvSpPr>
        <p:spPr>
          <a:xfrm>
            <a:off x="6878100" y="2790548"/>
            <a:ext cx="506016" cy="1584460"/>
          </a:xfrm>
          <a:prstGeom prst="curved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pic>
        <p:nvPicPr>
          <p:cNvPr id="1026" name="Picture 2" descr="C:\Users\Raúl\Desktop\bugs\bu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04" y="2350134"/>
            <a:ext cx="1065051" cy="1137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14 Grupo"/>
          <p:cNvGrpSpPr/>
          <p:nvPr/>
        </p:nvGrpSpPr>
        <p:grpSpPr>
          <a:xfrm>
            <a:off x="6806455" y="2106198"/>
            <a:ext cx="2141617" cy="1508026"/>
            <a:chOff x="6806455" y="1674150"/>
            <a:chExt cx="2141617" cy="1508026"/>
          </a:xfrm>
        </p:grpSpPr>
        <p:pic>
          <p:nvPicPr>
            <p:cNvPr id="1027" name="Picture 3" descr="C:\Users\Raúl\Desktop\bugs\stop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0046" y="1674150"/>
              <a:ext cx="1508026" cy="15080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13 Flecha derecha"/>
            <p:cNvSpPr/>
            <p:nvPr/>
          </p:nvSpPr>
          <p:spPr bwMode="auto">
            <a:xfrm>
              <a:off x="6806455" y="2252953"/>
              <a:ext cx="506016" cy="350420"/>
            </a:xfrm>
            <a:prstGeom prst="rightArrow">
              <a:avLst/>
            </a:prstGeom>
            <a:solidFill>
              <a:srgbClr val="FF33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1" name="10 Rectángulo"/>
          <p:cNvSpPr/>
          <p:nvPr/>
        </p:nvSpPr>
        <p:spPr>
          <a:xfrm>
            <a:off x="2843808" y="4103966"/>
            <a:ext cx="456500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accent1"/>
                </a:solidFill>
              </a:rPr>
              <a:t>String</a:t>
            </a:r>
            <a:r>
              <a:rPr lang="es-ES" dirty="0"/>
              <a:t> mensaje = </a:t>
            </a:r>
            <a:r>
              <a:rPr lang="es-ES" dirty="0" err="1"/>
              <a:t>e.</a:t>
            </a:r>
            <a:r>
              <a:rPr lang="es-ES" dirty="0" err="1">
                <a:solidFill>
                  <a:srgbClr val="FF0000"/>
                </a:solidFill>
              </a:rPr>
              <a:t>toString</a:t>
            </a:r>
            <a:r>
              <a:rPr lang="es-ES" dirty="0">
                <a:solidFill>
                  <a:srgbClr val="FF0000"/>
                </a:solidFill>
              </a:rPr>
              <a:t>()</a:t>
            </a:r>
            <a:r>
              <a:rPr lang="es-ES" dirty="0"/>
              <a:t>;</a:t>
            </a:r>
          </a:p>
          <a:p>
            <a:r>
              <a:rPr lang="es-ES" dirty="0" err="1"/>
              <a:t>System.out</a:t>
            </a:r>
            <a:r>
              <a:rPr lang="es-ES" dirty="0" err="1">
                <a:solidFill>
                  <a:srgbClr val="FF0000"/>
                </a:solidFill>
              </a:rPr>
              <a:t>.println</a:t>
            </a:r>
            <a:r>
              <a:rPr lang="es-ES" dirty="0">
                <a:solidFill>
                  <a:srgbClr val="FF0000"/>
                </a:solidFill>
              </a:rPr>
              <a:t>(</a:t>
            </a:r>
            <a:r>
              <a:rPr lang="es-ES" dirty="0"/>
              <a:t>mensaje</a:t>
            </a:r>
            <a:r>
              <a:rPr lang="es-ES" dirty="0">
                <a:solidFill>
                  <a:srgbClr val="FF0000"/>
                </a:solidFill>
              </a:rPr>
              <a:t>)</a:t>
            </a:r>
            <a:r>
              <a:rPr lang="es-ES" dirty="0"/>
              <a:t>;</a:t>
            </a:r>
          </a:p>
        </p:txBody>
      </p:sp>
      <p:sp>
        <p:nvSpPr>
          <p:cNvPr id="23" name="22 Flecha abajo"/>
          <p:cNvSpPr/>
          <p:nvPr/>
        </p:nvSpPr>
        <p:spPr bwMode="auto">
          <a:xfrm rot="-4500000">
            <a:off x="2795621" y="2356016"/>
            <a:ext cx="240390" cy="2321128"/>
          </a:xfrm>
          <a:prstGeom prst="down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0" name="29 CuadroTexto"/>
          <p:cNvSpPr txBox="1"/>
          <p:nvPr/>
        </p:nvSpPr>
        <p:spPr>
          <a:xfrm>
            <a:off x="1837381" y="908720"/>
            <a:ext cx="5400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dobe Gothic Std B" pitchFamily="34" charset="-128"/>
                <a:ea typeface="Adobe Gothic Std B" pitchFamily="34" charset="-128"/>
              </a:rPr>
              <a:t>Realicemos un sencillo método que divida</a:t>
            </a:r>
          </a:p>
          <a:p>
            <a:pPr algn="ctr"/>
            <a:r>
              <a:rPr lang="es-ES" sz="1600" b="1" dirty="0">
                <a:latin typeface="Adobe Gothic Std B" pitchFamily="34" charset="-128"/>
                <a:ea typeface="Adobe Gothic Std B" pitchFamily="34" charset="-128"/>
              </a:rPr>
              <a:t>dos números y muestre el resultado</a:t>
            </a:r>
          </a:p>
        </p:txBody>
      </p:sp>
      <p:grpSp>
        <p:nvGrpSpPr>
          <p:cNvPr id="27" name="26 Grupo"/>
          <p:cNvGrpSpPr/>
          <p:nvPr/>
        </p:nvGrpSpPr>
        <p:grpSpPr>
          <a:xfrm>
            <a:off x="3375931" y="4781075"/>
            <a:ext cx="4104456" cy="1266436"/>
            <a:chOff x="3375931" y="4735961"/>
            <a:chExt cx="4104456" cy="1266436"/>
          </a:xfrm>
        </p:grpSpPr>
        <p:cxnSp>
          <p:nvCxnSpPr>
            <p:cNvPr id="25" name="24 Conector recto de flecha"/>
            <p:cNvCxnSpPr/>
            <p:nvPr/>
          </p:nvCxnSpPr>
          <p:spPr bwMode="auto">
            <a:xfrm>
              <a:off x="5415190" y="4735961"/>
              <a:ext cx="0" cy="88017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32 CuadroTexto"/>
            <p:cNvSpPr txBox="1"/>
            <p:nvPr/>
          </p:nvSpPr>
          <p:spPr>
            <a:xfrm>
              <a:off x="3375931" y="5663843"/>
              <a:ext cx="41044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600" b="1" i="1" dirty="0" err="1">
                  <a:latin typeface="Adobe Gothic Std B" pitchFamily="34" charset="-128"/>
                  <a:ea typeface="Adobe Gothic Std B" pitchFamily="34" charset="-128"/>
                </a:rPr>
                <a:t>java.lang.ArithmeticException</a:t>
              </a:r>
              <a:r>
                <a:rPr lang="es-ES" sz="1600" b="1" i="1" dirty="0">
                  <a:latin typeface="Adobe Gothic Std B" pitchFamily="34" charset="-128"/>
                  <a:ea typeface="Adobe Gothic Std B" pitchFamily="34" charset="-128"/>
                </a:rPr>
                <a:t>: / </a:t>
              </a:r>
              <a:r>
                <a:rPr lang="es-ES" sz="1600" b="1" i="1" dirty="0" err="1">
                  <a:latin typeface="Adobe Gothic Std B" pitchFamily="34" charset="-128"/>
                  <a:ea typeface="Adobe Gothic Std B" pitchFamily="34" charset="-128"/>
                </a:rPr>
                <a:t>by</a:t>
              </a:r>
              <a:r>
                <a:rPr lang="es-ES" sz="1600" b="1" i="1" dirty="0">
                  <a:latin typeface="Adobe Gothic Std B" pitchFamily="34" charset="-128"/>
                  <a:ea typeface="Adobe Gothic Std B" pitchFamily="34" charset="-128"/>
                </a:rPr>
                <a:t> </a:t>
              </a:r>
              <a:r>
                <a:rPr lang="es-ES" sz="1600" b="1" i="1" dirty="0" err="1">
                  <a:latin typeface="Adobe Gothic Std B" pitchFamily="34" charset="-128"/>
                  <a:ea typeface="Adobe Gothic Std B" pitchFamily="34" charset="-128"/>
                </a:rPr>
                <a:t>zero</a:t>
              </a:r>
              <a:endParaRPr lang="es-ES" sz="1600" b="1" i="1" dirty="0">
                <a:latin typeface="Adobe Gothic Std B" pitchFamily="34" charset="-128"/>
                <a:ea typeface="Adobe Gothic Std B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0950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5" dur="500" tmFilter="0, 0; .2, .5; .8, .5; 1, 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6" dur="250" autoRev="1" fill="hold"/>
                                        <p:tgtEl>
                                          <p:spTgt spid="10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500"/>
                            </p:stCondLst>
                            <p:childTnLst>
                              <p:par>
                                <p:cTn id="10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 build="p"/>
      <p:bldP spid="10" grpId="0" animBg="1"/>
      <p:bldP spid="22" grpId="0" build="p"/>
      <p:bldP spid="22" grpId="1" build="p"/>
      <p:bldP spid="12" grpId="0"/>
      <p:bldP spid="13" grpId="0" animBg="1"/>
      <p:bldP spid="13" grpId="1" animBg="1"/>
      <p:bldP spid="11" grpId="0" build="p"/>
      <p:bldP spid="23" grpId="0" animBg="1"/>
      <p:bldP spid="23" grpId="1" animBg="1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20 Grupo"/>
          <p:cNvGrpSpPr/>
          <p:nvPr/>
        </p:nvGrpSpPr>
        <p:grpSpPr>
          <a:xfrm>
            <a:off x="1619672" y="1562422"/>
            <a:ext cx="6000789" cy="4965656"/>
            <a:chOff x="1619672" y="1649119"/>
            <a:chExt cx="6000789" cy="4965656"/>
          </a:xfrm>
        </p:grpSpPr>
        <p:sp>
          <p:nvSpPr>
            <p:cNvPr id="8" name="7 Rectángulo"/>
            <p:cNvSpPr/>
            <p:nvPr/>
          </p:nvSpPr>
          <p:spPr bwMode="auto">
            <a:xfrm>
              <a:off x="1619672" y="1649119"/>
              <a:ext cx="6000789" cy="4818905"/>
            </a:xfrm>
            <a:prstGeom prst="rect">
              <a:avLst/>
            </a:prstGeom>
            <a:solidFill>
              <a:srgbClr val="FBFDB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" name="2 Rectángulo"/>
            <p:cNvSpPr/>
            <p:nvPr/>
          </p:nvSpPr>
          <p:spPr>
            <a:xfrm>
              <a:off x="1891701" y="1721128"/>
              <a:ext cx="5152696" cy="48936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dirty="0" err="1">
                  <a:solidFill>
                    <a:schemeClr val="accent1"/>
                  </a:solidFill>
                </a:rPr>
                <a:t>void</a:t>
              </a:r>
              <a:r>
                <a:rPr lang="es-ES" dirty="0"/>
                <a:t> </a:t>
              </a:r>
              <a:r>
                <a:rPr lang="es-ES" dirty="0">
                  <a:solidFill>
                    <a:srgbClr val="FF0000"/>
                  </a:solidFill>
                </a:rPr>
                <a:t>dividir(</a:t>
              </a:r>
              <a:r>
                <a:rPr lang="es-ES" dirty="0" err="1">
                  <a:solidFill>
                    <a:schemeClr val="accent1"/>
                  </a:solidFill>
                </a:rPr>
                <a:t>int</a:t>
              </a:r>
              <a:r>
                <a:rPr lang="es-ES" dirty="0"/>
                <a:t> dividendo, </a:t>
              </a:r>
              <a:r>
                <a:rPr lang="es-ES" dirty="0" err="1">
                  <a:solidFill>
                    <a:schemeClr val="accent1"/>
                  </a:solidFill>
                </a:rPr>
                <a:t>String</a:t>
              </a:r>
              <a:r>
                <a:rPr lang="es-ES" dirty="0"/>
                <a:t> divisor</a:t>
              </a:r>
              <a:r>
                <a:rPr lang="es-ES" dirty="0">
                  <a:solidFill>
                    <a:srgbClr val="FF0000"/>
                  </a:solidFill>
                </a:rPr>
                <a:t>)</a:t>
              </a:r>
              <a:r>
                <a:rPr lang="es-ES" dirty="0"/>
                <a:t> {</a:t>
              </a:r>
            </a:p>
            <a:p>
              <a:endParaRPr lang="es-ES" sz="1400" dirty="0"/>
            </a:p>
            <a:p>
              <a:endParaRPr lang="es-ES" dirty="0"/>
            </a:p>
            <a:p>
              <a:endParaRPr lang="es-ES" dirty="0"/>
            </a:p>
            <a:p>
              <a:endParaRPr lang="es-ES" dirty="0"/>
            </a:p>
            <a:p>
              <a:endParaRPr lang="es-ES" dirty="0"/>
            </a:p>
            <a:p>
              <a:endParaRPr lang="es-ES" dirty="0"/>
            </a:p>
            <a:p>
              <a:endParaRPr lang="es-ES" dirty="0"/>
            </a:p>
            <a:p>
              <a:r>
                <a:rPr lang="es-ES" dirty="0"/>
                <a:t>        </a:t>
              </a:r>
            </a:p>
            <a:p>
              <a:r>
                <a:rPr lang="es-ES" dirty="0"/>
                <a:t>                    </a:t>
              </a:r>
            </a:p>
            <a:p>
              <a:endParaRPr lang="es-ES" dirty="0"/>
            </a:p>
            <a:p>
              <a:endParaRPr lang="es-ES" dirty="0"/>
            </a:p>
            <a:p>
              <a:endParaRPr lang="es-ES" dirty="0"/>
            </a:p>
            <a:p>
              <a:endParaRPr lang="es-ES" dirty="0"/>
            </a:p>
            <a:p>
              <a:endParaRPr lang="es-ES" dirty="0"/>
            </a:p>
            <a:p>
              <a:endParaRPr lang="es-ES" sz="800" dirty="0"/>
            </a:p>
            <a:p>
              <a:r>
                <a:rPr lang="es-ES" dirty="0"/>
                <a:t>}</a:t>
              </a:r>
            </a:p>
          </p:txBody>
        </p:sp>
      </p:grpSp>
      <p:sp>
        <p:nvSpPr>
          <p:cNvPr id="9" name="8 Rectángulo"/>
          <p:cNvSpPr/>
          <p:nvPr/>
        </p:nvSpPr>
        <p:spPr bwMode="auto">
          <a:xfrm>
            <a:off x="2195736" y="2052835"/>
            <a:ext cx="5068488" cy="149719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787813" y="2029181"/>
            <a:ext cx="511256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/>
              <a:t>        try {</a:t>
            </a:r>
          </a:p>
          <a:p>
            <a:r>
              <a:rPr lang="es-ES" sz="1800" dirty="0"/>
              <a:t>	</a:t>
            </a:r>
            <a:r>
              <a:rPr lang="es-ES" sz="1800" dirty="0" err="1">
                <a:solidFill>
                  <a:schemeClr val="accent1"/>
                </a:solidFill>
              </a:rPr>
              <a:t>int</a:t>
            </a:r>
            <a:r>
              <a:rPr lang="es-ES" sz="1800" dirty="0"/>
              <a:t> div = </a:t>
            </a:r>
            <a:r>
              <a:rPr lang="es-ES" sz="1800" dirty="0" err="1">
                <a:solidFill>
                  <a:schemeClr val="accent1"/>
                </a:solidFill>
              </a:rPr>
              <a:t>Integer</a:t>
            </a:r>
            <a:r>
              <a:rPr lang="es-ES" sz="1800" dirty="0" err="1"/>
              <a:t>.</a:t>
            </a:r>
            <a:r>
              <a:rPr lang="es-ES" sz="1800" dirty="0" err="1">
                <a:solidFill>
                  <a:srgbClr val="FF0000"/>
                </a:solidFill>
              </a:rPr>
              <a:t>parseInt</a:t>
            </a:r>
            <a:r>
              <a:rPr lang="es-ES" sz="1800" dirty="0">
                <a:solidFill>
                  <a:srgbClr val="FF0000"/>
                </a:solidFill>
              </a:rPr>
              <a:t>( </a:t>
            </a:r>
            <a:r>
              <a:rPr lang="es-ES" sz="1800" dirty="0"/>
              <a:t>divisor 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/>
              <a:t>;</a:t>
            </a:r>
          </a:p>
          <a:p>
            <a:r>
              <a:rPr lang="es-ES" sz="1800" dirty="0">
                <a:solidFill>
                  <a:schemeClr val="accent1"/>
                </a:solidFill>
              </a:rPr>
              <a:t>	</a:t>
            </a:r>
            <a:r>
              <a:rPr lang="es-ES" sz="1800" dirty="0" err="1">
                <a:solidFill>
                  <a:schemeClr val="accent1"/>
                </a:solidFill>
              </a:rPr>
              <a:t>float</a:t>
            </a:r>
            <a:r>
              <a:rPr lang="es-ES" sz="1800" dirty="0"/>
              <a:t> resultado = dividendo </a:t>
            </a:r>
            <a:r>
              <a:rPr lang="es-ES" sz="1800" dirty="0">
                <a:solidFill>
                  <a:srgbClr val="FF0000"/>
                </a:solidFill>
              </a:rPr>
              <a:t>/ </a:t>
            </a:r>
            <a:r>
              <a:rPr lang="es-ES" sz="1800" dirty="0"/>
              <a:t>div;</a:t>
            </a:r>
          </a:p>
          <a:p>
            <a:r>
              <a:rPr lang="es-ES" sz="1800" dirty="0"/>
              <a:t>            	</a:t>
            </a:r>
            <a:r>
              <a:rPr lang="es-ES" sz="1800" dirty="0" err="1"/>
              <a:t>System.out.</a:t>
            </a:r>
            <a:r>
              <a:rPr lang="es-ES" sz="1800" dirty="0" err="1">
                <a:solidFill>
                  <a:srgbClr val="FF0000"/>
                </a:solidFill>
              </a:rPr>
              <a:t>println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/>
              <a:t>resultado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/>
              <a:t>;</a:t>
            </a:r>
          </a:p>
          <a:p>
            <a:r>
              <a:rPr lang="es-ES" sz="1800" dirty="0"/>
              <a:t>        }</a:t>
            </a:r>
          </a:p>
        </p:txBody>
      </p:sp>
      <p:sp>
        <p:nvSpPr>
          <p:cNvPr id="10" name="9 Rectángulo"/>
          <p:cNvSpPr/>
          <p:nvPr/>
        </p:nvSpPr>
        <p:spPr bwMode="auto">
          <a:xfrm>
            <a:off x="2195736" y="3692170"/>
            <a:ext cx="5068488" cy="1229071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21 Rectángulo"/>
          <p:cNvSpPr/>
          <p:nvPr/>
        </p:nvSpPr>
        <p:spPr>
          <a:xfrm>
            <a:off x="1787813" y="3685858"/>
            <a:ext cx="5112568" cy="12157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        </a:t>
            </a:r>
            <a:r>
              <a:rPr lang="es-ES" sz="1800" dirty="0"/>
              <a:t>catch                                         {</a:t>
            </a:r>
          </a:p>
          <a:p>
            <a:r>
              <a:rPr lang="es-ES" sz="1800"/>
              <a:t>              </a:t>
            </a:r>
            <a:endParaRPr lang="es-ES" sz="1800" dirty="0"/>
          </a:p>
          <a:p>
            <a:r>
              <a:rPr lang="es-ES" sz="1800"/>
              <a:t>        </a:t>
            </a:r>
          </a:p>
          <a:p>
            <a:r>
              <a:rPr lang="es-ES" sz="1800"/>
              <a:t>         }</a:t>
            </a:r>
            <a:endParaRPr lang="es-ES" sz="1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 dirty="0"/>
              <a:t>Subtipos de Excepciones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2959939" y="3676691"/>
            <a:ext cx="27801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/>
              <a:t>(</a:t>
            </a:r>
            <a:r>
              <a:rPr lang="es-ES" sz="1800" dirty="0" err="1">
                <a:solidFill>
                  <a:schemeClr val="accent1"/>
                </a:solidFill>
              </a:rPr>
              <a:t>ArithmeticException</a:t>
            </a:r>
            <a:r>
              <a:rPr lang="es-ES" sz="1800" dirty="0"/>
              <a:t> e)</a:t>
            </a:r>
          </a:p>
        </p:txBody>
      </p:sp>
      <p:sp>
        <p:nvSpPr>
          <p:cNvPr id="30" name="29 CuadroTexto"/>
          <p:cNvSpPr txBox="1"/>
          <p:nvPr/>
        </p:nvSpPr>
        <p:spPr>
          <a:xfrm>
            <a:off x="1837380" y="836712"/>
            <a:ext cx="5546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dobe Gothic Std B" pitchFamily="34" charset="-128"/>
                <a:ea typeface="Adobe Gothic Std B" pitchFamily="34" charset="-128"/>
              </a:rPr>
              <a:t>Supongamos ahora que el divisor es pasado como </a:t>
            </a:r>
            <a:r>
              <a:rPr lang="es-ES" sz="1600" b="1" dirty="0" err="1">
                <a:latin typeface="Adobe Gothic Std B" pitchFamily="34" charset="-128"/>
                <a:ea typeface="Adobe Gothic Std B" pitchFamily="34" charset="-128"/>
              </a:rPr>
              <a:t>String</a:t>
            </a:r>
            <a:endParaRPr lang="es-ES" sz="1600" b="1" dirty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35" name="34 CuadroTexto"/>
          <p:cNvSpPr txBox="1"/>
          <p:nvPr/>
        </p:nvSpPr>
        <p:spPr>
          <a:xfrm>
            <a:off x="5326273" y="1096608"/>
            <a:ext cx="854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dobe Gothic Std B" pitchFamily="34" charset="-128"/>
                <a:ea typeface="Adobe Gothic Std B" pitchFamily="34" charset="-128"/>
              </a:rPr>
              <a:t>"5"</a:t>
            </a:r>
          </a:p>
        </p:txBody>
      </p:sp>
      <p:sp>
        <p:nvSpPr>
          <p:cNvPr id="37" name="36 Rectángulo"/>
          <p:cNvSpPr/>
          <p:nvPr/>
        </p:nvSpPr>
        <p:spPr bwMode="auto">
          <a:xfrm>
            <a:off x="2199747" y="5096536"/>
            <a:ext cx="5068488" cy="96056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38" name="37 Rectángulo"/>
          <p:cNvSpPr/>
          <p:nvPr/>
        </p:nvSpPr>
        <p:spPr>
          <a:xfrm>
            <a:off x="1791823" y="5092550"/>
            <a:ext cx="5472401" cy="9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dirty="0"/>
              <a:t>        </a:t>
            </a:r>
            <a:r>
              <a:rPr lang="es-ES" sz="1800" dirty="0"/>
              <a:t>catch                                                 {</a:t>
            </a:r>
          </a:p>
          <a:p>
            <a:endParaRPr lang="es-ES" sz="1800" dirty="0"/>
          </a:p>
          <a:p>
            <a:r>
              <a:rPr lang="es-ES" sz="1800" dirty="0"/>
              <a:t>        }</a:t>
            </a:r>
          </a:p>
        </p:txBody>
      </p:sp>
      <p:sp>
        <p:nvSpPr>
          <p:cNvPr id="43" name="42 CuadroTexto"/>
          <p:cNvSpPr txBox="1"/>
          <p:nvPr/>
        </p:nvSpPr>
        <p:spPr>
          <a:xfrm>
            <a:off x="5326273" y="1096608"/>
            <a:ext cx="854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dobe Gothic Std B" pitchFamily="34" charset="-128"/>
                <a:ea typeface="Adobe Gothic Std B" pitchFamily="34" charset="-128"/>
              </a:rPr>
              <a:t>"R"</a:t>
            </a:r>
          </a:p>
        </p:txBody>
      </p:sp>
      <p:sp>
        <p:nvSpPr>
          <p:cNvPr id="46" name="45 Rectángulo"/>
          <p:cNvSpPr/>
          <p:nvPr/>
        </p:nvSpPr>
        <p:spPr>
          <a:xfrm>
            <a:off x="2790020" y="5091084"/>
            <a:ext cx="3451450" cy="3847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dirty="0"/>
              <a:t>(</a:t>
            </a:r>
            <a:r>
              <a:rPr lang="es-ES" sz="1800" dirty="0" err="1">
                <a:solidFill>
                  <a:schemeClr val="accent1"/>
                </a:solidFill>
              </a:rPr>
              <a:t>NumberFormatException</a:t>
            </a:r>
            <a:r>
              <a:rPr lang="es-ES" sz="1800" dirty="0"/>
              <a:t> e )</a:t>
            </a:r>
          </a:p>
        </p:txBody>
      </p:sp>
      <p:sp>
        <p:nvSpPr>
          <p:cNvPr id="47" name="46 Rectángulo"/>
          <p:cNvSpPr/>
          <p:nvPr/>
        </p:nvSpPr>
        <p:spPr>
          <a:xfrm>
            <a:off x="2901748" y="3681521"/>
            <a:ext cx="1763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1800" dirty="0"/>
              <a:t>(</a:t>
            </a:r>
            <a:r>
              <a:rPr lang="es-ES" sz="1800" dirty="0" err="1">
                <a:solidFill>
                  <a:schemeClr val="accent1"/>
                </a:solidFill>
              </a:rPr>
              <a:t>Exception</a:t>
            </a:r>
            <a:r>
              <a:rPr lang="es-ES" sz="1800" dirty="0"/>
              <a:t> e)</a:t>
            </a:r>
          </a:p>
        </p:txBody>
      </p:sp>
      <p:sp>
        <p:nvSpPr>
          <p:cNvPr id="48" name="47 Rectángulo"/>
          <p:cNvSpPr/>
          <p:nvPr/>
        </p:nvSpPr>
        <p:spPr>
          <a:xfrm>
            <a:off x="2717328" y="5384937"/>
            <a:ext cx="462261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 err="1"/>
              <a:t>System.out.</a:t>
            </a:r>
            <a:r>
              <a:rPr lang="es-ES" sz="1800" dirty="0" err="1">
                <a:solidFill>
                  <a:srgbClr val="FF0000"/>
                </a:solidFill>
              </a:rPr>
              <a:t>println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9900"/>
                </a:solidFill>
              </a:rPr>
              <a:t>"Divisor no número"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/>
              <a:t>;</a:t>
            </a:r>
          </a:p>
        </p:txBody>
      </p:sp>
      <p:sp>
        <p:nvSpPr>
          <p:cNvPr id="33" name="10 Rectángulo"/>
          <p:cNvSpPr/>
          <p:nvPr/>
        </p:nvSpPr>
        <p:spPr>
          <a:xfrm>
            <a:off x="2720886" y="3984545"/>
            <a:ext cx="456500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>
                <a:solidFill>
                  <a:schemeClr val="accent1"/>
                </a:solidFill>
              </a:rPr>
              <a:t>String</a:t>
            </a:r>
            <a:r>
              <a:rPr lang="es-ES" sz="1800"/>
              <a:t> mensaje = e.</a:t>
            </a:r>
            <a:r>
              <a:rPr lang="es-ES" sz="1800">
                <a:solidFill>
                  <a:srgbClr val="FF0000"/>
                </a:solidFill>
              </a:rPr>
              <a:t>toString()</a:t>
            </a:r>
            <a:r>
              <a:rPr lang="es-ES" sz="1800"/>
              <a:t>;</a:t>
            </a:r>
            <a:endParaRPr lang="es-ES" sz="1800" dirty="0"/>
          </a:p>
          <a:p>
            <a:r>
              <a:rPr lang="es-ES" sz="1800" dirty="0" err="1"/>
              <a:t>System.out</a:t>
            </a:r>
            <a:r>
              <a:rPr lang="es-ES" sz="1800" dirty="0" err="1">
                <a:solidFill>
                  <a:srgbClr val="FF0000"/>
                </a:solidFill>
              </a:rPr>
              <a:t>.println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/>
              <a:t>mensaje</a:t>
            </a:r>
            <a:r>
              <a:rPr lang="es-ES" sz="1800" dirty="0">
                <a:solidFill>
                  <a:srgbClr val="FF0000"/>
                </a:solidFill>
              </a:rPr>
              <a:t>)</a:t>
            </a:r>
            <a:r>
              <a:rPr lang="es-ES" sz="1800" dirty="0"/>
              <a:t>;</a:t>
            </a:r>
          </a:p>
        </p:txBody>
      </p:sp>
      <p:sp>
        <p:nvSpPr>
          <p:cNvPr id="36" name="21 Rectángulo"/>
          <p:cNvSpPr/>
          <p:nvPr/>
        </p:nvSpPr>
        <p:spPr>
          <a:xfrm>
            <a:off x="2717328" y="4139788"/>
            <a:ext cx="352627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/>
              <a:t>System.out.</a:t>
            </a:r>
            <a:r>
              <a:rPr lang="es-ES" sz="1800">
                <a:solidFill>
                  <a:srgbClr val="FF0000"/>
                </a:solidFill>
              </a:rPr>
              <a:t>println</a:t>
            </a:r>
            <a:r>
              <a:rPr lang="es-ES" sz="1800" dirty="0">
                <a:solidFill>
                  <a:srgbClr val="FF0000"/>
                </a:solidFill>
              </a:rPr>
              <a:t>(</a:t>
            </a:r>
            <a:r>
              <a:rPr lang="es-ES" sz="1800" dirty="0">
                <a:solidFill>
                  <a:srgbClr val="009900"/>
                </a:solidFill>
              </a:rPr>
              <a:t>"</a:t>
            </a:r>
            <a:r>
              <a:rPr lang="es-ES" sz="1800">
                <a:solidFill>
                  <a:srgbClr val="009900"/>
                </a:solidFill>
              </a:rPr>
              <a:t>Infinito"</a:t>
            </a:r>
            <a:r>
              <a:rPr lang="es-ES" sz="1800">
                <a:solidFill>
                  <a:srgbClr val="FF0000"/>
                </a:solidFill>
              </a:rPr>
              <a:t>)</a:t>
            </a:r>
            <a:r>
              <a:rPr lang="es-ES" sz="1800"/>
              <a:t>;</a:t>
            </a:r>
            <a:endParaRPr lang="es-ES" sz="1800" dirty="0"/>
          </a:p>
        </p:txBody>
      </p:sp>
      <p:sp>
        <p:nvSpPr>
          <p:cNvPr id="39" name="42 CuadroTexto"/>
          <p:cNvSpPr txBox="1"/>
          <p:nvPr/>
        </p:nvSpPr>
        <p:spPr>
          <a:xfrm>
            <a:off x="5326273" y="1096608"/>
            <a:ext cx="8540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>
                <a:latin typeface="Adobe Gothic Std B" pitchFamily="34" charset="-128"/>
                <a:ea typeface="Adobe Gothic Std B" pitchFamily="34" charset="-128"/>
              </a:rPr>
              <a:t>"0"</a:t>
            </a:r>
            <a:endParaRPr lang="es-ES" sz="1600" b="1" dirty="0">
              <a:latin typeface="Adobe Gothic Std B" pitchFamily="34" charset="-128"/>
              <a:ea typeface="Adobe Gothic Std B" pitchFamily="34" charset="-128"/>
            </a:endParaRPr>
          </a:p>
        </p:txBody>
      </p:sp>
      <p:cxnSp>
        <p:nvCxnSpPr>
          <p:cNvPr id="40" name="33 Conector recto de flecha"/>
          <p:cNvCxnSpPr/>
          <p:nvPr/>
        </p:nvCxnSpPr>
        <p:spPr bwMode="auto">
          <a:xfrm>
            <a:off x="5740101" y="1363154"/>
            <a:ext cx="0" cy="32937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Arco 6"/>
          <p:cNvSpPr/>
          <p:nvPr/>
        </p:nvSpPr>
        <p:spPr bwMode="auto">
          <a:xfrm rot="865059">
            <a:off x="5684058" y="2780140"/>
            <a:ext cx="1592872" cy="1572275"/>
          </a:xfrm>
          <a:prstGeom prst="arc">
            <a:avLst>
              <a:gd name="adj1" fmla="val 15574870"/>
              <a:gd name="adj2" fmla="val 5437581"/>
            </a:avLst>
          </a:prstGeom>
          <a:noFill/>
          <a:ln w="1016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0" name="Arco 49"/>
          <p:cNvSpPr/>
          <p:nvPr/>
        </p:nvSpPr>
        <p:spPr bwMode="auto">
          <a:xfrm rot="164348">
            <a:off x="5410205" y="2450022"/>
            <a:ext cx="2133949" cy="1886802"/>
          </a:xfrm>
          <a:prstGeom prst="arc">
            <a:avLst>
              <a:gd name="adj1" fmla="val 17105406"/>
              <a:gd name="adj2" fmla="val 6015964"/>
            </a:avLst>
          </a:prstGeom>
          <a:noFill/>
          <a:ln w="1016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1" name="Arco 50"/>
          <p:cNvSpPr/>
          <p:nvPr/>
        </p:nvSpPr>
        <p:spPr bwMode="auto">
          <a:xfrm rot="168661">
            <a:off x="5633635" y="2495313"/>
            <a:ext cx="2396215" cy="3111080"/>
          </a:xfrm>
          <a:prstGeom prst="arc">
            <a:avLst>
              <a:gd name="adj1" fmla="val 16016729"/>
              <a:gd name="adj2" fmla="val 4917560"/>
            </a:avLst>
          </a:prstGeom>
          <a:noFill/>
          <a:ln w="101600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sz="1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pic>
        <p:nvPicPr>
          <p:cNvPr id="52" name="Picture 2" descr="C:\Users\Raúl\Desktop\bugs\bu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9047" y="2507308"/>
            <a:ext cx="477746" cy="51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C:\Users\Raúl\Desktop\bugs\bu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864" y="2213868"/>
            <a:ext cx="477746" cy="510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32 CuadroTexto"/>
          <p:cNvSpPr txBox="1"/>
          <p:nvPr/>
        </p:nvSpPr>
        <p:spPr>
          <a:xfrm>
            <a:off x="529073" y="6503838"/>
            <a:ext cx="4104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i="1">
                <a:latin typeface="Adobe Gothic Std B" pitchFamily="34" charset="-128"/>
                <a:ea typeface="Adobe Gothic Std B" pitchFamily="34" charset="-128"/>
              </a:rPr>
              <a:t>java.lang.</a:t>
            </a:r>
            <a:r>
              <a:rPr lang="es-ES" sz="1600" b="1" i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ArithmeticException</a:t>
            </a:r>
            <a:r>
              <a:rPr lang="es-ES" sz="1600" b="1" i="1">
                <a:latin typeface="Adobe Gothic Std B" pitchFamily="34" charset="-128"/>
                <a:ea typeface="Adobe Gothic Std B" pitchFamily="34" charset="-128"/>
              </a:rPr>
              <a:t>...</a:t>
            </a:r>
            <a:endParaRPr lang="es-ES" sz="1600" b="1" i="1" dirty="0"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55" name="32 CuadroTexto"/>
          <p:cNvSpPr txBox="1"/>
          <p:nvPr/>
        </p:nvSpPr>
        <p:spPr>
          <a:xfrm>
            <a:off x="4427983" y="6503838"/>
            <a:ext cx="4392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>
                <a:latin typeface="Adobe Gothic Std B" pitchFamily="34" charset="-128"/>
                <a:ea typeface="Adobe Gothic Std B" pitchFamily="34" charset="-128"/>
              </a:rPr>
              <a:t>java.lang.</a:t>
            </a:r>
            <a:r>
              <a:rPr lang="en-US" sz="1600" b="1" i="1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NumberFormatException</a:t>
            </a:r>
            <a:r>
              <a:rPr lang="en-US" sz="1600" b="1" i="1">
                <a:latin typeface="Adobe Gothic Std B" pitchFamily="34" charset="-128"/>
                <a:ea typeface="Adobe Gothic Std B" pitchFamily="34" charset="-128"/>
              </a:rPr>
              <a:t>...</a:t>
            </a:r>
            <a:endParaRPr lang="en-US" sz="1600" b="1" i="1" dirty="0" err="1">
              <a:latin typeface="Adobe Gothic Std B" pitchFamily="34" charset="-128"/>
              <a:ea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208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xit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3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build="p"/>
      <p:bldP spid="10" grpId="0" animBg="1"/>
      <p:bldP spid="22" grpId="0" build="p"/>
      <p:bldP spid="12" grpId="0"/>
      <p:bldP spid="35" grpId="0"/>
      <p:bldP spid="35" grpId="1"/>
      <p:bldP spid="37" grpId="0" animBg="1"/>
      <p:bldP spid="38" grpId="0"/>
      <p:bldP spid="43" grpId="0"/>
      <p:bldP spid="46" grpId="0"/>
      <p:bldP spid="47" grpId="0"/>
      <p:bldP spid="47" grpId="1"/>
      <p:bldP spid="48" grpId="0" build="p"/>
      <p:bldP spid="33" grpId="0" build="p"/>
      <p:bldP spid="33" grpId="1" build="allAtOnce"/>
      <p:bldP spid="36" grpId="0" build="p"/>
      <p:bldP spid="39" grpId="0"/>
      <p:bldP spid="39" grpId="1"/>
      <p:bldP spid="7" grpId="0" animBg="1"/>
      <p:bldP spid="50" grpId="0" animBg="1"/>
      <p:bldP spid="50" grpId="1" animBg="1"/>
      <p:bldP spid="51" grpId="0" animBg="1"/>
      <p:bldP spid="54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23 Grupo"/>
          <p:cNvGrpSpPr/>
          <p:nvPr/>
        </p:nvGrpSpPr>
        <p:grpSpPr>
          <a:xfrm>
            <a:off x="395536" y="1547942"/>
            <a:ext cx="3768970" cy="4446397"/>
            <a:chOff x="395536" y="1547942"/>
            <a:chExt cx="3768970" cy="4446397"/>
          </a:xfrm>
        </p:grpSpPr>
        <p:sp>
          <p:nvSpPr>
            <p:cNvPr id="29" name="28 Rectángulo"/>
            <p:cNvSpPr/>
            <p:nvPr/>
          </p:nvSpPr>
          <p:spPr bwMode="auto">
            <a:xfrm>
              <a:off x="395536" y="1547942"/>
              <a:ext cx="3768970" cy="4446397"/>
            </a:xfrm>
            <a:prstGeom prst="rect">
              <a:avLst/>
            </a:prstGeom>
            <a:solidFill>
              <a:srgbClr val="FBFDB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20" name="19 Grupo"/>
            <p:cNvGrpSpPr/>
            <p:nvPr/>
          </p:nvGrpSpPr>
          <p:grpSpPr>
            <a:xfrm>
              <a:off x="540753" y="1556792"/>
              <a:ext cx="3427386" cy="4393010"/>
              <a:chOff x="324730" y="1628801"/>
              <a:chExt cx="3427386" cy="4393010"/>
            </a:xfrm>
          </p:grpSpPr>
          <p:sp>
            <p:nvSpPr>
              <p:cNvPr id="38" name="37 Rectángulo"/>
              <p:cNvSpPr/>
              <p:nvPr/>
            </p:nvSpPr>
            <p:spPr>
              <a:xfrm>
                <a:off x="324730" y="1628801"/>
                <a:ext cx="3427386" cy="86177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sz="1200" dirty="0" err="1">
                    <a:solidFill>
                      <a:schemeClr val="accent1"/>
                    </a:solidFill>
                  </a:rPr>
                  <a:t>public</a:t>
                </a:r>
                <a:r>
                  <a:rPr lang="es-ES" sz="1200" dirty="0">
                    <a:solidFill>
                      <a:schemeClr val="accent1"/>
                    </a:solidFill>
                  </a:rPr>
                  <a:t> </a:t>
                </a:r>
                <a:r>
                  <a:rPr lang="es-ES" sz="1200" dirty="0" err="1">
                    <a:solidFill>
                      <a:schemeClr val="accent1"/>
                    </a:solidFill>
                  </a:rPr>
                  <a:t>static</a:t>
                </a:r>
                <a:r>
                  <a:rPr lang="es-ES" sz="1200" dirty="0">
                    <a:solidFill>
                      <a:schemeClr val="accent1"/>
                    </a:solidFill>
                  </a:rPr>
                  <a:t> </a:t>
                </a:r>
                <a:r>
                  <a:rPr lang="es-ES" sz="1200" dirty="0" err="1">
                    <a:solidFill>
                      <a:schemeClr val="accent1"/>
                    </a:solidFill>
                  </a:rPr>
                  <a:t>void</a:t>
                </a:r>
                <a:r>
                  <a:rPr lang="es-ES" sz="1200" dirty="0"/>
                  <a:t> </a:t>
                </a:r>
                <a:r>
                  <a:rPr lang="es-ES" sz="1600" dirty="0" err="1">
                    <a:solidFill>
                      <a:srgbClr val="FF0000"/>
                    </a:solidFill>
                  </a:rPr>
                  <a:t>main</a:t>
                </a:r>
                <a:r>
                  <a:rPr lang="es-ES" sz="1600" dirty="0">
                    <a:solidFill>
                      <a:srgbClr val="FF0000"/>
                    </a:solidFill>
                  </a:rPr>
                  <a:t>(</a:t>
                </a:r>
                <a:r>
                  <a:rPr lang="es-ES" sz="1600" dirty="0" err="1">
                    <a:solidFill>
                      <a:srgbClr val="FF0000"/>
                    </a:solidFill>
                  </a:rPr>
                  <a:t>String</a:t>
                </a:r>
                <a:r>
                  <a:rPr lang="es-ES" sz="1600" dirty="0">
                    <a:solidFill>
                      <a:srgbClr val="FF0000"/>
                    </a:solidFill>
                  </a:rPr>
                  <a:t>[] </a:t>
                </a:r>
                <a:r>
                  <a:rPr lang="es-ES" sz="1600" dirty="0" err="1">
                    <a:solidFill>
                      <a:srgbClr val="FF0000"/>
                    </a:solidFill>
                  </a:rPr>
                  <a:t>args</a:t>
                </a:r>
                <a:r>
                  <a:rPr lang="es-ES" sz="1600" dirty="0">
                    <a:solidFill>
                      <a:srgbClr val="FF0000"/>
                    </a:solidFill>
                  </a:rPr>
                  <a:t>)</a:t>
                </a:r>
                <a:r>
                  <a:rPr lang="es-ES" sz="1200" dirty="0"/>
                  <a:t> </a:t>
                </a:r>
              </a:p>
              <a:p>
                <a:endParaRPr lang="es-ES" sz="1600" dirty="0"/>
              </a:p>
              <a:p>
                <a:r>
                  <a:rPr lang="es-ES" sz="1600" dirty="0"/>
                  <a:t>{</a:t>
                </a:r>
              </a:p>
            </p:txBody>
          </p:sp>
          <p:sp>
            <p:nvSpPr>
              <p:cNvPr id="39" name="38 Rectángulo"/>
              <p:cNvSpPr/>
              <p:nvPr/>
            </p:nvSpPr>
            <p:spPr>
              <a:xfrm>
                <a:off x="395536" y="5714034"/>
                <a:ext cx="37675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ES" sz="1400" dirty="0"/>
                  <a:t>}</a:t>
                </a:r>
              </a:p>
            </p:txBody>
          </p:sp>
        </p:grpSp>
      </p:grpSp>
      <p:grpSp>
        <p:nvGrpSpPr>
          <p:cNvPr id="19" name="18 Grupo"/>
          <p:cNvGrpSpPr/>
          <p:nvPr/>
        </p:nvGrpSpPr>
        <p:grpSpPr>
          <a:xfrm>
            <a:off x="703340" y="2527118"/>
            <a:ext cx="3264799" cy="3084968"/>
            <a:chOff x="487317" y="2599127"/>
            <a:chExt cx="3264799" cy="3084968"/>
          </a:xfrm>
        </p:grpSpPr>
        <p:sp>
          <p:nvSpPr>
            <p:cNvPr id="32" name="31 Rectángulo"/>
            <p:cNvSpPr/>
            <p:nvPr/>
          </p:nvSpPr>
          <p:spPr bwMode="auto">
            <a:xfrm>
              <a:off x="487317" y="2599127"/>
              <a:ext cx="3264799" cy="1408651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35" name="34 Rectángulo"/>
            <p:cNvSpPr/>
            <p:nvPr/>
          </p:nvSpPr>
          <p:spPr bwMode="auto">
            <a:xfrm>
              <a:off x="487317" y="4233476"/>
              <a:ext cx="3264799" cy="145061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" name="3 Rectángulo"/>
            <p:cNvSpPr/>
            <p:nvPr/>
          </p:nvSpPr>
          <p:spPr>
            <a:xfrm>
              <a:off x="555659" y="2622783"/>
              <a:ext cx="81973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600" b="1" dirty="0"/>
                <a:t>try {</a:t>
              </a:r>
            </a:p>
            <a:p>
              <a:endParaRPr lang="es-ES" sz="1600" b="1" dirty="0"/>
            </a:p>
            <a:p>
              <a:endParaRPr lang="es-ES" sz="1600" b="1" dirty="0"/>
            </a:p>
            <a:p>
              <a:endParaRPr lang="es-ES" sz="1600" b="1" dirty="0"/>
            </a:p>
            <a:p>
              <a:r>
                <a:rPr lang="es-ES" sz="1600" b="1" dirty="0"/>
                <a:t>}</a:t>
              </a:r>
            </a:p>
          </p:txBody>
        </p:sp>
        <p:sp>
          <p:nvSpPr>
            <p:cNvPr id="44" name="43 Rectángulo"/>
            <p:cNvSpPr/>
            <p:nvPr/>
          </p:nvSpPr>
          <p:spPr>
            <a:xfrm>
              <a:off x="555659" y="4288728"/>
              <a:ext cx="1241653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600" b="1" dirty="0"/>
                <a:t>catch … {</a:t>
              </a:r>
            </a:p>
            <a:p>
              <a:endParaRPr lang="es-ES" sz="1600" b="1" dirty="0"/>
            </a:p>
            <a:p>
              <a:endParaRPr lang="es-ES" sz="1600" b="1" dirty="0"/>
            </a:p>
            <a:p>
              <a:endParaRPr lang="es-ES" sz="1600" b="1" dirty="0"/>
            </a:p>
            <a:p>
              <a:r>
                <a:rPr lang="es-ES" sz="1600" b="1" dirty="0"/>
                <a:t>}</a:t>
              </a:r>
            </a:p>
          </p:txBody>
        </p:sp>
      </p:grpSp>
      <p:sp>
        <p:nvSpPr>
          <p:cNvPr id="46" name="45 Rectángulo"/>
          <p:cNvSpPr/>
          <p:nvPr/>
        </p:nvSpPr>
        <p:spPr>
          <a:xfrm>
            <a:off x="1002150" y="3046777"/>
            <a:ext cx="21243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800" dirty="0">
                <a:solidFill>
                  <a:srgbClr val="FF0000"/>
                </a:solidFill>
              </a:rPr>
              <a:t>dividir(</a:t>
            </a:r>
            <a:r>
              <a:rPr lang="es-ES" sz="1800" dirty="0">
                <a:solidFill>
                  <a:srgbClr val="00B050"/>
                </a:solidFill>
              </a:rPr>
              <a:t>100, 0</a:t>
            </a:r>
            <a:r>
              <a:rPr lang="es-ES" sz="1800" dirty="0">
                <a:solidFill>
                  <a:srgbClr val="FF0000"/>
                </a:solidFill>
              </a:rPr>
              <a:t>);</a:t>
            </a:r>
            <a:endParaRPr lang="es-ES" sz="1800" dirty="0"/>
          </a:p>
        </p:txBody>
      </p:sp>
      <p:sp>
        <p:nvSpPr>
          <p:cNvPr id="49" name="48 Rectángulo"/>
          <p:cNvSpPr/>
          <p:nvPr/>
        </p:nvSpPr>
        <p:spPr>
          <a:xfrm>
            <a:off x="755576" y="1852862"/>
            <a:ext cx="21243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CC66FF"/>
                </a:solidFill>
              </a:rPr>
              <a:t>throws</a:t>
            </a:r>
            <a:r>
              <a:rPr lang="es-ES" sz="1600" b="1" dirty="0">
                <a:solidFill>
                  <a:srgbClr val="CC66FF"/>
                </a:solidFill>
              </a:rPr>
              <a:t> </a:t>
            </a:r>
            <a:r>
              <a:rPr lang="es-ES" sz="1600" b="1" dirty="0" err="1">
                <a:solidFill>
                  <a:srgbClr val="CC66FF"/>
                </a:solidFill>
              </a:rPr>
              <a:t>Exception</a:t>
            </a:r>
            <a:endParaRPr lang="es-ES" sz="1600" b="1" dirty="0">
              <a:solidFill>
                <a:srgbClr val="CC66FF"/>
              </a:solidFill>
            </a:endParaRPr>
          </a:p>
        </p:txBody>
      </p:sp>
      <p:grpSp>
        <p:nvGrpSpPr>
          <p:cNvPr id="21" name="20 Grupo"/>
          <p:cNvGrpSpPr/>
          <p:nvPr/>
        </p:nvGrpSpPr>
        <p:grpSpPr>
          <a:xfrm>
            <a:off x="4644008" y="1556792"/>
            <a:ext cx="4032448" cy="4446398"/>
            <a:chOff x="4644008" y="1556792"/>
            <a:chExt cx="4032448" cy="4446398"/>
          </a:xfrm>
        </p:grpSpPr>
        <p:sp>
          <p:nvSpPr>
            <p:cNvPr id="8" name="7 Rectángulo"/>
            <p:cNvSpPr/>
            <p:nvPr/>
          </p:nvSpPr>
          <p:spPr bwMode="auto">
            <a:xfrm>
              <a:off x="4644008" y="1556792"/>
              <a:ext cx="4032448" cy="4446398"/>
            </a:xfrm>
            <a:prstGeom prst="rect">
              <a:avLst/>
            </a:prstGeom>
            <a:solidFill>
              <a:srgbClr val="FBFDB9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8" name="27 Rectángulo"/>
            <p:cNvSpPr/>
            <p:nvPr/>
          </p:nvSpPr>
          <p:spPr>
            <a:xfrm>
              <a:off x="4804448" y="1582631"/>
              <a:ext cx="3872008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400" dirty="0" err="1">
                  <a:solidFill>
                    <a:schemeClr val="accent1"/>
                  </a:solidFill>
                </a:rPr>
                <a:t>public</a:t>
              </a:r>
              <a:r>
                <a:rPr lang="es-ES" sz="1400" dirty="0">
                  <a:solidFill>
                    <a:schemeClr val="accent1"/>
                  </a:solidFill>
                </a:rPr>
                <a:t> </a:t>
              </a:r>
              <a:r>
                <a:rPr lang="es-ES" sz="1400" dirty="0" err="1">
                  <a:solidFill>
                    <a:schemeClr val="accent1"/>
                  </a:solidFill>
                </a:rPr>
                <a:t>static</a:t>
              </a:r>
              <a:r>
                <a:rPr lang="es-ES" sz="1400" dirty="0">
                  <a:solidFill>
                    <a:schemeClr val="accent1"/>
                  </a:solidFill>
                </a:rPr>
                <a:t> </a:t>
              </a:r>
              <a:r>
                <a:rPr lang="es-ES" sz="1400" dirty="0" err="1">
                  <a:solidFill>
                    <a:schemeClr val="accent1"/>
                  </a:solidFill>
                </a:rPr>
                <a:t>void</a:t>
              </a:r>
              <a:r>
                <a:rPr lang="es-ES" sz="1400" dirty="0">
                  <a:solidFill>
                    <a:schemeClr val="accent1"/>
                  </a:solidFill>
                </a:rPr>
                <a:t> </a:t>
              </a:r>
              <a:r>
                <a:rPr lang="es-ES" sz="1800" dirty="0">
                  <a:solidFill>
                    <a:srgbClr val="FF0000"/>
                  </a:solidFill>
                </a:rPr>
                <a:t>dividir(</a:t>
              </a:r>
              <a:r>
                <a:rPr lang="es-ES" sz="1400" dirty="0" err="1">
                  <a:solidFill>
                    <a:schemeClr val="accent1"/>
                  </a:solidFill>
                </a:rPr>
                <a:t>int</a:t>
              </a:r>
              <a:r>
                <a:rPr lang="es-ES" sz="1400" dirty="0"/>
                <a:t> </a:t>
              </a:r>
              <a:r>
                <a:rPr lang="es-ES" sz="1400" dirty="0" err="1"/>
                <a:t>num</a:t>
              </a:r>
              <a:r>
                <a:rPr lang="es-ES" sz="1400" dirty="0"/>
                <a:t>, </a:t>
              </a:r>
              <a:r>
                <a:rPr lang="es-ES" sz="1400" dirty="0" err="1">
                  <a:solidFill>
                    <a:schemeClr val="accent1"/>
                  </a:solidFill>
                </a:rPr>
                <a:t>int</a:t>
              </a:r>
              <a:r>
                <a:rPr lang="es-ES" sz="1400" dirty="0"/>
                <a:t> divisor</a:t>
              </a:r>
              <a:r>
                <a:rPr lang="es-ES" sz="1800" dirty="0">
                  <a:solidFill>
                    <a:srgbClr val="FF0000"/>
                  </a:solidFill>
                </a:rPr>
                <a:t>)</a:t>
              </a:r>
              <a:r>
                <a:rPr lang="es-ES" sz="1400" dirty="0"/>
                <a:t> </a:t>
              </a:r>
            </a:p>
            <a:p>
              <a:endParaRPr lang="es-ES" sz="1600" dirty="0"/>
            </a:p>
            <a:p>
              <a:r>
                <a:rPr lang="es-ES" sz="1600" dirty="0"/>
                <a:t>{</a:t>
              </a:r>
            </a:p>
          </p:txBody>
        </p:sp>
        <p:sp>
          <p:nvSpPr>
            <p:cNvPr id="40" name="39 Rectángulo"/>
            <p:cNvSpPr/>
            <p:nvPr/>
          </p:nvSpPr>
          <p:spPr>
            <a:xfrm>
              <a:off x="4788024" y="5660008"/>
              <a:ext cx="37675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400" dirty="0"/>
                <a:t>}</a:t>
              </a:r>
            </a:p>
          </p:txBody>
        </p:sp>
      </p:grpSp>
      <p:grpSp>
        <p:nvGrpSpPr>
          <p:cNvPr id="7" name="6 Grupo"/>
          <p:cNvGrpSpPr/>
          <p:nvPr/>
        </p:nvGrpSpPr>
        <p:grpSpPr>
          <a:xfrm>
            <a:off x="4910408" y="2527119"/>
            <a:ext cx="3466684" cy="3084967"/>
            <a:chOff x="5126432" y="2558787"/>
            <a:chExt cx="3466684" cy="3084967"/>
          </a:xfrm>
        </p:grpSpPr>
        <p:sp>
          <p:nvSpPr>
            <p:cNvPr id="9" name="8 Rectángulo"/>
            <p:cNvSpPr/>
            <p:nvPr/>
          </p:nvSpPr>
          <p:spPr bwMode="auto">
            <a:xfrm>
              <a:off x="5126432" y="2558787"/>
              <a:ext cx="3466683" cy="1409206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9 Rectángulo"/>
            <p:cNvSpPr/>
            <p:nvPr/>
          </p:nvSpPr>
          <p:spPr bwMode="auto">
            <a:xfrm>
              <a:off x="5126434" y="4193135"/>
              <a:ext cx="3466682" cy="1450619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42" name="41 Rectángulo"/>
            <p:cNvSpPr/>
            <p:nvPr/>
          </p:nvSpPr>
          <p:spPr>
            <a:xfrm>
              <a:off x="5191005" y="2577322"/>
              <a:ext cx="819734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600" b="1" dirty="0"/>
                <a:t>try {</a:t>
              </a:r>
            </a:p>
            <a:p>
              <a:endParaRPr lang="es-ES" sz="1600" b="1" dirty="0"/>
            </a:p>
            <a:p>
              <a:endParaRPr lang="es-ES" sz="1600" b="1" dirty="0"/>
            </a:p>
            <a:p>
              <a:endParaRPr lang="es-ES" sz="1600" b="1" dirty="0"/>
            </a:p>
            <a:p>
              <a:r>
                <a:rPr lang="es-ES" sz="1600" b="1" dirty="0"/>
                <a:t>}</a:t>
              </a:r>
            </a:p>
          </p:txBody>
        </p:sp>
        <p:sp>
          <p:nvSpPr>
            <p:cNvPr id="43" name="42 Rectángulo"/>
            <p:cNvSpPr/>
            <p:nvPr/>
          </p:nvSpPr>
          <p:spPr>
            <a:xfrm>
              <a:off x="5192425" y="4256724"/>
              <a:ext cx="1241653" cy="132343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s-ES" sz="1600" b="1" dirty="0"/>
                <a:t>catch … {</a:t>
              </a:r>
            </a:p>
            <a:p>
              <a:endParaRPr lang="es-ES" sz="1600" b="1" dirty="0"/>
            </a:p>
            <a:p>
              <a:endParaRPr lang="es-ES" sz="1600" b="1" dirty="0"/>
            </a:p>
            <a:p>
              <a:endParaRPr lang="es-ES" sz="1600" b="1" dirty="0"/>
            </a:p>
            <a:p>
              <a:r>
                <a:rPr lang="es-ES" sz="1600" b="1" dirty="0"/>
                <a:t>}</a:t>
              </a:r>
            </a:p>
          </p:txBody>
        </p:sp>
      </p:grp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2924" y="53975"/>
            <a:ext cx="7989515" cy="563563"/>
          </a:xfrm>
        </p:spPr>
        <p:txBody>
          <a:bodyPr/>
          <a:lstStyle/>
          <a:p>
            <a:r>
              <a:rPr lang="es-ES" dirty="0"/>
              <a:t>Relanzar Excepciones</a:t>
            </a:r>
          </a:p>
        </p:txBody>
      </p:sp>
      <p:sp>
        <p:nvSpPr>
          <p:cNvPr id="47" name="46 Rectángulo"/>
          <p:cNvSpPr/>
          <p:nvPr/>
        </p:nvSpPr>
        <p:spPr>
          <a:xfrm>
            <a:off x="5039937" y="1866309"/>
            <a:ext cx="212435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 b="1" dirty="0" err="1">
                <a:solidFill>
                  <a:srgbClr val="CC66FF"/>
                </a:solidFill>
              </a:rPr>
              <a:t>throws</a:t>
            </a:r>
            <a:r>
              <a:rPr lang="es-ES" sz="1600" b="1" dirty="0">
                <a:solidFill>
                  <a:srgbClr val="CC66FF"/>
                </a:solidFill>
              </a:rPr>
              <a:t> </a:t>
            </a:r>
            <a:r>
              <a:rPr lang="es-ES" sz="1600" b="1" dirty="0" err="1">
                <a:solidFill>
                  <a:srgbClr val="CC66FF"/>
                </a:solidFill>
              </a:rPr>
              <a:t>Exception</a:t>
            </a:r>
            <a:endParaRPr lang="es-ES" sz="1600" b="1" dirty="0">
              <a:solidFill>
                <a:srgbClr val="CC66FF"/>
              </a:solidFill>
            </a:endParaRPr>
          </a:p>
        </p:txBody>
      </p:sp>
      <p:sp>
        <p:nvSpPr>
          <p:cNvPr id="48" name="47 CuadroTexto"/>
          <p:cNvSpPr txBox="1"/>
          <p:nvPr/>
        </p:nvSpPr>
        <p:spPr>
          <a:xfrm>
            <a:off x="1763688" y="836712"/>
            <a:ext cx="5546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dobe Gothic Std B" pitchFamily="34" charset="-128"/>
                <a:ea typeface="Adobe Gothic Std B" pitchFamily="34" charset="-128"/>
              </a:rPr>
              <a:t>¡ O como quitarse el muerto de encima !</a:t>
            </a:r>
          </a:p>
        </p:txBody>
      </p:sp>
      <p:cxnSp>
        <p:nvCxnSpPr>
          <p:cNvPr id="51" name="50 Conector recto de flecha"/>
          <p:cNvCxnSpPr/>
          <p:nvPr/>
        </p:nvCxnSpPr>
        <p:spPr bwMode="auto">
          <a:xfrm flipV="1">
            <a:off x="2555776" y="1852862"/>
            <a:ext cx="2232248" cy="1378860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3" name="2 Rectángulo"/>
          <p:cNvSpPr/>
          <p:nvPr/>
        </p:nvSpPr>
        <p:spPr>
          <a:xfrm>
            <a:off x="5141524" y="2962290"/>
            <a:ext cx="323556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>
                <a:solidFill>
                  <a:schemeClr val="accent1"/>
                </a:solidFill>
              </a:rPr>
              <a:t>int</a:t>
            </a:r>
            <a:r>
              <a:rPr lang="es-ES" sz="1600"/>
              <a:t> </a:t>
            </a:r>
            <a:r>
              <a:rPr lang="es-ES" sz="1600" dirty="0"/>
              <a:t>resultado = dividendo </a:t>
            </a:r>
            <a:r>
              <a:rPr lang="es-ES" sz="1600" dirty="0">
                <a:solidFill>
                  <a:srgbClr val="FF0000"/>
                </a:solidFill>
              </a:rPr>
              <a:t>/ </a:t>
            </a:r>
            <a:r>
              <a:rPr lang="es-ES" sz="1600" dirty="0"/>
              <a:t>divisor;</a:t>
            </a:r>
          </a:p>
          <a:p>
            <a:r>
              <a:rPr lang="es-ES" sz="1600"/>
              <a:t>System.out.</a:t>
            </a:r>
            <a:r>
              <a:rPr lang="es-ES" sz="1600">
                <a:solidFill>
                  <a:srgbClr val="FF0000"/>
                </a:solidFill>
              </a:rPr>
              <a:t>println(</a:t>
            </a:r>
            <a:r>
              <a:rPr lang="es-ES" sz="1600"/>
              <a:t>resultado</a:t>
            </a:r>
            <a:r>
              <a:rPr lang="es-ES" sz="1600">
                <a:solidFill>
                  <a:srgbClr val="FF0000"/>
                </a:solidFill>
              </a:rPr>
              <a:t>)</a:t>
            </a:r>
            <a:r>
              <a:rPr lang="es-ES" sz="1600"/>
              <a:t>;</a:t>
            </a:r>
            <a:endParaRPr lang="es-ES" sz="1600" dirty="0"/>
          </a:p>
        </p:txBody>
      </p:sp>
      <p:sp>
        <p:nvSpPr>
          <p:cNvPr id="34" name="2 Rectángulo"/>
          <p:cNvSpPr/>
          <p:nvPr/>
        </p:nvSpPr>
        <p:spPr>
          <a:xfrm>
            <a:off x="5164781" y="4697417"/>
            <a:ext cx="32355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/>
              <a:t>System.out.</a:t>
            </a:r>
            <a:r>
              <a:rPr lang="es-ES" sz="1600">
                <a:solidFill>
                  <a:srgbClr val="FF0000"/>
                </a:solidFill>
              </a:rPr>
              <a:t>println(</a:t>
            </a:r>
            <a:r>
              <a:rPr lang="es-ES" sz="1600">
                <a:solidFill>
                  <a:srgbClr val="009900"/>
                </a:solidFill>
              </a:rPr>
              <a:t>“error”</a:t>
            </a:r>
            <a:r>
              <a:rPr lang="es-ES" sz="1600">
                <a:solidFill>
                  <a:srgbClr val="FF0000"/>
                </a:solidFill>
              </a:rPr>
              <a:t>)</a:t>
            </a:r>
            <a:r>
              <a:rPr lang="es-ES" sz="1600"/>
              <a:t>;</a:t>
            </a:r>
            <a:endParaRPr lang="es-ES" sz="1600" dirty="0"/>
          </a:p>
        </p:txBody>
      </p:sp>
      <p:sp>
        <p:nvSpPr>
          <p:cNvPr id="36" name="2 Rectángulo"/>
          <p:cNvSpPr/>
          <p:nvPr/>
        </p:nvSpPr>
        <p:spPr>
          <a:xfrm>
            <a:off x="1002150" y="4684964"/>
            <a:ext cx="323556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1600"/>
              <a:t>System.out.</a:t>
            </a:r>
            <a:r>
              <a:rPr lang="es-ES" sz="1600">
                <a:solidFill>
                  <a:srgbClr val="FF0000"/>
                </a:solidFill>
              </a:rPr>
              <a:t>println(</a:t>
            </a:r>
            <a:r>
              <a:rPr lang="es-ES" sz="1600">
                <a:solidFill>
                  <a:srgbClr val="009900"/>
                </a:solidFill>
              </a:rPr>
              <a:t>“error”</a:t>
            </a:r>
            <a:r>
              <a:rPr lang="es-ES" sz="1600">
                <a:solidFill>
                  <a:srgbClr val="FF0000"/>
                </a:solidFill>
              </a:rPr>
              <a:t>)</a:t>
            </a:r>
            <a:r>
              <a:rPr lang="es-ES" sz="1600"/>
              <a:t>;</a:t>
            </a:r>
            <a:endParaRPr lang="es-ES" sz="1600" dirty="0"/>
          </a:p>
        </p:txBody>
      </p:sp>
      <p:grpSp>
        <p:nvGrpSpPr>
          <p:cNvPr id="6" name="5 Grupo"/>
          <p:cNvGrpSpPr/>
          <p:nvPr/>
        </p:nvGrpSpPr>
        <p:grpSpPr>
          <a:xfrm>
            <a:off x="6170034" y="2713729"/>
            <a:ext cx="946270" cy="1035986"/>
            <a:chOff x="272381" y="1445840"/>
            <a:chExt cx="946270" cy="1035986"/>
          </a:xfrm>
        </p:grpSpPr>
        <p:sp>
          <p:nvSpPr>
            <p:cNvPr id="5" name="4 Elipse"/>
            <p:cNvSpPr/>
            <p:nvPr/>
          </p:nvSpPr>
          <p:spPr bwMode="auto">
            <a:xfrm>
              <a:off x="272381" y="1445840"/>
              <a:ext cx="946270" cy="1035986"/>
            </a:xfrm>
            <a:prstGeom prst="ellipse">
              <a:avLst/>
            </a:prstGeom>
            <a:solidFill>
              <a:srgbClr val="FFD85B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5726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s-E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pic>
          <p:nvPicPr>
            <p:cNvPr id="1026" name="Picture 2" descr="C:\Users\Raúl\Desktop\bugs\bug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0402" y="1477116"/>
              <a:ext cx="821242" cy="8771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4719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6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.25 E" pathEditMode="relative" ptsTypes="">
                                      <p:cBhvr>
                                        <p:cTn id="72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823 -4.81481E-6 L -0.26979 -0.05023 C -0.24896 -0.06111 -0.21823 -0.06712 -0.18593 -0.06712 C -0.14913 -0.06712 -0.11962 -0.06111 -0.09896 -0.05023 L -2.5E-6 -4.81481E-6 " pathEditMode="relative" rAng="0" ptsTypes="FffFF">
                                      <p:cBhvr>
                                        <p:cTn id="78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403" y="-33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823 -4.81481E-6 L -0.36823 0.25 " pathEditMode="relative" rAng="0" ptsTypes="AA">
                                      <p:cBhvr>
                                        <p:cTn id="10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823 -4.81481E-6 L -0.36823 0.25 " pathEditMode="relative" rAng="0" ptsTypes="AA">
                                      <p:cBhvr>
                                        <p:cTn id="107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7934 -4.81481E-6 L -0.67951 -0.04004 C -0.65555 -0.04907 -0.61979 -0.05393 -0.58264 -0.05393 C -0.5401 -0.05393 -0.50625 -0.04907 -0.48229 -0.04004 L -0.36823 -4.81481E-6 " pathEditMode="relative" rAng="0" ptsTypes="FffFF">
                                      <p:cBhvr>
                                        <p:cTn id="120" dur="20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50" y="-27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9" grpId="0"/>
      <p:bldP spid="47" grpId="0"/>
      <p:bldP spid="48" grpId="0"/>
      <p:bldP spid="33" grpId="0" build="p"/>
      <p:bldP spid="34" grpId="0" build="p"/>
      <p:bldP spid="34" grpId="1" build="allAtOnce"/>
      <p:bldP spid="36" grpId="0" build="p"/>
      <p:bldP spid="36" grpId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Excepciones más comunes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6295" t="27600" r="41731" b="15000"/>
          <a:stretch/>
        </p:blipFill>
        <p:spPr>
          <a:xfrm>
            <a:off x="1691680" y="1556792"/>
            <a:ext cx="5760640" cy="357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23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Excepciones propias (Ejemplo)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 l="33950" t="42125" r="36164" b="28344"/>
          <a:stretch>
            <a:fillRect/>
          </a:stretch>
        </p:blipFill>
        <p:spPr bwMode="auto">
          <a:xfrm>
            <a:off x="1907704" y="3933056"/>
            <a:ext cx="3888432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10 CuadroTexto"/>
          <p:cNvSpPr txBox="1"/>
          <p:nvPr/>
        </p:nvSpPr>
        <p:spPr>
          <a:xfrm>
            <a:off x="7127776" y="1916832"/>
            <a:ext cx="20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Lanzamos una excepción si se da la condición</a:t>
            </a:r>
          </a:p>
        </p:txBody>
      </p:sp>
      <p:cxnSp>
        <p:nvCxnSpPr>
          <p:cNvPr id="12" name="11 Conector recto de flecha"/>
          <p:cNvCxnSpPr/>
          <p:nvPr/>
        </p:nvCxnSpPr>
        <p:spPr bwMode="auto">
          <a:xfrm flipH="1">
            <a:off x="4067944" y="4725144"/>
            <a:ext cx="3024336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4" name="13 CuadroTexto"/>
          <p:cNvSpPr txBox="1"/>
          <p:nvPr/>
        </p:nvSpPr>
        <p:spPr>
          <a:xfrm>
            <a:off x="7127776" y="4149080"/>
            <a:ext cx="20162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/>
              <a:t>Capturamos la excepción relanzada en el método </a:t>
            </a:r>
            <a:r>
              <a:rPr lang="es-ES" sz="1600" dirty="0" err="1"/>
              <a:t>setEdad</a:t>
            </a:r>
            <a:r>
              <a:rPr lang="es-ES" sz="1600" dirty="0"/>
              <a:t> de la clase Persona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l="67697" t="9812" r="9107" b="52439"/>
          <a:stretch/>
        </p:blipFill>
        <p:spPr>
          <a:xfrm>
            <a:off x="1739370" y="1000183"/>
            <a:ext cx="4577204" cy="2448272"/>
          </a:xfrm>
          <a:prstGeom prst="rect">
            <a:avLst/>
          </a:prstGeom>
        </p:spPr>
      </p:pic>
      <p:cxnSp>
        <p:nvCxnSpPr>
          <p:cNvPr id="13" name="9 Conector recto de flecha"/>
          <p:cNvCxnSpPr/>
          <p:nvPr/>
        </p:nvCxnSpPr>
        <p:spPr bwMode="auto">
          <a:xfrm flipH="1">
            <a:off x="3467562" y="2503505"/>
            <a:ext cx="3672408" cy="3600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516998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EJERCICIOS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endParaRPr lang="es-ES_tradnl" dirty="0"/>
          </a:p>
          <a:p>
            <a:pPr algn="ctr">
              <a:buNone/>
            </a:pPr>
            <a:r>
              <a:rPr lang="es-ES_tradnl" dirty="0"/>
              <a:t>EJERCICIOS CONTROL DE EXCEPCIONES</a:t>
            </a:r>
          </a:p>
        </p:txBody>
      </p:sp>
    </p:spTree>
    <p:extLst>
      <p:ext uri="{BB962C8B-B14F-4D97-AF65-F5344CB8AC3E}">
        <p14:creationId xmlns:p14="http://schemas.microsoft.com/office/powerpoint/2010/main" val="1040820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Documentaci</a:t>
            </a:r>
            <a:r>
              <a:rPr lang="es-ES" dirty="0"/>
              <a:t>ón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800" dirty="0"/>
              <a:t>La </a:t>
            </a:r>
            <a:r>
              <a:rPr lang="es-ES_tradnl" sz="2800" dirty="0" err="1"/>
              <a:t>documentaci</a:t>
            </a:r>
            <a:r>
              <a:rPr lang="es-ES" sz="2800" dirty="0"/>
              <a:t>ón debe cubrir:</a:t>
            </a:r>
          </a:p>
          <a:p>
            <a:pPr lvl="1"/>
            <a:r>
              <a:rPr lang="es-ES" sz="2800" dirty="0"/>
              <a:t>Faceta técnica (informáticos)</a:t>
            </a:r>
          </a:p>
          <a:p>
            <a:pPr lvl="1"/>
            <a:r>
              <a:rPr lang="es-ES" sz="2800" dirty="0"/>
              <a:t>Faceta funcional (usuarios)</a:t>
            </a:r>
          </a:p>
          <a:p>
            <a:pPr lvl="1"/>
            <a:endParaRPr lang="es-ES" sz="2400" dirty="0"/>
          </a:p>
          <a:p>
            <a:pPr marL="479425" lvl="1" indent="0">
              <a:buNone/>
            </a:pPr>
            <a:endParaRPr lang="es-ES" sz="2400" dirty="0"/>
          </a:p>
          <a:p>
            <a:r>
              <a:rPr lang="es-ES" sz="2800" dirty="0"/>
              <a:t>La documentación es un proceso que comienza desde el principio del proyecto y es algo que nunca termina.</a:t>
            </a:r>
            <a:endParaRPr lang="es-ES_tradnl" sz="2800" dirty="0"/>
          </a:p>
        </p:txBody>
      </p:sp>
    </p:spTree>
    <p:extLst>
      <p:ext uri="{BB962C8B-B14F-4D97-AF65-F5344CB8AC3E}">
        <p14:creationId xmlns:p14="http://schemas.microsoft.com/office/powerpoint/2010/main" val="1683762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Documentaci</a:t>
            </a:r>
            <a:r>
              <a:rPr lang="es-ES" dirty="0"/>
              <a:t>ón de programas</a:t>
            </a:r>
            <a:endParaRPr lang="es-ES_tradnl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dirty="0"/>
              <a:t>Comentarios</a:t>
            </a:r>
          </a:p>
          <a:p>
            <a:r>
              <a:rPr lang="es-ES_tradnl" b="0" dirty="0"/>
              <a:t>Se </a:t>
            </a:r>
            <a:r>
              <a:rPr lang="es-ES_tradnl" b="0" dirty="0" err="1"/>
              <a:t>estudi</a:t>
            </a:r>
            <a:r>
              <a:rPr lang="es-ES" b="0" dirty="0" err="1"/>
              <a:t>ó</a:t>
            </a:r>
            <a:r>
              <a:rPr lang="es-ES" b="0" dirty="0"/>
              <a:t> en la UD1</a:t>
            </a:r>
          </a:p>
          <a:p>
            <a:endParaRPr lang="es-ES" b="0" dirty="0"/>
          </a:p>
          <a:p>
            <a:r>
              <a:rPr lang="es-ES" dirty="0"/>
              <a:t>De una sola línea: </a:t>
            </a:r>
            <a:r>
              <a:rPr lang="es-ES" b="0" dirty="0"/>
              <a:t>//</a:t>
            </a:r>
          </a:p>
          <a:p>
            <a:endParaRPr lang="es-ES" b="0" dirty="0"/>
          </a:p>
          <a:p>
            <a:r>
              <a:rPr lang="es-ES" dirty="0" err="1"/>
              <a:t>Multilínea</a:t>
            </a:r>
            <a:r>
              <a:rPr lang="es-ES" dirty="0"/>
              <a:t>:</a:t>
            </a:r>
          </a:p>
          <a:p>
            <a:pPr marL="0" indent="0">
              <a:buNone/>
            </a:pPr>
            <a:r>
              <a:rPr lang="es-ES" b="0" dirty="0"/>
              <a:t> </a:t>
            </a:r>
          </a:p>
          <a:p>
            <a:pPr marL="0" indent="0">
              <a:buNone/>
            </a:pPr>
            <a:r>
              <a:rPr lang="es-ES" b="0" dirty="0"/>
              <a:t>/*</a:t>
            </a:r>
          </a:p>
          <a:p>
            <a:pPr marL="0" indent="0">
              <a:buNone/>
            </a:pPr>
            <a:endParaRPr lang="es-ES" b="0" dirty="0"/>
          </a:p>
          <a:p>
            <a:pPr marL="0" indent="0">
              <a:buNone/>
            </a:pPr>
            <a:r>
              <a:rPr lang="es-ES" b="0" dirty="0"/>
              <a:t>*/</a:t>
            </a:r>
            <a:endParaRPr lang="es-ES_tradnl" b="0" dirty="0"/>
          </a:p>
        </p:txBody>
      </p:sp>
    </p:spTree>
    <p:extLst>
      <p:ext uri="{BB962C8B-B14F-4D97-AF65-F5344CB8AC3E}">
        <p14:creationId xmlns:p14="http://schemas.microsoft.com/office/powerpoint/2010/main" val="250237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</a:t>
            </a:r>
            <a:r>
              <a:rPr lang="es-ES" dirty="0" err="1"/>
              <a:t>JavaDoc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000" b="0" dirty="0"/>
              <a:t>Generar documentación de una API a mano es tedioso y propenso a errores</a:t>
            </a:r>
          </a:p>
          <a:p>
            <a:endParaRPr lang="es-ES" sz="2000" b="0" dirty="0"/>
          </a:p>
          <a:p>
            <a:r>
              <a:rPr lang="es-ES" sz="2000" b="0" dirty="0"/>
              <a:t>El paquete de desarrollo Java incluye una herramienta, </a:t>
            </a:r>
            <a:r>
              <a:rPr lang="es-ES" sz="2000" dirty="0" err="1"/>
              <a:t>javadoc</a:t>
            </a:r>
            <a:r>
              <a:rPr lang="es-ES" sz="2000" b="0" dirty="0"/>
              <a:t>, para generar un conjunto de páginas web a partir de los ficheros de código.  </a:t>
            </a:r>
          </a:p>
          <a:p>
            <a:endParaRPr lang="es-ES" sz="2000" b="0" dirty="0"/>
          </a:p>
          <a:p>
            <a:r>
              <a:rPr lang="es-ES" sz="2000" b="0" dirty="0"/>
              <a:t>Contrato entre el programador de la clase/método y el usuario, siendo la forma de referencia más rápida para ver que funcionalidades ofrece una clase, paquete o interfaz.</a:t>
            </a:r>
          </a:p>
          <a:p>
            <a:endParaRPr lang="es-ES" sz="2000" b="0" dirty="0"/>
          </a:p>
          <a:p>
            <a:r>
              <a:rPr lang="es-ES" sz="2000" b="0" dirty="0" err="1"/>
              <a:t>Javadoc</a:t>
            </a:r>
            <a:r>
              <a:rPr lang="es-ES" sz="2000" b="0" dirty="0"/>
              <a:t> realza algunos comentarios, de los que exige una sintaxis especial. Deben comenzar por "/**" y terminar por "*/", incluyendo una descripción y algunas etiquetas especiales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3027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</a:t>
            </a:r>
            <a:r>
              <a:rPr lang="es-ES" dirty="0" err="1"/>
              <a:t>JavaDoc</a:t>
            </a:r>
            <a:endParaRPr lang="es-E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609" r="3750" b="18672"/>
          <a:stretch/>
        </p:blipFill>
        <p:spPr bwMode="auto">
          <a:xfrm>
            <a:off x="827584" y="1412776"/>
            <a:ext cx="7823200" cy="4338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64675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</a:t>
            </a:r>
            <a:r>
              <a:rPr lang="es-ES" dirty="0" err="1"/>
              <a:t>JavaDoc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Hay dos tipos de </a:t>
            </a:r>
            <a:r>
              <a:rPr lang="es-ES" dirty="0" err="1"/>
              <a:t>tags</a:t>
            </a:r>
            <a:r>
              <a:rPr lang="es-ES" dirty="0"/>
              <a:t>:</a:t>
            </a:r>
          </a:p>
          <a:p>
            <a:pPr lvl="1"/>
            <a:r>
              <a:rPr lang="es-ES" dirty="0"/>
              <a:t>Block </a:t>
            </a:r>
            <a:r>
              <a:rPr lang="es-ES" dirty="0" err="1"/>
              <a:t>tags</a:t>
            </a:r>
            <a:r>
              <a:rPr lang="es-ES" dirty="0"/>
              <a:t>: Ubicados después de la descripción principal. @</a:t>
            </a:r>
            <a:r>
              <a:rPr lang="es-ES" dirty="0" err="1"/>
              <a:t>tag</a:t>
            </a:r>
            <a:endParaRPr lang="es-ES" dirty="0"/>
          </a:p>
          <a:p>
            <a:pPr lvl="1"/>
            <a:r>
              <a:rPr lang="es-ES" dirty="0" err="1"/>
              <a:t>Inline</a:t>
            </a:r>
            <a:r>
              <a:rPr lang="es-ES" dirty="0"/>
              <a:t> </a:t>
            </a:r>
            <a:r>
              <a:rPr lang="es-ES" dirty="0" err="1"/>
              <a:t>tags</a:t>
            </a:r>
            <a:r>
              <a:rPr lang="es-ES" dirty="0"/>
              <a:t>: Ubicados en la descripción principal o en las descripciones de los block </a:t>
            </a:r>
            <a:r>
              <a:rPr lang="es-ES" dirty="0" err="1"/>
              <a:t>tags</a:t>
            </a:r>
            <a:r>
              <a:rPr lang="es-ES" dirty="0"/>
              <a:t>. {@</a:t>
            </a:r>
            <a:r>
              <a:rPr lang="es-ES" dirty="0" err="1"/>
              <a:t>tag</a:t>
            </a:r>
            <a:r>
              <a:rPr lang="es-ES" dirty="0"/>
              <a:t>}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01" t="33662" r="20698" b="48369"/>
          <a:stretch/>
        </p:blipFill>
        <p:spPr bwMode="auto">
          <a:xfrm>
            <a:off x="1619672" y="3271520"/>
            <a:ext cx="6239672" cy="174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0289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</a:t>
            </a:r>
            <a:r>
              <a:rPr lang="es-ES" dirty="0" err="1"/>
              <a:t>JavaDoc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Documentación de clases e interfaces.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r>
              <a:rPr lang="es-ES" sz="2000" dirty="0"/>
              <a:t>@</a:t>
            </a:r>
            <a:r>
              <a:rPr lang="es-ES" sz="2000" dirty="0" err="1"/>
              <a:t>see</a:t>
            </a:r>
            <a:r>
              <a:rPr lang="es-ES" sz="2000" dirty="0"/>
              <a:t> </a:t>
            </a:r>
            <a:r>
              <a:rPr lang="es-ES" sz="2000" dirty="0" err="1"/>
              <a:t>reference</a:t>
            </a:r>
            <a:r>
              <a:rPr lang="es-ES" sz="2000" dirty="0"/>
              <a:t>: </a:t>
            </a:r>
            <a:r>
              <a:rPr lang="es-ES" sz="2000" b="0" dirty="0"/>
              <a:t>Añade enlaces de referencia a otras partes de la documentación.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0" t="38203" r="33500" b="49141"/>
          <a:stretch/>
        </p:blipFill>
        <p:spPr bwMode="auto">
          <a:xfrm>
            <a:off x="1907704" y="1772816"/>
            <a:ext cx="5379676" cy="1424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00" t="61172" r="16592" b="21016"/>
          <a:stretch/>
        </p:blipFill>
        <p:spPr bwMode="auto">
          <a:xfrm>
            <a:off x="2195735" y="4509120"/>
            <a:ext cx="5513861" cy="159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2776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50" t="39141" r="13375" b="39922"/>
          <a:stretch/>
        </p:blipFill>
        <p:spPr bwMode="auto">
          <a:xfrm>
            <a:off x="1187624" y="2204864"/>
            <a:ext cx="6966505" cy="20162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Documentación </a:t>
            </a:r>
            <a:r>
              <a:rPr lang="es-ES" dirty="0" err="1"/>
              <a:t>JavaDoc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  <a:p>
            <a:r>
              <a:rPr lang="es-ES" dirty="0"/>
              <a:t>Documentación de constructores y métodos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5" t="63516" r="17375" b="19922"/>
          <a:stretch/>
        </p:blipFill>
        <p:spPr bwMode="auto">
          <a:xfrm>
            <a:off x="1691680" y="4802603"/>
            <a:ext cx="5509390" cy="1497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6759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en Eclipse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b="0" dirty="0"/>
              <a:t>Tenemos que instalar el </a:t>
            </a:r>
            <a:r>
              <a:rPr lang="es-ES_tradnl" b="0" dirty="0" err="1"/>
              <a:t>plugin</a:t>
            </a:r>
            <a:r>
              <a:rPr lang="es-ES_tradnl" b="0" dirty="0"/>
              <a:t> </a:t>
            </a:r>
            <a:r>
              <a:rPr lang="es-ES_tradnl" dirty="0" err="1"/>
              <a:t>JAutoDoc</a:t>
            </a:r>
            <a:endParaRPr lang="es-ES_tradnl" dirty="0"/>
          </a:p>
          <a:p>
            <a:r>
              <a:rPr lang="es-ES_tradnl" b="0" dirty="0"/>
              <a:t>Vemos el proceso de instalar </a:t>
            </a:r>
            <a:r>
              <a:rPr lang="es-ES_tradnl" b="0" dirty="0" err="1"/>
              <a:t>plugins</a:t>
            </a:r>
            <a:r>
              <a:rPr lang="es-ES_tradnl" b="0" dirty="0"/>
              <a:t> en Eclipse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2708920"/>
            <a:ext cx="5544616" cy="269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8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en Eclipse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9004" y="1556792"/>
            <a:ext cx="5340829" cy="409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23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en Eclipse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7609" y="1772816"/>
            <a:ext cx="6023620" cy="3276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86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en Eclipse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1340768"/>
            <a:ext cx="3713836" cy="435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1829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 en Eclipse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1680" y="1844824"/>
            <a:ext cx="5961373" cy="336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70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Ejemplo en Eclipse</a:t>
            </a:r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29981"/>
            <a:ext cx="8229600" cy="4340962"/>
          </a:xfrm>
        </p:spPr>
      </p:pic>
    </p:spTree>
    <p:extLst>
      <p:ext uri="{BB962C8B-B14F-4D97-AF65-F5344CB8AC3E}">
        <p14:creationId xmlns:p14="http://schemas.microsoft.com/office/powerpoint/2010/main" val="18224039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Documentos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_tradnl" sz="2000" b="0" dirty="0"/>
              <a:t>Cualquier </a:t>
            </a:r>
            <a:r>
              <a:rPr lang="es-ES_tradnl" sz="2000" b="0" dirty="0" err="1"/>
              <a:t>aplicaci</a:t>
            </a:r>
            <a:r>
              <a:rPr lang="es-ES" sz="2000" b="0" dirty="0"/>
              <a:t>ón, como mínimo, debe generar los siguientes documentos:</a:t>
            </a:r>
          </a:p>
          <a:p>
            <a:endParaRPr lang="es-ES" sz="2000" b="0" dirty="0"/>
          </a:p>
          <a:p>
            <a:r>
              <a:rPr lang="es-ES" sz="2000" dirty="0"/>
              <a:t>Manual de usuario: </a:t>
            </a:r>
            <a:r>
              <a:rPr lang="es-ES" sz="2000" b="0" dirty="0"/>
              <a:t>Manual que utilizará el usuario para desenvolverse con la aplicación. Deberá ser </a:t>
            </a:r>
            <a:r>
              <a:rPr lang="es-ES" sz="2000" b="0" dirty="0" err="1"/>
              <a:t>autoexplicativo</a:t>
            </a:r>
            <a:r>
              <a:rPr lang="es-ES" sz="2000" b="0" dirty="0"/>
              <a:t> y de ayuda para el usuario. Debe servirle al usuario para aprender como se maneja la aplicación</a:t>
            </a:r>
          </a:p>
          <a:p>
            <a:endParaRPr lang="es-ES" sz="2000" b="0" dirty="0"/>
          </a:p>
          <a:p>
            <a:r>
              <a:rPr lang="es-ES" sz="2000" dirty="0"/>
              <a:t>Manual técnico: </a:t>
            </a:r>
            <a:r>
              <a:rPr lang="es-ES" sz="2000" b="0" dirty="0"/>
              <a:t>Cualquier técnico que conozca el lenguaje con el que la aplicación ha sido creada debería de poder conocerla casi tan bien como el personal que la creó.</a:t>
            </a:r>
          </a:p>
          <a:p>
            <a:endParaRPr lang="es-ES" sz="2000" b="0" dirty="0"/>
          </a:p>
          <a:p>
            <a:r>
              <a:rPr lang="es-ES" sz="2000" dirty="0"/>
              <a:t>Manual de instalación: </a:t>
            </a:r>
            <a:r>
              <a:rPr lang="es-ES" sz="2000" b="0" dirty="0"/>
              <a:t>En este manual se explican paso a paso los requisitos y como se instala y pone en funcionamiento la aplicación.</a:t>
            </a:r>
            <a:endParaRPr lang="es-ES_tradnl" sz="2000" b="0" dirty="0"/>
          </a:p>
        </p:txBody>
      </p:sp>
    </p:spTree>
    <p:extLst>
      <p:ext uri="{BB962C8B-B14F-4D97-AF65-F5344CB8AC3E}">
        <p14:creationId xmlns:p14="http://schemas.microsoft.com/office/powerpoint/2010/main" val="176225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Pruebas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b="0" smtClean="0"/>
          </a:p>
          <a:p>
            <a:r>
              <a:rPr lang="es-ES" b="0" smtClean="0"/>
              <a:t>Esta </a:t>
            </a:r>
            <a:r>
              <a:rPr lang="es-ES" b="0" smtClean="0"/>
              <a:t>parte la veréis en la asignatura de “Entornos de Desarrollo”</a:t>
            </a:r>
          </a:p>
          <a:p>
            <a:endParaRPr lang="es-ES" b="0"/>
          </a:p>
          <a:p>
            <a:r>
              <a:rPr lang="es-ES" b="0" smtClean="0"/>
              <a:t>Para Eclipse, existe un plugin llamado “Junit”, que nos va a facilitar el desarrollo de las pruebas unitarias en nuestros proyectos</a:t>
            </a:r>
            <a:endParaRPr lang="es-ES" b="0"/>
          </a:p>
        </p:txBody>
      </p:sp>
      <p:sp>
        <p:nvSpPr>
          <p:cNvPr id="5" name="AutoShape 2" descr="JUnit · GitHub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771" y="4365104"/>
            <a:ext cx="3018458" cy="919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13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Depuración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sz="1600" b="0"/>
          </a:p>
          <a:p>
            <a:r>
              <a:rPr lang="es-ES" sz="1600" b="0" smtClean="0"/>
              <a:t>La </a:t>
            </a:r>
            <a:r>
              <a:rPr lang="es-ES" sz="1600" b="0"/>
              <a:t>depuración es una herramienta poderosa para identificar y corregir errores en tu código, por lo que es importante aprender a utilizarla eficazmente para mejorar tus habilidades de programación.</a:t>
            </a:r>
          </a:p>
          <a:p>
            <a:pPr marL="0" indent="0">
              <a:buNone/>
            </a:pPr>
            <a:endParaRPr lang="es-ES" sz="1600" b="0" smtClean="0"/>
          </a:p>
          <a:p>
            <a:r>
              <a:rPr lang="es-ES" sz="1600" smtClean="0"/>
              <a:t>Inicia </a:t>
            </a:r>
            <a:r>
              <a:rPr lang="es-ES" sz="1600"/>
              <a:t>Eclipse </a:t>
            </a:r>
            <a:r>
              <a:rPr lang="es-ES" sz="1600" b="0"/>
              <a:t>y asegúrate de </a:t>
            </a:r>
            <a:r>
              <a:rPr lang="es-ES" sz="1600" b="0" smtClean="0"/>
              <a:t>tener abierto tu proyecto.</a:t>
            </a:r>
            <a:endParaRPr lang="es-ES" sz="1600" b="0"/>
          </a:p>
          <a:p>
            <a:endParaRPr lang="es-ES" sz="1600" b="0"/>
          </a:p>
          <a:p>
            <a:r>
              <a:rPr lang="es-ES" sz="1600"/>
              <a:t>Selecciona la perspectiva de </a:t>
            </a:r>
            <a:r>
              <a:rPr lang="es-ES" sz="1600" smtClean="0"/>
              <a:t>depuración</a:t>
            </a:r>
            <a:r>
              <a:rPr lang="es-ES" sz="1600" b="0" smtClean="0"/>
              <a:t>. </a:t>
            </a:r>
            <a:r>
              <a:rPr lang="es-ES" sz="1600" b="0"/>
              <a:t>Puedes hacerlo yendo a "Window" (Ventana) &gt; "Perspective" (Perspectiva) &gt; "Open Perspective" (Abrir perspectiva) &gt; "Debug" (Depuración).</a:t>
            </a:r>
          </a:p>
          <a:p>
            <a:endParaRPr lang="es-ES" sz="1600" b="0"/>
          </a:p>
          <a:p>
            <a:r>
              <a:rPr lang="es-ES" sz="1600"/>
              <a:t>Establece puntos de interrupción: </a:t>
            </a:r>
            <a:r>
              <a:rPr lang="es-ES" sz="1600" b="0"/>
              <a:t>En tu código fuente, haz clic en la línea donde deseas iniciar la depuración y crea un punto de interrupción. Puedes hacer esto haciendo clic en el margen izquierdo de la línea de código o utilizando la combinación de teclas Ctrl+Shift+B</a:t>
            </a:r>
            <a:r>
              <a:rPr lang="es-ES" sz="1600" b="0" smtClean="0"/>
              <a:t>.</a:t>
            </a:r>
          </a:p>
          <a:p>
            <a:endParaRPr lang="es-ES" sz="1600" b="0"/>
          </a:p>
          <a:p>
            <a:r>
              <a:rPr lang="es-ES" sz="1600"/>
              <a:t>Inicia la depuración: </a:t>
            </a:r>
            <a:r>
              <a:rPr lang="es-ES" sz="1600" b="0"/>
              <a:t>Selecciona la clase principal o el archivo que deseas depurar y haz clic con el botón derecho. Luego, selecciona "Debug As" (Depurar como) y elige la configuración adecuada. </a:t>
            </a:r>
          </a:p>
          <a:p>
            <a:pPr marL="0" indent="0">
              <a:buNone/>
            </a:pPr>
            <a:endParaRPr lang="es-ES" sz="1800" b="0"/>
          </a:p>
        </p:txBody>
      </p:sp>
    </p:spTree>
    <p:extLst>
      <p:ext uri="{BB962C8B-B14F-4D97-AF65-F5344CB8AC3E}">
        <p14:creationId xmlns:p14="http://schemas.microsoft.com/office/powerpoint/2010/main" val="3385910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Depuración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ES" sz="1800" b="0"/>
          </a:p>
          <a:p>
            <a:r>
              <a:rPr lang="es-ES" sz="1600"/>
              <a:t>Controla la depuración: </a:t>
            </a:r>
            <a:r>
              <a:rPr lang="es-ES" sz="1600" b="0" smtClean="0"/>
              <a:t>Utiliza </a:t>
            </a:r>
            <a:r>
              <a:rPr lang="es-ES" sz="1600" b="0"/>
              <a:t>los controles de depuración, como "Step Into" (Pasar al interior), "Step Over" (Pasar por encima), "Resume" (Continuar) y "Terminate" (Terminar), para avanzar y controlar la ejecución del programa. También puedes observar el valor de las variables y evaluar expresiones en la vista "Variables" o "Expressions".</a:t>
            </a:r>
          </a:p>
          <a:p>
            <a:endParaRPr lang="es-ES" sz="1600" b="0"/>
          </a:p>
          <a:p>
            <a:r>
              <a:rPr lang="es-ES" sz="1600"/>
              <a:t>Explora las vistas de depuración:</a:t>
            </a:r>
            <a:r>
              <a:rPr lang="es-ES" sz="1600" b="0"/>
              <a:t> Eclipse proporciona varias vistas que son útiles durante la depuración, como "Variables" para inspeccionar variables, "Breakpoints" (Puntos de interrupción) para gestionar tus puntos de interrupción y "Console" (Consola) para ver la salida de la aplicación.</a:t>
            </a:r>
          </a:p>
          <a:p>
            <a:endParaRPr lang="es-ES" sz="1600" b="0"/>
          </a:p>
          <a:p>
            <a:r>
              <a:rPr lang="es-ES" sz="1600"/>
              <a:t>Resuelve problemas: </a:t>
            </a:r>
            <a:r>
              <a:rPr lang="es-ES" sz="1600" b="0"/>
              <a:t>Mientras avanzas a través del código paso a paso, podrás identificar y resolver problemas. Si encuentras un error, realiza los cambios necesarios en tu código y vuelve a depurar según sea necesario.</a:t>
            </a:r>
          </a:p>
          <a:p>
            <a:endParaRPr lang="es-ES" sz="1600" b="0"/>
          </a:p>
          <a:p>
            <a:r>
              <a:rPr lang="es-ES" sz="1600"/>
              <a:t>Finaliza la depuración: </a:t>
            </a:r>
            <a:r>
              <a:rPr lang="es-ES" sz="1600" b="0"/>
              <a:t>Cuando hayas corregido todos los problemas y estés listo para ejecutar el programa sin depuración, simplemente finaliza la depuración haciendo clic en el botón "Terminate</a:t>
            </a:r>
            <a:r>
              <a:rPr lang="es-ES" sz="1600" b="0" smtClean="0"/>
              <a:t>"</a:t>
            </a:r>
            <a:endParaRPr lang="es-ES" sz="1800" b="0"/>
          </a:p>
        </p:txBody>
      </p:sp>
    </p:spTree>
    <p:extLst>
      <p:ext uri="{BB962C8B-B14F-4D97-AF65-F5344CB8AC3E}">
        <p14:creationId xmlns:p14="http://schemas.microsoft.com/office/powerpoint/2010/main" val="31973721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Depuración</a:t>
            </a:r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820" y="2276872"/>
            <a:ext cx="6718093" cy="3304576"/>
          </a:xfrm>
          <a:prstGeom prst="rect">
            <a:avLst/>
          </a:prstGeom>
        </p:spPr>
      </p:pic>
      <p:sp>
        <p:nvSpPr>
          <p:cNvPr id="7" name="Elipse 6"/>
          <p:cNvSpPr/>
          <p:nvPr/>
        </p:nvSpPr>
        <p:spPr bwMode="auto">
          <a:xfrm>
            <a:off x="3779912" y="1123169"/>
            <a:ext cx="675531" cy="6480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9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 1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597107" y="1142963"/>
            <a:ext cx="25202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Abrir perspectiva de depuración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460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Depuración</a:t>
            </a:r>
            <a:endParaRPr lang="es-ES"/>
          </a:p>
        </p:txBody>
      </p:sp>
      <p:sp>
        <p:nvSpPr>
          <p:cNvPr id="7" name="Elipse 6"/>
          <p:cNvSpPr/>
          <p:nvPr/>
        </p:nvSpPr>
        <p:spPr bwMode="auto">
          <a:xfrm>
            <a:off x="3779912" y="1123169"/>
            <a:ext cx="675531" cy="6480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9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 2</a:t>
            </a:r>
          </a:p>
        </p:txBody>
      </p:sp>
      <p:cxnSp>
        <p:nvCxnSpPr>
          <p:cNvPr id="5" name="Conector recto de flecha 4"/>
          <p:cNvCxnSpPr/>
          <p:nvPr/>
        </p:nvCxnSpPr>
        <p:spPr bwMode="auto">
          <a:xfrm flipV="1">
            <a:off x="453051" y="4884273"/>
            <a:ext cx="500683" cy="25995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CuadroTexto 7"/>
          <p:cNvSpPr txBox="1"/>
          <p:nvPr/>
        </p:nvSpPr>
        <p:spPr>
          <a:xfrm>
            <a:off x="4572000" y="1123169"/>
            <a:ext cx="252028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Insertar punto de interrupción</a:t>
            </a:r>
            <a:endParaRPr lang="es-ES"/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77" y="1948274"/>
            <a:ext cx="6873836" cy="3048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79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Depuración</a:t>
            </a:r>
            <a:endParaRPr lang="es-ES"/>
          </a:p>
        </p:txBody>
      </p:sp>
      <p:sp>
        <p:nvSpPr>
          <p:cNvPr id="7" name="Elipse 6"/>
          <p:cNvSpPr/>
          <p:nvPr/>
        </p:nvSpPr>
        <p:spPr bwMode="auto">
          <a:xfrm>
            <a:off x="3779912" y="1123169"/>
            <a:ext cx="675531" cy="6480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9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 3</a:t>
            </a:r>
          </a:p>
        </p:txBody>
      </p:sp>
      <p:cxnSp>
        <p:nvCxnSpPr>
          <p:cNvPr id="5" name="Conector recto de flecha 4"/>
          <p:cNvCxnSpPr/>
          <p:nvPr/>
        </p:nvCxnSpPr>
        <p:spPr bwMode="auto">
          <a:xfrm flipV="1">
            <a:off x="2267744" y="5281394"/>
            <a:ext cx="500683" cy="259951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CuadroTexto 7"/>
          <p:cNvSpPr txBox="1"/>
          <p:nvPr/>
        </p:nvSpPr>
        <p:spPr>
          <a:xfrm>
            <a:off x="4644008" y="1150816"/>
            <a:ext cx="2520280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Iniciar depuración</a:t>
            </a:r>
            <a:endParaRPr lang="es-E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132856"/>
            <a:ext cx="5421936" cy="368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43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Depuración</a:t>
            </a:r>
            <a:endParaRPr lang="es-ES"/>
          </a:p>
        </p:txBody>
      </p:sp>
      <p:sp>
        <p:nvSpPr>
          <p:cNvPr id="7" name="Elipse 6"/>
          <p:cNvSpPr/>
          <p:nvPr/>
        </p:nvSpPr>
        <p:spPr bwMode="auto">
          <a:xfrm>
            <a:off x="3779912" y="1123169"/>
            <a:ext cx="675531" cy="6480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9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 4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644008" y="1150816"/>
            <a:ext cx="2952328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Controla la depuración</a:t>
            </a:r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69" y="2636912"/>
            <a:ext cx="7603478" cy="218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3653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Depuración</a:t>
            </a:r>
            <a:endParaRPr lang="es-ES"/>
          </a:p>
        </p:txBody>
      </p:sp>
      <p:sp>
        <p:nvSpPr>
          <p:cNvPr id="7" name="Elipse 6"/>
          <p:cNvSpPr/>
          <p:nvPr/>
        </p:nvSpPr>
        <p:spPr bwMode="auto">
          <a:xfrm>
            <a:off x="3779912" y="1123169"/>
            <a:ext cx="675531" cy="64807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5726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sz="1900" b="1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Arial" charset="0"/>
              </a:rPr>
              <a:t> 5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644008" y="1150816"/>
            <a:ext cx="2952328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mtClean="0"/>
              <a:t>Vamos revisando posibles errores línea a línea, observando valor de variables</a:t>
            </a:r>
            <a:endParaRPr lang="es-ES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043" y="2708920"/>
            <a:ext cx="7393929" cy="2575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384202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c019l">
  <a:themeElements>
    <a:clrScheme name="sample 3">
      <a:dk1>
        <a:srgbClr val="000066"/>
      </a:dk1>
      <a:lt1>
        <a:srgbClr val="FFFFFF"/>
      </a:lt1>
      <a:dk2>
        <a:srgbClr val="58A252"/>
      </a:dk2>
      <a:lt2>
        <a:srgbClr val="B2B2B2"/>
      </a:lt2>
      <a:accent1>
        <a:srgbClr val="0066FF"/>
      </a:accent1>
      <a:accent2>
        <a:srgbClr val="2C95A0"/>
      </a:accent2>
      <a:accent3>
        <a:srgbClr val="FFFFFF"/>
      </a:accent3>
      <a:accent4>
        <a:srgbClr val="000056"/>
      </a:accent4>
      <a:accent5>
        <a:srgbClr val="AAB8FF"/>
      </a:accent5>
      <a:accent6>
        <a:srgbClr val="278791"/>
      </a:accent6>
      <a:hlink>
        <a:srgbClr val="35BBE5"/>
      </a:hlink>
      <a:folHlink>
        <a:srgbClr val="872ECA"/>
      </a:folHlink>
    </a:clrScheme>
    <a:fontScheme name="sample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57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ample 1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33CCCC"/>
        </a:accent1>
        <a:accent2>
          <a:srgbClr val="0099CC"/>
        </a:accent2>
        <a:accent3>
          <a:srgbClr val="FFFFFF"/>
        </a:accent3>
        <a:accent4>
          <a:srgbClr val="000056"/>
        </a:accent4>
        <a:accent5>
          <a:srgbClr val="ADE2E2"/>
        </a:accent5>
        <a:accent6>
          <a:srgbClr val="008AB9"/>
        </a:accent6>
        <a:hlink>
          <a:srgbClr val="6A9EB0"/>
        </a:hlink>
        <a:folHlink>
          <a:srgbClr val="6666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000066"/>
        </a:dk1>
        <a:lt1>
          <a:srgbClr val="FFFFFF"/>
        </a:lt1>
        <a:dk2>
          <a:srgbClr val="415CB3"/>
        </a:dk2>
        <a:lt2>
          <a:srgbClr val="B2B2B2"/>
        </a:lt2>
        <a:accent1>
          <a:srgbClr val="55AEEB"/>
        </a:accent1>
        <a:accent2>
          <a:srgbClr val="FF9933"/>
        </a:accent2>
        <a:accent3>
          <a:srgbClr val="FFFFFF"/>
        </a:accent3>
        <a:accent4>
          <a:srgbClr val="000056"/>
        </a:accent4>
        <a:accent5>
          <a:srgbClr val="B4D3F3"/>
        </a:accent5>
        <a:accent6>
          <a:srgbClr val="E78A2D"/>
        </a:accent6>
        <a:hlink>
          <a:srgbClr val="4D7AB5"/>
        </a:hlink>
        <a:folHlink>
          <a:srgbClr val="9964A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0066"/>
        </a:dk1>
        <a:lt1>
          <a:srgbClr val="FFFFFF"/>
        </a:lt1>
        <a:dk2>
          <a:srgbClr val="58A252"/>
        </a:dk2>
        <a:lt2>
          <a:srgbClr val="B2B2B2"/>
        </a:lt2>
        <a:accent1>
          <a:srgbClr val="0066FF"/>
        </a:accent1>
        <a:accent2>
          <a:srgbClr val="2C95A0"/>
        </a:accent2>
        <a:accent3>
          <a:srgbClr val="FFFFFF"/>
        </a:accent3>
        <a:accent4>
          <a:srgbClr val="000056"/>
        </a:accent4>
        <a:accent5>
          <a:srgbClr val="AAB8FF"/>
        </a:accent5>
        <a:accent6>
          <a:srgbClr val="278791"/>
        </a:accent6>
        <a:hlink>
          <a:srgbClr val="35BBE5"/>
        </a:hlink>
        <a:folHlink>
          <a:srgbClr val="872EC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cdb2004c019l</Template>
  <TotalTime>5794</TotalTime>
  <Words>1286</Words>
  <Application>Microsoft Office PowerPoint</Application>
  <PresentationFormat>Presentación en pantalla (4:3)</PresentationFormat>
  <Paragraphs>256</Paragraphs>
  <Slides>32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0" baseType="lpstr">
      <vt:lpstr>Adobe Gothic Std B</vt:lpstr>
      <vt:lpstr>Arial</vt:lpstr>
      <vt:lpstr>Calibri</vt:lpstr>
      <vt:lpstr>NewsGotT-Regu</vt:lpstr>
      <vt:lpstr>Times New Roman</vt:lpstr>
      <vt:lpstr>Verdana</vt:lpstr>
      <vt:lpstr>Wingdings</vt:lpstr>
      <vt:lpstr>cdb2004c019l</vt:lpstr>
      <vt:lpstr>Uso de estructuras de control</vt:lpstr>
      <vt:lpstr>Contenido</vt:lpstr>
      <vt:lpstr>Excepciones</vt:lpstr>
      <vt:lpstr>Tratamiento de excepciones</vt:lpstr>
      <vt:lpstr>Control de Excepciones</vt:lpstr>
      <vt:lpstr>Subtipos de Excepciones</vt:lpstr>
      <vt:lpstr>Relanzar Excepciones</vt:lpstr>
      <vt:lpstr>Excepciones más comunes</vt:lpstr>
      <vt:lpstr>Excepciones propias (Ejemplo)</vt:lpstr>
      <vt:lpstr>EJERCICIOS</vt:lpstr>
      <vt:lpstr>Documentación</vt:lpstr>
      <vt:lpstr>Documentación de programas</vt:lpstr>
      <vt:lpstr>Documentación JavaDoc</vt:lpstr>
      <vt:lpstr>Documentación JavaDoc</vt:lpstr>
      <vt:lpstr>Documentación JavaDoc</vt:lpstr>
      <vt:lpstr>Documentación JavaDoc</vt:lpstr>
      <vt:lpstr>Documentación JavaDoc</vt:lpstr>
      <vt:lpstr>Ejemplo en Eclipse</vt:lpstr>
      <vt:lpstr>Ejemplo en Eclipse</vt:lpstr>
      <vt:lpstr>Ejemplo en Eclipse</vt:lpstr>
      <vt:lpstr>Ejemplo en Eclipse</vt:lpstr>
      <vt:lpstr>Ejemplo en Eclipse</vt:lpstr>
      <vt:lpstr>Ejemplo en Eclipse</vt:lpstr>
      <vt:lpstr>Documentos</vt:lpstr>
      <vt:lpstr>Pruebas</vt:lpstr>
      <vt:lpstr>Depuración</vt:lpstr>
      <vt:lpstr>Depuración</vt:lpstr>
      <vt:lpstr>Depuración</vt:lpstr>
      <vt:lpstr>Depuración</vt:lpstr>
      <vt:lpstr>Depuración</vt:lpstr>
      <vt:lpstr>Depuración</vt:lpstr>
      <vt:lpstr>Depuración</vt:lpstr>
    </vt:vector>
  </TitlesOfParts>
  <Company>RevolucionUnattended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UsuarioAdministrador</dc:creator>
  <cp:lastModifiedBy>Usuario</cp:lastModifiedBy>
  <cp:revision>340</cp:revision>
  <dcterms:created xsi:type="dcterms:W3CDTF">2008-09-25T01:23:28Z</dcterms:created>
  <dcterms:modified xsi:type="dcterms:W3CDTF">2024-10-14T07:18:47Z</dcterms:modified>
</cp:coreProperties>
</file>