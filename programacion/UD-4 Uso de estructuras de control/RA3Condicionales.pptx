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50" r:id="rId3"/>
    <p:sldId id="330" r:id="rId4"/>
    <p:sldId id="402" r:id="rId5"/>
    <p:sldId id="403" r:id="rId6"/>
    <p:sldId id="404" r:id="rId7"/>
    <p:sldId id="406" r:id="rId8"/>
    <p:sldId id="407" r:id="rId9"/>
    <p:sldId id="338" r:id="rId10"/>
    <p:sldId id="337" r:id="rId11"/>
    <p:sldId id="391" r:id="rId12"/>
    <p:sldId id="339" r:id="rId13"/>
    <p:sldId id="343" r:id="rId14"/>
    <p:sldId id="344" r:id="rId15"/>
    <p:sldId id="345" r:id="rId16"/>
    <p:sldId id="341" r:id="rId17"/>
    <p:sldId id="346" r:id="rId18"/>
    <p:sldId id="347" r:id="rId19"/>
    <p:sldId id="349" r:id="rId20"/>
    <p:sldId id="348" r:id="rId21"/>
    <p:sldId id="408" r:id="rId22"/>
    <p:sldId id="409" r:id="rId23"/>
    <p:sldId id="410" r:id="rId24"/>
    <p:sldId id="411" r:id="rId25"/>
    <p:sldId id="392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C1"/>
    <a:srgbClr val="FFDF79"/>
    <a:srgbClr val="000000"/>
    <a:srgbClr val="009900"/>
    <a:srgbClr val="FF6600"/>
    <a:srgbClr val="FF3300"/>
    <a:srgbClr val="C00000"/>
    <a:srgbClr val="99FF66"/>
    <a:srgbClr val="57FF57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3030" autoAdjust="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0469D27-3A80-4AE4-983A-5127F419349B}" type="datetimeFigureOut">
              <a:rPr lang="es-ES_tradnl"/>
              <a:pPr>
                <a:defRPr/>
              </a:pPr>
              <a:t>14/10/2024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B2CE7FE-09D1-49CA-91BF-39EACD17411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6755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_tradnl"/>
          </a:p>
        </p:txBody>
      </p:sp>
      <p:sp>
        <p:nvSpPr>
          <p:cNvPr id="1331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36EE85E-37C0-4958-BA08-E096993B5EBD}" type="slidenum">
              <a:rPr lang="es-ES_tradnl" sz="1200"/>
              <a:pPr eaLnBrk="1" hangingPunct="1"/>
              <a:t>1</a:t>
            </a:fld>
            <a:endParaRPr lang="es-ES_tradnl" sz="1200"/>
          </a:p>
        </p:txBody>
      </p:sp>
    </p:spTree>
    <p:extLst>
      <p:ext uri="{BB962C8B-B14F-4D97-AF65-F5344CB8AC3E}">
        <p14:creationId xmlns:p14="http://schemas.microsoft.com/office/powerpoint/2010/main" val="12533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ChangeArrowheads="1"/>
          </p:cNvSpPr>
          <p:nvPr/>
        </p:nvSpPr>
        <p:spPr bwMode="gray">
          <a:xfrm>
            <a:off x="0" y="2708275"/>
            <a:ext cx="9144000" cy="8747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black">
          <a:xfrm>
            <a:off x="381000" y="271463"/>
            <a:ext cx="10890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82" tIns="47891" rIns="95782" bIns="47891">
            <a:spAutoFit/>
          </a:bodyPr>
          <a:lstStyle/>
          <a:p>
            <a:pPr defTabSz="957263">
              <a:defRPr/>
            </a:pPr>
            <a:r>
              <a:rPr lang="en-US" sz="2100" b="1">
                <a:solidFill>
                  <a:schemeClr val="bg1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-11113" y="-12700"/>
            <a:ext cx="9175751" cy="6870700"/>
            <a:chOff x="-7" y="-8"/>
            <a:chExt cx="5780" cy="4328"/>
          </a:xfrm>
        </p:grpSpPr>
        <p:sp>
          <p:nvSpPr>
            <p:cNvPr id="7" name="AutoShape 36"/>
            <p:cNvSpPr>
              <a:spLocks noChangeArrowheads="1"/>
            </p:cNvSpPr>
            <p:nvPr/>
          </p:nvSpPr>
          <p:spPr bwMode="gray">
            <a:xfrm>
              <a:off x="17" y="16"/>
              <a:ext cx="5729" cy="42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8" name="Freeform 37"/>
            <p:cNvSpPr>
              <a:spLocks/>
            </p:cNvSpPr>
            <p:nvPr/>
          </p:nvSpPr>
          <p:spPr bwMode="gray">
            <a:xfrm>
              <a:off x="-3" y="-8"/>
              <a:ext cx="295" cy="289"/>
            </a:xfrm>
            <a:custGeom>
              <a:avLst/>
              <a:gdLst/>
              <a:ahLst/>
              <a:cxnLst>
                <a:cxn ang="0">
                  <a:pos x="3" y="395"/>
                </a:cxn>
                <a:cxn ang="0">
                  <a:pos x="74" y="216"/>
                </a:cxn>
                <a:cxn ang="0">
                  <a:pos x="231" y="50"/>
                </a:cxn>
                <a:cxn ang="0">
                  <a:pos x="403" y="0"/>
                </a:cxn>
                <a:cxn ang="0">
                  <a:pos x="0" y="0"/>
                </a:cxn>
              </a:cxnLst>
              <a:rect l="0" t="0" r="r" b="b"/>
              <a:pathLst>
                <a:path w="403" h="395">
                  <a:moveTo>
                    <a:pt x="3" y="395"/>
                  </a:moveTo>
                  <a:lnTo>
                    <a:pt x="74" y="216"/>
                  </a:lnTo>
                  <a:lnTo>
                    <a:pt x="231" y="50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9" name="Freeform 38"/>
            <p:cNvSpPr>
              <a:spLocks/>
            </p:cNvSpPr>
            <p:nvPr/>
          </p:nvSpPr>
          <p:spPr bwMode="gray">
            <a:xfrm>
              <a:off x="-7" y="3982"/>
              <a:ext cx="287" cy="338"/>
            </a:xfrm>
            <a:custGeom>
              <a:avLst/>
              <a:gdLst/>
              <a:ahLst/>
              <a:cxnLst>
                <a:cxn ang="0">
                  <a:pos x="391" y="473"/>
                </a:cxn>
                <a:cxn ang="0">
                  <a:pos x="151" y="353"/>
                </a:cxn>
                <a:cxn ang="0">
                  <a:pos x="42" y="201"/>
                </a:cxn>
                <a:cxn ang="0">
                  <a:pos x="0" y="0"/>
                </a:cxn>
                <a:cxn ang="0">
                  <a:pos x="1" y="470"/>
                </a:cxn>
              </a:cxnLst>
              <a:rect l="0" t="0" r="r" b="b"/>
              <a:pathLst>
                <a:path w="391" h="473">
                  <a:moveTo>
                    <a:pt x="391" y="473"/>
                  </a:moveTo>
                  <a:lnTo>
                    <a:pt x="151" y="353"/>
                  </a:lnTo>
                  <a:lnTo>
                    <a:pt x="42" y="201"/>
                  </a:lnTo>
                  <a:lnTo>
                    <a:pt x="0" y="0"/>
                  </a:lnTo>
                  <a:lnTo>
                    <a:pt x="1" y="47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" name="Freeform 39"/>
            <p:cNvSpPr>
              <a:spLocks/>
            </p:cNvSpPr>
            <p:nvPr/>
          </p:nvSpPr>
          <p:spPr bwMode="gray">
            <a:xfrm>
              <a:off x="5499" y="4026"/>
              <a:ext cx="274" cy="287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1" name="Freeform 40"/>
            <p:cNvSpPr>
              <a:spLocks/>
            </p:cNvSpPr>
            <p:nvPr/>
          </p:nvSpPr>
          <p:spPr bwMode="gray">
            <a:xfrm>
              <a:off x="5467" y="0"/>
              <a:ext cx="302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1" y="96"/>
                </a:cxn>
                <a:cxn ang="0">
                  <a:pos x="353" y="231"/>
                </a:cxn>
                <a:cxn ang="0">
                  <a:pos x="403" y="403"/>
                </a:cxn>
                <a:cxn ang="0">
                  <a:pos x="403" y="0"/>
                </a:cxn>
              </a:cxnLst>
              <a:rect l="0" t="0" r="r" b="b"/>
              <a:pathLst>
                <a:path w="403" h="403">
                  <a:moveTo>
                    <a:pt x="0" y="0"/>
                  </a:moveTo>
                  <a:lnTo>
                    <a:pt x="221" y="96"/>
                  </a:lnTo>
                  <a:lnTo>
                    <a:pt x="353" y="231"/>
                  </a:lnTo>
                  <a:lnTo>
                    <a:pt x="403" y="403"/>
                  </a:lnTo>
                  <a:lnTo>
                    <a:pt x="40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0" y="2720975"/>
            <a:ext cx="9144000" cy="817563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2176463"/>
            <a:ext cx="7086600" cy="4365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9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1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C10960-1D47-4F31-A178-4215E754AE7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0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B1BE4-FB56-497F-AC71-04F364CF33B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D86F26-C6EC-496E-AD78-D42D5BE6465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6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ED370-19CA-4C7C-85E3-1587DE8EE63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1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4D8DD-9D00-4312-B4C4-A03ADF0178C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9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37A5B-A9CE-4669-BC99-AE9F32CE8D0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9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770F1-8B0E-485D-8FC1-DD5CDADCB47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ES_tradn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68E41-874E-4862-AAFD-AC18B393D09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1FC98-F929-48AB-9F4D-6385B8877736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975"/>
            <a:ext cx="2057400" cy="62706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3975"/>
            <a:ext cx="6019800" cy="62706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FA751-5FBB-4471-AF6F-9D0A8609C3C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00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5" y="53975"/>
            <a:ext cx="7392988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s-ES" noProof="0"/>
              <a:t>Haga clic en el icono para agregar una tabla</a:t>
            </a:r>
            <a:endParaRPr lang="es-ES_tradnl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F47353-9D15-4571-BF0B-64C1267AE8A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 descr="29641"/>
          <p:cNvSpPr>
            <a:spLocks/>
          </p:cNvSpPr>
          <p:nvPr/>
        </p:nvSpPr>
        <p:spPr bwMode="gray">
          <a:xfrm>
            <a:off x="36513" y="80963"/>
            <a:ext cx="9077325" cy="159543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576" y="560"/>
              </a:cxn>
              <a:cxn ang="0">
                <a:pos x="1403" y="390"/>
              </a:cxn>
              <a:cxn ang="0">
                <a:pos x="2452" y="314"/>
              </a:cxn>
              <a:cxn ang="0">
                <a:pos x="3102" y="326"/>
              </a:cxn>
              <a:cxn ang="0">
                <a:pos x="4043" y="434"/>
              </a:cxn>
              <a:cxn ang="0">
                <a:pos x="4944" y="668"/>
              </a:cxn>
              <a:cxn ang="0">
                <a:pos x="5691" y="971"/>
              </a:cxn>
              <a:cxn ang="0">
                <a:pos x="5718" y="19"/>
              </a:cxn>
              <a:cxn ang="0">
                <a:pos x="9" y="0"/>
              </a:cxn>
            </a:cxnLst>
            <a:rect l="0" t="0" r="r" b="b"/>
            <a:pathLst>
              <a:path w="5718" h="1005">
                <a:moveTo>
                  <a:pt x="0" y="756"/>
                </a:moveTo>
                <a:cubicBezTo>
                  <a:pt x="96" y="724"/>
                  <a:pt x="297" y="635"/>
                  <a:pt x="576" y="560"/>
                </a:cubicBezTo>
                <a:cubicBezTo>
                  <a:pt x="855" y="485"/>
                  <a:pt x="1037" y="442"/>
                  <a:pt x="1403" y="390"/>
                </a:cubicBezTo>
                <a:cubicBezTo>
                  <a:pt x="1769" y="337"/>
                  <a:pt x="2154" y="320"/>
                  <a:pt x="2452" y="314"/>
                </a:cubicBezTo>
                <a:lnTo>
                  <a:pt x="3102" y="326"/>
                </a:lnTo>
                <a:cubicBezTo>
                  <a:pt x="3367" y="346"/>
                  <a:pt x="3736" y="377"/>
                  <a:pt x="4043" y="434"/>
                </a:cubicBezTo>
                <a:cubicBezTo>
                  <a:pt x="4350" y="490"/>
                  <a:pt x="4669" y="578"/>
                  <a:pt x="4944" y="668"/>
                </a:cubicBezTo>
                <a:cubicBezTo>
                  <a:pt x="5219" y="757"/>
                  <a:pt x="5679" y="1005"/>
                  <a:pt x="5691" y="971"/>
                </a:cubicBezTo>
                <a:cubicBezTo>
                  <a:pt x="5695" y="964"/>
                  <a:pt x="5718" y="25"/>
                  <a:pt x="5718" y="19"/>
                </a:cubicBezTo>
                <a:cubicBezTo>
                  <a:pt x="5718" y="7"/>
                  <a:pt x="1198" y="4"/>
                  <a:pt x="9" y="0"/>
                </a:cubicBezTo>
              </a:path>
            </a:pathLst>
          </a:custGeom>
          <a:blipFill dpi="0" rotWithShape="1">
            <a:blip r:embed="rId15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4888" y="6450013"/>
            <a:ext cx="289718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r">
              <a:defRPr sz="1300" b="1">
                <a:latin typeface="Verdana" pitchFamily="34" charset="0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54775"/>
            <a:ext cx="92710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ctr">
              <a:defRPr sz="1300" b="1">
                <a:latin typeface="Verdana" pitchFamily="34" charset="0"/>
              </a:defRPr>
            </a:lvl1pPr>
          </a:lstStyle>
          <a:p>
            <a:fld id="{BD04EC93-4901-40B8-B615-125461DCA23D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42925" y="53975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031" name="Group 16"/>
          <p:cNvGrpSpPr>
            <a:grpSpLocks/>
          </p:cNvGrpSpPr>
          <p:nvPr/>
        </p:nvGrpSpPr>
        <p:grpSpPr bwMode="auto">
          <a:xfrm>
            <a:off x="-1588" y="0"/>
            <a:ext cx="9145588" cy="6858000"/>
            <a:chOff x="-1" y="0"/>
            <a:chExt cx="8065" cy="6048"/>
          </a:xfrm>
        </p:grpSpPr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-1" y="5629"/>
              <a:ext cx="389" cy="417"/>
            </a:xfrm>
            <a:custGeom>
              <a:avLst/>
              <a:gdLst/>
              <a:ahLst/>
              <a:cxnLst>
                <a:cxn ang="0">
                  <a:pos x="314" y="416"/>
                </a:cxn>
                <a:cxn ang="0">
                  <a:pos x="389" y="417"/>
                </a:cxn>
                <a:cxn ang="0">
                  <a:pos x="158" y="297"/>
                </a:cxn>
                <a:cxn ang="0">
                  <a:pos x="39" y="179"/>
                </a:cxn>
                <a:cxn ang="0">
                  <a:pos x="0" y="0"/>
                </a:cxn>
                <a:cxn ang="0">
                  <a:pos x="1" y="417"/>
                </a:cxn>
              </a:cxnLst>
              <a:rect l="0" t="0" r="r" b="b"/>
              <a:pathLst>
                <a:path w="389" h="417">
                  <a:moveTo>
                    <a:pt x="314" y="416"/>
                  </a:moveTo>
                  <a:lnTo>
                    <a:pt x="389" y="417"/>
                  </a:lnTo>
                  <a:lnTo>
                    <a:pt x="158" y="297"/>
                  </a:lnTo>
                  <a:lnTo>
                    <a:pt x="39" y="179"/>
                  </a:lnTo>
                  <a:lnTo>
                    <a:pt x="0" y="0"/>
                  </a:lnTo>
                  <a:lnTo>
                    <a:pt x="1" y="417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7701" y="5645"/>
              <a:ext cx="363" cy="403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gray">
            <a:xfrm>
              <a:off x="26" y="42"/>
              <a:ext cx="8012" cy="59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-1" y="13"/>
              <a:ext cx="405" cy="441"/>
            </a:xfrm>
            <a:custGeom>
              <a:avLst/>
              <a:gdLst/>
              <a:ahLst/>
              <a:cxnLst>
                <a:cxn ang="0">
                  <a:pos x="2" y="441"/>
                </a:cxn>
                <a:cxn ang="0">
                  <a:pos x="107" y="175"/>
                </a:cxn>
                <a:cxn ang="0">
                  <a:pos x="387" y="0"/>
                </a:cxn>
                <a:cxn ang="0">
                  <a:pos x="1" y="0"/>
                </a:cxn>
              </a:cxnLst>
              <a:rect l="0" t="0" r="r" b="b"/>
              <a:pathLst>
                <a:path w="405" h="441">
                  <a:moveTo>
                    <a:pt x="2" y="441"/>
                  </a:moveTo>
                  <a:cubicBezTo>
                    <a:pt x="19" y="397"/>
                    <a:pt x="0" y="345"/>
                    <a:pt x="107" y="175"/>
                  </a:cubicBezTo>
                  <a:cubicBezTo>
                    <a:pt x="214" y="6"/>
                    <a:pt x="405" y="16"/>
                    <a:pt x="387" y="0"/>
                  </a:cubicBezTo>
                  <a:lnTo>
                    <a:pt x="1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7588" y="0"/>
              <a:ext cx="470" cy="48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42" y="150"/>
                </a:cxn>
                <a:cxn ang="0">
                  <a:pos x="470" y="461"/>
                </a:cxn>
                <a:cxn ang="0">
                  <a:pos x="470" y="0"/>
                </a:cxn>
              </a:cxnLst>
              <a:rect l="0" t="0" r="r" b="b"/>
              <a:pathLst>
                <a:path w="470" h="483">
                  <a:moveTo>
                    <a:pt x="0" y="4"/>
                  </a:moveTo>
                  <a:cubicBezTo>
                    <a:pt x="57" y="28"/>
                    <a:pt x="264" y="74"/>
                    <a:pt x="342" y="150"/>
                  </a:cubicBezTo>
                  <a:cubicBezTo>
                    <a:pt x="450" y="275"/>
                    <a:pt x="452" y="483"/>
                    <a:pt x="470" y="461"/>
                  </a:cubicBezTo>
                  <a:lnTo>
                    <a:pt x="47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1046" name="Line 22"/>
          <p:cNvSpPr>
            <a:spLocks noChangeShapeType="1"/>
          </p:cNvSpPr>
          <p:nvPr/>
        </p:nvSpPr>
        <p:spPr bwMode="gray">
          <a:xfrm>
            <a:off x="323850" y="6500813"/>
            <a:ext cx="8569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2pPr>
      <a:lvl3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3pPr>
      <a:lvl4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4pPr>
      <a:lvl5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9pPr>
    </p:titleStyle>
    <p:bodyStyle>
      <a:lvl1pPr marL="358775" indent="-358775" algn="l" defTabSz="957263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>
          <a:solidFill>
            <a:schemeClr val="tx1"/>
          </a:solidFill>
          <a:latin typeface="+mj-lt"/>
        </a:defRPr>
      </a:lvl2pPr>
      <a:lvl3pPr marL="1196975" indent="-239713" algn="l" defTabSz="957263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j-lt"/>
        </a:defRPr>
      </a:lvl3pPr>
      <a:lvl4pPr marL="1676400" indent="-239713" algn="l" defTabSz="957263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j-lt"/>
        </a:defRPr>
      </a:lvl4pPr>
      <a:lvl5pPr marL="2154238" indent="-238125" algn="l" defTabSz="9572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5pPr>
      <a:lvl6pPr marL="26114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6pPr>
      <a:lvl7pPr marL="30686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7pPr>
      <a:lvl8pPr marL="35258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8pPr>
      <a:lvl9pPr marL="39830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 err="1"/>
              <a:t>Uso</a:t>
            </a:r>
            <a:r>
              <a:rPr lang="en-US" sz="3200" dirty="0"/>
              <a:t> de </a:t>
            </a:r>
            <a:r>
              <a:rPr lang="en-US" sz="3200" dirty="0" err="1"/>
              <a:t>estructuras</a:t>
            </a:r>
            <a:r>
              <a:rPr lang="en-US" sz="3200" dirty="0"/>
              <a:t> de control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2122488"/>
            <a:ext cx="7086600" cy="434975"/>
          </a:xfrm>
        </p:spPr>
        <p:txBody>
          <a:bodyPr/>
          <a:lstStyle/>
          <a:p>
            <a:r>
              <a:rPr lang="en-US"/>
              <a:t>UNIDAD </a:t>
            </a:r>
            <a:r>
              <a:rPr lang="en-US" smtClean="0"/>
              <a:t>4</a:t>
            </a:r>
            <a:endParaRPr lang="en-US" dirty="0"/>
          </a:p>
        </p:txBody>
      </p:sp>
      <p:sp>
        <p:nvSpPr>
          <p:cNvPr id="4" name="3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Contenido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sz="1800" dirty="0"/>
              <a:t>R.A. 3: Escribe y depura código, analizando y utilizando las estructuras de control del lenguaje.</a:t>
            </a:r>
          </a:p>
          <a:p>
            <a:endParaRPr lang="es-ES_tradnl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29160"/>
              </p:ext>
            </p:extLst>
          </p:nvPr>
        </p:nvGraphicFramePr>
        <p:xfrm>
          <a:off x="1403648" y="2145982"/>
          <a:ext cx="5536565" cy="3108960"/>
        </p:xfrm>
        <a:graphic>
          <a:graphicData uri="http://schemas.openxmlformats.org/drawingml/2006/table">
            <a:tbl>
              <a:tblPr firstRow="1" firstCol="1" bandRow="1"/>
              <a:tblGrid>
                <a:gridCol w="1847850">
                  <a:extLst>
                    <a:ext uri="{9D8B030D-6E8A-4147-A177-3AD203B41FA5}">
                      <a16:colId xmlns:a16="http://schemas.microsoft.com/office/drawing/2014/main" val="3333886060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286285051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3667175237"/>
                    </a:ext>
                  </a:extLst>
                </a:gridCol>
                <a:gridCol w="1329690">
                  <a:extLst>
                    <a:ext uri="{9D8B030D-6E8A-4147-A177-3AD203B41FA5}">
                      <a16:colId xmlns:a16="http://schemas.microsoft.com/office/drawing/2014/main" val="2000198807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CRITERIOS DE EVALUACIÓN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PROCEDIMIENTOS ESENCIALES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EVALUACIÓN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CONTENIDOS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7028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escrito y probado código que haga uso de estructuras de selección.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utilizado estructuras de repetición.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reconocido las posibilidades de las sentencias de salto.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escrito código utilizando control de excepciones.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creado programas ejecutables utilizando diferentes estructuras de control.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probado y depurado los programas.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comentado y documentado el código.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 3. Desarrollar programas que hagan uso de estructuras de selección, estructuras de repetición, control de excepciones y recursividad.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Prueba Práctica 1 (100%)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Estructuras de selección. Estructuras de repetición. Estructuras de salto. Control de excepciones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Recursividad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Depuración de programas. El depurador como herramienta de control de errores.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Documentación de programas. Documentación interna, comentarios. Documentación externa, diagramas de clases, requisitos, guías, etc.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Aserciones, Pruebas.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901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48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42" y="44624"/>
            <a:ext cx="7392988" cy="563563"/>
          </a:xfrm>
        </p:spPr>
        <p:txBody>
          <a:bodyPr/>
          <a:lstStyle/>
          <a:p>
            <a:r>
              <a:rPr lang="en-US" dirty="0" err="1"/>
              <a:t>Programas</a:t>
            </a:r>
            <a:r>
              <a:rPr lang="en-US" dirty="0"/>
              <a:t> </a:t>
            </a:r>
            <a:r>
              <a:rPr lang="en-US" dirty="0" err="1"/>
              <a:t>Inteligentes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467544" y="1595408"/>
            <a:ext cx="432048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Hasta ahora las instrucciones que hemos escrito se han ido ejecutando una tras otra indiscriminadamente.</a:t>
            </a:r>
          </a:p>
        </p:txBody>
      </p:sp>
      <p:grpSp>
        <p:nvGrpSpPr>
          <p:cNvPr id="15" name="14 Grupo"/>
          <p:cNvGrpSpPr/>
          <p:nvPr/>
        </p:nvGrpSpPr>
        <p:grpSpPr>
          <a:xfrm>
            <a:off x="1478126" y="3402958"/>
            <a:ext cx="1644136" cy="653040"/>
            <a:chOff x="5796134" y="1172340"/>
            <a:chExt cx="1644136" cy="653040"/>
          </a:xfrm>
        </p:grpSpPr>
        <p:cxnSp>
          <p:nvCxnSpPr>
            <p:cNvPr id="10" name="9 Conector recto de flecha"/>
            <p:cNvCxnSpPr/>
            <p:nvPr/>
          </p:nvCxnSpPr>
          <p:spPr bwMode="auto">
            <a:xfrm>
              <a:off x="6618202" y="1526580"/>
              <a:ext cx="0" cy="2988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8" name="7 Grupo"/>
            <p:cNvGrpSpPr/>
            <p:nvPr/>
          </p:nvGrpSpPr>
          <p:grpSpPr>
            <a:xfrm>
              <a:off x="5796134" y="1172340"/>
              <a:ext cx="1644136" cy="384721"/>
              <a:chOff x="5796136" y="1172340"/>
              <a:chExt cx="1512168" cy="384721"/>
            </a:xfrm>
          </p:grpSpPr>
          <p:sp>
            <p:nvSpPr>
              <p:cNvPr id="6" name="5 Rectángulo"/>
              <p:cNvSpPr/>
              <p:nvPr/>
            </p:nvSpPr>
            <p:spPr bwMode="auto">
              <a:xfrm>
                <a:off x="5796136" y="1176242"/>
                <a:ext cx="1512168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" name="6 CuadroTexto"/>
              <p:cNvSpPr txBox="1"/>
              <p:nvPr/>
            </p:nvSpPr>
            <p:spPr>
              <a:xfrm>
                <a:off x="5872064" y="1172340"/>
                <a:ext cx="143187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instrucción 1</a:t>
                </a:r>
              </a:p>
            </p:txBody>
          </p:sp>
        </p:grpSp>
      </p:grpSp>
      <p:grpSp>
        <p:nvGrpSpPr>
          <p:cNvPr id="26" name="25 Grupo"/>
          <p:cNvGrpSpPr/>
          <p:nvPr/>
        </p:nvGrpSpPr>
        <p:grpSpPr>
          <a:xfrm>
            <a:off x="5796136" y="1852556"/>
            <a:ext cx="1644136" cy="653040"/>
            <a:chOff x="5796134" y="1172340"/>
            <a:chExt cx="1644136" cy="653040"/>
          </a:xfrm>
        </p:grpSpPr>
        <p:cxnSp>
          <p:nvCxnSpPr>
            <p:cNvPr id="28" name="27 Conector recto de flecha"/>
            <p:cNvCxnSpPr/>
            <p:nvPr/>
          </p:nvCxnSpPr>
          <p:spPr bwMode="auto">
            <a:xfrm>
              <a:off x="6618202" y="1526580"/>
              <a:ext cx="0" cy="2988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29" name="28 Grupo"/>
            <p:cNvGrpSpPr/>
            <p:nvPr/>
          </p:nvGrpSpPr>
          <p:grpSpPr>
            <a:xfrm>
              <a:off x="5796134" y="1172340"/>
              <a:ext cx="1644136" cy="384721"/>
              <a:chOff x="5796136" y="1172340"/>
              <a:chExt cx="1512168" cy="384721"/>
            </a:xfrm>
          </p:grpSpPr>
          <p:sp>
            <p:nvSpPr>
              <p:cNvPr id="30" name="29 Rectángulo"/>
              <p:cNvSpPr/>
              <p:nvPr/>
            </p:nvSpPr>
            <p:spPr bwMode="auto">
              <a:xfrm>
                <a:off x="5796136" y="1176242"/>
                <a:ext cx="1512168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1" name="30 CuadroTexto"/>
              <p:cNvSpPr txBox="1"/>
              <p:nvPr/>
            </p:nvSpPr>
            <p:spPr>
              <a:xfrm>
                <a:off x="5872064" y="1172340"/>
                <a:ext cx="143187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instrucción 2</a:t>
                </a:r>
              </a:p>
            </p:txBody>
          </p:sp>
        </p:grpSp>
      </p:grpSp>
      <p:grpSp>
        <p:nvGrpSpPr>
          <p:cNvPr id="34" name="33 Grupo"/>
          <p:cNvGrpSpPr/>
          <p:nvPr/>
        </p:nvGrpSpPr>
        <p:grpSpPr>
          <a:xfrm>
            <a:off x="5792876" y="2534536"/>
            <a:ext cx="1644136" cy="384721"/>
            <a:chOff x="5796136" y="1172340"/>
            <a:chExt cx="1512168" cy="384721"/>
          </a:xfrm>
        </p:grpSpPr>
        <p:sp>
          <p:nvSpPr>
            <p:cNvPr id="35" name="34 Rectángulo"/>
            <p:cNvSpPr/>
            <p:nvPr/>
          </p:nvSpPr>
          <p:spPr bwMode="auto">
            <a:xfrm>
              <a:off x="5796136" y="1176242"/>
              <a:ext cx="1512168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6" name="35 CuadroTexto"/>
            <p:cNvSpPr txBox="1"/>
            <p:nvPr/>
          </p:nvSpPr>
          <p:spPr>
            <a:xfrm>
              <a:off x="5872064" y="1172340"/>
              <a:ext cx="1431875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/>
                <a:t>instrucción 3</a:t>
              </a:r>
            </a:p>
          </p:txBody>
        </p:sp>
      </p:grpSp>
      <p:sp>
        <p:nvSpPr>
          <p:cNvPr id="37" name="36 CuadroTexto"/>
          <p:cNvSpPr txBox="1"/>
          <p:nvPr/>
        </p:nvSpPr>
        <p:spPr>
          <a:xfrm>
            <a:off x="4454704" y="3861048"/>
            <a:ext cx="43204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Sin embargo, lo que dota de cierta 'inteligencia‘ a un programa es que sea capaz de decidir si ejecutar unas instrucciones u otras.</a:t>
            </a:r>
          </a:p>
        </p:txBody>
      </p:sp>
      <p:grpSp>
        <p:nvGrpSpPr>
          <p:cNvPr id="39" name="38 Grupo"/>
          <p:cNvGrpSpPr/>
          <p:nvPr/>
        </p:nvGrpSpPr>
        <p:grpSpPr>
          <a:xfrm>
            <a:off x="5796134" y="1172340"/>
            <a:ext cx="1644136" cy="653040"/>
            <a:chOff x="5796134" y="1172340"/>
            <a:chExt cx="1644136" cy="653040"/>
          </a:xfrm>
        </p:grpSpPr>
        <p:cxnSp>
          <p:nvCxnSpPr>
            <p:cNvPr id="41" name="40 Conector recto de flecha"/>
            <p:cNvCxnSpPr/>
            <p:nvPr/>
          </p:nvCxnSpPr>
          <p:spPr bwMode="auto">
            <a:xfrm>
              <a:off x="6618202" y="1526580"/>
              <a:ext cx="0" cy="2988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43" name="42 Grupo"/>
            <p:cNvGrpSpPr/>
            <p:nvPr/>
          </p:nvGrpSpPr>
          <p:grpSpPr>
            <a:xfrm>
              <a:off x="5796134" y="1172340"/>
              <a:ext cx="1644136" cy="384721"/>
              <a:chOff x="5796136" y="1172340"/>
              <a:chExt cx="1512168" cy="384721"/>
            </a:xfrm>
          </p:grpSpPr>
          <p:sp>
            <p:nvSpPr>
              <p:cNvPr id="44" name="43 Rectángulo"/>
              <p:cNvSpPr/>
              <p:nvPr/>
            </p:nvSpPr>
            <p:spPr bwMode="auto">
              <a:xfrm>
                <a:off x="5796136" y="1176242"/>
                <a:ext cx="1512168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5" name="44 CuadroTexto"/>
              <p:cNvSpPr txBox="1"/>
              <p:nvPr/>
            </p:nvSpPr>
            <p:spPr>
              <a:xfrm>
                <a:off x="5872064" y="1172340"/>
                <a:ext cx="143187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instrucción 1</a:t>
                </a:r>
              </a:p>
            </p:txBody>
          </p:sp>
        </p:grpSp>
      </p:grpSp>
      <p:cxnSp>
        <p:nvCxnSpPr>
          <p:cNvPr id="50" name="49 Conector angular"/>
          <p:cNvCxnSpPr/>
          <p:nvPr/>
        </p:nvCxnSpPr>
        <p:spPr bwMode="auto">
          <a:xfrm rot="5400000">
            <a:off x="1111730" y="4457878"/>
            <a:ext cx="648072" cy="491803"/>
          </a:xfrm>
          <a:prstGeom prst="bentConnector3">
            <a:avLst>
              <a:gd name="adj1" fmla="val -951"/>
            </a:avLst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55" name="54 Grupo"/>
          <p:cNvGrpSpPr/>
          <p:nvPr/>
        </p:nvGrpSpPr>
        <p:grpSpPr>
          <a:xfrm>
            <a:off x="367796" y="5053216"/>
            <a:ext cx="1644136" cy="384721"/>
            <a:chOff x="5796136" y="1172340"/>
            <a:chExt cx="1512168" cy="384721"/>
          </a:xfrm>
        </p:grpSpPr>
        <p:sp>
          <p:nvSpPr>
            <p:cNvPr id="56" name="55 Rectángulo"/>
            <p:cNvSpPr/>
            <p:nvPr/>
          </p:nvSpPr>
          <p:spPr bwMode="auto">
            <a:xfrm>
              <a:off x="5796136" y="1176242"/>
              <a:ext cx="1512168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56 CuadroTexto"/>
            <p:cNvSpPr txBox="1"/>
            <p:nvPr/>
          </p:nvSpPr>
          <p:spPr>
            <a:xfrm>
              <a:off x="5872064" y="1172340"/>
              <a:ext cx="1431875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/>
                <a:t>instrucción 2</a:t>
              </a:r>
            </a:p>
          </p:txBody>
        </p:sp>
      </p:grpSp>
      <p:cxnSp>
        <p:nvCxnSpPr>
          <p:cNvPr id="59" name="58 Conector angular"/>
          <p:cNvCxnSpPr/>
          <p:nvPr/>
        </p:nvCxnSpPr>
        <p:spPr bwMode="auto">
          <a:xfrm rot="16200000" flipH="1">
            <a:off x="2841426" y="4457879"/>
            <a:ext cx="648072" cy="491803"/>
          </a:xfrm>
          <a:prstGeom prst="bentConnector3">
            <a:avLst>
              <a:gd name="adj1" fmla="val -951"/>
            </a:avLst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52" name="51 Grupo"/>
          <p:cNvGrpSpPr/>
          <p:nvPr/>
        </p:nvGrpSpPr>
        <p:grpSpPr>
          <a:xfrm>
            <a:off x="1681668" y="4094098"/>
            <a:ext cx="1237053" cy="571291"/>
            <a:chOff x="1681668" y="4094098"/>
            <a:chExt cx="1237053" cy="571291"/>
          </a:xfrm>
        </p:grpSpPr>
        <p:sp>
          <p:nvSpPr>
            <p:cNvPr id="12" name="11 Elipse"/>
            <p:cNvSpPr/>
            <p:nvPr/>
          </p:nvSpPr>
          <p:spPr bwMode="auto">
            <a:xfrm>
              <a:off x="1681668" y="4094098"/>
              <a:ext cx="1237053" cy="571291"/>
            </a:xfrm>
            <a:prstGeom prst="ellipse">
              <a:avLst/>
            </a:prstGeom>
            <a:solidFill>
              <a:schemeClr val="accent5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1764574" y="4187382"/>
              <a:ext cx="1082348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/>
                <a:t>decisión</a:t>
              </a:r>
            </a:p>
          </p:txBody>
        </p:sp>
      </p:grpSp>
      <p:grpSp>
        <p:nvGrpSpPr>
          <p:cNvPr id="60" name="59 Grupo"/>
          <p:cNvGrpSpPr/>
          <p:nvPr/>
        </p:nvGrpSpPr>
        <p:grpSpPr>
          <a:xfrm>
            <a:off x="2593224" y="5051276"/>
            <a:ext cx="1644136" cy="384721"/>
            <a:chOff x="5796136" y="1172340"/>
            <a:chExt cx="1512168" cy="384721"/>
          </a:xfrm>
        </p:grpSpPr>
        <p:sp>
          <p:nvSpPr>
            <p:cNvPr id="61" name="60 Rectángulo"/>
            <p:cNvSpPr/>
            <p:nvPr/>
          </p:nvSpPr>
          <p:spPr bwMode="auto">
            <a:xfrm>
              <a:off x="5796136" y="1176242"/>
              <a:ext cx="1512168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61 CuadroTexto"/>
            <p:cNvSpPr txBox="1"/>
            <p:nvPr/>
          </p:nvSpPr>
          <p:spPr>
            <a:xfrm>
              <a:off x="5872064" y="1172340"/>
              <a:ext cx="1431875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/>
                <a:t>instrucción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369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42" y="44624"/>
            <a:ext cx="7392988" cy="563563"/>
          </a:xfrm>
        </p:spPr>
        <p:txBody>
          <a:bodyPr/>
          <a:lstStyle/>
          <a:p>
            <a:r>
              <a:rPr lang="en-US" dirty="0" err="1" smtClean="0"/>
              <a:t>Operadores</a:t>
            </a:r>
            <a:r>
              <a:rPr lang="en-US" dirty="0" smtClean="0"/>
              <a:t> </a:t>
            </a:r>
            <a:r>
              <a:rPr lang="en-US" dirty="0" err="1" smtClean="0"/>
              <a:t>relacionales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021187"/>
              </p:ext>
            </p:extLst>
          </p:nvPr>
        </p:nvGraphicFramePr>
        <p:xfrm>
          <a:off x="1595436" y="1772816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977133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66762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SÍMBOLOS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DESCRIPCIÓN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59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==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Igual</a:t>
                      </a:r>
                      <a:r>
                        <a:rPr lang="es-ES" baseline="0" dirty="0" smtClean="0"/>
                        <a:t> que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!=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Distinto que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55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&lt;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Menor que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58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&lt;=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Menor o igual que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330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&gt;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Mayor que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063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&gt;=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Mayor o igual que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923381"/>
                  </a:ext>
                </a:extLst>
              </a:tr>
            </a:tbl>
          </a:graphicData>
        </a:graphic>
      </p:graphicFrame>
      <p:sp>
        <p:nvSpPr>
          <p:cNvPr id="3" name="CuadroTexto 2"/>
          <p:cNvSpPr txBox="1"/>
          <p:nvPr/>
        </p:nvSpPr>
        <p:spPr>
          <a:xfrm>
            <a:off x="1691680" y="4941168"/>
            <a:ext cx="5904656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>
                <a:solidFill>
                  <a:srgbClr val="FF0000"/>
                </a:solidFill>
              </a:rPr>
              <a:t>a+b</a:t>
            </a:r>
            <a:r>
              <a:rPr lang="es-ES" dirty="0" smtClean="0">
                <a:solidFill>
                  <a:srgbClr val="FF0000"/>
                </a:solidFill>
              </a:rPr>
              <a:t>&lt;=18</a:t>
            </a:r>
          </a:p>
          <a:p>
            <a:r>
              <a:rPr lang="es-ES" dirty="0">
                <a:solidFill>
                  <a:srgbClr val="FF0000"/>
                </a:solidFill>
              </a:rPr>
              <a:t>	</a:t>
            </a:r>
            <a:r>
              <a:rPr lang="es-ES" dirty="0" smtClean="0">
                <a:solidFill>
                  <a:srgbClr val="FF0000"/>
                </a:solidFill>
              </a:rPr>
              <a:t>a) a=10 y b=2 ¿true o false?</a:t>
            </a:r>
          </a:p>
          <a:p>
            <a:r>
              <a:rPr lang="es-ES" dirty="0">
                <a:solidFill>
                  <a:srgbClr val="FF0000"/>
                </a:solidFill>
              </a:rPr>
              <a:t>	</a:t>
            </a:r>
            <a:r>
              <a:rPr lang="es-ES" dirty="0" smtClean="0">
                <a:solidFill>
                  <a:srgbClr val="FF0000"/>
                </a:solidFill>
              </a:rPr>
              <a:t>b) a=20 y b=1 ¿true o false?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52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42" y="44624"/>
            <a:ext cx="7392988" cy="563563"/>
          </a:xfrm>
        </p:spPr>
        <p:txBody>
          <a:bodyPr/>
          <a:lstStyle/>
          <a:p>
            <a:r>
              <a:rPr lang="en-US" dirty="0" err="1" smtClean="0"/>
              <a:t>Operadores</a:t>
            </a:r>
            <a:r>
              <a:rPr lang="en-US" dirty="0" smtClean="0"/>
              <a:t> </a:t>
            </a:r>
            <a:r>
              <a:rPr lang="en-US" dirty="0" err="1" smtClean="0"/>
              <a:t>lógicos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680208"/>
              </p:ext>
            </p:extLst>
          </p:nvPr>
        </p:nvGraphicFramePr>
        <p:xfrm>
          <a:off x="1595436" y="234888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977133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66762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SÍMBOLOS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DESCRIPCIÓN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59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&amp;&amp;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Operador and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||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Operador </a:t>
                      </a:r>
                      <a:r>
                        <a:rPr lang="es-ES" dirty="0" err="1" smtClean="0"/>
                        <a:t>or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55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!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Operador negación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587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41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42" y="44624"/>
            <a:ext cx="7392988" cy="563563"/>
          </a:xfrm>
        </p:spPr>
        <p:txBody>
          <a:bodyPr/>
          <a:lstStyle/>
          <a:p>
            <a:r>
              <a:rPr lang="en-US" dirty="0" err="1" smtClean="0"/>
              <a:t>Operador</a:t>
            </a:r>
            <a:r>
              <a:rPr lang="en-US" dirty="0" smtClean="0"/>
              <a:t> &amp;&amp;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740208"/>
              </p:ext>
            </p:extLst>
          </p:nvPr>
        </p:nvGraphicFramePr>
        <p:xfrm>
          <a:off x="2684845" y="2132856"/>
          <a:ext cx="391718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332">
                  <a:extLst>
                    <a:ext uri="{9D8B030D-6E8A-4147-A177-3AD203B41FA5}">
                      <a16:colId xmlns:a16="http://schemas.microsoft.com/office/drawing/2014/main" val="497713312"/>
                    </a:ext>
                  </a:extLst>
                </a:gridCol>
                <a:gridCol w="1368868">
                  <a:extLst>
                    <a:ext uri="{9D8B030D-6E8A-4147-A177-3AD203B41FA5}">
                      <a16:colId xmlns:a16="http://schemas.microsoft.com/office/drawing/2014/main" val="1966762132"/>
                    </a:ext>
                  </a:extLst>
                </a:gridCol>
                <a:gridCol w="1659982">
                  <a:extLst>
                    <a:ext uri="{9D8B030D-6E8A-4147-A177-3AD203B41FA5}">
                      <a16:colId xmlns:a16="http://schemas.microsoft.com/office/drawing/2014/main" val="15391076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b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a &amp;&amp; b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59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55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58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613693"/>
                  </a:ext>
                </a:extLst>
              </a:tr>
            </a:tbl>
          </a:graphicData>
        </a:graphic>
      </p:graphicFrame>
      <p:sp>
        <p:nvSpPr>
          <p:cNvPr id="3" name="CuadroTexto 2"/>
          <p:cNvSpPr txBox="1"/>
          <p:nvPr/>
        </p:nvSpPr>
        <p:spPr>
          <a:xfrm>
            <a:off x="3635896" y="4437112"/>
            <a:ext cx="266429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7&gt;3 &amp;&amp; 8&lt;9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true &amp;&amp; true </a:t>
            </a:r>
            <a:r>
              <a:rPr lang="es-ES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true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69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42" y="44624"/>
            <a:ext cx="7392988" cy="563563"/>
          </a:xfrm>
        </p:spPr>
        <p:txBody>
          <a:bodyPr/>
          <a:lstStyle/>
          <a:p>
            <a:r>
              <a:rPr lang="en-US" dirty="0" err="1" smtClean="0"/>
              <a:t>Operador</a:t>
            </a:r>
            <a:r>
              <a:rPr lang="en-US" dirty="0" smtClean="0"/>
              <a:t> ||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905386"/>
              </p:ext>
            </p:extLst>
          </p:nvPr>
        </p:nvGraphicFramePr>
        <p:xfrm>
          <a:off x="2684845" y="2132856"/>
          <a:ext cx="391718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332">
                  <a:extLst>
                    <a:ext uri="{9D8B030D-6E8A-4147-A177-3AD203B41FA5}">
                      <a16:colId xmlns:a16="http://schemas.microsoft.com/office/drawing/2014/main" val="497713312"/>
                    </a:ext>
                  </a:extLst>
                </a:gridCol>
                <a:gridCol w="1368868">
                  <a:extLst>
                    <a:ext uri="{9D8B030D-6E8A-4147-A177-3AD203B41FA5}">
                      <a16:colId xmlns:a16="http://schemas.microsoft.com/office/drawing/2014/main" val="1966762132"/>
                    </a:ext>
                  </a:extLst>
                </a:gridCol>
                <a:gridCol w="1659982">
                  <a:extLst>
                    <a:ext uri="{9D8B030D-6E8A-4147-A177-3AD203B41FA5}">
                      <a16:colId xmlns:a16="http://schemas.microsoft.com/office/drawing/2014/main" val="15391076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b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a || b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59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55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58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613693"/>
                  </a:ext>
                </a:extLst>
              </a:tr>
            </a:tbl>
          </a:graphicData>
        </a:graphic>
      </p:graphicFrame>
      <p:sp>
        <p:nvSpPr>
          <p:cNvPr id="4" name="CuadroTexto 3"/>
          <p:cNvSpPr txBox="1"/>
          <p:nvPr/>
        </p:nvSpPr>
        <p:spPr>
          <a:xfrm>
            <a:off x="3563888" y="4509120"/>
            <a:ext cx="266429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7&gt;3 || 10&lt;9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true || false </a:t>
            </a:r>
            <a:r>
              <a:rPr lang="es-ES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true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72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42" y="44624"/>
            <a:ext cx="7392988" cy="563563"/>
          </a:xfrm>
        </p:spPr>
        <p:txBody>
          <a:bodyPr/>
          <a:lstStyle/>
          <a:p>
            <a:r>
              <a:rPr lang="en-US" dirty="0" err="1" smtClean="0"/>
              <a:t>Operador</a:t>
            </a:r>
            <a:r>
              <a:rPr lang="en-US" dirty="0" smtClean="0"/>
              <a:t> !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66932"/>
              </p:ext>
            </p:extLst>
          </p:nvPr>
        </p:nvGraphicFramePr>
        <p:xfrm>
          <a:off x="3514836" y="2060848"/>
          <a:ext cx="2257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332">
                  <a:extLst>
                    <a:ext uri="{9D8B030D-6E8A-4147-A177-3AD203B41FA5}">
                      <a16:colId xmlns:a16="http://schemas.microsoft.com/office/drawing/2014/main" val="497713312"/>
                    </a:ext>
                  </a:extLst>
                </a:gridCol>
                <a:gridCol w="1368868">
                  <a:extLst>
                    <a:ext uri="{9D8B030D-6E8A-4147-A177-3AD203B41FA5}">
                      <a16:colId xmlns:a16="http://schemas.microsoft.com/office/drawing/2014/main" val="1966762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!a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59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5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cierto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falso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55291"/>
                  </a:ext>
                </a:extLst>
              </a:tr>
            </a:tbl>
          </a:graphicData>
        </a:graphic>
      </p:graphicFrame>
      <p:sp>
        <p:nvSpPr>
          <p:cNvPr id="4" name="CuadroTexto 3"/>
          <p:cNvSpPr txBox="1"/>
          <p:nvPr/>
        </p:nvSpPr>
        <p:spPr>
          <a:xfrm>
            <a:off x="3635896" y="3717032"/>
            <a:ext cx="266429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! 10&gt;12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! false </a:t>
            </a:r>
            <a:r>
              <a:rPr lang="es-ES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true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03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Rectángulo"/>
          <p:cNvSpPr/>
          <p:nvPr/>
        </p:nvSpPr>
        <p:spPr bwMode="auto">
          <a:xfrm>
            <a:off x="755575" y="2265498"/>
            <a:ext cx="3222135" cy="19277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42" y="44624"/>
            <a:ext cx="7392988" cy="563563"/>
          </a:xfrm>
        </p:spPr>
        <p:txBody>
          <a:bodyPr/>
          <a:lstStyle/>
          <a:p>
            <a:r>
              <a:rPr lang="en-US" dirty="0" err="1"/>
              <a:t>Estructuras</a:t>
            </a:r>
            <a:r>
              <a:rPr lang="en-US" dirty="0"/>
              <a:t> de </a:t>
            </a:r>
            <a:r>
              <a:rPr lang="en-US" dirty="0" err="1"/>
              <a:t>Selecci</a:t>
            </a:r>
            <a:r>
              <a:rPr lang="es-ES" dirty="0"/>
              <a:t>ón (</a:t>
            </a:r>
            <a:r>
              <a:rPr lang="en-US" dirty="0"/>
              <a:t>IF)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1043608" y="985422"/>
            <a:ext cx="706456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La instrucción </a:t>
            </a:r>
            <a:r>
              <a:rPr lang="es-ES" sz="2000" b="1" dirty="0" err="1">
                <a:solidFill>
                  <a:srgbClr val="FF3300"/>
                </a:solidFill>
              </a:rPr>
              <a:t>if</a:t>
            </a:r>
            <a:r>
              <a:rPr lang="es-ES" dirty="0"/>
              <a:t> permite ejecutar </a:t>
            </a:r>
            <a:r>
              <a:rPr lang="es-ES" b="1" dirty="0">
                <a:solidFill>
                  <a:srgbClr val="FF6600"/>
                </a:solidFill>
              </a:rPr>
              <a:t>una instrucción </a:t>
            </a:r>
            <a:r>
              <a:rPr lang="es-ES" dirty="0"/>
              <a:t>si una determinada condición es cierta.</a:t>
            </a:r>
          </a:p>
        </p:txBody>
      </p:sp>
      <p:cxnSp>
        <p:nvCxnSpPr>
          <p:cNvPr id="10" name="9 Conector recto de flecha"/>
          <p:cNvCxnSpPr/>
          <p:nvPr/>
        </p:nvCxnSpPr>
        <p:spPr bwMode="auto">
          <a:xfrm>
            <a:off x="5459863" y="2426888"/>
            <a:ext cx="0" cy="298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0" name="39 Conector recto de flecha"/>
          <p:cNvCxnSpPr/>
          <p:nvPr/>
        </p:nvCxnSpPr>
        <p:spPr bwMode="auto">
          <a:xfrm>
            <a:off x="5472563" y="3315039"/>
            <a:ext cx="0" cy="7200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4" name="3 Grupo"/>
          <p:cNvGrpSpPr/>
          <p:nvPr/>
        </p:nvGrpSpPr>
        <p:grpSpPr>
          <a:xfrm>
            <a:off x="6223992" y="2678058"/>
            <a:ext cx="792281" cy="384721"/>
            <a:chOff x="6223992" y="2678058"/>
            <a:chExt cx="792281" cy="384721"/>
          </a:xfrm>
        </p:grpSpPr>
        <p:sp>
          <p:nvSpPr>
            <p:cNvPr id="38" name="37 CuadroTexto"/>
            <p:cNvSpPr txBox="1"/>
            <p:nvPr/>
          </p:nvSpPr>
          <p:spPr>
            <a:xfrm>
              <a:off x="6372200" y="2678058"/>
              <a:ext cx="373820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sí</a:t>
              </a:r>
            </a:p>
          </p:txBody>
        </p:sp>
        <p:cxnSp>
          <p:nvCxnSpPr>
            <p:cNvPr id="42" name="41 Conector recto de flecha"/>
            <p:cNvCxnSpPr/>
            <p:nvPr/>
          </p:nvCxnSpPr>
          <p:spPr bwMode="auto">
            <a:xfrm>
              <a:off x="6223992" y="3050079"/>
              <a:ext cx="792281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47" name="46 Conector angular"/>
          <p:cNvCxnSpPr>
            <a:stCxn id="56" idx="2"/>
          </p:cNvCxnSpPr>
          <p:nvPr/>
        </p:nvCxnSpPr>
        <p:spPr bwMode="auto">
          <a:xfrm rot="5400000">
            <a:off x="6518134" y="2202296"/>
            <a:ext cx="316890" cy="2355620"/>
          </a:xfrm>
          <a:prstGeom prst="bentConnector2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55" name="54 Grupo"/>
          <p:cNvGrpSpPr/>
          <p:nvPr/>
        </p:nvGrpSpPr>
        <p:grpSpPr>
          <a:xfrm>
            <a:off x="7032319" y="2857719"/>
            <a:ext cx="1699505" cy="384721"/>
            <a:chOff x="5796136" y="1172340"/>
            <a:chExt cx="1563093" cy="384721"/>
          </a:xfrm>
        </p:grpSpPr>
        <p:sp>
          <p:nvSpPr>
            <p:cNvPr id="56" name="55 Rectángulo"/>
            <p:cNvSpPr/>
            <p:nvPr/>
          </p:nvSpPr>
          <p:spPr bwMode="auto">
            <a:xfrm>
              <a:off x="5796136" y="1176242"/>
              <a:ext cx="1512168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56 CuadroTexto"/>
            <p:cNvSpPr txBox="1"/>
            <p:nvPr/>
          </p:nvSpPr>
          <p:spPr>
            <a:xfrm>
              <a:off x="5816779" y="1172340"/>
              <a:ext cx="1542450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"señor 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</p:txBody>
        </p:sp>
      </p:grpSp>
      <p:grpSp>
        <p:nvGrpSpPr>
          <p:cNvPr id="52" name="51 Grupo"/>
          <p:cNvGrpSpPr/>
          <p:nvPr/>
        </p:nvGrpSpPr>
        <p:grpSpPr>
          <a:xfrm>
            <a:off x="4721238" y="2763788"/>
            <a:ext cx="1500733" cy="571291"/>
            <a:chOff x="1561569" y="4094098"/>
            <a:chExt cx="1500733" cy="571291"/>
          </a:xfrm>
        </p:grpSpPr>
        <p:sp>
          <p:nvSpPr>
            <p:cNvPr id="12" name="11 Elipse"/>
            <p:cNvSpPr/>
            <p:nvPr/>
          </p:nvSpPr>
          <p:spPr bwMode="auto">
            <a:xfrm>
              <a:off x="1561569" y="4094098"/>
              <a:ext cx="1500733" cy="571291"/>
            </a:xfrm>
            <a:prstGeom prst="ellipse">
              <a:avLst/>
            </a:prstGeom>
            <a:solidFill>
              <a:schemeClr val="accent5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1665990" y="4200082"/>
              <a:ext cx="1279517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edad &gt; 17</a:t>
              </a:r>
            </a:p>
          </p:txBody>
        </p:sp>
      </p:grpSp>
      <p:sp>
        <p:nvSpPr>
          <p:cNvPr id="48" name="47 CuadroTexto"/>
          <p:cNvSpPr txBox="1"/>
          <p:nvPr/>
        </p:nvSpPr>
        <p:spPr>
          <a:xfrm>
            <a:off x="3178493" y="4929634"/>
            <a:ext cx="2428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rgbClr val="00B050"/>
                </a:solidFill>
              </a:rPr>
              <a:t>Hola </a:t>
            </a:r>
            <a:r>
              <a:rPr lang="es-ES" sz="2400" dirty="0">
                <a:solidFill>
                  <a:srgbClr val="FFC000"/>
                </a:solidFill>
              </a:rPr>
              <a:t>señor</a:t>
            </a:r>
            <a:r>
              <a:rPr lang="es-ES" sz="2400" dirty="0">
                <a:solidFill>
                  <a:srgbClr val="00B050"/>
                </a:solidFill>
              </a:rPr>
              <a:t> Juan</a:t>
            </a:r>
            <a:endParaRPr lang="es-ES" sz="2400" dirty="0">
              <a:solidFill>
                <a:srgbClr val="000000"/>
              </a:solidFill>
            </a:endParaRPr>
          </a:p>
        </p:txBody>
      </p:sp>
      <p:grpSp>
        <p:nvGrpSpPr>
          <p:cNvPr id="3" name="2 Grupo"/>
          <p:cNvGrpSpPr/>
          <p:nvPr/>
        </p:nvGrpSpPr>
        <p:grpSpPr>
          <a:xfrm>
            <a:off x="4682849" y="4072929"/>
            <a:ext cx="1644136" cy="384721"/>
            <a:chOff x="4682849" y="4072929"/>
            <a:chExt cx="1644136" cy="384721"/>
          </a:xfrm>
        </p:grpSpPr>
        <p:sp>
          <p:nvSpPr>
            <p:cNvPr id="61" name="60 Rectángulo"/>
            <p:cNvSpPr/>
            <p:nvPr/>
          </p:nvSpPr>
          <p:spPr bwMode="auto">
            <a:xfrm>
              <a:off x="4682849" y="4072929"/>
              <a:ext cx="1644136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9" name="48 CuadroTexto"/>
            <p:cNvSpPr txBox="1"/>
            <p:nvPr/>
          </p:nvSpPr>
          <p:spPr>
            <a:xfrm>
              <a:off x="4740927" y="4072929"/>
              <a:ext cx="1527982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"Juan"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</p:txBody>
        </p:sp>
      </p:grpSp>
      <p:sp>
        <p:nvSpPr>
          <p:cNvPr id="63" name="62 Rectángulo"/>
          <p:cNvSpPr/>
          <p:nvPr/>
        </p:nvSpPr>
        <p:spPr>
          <a:xfrm>
            <a:off x="879376" y="2295200"/>
            <a:ext cx="30983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…</a:t>
            </a:r>
          </a:p>
          <a:p>
            <a:r>
              <a:rPr lang="es-ES" sz="1600" dirty="0" err="1">
                <a:solidFill>
                  <a:srgbClr val="000000"/>
                </a:solidFill>
              </a:rPr>
              <a:t>int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b="1" dirty="0">
                <a:solidFill>
                  <a:srgbClr val="000000"/>
                </a:solidFill>
              </a:rPr>
              <a:t>edad </a:t>
            </a:r>
            <a:r>
              <a:rPr lang="es-ES" sz="1600" dirty="0">
                <a:solidFill>
                  <a:srgbClr val="000000"/>
                </a:solidFill>
              </a:rPr>
              <a:t>= </a:t>
            </a:r>
            <a:r>
              <a:rPr lang="es-ES" sz="1600" b="1" dirty="0" err="1">
                <a:solidFill>
                  <a:srgbClr val="000000"/>
                </a:solidFill>
              </a:rPr>
              <a:t>entrada</a:t>
            </a:r>
            <a:r>
              <a:rPr lang="es-ES" sz="1600" dirty="0" err="1">
                <a:solidFill>
                  <a:srgbClr val="000000"/>
                </a:solidFill>
              </a:rPr>
              <a:t>.nextInt</a:t>
            </a:r>
            <a:r>
              <a:rPr lang="es-ES" sz="1600" dirty="0">
                <a:solidFill>
                  <a:srgbClr val="000000"/>
                </a:solidFill>
              </a:rPr>
              <a:t>();</a:t>
            </a:r>
          </a:p>
          <a:p>
            <a:r>
              <a:rPr lang="es-ES" sz="1600" dirty="0" err="1">
                <a:solidFill>
                  <a:srgbClr val="000000"/>
                </a:solidFill>
              </a:rPr>
              <a:t>System.out.print</a:t>
            </a:r>
            <a:r>
              <a:rPr lang="es-ES" sz="1600" dirty="0">
                <a:solidFill>
                  <a:srgbClr val="00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"Hola "</a:t>
            </a:r>
            <a:r>
              <a:rPr lang="es-ES" sz="1600" dirty="0">
                <a:solidFill>
                  <a:srgbClr val="000000"/>
                </a:solidFill>
              </a:rPr>
              <a:t>);</a:t>
            </a:r>
          </a:p>
          <a:p>
            <a:r>
              <a:rPr lang="es-ES" sz="1600" b="1" dirty="0" err="1">
                <a:solidFill>
                  <a:srgbClr val="00B0F0"/>
                </a:solidFill>
              </a:rPr>
              <a:t>if</a:t>
            </a:r>
            <a:r>
              <a:rPr lang="es-ES" sz="1600" b="1" dirty="0">
                <a:solidFill>
                  <a:srgbClr val="00B0F0"/>
                </a:solidFill>
              </a:rPr>
              <a:t>(</a:t>
            </a:r>
            <a:r>
              <a:rPr lang="es-ES" sz="1600" b="1" dirty="0">
                <a:solidFill>
                  <a:srgbClr val="000000"/>
                </a:solidFill>
              </a:rPr>
              <a:t> </a:t>
            </a:r>
            <a:r>
              <a:rPr lang="es-ES" sz="1600" dirty="0">
                <a:solidFill>
                  <a:srgbClr val="FF0000"/>
                </a:solidFill>
              </a:rPr>
              <a:t>edad&gt;17 </a:t>
            </a:r>
            <a:r>
              <a:rPr lang="es-ES" sz="1600" b="1" dirty="0">
                <a:solidFill>
                  <a:srgbClr val="00B0F0"/>
                </a:solidFill>
              </a:rPr>
              <a:t>)</a:t>
            </a:r>
          </a:p>
          <a:p>
            <a:r>
              <a:rPr lang="es-ES" sz="1600" dirty="0">
                <a:solidFill>
                  <a:srgbClr val="000000"/>
                </a:solidFill>
              </a:rPr>
              <a:t>     </a:t>
            </a:r>
            <a:r>
              <a:rPr lang="es-ES" sz="1600" dirty="0" err="1">
                <a:solidFill>
                  <a:srgbClr val="00B0F0"/>
                </a:solidFill>
              </a:rPr>
              <a:t>System.out.print</a:t>
            </a:r>
            <a:r>
              <a:rPr lang="es-ES" sz="1600" dirty="0">
                <a:solidFill>
                  <a:srgbClr val="00B0F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"señor "</a:t>
            </a:r>
            <a:r>
              <a:rPr lang="es-ES" sz="1600" dirty="0">
                <a:solidFill>
                  <a:srgbClr val="00B0F0"/>
                </a:solidFill>
              </a:rPr>
              <a:t>);</a:t>
            </a:r>
          </a:p>
          <a:p>
            <a:r>
              <a:rPr lang="es-ES" sz="1600" dirty="0" err="1">
                <a:solidFill>
                  <a:srgbClr val="000000"/>
                </a:solidFill>
              </a:rPr>
              <a:t>System.out.print</a:t>
            </a:r>
            <a:r>
              <a:rPr lang="es-ES" sz="1600" dirty="0">
                <a:solidFill>
                  <a:srgbClr val="00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"Juan"</a:t>
            </a:r>
            <a:r>
              <a:rPr lang="es-ES" sz="1600" dirty="0">
                <a:solidFill>
                  <a:srgbClr val="000000"/>
                </a:solidFill>
              </a:rPr>
              <a:t>);</a:t>
            </a:r>
          </a:p>
          <a:p>
            <a:r>
              <a:rPr lang="es-ES" sz="1600" dirty="0">
                <a:solidFill>
                  <a:srgbClr val="000000"/>
                </a:solidFill>
              </a:rPr>
              <a:t>…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4637795" y="2076550"/>
            <a:ext cx="1644136" cy="386169"/>
            <a:chOff x="4637795" y="2076550"/>
            <a:chExt cx="1644136" cy="386169"/>
          </a:xfrm>
        </p:grpSpPr>
        <p:sp>
          <p:nvSpPr>
            <p:cNvPr id="6" name="5 Rectángulo"/>
            <p:cNvSpPr/>
            <p:nvPr/>
          </p:nvSpPr>
          <p:spPr bwMode="auto">
            <a:xfrm>
              <a:off x="4637795" y="2076550"/>
              <a:ext cx="1644136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7" name="66 CuadroTexto"/>
            <p:cNvSpPr txBox="1"/>
            <p:nvPr/>
          </p:nvSpPr>
          <p:spPr>
            <a:xfrm>
              <a:off x="4681389" y="2077998"/>
              <a:ext cx="1568058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"Hola 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</p:txBody>
        </p:sp>
      </p:grpSp>
      <p:sp>
        <p:nvSpPr>
          <p:cNvPr id="68" name="67 CuadroTexto"/>
          <p:cNvSpPr txBox="1"/>
          <p:nvPr/>
        </p:nvSpPr>
        <p:spPr>
          <a:xfrm>
            <a:off x="3622775" y="5487615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rgbClr val="00B050"/>
                </a:solidFill>
              </a:rPr>
              <a:t>Hola Juan</a:t>
            </a:r>
            <a:endParaRPr lang="es-E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72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3" grpId="0" uiExpand="1" build="p"/>
      <p:bldP spid="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8 Grupo"/>
          <p:cNvGrpSpPr/>
          <p:nvPr/>
        </p:nvGrpSpPr>
        <p:grpSpPr>
          <a:xfrm>
            <a:off x="6641182" y="2719639"/>
            <a:ext cx="1016191" cy="665942"/>
            <a:chOff x="6641182" y="2719639"/>
            <a:chExt cx="1016191" cy="665942"/>
          </a:xfrm>
        </p:grpSpPr>
        <p:cxnSp>
          <p:nvCxnSpPr>
            <p:cNvPr id="59" name="58 Conector angular"/>
            <p:cNvCxnSpPr/>
            <p:nvPr/>
          </p:nvCxnSpPr>
          <p:spPr bwMode="auto">
            <a:xfrm>
              <a:off x="6641182" y="3061545"/>
              <a:ext cx="1016191" cy="324036"/>
            </a:xfrm>
            <a:prstGeom prst="bentConnector3">
              <a:avLst>
                <a:gd name="adj1" fmla="val 99991"/>
              </a:avLst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0" name="29 CuadroTexto"/>
            <p:cNvSpPr txBox="1"/>
            <p:nvPr/>
          </p:nvSpPr>
          <p:spPr>
            <a:xfrm>
              <a:off x="7149763" y="2719639"/>
              <a:ext cx="45717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no</a:t>
              </a:r>
            </a:p>
          </p:txBody>
        </p:sp>
      </p:grpSp>
      <p:sp>
        <p:nvSpPr>
          <p:cNvPr id="44" name="43 Rectángulo"/>
          <p:cNvSpPr/>
          <p:nvPr/>
        </p:nvSpPr>
        <p:spPr bwMode="auto">
          <a:xfrm>
            <a:off x="755575" y="2265497"/>
            <a:ext cx="3222135" cy="235697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42" y="44624"/>
            <a:ext cx="7392988" cy="563563"/>
          </a:xfrm>
        </p:spPr>
        <p:txBody>
          <a:bodyPr/>
          <a:lstStyle/>
          <a:p>
            <a:r>
              <a:rPr lang="en-US" sz="2400" dirty="0"/>
              <a:t>ESTRUCTURAS DE SELECCI</a:t>
            </a:r>
            <a:r>
              <a:rPr lang="es-ES" sz="2400" dirty="0"/>
              <a:t>ÓN (</a:t>
            </a:r>
            <a:r>
              <a:rPr lang="en-US" sz="2400" dirty="0"/>
              <a:t>IF… ELSE)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755576" y="1008311"/>
            <a:ext cx="756084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La instrucción </a:t>
            </a:r>
            <a:r>
              <a:rPr lang="es-ES" sz="2000" b="1" dirty="0" err="1">
                <a:solidFill>
                  <a:srgbClr val="FF3300"/>
                </a:solidFill>
              </a:rPr>
              <a:t>if</a:t>
            </a:r>
            <a:r>
              <a:rPr lang="es-ES" sz="2000" b="1" dirty="0">
                <a:solidFill>
                  <a:srgbClr val="FF3300"/>
                </a:solidFill>
              </a:rPr>
              <a:t>…</a:t>
            </a:r>
            <a:r>
              <a:rPr lang="es-ES" sz="2000" b="1" dirty="0" err="1">
                <a:solidFill>
                  <a:srgbClr val="FF3300"/>
                </a:solidFill>
              </a:rPr>
              <a:t>else</a:t>
            </a:r>
            <a:r>
              <a:rPr lang="es-ES" dirty="0"/>
              <a:t> permite ejecutar </a:t>
            </a:r>
            <a:r>
              <a:rPr lang="es-ES" b="1" dirty="0">
                <a:solidFill>
                  <a:srgbClr val="FF6600"/>
                </a:solidFill>
              </a:rPr>
              <a:t>una instrucción </a:t>
            </a:r>
          </a:p>
          <a:p>
            <a:pPr algn="ctr"/>
            <a:r>
              <a:rPr lang="es-ES" b="1" dirty="0">
                <a:solidFill>
                  <a:srgbClr val="FF6600"/>
                </a:solidFill>
              </a:rPr>
              <a:t>u otra</a:t>
            </a:r>
            <a:r>
              <a:rPr lang="es-ES" dirty="0"/>
              <a:t> en función de si una determinada condición es cierta o falsa.</a:t>
            </a:r>
          </a:p>
        </p:txBody>
      </p:sp>
      <p:cxnSp>
        <p:nvCxnSpPr>
          <p:cNvPr id="10" name="9 Conector recto de flecha"/>
          <p:cNvCxnSpPr/>
          <p:nvPr/>
        </p:nvCxnSpPr>
        <p:spPr bwMode="auto">
          <a:xfrm>
            <a:off x="6348955" y="2466465"/>
            <a:ext cx="0" cy="298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55" name="54 Grupo"/>
          <p:cNvGrpSpPr/>
          <p:nvPr/>
        </p:nvGrpSpPr>
        <p:grpSpPr>
          <a:xfrm>
            <a:off x="6913284" y="3416581"/>
            <a:ext cx="1706720" cy="384721"/>
            <a:chOff x="5796136" y="1172340"/>
            <a:chExt cx="1569729" cy="384721"/>
          </a:xfrm>
        </p:grpSpPr>
        <p:sp>
          <p:nvSpPr>
            <p:cNvPr id="56" name="55 Rectángulo"/>
            <p:cNvSpPr/>
            <p:nvPr/>
          </p:nvSpPr>
          <p:spPr bwMode="auto">
            <a:xfrm>
              <a:off x="5796136" y="1176242"/>
              <a:ext cx="1512168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56 CuadroTexto"/>
            <p:cNvSpPr txBox="1"/>
            <p:nvPr/>
          </p:nvSpPr>
          <p:spPr>
            <a:xfrm>
              <a:off x="5810145" y="1172340"/>
              <a:ext cx="1555720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"menor"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</p:txBody>
        </p:sp>
      </p:grpSp>
      <p:sp>
        <p:nvSpPr>
          <p:cNvPr id="48" name="47 CuadroTexto"/>
          <p:cNvSpPr txBox="1"/>
          <p:nvPr/>
        </p:nvSpPr>
        <p:spPr>
          <a:xfrm>
            <a:off x="2627784" y="5313982"/>
            <a:ext cx="401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00B050"/>
                </a:solidFill>
              </a:rPr>
              <a:t>Juan es </a:t>
            </a:r>
            <a:r>
              <a:rPr lang="es-ES" sz="2400" dirty="0">
                <a:solidFill>
                  <a:srgbClr val="FFC000"/>
                </a:solidFill>
              </a:rPr>
              <a:t>mayor</a:t>
            </a:r>
            <a:r>
              <a:rPr lang="es-ES" sz="2400" dirty="0">
                <a:solidFill>
                  <a:srgbClr val="00B050"/>
                </a:solidFill>
              </a:rPr>
              <a:t> de edad</a:t>
            </a:r>
            <a:endParaRPr lang="es-ES" sz="2400" dirty="0">
              <a:solidFill>
                <a:srgbClr val="000000"/>
              </a:solidFill>
            </a:endParaRPr>
          </a:p>
        </p:txBody>
      </p:sp>
      <p:sp>
        <p:nvSpPr>
          <p:cNvPr id="63" name="62 Rectángulo"/>
          <p:cNvSpPr/>
          <p:nvPr/>
        </p:nvSpPr>
        <p:spPr>
          <a:xfrm>
            <a:off x="879375" y="2292272"/>
            <a:ext cx="309833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…</a:t>
            </a:r>
          </a:p>
          <a:p>
            <a:r>
              <a:rPr lang="es-ES" sz="1600" dirty="0" err="1">
                <a:solidFill>
                  <a:srgbClr val="000000"/>
                </a:solidFill>
              </a:rPr>
              <a:t>int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b="1" dirty="0">
                <a:solidFill>
                  <a:srgbClr val="000000"/>
                </a:solidFill>
              </a:rPr>
              <a:t>edad </a:t>
            </a:r>
            <a:r>
              <a:rPr lang="es-ES" sz="1600" dirty="0">
                <a:solidFill>
                  <a:srgbClr val="000000"/>
                </a:solidFill>
              </a:rPr>
              <a:t>= </a:t>
            </a:r>
            <a:r>
              <a:rPr lang="es-ES" sz="1600" b="1" dirty="0" err="1">
                <a:solidFill>
                  <a:srgbClr val="000000"/>
                </a:solidFill>
              </a:rPr>
              <a:t>entrada</a:t>
            </a:r>
            <a:r>
              <a:rPr lang="es-ES" sz="1600" dirty="0" err="1">
                <a:solidFill>
                  <a:srgbClr val="000000"/>
                </a:solidFill>
              </a:rPr>
              <a:t>.nextInt</a:t>
            </a:r>
            <a:r>
              <a:rPr lang="es-ES" sz="1600" dirty="0">
                <a:solidFill>
                  <a:srgbClr val="000000"/>
                </a:solidFill>
              </a:rPr>
              <a:t>();</a:t>
            </a:r>
          </a:p>
          <a:p>
            <a:r>
              <a:rPr lang="es-ES" sz="1600" dirty="0" err="1">
                <a:solidFill>
                  <a:srgbClr val="000000"/>
                </a:solidFill>
              </a:rPr>
              <a:t>System.out.print</a:t>
            </a:r>
            <a:r>
              <a:rPr lang="es-ES" sz="1600" dirty="0">
                <a:solidFill>
                  <a:srgbClr val="00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"Juan es "</a:t>
            </a:r>
            <a:r>
              <a:rPr lang="es-ES" sz="1600" dirty="0">
                <a:solidFill>
                  <a:srgbClr val="000000"/>
                </a:solidFill>
              </a:rPr>
              <a:t>);</a:t>
            </a:r>
          </a:p>
          <a:p>
            <a:r>
              <a:rPr lang="es-ES" sz="1600" b="1" dirty="0" err="1">
                <a:solidFill>
                  <a:srgbClr val="00B0F0"/>
                </a:solidFill>
              </a:rPr>
              <a:t>if</a:t>
            </a:r>
            <a:r>
              <a:rPr lang="es-ES" sz="1600" b="1" dirty="0">
                <a:solidFill>
                  <a:srgbClr val="00B0F0"/>
                </a:solidFill>
              </a:rPr>
              <a:t>( </a:t>
            </a:r>
            <a:r>
              <a:rPr lang="es-ES" sz="1600" dirty="0">
                <a:solidFill>
                  <a:srgbClr val="FF0000"/>
                </a:solidFill>
              </a:rPr>
              <a:t>edad&gt;17 </a:t>
            </a:r>
            <a:r>
              <a:rPr lang="es-ES" sz="1600" b="1" dirty="0">
                <a:solidFill>
                  <a:srgbClr val="00B0F0"/>
                </a:solidFill>
              </a:rPr>
              <a:t>)</a:t>
            </a:r>
          </a:p>
          <a:p>
            <a:r>
              <a:rPr lang="es-ES" sz="1600" dirty="0">
                <a:solidFill>
                  <a:srgbClr val="FF0000"/>
                </a:solidFill>
              </a:rPr>
              <a:t>     </a:t>
            </a:r>
            <a:r>
              <a:rPr lang="es-ES" sz="1600" dirty="0" err="1">
                <a:solidFill>
                  <a:srgbClr val="00B0F0"/>
                </a:solidFill>
              </a:rPr>
              <a:t>System.out.print</a:t>
            </a:r>
            <a:r>
              <a:rPr lang="es-ES" sz="1600" dirty="0">
                <a:solidFill>
                  <a:srgbClr val="00B0F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"mayor"</a:t>
            </a:r>
            <a:r>
              <a:rPr lang="es-ES" sz="1600" dirty="0">
                <a:solidFill>
                  <a:srgbClr val="00B0F0"/>
                </a:solidFill>
              </a:rPr>
              <a:t>);</a:t>
            </a:r>
          </a:p>
          <a:p>
            <a:r>
              <a:rPr lang="es-ES" sz="1600" b="1" dirty="0" err="1">
                <a:solidFill>
                  <a:srgbClr val="00B0F0"/>
                </a:solidFill>
              </a:rPr>
              <a:t>else</a:t>
            </a:r>
            <a:endParaRPr lang="es-ES" sz="1600" b="1" dirty="0">
              <a:solidFill>
                <a:srgbClr val="00B0F0"/>
              </a:solidFill>
            </a:endParaRPr>
          </a:p>
          <a:p>
            <a:r>
              <a:rPr lang="es-ES" sz="1600" dirty="0">
                <a:solidFill>
                  <a:srgbClr val="FF0000"/>
                </a:solidFill>
              </a:rPr>
              <a:t>     </a:t>
            </a:r>
            <a:r>
              <a:rPr lang="es-ES" sz="1600" dirty="0" err="1">
                <a:solidFill>
                  <a:srgbClr val="00B0F0"/>
                </a:solidFill>
              </a:rPr>
              <a:t>System.out.print</a:t>
            </a:r>
            <a:r>
              <a:rPr lang="es-ES" sz="1600" dirty="0">
                <a:solidFill>
                  <a:srgbClr val="00B0F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"menor"</a:t>
            </a:r>
            <a:r>
              <a:rPr lang="es-ES" sz="1600" dirty="0">
                <a:solidFill>
                  <a:srgbClr val="00B0F0"/>
                </a:solidFill>
              </a:rPr>
              <a:t>);</a:t>
            </a:r>
            <a:endParaRPr lang="es-ES" sz="1600" dirty="0">
              <a:solidFill>
                <a:srgbClr val="FF0000"/>
              </a:solidFill>
            </a:endParaRPr>
          </a:p>
          <a:p>
            <a:r>
              <a:rPr lang="es-ES" sz="1600" dirty="0" err="1">
                <a:solidFill>
                  <a:srgbClr val="000000"/>
                </a:solidFill>
              </a:rPr>
              <a:t>System.out.print</a:t>
            </a:r>
            <a:r>
              <a:rPr lang="es-ES" sz="1600" dirty="0">
                <a:solidFill>
                  <a:srgbClr val="00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 de edad"</a:t>
            </a:r>
            <a:r>
              <a:rPr lang="es-ES" sz="1600" dirty="0">
                <a:solidFill>
                  <a:srgbClr val="000000"/>
                </a:solidFill>
              </a:rPr>
              <a:t>);</a:t>
            </a:r>
          </a:p>
          <a:p>
            <a:r>
              <a:rPr lang="es-ES" sz="1600" dirty="0">
                <a:solidFill>
                  <a:srgbClr val="000000"/>
                </a:solidFill>
              </a:rPr>
              <a:t>…</a:t>
            </a:r>
          </a:p>
          <a:p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5" name="4 Grupo"/>
          <p:cNvGrpSpPr/>
          <p:nvPr/>
        </p:nvGrpSpPr>
        <p:grpSpPr>
          <a:xfrm>
            <a:off x="5319559" y="2101899"/>
            <a:ext cx="2058792" cy="384721"/>
            <a:chOff x="5319559" y="2101899"/>
            <a:chExt cx="2058792" cy="384721"/>
          </a:xfrm>
        </p:grpSpPr>
        <p:sp>
          <p:nvSpPr>
            <p:cNvPr id="6" name="5 Rectángulo"/>
            <p:cNvSpPr/>
            <p:nvPr/>
          </p:nvSpPr>
          <p:spPr bwMode="auto">
            <a:xfrm>
              <a:off x="5319559" y="2116127"/>
              <a:ext cx="2058792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7" name="66 CuadroTexto"/>
            <p:cNvSpPr txBox="1"/>
            <p:nvPr/>
          </p:nvSpPr>
          <p:spPr>
            <a:xfrm>
              <a:off x="5425514" y="2101899"/>
              <a:ext cx="1853392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"Juan es"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</p:txBody>
        </p:sp>
      </p:grpSp>
      <p:grpSp>
        <p:nvGrpSpPr>
          <p:cNvPr id="8" name="7 Grupo"/>
          <p:cNvGrpSpPr/>
          <p:nvPr/>
        </p:nvGrpSpPr>
        <p:grpSpPr>
          <a:xfrm>
            <a:off x="5048927" y="2727624"/>
            <a:ext cx="1016191" cy="692859"/>
            <a:chOff x="5048927" y="2727624"/>
            <a:chExt cx="1016191" cy="692859"/>
          </a:xfrm>
        </p:grpSpPr>
        <p:sp>
          <p:nvSpPr>
            <p:cNvPr id="38" name="37 CuadroTexto"/>
            <p:cNvSpPr txBox="1"/>
            <p:nvPr/>
          </p:nvSpPr>
          <p:spPr>
            <a:xfrm>
              <a:off x="5145102" y="2727624"/>
              <a:ext cx="373820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sí</a:t>
              </a:r>
            </a:p>
          </p:txBody>
        </p:sp>
        <p:cxnSp>
          <p:nvCxnSpPr>
            <p:cNvPr id="25" name="24 Conector angular"/>
            <p:cNvCxnSpPr/>
            <p:nvPr/>
          </p:nvCxnSpPr>
          <p:spPr bwMode="auto">
            <a:xfrm flipH="1">
              <a:off x="5048927" y="3096447"/>
              <a:ext cx="1016191" cy="324036"/>
            </a:xfrm>
            <a:prstGeom prst="bentConnector3">
              <a:avLst>
                <a:gd name="adj1" fmla="val 99991"/>
              </a:avLst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7" name="26 Grupo"/>
          <p:cNvGrpSpPr/>
          <p:nvPr/>
        </p:nvGrpSpPr>
        <p:grpSpPr>
          <a:xfrm>
            <a:off x="4195491" y="3420483"/>
            <a:ext cx="1699506" cy="384721"/>
            <a:chOff x="5796136" y="1172340"/>
            <a:chExt cx="1563094" cy="384721"/>
          </a:xfrm>
        </p:grpSpPr>
        <p:sp>
          <p:nvSpPr>
            <p:cNvPr id="28" name="27 Rectángulo"/>
            <p:cNvSpPr/>
            <p:nvPr/>
          </p:nvSpPr>
          <p:spPr bwMode="auto">
            <a:xfrm>
              <a:off x="5796136" y="1176242"/>
              <a:ext cx="1512168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5816779" y="1172340"/>
              <a:ext cx="1542451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"mayor"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</p:txBody>
        </p:sp>
      </p:grpSp>
      <p:grpSp>
        <p:nvGrpSpPr>
          <p:cNvPr id="7" name="6 Grupo"/>
          <p:cNvGrpSpPr/>
          <p:nvPr/>
        </p:nvGrpSpPr>
        <p:grpSpPr>
          <a:xfrm>
            <a:off x="5598589" y="2793840"/>
            <a:ext cx="1500733" cy="571291"/>
            <a:chOff x="5598589" y="2793840"/>
            <a:chExt cx="1500733" cy="571291"/>
          </a:xfrm>
        </p:grpSpPr>
        <p:sp>
          <p:nvSpPr>
            <p:cNvPr id="12" name="11 Elipse"/>
            <p:cNvSpPr/>
            <p:nvPr/>
          </p:nvSpPr>
          <p:spPr bwMode="auto">
            <a:xfrm>
              <a:off x="5598589" y="2793840"/>
              <a:ext cx="1500733" cy="571291"/>
            </a:xfrm>
            <a:prstGeom prst="ellipse">
              <a:avLst/>
            </a:prstGeom>
            <a:solidFill>
              <a:schemeClr val="accent5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5703010" y="2899824"/>
              <a:ext cx="1279517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edad &gt; 17</a:t>
              </a:r>
            </a:p>
          </p:txBody>
        </p:sp>
      </p:grpSp>
      <p:cxnSp>
        <p:nvCxnSpPr>
          <p:cNvPr id="31" name="30 Conector angular"/>
          <p:cNvCxnSpPr/>
          <p:nvPr/>
        </p:nvCxnSpPr>
        <p:spPr bwMode="auto">
          <a:xfrm rot="10800000">
            <a:off x="5046773" y="3805205"/>
            <a:ext cx="1306377" cy="324037"/>
          </a:xfrm>
          <a:prstGeom prst="bentConnector3">
            <a:avLst>
              <a:gd name="adj1" fmla="val 100552"/>
            </a:avLst>
          </a:prstGeom>
          <a:ln>
            <a:headEnd type="arrow" w="med" len="med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34 Conector angular"/>
          <p:cNvCxnSpPr/>
          <p:nvPr/>
        </p:nvCxnSpPr>
        <p:spPr bwMode="auto">
          <a:xfrm rot="10800000" flipH="1">
            <a:off x="6353151" y="3801935"/>
            <a:ext cx="1306377" cy="324037"/>
          </a:xfrm>
          <a:prstGeom prst="bentConnector3">
            <a:avLst>
              <a:gd name="adj1" fmla="val 100552"/>
            </a:avLst>
          </a:prstGeom>
          <a:ln>
            <a:headEnd type="arrow" w="med" len="med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35 Conector recto de flecha"/>
          <p:cNvCxnSpPr/>
          <p:nvPr/>
        </p:nvCxnSpPr>
        <p:spPr bwMode="auto">
          <a:xfrm>
            <a:off x="6348955" y="4129242"/>
            <a:ext cx="0" cy="3600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37" name="36 Grupo"/>
          <p:cNvGrpSpPr/>
          <p:nvPr/>
        </p:nvGrpSpPr>
        <p:grpSpPr>
          <a:xfrm>
            <a:off x="5221451" y="4497213"/>
            <a:ext cx="2239082" cy="384721"/>
            <a:chOff x="5522540" y="1163901"/>
            <a:chExt cx="2059360" cy="384721"/>
          </a:xfrm>
        </p:grpSpPr>
        <p:sp>
          <p:nvSpPr>
            <p:cNvPr id="39" name="38 Rectángulo"/>
            <p:cNvSpPr/>
            <p:nvPr/>
          </p:nvSpPr>
          <p:spPr bwMode="auto">
            <a:xfrm>
              <a:off x="5522540" y="1176242"/>
              <a:ext cx="2059360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40 CuadroTexto"/>
            <p:cNvSpPr txBox="1"/>
            <p:nvPr/>
          </p:nvSpPr>
          <p:spPr>
            <a:xfrm>
              <a:off x="5648044" y="1163901"/>
              <a:ext cx="1793089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 de edad"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</p:txBody>
        </p:sp>
      </p:grpSp>
      <p:sp>
        <p:nvSpPr>
          <p:cNvPr id="43" name="42 CuadroTexto"/>
          <p:cNvSpPr txBox="1"/>
          <p:nvPr/>
        </p:nvSpPr>
        <p:spPr>
          <a:xfrm>
            <a:off x="2627784" y="5775647"/>
            <a:ext cx="401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00B050"/>
                </a:solidFill>
              </a:rPr>
              <a:t>Juan es </a:t>
            </a:r>
            <a:r>
              <a:rPr lang="es-ES" sz="2400" dirty="0">
                <a:solidFill>
                  <a:srgbClr val="FFC000"/>
                </a:solidFill>
              </a:rPr>
              <a:t>menor</a:t>
            </a:r>
            <a:r>
              <a:rPr lang="es-ES" sz="2400" dirty="0">
                <a:solidFill>
                  <a:srgbClr val="00B050"/>
                </a:solidFill>
              </a:rPr>
              <a:t> de edad</a:t>
            </a:r>
            <a:endParaRPr lang="es-E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99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3" grpId="0" uiExpand="1" build="p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dirty="0"/>
              <a:t>ESTRUCTURAS DE SELECCI</a:t>
            </a:r>
            <a:r>
              <a:rPr lang="es-ES" sz="2400" dirty="0"/>
              <a:t>ÓN (IF .. ELSE)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Operador ternario</a:t>
            </a:r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r>
              <a:rPr lang="es-ES_tradnl" sz="2000" b="0" dirty="0"/>
              <a:t>Podemos pasarlo a una simple l</a:t>
            </a:r>
            <a:r>
              <a:rPr lang="es-ES" sz="2000" b="0" dirty="0" err="1"/>
              <a:t>ínea</a:t>
            </a:r>
            <a:r>
              <a:rPr lang="es-ES" sz="2000" b="0" dirty="0"/>
              <a:t> de código</a:t>
            </a:r>
            <a:endParaRPr lang="es-ES_tradnl" sz="2000" b="0" dirty="0"/>
          </a:p>
          <a:p>
            <a:pPr marL="0" indent="0">
              <a:buNone/>
            </a:pPr>
            <a:endParaRPr lang="es-ES_tradnl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269" y="1895757"/>
            <a:ext cx="2908300" cy="20828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4797989"/>
            <a:ext cx="50673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8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32 Rectángulo"/>
          <p:cNvSpPr/>
          <p:nvPr/>
        </p:nvSpPr>
        <p:spPr bwMode="auto">
          <a:xfrm>
            <a:off x="348928" y="2114599"/>
            <a:ext cx="3848458" cy="305529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899592" y="908720"/>
            <a:ext cx="675213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La instrucción </a:t>
            </a:r>
            <a:r>
              <a:rPr lang="es-ES" sz="2000" b="1" dirty="0" err="1">
                <a:solidFill>
                  <a:srgbClr val="FF0000"/>
                </a:solidFill>
              </a:rPr>
              <a:t>if</a:t>
            </a:r>
            <a:r>
              <a:rPr lang="es-ES" sz="2000" b="1" dirty="0">
                <a:solidFill>
                  <a:srgbClr val="FF0000"/>
                </a:solidFill>
              </a:rPr>
              <a:t>…</a:t>
            </a:r>
            <a:r>
              <a:rPr lang="es-ES" sz="2000" b="1" dirty="0" err="1">
                <a:solidFill>
                  <a:srgbClr val="FF0000"/>
                </a:solidFill>
              </a:rPr>
              <a:t>else</a:t>
            </a:r>
            <a:r>
              <a:rPr lang="es-ES" dirty="0"/>
              <a:t> también permite ejecutar</a:t>
            </a:r>
            <a:r>
              <a:rPr lang="es-ES" b="1" dirty="0">
                <a:solidFill>
                  <a:srgbClr val="FFC000"/>
                </a:solidFill>
              </a:rPr>
              <a:t> </a:t>
            </a:r>
            <a:r>
              <a:rPr lang="es-ES" b="1" dirty="0">
                <a:solidFill>
                  <a:srgbClr val="FF6600"/>
                </a:solidFill>
              </a:rPr>
              <a:t>un bloque de instrucciones u otro </a:t>
            </a:r>
            <a:r>
              <a:rPr lang="es-ES" dirty="0"/>
              <a:t>en función de si una determinada condición es cierta o falsa.</a:t>
            </a:r>
          </a:p>
        </p:txBody>
      </p:sp>
      <p:grpSp>
        <p:nvGrpSpPr>
          <p:cNvPr id="15" name="14 Grupo"/>
          <p:cNvGrpSpPr/>
          <p:nvPr/>
        </p:nvGrpSpPr>
        <p:grpSpPr>
          <a:xfrm>
            <a:off x="5592939" y="2116127"/>
            <a:ext cx="2058792" cy="649138"/>
            <a:chOff x="5796134" y="1176242"/>
            <a:chExt cx="1644136" cy="649138"/>
          </a:xfrm>
        </p:grpSpPr>
        <p:cxnSp>
          <p:nvCxnSpPr>
            <p:cNvPr id="10" name="9 Conector recto de flecha"/>
            <p:cNvCxnSpPr/>
            <p:nvPr/>
          </p:nvCxnSpPr>
          <p:spPr bwMode="auto">
            <a:xfrm>
              <a:off x="6618202" y="1526580"/>
              <a:ext cx="0" cy="2988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6" name="5 Rectángulo"/>
            <p:cNvSpPr/>
            <p:nvPr/>
          </p:nvSpPr>
          <p:spPr bwMode="auto">
            <a:xfrm>
              <a:off x="5796134" y="1176242"/>
              <a:ext cx="1644136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59" name="58 Conector angular"/>
          <p:cNvCxnSpPr/>
          <p:nvPr/>
        </p:nvCxnSpPr>
        <p:spPr bwMode="auto">
          <a:xfrm>
            <a:off x="6914562" y="3061545"/>
            <a:ext cx="1016191" cy="324036"/>
          </a:xfrm>
          <a:prstGeom prst="bentConnector3">
            <a:avLst>
              <a:gd name="adj1" fmla="val 99991"/>
            </a:avLst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8" name="37 CuadroTexto"/>
          <p:cNvSpPr txBox="1"/>
          <p:nvPr/>
        </p:nvSpPr>
        <p:spPr>
          <a:xfrm>
            <a:off x="5418482" y="2727624"/>
            <a:ext cx="37382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FF3300"/>
                </a:solidFill>
              </a:rPr>
              <a:t>sí</a:t>
            </a:r>
          </a:p>
        </p:txBody>
      </p:sp>
      <p:grpSp>
        <p:nvGrpSpPr>
          <p:cNvPr id="55" name="54 Grupo"/>
          <p:cNvGrpSpPr/>
          <p:nvPr/>
        </p:nvGrpSpPr>
        <p:grpSpPr>
          <a:xfrm>
            <a:off x="6952652" y="3424302"/>
            <a:ext cx="1867820" cy="975222"/>
            <a:chOff x="5757932" y="1176242"/>
            <a:chExt cx="1415930" cy="492848"/>
          </a:xfrm>
        </p:grpSpPr>
        <p:sp>
          <p:nvSpPr>
            <p:cNvPr id="56" name="55 Rectángulo"/>
            <p:cNvSpPr/>
            <p:nvPr/>
          </p:nvSpPr>
          <p:spPr bwMode="auto">
            <a:xfrm>
              <a:off x="5796135" y="1176242"/>
              <a:ext cx="1351117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56 CuadroTexto"/>
            <p:cNvSpPr txBox="1"/>
            <p:nvPr/>
          </p:nvSpPr>
          <p:spPr>
            <a:xfrm>
              <a:off x="5757932" y="1179136"/>
              <a:ext cx="1415930" cy="4899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"menor"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"no pasa"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  <a:p>
              <a:pPr algn="ctr"/>
              <a:endParaRPr lang="es-ES" dirty="0">
                <a:solidFill>
                  <a:srgbClr val="000000"/>
                </a:solidFill>
              </a:endParaRPr>
            </a:p>
          </p:txBody>
        </p:sp>
      </p:grpSp>
      <p:sp>
        <p:nvSpPr>
          <p:cNvPr id="63" name="62 Rectángulo"/>
          <p:cNvSpPr/>
          <p:nvPr/>
        </p:nvSpPr>
        <p:spPr>
          <a:xfrm>
            <a:off x="427203" y="2060848"/>
            <a:ext cx="4326327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…</a:t>
            </a:r>
          </a:p>
          <a:p>
            <a:r>
              <a:rPr lang="es-ES" sz="1600" dirty="0" err="1">
                <a:solidFill>
                  <a:srgbClr val="000000"/>
                </a:solidFill>
              </a:rPr>
              <a:t>int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b="1" dirty="0">
                <a:solidFill>
                  <a:srgbClr val="000000"/>
                </a:solidFill>
              </a:rPr>
              <a:t>edad </a:t>
            </a:r>
            <a:r>
              <a:rPr lang="es-ES" sz="1600" dirty="0">
                <a:solidFill>
                  <a:srgbClr val="000000"/>
                </a:solidFill>
              </a:rPr>
              <a:t>= </a:t>
            </a:r>
            <a:r>
              <a:rPr lang="es-ES" sz="1600" b="1" dirty="0" err="1">
                <a:solidFill>
                  <a:srgbClr val="000000"/>
                </a:solidFill>
              </a:rPr>
              <a:t>entrada</a:t>
            </a:r>
            <a:r>
              <a:rPr lang="es-ES" sz="1600" dirty="0" err="1">
                <a:solidFill>
                  <a:srgbClr val="000000"/>
                </a:solidFill>
              </a:rPr>
              <a:t>.nextInt</a:t>
            </a:r>
            <a:r>
              <a:rPr lang="es-ES" sz="1600" dirty="0">
                <a:solidFill>
                  <a:srgbClr val="000000"/>
                </a:solidFill>
              </a:rPr>
              <a:t>();</a:t>
            </a:r>
          </a:p>
          <a:p>
            <a:r>
              <a:rPr lang="es-ES" sz="1600" dirty="0" err="1">
                <a:solidFill>
                  <a:srgbClr val="000000"/>
                </a:solidFill>
              </a:rPr>
              <a:t>System.out.print</a:t>
            </a:r>
            <a:r>
              <a:rPr lang="es-ES" sz="1600" dirty="0">
                <a:solidFill>
                  <a:srgbClr val="00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"Juan es "</a:t>
            </a:r>
            <a:r>
              <a:rPr lang="es-ES" sz="1600" dirty="0">
                <a:solidFill>
                  <a:srgbClr val="000000"/>
                </a:solidFill>
              </a:rPr>
              <a:t>);</a:t>
            </a:r>
          </a:p>
          <a:p>
            <a:r>
              <a:rPr lang="es-ES" sz="1600" b="1" dirty="0" err="1">
                <a:solidFill>
                  <a:srgbClr val="00B0F0"/>
                </a:solidFill>
              </a:rPr>
              <a:t>if</a:t>
            </a:r>
            <a:r>
              <a:rPr lang="es-ES" sz="1600" b="1" dirty="0">
                <a:solidFill>
                  <a:srgbClr val="00B0F0"/>
                </a:solidFill>
              </a:rPr>
              <a:t>( </a:t>
            </a:r>
            <a:r>
              <a:rPr lang="es-ES" sz="1600" dirty="0">
                <a:solidFill>
                  <a:srgbClr val="FF0000"/>
                </a:solidFill>
              </a:rPr>
              <a:t>edad&gt;17 </a:t>
            </a:r>
            <a:r>
              <a:rPr lang="es-ES" sz="1600" b="1" dirty="0">
                <a:solidFill>
                  <a:srgbClr val="00B0F0"/>
                </a:solidFill>
              </a:rPr>
              <a:t>) {</a:t>
            </a:r>
          </a:p>
          <a:p>
            <a:r>
              <a:rPr lang="es-ES" sz="1600" dirty="0">
                <a:solidFill>
                  <a:srgbClr val="FF0000"/>
                </a:solidFill>
              </a:rPr>
              <a:t>     </a:t>
            </a:r>
            <a:r>
              <a:rPr lang="es-ES" sz="1600" dirty="0" err="1">
                <a:solidFill>
                  <a:srgbClr val="00B0F0"/>
                </a:solidFill>
              </a:rPr>
              <a:t>System.out.println</a:t>
            </a:r>
            <a:r>
              <a:rPr lang="es-ES" sz="1600" dirty="0">
                <a:solidFill>
                  <a:srgbClr val="00B0F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"mayor."</a:t>
            </a:r>
            <a:r>
              <a:rPr lang="es-ES" sz="1600" dirty="0">
                <a:solidFill>
                  <a:srgbClr val="00B0F0"/>
                </a:solidFill>
              </a:rPr>
              <a:t>);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 </a:t>
            </a:r>
            <a:r>
              <a:rPr lang="es-ES" sz="1600" dirty="0" err="1">
                <a:solidFill>
                  <a:srgbClr val="00B0F0"/>
                </a:solidFill>
              </a:rPr>
              <a:t>System.out.print</a:t>
            </a:r>
            <a:r>
              <a:rPr lang="es-ES" sz="1600" dirty="0">
                <a:solidFill>
                  <a:srgbClr val="00B0F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"Puede pasar"</a:t>
            </a:r>
            <a:r>
              <a:rPr lang="es-ES" sz="1600" dirty="0">
                <a:solidFill>
                  <a:srgbClr val="00B0F0"/>
                </a:solidFill>
              </a:rPr>
              <a:t>);</a:t>
            </a:r>
          </a:p>
          <a:p>
            <a:r>
              <a:rPr lang="es-ES" sz="1600" b="1" dirty="0">
                <a:solidFill>
                  <a:srgbClr val="00B0F0"/>
                </a:solidFill>
              </a:rPr>
              <a:t>}</a:t>
            </a:r>
          </a:p>
          <a:p>
            <a:r>
              <a:rPr lang="es-ES" sz="1600" b="1" dirty="0" err="1">
                <a:solidFill>
                  <a:srgbClr val="00B0F0"/>
                </a:solidFill>
              </a:rPr>
              <a:t>else</a:t>
            </a:r>
            <a:r>
              <a:rPr lang="es-ES" sz="1600" b="1" dirty="0">
                <a:solidFill>
                  <a:srgbClr val="00B0F0"/>
                </a:solidFill>
              </a:rPr>
              <a:t> {</a:t>
            </a:r>
          </a:p>
          <a:p>
            <a:r>
              <a:rPr lang="es-ES" sz="1600" dirty="0">
                <a:solidFill>
                  <a:srgbClr val="FF0000"/>
                </a:solidFill>
              </a:rPr>
              <a:t>     </a:t>
            </a:r>
            <a:r>
              <a:rPr lang="es-ES" sz="1600" dirty="0" err="1">
                <a:solidFill>
                  <a:srgbClr val="00B0F0"/>
                </a:solidFill>
              </a:rPr>
              <a:t>System.out.print</a:t>
            </a:r>
            <a:r>
              <a:rPr lang="es-ES" sz="1600" dirty="0">
                <a:solidFill>
                  <a:srgbClr val="00B0F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"menor."</a:t>
            </a:r>
            <a:r>
              <a:rPr lang="es-ES" sz="1600" dirty="0">
                <a:solidFill>
                  <a:srgbClr val="00B0F0"/>
                </a:solidFill>
              </a:rPr>
              <a:t>);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 </a:t>
            </a:r>
            <a:r>
              <a:rPr lang="es-ES" sz="1600" dirty="0" err="1">
                <a:solidFill>
                  <a:srgbClr val="00B0F0"/>
                </a:solidFill>
              </a:rPr>
              <a:t>System.out.print</a:t>
            </a:r>
            <a:r>
              <a:rPr lang="es-ES" sz="1600" dirty="0">
                <a:solidFill>
                  <a:srgbClr val="00B0F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"No puede pasar"</a:t>
            </a:r>
            <a:r>
              <a:rPr lang="es-ES" sz="1600" dirty="0">
                <a:solidFill>
                  <a:srgbClr val="00B0F0"/>
                </a:solidFill>
              </a:rPr>
              <a:t>);</a:t>
            </a:r>
          </a:p>
          <a:p>
            <a:r>
              <a:rPr lang="es-ES" sz="1600" b="1" dirty="0">
                <a:solidFill>
                  <a:srgbClr val="00B0F0"/>
                </a:solidFill>
              </a:rPr>
              <a:t>}</a:t>
            </a:r>
          </a:p>
          <a:p>
            <a:r>
              <a:rPr lang="es-ES" sz="1600" dirty="0">
                <a:solidFill>
                  <a:srgbClr val="000000"/>
                </a:solidFill>
              </a:rPr>
              <a:t>…</a:t>
            </a:r>
          </a:p>
          <a:p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67" name="66 CuadroTexto"/>
          <p:cNvSpPr txBox="1"/>
          <p:nvPr/>
        </p:nvSpPr>
        <p:spPr>
          <a:xfrm>
            <a:off x="5698894" y="2101899"/>
            <a:ext cx="185339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>
                <a:solidFill>
                  <a:srgbClr val="000000"/>
                </a:solidFill>
              </a:rPr>
              <a:t>print</a:t>
            </a:r>
            <a:r>
              <a:rPr lang="es-ES" dirty="0">
                <a:solidFill>
                  <a:srgbClr val="000000"/>
                </a:solidFill>
              </a:rPr>
              <a:t>(</a:t>
            </a:r>
            <a:r>
              <a:rPr lang="es-ES" dirty="0">
                <a:solidFill>
                  <a:srgbClr val="00B050"/>
                </a:solidFill>
              </a:rPr>
              <a:t>"Juan es"</a:t>
            </a:r>
            <a:r>
              <a:rPr lang="es-ES" dirty="0">
                <a:solidFill>
                  <a:srgbClr val="000000"/>
                </a:solidFill>
              </a:rPr>
              <a:t>)</a:t>
            </a:r>
          </a:p>
        </p:txBody>
      </p:sp>
      <p:cxnSp>
        <p:nvCxnSpPr>
          <p:cNvPr id="25" name="24 Conector angular"/>
          <p:cNvCxnSpPr/>
          <p:nvPr/>
        </p:nvCxnSpPr>
        <p:spPr bwMode="auto">
          <a:xfrm flipH="1">
            <a:off x="5322307" y="3096447"/>
            <a:ext cx="1016191" cy="324036"/>
          </a:xfrm>
          <a:prstGeom prst="bentConnector3">
            <a:avLst>
              <a:gd name="adj1" fmla="val 99991"/>
            </a:avLst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27" name="26 Grupo"/>
          <p:cNvGrpSpPr/>
          <p:nvPr/>
        </p:nvGrpSpPr>
        <p:grpSpPr>
          <a:xfrm>
            <a:off x="4464425" y="3428601"/>
            <a:ext cx="1677062" cy="988269"/>
            <a:chOff x="5792045" y="1176242"/>
            <a:chExt cx="1542451" cy="474901"/>
          </a:xfrm>
        </p:grpSpPr>
        <p:sp>
          <p:nvSpPr>
            <p:cNvPr id="28" name="27 Rectángulo"/>
            <p:cNvSpPr/>
            <p:nvPr/>
          </p:nvSpPr>
          <p:spPr bwMode="auto">
            <a:xfrm>
              <a:off x="5796136" y="1176242"/>
              <a:ext cx="1512168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5792045" y="1185264"/>
              <a:ext cx="1542451" cy="465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"mayor"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  <a:p>
              <a:pPr algn="ctr"/>
              <a:r>
                <a:rPr lang="es-ES" dirty="0" err="1">
                  <a:solidFill>
                    <a:srgbClr val="000000"/>
                  </a:solidFill>
                </a:rPr>
                <a:t>print</a:t>
              </a:r>
              <a:r>
                <a:rPr lang="es-ES" dirty="0">
                  <a:solidFill>
                    <a:srgbClr val="000000"/>
                  </a:solidFill>
                </a:rPr>
                <a:t>(</a:t>
              </a:r>
              <a:r>
                <a:rPr lang="es-ES" dirty="0">
                  <a:solidFill>
                    <a:srgbClr val="00B050"/>
                  </a:solidFill>
                </a:rPr>
                <a:t>"pasa"</a:t>
              </a:r>
              <a:r>
                <a:rPr lang="es-ES" dirty="0">
                  <a:solidFill>
                    <a:srgbClr val="000000"/>
                  </a:solidFill>
                </a:rPr>
                <a:t>)</a:t>
              </a:r>
            </a:p>
            <a:p>
              <a:pPr algn="ctr"/>
              <a:endParaRPr lang="es-ES" dirty="0">
                <a:solidFill>
                  <a:srgbClr val="000000"/>
                </a:solidFill>
              </a:endParaRPr>
            </a:p>
          </p:txBody>
        </p:sp>
      </p:grpSp>
      <p:sp>
        <p:nvSpPr>
          <p:cNvPr id="12" name="11 Elipse"/>
          <p:cNvSpPr/>
          <p:nvPr/>
        </p:nvSpPr>
        <p:spPr bwMode="auto">
          <a:xfrm>
            <a:off x="5871969" y="2793840"/>
            <a:ext cx="1500733" cy="571291"/>
          </a:xfrm>
          <a:prstGeom prst="ellipse">
            <a:avLst/>
          </a:prstGeom>
          <a:solidFill>
            <a:schemeClr val="accent5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5976390" y="2899824"/>
            <a:ext cx="127951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FF3300"/>
                </a:solidFill>
              </a:rPr>
              <a:t>edad &gt; 17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7423143" y="2719639"/>
            <a:ext cx="45717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FF3300"/>
                </a:solidFill>
              </a:rPr>
              <a:t>no</a:t>
            </a:r>
          </a:p>
        </p:txBody>
      </p:sp>
      <p:cxnSp>
        <p:nvCxnSpPr>
          <p:cNvPr id="31" name="30 Conector angular"/>
          <p:cNvCxnSpPr/>
          <p:nvPr/>
        </p:nvCxnSpPr>
        <p:spPr bwMode="auto">
          <a:xfrm rot="10800000">
            <a:off x="5320153" y="4152350"/>
            <a:ext cx="1306377" cy="324037"/>
          </a:xfrm>
          <a:prstGeom prst="bentConnector3">
            <a:avLst>
              <a:gd name="adj1" fmla="val 100552"/>
            </a:avLst>
          </a:prstGeom>
          <a:ln>
            <a:headEnd type="arrow" w="med" len="med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34 Conector angular"/>
          <p:cNvCxnSpPr/>
          <p:nvPr/>
        </p:nvCxnSpPr>
        <p:spPr bwMode="auto">
          <a:xfrm rot="10800000" flipH="1">
            <a:off x="6626531" y="4149080"/>
            <a:ext cx="1306377" cy="324037"/>
          </a:xfrm>
          <a:prstGeom prst="bentConnector3">
            <a:avLst>
              <a:gd name="adj1" fmla="val 100552"/>
            </a:avLst>
          </a:prstGeom>
          <a:ln>
            <a:headEnd type="arrow" w="med" len="med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35 Conector recto de flecha"/>
          <p:cNvCxnSpPr/>
          <p:nvPr/>
        </p:nvCxnSpPr>
        <p:spPr bwMode="auto">
          <a:xfrm>
            <a:off x="6622335" y="4476387"/>
            <a:ext cx="0" cy="3600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Rectangle 2"/>
          <p:cNvSpPr txBox="1">
            <a:spLocks noChangeArrowheads="1"/>
          </p:cNvSpPr>
          <p:nvPr/>
        </p:nvSpPr>
        <p:spPr bwMode="white">
          <a:xfrm>
            <a:off x="1063737" y="58071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BLOQUES DE INSTRUCCIONES</a:t>
            </a:r>
            <a:endParaRPr lang="en-US" kern="0" dirty="0">
              <a:solidFill>
                <a:schemeClr val="accent1"/>
              </a:solidFill>
            </a:endParaRPr>
          </a:p>
        </p:txBody>
      </p:sp>
      <p:sp>
        <p:nvSpPr>
          <p:cNvPr id="26" name="25 CuadroTexto"/>
          <p:cNvSpPr txBox="1"/>
          <p:nvPr/>
        </p:nvSpPr>
        <p:spPr>
          <a:xfrm>
            <a:off x="1038850" y="5334522"/>
            <a:ext cx="70645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6600"/>
                </a:solidFill>
              </a:rPr>
              <a:t>Un Bloque </a:t>
            </a:r>
            <a:r>
              <a:rPr lang="es-ES" dirty="0"/>
              <a:t>de instrucciones viene delimitado por </a:t>
            </a:r>
            <a:r>
              <a:rPr lang="es-ES" b="1" dirty="0">
                <a:solidFill>
                  <a:srgbClr val="FF6600"/>
                </a:solidFill>
              </a:rPr>
              <a:t>llaves { }</a:t>
            </a:r>
          </a:p>
        </p:txBody>
      </p:sp>
    </p:spTree>
    <p:extLst>
      <p:ext uri="{BB962C8B-B14F-4D97-AF65-F5344CB8AC3E}">
        <p14:creationId xmlns:p14="http://schemas.microsoft.com/office/powerpoint/2010/main" val="2978256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Rectángulo"/>
          <p:cNvSpPr/>
          <p:nvPr/>
        </p:nvSpPr>
        <p:spPr bwMode="auto">
          <a:xfrm>
            <a:off x="3059833" y="1685990"/>
            <a:ext cx="3024335" cy="144005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957192" y="980728"/>
            <a:ext cx="723790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Las </a:t>
            </a:r>
            <a:r>
              <a:rPr lang="es-ES" i="1" dirty="0">
                <a:solidFill>
                  <a:srgbClr val="FF6600"/>
                </a:solidFill>
              </a:rPr>
              <a:t>Operaciones Lógicas</a:t>
            </a:r>
            <a:r>
              <a:rPr lang="es-ES" dirty="0"/>
              <a:t> son evaluadas y</a:t>
            </a:r>
          </a:p>
          <a:p>
            <a:pPr algn="ctr"/>
            <a:r>
              <a:rPr lang="es-ES" dirty="0"/>
              <a:t>el resultado puede ser </a:t>
            </a:r>
            <a:r>
              <a:rPr lang="es-ES" dirty="0">
                <a:solidFill>
                  <a:srgbClr val="FF6600"/>
                </a:solidFill>
              </a:rPr>
              <a:t>true</a:t>
            </a:r>
            <a:r>
              <a:rPr lang="es-ES" dirty="0"/>
              <a:t> o </a:t>
            </a:r>
            <a:r>
              <a:rPr lang="es-ES" dirty="0">
                <a:solidFill>
                  <a:srgbClr val="FF6600"/>
                </a:solidFill>
              </a:rPr>
              <a:t>false</a:t>
            </a:r>
          </a:p>
        </p:txBody>
      </p:sp>
      <p:sp>
        <p:nvSpPr>
          <p:cNvPr id="63" name="62 Rectángulo"/>
          <p:cNvSpPr/>
          <p:nvPr/>
        </p:nvSpPr>
        <p:spPr>
          <a:xfrm>
            <a:off x="3491880" y="2152998"/>
            <a:ext cx="25922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err="1">
                <a:solidFill>
                  <a:srgbClr val="0070C0"/>
                </a:solidFill>
              </a:rPr>
              <a:t>if</a:t>
            </a:r>
            <a:r>
              <a:rPr lang="es-ES" sz="2000" b="1" dirty="0">
                <a:solidFill>
                  <a:srgbClr val="0070C0"/>
                </a:solidFill>
              </a:rPr>
              <a:t>( </a:t>
            </a:r>
            <a:r>
              <a:rPr lang="es-ES" sz="2000" b="1" dirty="0">
                <a:solidFill>
                  <a:srgbClr val="000000"/>
                </a:solidFill>
              </a:rPr>
              <a:t>edad </a:t>
            </a:r>
            <a:r>
              <a:rPr lang="es-ES" sz="2000" b="1" dirty="0">
                <a:solidFill>
                  <a:srgbClr val="FF6600"/>
                </a:solidFill>
              </a:rPr>
              <a:t>&lt;</a:t>
            </a:r>
            <a:r>
              <a:rPr lang="es-ES" sz="2000" b="1" dirty="0">
                <a:solidFill>
                  <a:srgbClr val="000000"/>
                </a:solidFill>
              </a:rPr>
              <a:t> </a:t>
            </a:r>
            <a:r>
              <a:rPr lang="es-ES" sz="2000" b="1" dirty="0">
                <a:solidFill>
                  <a:srgbClr val="009900"/>
                </a:solidFill>
              </a:rPr>
              <a:t>18</a:t>
            </a:r>
            <a:r>
              <a:rPr lang="es-ES" sz="2000" dirty="0">
                <a:solidFill>
                  <a:srgbClr val="FF0000"/>
                </a:solidFill>
              </a:rPr>
              <a:t>  </a:t>
            </a:r>
            <a:r>
              <a:rPr lang="es-ES" sz="2000" b="1" dirty="0">
                <a:solidFill>
                  <a:srgbClr val="0070C0"/>
                </a:solidFill>
              </a:rPr>
              <a:t>)…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white">
          <a:xfrm>
            <a:off x="964625" y="58071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EVALUACIÓN</a:t>
            </a:r>
            <a:endParaRPr lang="en-US" kern="0" dirty="0">
              <a:solidFill>
                <a:schemeClr val="accent1"/>
              </a:solidFill>
            </a:endParaRPr>
          </a:p>
        </p:txBody>
      </p:sp>
      <p:sp>
        <p:nvSpPr>
          <p:cNvPr id="33" name="32 CuadroTexto"/>
          <p:cNvSpPr txBox="1"/>
          <p:nvPr/>
        </p:nvSpPr>
        <p:spPr>
          <a:xfrm>
            <a:off x="3491880" y="1772816"/>
            <a:ext cx="202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edad =</a:t>
            </a:r>
            <a:r>
              <a:rPr lang="es-ES" sz="1800" dirty="0">
                <a:solidFill>
                  <a:srgbClr val="FF6600"/>
                </a:solidFill>
                <a:latin typeface="Kozuka Gothic Pr6N B" pitchFamily="34" charset="-128"/>
                <a:ea typeface="Kozuka Gothic Pr6N B" pitchFamily="34" charset="-128"/>
              </a:rPr>
              <a:t> </a:t>
            </a:r>
            <a:r>
              <a:rPr lang="es-ES" sz="1800" dirty="0">
                <a:solidFill>
                  <a:srgbClr val="009900"/>
                </a:solidFill>
                <a:latin typeface="Kozuka Gothic Pr6N B" pitchFamily="34" charset="-128"/>
                <a:ea typeface="Kozuka Gothic Pr6N B" pitchFamily="34" charset="-128"/>
              </a:rPr>
              <a:t>10</a:t>
            </a:r>
            <a:r>
              <a:rPr lang="es-ES" sz="1800" dirty="0">
                <a:solidFill>
                  <a:srgbClr val="0070C0"/>
                </a:solidFill>
                <a:latin typeface="Kozuka Gothic Pr6N B" pitchFamily="34" charset="-128"/>
                <a:ea typeface="Kozuka Gothic Pr6N B" pitchFamily="34" charset="-128"/>
              </a:rPr>
              <a:t>;</a:t>
            </a:r>
          </a:p>
        </p:txBody>
      </p:sp>
      <p:grpSp>
        <p:nvGrpSpPr>
          <p:cNvPr id="4" name="3 Grupo"/>
          <p:cNvGrpSpPr/>
          <p:nvPr/>
        </p:nvGrpSpPr>
        <p:grpSpPr>
          <a:xfrm>
            <a:off x="3910629" y="2492896"/>
            <a:ext cx="1135016" cy="633150"/>
            <a:chOff x="3910629" y="2492896"/>
            <a:chExt cx="1135016" cy="633150"/>
          </a:xfrm>
        </p:grpSpPr>
        <p:sp>
          <p:nvSpPr>
            <p:cNvPr id="3" name="2 Abrir llave"/>
            <p:cNvSpPr/>
            <p:nvPr/>
          </p:nvSpPr>
          <p:spPr bwMode="auto">
            <a:xfrm rot="16200000">
              <a:off x="4327397" y="2076128"/>
              <a:ext cx="301480" cy="1135016"/>
            </a:xfrm>
            <a:prstGeom prst="leftBrace">
              <a:avLst>
                <a:gd name="adj1" fmla="val 38347"/>
                <a:gd name="adj2" fmla="val 50000"/>
              </a:avLst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24 Rectángulo"/>
            <p:cNvSpPr/>
            <p:nvPr/>
          </p:nvSpPr>
          <p:spPr>
            <a:xfrm>
              <a:off x="4121275" y="2725936"/>
              <a:ext cx="72008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solidFill>
                    <a:srgbClr val="FF3300"/>
                  </a:solidFill>
                </a:rPr>
                <a:t>true</a:t>
              </a:r>
              <a:endParaRPr lang="es-ES" sz="1600" b="1" i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8" name="27 CuadroTexto"/>
          <p:cNvSpPr txBox="1"/>
          <p:nvPr/>
        </p:nvSpPr>
        <p:spPr>
          <a:xfrm>
            <a:off x="1006503" y="3414078"/>
            <a:ext cx="723790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Si el resultado de la </a:t>
            </a:r>
            <a:r>
              <a:rPr lang="es-ES" i="1" dirty="0">
                <a:solidFill>
                  <a:srgbClr val="FF6600"/>
                </a:solidFill>
              </a:rPr>
              <a:t>evaluación</a:t>
            </a:r>
            <a:r>
              <a:rPr lang="es-ES" dirty="0"/>
              <a:t> es </a:t>
            </a:r>
            <a:r>
              <a:rPr lang="es-ES" dirty="0">
                <a:solidFill>
                  <a:srgbClr val="FF6600"/>
                </a:solidFill>
              </a:rPr>
              <a:t>true </a:t>
            </a:r>
          </a:p>
          <a:p>
            <a:pPr algn="ctr"/>
            <a:r>
              <a:rPr lang="es-ES" dirty="0"/>
              <a:t>se </a:t>
            </a:r>
            <a:r>
              <a:rPr lang="es-ES" dirty="0">
                <a:solidFill>
                  <a:srgbClr val="FF6600"/>
                </a:solidFill>
              </a:rPr>
              <a:t>ejecuta</a:t>
            </a:r>
            <a:r>
              <a:rPr lang="es-ES" dirty="0"/>
              <a:t> la primera instrucción o bloque.</a:t>
            </a:r>
            <a:endParaRPr lang="es-ES" dirty="0">
              <a:solidFill>
                <a:srgbClr val="FF6600"/>
              </a:solidFill>
            </a:endParaRPr>
          </a:p>
        </p:txBody>
      </p:sp>
      <p:grpSp>
        <p:nvGrpSpPr>
          <p:cNvPr id="5" name="4 Grupo"/>
          <p:cNvGrpSpPr/>
          <p:nvPr/>
        </p:nvGrpSpPr>
        <p:grpSpPr>
          <a:xfrm>
            <a:off x="1830591" y="4189444"/>
            <a:ext cx="5832648" cy="535700"/>
            <a:chOff x="1691680" y="4189444"/>
            <a:chExt cx="5832648" cy="535700"/>
          </a:xfrm>
        </p:grpSpPr>
        <p:sp>
          <p:nvSpPr>
            <p:cNvPr id="30" name="29 Rectángulo"/>
            <p:cNvSpPr/>
            <p:nvPr/>
          </p:nvSpPr>
          <p:spPr bwMode="auto">
            <a:xfrm>
              <a:off x="1691680" y="4189444"/>
              <a:ext cx="5832648" cy="5357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25 Rectángulo"/>
            <p:cNvSpPr/>
            <p:nvPr/>
          </p:nvSpPr>
          <p:spPr>
            <a:xfrm>
              <a:off x="1766860" y="4274234"/>
              <a:ext cx="193226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2000" b="1" dirty="0" err="1">
                  <a:solidFill>
                    <a:srgbClr val="0070C0"/>
                  </a:solidFill>
                </a:rPr>
                <a:t>if</a:t>
              </a:r>
              <a:r>
                <a:rPr lang="es-ES" sz="2000" b="1" dirty="0">
                  <a:solidFill>
                    <a:srgbClr val="0070C0"/>
                  </a:solidFill>
                </a:rPr>
                <a:t>( </a:t>
              </a:r>
              <a:r>
                <a:rPr lang="es-ES" sz="2000" b="1" dirty="0">
                  <a:solidFill>
                    <a:srgbClr val="FF3300"/>
                  </a:solidFill>
                </a:rPr>
                <a:t>true</a:t>
              </a:r>
              <a:r>
                <a:rPr lang="es-ES" sz="1600" b="1" i="1" dirty="0">
                  <a:solidFill>
                    <a:srgbClr val="002060"/>
                  </a:solidFill>
                </a:rPr>
                <a:t> </a:t>
              </a:r>
              <a:r>
                <a:rPr lang="es-ES" sz="2000" b="1" dirty="0">
                  <a:solidFill>
                    <a:srgbClr val="0070C0"/>
                  </a:solidFill>
                </a:rPr>
                <a:t>)…</a:t>
              </a:r>
              <a:endParaRPr lang="es-E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27" name="26 Conector recto de flecha"/>
            <p:cNvCxnSpPr/>
            <p:nvPr/>
          </p:nvCxnSpPr>
          <p:spPr bwMode="auto">
            <a:xfrm rot="16200000" flipH="1">
              <a:off x="3443163" y="4284539"/>
              <a:ext cx="1" cy="402431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30 Rectángulo"/>
            <p:cNvSpPr/>
            <p:nvPr/>
          </p:nvSpPr>
          <p:spPr>
            <a:xfrm>
              <a:off x="3679008" y="4274234"/>
              <a:ext cx="38453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2000" b="1" i="1" dirty="0">
                  <a:solidFill>
                    <a:srgbClr val="00B050"/>
                  </a:solidFill>
                </a:rPr>
                <a:t>se ejecuta el 1º bloque</a:t>
              </a:r>
              <a:endParaRPr lang="es-ES" sz="1600" b="1" i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" name="5 Grupo"/>
          <p:cNvGrpSpPr/>
          <p:nvPr/>
        </p:nvGrpSpPr>
        <p:grpSpPr>
          <a:xfrm>
            <a:off x="1834783" y="4765508"/>
            <a:ext cx="5832648" cy="535700"/>
            <a:chOff x="1695872" y="4765508"/>
            <a:chExt cx="5832648" cy="535700"/>
          </a:xfrm>
        </p:grpSpPr>
        <p:sp>
          <p:nvSpPr>
            <p:cNvPr id="34" name="33 Rectángulo"/>
            <p:cNvSpPr/>
            <p:nvPr/>
          </p:nvSpPr>
          <p:spPr bwMode="auto">
            <a:xfrm>
              <a:off x="1695872" y="4765508"/>
              <a:ext cx="5832648" cy="5357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34 Rectángulo"/>
            <p:cNvSpPr/>
            <p:nvPr/>
          </p:nvSpPr>
          <p:spPr>
            <a:xfrm>
              <a:off x="1771052" y="4850298"/>
              <a:ext cx="193226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2000" b="1" dirty="0" err="1">
                  <a:solidFill>
                    <a:srgbClr val="0070C0"/>
                  </a:solidFill>
                </a:rPr>
                <a:t>if</a:t>
              </a:r>
              <a:r>
                <a:rPr lang="es-ES" sz="2000" b="1" dirty="0">
                  <a:solidFill>
                    <a:srgbClr val="0070C0"/>
                  </a:solidFill>
                </a:rPr>
                <a:t>( </a:t>
              </a:r>
              <a:r>
                <a:rPr lang="es-ES" sz="2000" b="1" dirty="0">
                  <a:solidFill>
                    <a:srgbClr val="FF3300"/>
                  </a:solidFill>
                </a:rPr>
                <a:t>false</a:t>
              </a:r>
              <a:r>
                <a:rPr lang="es-ES" sz="1600" b="1" i="1" dirty="0">
                  <a:solidFill>
                    <a:srgbClr val="002060"/>
                  </a:solidFill>
                </a:rPr>
                <a:t> </a:t>
              </a:r>
              <a:r>
                <a:rPr lang="es-ES" sz="2000" b="1" dirty="0">
                  <a:solidFill>
                    <a:srgbClr val="0070C0"/>
                  </a:solidFill>
                </a:rPr>
                <a:t>)…</a:t>
              </a:r>
              <a:endParaRPr lang="es-E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36" name="35 Conector recto de flecha"/>
            <p:cNvCxnSpPr/>
            <p:nvPr/>
          </p:nvCxnSpPr>
          <p:spPr bwMode="auto">
            <a:xfrm rot="16200000" flipH="1">
              <a:off x="3409255" y="4860603"/>
              <a:ext cx="1" cy="402431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36 Rectángulo"/>
            <p:cNvSpPr/>
            <p:nvPr/>
          </p:nvSpPr>
          <p:spPr>
            <a:xfrm>
              <a:off x="3683199" y="4850298"/>
              <a:ext cx="384532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2000" b="1" i="1" dirty="0">
                  <a:solidFill>
                    <a:srgbClr val="00B050"/>
                  </a:solidFill>
                </a:rPr>
                <a:t>Se ejecuta el 2º bloque </a:t>
              </a:r>
              <a:r>
                <a:rPr lang="es-ES" sz="2000" b="1" i="1" dirty="0">
                  <a:solidFill>
                    <a:srgbClr val="0070C0"/>
                  </a:solidFill>
                </a:rPr>
                <a:t>(</a:t>
              </a:r>
              <a:r>
                <a:rPr lang="es-ES" sz="2000" b="1" i="1" dirty="0" err="1">
                  <a:solidFill>
                    <a:srgbClr val="0070C0"/>
                  </a:solidFill>
                </a:rPr>
                <a:t>else</a:t>
              </a:r>
              <a:r>
                <a:rPr lang="es-ES" sz="2000" b="1" i="1" dirty="0">
                  <a:solidFill>
                    <a:srgbClr val="0070C0"/>
                  </a:solidFill>
                </a:rPr>
                <a:t>)</a:t>
              </a:r>
              <a:endParaRPr lang="es-ES" sz="1600" b="1" i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850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1" grpId="0"/>
      <p:bldP spid="63" grpId="0"/>
      <p:bldP spid="33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Rectángulo"/>
          <p:cNvSpPr/>
          <p:nvPr/>
        </p:nvSpPr>
        <p:spPr bwMode="auto">
          <a:xfrm>
            <a:off x="2123728" y="2622094"/>
            <a:ext cx="4968552" cy="18870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957192" y="1152327"/>
            <a:ext cx="723790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Las </a:t>
            </a:r>
            <a:r>
              <a:rPr lang="es-ES" i="1" dirty="0">
                <a:solidFill>
                  <a:srgbClr val="FF6600"/>
                </a:solidFill>
              </a:rPr>
              <a:t>Operaciones Lógicas</a:t>
            </a:r>
            <a:r>
              <a:rPr lang="es-ES" dirty="0"/>
              <a:t>  pueden evaluarse </a:t>
            </a:r>
            <a:r>
              <a:rPr lang="es-ES" dirty="0">
                <a:solidFill>
                  <a:srgbClr val="FF6600"/>
                </a:solidFill>
              </a:rPr>
              <a:t>antes del </a:t>
            </a:r>
            <a:r>
              <a:rPr lang="es-ES" sz="2000" b="1" dirty="0" err="1">
                <a:solidFill>
                  <a:srgbClr val="0070C0"/>
                </a:solidFill>
              </a:rPr>
              <a:t>if</a:t>
            </a:r>
          </a:p>
          <a:p>
            <a:pPr algn="ctr"/>
            <a:r>
              <a:rPr lang="es-ES" dirty="0"/>
              <a:t>y el resultado puede </a:t>
            </a:r>
            <a:r>
              <a:rPr lang="es-ES" dirty="0">
                <a:solidFill>
                  <a:srgbClr val="FF6600"/>
                </a:solidFill>
              </a:rPr>
              <a:t>guardarse</a:t>
            </a:r>
            <a:r>
              <a:rPr lang="es-ES" dirty="0"/>
              <a:t> en una variable </a:t>
            </a:r>
            <a:r>
              <a:rPr lang="es-ES" dirty="0">
                <a:solidFill>
                  <a:srgbClr val="FF6600"/>
                </a:solidFill>
              </a:rPr>
              <a:t>booleana</a:t>
            </a:r>
            <a:r>
              <a:rPr lang="es-ES" dirty="0"/>
              <a:t>…</a:t>
            </a:r>
            <a:endParaRPr lang="es-ES" dirty="0">
              <a:solidFill>
                <a:srgbClr val="FF6600"/>
              </a:solidFill>
            </a:endParaRPr>
          </a:p>
        </p:txBody>
      </p:sp>
      <p:sp>
        <p:nvSpPr>
          <p:cNvPr id="63" name="62 Rectángulo"/>
          <p:cNvSpPr/>
          <p:nvPr/>
        </p:nvSpPr>
        <p:spPr>
          <a:xfrm>
            <a:off x="2699791" y="3464064"/>
            <a:ext cx="25922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err="1">
                <a:solidFill>
                  <a:srgbClr val="0070C0"/>
                </a:solidFill>
              </a:rPr>
              <a:t>if</a:t>
            </a:r>
            <a:r>
              <a:rPr lang="es-ES" sz="2000" b="1">
                <a:solidFill>
                  <a:srgbClr val="0070C0"/>
                </a:solidFill>
              </a:rPr>
              <a:t>( </a:t>
            </a:r>
            <a:r>
              <a:rPr lang="es-ES" sz="180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menorEdad</a:t>
            </a:r>
            <a:r>
              <a:rPr lang="es-ES" sz="200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 </a:t>
            </a:r>
            <a:r>
              <a:rPr lang="es-ES" sz="2000" b="1" dirty="0">
                <a:solidFill>
                  <a:srgbClr val="0070C0"/>
                </a:solidFill>
              </a:rPr>
              <a:t>)…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white">
          <a:xfrm>
            <a:off x="964625" y="58071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PRE-EVALUACIÓN</a:t>
            </a:r>
            <a:endParaRPr lang="en-US" kern="0" dirty="0">
              <a:solidFill>
                <a:schemeClr val="accent1"/>
              </a:solidFill>
            </a:endParaRPr>
          </a:p>
        </p:txBody>
      </p:sp>
      <p:sp>
        <p:nvSpPr>
          <p:cNvPr id="33" name="32 CuadroTexto"/>
          <p:cNvSpPr txBox="1"/>
          <p:nvPr/>
        </p:nvSpPr>
        <p:spPr>
          <a:xfrm>
            <a:off x="2712491" y="2708920"/>
            <a:ext cx="202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edad =</a:t>
            </a:r>
            <a:r>
              <a:rPr lang="es-ES" sz="1800" dirty="0">
                <a:solidFill>
                  <a:srgbClr val="FF6600"/>
                </a:solidFill>
                <a:latin typeface="Kozuka Gothic Pr6N B" pitchFamily="34" charset="-128"/>
                <a:ea typeface="Kozuka Gothic Pr6N B" pitchFamily="34" charset="-128"/>
              </a:rPr>
              <a:t> </a:t>
            </a:r>
            <a:r>
              <a:rPr lang="es-ES" sz="1800" dirty="0">
                <a:solidFill>
                  <a:srgbClr val="009900"/>
                </a:solidFill>
                <a:latin typeface="Kozuka Gothic Pr6N B" pitchFamily="34" charset="-128"/>
                <a:ea typeface="Kozuka Gothic Pr6N B" pitchFamily="34" charset="-128"/>
              </a:rPr>
              <a:t>10</a:t>
            </a:r>
            <a:r>
              <a:rPr lang="es-ES" sz="1800" dirty="0">
                <a:solidFill>
                  <a:srgbClr val="0070C0"/>
                </a:solidFill>
                <a:latin typeface="Kozuka Gothic Pr6N B" pitchFamily="34" charset="-128"/>
                <a:ea typeface="Kozuka Gothic Pr6N B" pitchFamily="34" charset="-128"/>
              </a:rPr>
              <a:t>;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2712491" y="3000360"/>
            <a:ext cx="3803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err="1">
                <a:solidFill>
                  <a:srgbClr val="0070C0"/>
                </a:solidFill>
                <a:latin typeface="Kozuka Gothic Pr6N B" pitchFamily="34" charset="-128"/>
                <a:ea typeface="Kozuka Gothic Pr6N B" pitchFamily="34" charset="-128"/>
              </a:rPr>
              <a:t>boolean</a:t>
            </a:r>
            <a:r>
              <a:rPr lang="es-ES" sz="180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 menorEdad </a:t>
            </a:r>
            <a:r>
              <a:rPr lang="es-ES" sz="1800" dirty="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=</a:t>
            </a:r>
            <a:r>
              <a:rPr lang="es-ES" sz="1800" dirty="0">
                <a:solidFill>
                  <a:srgbClr val="FF6600"/>
                </a:solidFill>
                <a:latin typeface="Kozuka Gothic Pr6N B" pitchFamily="34" charset="-128"/>
                <a:ea typeface="Kozuka Gothic Pr6N B" pitchFamily="34" charset="-128"/>
              </a:rPr>
              <a:t> </a:t>
            </a:r>
            <a:r>
              <a:rPr lang="es-ES" sz="1800" b="1" dirty="0">
                <a:solidFill>
                  <a:srgbClr val="000000"/>
                </a:solidFill>
              </a:rPr>
              <a:t>edad </a:t>
            </a:r>
            <a:r>
              <a:rPr lang="es-ES" sz="1800" b="1" dirty="0">
                <a:solidFill>
                  <a:srgbClr val="FF6600"/>
                </a:solidFill>
              </a:rPr>
              <a:t>&lt;</a:t>
            </a:r>
            <a:r>
              <a:rPr lang="es-ES" sz="1800" b="1" dirty="0">
                <a:solidFill>
                  <a:srgbClr val="000000"/>
                </a:solidFill>
              </a:rPr>
              <a:t> </a:t>
            </a:r>
            <a:r>
              <a:rPr lang="es-ES" sz="1800" b="1" dirty="0">
                <a:solidFill>
                  <a:srgbClr val="009900"/>
                </a:solidFill>
              </a:rPr>
              <a:t>18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>
                <a:solidFill>
                  <a:srgbClr val="0070C0"/>
                </a:solidFill>
                <a:latin typeface="Kozuka Gothic Pr6N B" pitchFamily="34" charset="-128"/>
                <a:ea typeface="Kozuka Gothic Pr6N B" pitchFamily="34" charset="-128"/>
              </a:rPr>
              <a:t>;</a:t>
            </a:r>
          </a:p>
        </p:txBody>
      </p:sp>
      <p:grpSp>
        <p:nvGrpSpPr>
          <p:cNvPr id="2" name="1 Grupo"/>
          <p:cNvGrpSpPr/>
          <p:nvPr/>
        </p:nvGrpSpPr>
        <p:grpSpPr>
          <a:xfrm>
            <a:off x="5204605" y="3313324"/>
            <a:ext cx="1023578" cy="628677"/>
            <a:chOff x="5204605" y="3313324"/>
            <a:chExt cx="1023578" cy="628677"/>
          </a:xfrm>
        </p:grpSpPr>
        <p:sp>
          <p:nvSpPr>
            <p:cNvPr id="19" name="18 Rectángulo"/>
            <p:cNvSpPr/>
            <p:nvPr/>
          </p:nvSpPr>
          <p:spPr>
            <a:xfrm>
              <a:off x="5356354" y="3541891"/>
              <a:ext cx="72008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solidFill>
                    <a:srgbClr val="FF3300"/>
                  </a:solidFill>
                </a:rPr>
                <a:t>true</a:t>
              </a:r>
              <a:endParaRPr lang="es-ES" sz="1600" b="1" i="1" dirty="0">
                <a:solidFill>
                  <a:srgbClr val="002060"/>
                </a:solidFill>
              </a:endParaRPr>
            </a:p>
          </p:txBody>
        </p:sp>
        <p:sp>
          <p:nvSpPr>
            <p:cNvPr id="20" name="19 Abrir llave"/>
            <p:cNvSpPr/>
            <p:nvPr/>
          </p:nvSpPr>
          <p:spPr bwMode="auto">
            <a:xfrm rot="16200000">
              <a:off x="5565654" y="2952275"/>
              <a:ext cx="301480" cy="1023578"/>
            </a:xfrm>
            <a:prstGeom prst="leftBrace">
              <a:avLst>
                <a:gd name="adj1" fmla="val 38347"/>
                <a:gd name="adj2" fmla="val 50000"/>
              </a:avLst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4" name="3 Grupo"/>
          <p:cNvGrpSpPr/>
          <p:nvPr/>
        </p:nvGrpSpPr>
        <p:grpSpPr>
          <a:xfrm>
            <a:off x="3107591" y="3816660"/>
            <a:ext cx="1176375" cy="620452"/>
            <a:chOff x="3107591" y="3816660"/>
            <a:chExt cx="1176375" cy="620452"/>
          </a:xfrm>
        </p:grpSpPr>
        <p:sp>
          <p:nvSpPr>
            <p:cNvPr id="25" name="24 Rectángulo"/>
            <p:cNvSpPr/>
            <p:nvPr/>
          </p:nvSpPr>
          <p:spPr>
            <a:xfrm>
              <a:off x="3326655" y="4037002"/>
              <a:ext cx="72008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solidFill>
                    <a:srgbClr val="FF3300"/>
                  </a:solidFill>
                </a:rPr>
                <a:t>true</a:t>
              </a:r>
              <a:endParaRPr lang="es-ES" sz="1600" b="1" i="1" dirty="0">
                <a:solidFill>
                  <a:srgbClr val="002060"/>
                </a:solidFill>
              </a:endParaRPr>
            </a:p>
          </p:txBody>
        </p:sp>
        <p:sp>
          <p:nvSpPr>
            <p:cNvPr id="22" name="21 Abrir llave"/>
            <p:cNvSpPr/>
            <p:nvPr/>
          </p:nvSpPr>
          <p:spPr bwMode="auto">
            <a:xfrm rot="16200000">
              <a:off x="3545038" y="3379213"/>
              <a:ext cx="301481" cy="1176375"/>
            </a:xfrm>
            <a:prstGeom prst="leftBrace">
              <a:avLst>
                <a:gd name="adj1" fmla="val 38347"/>
                <a:gd name="adj2" fmla="val 50000"/>
              </a:avLst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3" name="22 CuadroTexto"/>
          <p:cNvSpPr txBox="1"/>
          <p:nvPr/>
        </p:nvSpPr>
        <p:spPr>
          <a:xfrm>
            <a:off x="957191" y="2060848"/>
            <a:ext cx="723790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…que puede </a:t>
            </a:r>
            <a:r>
              <a:rPr lang="es-ES" dirty="0">
                <a:solidFill>
                  <a:srgbClr val="FF6600"/>
                </a:solidFill>
              </a:rPr>
              <a:t>usarse después </a:t>
            </a:r>
            <a:r>
              <a:rPr lang="es-ES" dirty="0"/>
              <a:t>dentro del </a:t>
            </a:r>
            <a:r>
              <a:rPr lang="es-ES" b="1" dirty="0" err="1">
                <a:solidFill>
                  <a:srgbClr val="0070C0"/>
                </a:solidFill>
              </a:rPr>
              <a:t>if</a:t>
            </a:r>
            <a:r>
              <a:rPr lang="es-ES" dirty="0"/>
              <a:t>.</a:t>
            </a:r>
            <a:endParaRPr lang="es-E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62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1" grpId="0"/>
      <p:bldP spid="63" grpId="0"/>
      <p:bldP spid="33" grpId="0"/>
      <p:bldP spid="18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Rectángulo"/>
          <p:cNvSpPr/>
          <p:nvPr/>
        </p:nvSpPr>
        <p:spPr bwMode="auto">
          <a:xfrm>
            <a:off x="1835696" y="2550086"/>
            <a:ext cx="5616624" cy="29671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957192" y="1353533"/>
            <a:ext cx="723790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Hay </a:t>
            </a:r>
            <a:r>
              <a:rPr lang="es-ES" dirty="0">
                <a:solidFill>
                  <a:srgbClr val="FF6600"/>
                </a:solidFill>
              </a:rPr>
              <a:t>métodos</a:t>
            </a:r>
            <a:r>
              <a:rPr lang="es-ES" dirty="0"/>
              <a:t> que devuelven un valor </a:t>
            </a:r>
            <a:r>
              <a:rPr lang="es-ES" dirty="0" err="1">
                <a:solidFill>
                  <a:srgbClr val="FF6600"/>
                </a:solidFill>
              </a:rPr>
              <a:t>boolean</a:t>
            </a:r>
            <a:r>
              <a:rPr lang="es-ES" dirty="0"/>
              <a:t> (</a:t>
            </a:r>
            <a:r>
              <a:rPr lang="es-ES" dirty="0">
                <a:solidFill>
                  <a:srgbClr val="FF6600"/>
                </a:solidFill>
              </a:rPr>
              <a:t>true</a:t>
            </a:r>
            <a:r>
              <a:rPr lang="es-ES" dirty="0"/>
              <a:t> o </a:t>
            </a:r>
            <a:r>
              <a:rPr lang="es-ES" dirty="0">
                <a:solidFill>
                  <a:srgbClr val="FF6600"/>
                </a:solidFill>
              </a:rPr>
              <a:t>false</a:t>
            </a:r>
            <a:r>
              <a:rPr lang="es-ES" dirty="0"/>
              <a:t>)</a:t>
            </a:r>
            <a:endParaRPr lang="es-ES" sz="2000" b="1" dirty="0">
              <a:solidFill>
                <a:srgbClr val="0070C0"/>
              </a:solidFill>
            </a:endParaRPr>
          </a:p>
          <a:p>
            <a:pPr algn="ctr"/>
            <a:r>
              <a:rPr lang="es-ES" dirty="0"/>
              <a:t>y que por tanto pueden emplearse como condición en el </a:t>
            </a:r>
            <a:r>
              <a:rPr lang="es-ES" b="1" dirty="0" err="1">
                <a:solidFill>
                  <a:srgbClr val="0070C0"/>
                </a:solidFill>
              </a:rPr>
              <a:t>if</a:t>
            </a:r>
            <a:r>
              <a:rPr lang="es-ES" dirty="0"/>
              <a:t>.</a:t>
            </a:r>
            <a:endParaRPr lang="es-ES" dirty="0">
              <a:solidFill>
                <a:srgbClr val="FF6600"/>
              </a:solidFill>
            </a:endParaRPr>
          </a:p>
        </p:txBody>
      </p:sp>
      <p:sp>
        <p:nvSpPr>
          <p:cNvPr id="63" name="62 Rectángulo"/>
          <p:cNvSpPr/>
          <p:nvPr/>
        </p:nvSpPr>
        <p:spPr>
          <a:xfrm>
            <a:off x="2195736" y="3624044"/>
            <a:ext cx="41044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err="1">
                <a:solidFill>
                  <a:srgbClr val="0070C0"/>
                </a:solidFill>
              </a:rPr>
              <a:t>if</a:t>
            </a:r>
            <a:r>
              <a:rPr lang="es-ES" sz="2000" b="1" dirty="0">
                <a:solidFill>
                  <a:srgbClr val="0070C0"/>
                </a:solidFill>
              </a:rPr>
              <a:t>( </a:t>
            </a:r>
            <a:r>
              <a:rPr lang="es-ES" sz="1800" dirty="0" err="1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nombre.</a:t>
            </a:r>
            <a:r>
              <a:rPr lang="es-ES" sz="1800" dirty="0" err="1">
                <a:solidFill>
                  <a:srgbClr val="FF0000"/>
                </a:solidFill>
                <a:latin typeface="Kozuka Gothic Pr6N B" pitchFamily="34" charset="-128"/>
                <a:ea typeface="Kozuka Gothic Pr6N B" pitchFamily="34" charset="-128"/>
              </a:rPr>
              <a:t>endsWith</a:t>
            </a:r>
            <a:r>
              <a:rPr lang="es-ES" sz="1800" dirty="0">
                <a:solidFill>
                  <a:srgbClr val="FF0000"/>
                </a:solidFill>
                <a:latin typeface="Kozuka Gothic Pr6N B" pitchFamily="34" charset="-128"/>
                <a:ea typeface="Kozuka Gothic Pr6N B" pitchFamily="34" charset="-128"/>
              </a:rPr>
              <a:t>(</a:t>
            </a:r>
            <a:r>
              <a:rPr lang="es-ES" sz="1800" dirty="0">
                <a:solidFill>
                  <a:srgbClr val="009900"/>
                </a:solidFill>
                <a:latin typeface="Kozuka Gothic Pr6N B" pitchFamily="34" charset="-128"/>
                <a:ea typeface="Kozuka Gothic Pr6N B" pitchFamily="34" charset="-128"/>
              </a:rPr>
              <a:t>"a"</a:t>
            </a:r>
            <a:r>
              <a:rPr lang="es-ES" sz="1800" dirty="0">
                <a:solidFill>
                  <a:srgbClr val="FF0000"/>
                </a:solidFill>
                <a:latin typeface="Kozuka Gothic Pr6N B" pitchFamily="34" charset="-128"/>
                <a:ea typeface="Kozuka Gothic Pr6N B" pitchFamily="34" charset="-128"/>
              </a:rPr>
              <a:t>)</a:t>
            </a:r>
            <a:r>
              <a:rPr lang="es-ES" sz="2000" dirty="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 </a:t>
            </a:r>
            <a:r>
              <a:rPr lang="es-ES" sz="2000" b="1" dirty="0">
                <a:solidFill>
                  <a:srgbClr val="0070C0"/>
                </a:solidFill>
              </a:rPr>
              <a:t>) </a:t>
            </a: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white">
          <a:xfrm>
            <a:off x="964625" y="58071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MÉTODOS QUE DEVUELVEN BOOLEAN</a:t>
            </a:r>
            <a:endParaRPr lang="en-US" kern="0" dirty="0">
              <a:solidFill>
                <a:schemeClr val="accent1"/>
              </a:solidFill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2208437" y="2753410"/>
            <a:ext cx="3803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 err="1">
                <a:solidFill>
                  <a:srgbClr val="0070C0"/>
                </a:solidFill>
                <a:latin typeface="Kozuka Gothic Pr6N B" pitchFamily="34" charset="-128"/>
                <a:ea typeface="Kozuka Gothic Pr6N B" pitchFamily="34" charset="-128"/>
              </a:rPr>
              <a:t>String</a:t>
            </a:r>
            <a:r>
              <a:rPr lang="es-ES" sz="1800" dirty="0">
                <a:solidFill>
                  <a:srgbClr val="0070C0"/>
                </a:solidFill>
                <a:latin typeface="Kozuka Gothic Pr6N B" pitchFamily="34" charset="-128"/>
                <a:ea typeface="Kozuka Gothic Pr6N B" pitchFamily="34" charset="-128"/>
              </a:rPr>
              <a:t> </a:t>
            </a:r>
            <a:r>
              <a:rPr lang="es-ES" sz="1800" dirty="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nombre =</a:t>
            </a:r>
            <a:r>
              <a:rPr lang="es-ES" sz="1800" dirty="0">
                <a:solidFill>
                  <a:srgbClr val="FF6600"/>
                </a:solidFill>
                <a:latin typeface="Kozuka Gothic Pr6N B" pitchFamily="34" charset="-128"/>
                <a:ea typeface="Kozuka Gothic Pr6N B" pitchFamily="34" charset="-128"/>
              </a:rPr>
              <a:t> </a:t>
            </a:r>
            <a:r>
              <a:rPr lang="es-ES" sz="1800" b="1" dirty="0">
                <a:solidFill>
                  <a:srgbClr val="009900"/>
                </a:solidFill>
              </a:rPr>
              <a:t>"María"</a:t>
            </a:r>
            <a:r>
              <a:rPr lang="es-ES" sz="1800" dirty="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;</a:t>
            </a:r>
          </a:p>
        </p:txBody>
      </p:sp>
      <p:grpSp>
        <p:nvGrpSpPr>
          <p:cNvPr id="2" name="1 Grupo"/>
          <p:cNvGrpSpPr/>
          <p:nvPr/>
        </p:nvGrpSpPr>
        <p:grpSpPr>
          <a:xfrm>
            <a:off x="2603537" y="3041442"/>
            <a:ext cx="2328505" cy="644442"/>
            <a:chOff x="2603537" y="3041442"/>
            <a:chExt cx="2328505" cy="644442"/>
          </a:xfrm>
        </p:grpSpPr>
        <p:sp>
          <p:nvSpPr>
            <p:cNvPr id="25" name="24 Rectángulo"/>
            <p:cNvSpPr/>
            <p:nvPr/>
          </p:nvSpPr>
          <p:spPr>
            <a:xfrm>
              <a:off x="3436985" y="3041442"/>
              <a:ext cx="72008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i="1" dirty="0">
                  <a:solidFill>
                    <a:srgbClr val="FF3300"/>
                  </a:solidFill>
                </a:rPr>
                <a:t>true</a:t>
              </a:r>
              <a:endParaRPr lang="es-ES" sz="1600" b="1" i="1" dirty="0">
                <a:solidFill>
                  <a:srgbClr val="002060"/>
                </a:solidFill>
              </a:endParaRPr>
            </a:p>
          </p:txBody>
        </p:sp>
        <p:sp>
          <p:nvSpPr>
            <p:cNvPr id="22" name="21 Abrir llave"/>
            <p:cNvSpPr/>
            <p:nvPr/>
          </p:nvSpPr>
          <p:spPr bwMode="auto">
            <a:xfrm rot="5400000" flipV="1">
              <a:off x="3617049" y="2370891"/>
              <a:ext cx="301481" cy="2328505"/>
            </a:xfrm>
            <a:prstGeom prst="leftBrace">
              <a:avLst>
                <a:gd name="adj1" fmla="val 38347"/>
                <a:gd name="adj2" fmla="val 50000"/>
              </a:avLst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4" name="13 Rectángulo"/>
          <p:cNvSpPr/>
          <p:nvPr/>
        </p:nvSpPr>
        <p:spPr>
          <a:xfrm>
            <a:off x="2483769" y="4024154"/>
            <a:ext cx="46805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dirty="0" err="1">
                <a:solidFill>
                  <a:srgbClr val="0070C0"/>
                </a:solidFill>
              </a:rPr>
              <a:t>System.</a:t>
            </a:r>
            <a:r>
              <a:rPr lang="es-ES" sz="2000" dirty="0" err="1">
                <a:solidFill>
                  <a:srgbClr val="000000"/>
                </a:solidFill>
              </a:rPr>
              <a:t>out.</a:t>
            </a:r>
            <a:r>
              <a:rPr lang="es-ES" sz="2000" dirty="0" err="1">
                <a:solidFill>
                  <a:srgbClr val="FF0000"/>
                </a:solidFill>
              </a:rPr>
              <a:t>print</a:t>
            </a:r>
            <a:r>
              <a:rPr lang="es-ES" sz="2000" dirty="0">
                <a:solidFill>
                  <a:srgbClr val="FF0000"/>
                </a:solidFill>
              </a:rPr>
              <a:t>(</a:t>
            </a:r>
            <a:r>
              <a:rPr lang="es-ES" sz="1800" dirty="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nombre+</a:t>
            </a:r>
            <a:r>
              <a:rPr lang="es-ES" sz="2000" dirty="0">
                <a:solidFill>
                  <a:srgbClr val="00B050"/>
                </a:solidFill>
              </a:rPr>
              <a:t>" es mujer."</a:t>
            </a:r>
            <a:r>
              <a:rPr lang="es-ES" sz="2000" dirty="0">
                <a:solidFill>
                  <a:srgbClr val="FF0000"/>
                </a:solidFill>
              </a:rPr>
              <a:t>)</a:t>
            </a:r>
            <a:r>
              <a:rPr lang="es-ES" sz="2000" dirty="0">
                <a:solidFill>
                  <a:srgbClr val="000000"/>
                </a:solidFill>
              </a:rPr>
              <a:t>;</a:t>
            </a:r>
            <a:endParaRPr lang="es-ES" sz="2000" b="1" dirty="0">
              <a:solidFill>
                <a:srgbClr val="000000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2195736" y="4424264"/>
            <a:ext cx="41044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err="1">
                <a:solidFill>
                  <a:srgbClr val="0070C0"/>
                </a:solidFill>
              </a:rPr>
              <a:t>else</a:t>
            </a:r>
            <a:r>
              <a:rPr lang="es-ES" sz="2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7" name="16 Rectángulo"/>
          <p:cNvSpPr/>
          <p:nvPr/>
        </p:nvSpPr>
        <p:spPr>
          <a:xfrm>
            <a:off x="2483769" y="4848048"/>
            <a:ext cx="49600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dirty="0" err="1">
                <a:solidFill>
                  <a:srgbClr val="0070C0"/>
                </a:solidFill>
              </a:rPr>
              <a:t>System.</a:t>
            </a:r>
            <a:r>
              <a:rPr lang="es-ES" sz="2000" dirty="0" err="1">
                <a:solidFill>
                  <a:srgbClr val="000000"/>
                </a:solidFill>
              </a:rPr>
              <a:t>out.</a:t>
            </a:r>
            <a:r>
              <a:rPr lang="es-ES" sz="2000" dirty="0" err="1">
                <a:solidFill>
                  <a:srgbClr val="FF0000"/>
                </a:solidFill>
              </a:rPr>
              <a:t>print</a:t>
            </a:r>
            <a:r>
              <a:rPr lang="es-ES" sz="2000" dirty="0">
                <a:solidFill>
                  <a:srgbClr val="FF0000"/>
                </a:solidFill>
              </a:rPr>
              <a:t>(</a:t>
            </a:r>
            <a:r>
              <a:rPr lang="es-ES" sz="1800" dirty="0">
                <a:solidFill>
                  <a:srgbClr val="000000"/>
                </a:solidFill>
                <a:latin typeface="Kozuka Gothic Pr6N B" pitchFamily="34" charset="-128"/>
                <a:ea typeface="Kozuka Gothic Pr6N B" pitchFamily="34" charset="-128"/>
              </a:rPr>
              <a:t>nombre+</a:t>
            </a:r>
            <a:r>
              <a:rPr lang="es-ES" sz="2000" dirty="0">
                <a:solidFill>
                  <a:srgbClr val="00B050"/>
                </a:solidFill>
              </a:rPr>
              <a:t>" es hombre."</a:t>
            </a:r>
            <a:r>
              <a:rPr lang="es-ES" sz="2000" dirty="0">
                <a:solidFill>
                  <a:srgbClr val="FF0000"/>
                </a:solidFill>
              </a:rPr>
              <a:t>)</a:t>
            </a:r>
            <a:r>
              <a:rPr lang="es-ES" sz="2000" dirty="0">
                <a:solidFill>
                  <a:srgbClr val="000000"/>
                </a:solidFill>
              </a:rPr>
              <a:t>;</a:t>
            </a:r>
            <a:endParaRPr lang="es-ES" sz="2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34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1" grpId="0"/>
      <p:bldP spid="63" grpId="0"/>
      <p:bldP spid="18" grpId="0"/>
      <p:bldP spid="14" grpId="0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/>
          <p:cNvSpPr/>
          <p:nvPr/>
        </p:nvSpPr>
        <p:spPr bwMode="auto">
          <a:xfrm>
            <a:off x="1812611" y="2289572"/>
            <a:ext cx="5544617" cy="201622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1042167" y="980728"/>
            <a:ext cx="723790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Las condiciones pueden ser más complejas… </a:t>
            </a:r>
          </a:p>
        </p:txBody>
      </p:sp>
      <p:sp>
        <p:nvSpPr>
          <p:cNvPr id="63" name="62 Rectángulo"/>
          <p:cNvSpPr/>
          <p:nvPr/>
        </p:nvSpPr>
        <p:spPr>
          <a:xfrm>
            <a:off x="2200052" y="2276872"/>
            <a:ext cx="518457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rgbClr val="000000"/>
                </a:solidFill>
              </a:rPr>
              <a:t>…</a:t>
            </a:r>
          </a:p>
          <a:p>
            <a:r>
              <a:rPr lang="es-ES" sz="2000" b="1" dirty="0" err="1">
                <a:solidFill>
                  <a:srgbClr val="0070C0"/>
                </a:solidFill>
              </a:rPr>
              <a:t>if</a:t>
            </a:r>
            <a:r>
              <a:rPr lang="es-ES" sz="2000" b="1" dirty="0">
                <a:solidFill>
                  <a:srgbClr val="0070C0"/>
                </a:solidFill>
              </a:rPr>
              <a:t>( </a:t>
            </a:r>
            <a:r>
              <a:rPr lang="es-ES" sz="2000" b="1" dirty="0" err="1">
                <a:solidFill>
                  <a:srgbClr val="000000"/>
                </a:solidFill>
              </a:rPr>
              <a:t>sexo.</a:t>
            </a:r>
            <a:r>
              <a:rPr lang="es-ES" sz="2000" b="1" dirty="0" err="1">
                <a:solidFill>
                  <a:srgbClr val="FF0000"/>
                </a:solidFill>
              </a:rPr>
              <a:t>equals</a:t>
            </a:r>
            <a:r>
              <a:rPr lang="es-ES" sz="2000" b="1" dirty="0">
                <a:solidFill>
                  <a:srgbClr val="FF0000"/>
                </a:solidFill>
              </a:rPr>
              <a:t>(</a:t>
            </a:r>
            <a:r>
              <a:rPr lang="es-ES" sz="2000" b="1" dirty="0">
                <a:solidFill>
                  <a:srgbClr val="009900"/>
                </a:solidFill>
              </a:rPr>
              <a:t>"Mujer"</a:t>
            </a:r>
            <a:r>
              <a:rPr lang="es-ES" sz="2000" b="1" dirty="0">
                <a:solidFill>
                  <a:srgbClr val="FF0000"/>
                </a:solidFill>
              </a:rPr>
              <a:t>) </a:t>
            </a:r>
            <a:r>
              <a:rPr lang="es-ES" sz="2000" b="1" dirty="0">
                <a:solidFill>
                  <a:srgbClr val="0070C0"/>
                </a:solidFill>
              </a:rPr>
              <a:t>  </a:t>
            </a:r>
            <a:r>
              <a:rPr lang="es-ES" sz="2000" b="1" dirty="0">
                <a:solidFill>
                  <a:srgbClr val="FF0000"/>
                </a:solidFill>
              </a:rPr>
              <a:t> </a:t>
            </a:r>
            <a:r>
              <a:rPr lang="es-ES" sz="2000" b="1" dirty="0">
                <a:solidFill>
                  <a:srgbClr val="000000"/>
                </a:solidFill>
              </a:rPr>
              <a:t>edad&lt;</a:t>
            </a:r>
            <a:r>
              <a:rPr lang="es-ES" sz="2000" b="1" dirty="0">
                <a:solidFill>
                  <a:srgbClr val="009900"/>
                </a:solidFill>
              </a:rPr>
              <a:t>15</a:t>
            </a:r>
            <a:r>
              <a:rPr lang="es-ES" sz="2000" dirty="0">
                <a:solidFill>
                  <a:srgbClr val="FF0000"/>
                </a:solidFill>
              </a:rPr>
              <a:t> </a:t>
            </a:r>
            <a:r>
              <a:rPr lang="es-ES" sz="2000" b="1" dirty="0">
                <a:solidFill>
                  <a:srgbClr val="0070C0"/>
                </a:solidFill>
              </a:rPr>
              <a:t>)</a:t>
            </a:r>
            <a:r>
              <a:rPr lang="es-ES" sz="2000" b="1" dirty="0">
                <a:solidFill>
                  <a:srgbClr val="00B0F0"/>
                </a:solidFill>
              </a:rPr>
              <a:t> </a:t>
            </a:r>
          </a:p>
          <a:p>
            <a:r>
              <a:rPr lang="es-ES" sz="2000" dirty="0">
                <a:solidFill>
                  <a:srgbClr val="FF0000"/>
                </a:solidFill>
              </a:rPr>
              <a:t>     </a:t>
            </a:r>
            <a:r>
              <a:rPr lang="es-ES" sz="2000" dirty="0" err="1">
                <a:solidFill>
                  <a:srgbClr val="00B0F0"/>
                </a:solidFill>
              </a:rPr>
              <a:t>System</a:t>
            </a:r>
            <a:r>
              <a:rPr lang="es-ES" sz="2000" dirty="0" err="1">
                <a:solidFill>
                  <a:srgbClr val="000000"/>
                </a:solidFill>
              </a:rPr>
              <a:t>.out.</a:t>
            </a:r>
            <a:r>
              <a:rPr lang="es-ES" sz="2000" dirty="0" err="1">
                <a:solidFill>
                  <a:srgbClr val="FF0000"/>
                </a:solidFill>
              </a:rPr>
              <a:t>print</a:t>
            </a:r>
            <a:r>
              <a:rPr lang="es-ES" sz="2000" dirty="0">
                <a:solidFill>
                  <a:srgbClr val="FF0000"/>
                </a:solidFill>
              </a:rPr>
              <a:t>(</a:t>
            </a:r>
            <a:r>
              <a:rPr lang="es-ES" sz="2000" dirty="0">
                <a:solidFill>
                  <a:srgbClr val="00B050"/>
                </a:solidFill>
              </a:rPr>
              <a:t>"Suba al bote"</a:t>
            </a:r>
            <a:r>
              <a:rPr lang="es-ES" sz="2000" dirty="0">
                <a:solidFill>
                  <a:srgbClr val="FF0000"/>
                </a:solidFill>
              </a:rPr>
              <a:t>)</a:t>
            </a:r>
            <a:r>
              <a:rPr lang="es-ES" sz="2000" dirty="0">
                <a:solidFill>
                  <a:srgbClr val="000000"/>
                </a:solidFill>
              </a:rPr>
              <a:t>;</a:t>
            </a:r>
            <a:endParaRPr lang="es-ES" sz="2000" b="1" dirty="0">
              <a:solidFill>
                <a:srgbClr val="000000"/>
              </a:solidFill>
            </a:endParaRPr>
          </a:p>
          <a:p>
            <a:r>
              <a:rPr lang="es-ES" sz="2000" b="1" dirty="0" err="1">
                <a:solidFill>
                  <a:srgbClr val="0070C0"/>
                </a:solidFill>
              </a:rPr>
              <a:t>else</a:t>
            </a:r>
            <a:r>
              <a:rPr lang="es-ES" sz="2000" b="1" dirty="0">
                <a:solidFill>
                  <a:srgbClr val="00B0F0"/>
                </a:solidFill>
              </a:rPr>
              <a:t> </a:t>
            </a:r>
          </a:p>
          <a:p>
            <a:r>
              <a:rPr lang="es-ES" sz="2000" dirty="0">
                <a:solidFill>
                  <a:srgbClr val="00B0F0"/>
                </a:solidFill>
              </a:rPr>
              <a:t>     </a:t>
            </a:r>
            <a:r>
              <a:rPr lang="es-ES" sz="2000" dirty="0" err="1">
                <a:solidFill>
                  <a:srgbClr val="00B0F0"/>
                </a:solidFill>
              </a:rPr>
              <a:t>System</a:t>
            </a:r>
            <a:r>
              <a:rPr lang="es-ES" sz="2000" dirty="0" err="1">
                <a:solidFill>
                  <a:srgbClr val="000000"/>
                </a:solidFill>
              </a:rPr>
              <a:t>.out.</a:t>
            </a:r>
            <a:r>
              <a:rPr lang="es-ES" sz="2000" dirty="0" err="1">
                <a:solidFill>
                  <a:srgbClr val="FF0000"/>
                </a:solidFill>
              </a:rPr>
              <a:t>print</a:t>
            </a:r>
            <a:r>
              <a:rPr lang="es-ES" sz="2000" dirty="0">
                <a:solidFill>
                  <a:srgbClr val="FF0000"/>
                </a:solidFill>
              </a:rPr>
              <a:t>(</a:t>
            </a:r>
            <a:r>
              <a:rPr lang="es-ES" sz="2000" dirty="0">
                <a:solidFill>
                  <a:srgbClr val="00B050"/>
                </a:solidFill>
              </a:rPr>
              <a:t>"No puede subir"</a:t>
            </a:r>
            <a:r>
              <a:rPr lang="es-ES" sz="2000" dirty="0">
                <a:solidFill>
                  <a:srgbClr val="FF0000"/>
                </a:solidFill>
              </a:rPr>
              <a:t>)</a:t>
            </a:r>
            <a:r>
              <a:rPr lang="es-ES" sz="2000" dirty="0">
                <a:solidFill>
                  <a:srgbClr val="000000"/>
                </a:solidFill>
              </a:rPr>
              <a:t>;</a:t>
            </a:r>
          </a:p>
          <a:p>
            <a:r>
              <a:rPr lang="es-ES" sz="2000" dirty="0">
                <a:solidFill>
                  <a:srgbClr val="000000"/>
                </a:solidFill>
              </a:rPr>
              <a:t>…</a:t>
            </a:r>
          </a:p>
          <a:p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white">
          <a:xfrm>
            <a:off x="964625" y="58071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CONDICIONES COMPUESTAS</a:t>
            </a:r>
            <a:endParaRPr lang="en-US" kern="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C:\Users\Raúl\Google Drive\Alumnos\1º DAM\M0485 - Programación (Java)\Unidad 6. Condicionales\las-mujeres-y-los-ninos-primero-590x33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612" y="4569470"/>
            <a:ext cx="4078388" cy="2288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32 CuadroTexto"/>
          <p:cNvSpPr txBox="1"/>
          <p:nvPr/>
        </p:nvSpPr>
        <p:spPr>
          <a:xfrm>
            <a:off x="295591" y="5713735"/>
            <a:ext cx="4627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FF6600"/>
                </a:solidFill>
                <a:latin typeface="Kozuka Gothic Pr6N B" pitchFamily="34" charset="-128"/>
                <a:ea typeface="Kozuka Gothic Pr6N B" pitchFamily="34" charset="-128"/>
              </a:rPr>
              <a:t>¡ Mujeres y niños primero !</a:t>
            </a:r>
          </a:p>
        </p:txBody>
      </p:sp>
      <p:grpSp>
        <p:nvGrpSpPr>
          <p:cNvPr id="4" name="3 Grupo"/>
          <p:cNvGrpSpPr/>
          <p:nvPr/>
        </p:nvGrpSpPr>
        <p:grpSpPr>
          <a:xfrm>
            <a:off x="3748059" y="1772816"/>
            <a:ext cx="2832723" cy="789365"/>
            <a:chOff x="3748059" y="1772816"/>
            <a:chExt cx="2832723" cy="789365"/>
          </a:xfrm>
        </p:grpSpPr>
        <p:sp>
          <p:nvSpPr>
            <p:cNvPr id="34" name="33 CuadroTexto"/>
            <p:cNvSpPr txBox="1"/>
            <p:nvPr/>
          </p:nvSpPr>
          <p:spPr>
            <a:xfrm>
              <a:off x="3748059" y="1772816"/>
              <a:ext cx="28327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dirty="0">
                  <a:solidFill>
                    <a:srgbClr val="009900"/>
                  </a:solidFill>
                  <a:latin typeface="Kozuka Gothic Pr6N B" pitchFamily="34" charset="-128"/>
                  <a:ea typeface="Kozuka Gothic Pr6N B" pitchFamily="34" charset="-128"/>
                </a:rPr>
                <a:t>Mujer </a:t>
              </a:r>
              <a:r>
                <a:rPr lang="es-ES" sz="2400" dirty="0">
                  <a:solidFill>
                    <a:srgbClr val="0070C0"/>
                  </a:solidFill>
                  <a:latin typeface="Kozuka Gothic Pr6N B" pitchFamily="34" charset="-128"/>
                  <a:ea typeface="Kozuka Gothic Pr6N B" pitchFamily="34" charset="-128"/>
                </a:rPr>
                <a:t>o</a:t>
              </a:r>
              <a:r>
                <a:rPr lang="es-ES" sz="2400" dirty="0">
                  <a:solidFill>
                    <a:srgbClr val="009900"/>
                  </a:solidFill>
                  <a:latin typeface="Kozuka Gothic Pr6N B" pitchFamily="34" charset="-128"/>
                  <a:ea typeface="Kozuka Gothic Pr6N B" pitchFamily="34" charset="-128"/>
                </a:rPr>
                <a:t> niño</a:t>
              </a:r>
            </a:p>
          </p:txBody>
        </p:sp>
        <p:cxnSp>
          <p:nvCxnSpPr>
            <p:cNvPr id="3" name="2 Conector recto de flecha"/>
            <p:cNvCxnSpPr/>
            <p:nvPr/>
          </p:nvCxnSpPr>
          <p:spPr bwMode="auto">
            <a:xfrm flipH="1">
              <a:off x="5241156" y="2159750"/>
              <a:ext cx="1" cy="402431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1 Rectángulo"/>
          <p:cNvSpPr/>
          <p:nvPr/>
        </p:nvSpPr>
        <p:spPr>
          <a:xfrm>
            <a:off x="5103940" y="2562181"/>
            <a:ext cx="2744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rgbClr val="0070C0"/>
                </a:solidFill>
                <a:latin typeface="Aller Display" panose="02000503000000020003" pitchFamily="2" charset="0"/>
                <a:ea typeface="Adobe Heiti Std R" pitchFamily="34" charset="-128"/>
              </a:rPr>
              <a:t>|</a:t>
            </a:r>
            <a:endParaRPr lang="es-ES" sz="2000" dirty="0">
              <a:latin typeface="Aller Display" panose="02000503000000020003" pitchFamily="2" charset="0"/>
              <a:ea typeface="Adobe Heiti Std R" pitchFamily="34" charset="-128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5065840" y="2562181"/>
            <a:ext cx="3642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rgbClr val="0070C0"/>
                </a:solidFill>
                <a:latin typeface="Aller Display" panose="02000503000000020003" pitchFamily="2" charset="0"/>
                <a:ea typeface="Adobe Heiti Std R" pitchFamily="34" charset="-128"/>
              </a:rPr>
              <a:t>||</a:t>
            </a:r>
            <a:endParaRPr lang="es-ES" sz="2000" dirty="0">
              <a:latin typeface="Aller Display" panose="02000503000000020003" pitchFamily="2" charset="0"/>
              <a:ea typeface="Adobe Heiti Std R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74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1" grpId="0"/>
      <p:bldP spid="63" grpId="0" uiExpand="1" build="p"/>
      <p:bldP spid="33" grpId="0"/>
      <p:bldP spid="2" grpId="0"/>
      <p:bldP spid="2" grpId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/>
          <p:cNvSpPr/>
          <p:nvPr/>
        </p:nvSpPr>
        <p:spPr bwMode="auto">
          <a:xfrm>
            <a:off x="323529" y="2261245"/>
            <a:ext cx="5377780" cy="75971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827584" y="1052736"/>
            <a:ext cx="723790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Otras condiciones compuestas… </a:t>
            </a:r>
          </a:p>
        </p:txBody>
      </p:sp>
      <p:sp>
        <p:nvSpPr>
          <p:cNvPr id="63" name="62 Rectángulo"/>
          <p:cNvSpPr/>
          <p:nvPr/>
        </p:nvSpPr>
        <p:spPr>
          <a:xfrm>
            <a:off x="467544" y="2287677"/>
            <a:ext cx="53645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err="1">
                <a:solidFill>
                  <a:srgbClr val="0070C0"/>
                </a:solidFill>
              </a:rPr>
              <a:t>if</a:t>
            </a:r>
            <a:r>
              <a:rPr lang="es-ES" sz="2000" b="1" dirty="0">
                <a:solidFill>
                  <a:srgbClr val="0070C0"/>
                </a:solidFill>
              </a:rPr>
              <a:t>( </a:t>
            </a:r>
            <a:r>
              <a:rPr lang="es-ES" sz="2000" b="1" dirty="0" err="1">
                <a:solidFill>
                  <a:srgbClr val="000000"/>
                </a:solidFill>
              </a:rPr>
              <a:t>sexo.</a:t>
            </a:r>
            <a:r>
              <a:rPr lang="es-ES" sz="2000" b="1" dirty="0" err="1">
                <a:solidFill>
                  <a:srgbClr val="FF0000"/>
                </a:solidFill>
              </a:rPr>
              <a:t>equals</a:t>
            </a:r>
            <a:r>
              <a:rPr lang="es-ES" sz="2000" b="1" dirty="0">
                <a:solidFill>
                  <a:srgbClr val="FF0000"/>
                </a:solidFill>
              </a:rPr>
              <a:t>(</a:t>
            </a:r>
            <a:r>
              <a:rPr lang="es-ES" sz="2000" b="1" dirty="0">
                <a:solidFill>
                  <a:srgbClr val="009900"/>
                </a:solidFill>
              </a:rPr>
              <a:t>"masculino"</a:t>
            </a:r>
            <a:r>
              <a:rPr lang="es-ES" sz="2000" b="1" dirty="0">
                <a:solidFill>
                  <a:srgbClr val="FF0000"/>
                </a:solidFill>
              </a:rPr>
              <a:t>) </a:t>
            </a:r>
            <a:r>
              <a:rPr lang="es-ES" sz="2000" b="1" dirty="0">
                <a:solidFill>
                  <a:srgbClr val="0070C0"/>
                </a:solidFill>
              </a:rPr>
              <a:t>   </a:t>
            </a:r>
            <a:r>
              <a:rPr lang="es-ES" sz="2000" b="1" dirty="0">
                <a:solidFill>
                  <a:srgbClr val="FF0000"/>
                </a:solidFill>
              </a:rPr>
              <a:t>  </a:t>
            </a:r>
            <a:r>
              <a:rPr lang="es-ES" sz="2000" b="1" dirty="0">
                <a:solidFill>
                  <a:srgbClr val="000000"/>
                </a:solidFill>
              </a:rPr>
              <a:t>edad&lt;</a:t>
            </a:r>
            <a:r>
              <a:rPr lang="es-ES" sz="2000" b="1" dirty="0">
                <a:solidFill>
                  <a:srgbClr val="009900"/>
                </a:solidFill>
              </a:rPr>
              <a:t>15</a:t>
            </a:r>
            <a:r>
              <a:rPr lang="es-ES" sz="2000" dirty="0">
                <a:solidFill>
                  <a:srgbClr val="FF0000"/>
                </a:solidFill>
              </a:rPr>
              <a:t> </a:t>
            </a:r>
            <a:r>
              <a:rPr lang="es-ES" sz="2000" b="1" dirty="0">
                <a:solidFill>
                  <a:srgbClr val="0070C0"/>
                </a:solidFill>
              </a:rPr>
              <a:t>)</a:t>
            </a:r>
            <a:r>
              <a:rPr lang="es-ES" sz="2000" b="1" dirty="0">
                <a:solidFill>
                  <a:srgbClr val="00B0F0"/>
                </a:solidFill>
              </a:rPr>
              <a:t> </a:t>
            </a:r>
          </a:p>
          <a:p>
            <a:r>
              <a:rPr lang="es-ES" sz="2000" dirty="0">
                <a:solidFill>
                  <a:srgbClr val="FF0000"/>
                </a:solidFill>
              </a:rPr>
              <a:t>       </a:t>
            </a:r>
            <a:r>
              <a:rPr lang="es-ES" sz="2000" dirty="0" err="1">
                <a:solidFill>
                  <a:srgbClr val="00B0F0"/>
                </a:solidFill>
              </a:rPr>
              <a:t>System</a:t>
            </a:r>
            <a:r>
              <a:rPr lang="es-ES" sz="2000" dirty="0" err="1">
                <a:solidFill>
                  <a:srgbClr val="000000"/>
                </a:solidFill>
              </a:rPr>
              <a:t>.out.</a:t>
            </a:r>
            <a:r>
              <a:rPr lang="es-ES" sz="2000" dirty="0" err="1">
                <a:solidFill>
                  <a:srgbClr val="FF0000"/>
                </a:solidFill>
              </a:rPr>
              <a:t>print</a:t>
            </a:r>
            <a:r>
              <a:rPr lang="es-ES" sz="2000" dirty="0">
                <a:solidFill>
                  <a:srgbClr val="FF0000"/>
                </a:solidFill>
              </a:rPr>
              <a:t>(</a:t>
            </a:r>
            <a:r>
              <a:rPr lang="es-ES" sz="2000" dirty="0">
                <a:solidFill>
                  <a:srgbClr val="00B050"/>
                </a:solidFill>
              </a:rPr>
              <a:t>"es un niño"</a:t>
            </a:r>
            <a:r>
              <a:rPr lang="es-ES" sz="2000" dirty="0">
                <a:solidFill>
                  <a:srgbClr val="FF0000"/>
                </a:solidFill>
              </a:rPr>
              <a:t>)</a:t>
            </a:r>
            <a:r>
              <a:rPr lang="es-ES" sz="2000" dirty="0">
                <a:solidFill>
                  <a:srgbClr val="000000"/>
                </a:solidFill>
              </a:rPr>
              <a:t>;</a:t>
            </a:r>
            <a:endParaRPr lang="es-ES" sz="2000" b="1" dirty="0">
              <a:solidFill>
                <a:srgbClr val="000000"/>
              </a:solidFill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white">
          <a:xfrm>
            <a:off x="964625" y="58071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dirty="0"/>
              <a:t>CONDICIONES COMPUESTAS</a:t>
            </a:r>
            <a:endParaRPr lang="en-US" kern="0" dirty="0">
              <a:solidFill>
                <a:schemeClr val="accent1"/>
              </a:solidFill>
            </a:endParaRPr>
          </a:p>
        </p:txBody>
      </p:sp>
      <p:grpSp>
        <p:nvGrpSpPr>
          <p:cNvPr id="4" name="3 Grupo"/>
          <p:cNvGrpSpPr/>
          <p:nvPr/>
        </p:nvGrpSpPr>
        <p:grpSpPr>
          <a:xfrm>
            <a:off x="2404809" y="1531392"/>
            <a:ext cx="3115995" cy="789365"/>
            <a:chOff x="2005112" y="1531392"/>
            <a:chExt cx="3115995" cy="789365"/>
          </a:xfrm>
        </p:grpSpPr>
        <p:sp>
          <p:nvSpPr>
            <p:cNvPr id="34" name="33 CuadroTexto"/>
            <p:cNvSpPr txBox="1"/>
            <p:nvPr/>
          </p:nvSpPr>
          <p:spPr>
            <a:xfrm>
              <a:off x="2005112" y="1531392"/>
              <a:ext cx="3115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dirty="0">
                  <a:solidFill>
                    <a:srgbClr val="009900"/>
                  </a:solidFill>
                  <a:latin typeface="Kozuka Gothic Pr6N B" pitchFamily="34" charset="-128"/>
                  <a:ea typeface="Kozuka Gothic Pr6N B" pitchFamily="34" charset="-128"/>
                </a:rPr>
                <a:t>masculino </a:t>
              </a:r>
              <a:r>
                <a:rPr lang="es-ES" sz="2000" dirty="0">
                  <a:solidFill>
                    <a:srgbClr val="0070C0"/>
                  </a:solidFill>
                  <a:latin typeface="Kozuka Gothic Pr6N B" pitchFamily="34" charset="-128"/>
                  <a:ea typeface="Kozuka Gothic Pr6N B" pitchFamily="34" charset="-128"/>
                </a:rPr>
                <a:t>y</a:t>
              </a:r>
              <a:r>
                <a:rPr lang="es-ES" sz="2000" dirty="0">
                  <a:solidFill>
                    <a:srgbClr val="009900"/>
                  </a:solidFill>
                  <a:latin typeface="Kozuka Gothic Pr6N B" pitchFamily="34" charset="-128"/>
                  <a:ea typeface="Kozuka Gothic Pr6N B" pitchFamily="34" charset="-128"/>
                </a:rPr>
                <a:t> menor</a:t>
              </a:r>
            </a:p>
          </p:txBody>
        </p:sp>
        <p:cxnSp>
          <p:nvCxnSpPr>
            <p:cNvPr id="3" name="2 Conector recto de flecha"/>
            <p:cNvCxnSpPr/>
            <p:nvPr/>
          </p:nvCxnSpPr>
          <p:spPr bwMode="auto">
            <a:xfrm flipH="1">
              <a:off x="3775542" y="1918326"/>
              <a:ext cx="1" cy="402431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11 Rectángulo"/>
          <p:cNvSpPr/>
          <p:nvPr/>
        </p:nvSpPr>
        <p:spPr>
          <a:xfrm>
            <a:off x="3910613" y="2308057"/>
            <a:ext cx="556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rgbClr val="0070C0"/>
                </a:solidFill>
                <a:latin typeface="Adobe Heiti Std R" pitchFamily="34" charset="-128"/>
                <a:ea typeface="Adobe Heiti Std R" pitchFamily="34" charset="-128"/>
              </a:rPr>
              <a:t>&amp;&amp;</a:t>
            </a:r>
            <a:endParaRPr lang="es-ES" sz="2000" dirty="0">
              <a:latin typeface="Adobe Heiti Std R" pitchFamily="34" charset="-128"/>
              <a:ea typeface="Adobe Heiti Std R" pitchFamily="34" charset="-128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4005037" y="2299183"/>
            <a:ext cx="3658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rgbClr val="0070C0"/>
                </a:solidFill>
                <a:latin typeface="Adobe Heiti Std R" pitchFamily="34" charset="-128"/>
                <a:ea typeface="Adobe Heiti Std R" pitchFamily="34" charset="-128"/>
              </a:rPr>
              <a:t>&amp;</a:t>
            </a:r>
            <a:endParaRPr lang="es-ES" sz="2000" dirty="0">
              <a:latin typeface="Adobe Heiti Std R" pitchFamily="34" charset="-128"/>
              <a:ea typeface="Adobe Heiti Std R" pitchFamily="34" charset="-128"/>
            </a:endParaRPr>
          </a:p>
        </p:txBody>
      </p:sp>
      <p:pic>
        <p:nvPicPr>
          <p:cNvPr id="2050" name="Picture 2" descr="R:\Salesianos\Escolar\2013-2014\M0485 - Programación (Java)\Unidades\Unidad 6. Condicionales\nino-y-nin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381" y="3356992"/>
            <a:ext cx="2314104" cy="274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7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1" grpId="0"/>
      <p:bldP spid="63" grpId="0"/>
      <p:bldP spid="12" grpId="0"/>
      <p:bldP spid="13" grpId="0"/>
      <p:bldP spid="1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/>
          <p:cNvSpPr/>
          <p:nvPr/>
        </p:nvSpPr>
        <p:spPr bwMode="auto">
          <a:xfrm>
            <a:off x="467544" y="1574648"/>
            <a:ext cx="4464496" cy="46838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827584" y="980728"/>
            <a:ext cx="7704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Podemos anidar varias condiciones con la estructura </a:t>
            </a:r>
            <a:r>
              <a:rPr lang="es-ES" sz="1600" b="1" dirty="0" err="1">
                <a:solidFill>
                  <a:srgbClr val="FF0000"/>
                </a:solidFill>
              </a:rPr>
              <a:t>if</a:t>
            </a:r>
            <a:r>
              <a:rPr lang="es-ES" sz="1600" dirty="0"/>
              <a:t> </a:t>
            </a:r>
            <a:r>
              <a:rPr lang="es-ES" sz="1600" b="1" dirty="0" err="1">
                <a:solidFill>
                  <a:srgbClr val="FF0000"/>
                </a:solidFill>
              </a:rPr>
              <a:t>else</a:t>
            </a:r>
            <a:r>
              <a:rPr lang="es-ES" sz="1600" dirty="0"/>
              <a:t> </a:t>
            </a:r>
            <a:r>
              <a:rPr lang="es-ES" sz="1600" b="1" dirty="0" err="1">
                <a:solidFill>
                  <a:srgbClr val="FF0000"/>
                </a:solidFill>
              </a:rPr>
              <a:t>if</a:t>
            </a:r>
            <a:endParaRPr lang="es-ES" sz="1600" b="1" dirty="0">
              <a:solidFill>
                <a:srgbClr val="FF0000"/>
              </a:solidFill>
            </a:endParaRPr>
          </a:p>
        </p:txBody>
      </p:sp>
      <p:sp>
        <p:nvSpPr>
          <p:cNvPr id="63" name="62 Rectángulo"/>
          <p:cNvSpPr/>
          <p:nvPr/>
        </p:nvSpPr>
        <p:spPr>
          <a:xfrm>
            <a:off x="683569" y="2241961"/>
            <a:ext cx="40324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err="1">
                <a:solidFill>
                  <a:srgbClr val="0070C0"/>
                </a:solidFill>
              </a:rPr>
              <a:t>if</a:t>
            </a:r>
            <a:r>
              <a:rPr lang="es-ES" sz="2000" b="1" dirty="0">
                <a:solidFill>
                  <a:srgbClr val="0070C0"/>
                </a:solidFill>
              </a:rPr>
              <a:t>( </a:t>
            </a:r>
            <a:r>
              <a:rPr lang="es-ES" sz="2000" b="1" dirty="0">
                <a:solidFill>
                  <a:srgbClr val="000000"/>
                </a:solidFill>
              </a:rPr>
              <a:t>nota&gt;=9</a:t>
            </a:r>
            <a:r>
              <a:rPr lang="es-ES" sz="2000" b="1" dirty="0">
                <a:solidFill>
                  <a:srgbClr val="0070C0"/>
                </a:solidFill>
              </a:rPr>
              <a:t>)</a:t>
            </a:r>
            <a:r>
              <a:rPr lang="es-ES" sz="2000" b="1" dirty="0">
                <a:solidFill>
                  <a:srgbClr val="FF0000"/>
                </a:solidFill>
              </a:rPr>
              <a:t>     </a:t>
            </a:r>
            <a:r>
              <a:rPr lang="es-ES" sz="2000" b="1" dirty="0">
                <a:solidFill>
                  <a:srgbClr val="0070C0"/>
                </a:solidFill>
              </a:rPr>
              <a:t>   </a:t>
            </a:r>
            <a:r>
              <a:rPr lang="es-ES" sz="2000" b="1" dirty="0">
                <a:solidFill>
                  <a:srgbClr val="FF0000"/>
                </a:solidFill>
              </a:rPr>
              <a:t>  </a:t>
            </a:r>
            <a:endParaRPr lang="es-ES" sz="2000" b="1" dirty="0">
              <a:solidFill>
                <a:srgbClr val="000000"/>
              </a:solidFill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white">
          <a:xfrm>
            <a:off x="899592" y="58071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kern="0" dirty="0"/>
              <a:t>ESTRUCTURAS DE SELECCI</a:t>
            </a:r>
            <a:r>
              <a:rPr lang="es-ES" sz="2400" kern="0" dirty="0"/>
              <a:t>ÓN (</a:t>
            </a:r>
            <a:r>
              <a:rPr lang="en-US" sz="2400" kern="0" dirty="0"/>
              <a:t>IF ANIDADOS)</a:t>
            </a:r>
            <a:endParaRPr lang="en-US" sz="2400" kern="0" dirty="0">
              <a:solidFill>
                <a:schemeClr val="accent1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683568" y="3068960"/>
            <a:ext cx="3312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1" dirty="0" err="1">
                <a:solidFill>
                  <a:srgbClr val="0070C0"/>
                </a:solidFill>
              </a:rPr>
              <a:t>else</a:t>
            </a:r>
            <a:r>
              <a:rPr lang="es-ES" sz="1800" b="1" dirty="0">
                <a:solidFill>
                  <a:srgbClr val="0070C0"/>
                </a:solidFill>
              </a:rPr>
              <a:t> </a:t>
            </a:r>
            <a:r>
              <a:rPr lang="es-ES" sz="1800" b="1" dirty="0" err="1">
                <a:solidFill>
                  <a:srgbClr val="0070C0"/>
                </a:solidFill>
              </a:rPr>
              <a:t>if</a:t>
            </a:r>
            <a:r>
              <a:rPr lang="es-ES" sz="1800" b="1" dirty="0">
                <a:solidFill>
                  <a:srgbClr val="0070C0"/>
                </a:solidFill>
              </a:rPr>
              <a:t>( </a:t>
            </a:r>
            <a:r>
              <a:rPr lang="es-ES" sz="1800" b="1" dirty="0">
                <a:solidFill>
                  <a:srgbClr val="000000"/>
                </a:solidFill>
              </a:rPr>
              <a:t>nota&gt;=7</a:t>
            </a:r>
            <a:r>
              <a:rPr lang="es-ES" sz="1800" b="1" dirty="0">
                <a:solidFill>
                  <a:srgbClr val="0070C0"/>
                </a:solidFill>
              </a:rPr>
              <a:t>) </a:t>
            </a:r>
            <a:endParaRPr lang="es-ES" dirty="0"/>
          </a:p>
        </p:txBody>
      </p:sp>
      <p:sp>
        <p:nvSpPr>
          <p:cNvPr id="9" name="8 Rectángulo"/>
          <p:cNvSpPr/>
          <p:nvPr/>
        </p:nvSpPr>
        <p:spPr>
          <a:xfrm>
            <a:off x="674370" y="1717140"/>
            <a:ext cx="3921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1" dirty="0" smtClean="0">
                <a:solidFill>
                  <a:srgbClr val="000000"/>
                </a:solidFill>
              </a:rPr>
              <a:t>nota=7</a:t>
            </a:r>
            <a:r>
              <a:rPr lang="es-ES" sz="1800" b="1" dirty="0">
                <a:solidFill>
                  <a:srgbClr val="000000"/>
                </a:solidFill>
              </a:rPr>
              <a:t>;</a:t>
            </a:r>
            <a:endParaRPr lang="es-ES" sz="1800" dirty="0"/>
          </a:p>
        </p:txBody>
      </p:sp>
      <p:sp>
        <p:nvSpPr>
          <p:cNvPr id="34" name="1 Rectángulo"/>
          <p:cNvSpPr/>
          <p:nvPr/>
        </p:nvSpPr>
        <p:spPr>
          <a:xfrm>
            <a:off x="1043608" y="3429000"/>
            <a:ext cx="3236784" cy="369332"/>
          </a:xfrm>
          <a:prstGeom prst="rect">
            <a:avLst/>
          </a:prstGeom>
          <a:solidFill>
            <a:srgbClr val="FFF0C1"/>
          </a:solidFill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s-ES" sz="1800" b="1" dirty="0" err="1">
                <a:solidFill>
                  <a:srgbClr val="0070C0"/>
                </a:solidFill>
              </a:rPr>
              <a:t>System.out.print</a:t>
            </a:r>
            <a:r>
              <a:rPr lang="es-ES" sz="1800" b="1" dirty="0">
                <a:solidFill>
                  <a:srgbClr val="0070C0"/>
                </a:solidFill>
              </a:rPr>
              <a:t>(“Notable”)</a:t>
            </a:r>
          </a:p>
        </p:txBody>
      </p:sp>
      <p:sp>
        <p:nvSpPr>
          <p:cNvPr id="42" name="41 Rectángulo"/>
          <p:cNvSpPr/>
          <p:nvPr/>
        </p:nvSpPr>
        <p:spPr>
          <a:xfrm>
            <a:off x="683568" y="3789040"/>
            <a:ext cx="3312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1" dirty="0" err="1">
                <a:solidFill>
                  <a:srgbClr val="0070C0"/>
                </a:solidFill>
              </a:rPr>
              <a:t>else</a:t>
            </a:r>
            <a:r>
              <a:rPr lang="es-ES" sz="1800" b="1" dirty="0">
                <a:solidFill>
                  <a:srgbClr val="0070C0"/>
                </a:solidFill>
              </a:rPr>
              <a:t> </a:t>
            </a:r>
            <a:r>
              <a:rPr lang="es-ES" sz="1800" b="1" dirty="0" err="1">
                <a:solidFill>
                  <a:srgbClr val="0070C0"/>
                </a:solidFill>
              </a:rPr>
              <a:t>if</a:t>
            </a:r>
            <a:r>
              <a:rPr lang="es-ES" sz="1800" b="1" dirty="0">
                <a:solidFill>
                  <a:srgbClr val="0070C0"/>
                </a:solidFill>
              </a:rPr>
              <a:t>( </a:t>
            </a:r>
            <a:r>
              <a:rPr lang="es-ES" sz="1800" b="1" dirty="0">
                <a:solidFill>
                  <a:srgbClr val="000000"/>
                </a:solidFill>
              </a:rPr>
              <a:t>nota&gt;=5</a:t>
            </a:r>
            <a:r>
              <a:rPr lang="es-ES" sz="1800" b="1" dirty="0">
                <a:solidFill>
                  <a:srgbClr val="0070C0"/>
                </a:solidFill>
              </a:rPr>
              <a:t>) </a:t>
            </a:r>
            <a:endParaRPr lang="es-ES" dirty="0"/>
          </a:p>
        </p:txBody>
      </p:sp>
      <p:sp>
        <p:nvSpPr>
          <p:cNvPr id="43" name="1 Rectángulo"/>
          <p:cNvSpPr/>
          <p:nvPr/>
        </p:nvSpPr>
        <p:spPr>
          <a:xfrm>
            <a:off x="971600" y="4149080"/>
            <a:ext cx="3480440" cy="369332"/>
          </a:xfrm>
          <a:prstGeom prst="rect">
            <a:avLst/>
          </a:prstGeom>
          <a:solidFill>
            <a:srgbClr val="FFF0C1"/>
          </a:solidFill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s-ES" sz="1800" b="1" dirty="0" err="1">
                <a:solidFill>
                  <a:srgbClr val="0070C0"/>
                </a:solidFill>
              </a:rPr>
              <a:t>System.out.print</a:t>
            </a:r>
            <a:r>
              <a:rPr lang="es-ES" sz="1800" b="1" dirty="0">
                <a:solidFill>
                  <a:srgbClr val="0070C0"/>
                </a:solidFill>
              </a:rPr>
              <a:t>(“Aprobado”)</a:t>
            </a:r>
          </a:p>
        </p:txBody>
      </p:sp>
      <p:sp>
        <p:nvSpPr>
          <p:cNvPr id="44" name="43 Rectángulo"/>
          <p:cNvSpPr/>
          <p:nvPr/>
        </p:nvSpPr>
        <p:spPr>
          <a:xfrm>
            <a:off x="683568" y="4509120"/>
            <a:ext cx="3312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1" dirty="0" err="1">
                <a:solidFill>
                  <a:srgbClr val="0070C0"/>
                </a:solidFill>
              </a:rPr>
              <a:t>else</a:t>
            </a:r>
            <a:endParaRPr lang="es-ES" dirty="0"/>
          </a:p>
        </p:txBody>
      </p:sp>
      <p:sp>
        <p:nvSpPr>
          <p:cNvPr id="45" name="1 Rectángulo"/>
          <p:cNvSpPr/>
          <p:nvPr/>
        </p:nvSpPr>
        <p:spPr>
          <a:xfrm>
            <a:off x="899592" y="4869160"/>
            <a:ext cx="3493264" cy="369332"/>
          </a:xfrm>
          <a:prstGeom prst="rect">
            <a:avLst/>
          </a:prstGeom>
          <a:solidFill>
            <a:srgbClr val="FFF0C1"/>
          </a:solidFill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s-ES" sz="1800" b="1" dirty="0" err="1">
                <a:solidFill>
                  <a:srgbClr val="0070C0"/>
                </a:solidFill>
              </a:rPr>
              <a:t>System.out.print</a:t>
            </a:r>
            <a:r>
              <a:rPr lang="es-ES" sz="1800" b="1" dirty="0">
                <a:solidFill>
                  <a:srgbClr val="0070C0"/>
                </a:solidFill>
              </a:rPr>
              <a:t>(“Suspenso”)</a:t>
            </a:r>
          </a:p>
        </p:txBody>
      </p:sp>
      <p:sp>
        <p:nvSpPr>
          <p:cNvPr id="47" name="46 Rectángulo"/>
          <p:cNvSpPr/>
          <p:nvPr/>
        </p:nvSpPr>
        <p:spPr bwMode="auto">
          <a:xfrm>
            <a:off x="5364088" y="2924944"/>
            <a:ext cx="3456384" cy="57606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NOTABLE!!!!!!</a:t>
            </a:r>
          </a:p>
        </p:txBody>
      </p:sp>
      <p:sp>
        <p:nvSpPr>
          <p:cNvPr id="19" name="1 Rectángulo"/>
          <p:cNvSpPr/>
          <p:nvPr/>
        </p:nvSpPr>
        <p:spPr>
          <a:xfrm>
            <a:off x="971600" y="2636912"/>
            <a:ext cx="3888433" cy="369332"/>
          </a:xfrm>
          <a:prstGeom prst="rect">
            <a:avLst/>
          </a:prstGeom>
          <a:solidFill>
            <a:srgbClr val="FFF0C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s-ES" sz="1800" b="1" dirty="0" err="1">
                <a:solidFill>
                  <a:srgbClr val="0070C0"/>
                </a:solidFill>
              </a:rPr>
              <a:t>System.out.print</a:t>
            </a:r>
            <a:r>
              <a:rPr lang="es-ES" sz="1800" b="1" dirty="0">
                <a:solidFill>
                  <a:srgbClr val="0070C0"/>
                </a:solidFill>
              </a:rPr>
              <a:t>(“Sobresaliente”)</a:t>
            </a:r>
          </a:p>
        </p:txBody>
      </p:sp>
    </p:spTree>
    <p:extLst>
      <p:ext uri="{BB962C8B-B14F-4D97-AF65-F5344CB8AC3E}">
        <p14:creationId xmlns:p14="http://schemas.microsoft.com/office/powerpoint/2010/main" val="325176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8" grpId="0"/>
      <p:bldP spid="34" grpId="0" animBg="1"/>
      <p:bldP spid="42" grpId="0"/>
      <p:bldP spid="43" grpId="0" animBg="1"/>
      <p:bldP spid="44" grpId="0"/>
      <p:bldP spid="45" grpId="0" animBg="1"/>
      <p:bldP spid="47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/>
          <p:cNvSpPr/>
          <p:nvPr/>
        </p:nvSpPr>
        <p:spPr bwMode="auto">
          <a:xfrm>
            <a:off x="467544" y="1574648"/>
            <a:ext cx="4464496" cy="46838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10 Rectángulo"/>
          <p:cNvSpPr/>
          <p:nvPr/>
        </p:nvSpPr>
        <p:spPr bwMode="auto">
          <a:xfrm>
            <a:off x="1043608" y="2642071"/>
            <a:ext cx="3224636" cy="1555028"/>
          </a:xfrm>
          <a:prstGeom prst="rect">
            <a:avLst/>
          </a:prstGeom>
          <a:solidFill>
            <a:srgbClr val="FFF0C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40 Rectángulo"/>
          <p:cNvSpPr/>
          <p:nvPr/>
        </p:nvSpPr>
        <p:spPr bwMode="auto">
          <a:xfrm>
            <a:off x="1059332" y="4572176"/>
            <a:ext cx="3224636" cy="1555028"/>
          </a:xfrm>
          <a:prstGeom prst="rect">
            <a:avLst/>
          </a:prstGeom>
          <a:solidFill>
            <a:srgbClr val="FFF0C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2244636" y="884039"/>
            <a:ext cx="470290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Dentro de un </a:t>
            </a:r>
            <a:r>
              <a:rPr lang="es-ES" b="1" dirty="0" err="1">
                <a:solidFill>
                  <a:srgbClr val="FF0000"/>
                </a:solidFill>
              </a:rPr>
              <a:t>if</a:t>
            </a:r>
            <a:r>
              <a:rPr lang="es-ES" dirty="0"/>
              <a:t> puede haber otro </a:t>
            </a:r>
            <a:r>
              <a:rPr lang="es-ES" b="1" dirty="0" err="1">
                <a:solidFill>
                  <a:srgbClr val="FF0000"/>
                </a:solidFill>
              </a:rPr>
              <a:t>if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63" name="62 Rectángulo"/>
          <p:cNvSpPr/>
          <p:nvPr/>
        </p:nvSpPr>
        <p:spPr>
          <a:xfrm>
            <a:off x="683569" y="2241961"/>
            <a:ext cx="40324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err="1">
                <a:solidFill>
                  <a:srgbClr val="0070C0"/>
                </a:solidFill>
              </a:rPr>
              <a:t>if</a:t>
            </a:r>
            <a:r>
              <a:rPr lang="es-ES" sz="2000" b="1" dirty="0">
                <a:solidFill>
                  <a:srgbClr val="0070C0"/>
                </a:solidFill>
              </a:rPr>
              <a:t>( </a:t>
            </a:r>
            <a:r>
              <a:rPr lang="es-ES" sz="2000" b="1" dirty="0" err="1">
                <a:solidFill>
                  <a:srgbClr val="000000"/>
                </a:solidFill>
              </a:rPr>
              <a:t>sexo.</a:t>
            </a:r>
            <a:r>
              <a:rPr lang="es-ES" sz="2000" b="1" dirty="0" err="1">
                <a:solidFill>
                  <a:srgbClr val="FF0000"/>
                </a:solidFill>
              </a:rPr>
              <a:t>equals</a:t>
            </a:r>
            <a:r>
              <a:rPr lang="es-ES" sz="2000" b="1" dirty="0">
                <a:solidFill>
                  <a:srgbClr val="FF0000"/>
                </a:solidFill>
              </a:rPr>
              <a:t>(</a:t>
            </a:r>
            <a:r>
              <a:rPr lang="es-ES" sz="2000" b="1" dirty="0">
                <a:solidFill>
                  <a:srgbClr val="009900"/>
                </a:solidFill>
              </a:rPr>
              <a:t>"masculino"</a:t>
            </a:r>
            <a:r>
              <a:rPr lang="es-ES" sz="2000" b="1" dirty="0">
                <a:solidFill>
                  <a:srgbClr val="FF0000"/>
                </a:solidFill>
              </a:rPr>
              <a:t>) </a:t>
            </a:r>
            <a:r>
              <a:rPr lang="es-ES" sz="2000" b="1" dirty="0">
                <a:solidFill>
                  <a:srgbClr val="0070C0"/>
                </a:solidFill>
              </a:rPr>
              <a:t>)</a:t>
            </a:r>
            <a:r>
              <a:rPr lang="es-ES" sz="2000" b="1" dirty="0">
                <a:solidFill>
                  <a:srgbClr val="FF0000"/>
                </a:solidFill>
              </a:rPr>
              <a:t>     </a:t>
            </a:r>
            <a:r>
              <a:rPr lang="es-ES" sz="2000" b="1" dirty="0">
                <a:solidFill>
                  <a:srgbClr val="0070C0"/>
                </a:solidFill>
              </a:rPr>
              <a:t>   </a:t>
            </a:r>
            <a:r>
              <a:rPr lang="es-ES" sz="2000" b="1" dirty="0">
                <a:solidFill>
                  <a:srgbClr val="FF0000"/>
                </a:solidFill>
              </a:rPr>
              <a:t>  </a:t>
            </a:r>
            <a:endParaRPr lang="es-ES" sz="2000" b="1" dirty="0">
              <a:solidFill>
                <a:srgbClr val="000000"/>
              </a:solidFill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white">
          <a:xfrm>
            <a:off x="899592" y="58071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kern="0" dirty="0"/>
              <a:t>ESTRUCTURAS DE SELECCI</a:t>
            </a:r>
            <a:r>
              <a:rPr lang="es-ES" sz="2400" kern="0" dirty="0"/>
              <a:t>ÓN (</a:t>
            </a:r>
            <a:r>
              <a:rPr lang="en-US" sz="2400" kern="0" dirty="0"/>
              <a:t>IF ANIDADOS)</a:t>
            </a:r>
            <a:endParaRPr lang="en-US" sz="2400" kern="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R:\Salesianos\Escolar\2013-2014\M0485 - Programación (Java)\Unidades\Unidad 6. Condicionales\hombr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76" y="4197099"/>
            <a:ext cx="751027" cy="205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R:\Salesianos\Escolar\2013-2014\M0485 - Programación (Java)\Unidades\Unidad 6. Condicionales\muj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037" y="4279957"/>
            <a:ext cx="904149" cy="191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:\Salesianos\Escolar\2013-2014\M0485 - Programación (Java)\Unidades\Unidad 6. Condicionales\niña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747" y="4767721"/>
            <a:ext cx="977064" cy="147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R:\Salesianos\Escolar\2013-2014\M0485 - Programación (Java)\Unidades\Unidad 6. Condicionales\niños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801" y="4754729"/>
            <a:ext cx="991647" cy="145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043608" y="2623995"/>
            <a:ext cx="1537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1" dirty="0" err="1">
                <a:solidFill>
                  <a:srgbClr val="0070C0"/>
                </a:solidFill>
              </a:rPr>
              <a:t>if</a:t>
            </a:r>
            <a:r>
              <a:rPr lang="es-ES" sz="1800" b="1" dirty="0">
                <a:solidFill>
                  <a:srgbClr val="0070C0"/>
                </a:solidFill>
              </a:rPr>
              <a:t>( </a:t>
            </a:r>
            <a:r>
              <a:rPr lang="es-ES" sz="1800" b="1" dirty="0">
                <a:solidFill>
                  <a:srgbClr val="000000"/>
                </a:solidFill>
              </a:rPr>
              <a:t>edad&lt;</a:t>
            </a:r>
            <a:r>
              <a:rPr lang="es-ES" sz="1800" b="1" dirty="0">
                <a:solidFill>
                  <a:srgbClr val="009900"/>
                </a:solidFill>
              </a:rPr>
              <a:t>18 </a:t>
            </a:r>
            <a:r>
              <a:rPr lang="es-ES" sz="1800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445035" y="3006729"/>
            <a:ext cx="2592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dirty="0" err="1">
                <a:solidFill>
                  <a:srgbClr val="00B0F0"/>
                </a:solidFill>
              </a:rPr>
              <a:t>System</a:t>
            </a:r>
            <a:r>
              <a:rPr lang="es-ES" sz="1800" dirty="0" err="1">
                <a:solidFill>
                  <a:srgbClr val="000000"/>
                </a:solidFill>
              </a:rPr>
              <a:t>.out.</a:t>
            </a:r>
            <a:r>
              <a:rPr lang="es-ES" sz="1800" dirty="0" err="1">
                <a:solidFill>
                  <a:srgbClr val="FF0000"/>
                </a:solidFill>
              </a:rPr>
              <a:t>print</a:t>
            </a:r>
            <a:r>
              <a:rPr lang="es-ES" sz="1800" dirty="0">
                <a:solidFill>
                  <a:srgbClr val="FF0000"/>
                </a:solidFill>
              </a:rPr>
              <a:t>(</a:t>
            </a:r>
            <a:r>
              <a:rPr lang="es-ES" sz="1800" dirty="0">
                <a:solidFill>
                  <a:srgbClr val="00B050"/>
                </a:solidFill>
              </a:rPr>
              <a:t>"hijo"</a:t>
            </a:r>
            <a:r>
              <a:rPr lang="es-ES" sz="1800" dirty="0">
                <a:solidFill>
                  <a:srgbClr val="FF0000"/>
                </a:solidFill>
              </a:rPr>
              <a:t>)</a:t>
            </a:r>
            <a:r>
              <a:rPr lang="es-ES" sz="1800" dirty="0">
                <a:solidFill>
                  <a:srgbClr val="000000"/>
                </a:solidFill>
              </a:rPr>
              <a:t>;</a:t>
            </a:r>
            <a:endParaRPr lang="es-ES" sz="1800" b="1" dirty="0">
              <a:solidFill>
                <a:srgbClr val="000000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683568" y="4154931"/>
            <a:ext cx="8028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1" dirty="0" err="1">
                <a:solidFill>
                  <a:srgbClr val="0070C0"/>
                </a:solidFill>
              </a:rPr>
              <a:t>else</a:t>
            </a:r>
            <a:endParaRPr lang="es-ES" dirty="0"/>
          </a:p>
        </p:txBody>
      </p:sp>
      <p:sp>
        <p:nvSpPr>
          <p:cNvPr id="26" name="25 Rectángulo"/>
          <p:cNvSpPr/>
          <p:nvPr/>
        </p:nvSpPr>
        <p:spPr>
          <a:xfrm>
            <a:off x="1043608" y="3389463"/>
            <a:ext cx="8028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1" dirty="0" err="1">
                <a:solidFill>
                  <a:srgbClr val="0070C0"/>
                </a:solidFill>
              </a:rPr>
              <a:t>else</a:t>
            </a:r>
            <a:endParaRPr lang="es-ES" dirty="0"/>
          </a:p>
        </p:txBody>
      </p:sp>
      <p:sp>
        <p:nvSpPr>
          <p:cNvPr id="27" name="26 Rectángulo"/>
          <p:cNvSpPr/>
          <p:nvPr/>
        </p:nvSpPr>
        <p:spPr>
          <a:xfrm>
            <a:off x="1043608" y="4537665"/>
            <a:ext cx="1537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1" dirty="0" err="1">
                <a:solidFill>
                  <a:srgbClr val="0070C0"/>
                </a:solidFill>
              </a:rPr>
              <a:t>if</a:t>
            </a:r>
            <a:r>
              <a:rPr lang="es-ES" sz="1800" b="1" dirty="0">
                <a:solidFill>
                  <a:srgbClr val="0070C0"/>
                </a:solidFill>
              </a:rPr>
              <a:t>( </a:t>
            </a:r>
            <a:r>
              <a:rPr lang="es-ES" sz="1800" b="1" dirty="0">
                <a:solidFill>
                  <a:srgbClr val="000000"/>
                </a:solidFill>
              </a:rPr>
              <a:t>edad&lt;</a:t>
            </a:r>
            <a:r>
              <a:rPr lang="es-ES" sz="1800" b="1" dirty="0">
                <a:solidFill>
                  <a:srgbClr val="009900"/>
                </a:solidFill>
              </a:rPr>
              <a:t>18 </a:t>
            </a:r>
            <a:r>
              <a:rPr lang="es-ES" sz="1800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28" name="27 Rectángulo"/>
          <p:cNvSpPr/>
          <p:nvPr/>
        </p:nvSpPr>
        <p:spPr>
          <a:xfrm>
            <a:off x="1445035" y="3772197"/>
            <a:ext cx="2823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dirty="0" err="1">
                <a:solidFill>
                  <a:srgbClr val="00B0F0"/>
                </a:solidFill>
              </a:rPr>
              <a:t>System</a:t>
            </a:r>
            <a:r>
              <a:rPr lang="es-ES" sz="1800" dirty="0" err="1">
                <a:solidFill>
                  <a:srgbClr val="000000"/>
                </a:solidFill>
              </a:rPr>
              <a:t>.out.</a:t>
            </a:r>
            <a:r>
              <a:rPr lang="es-ES" sz="1800" dirty="0" err="1">
                <a:solidFill>
                  <a:srgbClr val="FF0000"/>
                </a:solidFill>
              </a:rPr>
              <a:t>print</a:t>
            </a:r>
            <a:r>
              <a:rPr lang="es-ES" sz="1800" dirty="0">
                <a:solidFill>
                  <a:srgbClr val="FF0000"/>
                </a:solidFill>
              </a:rPr>
              <a:t>(</a:t>
            </a:r>
            <a:r>
              <a:rPr lang="es-ES" sz="1800" dirty="0">
                <a:solidFill>
                  <a:srgbClr val="00B050"/>
                </a:solidFill>
              </a:rPr>
              <a:t>"padre"</a:t>
            </a:r>
            <a:r>
              <a:rPr lang="es-ES" sz="1800" dirty="0">
                <a:solidFill>
                  <a:srgbClr val="FF0000"/>
                </a:solidFill>
              </a:rPr>
              <a:t>)</a:t>
            </a:r>
            <a:r>
              <a:rPr lang="es-ES" sz="1800" dirty="0">
                <a:solidFill>
                  <a:srgbClr val="000000"/>
                </a:solidFill>
              </a:rPr>
              <a:t>;</a:t>
            </a:r>
            <a:endParaRPr lang="es-ES" sz="1800" b="1" dirty="0">
              <a:solidFill>
                <a:srgbClr val="000000"/>
              </a:solidFill>
            </a:endParaRPr>
          </a:p>
        </p:txBody>
      </p:sp>
      <p:sp>
        <p:nvSpPr>
          <p:cNvPr id="35" name="34 Rectángulo"/>
          <p:cNvSpPr/>
          <p:nvPr/>
        </p:nvSpPr>
        <p:spPr>
          <a:xfrm>
            <a:off x="1445035" y="4920399"/>
            <a:ext cx="2592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dirty="0" err="1">
                <a:solidFill>
                  <a:srgbClr val="00B0F0"/>
                </a:solidFill>
              </a:rPr>
              <a:t>System</a:t>
            </a:r>
            <a:r>
              <a:rPr lang="es-ES" sz="1800" dirty="0" err="1">
                <a:solidFill>
                  <a:srgbClr val="000000"/>
                </a:solidFill>
              </a:rPr>
              <a:t>.out.</a:t>
            </a:r>
            <a:r>
              <a:rPr lang="es-ES" sz="1800" dirty="0" err="1">
                <a:solidFill>
                  <a:srgbClr val="FF0000"/>
                </a:solidFill>
              </a:rPr>
              <a:t>print</a:t>
            </a:r>
            <a:r>
              <a:rPr lang="es-ES" sz="1800" dirty="0">
                <a:solidFill>
                  <a:srgbClr val="FF0000"/>
                </a:solidFill>
              </a:rPr>
              <a:t>(</a:t>
            </a:r>
            <a:r>
              <a:rPr lang="es-ES" sz="1800" dirty="0">
                <a:solidFill>
                  <a:srgbClr val="00B050"/>
                </a:solidFill>
              </a:rPr>
              <a:t>"hija"</a:t>
            </a:r>
            <a:r>
              <a:rPr lang="es-ES" sz="1800" dirty="0">
                <a:solidFill>
                  <a:srgbClr val="FF0000"/>
                </a:solidFill>
              </a:rPr>
              <a:t>)</a:t>
            </a:r>
            <a:r>
              <a:rPr lang="es-ES" sz="1800" dirty="0">
                <a:solidFill>
                  <a:srgbClr val="000000"/>
                </a:solidFill>
              </a:rPr>
              <a:t>;</a:t>
            </a:r>
            <a:endParaRPr lang="es-ES" sz="1800" b="1" dirty="0">
              <a:solidFill>
                <a:srgbClr val="000000"/>
              </a:solidFill>
            </a:endParaRPr>
          </a:p>
        </p:txBody>
      </p:sp>
      <p:sp>
        <p:nvSpPr>
          <p:cNvPr id="36" name="35 Rectángulo"/>
          <p:cNvSpPr/>
          <p:nvPr/>
        </p:nvSpPr>
        <p:spPr>
          <a:xfrm>
            <a:off x="1445035" y="5685864"/>
            <a:ext cx="2887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dirty="0" err="1">
                <a:solidFill>
                  <a:srgbClr val="00B0F0"/>
                </a:solidFill>
              </a:rPr>
              <a:t>System</a:t>
            </a:r>
            <a:r>
              <a:rPr lang="es-ES" sz="1800" dirty="0" err="1">
                <a:solidFill>
                  <a:srgbClr val="000000"/>
                </a:solidFill>
              </a:rPr>
              <a:t>.out.</a:t>
            </a:r>
            <a:r>
              <a:rPr lang="es-ES" sz="1800" dirty="0" err="1">
                <a:solidFill>
                  <a:srgbClr val="FF0000"/>
                </a:solidFill>
              </a:rPr>
              <a:t>print</a:t>
            </a:r>
            <a:r>
              <a:rPr lang="es-ES" sz="1800" dirty="0">
                <a:solidFill>
                  <a:srgbClr val="FF0000"/>
                </a:solidFill>
              </a:rPr>
              <a:t>(</a:t>
            </a:r>
            <a:r>
              <a:rPr lang="es-ES" sz="1800" dirty="0">
                <a:solidFill>
                  <a:srgbClr val="00B050"/>
                </a:solidFill>
              </a:rPr>
              <a:t>"madre"</a:t>
            </a:r>
            <a:r>
              <a:rPr lang="es-ES" sz="1800" dirty="0">
                <a:solidFill>
                  <a:srgbClr val="FF0000"/>
                </a:solidFill>
              </a:rPr>
              <a:t>)</a:t>
            </a:r>
            <a:r>
              <a:rPr lang="es-ES" sz="1800" dirty="0">
                <a:solidFill>
                  <a:srgbClr val="000000"/>
                </a:solidFill>
              </a:rPr>
              <a:t>;</a:t>
            </a:r>
            <a:endParaRPr lang="es-ES" sz="1800" b="1" dirty="0">
              <a:solidFill>
                <a:srgbClr val="000000"/>
              </a:solidFill>
            </a:endParaRPr>
          </a:p>
        </p:txBody>
      </p:sp>
      <p:sp>
        <p:nvSpPr>
          <p:cNvPr id="37" name="36 Rectángulo"/>
          <p:cNvSpPr/>
          <p:nvPr/>
        </p:nvSpPr>
        <p:spPr>
          <a:xfrm>
            <a:off x="1043608" y="5303133"/>
            <a:ext cx="8028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1" dirty="0" err="1">
                <a:solidFill>
                  <a:srgbClr val="0070C0"/>
                </a:solidFill>
              </a:rPr>
              <a:t>else</a:t>
            </a:r>
            <a:endParaRPr lang="es-ES" dirty="0"/>
          </a:p>
        </p:txBody>
      </p:sp>
      <p:sp>
        <p:nvSpPr>
          <p:cNvPr id="9" name="8 Rectángulo"/>
          <p:cNvSpPr/>
          <p:nvPr/>
        </p:nvSpPr>
        <p:spPr>
          <a:xfrm>
            <a:off x="674370" y="1717140"/>
            <a:ext cx="3921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000000"/>
                </a:solidFill>
              </a:rPr>
              <a:t>sexo = </a:t>
            </a:r>
            <a:r>
              <a:rPr lang="es-ES" sz="1800" b="1" dirty="0">
                <a:solidFill>
                  <a:srgbClr val="009900"/>
                </a:solidFill>
              </a:rPr>
              <a:t>"femenino"</a:t>
            </a:r>
            <a:r>
              <a:rPr lang="es-ES" sz="1800" b="1" dirty="0">
                <a:solidFill>
                  <a:srgbClr val="000000"/>
                </a:solidFill>
              </a:rPr>
              <a:t>;   edad = </a:t>
            </a:r>
            <a:r>
              <a:rPr lang="es-ES" sz="1800" b="1" dirty="0">
                <a:solidFill>
                  <a:srgbClr val="009900"/>
                </a:solidFill>
              </a:rPr>
              <a:t>"8"</a:t>
            </a:r>
            <a:r>
              <a:rPr lang="es-ES" sz="1800" b="1" dirty="0">
                <a:solidFill>
                  <a:srgbClr val="000000"/>
                </a:solidFill>
              </a:rPr>
              <a:t>;  </a:t>
            </a:r>
            <a:endParaRPr lang="es-ES" sz="1800" dirty="0"/>
          </a:p>
        </p:txBody>
      </p:sp>
      <p:sp>
        <p:nvSpPr>
          <p:cNvPr id="38" name="37 CuadroTexto"/>
          <p:cNvSpPr txBox="1"/>
          <p:nvPr/>
        </p:nvSpPr>
        <p:spPr>
          <a:xfrm>
            <a:off x="5185260" y="1574648"/>
            <a:ext cx="365692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¿Adivina en cuál de los cuatro estoy pensando?</a:t>
            </a:r>
          </a:p>
        </p:txBody>
      </p:sp>
      <p:sp>
        <p:nvSpPr>
          <p:cNvPr id="39" name="38 CuadroTexto"/>
          <p:cNvSpPr txBox="1"/>
          <p:nvPr/>
        </p:nvSpPr>
        <p:spPr>
          <a:xfrm>
            <a:off x="5185260" y="2403916"/>
            <a:ext cx="365692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9900"/>
                </a:solidFill>
              </a:rPr>
              <a:t>Pistas: </a:t>
            </a:r>
          </a:p>
          <a:p>
            <a:pPr algn="ctr"/>
            <a:r>
              <a:rPr lang="es-ES" dirty="0">
                <a:solidFill>
                  <a:srgbClr val="009900"/>
                </a:solidFill>
              </a:rPr>
              <a:t>Es femenina y tiene 8 años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323528" y="6519446"/>
            <a:ext cx="8624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Ver apartado 6 del capítulo 4 de </a:t>
            </a:r>
            <a:r>
              <a:rPr lang="es-ES" sz="1600" dirty="0" err="1"/>
              <a:t>Deitel</a:t>
            </a:r>
            <a:r>
              <a:rPr lang="es-ES" sz="1600" dirty="0"/>
              <a:t> </a:t>
            </a:r>
            <a:r>
              <a:rPr lang="es-ES" sz="14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(punto 'Instrucciones </a:t>
            </a:r>
            <a:r>
              <a:rPr lang="es-ES" sz="1400" dirty="0" err="1">
                <a:solidFill>
                  <a:schemeClr val="tx1">
                    <a:lumMod val="40000"/>
                    <a:lumOff val="60000"/>
                  </a:schemeClr>
                </a:solidFill>
              </a:rPr>
              <a:t>if</a:t>
            </a:r>
            <a:r>
              <a:rPr lang="es-ES" sz="14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…</a:t>
            </a:r>
            <a:r>
              <a:rPr lang="es-ES" sz="1400" dirty="0" err="1">
                <a:solidFill>
                  <a:schemeClr val="tx1">
                    <a:lumMod val="40000"/>
                    <a:lumOff val="60000"/>
                  </a:schemeClr>
                </a:solidFill>
              </a:rPr>
              <a:t>else</a:t>
            </a:r>
            <a:r>
              <a:rPr lang="es-ES" sz="14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 anidadas'</a:t>
            </a:r>
            <a:r>
              <a:rPr lang="es-ES" sz="1400" i="1" dirty="0">
                <a:solidFill>
                  <a:schemeClr val="tx1">
                    <a:lumMod val="40000"/>
                    <a:lumOff val="60000"/>
                  </a:schemeClr>
                </a:solidFill>
              </a:rPr>
              <a:t>)</a:t>
            </a:r>
            <a:endParaRPr lang="es-ES" sz="14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76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8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9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1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2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4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5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7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8" dur="indefinite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2000" fill="hold"/>
                                        <p:tgtEl>
                                          <p:spTgt spid="3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4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5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7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8" dur="indefinite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41" grpId="0" animBg="1"/>
      <p:bldP spid="21" grpId="0"/>
      <p:bldP spid="63" grpId="0"/>
      <p:bldP spid="63" grpId="1"/>
      <p:bldP spid="2" grpId="0"/>
      <p:bldP spid="2" grpId="1"/>
      <p:bldP spid="6" grpId="0"/>
      <p:bldP spid="6" grpId="1"/>
      <p:bldP spid="8" grpId="0"/>
      <p:bldP spid="8" grpId="1"/>
      <p:bldP spid="26" grpId="0"/>
      <p:bldP spid="26" grpId="1"/>
      <p:bldP spid="27" grpId="0"/>
      <p:bldP spid="27" grpId="1"/>
      <p:bldP spid="28" grpId="0"/>
      <p:bldP spid="28" grpId="1"/>
      <p:bldP spid="35" grpId="0"/>
      <p:bldP spid="35" grpId="1"/>
      <p:bldP spid="36" grpId="0"/>
      <p:bldP spid="36" grpId="1"/>
      <p:bldP spid="37" grpId="0"/>
      <p:bldP spid="37" grpId="1"/>
      <p:bldP spid="9" grpId="0"/>
      <p:bldP spid="38" grpId="0"/>
      <p:bldP spid="39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/>
          <p:cNvSpPr/>
          <p:nvPr/>
        </p:nvSpPr>
        <p:spPr bwMode="auto">
          <a:xfrm>
            <a:off x="467544" y="1077418"/>
            <a:ext cx="4128542" cy="533411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3" name="62 Rectángulo"/>
          <p:cNvSpPr/>
          <p:nvPr/>
        </p:nvSpPr>
        <p:spPr>
          <a:xfrm>
            <a:off x="683569" y="1979859"/>
            <a:ext cx="4104456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 err="1">
                <a:solidFill>
                  <a:srgbClr val="0070C0"/>
                </a:solidFill>
              </a:rPr>
              <a:t>if</a:t>
            </a:r>
            <a:r>
              <a:rPr lang="es-ES" sz="1600" b="1" dirty="0">
                <a:solidFill>
                  <a:srgbClr val="0070C0"/>
                </a:solidFill>
              </a:rPr>
              <a:t>( </a:t>
            </a:r>
            <a:r>
              <a:rPr lang="es-ES" sz="1600" b="1" dirty="0" err="1">
                <a:solidFill>
                  <a:srgbClr val="000000"/>
                </a:solidFill>
              </a:rPr>
              <a:t>operación.</a:t>
            </a:r>
            <a:r>
              <a:rPr lang="es-ES" sz="1600" b="1" dirty="0" err="1">
                <a:solidFill>
                  <a:srgbClr val="FF0000"/>
                </a:solidFill>
              </a:rPr>
              <a:t>equals</a:t>
            </a:r>
            <a:r>
              <a:rPr lang="es-ES" sz="1600" b="1" dirty="0">
                <a:solidFill>
                  <a:srgbClr val="FF0000"/>
                </a:solidFill>
              </a:rPr>
              <a:t>(</a:t>
            </a:r>
            <a:r>
              <a:rPr lang="es-ES" sz="1600" b="1" dirty="0">
                <a:solidFill>
                  <a:srgbClr val="009900"/>
                </a:solidFill>
              </a:rPr>
              <a:t>"+"</a:t>
            </a:r>
            <a:r>
              <a:rPr lang="es-ES" sz="1600" b="1" dirty="0">
                <a:solidFill>
                  <a:srgbClr val="FF0000"/>
                </a:solidFill>
              </a:rPr>
              <a:t>) </a:t>
            </a:r>
            <a:r>
              <a:rPr lang="es-ES" sz="1600" b="1" dirty="0">
                <a:solidFill>
                  <a:srgbClr val="0070C0"/>
                </a:solidFill>
              </a:rPr>
              <a:t>) {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</a:t>
            </a:r>
            <a:r>
              <a:rPr lang="es-ES" sz="1600" dirty="0" err="1">
                <a:solidFill>
                  <a:srgbClr val="00B0F0"/>
                </a:solidFill>
              </a:rPr>
              <a:t>System</a:t>
            </a:r>
            <a:r>
              <a:rPr lang="es-ES" sz="1600" dirty="0" err="1">
                <a:solidFill>
                  <a:srgbClr val="000000"/>
                </a:solidFill>
              </a:rPr>
              <a:t>.out.</a:t>
            </a:r>
            <a:r>
              <a:rPr lang="es-ES" sz="1600" dirty="0" err="1">
                <a:solidFill>
                  <a:srgbClr val="FF0000"/>
                </a:solidFill>
              </a:rPr>
              <a:t>print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num1+num2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</a:p>
          <a:p>
            <a:r>
              <a:rPr lang="es-ES" sz="1600" b="1" dirty="0">
                <a:solidFill>
                  <a:srgbClr val="0070C0"/>
                </a:solidFill>
              </a:rPr>
              <a:t>}</a:t>
            </a:r>
          </a:p>
          <a:p>
            <a:r>
              <a:rPr lang="es-ES" sz="1600" b="1" dirty="0" err="1">
                <a:solidFill>
                  <a:srgbClr val="0070C0"/>
                </a:solidFill>
              </a:rPr>
              <a:t>else</a:t>
            </a:r>
            <a:r>
              <a:rPr lang="es-ES" sz="1600" b="1" dirty="0">
                <a:solidFill>
                  <a:srgbClr val="0070C0"/>
                </a:solidFill>
              </a:rPr>
              <a:t> {</a:t>
            </a:r>
            <a:endParaRPr lang="es-ES" sz="1600" dirty="0"/>
          </a:p>
          <a:p>
            <a:r>
              <a:rPr lang="es-ES" sz="1600" b="1" dirty="0">
                <a:solidFill>
                  <a:srgbClr val="0070C0"/>
                </a:solidFill>
              </a:rPr>
              <a:t>    </a:t>
            </a:r>
            <a:r>
              <a:rPr lang="es-ES" sz="1600" b="1" dirty="0" err="1">
                <a:solidFill>
                  <a:srgbClr val="0070C0"/>
                </a:solidFill>
              </a:rPr>
              <a:t>if</a:t>
            </a:r>
            <a:r>
              <a:rPr lang="es-ES" sz="1600" b="1" dirty="0">
                <a:solidFill>
                  <a:srgbClr val="0070C0"/>
                </a:solidFill>
              </a:rPr>
              <a:t>( </a:t>
            </a:r>
            <a:r>
              <a:rPr lang="es-ES" sz="1600" b="1" dirty="0" err="1">
                <a:solidFill>
                  <a:srgbClr val="000000"/>
                </a:solidFill>
              </a:rPr>
              <a:t>operación.</a:t>
            </a:r>
            <a:r>
              <a:rPr lang="es-ES" sz="1600" b="1" dirty="0" err="1">
                <a:solidFill>
                  <a:srgbClr val="FF0000"/>
                </a:solidFill>
              </a:rPr>
              <a:t>equals</a:t>
            </a:r>
            <a:r>
              <a:rPr lang="es-ES" sz="1600" b="1" dirty="0">
                <a:solidFill>
                  <a:srgbClr val="FF0000"/>
                </a:solidFill>
              </a:rPr>
              <a:t>(</a:t>
            </a:r>
            <a:r>
              <a:rPr lang="es-ES" sz="1600" b="1" dirty="0">
                <a:solidFill>
                  <a:srgbClr val="009900"/>
                </a:solidFill>
              </a:rPr>
              <a:t>"-"</a:t>
            </a:r>
            <a:r>
              <a:rPr lang="es-ES" sz="1600" b="1" dirty="0">
                <a:solidFill>
                  <a:srgbClr val="FF0000"/>
                </a:solidFill>
              </a:rPr>
              <a:t>) </a:t>
            </a:r>
            <a:r>
              <a:rPr lang="es-ES" sz="1600" b="1" dirty="0">
                <a:solidFill>
                  <a:srgbClr val="0070C0"/>
                </a:solidFill>
              </a:rPr>
              <a:t>)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    </a:t>
            </a:r>
            <a:r>
              <a:rPr lang="es-ES" sz="1600" dirty="0" err="1">
                <a:solidFill>
                  <a:srgbClr val="00B0F0"/>
                </a:solidFill>
              </a:rPr>
              <a:t>System</a:t>
            </a:r>
            <a:r>
              <a:rPr lang="es-ES" sz="1600" dirty="0" err="1">
                <a:solidFill>
                  <a:srgbClr val="000000"/>
                </a:solidFill>
              </a:rPr>
              <a:t>.out.</a:t>
            </a:r>
            <a:r>
              <a:rPr lang="es-ES" sz="1600" dirty="0" err="1">
                <a:solidFill>
                  <a:srgbClr val="FF0000"/>
                </a:solidFill>
              </a:rPr>
              <a:t>print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num1-num2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    </a:t>
            </a:r>
            <a:r>
              <a:rPr lang="es-ES" sz="1600" b="1" dirty="0" err="1">
                <a:solidFill>
                  <a:srgbClr val="0070C0"/>
                </a:solidFill>
              </a:rPr>
              <a:t>else</a:t>
            </a:r>
            <a:r>
              <a:rPr lang="es-ES" sz="1600" b="1" dirty="0">
                <a:solidFill>
                  <a:srgbClr val="0070C0"/>
                </a:solidFill>
              </a:rPr>
              <a:t> {</a:t>
            </a:r>
            <a:endParaRPr lang="es-ES" sz="1600" dirty="0"/>
          </a:p>
          <a:p>
            <a:r>
              <a:rPr lang="es-ES" sz="1600" b="1" dirty="0">
                <a:solidFill>
                  <a:srgbClr val="0070C0"/>
                </a:solidFill>
              </a:rPr>
              <a:t>        </a:t>
            </a:r>
            <a:r>
              <a:rPr lang="es-ES" sz="1600" b="1" dirty="0" err="1">
                <a:solidFill>
                  <a:srgbClr val="0070C0"/>
                </a:solidFill>
              </a:rPr>
              <a:t>if</a:t>
            </a:r>
            <a:r>
              <a:rPr lang="es-ES" sz="1600" b="1" dirty="0">
                <a:solidFill>
                  <a:srgbClr val="0070C0"/>
                </a:solidFill>
              </a:rPr>
              <a:t>( </a:t>
            </a:r>
            <a:r>
              <a:rPr lang="es-ES" sz="1600" b="1" dirty="0" err="1">
                <a:solidFill>
                  <a:srgbClr val="000000"/>
                </a:solidFill>
              </a:rPr>
              <a:t>operación.</a:t>
            </a:r>
            <a:r>
              <a:rPr lang="es-ES" sz="1600" b="1" dirty="0" err="1">
                <a:solidFill>
                  <a:srgbClr val="FF0000"/>
                </a:solidFill>
              </a:rPr>
              <a:t>equals</a:t>
            </a:r>
            <a:r>
              <a:rPr lang="es-ES" sz="1600" b="1" dirty="0">
                <a:solidFill>
                  <a:srgbClr val="FF0000"/>
                </a:solidFill>
              </a:rPr>
              <a:t>(</a:t>
            </a:r>
            <a:r>
              <a:rPr lang="es-ES" sz="1600" b="1" dirty="0">
                <a:solidFill>
                  <a:srgbClr val="009900"/>
                </a:solidFill>
              </a:rPr>
              <a:t>"</a:t>
            </a:r>
            <a:r>
              <a:rPr lang="es-ES" sz="1800" b="1" dirty="0">
                <a:solidFill>
                  <a:srgbClr val="009900"/>
                </a:solidFill>
              </a:rPr>
              <a:t>*</a:t>
            </a:r>
            <a:r>
              <a:rPr lang="es-ES" sz="1600" b="1" dirty="0">
                <a:solidFill>
                  <a:srgbClr val="009900"/>
                </a:solidFill>
              </a:rPr>
              <a:t>"</a:t>
            </a:r>
            <a:r>
              <a:rPr lang="es-ES" sz="1600" b="1" dirty="0">
                <a:solidFill>
                  <a:srgbClr val="FF0000"/>
                </a:solidFill>
              </a:rPr>
              <a:t>) </a:t>
            </a:r>
            <a:r>
              <a:rPr lang="es-ES" sz="1600" b="1" dirty="0">
                <a:solidFill>
                  <a:srgbClr val="0070C0"/>
                </a:solidFill>
              </a:rPr>
              <a:t>)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        </a:t>
            </a:r>
            <a:r>
              <a:rPr lang="es-ES" sz="1600" dirty="0" err="1">
                <a:solidFill>
                  <a:srgbClr val="00B0F0"/>
                </a:solidFill>
              </a:rPr>
              <a:t>System</a:t>
            </a:r>
            <a:r>
              <a:rPr lang="es-ES" sz="1600" dirty="0" err="1">
                <a:solidFill>
                  <a:srgbClr val="000000"/>
                </a:solidFill>
              </a:rPr>
              <a:t>.out.</a:t>
            </a:r>
            <a:r>
              <a:rPr lang="es-ES" sz="1600" dirty="0" err="1">
                <a:solidFill>
                  <a:srgbClr val="FF0000"/>
                </a:solidFill>
              </a:rPr>
              <a:t>print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num1*num2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        </a:t>
            </a:r>
            <a:r>
              <a:rPr lang="es-ES" sz="1600" b="1" dirty="0" err="1">
                <a:solidFill>
                  <a:srgbClr val="0070C0"/>
                </a:solidFill>
              </a:rPr>
              <a:t>else</a:t>
            </a:r>
            <a:r>
              <a:rPr lang="es-ES" sz="1600" b="1" dirty="0">
                <a:solidFill>
                  <a:srgbClr val="0070C0"/>
                </a:solidFill>
              </a:rPr>
              <a:t> {</a:t>
            </a:r>
            <a:endParaRPr lang="es-ES" sz="1600" dirty="0"/>
          </a:p>
          <a:p>
            <a:r>
              <a:rPr lang="es-ES" sz="1600" b="1" dirty="0">
                <a:solidFill>
                  <a:srgbClr val="0070C0"/>
                </a:solidFill>
              </a:rPr>
              <a:t>            </a:t>
            </a:r>
            <a:r>
              <a:rPr lang="es-ES" sz="1600" b="1" dirty="0" err="1">
                <a:solidFill>
                  <a:srgbClr val="0070C0"/>
                </a:solidFill>
              </a:rPr>
              <a:t>if</a:t>
            </a:r>
            <a:r>
              <a:rPr lang="es-ES" sz="1600" b="1" dirty="0">
                <a:solidFill>
                  <a:srgbClr val="0070C0"/>
                </a:solidFill>
              </a:rPr>
              <a:t>( </a:t>
            </a:r>
            <a:r>
              <a:rPr lang="es-ES" sz="1600" b="1" dirty="0" err="1">
                <a:solidFill>
                  <a:srgbClr val="000000"/>
                </a:solidFill>
              </a:rPr>
              <a:t>operación.</a:t>
            </a:r>
            <a:r>
              <a:rPr lang="es-ES" sz="1600" b="1" dirty="0" err="1">
                <a:solidFill>
                  <a:srgbClr val="FF0000"/>
                </a:solidFill>
              </a:rPr>
              <a:t>equals</a:t>
            </a:r>
            <a:r>
              <a:rPr lang="es-ES" sz="1600" b="1" dirty="0">
                <a:solidFill>
                  <a:srgbClr val="FF0000"/>
                </a:solidFill>
              </a:rPr>
              <a:t>(</a:t>
            </a:r>
            <a:r>
              <a:rPr lang="es-ES" sz="1600" b="1" dirty="0">
                <a:solidFill>
                  <a:srgbClr val="009900"/>
                </a:solidFill>
              </a:rPr>
              <a:t>"/"</a:t>
            </a:r>
            <a:r>
              <a:rPr lang="es-ES" sz="1600" b="1" dirty="0">
                <a:solidFill>
                  <a:srgbClr val="FF0000"/>
                </a:solidFill>
              </a:rPr>
              <a:t>) </a:t>
            </a:r>
            <a:r>
              <a:rPr lang="es-ES" sz="1600" b="1" dirty="0">
                <a:solidFill>
                  <a:srgbClr val="0070C0"/>
                </a:solidFill>
              </a:rPr>
              <a:t>)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            </a:t>
            </a:r>
            <a:r>
              <a:rPr lang="es-ES" sz="1600" dirty="0" err="1">
                <a:solidFill>
                  <a:srgbClr val="00B0F0"/>
                </a:solidFill>
              </a:rPr>
              <a:t>System</a:t>
            </a:r>
            <a:r>
              <a:rPr lang="es-ES" sz="1600" dirty="0" err="1">
                <a:solidFill>
                  <a:srgbClr val="000000"/>
                </a:solidFill>
              </a:rPr>
              <a:t>.out.</a:t>
            </a:r>
            <a:r>
              <a:rPr lang="es-ES" sz="1600" dirty="0" err="1">
                <a:solidFill>
                  <a:srgbClr val="FF0000"/>
                </a:solidFill>
              </a:rPr>
              <a:t>print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num1/num2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  <a:endParaRPr lang="es-ES" sz="1600" b="1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            </a:t>
            </a:r>
            <a:r>
              <a:rPr lang="es-ES" sz="1600" b="1" dirty="0" err="1">
                <a:solidFill>
                  <a:srgbClr val="0070C0"/>
                </a:solidFill>
              </a:rPr>
              <a:t>else</a:t>
            </a:r>
            <a:endParaRPr lang="es-ES" sz="1600" b="1" dirty="0">
              <a:solidFill>
                <a:srgbClr val="0070C0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                </a:t>
            </a:r>
            <a:r>
              <a:rPr lang="es-ES" sz="1600" dirty="0" err="1">
                <a:solidFill>
                  <a:srgbClr val="00B0F0"/>
                </a:solidFill>
              </a:rPr>
              <a:t>System</a:t>
            </a:r>
            <a:r>
              <a:rPr lang="es-ES" sz="1600" dirty="0" err="1">
                <a:solidFill>
                  <a:srgbClr val="000000"/>
                </a:solidFill>
              </a:rPr>
              <a:t>.out.</a:t>
            </a:r>
            <a:r>
              <a:rPr lang="es-ES" sz="1600" dirty="0" err="1">
                <a:solidFill>
                  <a:srgbClr val="FF0000"/>
                </a:solidFill>
              </a:rPr>
              <a:t>print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9900"/>
                </a:solidFill>
              </a:rPr>
              <a:t>"Error"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</a:p>
          <a:p>
            <a:r>
              <a:rPr lang="es-ES" sz="1600" b="1" dirty="0">
                <a:solidFill>
                  <a:srgbClr val="0070C0"/>
                </a:solidFill>
              </a:rPr>
              <a:t>        }</a:t>
            </a:r>
            <a:endParaRPr lang="es-ES" sz="1600" dirty="0">
              <a:solidFill>
                <a:srgbClr val="FF0000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    }</a:t>
            </a:r>
          </a:p>
          <a:p>
            <a:r>
              <a:rPr lang="es-ES" sz="1600" b="1" dirty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white">
          <a:xfrm>
            <a:off x="899592" y="58071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800" kern="0" dirty="0"/>
              <a:t>ESTRUCTURAS DE SELECCI</a:t>
            </a:r>
            <a:r>
              <a:rPr lang="es-ES" sz="2800" kern="0" dirty="0"/>
              <a:t>ÓN (</a:t>
            </a:r>
            <a:r>
              <a:rPr lang="en-US" sz="2800" kern="0" dirty="0"/>
              <a:t>SWITCH)</a:t>
            </a:r>
            <a:endParaRPr lang="en-US" sz="2800" kern="0" dirty="0">
              <a:solidFill>
                <a:schemeClr val="accent1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674370" y="1124744"/>
            <a:ext cx="39217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0000"/>
                </a:solidFill>
              </a:rPr>
              <a:t>num1 </a:t>
            </a:r>
            <a:r>
              <a:rPr lang="es-ES" sz="1600" dirty="0">
                <a:solidFill>
                  <a:srgbClr val="000000"/>
                </a:solidFill>
              </a:rPr>
              <a:t>= 5;   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num2 </a:t>
            </a:r>
            <a:r>
              <a:rPr lang="es-ES" sz="1600" dirty="0">
                <a:solidFill>
                  <a:srgbClr val="000000"/>
                </a:solidFill>
              </a:rPr>
              <a:t>= 6; 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operación </a:t>
            </a:r>
            <a:r>
              <a:rPr lang="es-ES" sz="1600" dirty="0">
                <a:solidFill>
                  <a:srgbClr val="000000"/>
                </a:solidFill>
              </a:rPr>
              <a:t>= </a:t>
            </a:r>
            <a:r>
              <a:rPr lang="es-ES" sz="1600" dirty="0">
                <a:solidFill>
                  <a:srgbClr val="009900"/>
                </a:solidFill>
              </a:rPr>
              <a:t>"+"</a:t>
            </a:r>
            <a:r>
              <a:rPr lang="es-ES" sz="1600" dirty="0">
                <a:solidFill>
                  <a:srgbClr val="000000"/>
                </a:solidFill>
              </a:rPr>
              <a:t>; </a:t>
            </a:r>
            <a:endParaRPr lang="es-ES" sz="1600" dirty="0"/>
          </a:p>
        </p:txBody>
      </p:sp>
      <p:sp>
        <p:nvSpPr>
          <p:cNvPr id="25" name="24 Rectángulo"/>
          <p:cNvSpPr/>
          <p:nvPr/>
        </p:nvSpPr>
        <p:spPr bwMode="auto">
          <a:xfrm>
            <a:off x="4759574" y="1484784"/>
            <a:ext cx="4128542" cy="492674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28 Rectángulo"/>
          <p:cNvSpPr/>
          <p:nvPr/>
        </p:nvSpPr>
        <p:spPr>
          <a:xfrm>
            <a:off x="4975599" y="2348881"/>
            <a:ext cx="4104456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 err="1">
                <a:solidFill>
                  <a:srgbClr val="0070C0"/>
                </a:solidFill>
              </a:rPr>
              <a:t>switch</a:t>
            </a:r>
            <a:r>
              <a:rPr lang="es-ES" sz="1600" b="1" dirty="0">
                <a:solidFill>
                  <a:srgbClr val="0070C0"/>
                </a:solidFill>
              </a:rPr>
              <a:t>( </a:t>
            </a:r>
            <a:r>
              <a:rPr lang="es-ES" sz="1600" b="1" dirty="0">
                <a:solidFill>
                  <a:srgbClr val="000000"/>
                </a:solidFill>
              </a:rPr>
              <a:t>operación</a:t>
            </a:r>
            <a:r>
              <a:rPr lang="es-ES" sz="1600" b="1" dirty="0">
                <a:solidFill>
                  <a:srgbClr val="FF0000"/>
                </a:solidFill>
              </a:rPr>
              <a:t> </a:t>
            </a:r>
            <a:r>
              <a:rPr lang="es-ES" sz="1600" b="1" dirty="0">
                <a:solidFill>
                  <a:srgbClr val="0070C0"/>
                </a:solidFill>
              </a:rPr>
              <a:t>) {</a:t>
            </a:r>
          </a:p>
          <a:p>
            <a:r>
              <a:rPr lang="es-ES" sz="1600" b="1" dirty="0">
                <a:solidFill>
                  <a:srgbClr val="0070C0"/>
                </a:solidFill>
              </a:rPr>
              <a:t>    case "+":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    </a:t>
            </a:r>
            <a:r>
              <a:rPr lang="es-ES" sz="1600" dirty="0" err="1">
                <a:solidFill>
                  <a:srgbClr val="00B0F0"/>
                </a:solidFill>
              </a:rPr>
              <a:t>System</a:t>
            </a:r>
            <a:r>
              <a:rPr lang="es-ES" sz="1600" dirty="0" err="1">
                <a:solidFill>
                  <a:srgbClr val="000000"/>
                </a:solidFill>
              </a:rPr>
              <a:t>.out.</a:t>
            </a:r>
            <a:r>
              <a:rPr lang="es-ES" sz="1600" dirty="0" err="1">
                <a:solidFill>
                  <a:srgbClr val="FF0000"/>
                </a:solidFill>
              </a:rPr>
              <a:t>print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num1+num2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        </a:t>
            </a:r>
            <a:r>
              <a:rPr lang="es-ES" sz="1600" dirty="0">
                <a:solidFill>
                  <a:srgbClr val="000000"/>
                </a:solidFill>
              </a:rPr>
              <a:t>break;</a:t>
            </a:r>
            <a:endParaRPr lang="es-ES" sz="1600" b="1" dirty="0">
              <a:solidFill>
                <a:srgbClr val="0070C0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    case "-":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    </a:t>
            </a:r>
            <a:r>
              <a:rPr lang="es-ES" sz="1600" dirty="0" err="1">
                <a:solidFill>
                  <a:srgbClr val="00B0F0"/>
                </a:solidFill>
              </a:rPr>
              <a:t>System</a:t>
            </a:r>
            <a:r>
              <a:rPr lang="es-ES" sz="1600" dirty="0" err="1">
                <a:solidFill>
                  <a:srgbClr val="000000"/>
                </a:solidFill>
              </a:rPr>
              <a:t>.out.</a:t>
            </a:r>
            <a:r>
              <a:rPr lang="es-ES" sz="1600" dirty="0" err="1">
                <a:solidFill>
                  <a:srgbClr val="FF0000"/>
                </a:solidFill>
              </a:rPr>
              <a:t>print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num1-num2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        </a:t>
            </a:r>
            <a:r>
              <a:rPr lang="es-ES" sz="1600" dirty="0">
                <a:solidFill>
                  <a:srgbClr val="000000"/>
                </a:solidFill>
              </a:rPr>
              <a:t>break;</a:t>
            </a:r>
            <a:endParaRPr lang="es-ES" sz="1600" b="1" dirty="0">
              <a:solidFill>
                <a:srgbClr val="0070C0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    case "</a:t>
            </a:r>
            <a:r>
              <a:rPr lang="es-ES" sz="1800" b="1" dirty="0">
                <a:solidFill>
                  <a:srgbClr val="0070C0"/>
                </a:solidFill>
              </a:rPr>
              <a:t>*</a:t>
            </a:r>
            <a:r>
              <a:rPr lang="es-ES" sz="1600" b="1" dirty="0">
                <a:solidFill>
                  <a:srgbClr val="0070C0"/>
                </a:solidFill>
              </a:rPr>
              <a:t>":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    </a:t>
            </a:r>
            <a:r>
              <a:rPr lang="es-ES" sz="1600" dirty="0" err="1">
                <a:solidFill>
                  <a:srgbClr val="00B0F0"/>
                </a:solidFill>
              </a:rPr>
              <a:t>System</a:t>
            </a:r>
            <a:r>
              <a:rPr lang="es-ES" sz="1600" dirty="0" err="1">
                <a:solidFill>
                  <a:srgbClr val="000000"/>
                </a:solidFill>
              </a:rPr>
              <a:t>.out.</a:t>
            </a:r>
            <a:r>
              <a:rPr lang="es-ES" sz="1600" dirty="0" err="1">
                <a:solidFill>
                  <a:srgbClr val="FF0000"/>
                </a:solidFill>
              </a:rPr>
              <a:t>print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num1*num2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        </a:t>
            </a:r>
            <a:r>
              <a:rPr lang="es-ES" sz="1600" dirty="0">
                <a:solidFill>
                  <a:srgbClr val="000000"/>
                </a:solidFill>
              </a:rPr>
              <a:t>break;</a:t>
            </a:r>
            <a:endParaRPr lang="es-ES" sz="1600" b="1" dirty="0">
              <a:solidFill>
                <a:srgbClr val="0070C0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    case "/":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    </a:t>
            </a:r>
            <a:r>
              <a:rPr lang="es-ES" sz="1600" dirty="0" err="1">
                <a:solidFill>
                  <a:srgbClr val="00B0F0"/>
                </a:solidFill>
              </a:rPr>
              <a:t>System</a:t>
            </a:r>
            <a:r>
              <a:rPr lang="es-ES" sz="1600" dirty="0" err="1">
                <a:solidFill>
                  <a:srgbClr val="000000"/>
                </a:solidFill>
              </a:rPr>
              <a:t>.out.</a:t>
            </a:r>
            <a:r>
              <a:rPr lang="es-ES" sz="1600" dirty="0" err="1">
                <a:solidFill>
                  <a:srgbClr val="FF0000"/>
                </a:solidFill>
              </a:rPr>
              <a:t>print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num1/num2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        </a:t>
            </a:r>
            <a:r>
              <a:rPr lang="es-ES" sz="1600" dirty="0">
                <a:solidFill>
                  <a:srgbClr val="000000"/>
                </a:solidFill>
              </a:rPr>
              <a:t>break;</a:t>
            </a:r>
            <a:endParaRPr lang="es-ES" sz="1600" b="1" dirty="0">
              <a:solidFill>
                <a:srgbClr val="0070C0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    default:</a:t>
            </a:r>
          </a:p>
          <a:p>
            <a:r>
              <a:rPr lang="es-ES" sz="1600" dirty="0">
                <a:solidFill>
                  <a:srgbClr val="00B0F0"/>
                </a:solidFill>
              </a:rPr>
              <a:t>        </a:t>
            </a:r>
            <a:r>
              <a:rPr lang="es-ES" sz="1600" dirty="0" err="1">
                <a:solidFill>
                  <a:srgbClr val="00B0F0"/>
                </a:solidFill>
              </a:rPr>
              <a:t>System</a:t>
            </a:r>
            <a:r>
              <a:rPr lang="es-ES" sz="1600" dirty="0" err="1">
                <a:solidFill>
                  <a:srgbClr val="000000"/>
                </a:solidFill>
              </a:rPr>
              <a:t>.out.</a:t>
            </a:r>
            <a:r>
              <a:rPr lang="es-ES" sz="1600" dirty="0" err="1">
                <a:solidFill>
                  <a:srgbClr val="FF0000"/>
                </a:solidFill>
              </a:rPr>
              <a:t>print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s-ES" sz="1600" dirty="0">
                <a:solidFill>
                  <a:srgbClr val="00B050"/>
                </a:solidFill>
              </a:rPr>
              <a:t>"Error"</a:t>
            </a:r>
            <a:r>
              <a:rPr lang="es-ES" sz="1600" dirty="0">
                <a:solidFill>
                  <a:srgbClr val="FF0000"/>
                </a:solidFill>
              </a:rPr>
              <a:t>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</a:p>
          <a:p>
            <a:r>
              <a:rPr lang="es-ES" sz="1600" b="1" dirty="0">
                <a:solidFill>
                  <a:srgbClr val="0070C0"/>
                </a:solidFill>
              </a:rPr>
              <a:t>}</a:t>
            </a:r>
            <a:endParaRPr lang="es-ES" sz="1600" dirty="0">
              <a:solidFill>
                <a:srgbClr val="000000"/>
              </a:solidFill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4966400" y="1554154"/>
            <a:ext cx="39217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0000"/>
                </a:solidFill>
              </a:rPr>
              <a:t>num1 </a:t>
            </a:r>
            <a:r>
              <a:rPr lang="es-ES" sz="1600" dirty="0">
                <a:solidFill>
                  <a:srgbClr val="000000"/>
                </a:solidFill>
              </a:rPr>
              <a:t>= 5;   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num2 </a:t>
            </a:r>
            <a:r>
              <a:rPr lang="es-ES" sz="1600" dirty="0">
                <a:solidFill>
                  <a:srgbClr val="000000"/>
                </a:solidFill>
              </a:rPr>
              <a:t>= 6; 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operación </a:t>
            </a:r>
            <a:r>
              <a:rPr lang="es-ES" sz="1600" dirty="0">
                <a:solidFill>
                  <a:srgbClr val="000000"/>
                </a:solidFill>
              </a:rPr>
              <a:t>= </a:t>
            </a:r>
            <a:r>
              <a:rPr lang="es-ES" sz="1600" dirty="0">
                <a:solidFill>
                  <a:srgbClr val="009900"/>
                </a:solidFill>
              </a:rPr>
              <a:t>"+"</a:t>
            </a:r>
            <a:r>
              <a:rPr lang="es-ES" sz="1600" dirty="0">
                <a:solidFill>
                  <a:srgbClr val="000000"/>
                </a:solidFill>
              </a:rPr>
              <a:t>; </a:t>
            </a:r>
            <a:endParaRPr lang="es-E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7155825" y="737180"/>
            <a:ext cx="1525688" cy="218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30 CuadroTexto"/>
          <p:cNvSpPr txBox="1"/>
          <p:nvPr/>
        </p:nvSpPr>
        <p:spPr>
          <a:xfrm>
            <a:off x="6119192" y="1100063"/>
            <a:ext cx="117523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SWITCH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33" name="32 CuadroTexto"/>
          <p:cNvSpPr txBox="1"/>
          <p:nvPr/>
        </p:nvSpPr>
        <p:spPr>
          <a:xfrm>
            <a:off x="1944197" y="692696"/>
            <a:ext cx="117523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IF</a:t>
            </a:r>
            <a:endParaRPr lang="es-E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90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3" grpId="0" build="p"/>
      <p:bldP spid="9" grpId="0"/>
      <p:bldP spid="25" grpId="0" animBg="1"/>
      <p:bldP spid="29" grpId="0" build="p"/>
      <p:bldP spid="30" grpId="0"/>
      <p:bldP spid="31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 smtClean="0"/>
              <a:t>ESTRUCTURAS DE SELECCIÓN (SWITCH)</a:t>
            </a:r>
            <a:endParaRPr lang="es-ES" sz="28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dirty="0" smtClean="0"/>
              <a:t>La cláusula default es opcional.</a:t>
            </a:r>
          </a:p>
          <a:p>
            <a:pPr marL="0" indent="0">
              <a:buNone/>
            </a:pPr>
            <a:endParaRPr lang="es-ES" sz="2800" dirty="0" smtClean="0"/>
          </a:p>
          <a:p>
            <a:r>
              <a:rPr lang="es-ES" sz="2800" dirty="0" smtClean="0"/>
              <a:t>Se puede utilizar en un mismo case varios valores separados por coma.</a:t>
            </a:r>
          </a:p>
          <a:p>
            <a:pPr marL="0" indent="0">
              <a:buNone/>
            </a:pPr>
            <a:endParaRPr lang="es-ES" sz="2800" dirty="0" smtClean="0"/>
          </a:p>
          <a:p>
            <a:r>
              <a:rPr lang="es-ES" sz="2800" dirty="0" smtClean="0"/>
              <a:t>Java dispone de la sentencia break que, colocada al final de cada bloque de sentencias, impide que la ejecución continúe en el bloque siguiente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97372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 smtClean="0"/>
              <a:t>ESTRUCTURAS DE SELECCIÓN (SWITCH)</a:t>
            </a:r>
            <a:endParaRPr lang="es-ES" sz="28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Nueva versión de </a:t>
            </a:r>
            <a:r>
              <a:rPr lang="es-ES" dirty="0" err="1" smtClean="0"/>
              <a:t>switch</a:t>
            </a:r>
            <a:r>
              <a:rPr lang="es-ES" dirty="0" smtClean="0"/>
              <a:t> en las últimas versiones de Java:</a:t>
            </a:r>
          </a:p>
          <a:p>
            <a:pPr lvl="1"/>
            <a:r>
              <a:rPr lang="es-ES" dirty="0" smtClean="0"/>
              <a:t>No es necesario usar break</a:t>
            </a:r>
          </a:p>
          <a:p>
            <a:pPr lvl="1"/>
            <a:r>
              <a:rPr lang="es-ES" dirty="0" smtClean="0"/>
              <a:t>Si el valor de la expresión coincide con algún case, solamente se ejecuta el bloque de instrucciones asociado a dicho case.</a:t>
            </a:r>
          </a:p>
          <a:p>
            <a:pPr lvl="1"/>
            <a:r>
              <a:rPr lang="es-ES" dirty="0" smtClean="0"/>
              <a:t>Se utiliza -&gt; en lugar de :</a:t>
            </a:r>
          </a:p>
          <a:p>
            <a:pPr lvl="1"/>
            <a:r>
              <a:rPr lang="es-ES" dirty="0" smtClean="0"/>
              <a:t>Cada bloque de instrucciones de un case debe ir entre llaves, excepto si el bloque esta formado por una sola instrucción.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37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 smtClean="0"/>
              <a:t>ESTRUCTURAS DE SELECCIÓN (SWITCH)</a:t>
            </a:r>
            <a:endParaRPr lang="es-ES" sz="28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4088" t="11478" r="25389" b="28230"/>
          <a:stretch/>
        </p:blipFill>
        <p:spPr>
          <a:xfrm>
            <a:off x="611560" y="1484784"/>
            <a:ext cx="7524303" cy="421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4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 smtClean="0"/>
              <a:t>ESTRUCTURAS DE SELECCIÓN (SWITCH)</a:t>
            </a:r>
            <a:endParaRPr lang="es-ES" sz="2800" dirty="0"/>
          </a:p>
        </p:txBody>
      </p:sp>
      <p:sp>
        <p:nvSpPr>
          <p:cNvPr id="4" name="CuadroTexto 3"/>
          <p:cNvSpPr txBox="1"/>
          <p:nvPr/>
        </p:nvSpPr>
        <p:spPr>
          <a:xfrm>
            <a:off x="1282640" y="5613876"/>
            <a:ext cx="667628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yield</a:t>
            </a:r>
            <a:r>
              <a:rPr lang="es-ES" dirty="0" smtClean="0"/>
              <a:t> hace referencia a la variable que queremos asignar.</a:t>
            </a:r>
          </a:p>
          <a:p>
            <a:r>
              <a:rPr lang="es-ES" dirty="0" smtClean="0"/>
              <a:t>(Si hay una sola instrucción se puede omitir </a:t>
            </a:r>
            <a:r>
              <a:rPr lang="es-ES" dirty="0" err="1" smtClean="0"/>
              <a:t>yield</a:t>
            </a:r>
            <a:r>
              <a:rPr lang="es-ES" dirty="0" smtClean="0"/>
              <a:t> y llaves)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65474" t="23099" r="14051" b="34201"/>
          <a:stretch/>
        </p:blipFill>
        <p:spPr>
          <a:xfrm>
            <a:off x="1691680" y="1268760"/>
            <a:ext cx="5678601" cy="380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5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EJERCICIOS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pPr algn="ctr">
              <a:buNone/>
            </a:pPr>
            <a:r>
              <a:rPr lang="es-ES_tradnl" dirty="0"/>
              <a:t>EJERCICIOS ESTRUCTURAS DE SELECCI</a:t>
            </a:r>
            <a:r>
              <a:rPr lang="es-ES" dirty="0"/>
              <a:t>ÓN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91295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db2004c019l">
  <a:themeElements>
    <a:clrScheme name="sample 3">
      <a:dk1>
        <a:srgbClr val="000066"/>
      </a:dk1>
      <a:lt1>
        <a:srgbClr val="FFFFFF"/>
      </a:lt1>
      <a:dk2>
        <a:srgbClr val="58A252"/>
      </a:dk2>
      <a:lt2>
        <a:srgbClr val="B2B2B2"/>
      </a:lt2>
      <a:accent1>
        <a:srgbClr val="0066FF"/>
      </a:accent1>
      <a:accent2>
        <a:srgbClr val="2C95A0"/>
      </a:accent2>
      <a:accent3>
        <a:srgbClr val="FFFFFF"/>
      </a:accent3>
      <a:accent4>
        <a:srgbClr val="000056"/>
      </a:accent4>
      <a:accent5>
        <a:srgbClr val="AAB8FF"/>
      </a:accent5>
      <a:accent6>
        <a:srgbClr val="278791"/>
      </a:accent6>
      <a:hlink>
        <a:srgbClr val="35BBE5"/>
      </a:hlink>
      <a:folHlink>
        <a:srgbClr val="872ECA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33CCCC"/>
        </a:accent1>
        <a:accent2>
          <a:srgbClr val="0099CC"/>
        </a:accent2>
        <a:accent3>
          <a:srgbClr val="FFFFFF"/>
        </a:accent3>
        <a:accent4>
          <a:srgbClr val="000056"/>
        </a:accent4>
        <a:accent5>
          <a:srgbClr val="ADE2E2"/>
        </a:accent5>
        <a:accent6>
          <a:srgbClr val="008AB9"/>
        </a:accent6>
        <a:hlink>
          <a:srgbClr val="6A9EB0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415CB3"/>
        </a:dk2>
        <a:lt2>
          <a:srgbClr val="B2B2B2"/>
        </a:lt2>
        <a:accent1>
          <a:srgbClr val="55AEEB"/>
        </a:accent1>
        <a:accent2>
          <a:srgbClr val="FF9933"/>
        </a:accent2>
        <a:accent3>
          <a:srgbClr val="FFFFFF"/>
        </a:accent3>
        <a:accent4>
          <a:srgbClr val="000056"/>
        </a:accent4>
        <a:accent5>
          <a:srgbClr val="B4D3F3"/>
        </a:accent5>
        <a:accent6>
          <a:srgbClr val="E78A2D"/>
        </a:accent6>
        <a:hlink>
          <a:srgbClr val="4D7AB5"/>
        </a:hlink>
        <a:folHlink>
          <a:srgbClr val="9964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0066FF"/>
        </a:accent1>
        <a:accent2>
          <a:srgbClr val="2C95A0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78791"/>
        </a:accent6>
        <a:hlink>
          <a:srgbClr val="35BBE5"/>
        </a:hlink>
        <a:folHlink>
          <a:srgbClr val="872E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cdb2004c019l</Template>
  <TotalTime>5823</TotalTime>
  <Words>1331</Words>
  <Application>Microsoft Office PowerPoint</Application>
  <PresentationFormat>Presentación en pantalla (4:3)</PresentationFormat>
  <Paragraphs>317</Paragraphs>
  <Slides>25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5" baseType="lpstr">
      <vt:lpstr>Adobe Heiti Std R</vt:lpstr>
      <vt:lpstr>Aller Display</vt:lpstr>
      <vt:lpstr>Arial</vt:lpstr>
      <vt:lpstr>Calibri</vt:lpstr>
      <vt:lpstr>Kozuka Gothic Pr6N B</vt:lpstr>
      <vt:lpstr>NewsGotT-Regu</vt:lpstr>
      <vt:lpstr>Times New Roman</vt:lpstr>
      <vt:lpstr>Verdana</vt:lpstr>
      <vt:lpstr>Wingdings</vt:lpstr>
      <vt:lpstr>cdb2004c019l</vt:lpstr>
      <vt:lpstr>Uso de estructuras de control</vt:lpstr>
      <vt:lpstr>Contenido</vt:lpstr>
      <vt:lpstr>Programas Inteligentes</vt:lpstr>
      <vt:lpstr>Operadores relacionales</vt:lpstr>
      <vt:lpstr>Operadores lógicos</vt:lpstr>
      <vt:lpstr>Operador &amp;&amp;</vt:lpstr>
      <vt:lpstr>Operador ||</vt:lpstr>
      <vt:lpstr>Operador !</vt:lpstr>
      <vt:lpstr>Estructuras de Selección (IF)</vt:lpstr>
      <vt:lpstr>ESTRUCTURAS DE SELECCIÓN (IF… ELSE)</vt:lpstr>
      <vt:lpstr>ESTRUCTURAS DE SELECCIÓN (IF .. ELSE)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ESTRUCTURAS DE SELECCIÓN (SWITCH)</vt:lpstr>
      <vt:lpstr>ESTRUCTURAS DE SELECCIÓN (SWITCH)</vt:lpstr>
      <vt:lpstr>ESTRUCTURAS DE SELECCIÓN (SWITCH)</vt:lpstr>
      <vt:lpstr>ESTRUCTURAS DE SELECCIÓN (SWITCH)</vt:lpstr>
      <vt:lpstr>EJERCICIOS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UsuarioAdministrador</dc:creator>
  <cp:lastModifiedBy>Usuario</cp:lastModifiedBy>
  <cp:revision>328</cp:revision>
  <dcterms:created xsi:type="dcterms:W3CDTF">2008-09-25T01:23:28Z</dcterms:created>
  <dcterms:modified xsi:type="dcterms:W3CDTF">2024-10-14T07:14:10Z</dcterms:modified>
</cp:coreProperties>
</file>