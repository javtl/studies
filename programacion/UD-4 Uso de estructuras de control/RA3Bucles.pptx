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350" r:id="rId3"/>
    <p:sldId id="351" r:id="rId4"/>
    <p:sldId id="352" r:id="rId5"/>
    <p:sldId id="353" r:id="rId6"/>
    <p:sldId id="354" r:id="rId7"/>
    <p:sldId id="355" r:id="rId8"/>
    <p:sldId id="356" r:id="rId9"/>
    <p:sldId id="357" r:id="rId10"/>
    <p:sldId id="358" r:id="rId11"/>
    <p:sldId id="393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0C1"/>
    <a:srgbClr val="FFDF79"/>
    <a:srgbClr val="000000"/>
    <a:srgbClr val="009900"/>
    <a:srgbClr val="FF6600"/>
    <a:srgbClr val="FF3300"/>
    <a:srgbClr val="C00000"/>
    <a:srgbClr val="99FF66"/>
    <a:srgbClr val="57FF57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 autoAdjust="0"/>
    <p:restoredTop sz="93002" autoAdjust="0"/>
  </p:normalViewPr>
  <p:slideViewPr>
    <p:cSldViewPr>
      <p:cViewPr varScale="1">
        <p:scale>
          <a:sx n="80" d="100"/>
          <a:sy n="80" d="100"/>
        </p:scale>
        <p:origin x="15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60469D27-3A80-4AE4-983A-5127F419349B}" type="datetimeFigureOut">
              <a:rPr lang="es-ES_tradnl"/>
              <a:pPr>
                <a:defRPr/>
              </a:pPr>
              <a:t>14/10/2024</a:t>
            </a:fld>
            <a:endParaRPr lang="es-ES_tradnl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_tradnl" noProof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_tradnl" noProof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FB2CE7FE-09D1-49CA-91BF-39EACD17411D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267553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_tradnl"/>
          </a:p>
        </p:txBody>
      </p:sp>
      <p:sp>
        <p:nvSpPr>
          <p:cNvPr id="13316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36EE85E-37C0-4958-BA08-E096993B5EBD}" type="slidenum">
              <a:rPr lang="es-ES_tradnl" sz="1200"/>
              <a:pPr eaLnBrk="1" hangingPunct="1"/>
              <a:t>1</a:t>
            </a:fld>
            <a:endParaRPr lang="es-ES_tradnl" sz="1200"/>
          </a:p>
        </p:txBody>
      </p:sp>
    </p:spTree>
    <p:extLst>
      <p:ext uri="{BB962C8B-B14F-4D97-AF65-F5344CB8AC3E}">
        <p14:creationId xmlns:p14="http://schemas.microsoft.com/office/powerpoint/2010/main" val="1253335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 bwMode="ltGray"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1"/>
          <p:cNvSpPr>
            <a:spLocks noChangeArrowheads="1"/>
          </p:cNvSpPr>
          <p:nvPr/>
        </p:nvSpPr>
        <p:spPr bwMode="gray">
          <a:xfrm>
            <a:off x="0" y="2708275"/>
            <a:ext cx="9144000" cy="874713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2857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ES_tradnl"/>
          </a:p>
        </p:txBody>
      </p:sp>
      <p:sp>
        <p:nvSpPr>
          <p:cNvPr id="5" name="Text Box 14"/>
          <p:cNvSpPr txBox="1">
            <a:spLocks noChangeArrowheads="1"/>
          </p:cNvSpPr>
          <p:nvPr/>
        </p:nvSpPr>
        <p:spPr bwMode="black">
          <a:xfrm>
            <a:off x="381000" y="271463"/>
            <a:ext cx="1089025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5782" tIns="47891" rIns="95782" bIns="47891">
            <a:spAutoFit/>
          </a:bodyPr>
          <a:lstStyle/>
          <a:p>
            <a:pPr defTabSz="957263">
              <a:defRPr/>
            </a:pPr>
            <a:r>
              <a:rPr lang="en-US" sz="2100" b="1">
                <a:solidFill>
                  <a:schemeClr val="bg1"/>
                </a:solidFill>
                <a:latin typeface="Verdana" pitchFamily="34" charset="0"/>
              </a:rPr>
              <a:t>LOGO</a:t>
            </a:r>
          </a:p>
        </p:txBody>
      </p:sp>
      <p:grpSp>
        <p:nvGrpSpPr>
          <p:cNvPr id="6" name="Group 42"/>
          <p:cNvGrpSpPr>
            <a:grpSpLocks/>
          </p:cNvGrpSpPr>
          <p:nvPr/>
        </p:nvGrpSpPr>
        <p:grpSpPr bwMode="auto">
          <a:xfrm>
            <a:off x="-11113" y="-12700"/>
            <a:ext cx="9175751" cy="6870700"/>
            <a:chOff x="-7" y="-8"/>
            <a:chExt cx="5780" cy="4328"/>
          </a:xfrm>
        </p:grpSpPr>
        <p:sp>
          <p:nvSpPr>
            <p:cNvPr id="7" name="AutoShape 36"/>
            <p:cNvSpPr>
              <a:spLocks noChangeArrowheads="1"/>
            </p:cNvSpPr>
            <p:nvPr/>
          </p:nvSpPr>
          <p:spPr bwMode="gray">
            <a:xfrm>
              <a:off x="17" y="16"/>
              <a:ext cx="5729" cy="4285"/>
            </a:xfrm>
            <a:prstGeom prst="roundRect">
              <a:avLst>
                <a:gd name="adj" fmla="val 6227"/>
              </a:avLst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8" name="Freeform 37"/>
            <p:cNvSpPr>
              <a:spLocks/>
            </p:cNvSpPr>
            <p:nvPr/>
          </p:nvSpPr>
          <p:spPr bwMode="gray">
            <a:xfrm>
              <a:off x="-3" y="-8"/>
              <a:ext cx="295" cy="289"/>
            </a:xfrm>
            <a:custGeom>
              <a:avLst/>
              <a:gdLst/>
              <a:ahLst/>
              <a:cxnLst>
                <a:cxn ang="0">
                  <a:pos x="3" y="395"/>
                </a:cxn>
                <a:cxn ang="0">
                  <a:pos x="74" y="216"/>
                </a:cxn>
                <a:cxn ang="0">
                  <a:pos x="231" y="50"/>
                </a:cxn>
                <a:cxn ang="0">
                  <a:pos x="403" y="0"/>
                </a:cxn>
                <a:cxn ang="0">
                  <a:pos x="0" y="0"/>
                </a:cxn>
              </a:cxnLst>
              <a:rect l="0" t="0" r="r" b="b"/>
              <a:pathLst>
                <a:path w="403" h="395">
                  <a:moveTo>
                    <a:pt x="3" y="395"/>
                  </a:moveTo>
                  <a:lnTo>
                    <a:pt x="74" y="216"/>
                  </a:lnTo>
                  <a:lnTo>
                    <a:pt x="231" y="50"/>
                  </a:lnTo>
                  <a:lnTo>
                    <a:pt x="403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9" name="Freeform 38"/>
            <p:cNvSpPr>
              <a:spLocks/>
            </p:cNvSpPr>
            <p:nvPr/>
          </p:nvSpPr>
          <p:spPr bwMode="gray">
            <a:xfrm>
              <a:off x="-7" y="3982"/>
              <a:ext cx="287" cy="338"/>
            </a:xfrm>
            <a:custGeom>
              <a:avLst/>
              <a:gdLst/>
              <a:ahLst/>
              <a:cxnLst>
                <a:cxn ang="0">
                  <a:pos x="391" y="473"/>
                </a:cxn>
                <a:cxn ang="0">
                  <a:pos x="151" y="353"/>
                </a:cxn>
                <a:cxn ang="0">
                  <a:pos x="42" y="201"/>
                </a:cxn>
                <a:cxn ang="0">
                  <a:pos x="0" y="0"/>
                </a:cxn>
                <a:cxn ang="0">
                  <a:pos x="1" y="470"/>
                </a:cxn>
              </a:cxnLst>
              <a:rect l="0" t="0" r="r" b="b"/>
              <a:pathLst>
                <a:path w="391" h="473">
                  <a:moveTo>
                    <a:pt x="391" y="473"/>
                  </a:moveTo>
                  <a:lnTo>
                    <a:pt x="151" y="353"/>
                  </a:lnTo>
                  <a:lnTo>
                    <a:pt x="42" y="201"/>
                  </a:lnTo>
                  <a:lnTo>
                    <a:pt x="0" y="0"/>
                  </a:lnTo>
                  <a:lnTo>
                    <a:pt x="1" y="47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" name="Freeform 39"/>
            <p:cNvSpPr>
              <a:spLocks/>
            </p:cNvSpPr>
            <p:nvPr/>
          </p:nvSpPr>
          <p:spPr bwMode="gray">
            <a:xfrm>
              <a:off x="5499" y="4026"/>
              <a:ext cx="274" cy="287"/>
            </a:xfrm>
            <a:custGeom>
              <a:avLst/>
              <a:gdLst/>
              <a:ahLst/>
              <a:cxnLst>
                <a:cxn ang="0">
                  <a:pos x="229" y="0"/>
                </a:cxn>
                <a:cxn ang="0">
                  <a:pos x="164" y="144"/>
                </a:cxn>
                <a:cxn ang="0">
                  <a:pos x="98" y="253"/>
                </a:cxn>
                <a:cxn ang="0">
                  <a:pos x="0" y="290"/>
                </a:cxn>
                <a:cxn ang="0">
                  <a:pos x="232" y="287"/>
                </a:cxn>
              </a:cxnLst>
              <a:rect l="0" t="0" r="r" b="b"/>
              <a:pathLst>
                <a:path w="232" h="290">
                  <a:moveTo>
                    <a:pt x="229" y="0"/>
                  </a:moveTo>
                  <a:lnTo>
                    <a:pt x="164" y="144"/>
                  </a:lnTo>
                  <a:lnTo>
                    <a:pt x="98" y="253"/>
                  </a:lnTo>
                  <a:lnTo>
                    <a:pt x="0" y="290"/>
                  </a:lnTo>
                  <a:lnTo>
                    <a:pt x="232" y="287"/>
                  </a:lnTo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1" name="Freeform 40"/>
            <p:cNvSpPr>
              <a:spLocks/>
            </p:cNvSpPr>
            <p:nvPr/>
          </p:nvSpPr>
          <p:spPr bwMode="gray">
            <a:xfrm>
              <a:off x="5467" y="0"/>
              <a:ext cx="302" cy="2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1" y="96"/>
                </a:cxn>
                <a:cxn ang="0">
                  <a:pos x="353" y="231"/>
                </a:cxn>
                <a:cxn ang="0">
                  <a:pos x="403" y="403"/>
                </a:cxn>
                <a:cxn ang="0">
                  <a:pos x="403" y="0"/>
                </a:cxn>
              </a:cxnLst>
              <a:rect l="0" t="0" r="r" b="b"/>
              <a:pathLst>
                <a:path w="403" h="403">
                  <a:moveTo>
                    <a:pt x="0" y="0"/>
                  </a:moveTo>
                  <a:lnTo>
                    <a:pt x="221" y="96"/>
                  </a:lnTo>
                  <a:lnTo>
                    <a:pt x="353" y="231"/>
                  </a:lnTo>
                  <a:lnTo>
                    <a:pt x="403" y="403"/>
                  </a:lnTo>
                  <a:lnTo>
                    <a:pt x="403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</p:grp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0" y="2720975"/>
            <a:ext cx="9144000" cy="817563"/>
          </a:xfrm>
        </p:spPr>
        <p:txBody>
          <a:bodyPr/>
          <a:lstStyle>
            <a:lvl1pPr>
              <a:defRPr sz="46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black">
          <a:xfrm>
            <a:off x="990600" y="2176463"/>
            <a:ext cx="7086600" cy="436562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190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19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C10960-1D47-4F31-A178-4215E754AE71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04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8B1BE4-FB56-497F-AC71-04F364CF33BF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416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D86F26-C6EC-496E-AD78-D42D5BE6465A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666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AED370-19CA-4C7C-85E3-1587DE8EE631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516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14D8DD-9D00-4312-B4C4-A03ADF0178CC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196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537A5B-A9CE-4669-BC99-AE9F32CE8D07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697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D770F1-8B0E-485D-8FC1-DD5CDADCB470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139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s-ES_tradnl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368E41-874E-4862-AAFD-AC18B393D094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725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01FC98-F929-48AB-9F4D-6385B8877736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584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53975"/>
            <a:ext cx="2057400" cy="62706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53975"/>
            <a:ext cx="6019800" cy="62706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DFA751-5FBB-4471-AF6F-9D0A8609C3C1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6006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2925" y="53975"/>
            <a:ext cx="7392988" cy="563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457200" y="1076325"/>
            <a:ext cx="8229600" cy="5248275"/>
          </a:xfrm>
        </p:spPr>
        <p:txBody>
          <a:bodyPr/>
          <a:lstStyle/>
          <a:p>
            <a:pPr lvl="0"/>
            <a:r>
              <a:rPr lang="es-ES" noProof="0"/>
              <a:t>Haga clic en el icono para agregar una tabla</a:t>
            </a:r>
            <a:endParaRPr lang="es-ES_tradnl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F47353-9D15-4571-BF0B-64C1267AE8A4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788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Freeform 15" descr="29641"/>
          <p:cNvSpPr>
            <a:spLocks/>
          </p:cNvSpPr>
          <p:nvPr/>
        </p:nvSpPr>
        <p:spPr bwMode="gray">
          <a:xfrm>
            <a:off x="36513" y="80963"/>
            <a:ext cx="9077325" cy="1595437"/>
          </a:xfrm>
          <a:custGeom>
            <a:avLst/>
            <a:gdLst/>
            <a:ahLst/>
            <a:cxnLst>
              <a:cxn ang="0">
                <a:pos x="0" y="756"/>
              </a:cxn>
              <a:cxn ang="0">
                <a:pos x="576" y="560"/>
              </a:cxn>
              <a:cxn ang="0">
                <a:pos x="1403" y="390"/>
              </a:cxn>
              <a:cxn ang="0">
                <a:pos x="2452" y="314"/>
              </a:cxn>
              <a:cxn ang="0">
                <a:pos x="3102" y="326"/>
              </a:cxn>
              <a:cxn ang="0">
                <a:pos x="4043" y="434"/>
              </a:cxn>
              <a:cxn ang="0">
                <a:pos x="4944" y="668"/>
              </a:cxn>
              <a:cxn ang="0">
                <a:pos x="5691" y="971"/>
              </a:cxn>
              <a:cxn ang="0">
                <a:pos x="5718" y="19"/>
              </a:cxn>
              <a:cxn ang="0">
                <a:pos x="9" y="0"/>
              </a:cxn>
            </a:cxnLst>
            <a:rect l="0" t="0" r="r" b="b"/>
            <a:pathLst>
              <a:path w="5718" h="1005">
                <a:moveTo>
                  <a:pt x="0" y="756"/>
                </a:moveTo>
                <a:cubicBezTo>
                  <a:pt x="96" y="724"/>
                  <a:pt x="297" y="635"/>
                  <a:pt x="576" y="560"/>
                </a:cubicBezTo>
                <a:cubicBezTo>
                  <a:pt x="855" y="485"/>
                  <a:pt x="1037" y="442"/>
                  <a:pt x="1403" y="390"/>
                </a:cubicBezTo>
                <a:cubicBezTo>
                  <a:pt x="1769" y="337"/>
                  <a:pt x="2154" y="320"/>
                  <a:pt x="2452" y="314"/>
                </a:cubicBezTo>
                <a:lnTo>
                  <a:pt x="3102" y="326"/>
                </a:lnTo>
                <a:cubicBezTo>
                  <a:pt x="3367" y="346"/>
                  <a:pt x="3736" y="377"/>
                  <a:pt x="4043" y="434"/>
                </a:cubicBezTo>
                <a:cubicBezTo>
                  <a:pt x="4350" y="490"/>
                  <a:pt x="4669" y="578"/>
                  <a:pt x="4944" y="668"/>
                </a:cubicBezTo>
                <a:cubicBezTo>
                  <a:pt x="5219" y="757"/>
                  <a:pt x="5679" y="1005"/>
                  <a:pt x="5691" y="971"/>
                </a:cubicBezTo>
                <a:cubicBezTo>
                  <a:pt x="5695" y="964"/>
                  <a:pt x="5718" y="25"/>
                  <a:pt x="5718" y="19"/>
                </a:cubicBezTo>
                <a:cubicBezTo>
                  <a:pt x="5718" y="7"/>
                  <a:pt x="1198" y="4"/>
                  <a:pt x="9" y="0"/>
                </a:cubicBezTo>
              </a:path>
            </a:pathLst>
          </a:custGeom>
          <a:blipFill dpi="0" rotWithShape="1">
            <a:blip r:embed="rId15" cstate="print"/>
            <a:srcRect/>
            <a:stretch>
              <a:fillRect/>
            </a:stretch>
          </a:blip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s-ES_tradnl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2" tIns="47891" rIns="95782" bIns="478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84888" y="6450013"/>
            <a:ext cx="2897187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2" tIns="47891" rIns="95782" bIns="47891" numCol="1" anchor="t" anchorCtr="0" compatLnSpc="1">
            <a:prstTxWarp prst="textNoShape">
              <a:avLst/>
            </a:prstTxWarp>
          </a:bodyPr>
          <a:lstStyle>
            <a:lvl1pPr algn="r">
              <a:defRPr sz="1300" b="1">
                <a:latin typeface="Verdana" pitchFamily="34" charset="0"/>
              </a:defRPr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454775"/>
            <a:ext cx="927100" cy="239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2" tIns="47891" rIns="95782" bIns="47891" numCol="1" anchor="t" anchorCtr="0" compatLnSpc="1">
            <a:prstTxWarp prst="textNoShape">
              <a:avLst/>
            </a:prstTxWarp>
          </a:bodyPr>
          <a:lstStyle>
            <a:lvl1pPr algn="ctr">
              <a:defRPr sz="1300" b="1">
                <a:latin typeface="Verdana" pitchFamily="34" charset="0"/>
              </a:defRPr>
            </a:lvl1pPr>
          </a:lstStyle>
          <a:p>
            <a:fld id="{BD04EC93-4901-40B8-B615-125461DCA23D}" type="slidenum">
              <a:rPr lang="en-US"/>
              <a:pPr/>
              <a:t>‹Nº›</a:t>
            </a:fld>
            <a:endParaRPr lang="en-US"/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542925" y="53975"/>
            <a:ext cx="7392988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2" tIns="47891" rIns="95782" bIns="478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grpSp>
        <p:nvGrpSpPr>
          <p:cNvPr id="1031" name="Group 16"/>
          <p:cNvGrpSpPr>
            <a:grpSpLocks/>
          </p:cNvGrpSpPr>
          <p:nvPr/>
        </p:nvGrpSpPr>
        <p:grpSpPr bwMode="auto">
          <a:xfrm>
            <a:off x="-1588" y="0"/>
            <a:ext cx="9145588" cy="6858000"/>
            <a:chOff x="-1" y="0"/>
            <a:chExt cx="8065" cy="6048"/>
          </a:xfrm>
        </p:grpSpPr>
        <p:sp>
          <p:nvSpPr>
            <p:cNvPr id="1041" name="Freeform 17"/>
            <p:cNvSpPr>
              <a:spLocks/>
            </p:cNvSpPr>
            <p:nvPr/>
          </p:nvSpPr>
          <p:spPr bwMode="gray">
            <a:xfrm>
              <a:off x="-1" y="5629"/>
              <a:ext cx="389" cy="417"/>
            </a:xfrm>
            <a:custGeom>
              <a:avLst/>
              <a:gdLst/>
              <a:ahLst/>
              <a:cxnLst>
                <a:cxn ang="0">
                  <a:pos x="314" y="416"/>
                </a:cxn>
                <a:cxn ang="0">
                  <a:pos x="389" y="417"/>
                </a:cxn>
                <a:cxn ang="0">
                  <a:pos x="158" y="297"/>
                </a:cxn>
                <a:cxn ang="0">
                  <a:pos x="39" y="179"/>
                </a:cxn>
                <a:cxn ang="0">
                  <a:pos x="0" y="0"/>
                </a:cxn>
                <a:cxn ang="0">
                  <a:pos x="1" y="417"/>
                </a:cxn>
              </a:cxnLst>
              <a:rect l="0" t="0" r="r" b="b"/>
              <a:pathLst>
                <a:path w="389" h="417">
                  <a:moveTo>
                    <a:pt x="314" y="416"/>
                  </a:moveTo>
                  <a:lnTo>
                    <a:pt x="389" y="417"/>
                  </a:lnTo>
                  <a:lnTo>
                    <a:pt x="158" y="297"/>
                  </a:lnTo>
                  <a:lnTo>
                    <a:pt x="39" y="179"/>
                  </a:lnTo>
                  <a:lnTo>
                    <a:pt x="0" y="0"/>
                  </a:lnTo>
                  <a:lnTo>
                    <a:pt x="1" y="417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42" name="Freeform 18"/>
            <p:cNvSpPr>
              <a:spLocks/>
            </p:cNvSpPr>
            <p:nvPr/>
          </p:nvSpPr>
          <p:spPr bwMode="gray">
            <a:xfrm>
              <a:off x="7701" y="5645"/>
              <a:ext cx="363" cy="403"/>
            </a:xfrm>
            <a:custGeom>
              <a:avLst/>
              <a:gdLst/>
              <a:ahLst/>
              <a:cxnLst>
                <a:cxn ang="0">
                  <a:pos x="229" y="0"/>
                </a:cxn>
                <a:cxn ang="0">
                  <a:pos x="164" y="144"/>
                </a:cxn>
                <a:cxn ang="0">
                  <a:pos x="98" y="253"/>
                </a:cxn>
                <a:cxn ang="0">
                  <a:pos x="0" y="290"/>
                </a:cxn>
                <a:cxn ang="0">
                  <a:pos x="232" y="287"/>
                </a:cxn>
              </a:cxnLst>
              <a:rect l="0" t="0" r="r" b="b"/>
              <a:pathLst>
                <a:path w="232" h="290">
                  <a:moveTo>
                    <a:pt x="229" y="0"/>
                  </a:moveTo>
                  <a:lnTo>
                    <a:pt x="164" y="144"/>
                  </a:lnTo>
                  <a:lnTo>
                    <a:pt x="98" y="253"/>
                  </a:lnTo>
                  <a:lnTo>
                    <a:pt x="0" y="290"/>
                  </a:lnTo>
                  <a:lnTo>
                    <a:pt x="232" y="287"/>
                  </a:lnTo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43" name="AutoShape 19"/>
            <p:cNvSpPr>
              <a:spLocks noChangeArrowheads="1"/>
            </p:cNvSpPr>
            <p:nvPr/>
          </p:nvSpPr>
          <p:spPr bwMode="gray">
            <a:xfrm>
              <a:off x="26" y="42"/>
              <a:ext cx="8012" cy="5985"/>
            </a:xfrm>
            <a:prstGeom prst="roundRect">
              <a:avLst>
                <a:gd name="adj" fmla="val 6227"/>
              </a:avLst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44" name="Freeform 20"/>
            <p:cNvSpPr>
              <a:spLocks/>
            </p:cNvSpPr>
            <p:nvPr/>
          </p:nvSpPr>
          <p:spPr bwMode="gray">
            <a:xfrm>
              <a:off x="-1" y="13"/>
              <a:ext cx="405" cy="441"/>
            </a:xfrm>
            <a:custGeom>
              <a:avLst/>
              <a:gdLst/>
              <a:ahLst/>
              <a:cxnLst>
                <a:cxn ang="0">
                  <a:pos x="2" y="441"/>
                </a:cxn>
                <a:cxn ang="0">
                  <a:pos x="107" y="175"/>
                </a:cxn>
                <a:cxn ang="0">
                  <a:pos x="387" y="0"/>
                </a:cxn>
                <a:cxn ang="0">
                  <a:pos x="1" y="0"/>
                </a:cxn>
              </a:cxnLst>
              <a:rect l="0" t="0" r="r" b="b"/>
              <a:pathLst>
                <a:path w="405" h="441">
                  <a:moveTo>
                    <a:pt x="2" y="441"/>
                  </a:moveTo>
                  <a:cubicBezTo>
                    <a:pt x="19" y="397"/>
                    <a:pt x="0" y="345"/>
                    <a:pt x="107" y="175"/>
                  </a:cubicBezTo>
                  <a:cubicBezTo>
                    <a:pt x="214" y="6"/>
                    <a:pt x="405" y="16"/>
                    <a:pt x="387" y="0"/>
                  </a:cubicBezTo>
                  <a:lnTo>
                    <a:pt x="1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45" name="Freeform 21"/>
            <p:cNvSpPr>
              <a:spLocks/>
            </p:cNvSpPr>
            <p:nvPr/>
          </p:nvSpPr>
          <p:spPr bwMode="gray">
            <a:xfrm>
              <a:off x="7588" y="0"/>
              <a:ext cx="470" cy="483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342" y="150"/>
                </a:cxn>
                <a:cxn ang="0">
                  <a:pos x="470" y="461"/>
                </a:cxn>
                <a:cxn ang="0">
                  <a:pos x="470" y="0"/>
                </a:cxn>
              </a:cxnLst>
              <a:rect l="0" t="0" r="r" b="b"/>
              <a:pathLst>
                <a:path w="470" h="483">
                  <a:moveTo>
                    <a:pt x="0" y="4"/>
                  </a:moveTo>
                  <a:cubicBezTo>
                    <a:pt x="57" y="28"/>
                    <a:pt x="264" y="74"/>
                    <a:pt x="342" y="150"/>
                  </a:cubicBezTo>
                  <a:cubicBezTo>
                    <a:pt x="450" y="275"/>
                    <a:pt x="452" y="483"/>
                    <a:pt x="470" y="461"/>
                  </a:cubicBezTo>
                  <a:lnTo>
                    <a:pt x="47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</p:grpSp>
      <p:sp>
        <p:nvSpPr>
          <p:cNvPr id="1046" name="Line 22"/>
          <p:cNvSpPr>
            <a:spLocks noChangeShapeType="1"/>
          </p:cNvSpPr>
          <p:nvPr/>
        </p:nvSpPr>
        <p:spPr bwMode="gray">
          <a:xfrm>
            <a:off x="323850" y="6500813"/>
            <a:ext cx="8569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s-ES_trad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dt="0"/>
  <p:txStyles>
    <p:titleStyle>
      <a:lvl1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+mj-lt"/>
          <a:ea typeface="+mj-ea"/>
          <a:cs typeface="+mj-cs"/>
        </a:defRPr>
      </a:lvl1pPr>
      <a:lvl2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2pPr>
      <a:lvl3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3pPr>
      <a:lvl4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4pPr>
      <a:lvl5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5pPr>
      <a:lvl6pPr marL="4572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6pPr>
      <a:lvl7pPr marL="9144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7pPr>
      <a:lvl8pPr marL="13716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8pPr>
      <a:lvl9pPr marL="18288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9pPr>
    </p:titleStyle>
    <p:bodyStyle>
      <a:lvl1pPr marL="358775" indent="-358775" algn="l" defTabSz="957263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77875" indent="-298450" algn="l" defTabSz="957263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100">
          <a:solidFill>
            <a:schemeClr val="tx1"/>
          </a:solidFill>
          <a:latin typeface="+mj-lt"/>
        </a:defRPr>
      </a:lvl2pPr>
      <a:lvl3pPr marL="1196975" indent="-239713" algn="l" defTabSz="957263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100">
          <a:solidFill>
            <a:schemeClr val="tx1"/>
          </a:solidFill>
          <a:latin typeface="+mj-lt"/>
        </a:defRPr>
      </a:lvl3pPr>
      <a:lvl4pPr marL="1676400" indent="-239713" algn="l" defTabSz="957263" rtl="0" fontAlgn="base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j-lt"/>
        </a:defRPr>
      </a:lvl4pPr>
      <a:lvl5pPr marL="2154238" indent="-238125" algn="l" defTabSz="957263" rtl="0" fontAlgn="base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5pPr>
      <a:lvl6pPr marL="26114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6pPr>
      <a:lvl7pPr marL="30686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7pPr>
      <a:lvl8pPr marL="35258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8pPr>
      <a:lvl9pPr marL="39830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dirty="0" err="1"/>
              <a:t>Uso</a:t>
            </a:r>
            <a:r>
              <a:rPr lang="en-US" sz="3200" dirty="0"/>
              <a:t> de </a:t>
            </a:r>
            <a:r>
              <a:rPr lang="en-US" sz="3200" dirty="0" err="1"/>
              <a:t>estructuras</a:t>
            </a:r>
            <a:r>
              <a:rPr lang="en-US" sz="3200" dirty="0"/>
              <a:t> de control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2122488"/>
            <a:ext cx="7086600" cy="434975"/>
          </a:xfrm>
        </p:spPr>
        <p:txBody>
          <a:bodyPr/>
          <a:lstStyle/>
          <a:p>
            <a:r>
              <a:rPr lang="en-US"/>
              <a:t>UNIDAD </a:t>
            </a:r>
            <a:r>
              <a:rPr lang="en-US" smtClean="0"/>
              <a:t>4</a:t>
            </a:r>
            <a:endParaRPr lang="en-US" dirty="0"/>
          </a:p>
        </p:txBody>
      </p:sp>
      <p:sp>
        <p:nvSpPr>
          <p:cNvPr id="4" name="3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Contenido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_tradnl" sz="1800" dirty="0"/>
              <a:t>R.A. 3: Escribe y depura código, analizando y utilizando las estructuras de control del lenguaje.</a:t>
            </a:r>
          </a:p>
          <a:p>
            <a:endParaRPr lang="es-ES_tradnl" dirty="0"/>
          </a:p>
        </p:txBody>
      </p:sp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826039"/>
              </p:ext>
            </p:extLst>
          </p:nvPr>
        </p:nvGraphicFramePr>
        <p:xfrm>
          <a:off x="1331640" y="2060848"/>
          <a:ext cx="5536565" cy="3042920"/>
        </p:xfrm>
        <a:graphic>
          <a:graphicData uri="http://schemas.openxmlformats.org/drawingml/2006/table">
            <a:tbl>
              <a:tblPr firstRow="1" firstCol="1" bandRow="1"/>
              <a:tblGrid>
                <a:gridCol w="1847850">
                  <a:extLst>
                    <a:ext uri="{9D8B030D-6E8A-4147-A177-3AD203B41FA5}">
                      <a16:colId xmlns:a16="http://schemas.microsoft.com/office/drawing/2014/main" val="4187887330"/>
                    </a:ext>
                  </a:extLst>
                </a:gridCol>
                <a:gridCol w="1248494">
                  <a:extLst>
                    <a:ext uri="{9D8B030D-6E8A-4147-A177-3AD203B41FA5}">
                      <a16:colId xmlns:a16="http://schemas.microsoft.com/office/drawing/2014/main" val="3375106742"/>
                    </a:ext>
                  </a:extLst>
                </a:gridCol>
                <a:gridCol w="1110531">
                  <a:extLst>
                    <a:ext uri="{9D8B030D-6E8A-4147-A177-3AD203B41FA5}">
                      <a16:colId xmlns:a16="http://schemas.microsoft.com/office/drawing/2014/main" val="660631175"/>
                    </a:ext>
                  </a:extLst>
                </a:gridCol>
                <a:gridCol w="1329690">
                  <a:extLst>
                    <a:ext uri="{9D8B030D-6E8A-4147-A177-3AD203B41FA5}">
                      <a16:colId xmlns:a16="http://schemas.microsoft.com/office/drawing/2014/main" val="877951358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CRITERIOS DE EVALUACIÓN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PROCEDIMIENTOS ESENCIALES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EVALUACIÓN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CONTENIDOS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786548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lphaLcParenR"/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NewsGotT-Regu"/>
                        </a:rPr>
                        <a:t>Se ha escrito y probado código que haga uso de estructuras de selección.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lphaLcParenR"/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NewsGotT-Regu"/>
                        </a:rPr>
                        <a:t>Se han utilizado estructuras de repetición.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lphaLcParenR" startAt="4"/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NewsGotT-Regu"/>
                        </a:rPr>
                        <a:t>Se han reconocido las posibilidades de las sentencias de salto.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lphaLcParenR" startAt="4"/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NewsGotT-Regu"/>
                        </a:rPr>
                        <a:t>Se ha escrito código utilizando control de excepciones.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lphaLcParenR" startAt="4"/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NewsGotT-Regu"/>
                        </a:rPr>
                        <a:t>Se han creado programas ejecutables utilizando diferentes estructuras de control.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lphaLcParenR" startAt="4"/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NewsGotT-Regu"/>
                        </a:rPr>
                        <a:t>Se han probado y depurado los programas.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lphaLcParenR" startAt="4"/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NewsGotT-Regu"/>
                        </a:rPr>
                        <a:t>Se ha comentado y documentado el código.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 3. Desarrollar programas que hagan uso de estructuras de selección, estructuras de repetición, control de excepciones y recursividad.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Prueba Práctica 1 (100%)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Estructuras de selección. Estructuras de repetición. Estructuras de salto. Control de excepciones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Recursividad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Depuración de programas. El depurador como herramienta de control de errores.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_tradnl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Documentación de programas. Documentación interna, comentarios. Documentación externa, diagramas de clases, requisitos, guías, etc.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_tradnl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Aserciones, Pruebas.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9844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5484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46942" y="44624"/>
            <a:ext cx="7392988" cy="563563"/>
          </a:xfrm>
        </p:spPr>
        <p:txBody>
          <a:bodyPr/>
          <a:lstStyle/>
          <a:p>
            <a:r>
              <a:rPr lang="en-US" dirty="0"/>
              <a:t>ESTRUCTURAS DE REPETICI</a:t>
            </a:r>
            <a:r>
              <a:rPr lang="es-ES" dirty="0"/>
              <a:t>ÓN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1" name="20 CuadroTexto"/>
          <p:cNvSpPr txBox="1"/>
          <p:nvPr/>
        </p:nvSpPr>
        <p:spPr>
          <a:xfrm>
            <a:off x="4788024" y="1512541"/>
            <a:ext cx="4124552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Las estructuras condicionales han aportado flexibilidad a nuestras aplicaciones, pero las instrucciones siguen ejecutándose de arriba abajo, sin posibilidad de repetir.</a:t>
            </a:r>
          </a:p>
        </p:txBody>
      </p:sp>
      <p:sp>
        <p:nvSpPr>
          <p:cNvPr id="82" name="81 CuadroTexto"/>
          <p:cNvSpPr txBox="1"/>
          <p:nvPr/>
        </p:nvSpPr>
        <p:spPr>
          <a:xfrm>
            <a:off x="663472" y="4437112"/>
            <a:ext cx="4124552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Las estructuras de repetitivas nos permiten retornar a un punto anterior, haciendo que un determinado bloque de código se repita (bucle).</a:t>
            </a:r>
          </a:p>
        </p:txBody>
      </p:sp>
      <p:grpSp>
        <p:nvGrpSpPr>
          <p:cNvPr id="16" name="15 Grupo"/>
          <p:cNvGrpSpPr/>
          <p:nvPr/>
        </p:nvGrpSpPr>
        <p:grpSpPr>
          <a:xfrm>
            <a:off x="323528" y="1106840"/>
            <a:ext cx="4240460" cy="2746084"/>
            <a:chOff x="323528" y="1106840"/>
            <a:chExt cx="4240460" cy="2746084"/>
          </a:xfrm>
        </p:grpSpPr>
        <p:grpSp>
          <p:nvGrpSpPr>
            <p:cNvPr id="38" name="37 Grupo"/>
            <p:cNvGrpSpPr/>
            <p:nvPr/>
          </p:nvGrpSpPr>
          <p:grpSpPr>
            <a:xfrm>
              <a:off x="2715302" y="1690629"/>
              <a:ext cx="1087586" cy="665942"/>
              <a:chOff x="6641182" y="2719639"/>
              <a:chExt cx="1087586" cy="665942"/>
            </a:xfrm>
          </p:grpSpPr>
          <p:cxnSp>
            <p:nvCxnSpPr>
              <p:cNvPr id="40" name="39 Conector angular"/>
              <p:cNvCxnSpPr/>
              <p:nvPr/>
            </p:nvCxnSpPr>
            <p:spPr bwMode="auto">
              <a:xfrm>
                <a:off x="6641182" y="3061545"/>
                <a:ext cx="1016191" cy="324036"/>
              </a:xfrm>
              <a:prstGeom prst="bentConnector3">
                <a:avLst>
                  <a:gd name="adj1" fmla="val 99991"/>
                </a:avLst>
              </a:prstGeom>
              <a:ln>
                <a:headEnd type="none" w="med" len="med"/>
                <a:tailEnd type="arrow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42" name="41 CuadroTexto"/>
              <p:cNvSpPr txBox="1"/>
              <p:nvPr/>
            </p:nvSpPr>
            <p:spPr>
              <a:xfrm>
                <a:off x="7027934" y="2719639"/>
                <a:ext cx="700834" cy="3847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dirty="0">
                    <a:solidFill>
                      <a:srgbClr val="FF3300"/>
                    </a:solidFill>
                  </a:rPr>
                  <a:t>false</a:t>
                </a:r>
              </a:p>
            </p:txBody>
          </p:sp>
        </p:grpSp>
        <p:sp>
          <p:nvSpPr>
            <p:cNvPr id="64" name="63 CuadroTexto"/>
            <p:cNvSpPr txBox="1"/>
            <p:nvPr/>
          </p:nvSpPr>
          <p:spPr>
            <a:xfrm>
              <a:off x="1103005" y="1698614"/>
              <a:ext cx="606256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rgbClr val="FF3300"/>
                  </a:solidFill>
                </a:rPr>
                <a:t>true</a:t>
              </a:r>
            </a:p>
          </p:txBody>
        </p:sp>
        <p:cxnSp>
          <p:nvCxnSpPr>
            <p:cNvPr id="72" name="71 Conector angular"/>
            <p:cNvCxnSpPr/>
            <p:nvPr/>
          </p:nvCxnSpPr>
          <p:spPr bwMode="auto">
            <a:xfrm rot="10800000">
              <a:off x="1120893" y="2776195"/>
              <a:ext cx="1306377" cy="324037"/>
            </a:xfrm>
            <a:prstGeom prst="bentConnector3">
              <a:avLst>
                <a:gd name="adj1" fmla="val 100552"/>
              </a:avLst>
            </a:prstGeom>
            <a:ln>
              <a:headEnd type="arrow" w="med" len="med"/>
              <a:tailEnd type="non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73" name="72 Conector angular"/>
            <p:cNvCxnSpPr/>
            <p:nvPr/>
          </p:nvCxnSpPr>
          <p:spPr bwMode="auto">
            <a:xfrm rot="10800000" flipH="1">
              <a:off x="2427271" y="2772925"/>
              <a:ext cx="1306377" cy="324037"/>
            </a:xfrm>
            <a:prstGeom prst="bentConnector3">
              <a:avLst>
                <a:gd name="adj1" fmla="val 100552"/>
              </a:avLst>
            </a:prstGeom>
            <a:ln>
              <a:headEnd type="arrow" w="med" len="med"/>
              <a:tailEnd type="non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74" name="73 Conector recto de flecha"/>
            <p:cNvCxnSpPr/>
            <p:nvPr/>
          </p:nvCxnSpPr>
          <p:spPr bwMode="auto">
            <a:xfrm>
              <a:off x="2423075" y="3100232"/>
              <a:ext cx="0" cy="36000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grpSp>
          <p:nvGrpSpPr>
            <p:cNvPr id="75" name="74 Grupo"/>
            <p:cNvGrpSpPr/>
            <p:nvPr/>
          </p:nvGrpSpPr>
          <p:grpSpPr>
            <a:xfrm>
              <a:off x="1295571" y="3468203"/>
              <a:ext cx="2239082" cy="384721"/>
              <a:chOff x="5522540" y="1163901"/>
              <a:chExt cx="2059360" cy="384721"/>
            </a:xfrm>
          </p:grpSpPr>
          <p:sp>
            <p:nvSpPr>
              <p:cNvPr id="76" name="75 Rectángulo"/>
              <p:cNvSpPr/>
              <p:nvPr/>
            </p:nvSpPr>
            <p:spPr bwMode="auto">
              <a:xfrm>
                <a:off x="5522540" y="1176242"/>
                <a:ext cx="2059360" cy="36004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57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1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77" name="76 CuadroTexto"/>
              <p:cNvSpPr txBox="1"/>
              <p:nvPr/>
            </p:nvSpPr>
            <p:spPr>
              <a:xfrm>
                <a:off x="5828650" y="1163901"/>
                <a:ext cx="1431875" cy="3847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dirty="0"/>
                  <a:t>instrucción 4</a:t>
                </a:r>
              </a:p>
            </p:txBody>
          </p:sp>
        </p:grpSp>
        <p:grpSp>
          <p:nvGrpSpPr>
            <p:cNvPr id="55" name="54 Grupo"/>
            <p:cNvGrpSpPr/>
            <p:nvPr/>
          </p:nvGrpSpPr>
          <p:grpSpPr>
            <a:xfrm>
              <a:off x="323528" y="2416874"/>
              <a:ext cx="1644136" cy="384721"/>
              <a:chOff x="5796136" y="1172340"/>
              <a:chExt cx="1512168" cy="384721"/>
            </a:xfrm>
          </p:grpSpPr>
          <p:sp>
            <p:nvSpPr>
              <p:cNvPr id="56" name="55 Rectángulo"/>
              <p:cNvSpPr/>
              <p:nvPr/>
            </p:nvSpPr>
            <p:spPr bwMode="auto">
              <a:xfrm>
                <a:off x="5796136" y="1176242"/>
                <a:ext cx="1512168" cy="36004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57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1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57" name="56 CuadroTexto"/>
              <p:cNvSpPr txBox="1"/>
              <p:nvPr/>
            </p:nvSpPr>
            <p:spPr>
              <a:xfrm>
                <a:off x="5872064" y="1172340"/>
                <a:ext cx="1431875" cy="3847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dirty="0"/>
                  <a:t>instrucción 2</a:t>
                </a:r>
              </a:p>
            </p:txBody>
          </p:sp>
        </p:grpSp>
        <p:grpSp>
          <p:nvGrpSpPr>
            <p:cNvPr id="60" name="59 Grupo"/>
            <p:cNvGrpSpPr/>
            <p:nvPr/>
          </p:nvGrpSpPr>
          <p:grpSpPr>
            <a:xfrm>
              <a:off x="2919852" y="2382676"/>
              <a:ext cx="1644136" cy="384721"/>
              <a:chOff x="5796136" y="1172340"/>
              <a:chExt cx="1512168" cy="384721"/>
            </a:xfrm>
          </p:grpSpPr>
          <p:sp>
            <p:nvSpPr>
              <p:cNvPr id="61" name="60 Rectángulo"/>
              <p:cNvSpPr/>
              <p:nvPr/>
            </p:nvSpPr>
            <p:spPr bwMode="auto">
              <a:xfrm>
                <a:off x="5796136" y="1176242"/>
                <a:ext cx="1512168" cy="36004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57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1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62" name="61 CuadroTexto"/>
              <p:cNvSpPr txBox="1"/>
              <p:nvPr/>
            </p:nvSpPr>
            <p:spPr>
              <a:xfrm>
                <a:off x="5872064" y="1172340"/>
                <a:ext cx="1431875" cy="3847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dirty="0"/>
                  <a:t>instrucción 3</a:t>
                </a:r>
              </a:p>
            </p:txBody>
          </p:sp>
        </p:grpSp>
        <p:cxnSp>
          <p:nvCxnSpPr>
            <p:cNvPr id="78" name="77 Conector angular"/>
            <p:cNvCxnSpPr/>
            <p:nvPr/>
          </p:nvCxnSpPr>
          <p:spPr bwMode="auto">
            <a:xfrm flipH="1">
              <a:off x="1103568" y="2032535"/>
              <a:ext cx="1016191" cy="324036"/>
            </a:xfrm>
            <a:prstGeom prst="bentConnector3">
              <a:avLst>
                <a:gd name="adj1" fmla="val 99991"/>
              </a:avLst>
            </a:prstGeom>
            <a:ln>
              <a:headEnd type="none" w="med" len="med"/>
              <a:tailEnd type="arrow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grpSp>
          <p:nvGrpSpPr>
            <p:cNvPr id="79" name="78 Grupo"/>
            <p:cNvGrpSpPr/>
            <p:nvPr/>
          </p:nvGrpSpPr>
          <p:grpSpPr>
            <a:xfrm>
              <a:off x="1783343" y="1759880"/>
              <a:ext cx="1237053" cy="571291"/>
              <a:chOff x="1681668" y="4094098"/>
              <a:chExt cx="1237053" cy="571291"/>
            </a:xfrm>
          </p:grpSpPr>
          <p:sp>
            <p:nvSpPr>
              <p:cNvPr id="80" name="79 Elipse"/>
              <p:cNvSpPr/>
              <p:nvPr/>
            </p:nvSpPr>
            <p:spPr bwMode="auto">
              <a:xfrm>
                <a:off x="1681668" y="4094098"/>
                <a:ext cx="1237053" cy="571291"/>
              </a:xfrm>
              <a:prstGeom prst="ellipse">
                <a:avLst/>
              </a:prstGeom>
              <a:solidFill>
                <a:schemeClr val="accent5"/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57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1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81" name="80 CuadroTexto"/>
              <p:cNvSpPr txBox="1"/>
              <p:nvPr/>
            </p:nvSpPr>
            <p:spPr>
              <a:xfrm>
                <a:off x="1764574" y="4187382"/>
                <a:ext cx="1082348" cy="3847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dirty="0"/>
                  <a:t>decisión</a:t>
                </a:r>
              </a:p>
            </p:txBody>
          </p:sp>
        </p:grpSp>
        <p:grpSp>
          <p:nvGrpSpPr>
            <p:cNvPr id="87" name="86 Grupo"/>
            <p:cNvGrpSpPr/>
            <p:nvPr/>
          </p:nvGrpSpPr>
          <p:grpSpPr>
            <a:xfrm>
              <a:off x="1567553" y="1106840"/>
              <a:ext cx="1644136" cy="653040"/>
              <a:chOff x="5796134" y="1172340"/>
              <a:chExt cx="1644136" cy="653040"/>
            </a:xfrm>
          </p:grpSpPr>
          <p:cxnSp>
            <p:nvCxnSpPr>
              <p:cNvPr id="88" name="87 Conector recto de flecha"/>
              <p:cNvCxnSpPr/>
              <p:nvPr/>
            </p:nvCxnSpPr>
            <p:spPr bwMode="auto">
              <a:xfrm>
                <a:off x="6618202" y="1526580"/>
                <a:ext cx="0" cy="298800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grpSp>
            <p:nvGrpSpPr>
              <p:cNvPr id="89" name="88 Grupo"/>
              <p:cNvGrpSpPr/>
              <p:nvPr/>
            </p:nvGrpSpPr>
            <p:grpSpPr>
              <a:xfrm>
                <a:off x="5796134" y="1172340"/>
                <a:ext cx="1644136" cy="384721"/>
                <a:chOff x="5796136" y="1172340"/>
                <a:chExt cx="1512168" cy="384721"/>
              </a:xfrm>
            </p:grpSpPr>
            <p:sp>
              <p:nvSpPr>
                <p:cNvPr id="90" name="89 Rectángulo"/>
                <p:cNvSpPr/>
                <p:nvPr/>
              </p:nvSpPr>
              <p:spPr bwMode="auto">
                <a:xfrm>
                  <a:off x="5796136" y="1176242"/>
                  <a:ext cx="1512168" cy="36004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57263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s-ES" sz="19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91" name="90 CuadroTexto"/>
                <p:cNvSpPr txBox="1"/>
                <p:nvPr/>
              </p:nvSpPr>
              <p:spPr>
                <a:xfrm>
                  <a:off x="5872064" y="1172340"/>
                  <a:ext cx="1431875" cy="3847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s-ES" dirty="0"/>
                    <a:t>instrucción 1</a:t>
                  </a:r>
                </a:p>
              </p:txBody>
            </p:sp>
          </p:grpSp>
        </p:grpSp>
      </p:grpSp>
      <p:sp>
        <p:nvSpPr>
          <p:cNvPr id="13" name="12 Flecha en U"/>
          <p:cNvSpPr/>
          <p:nvPr/>
        </p:nvSpPr>
        <p:spPr bwMode="auto">
          <a:xfrm rot="16200000">
            <a:off x="5573949" y="4209951"/>
            <a:ext cx="1005964" cy="1384085"/>
          </a:xfrm>
          <a:prstGeom prst="uturnArrow">
            <a:avLst>
              <a:gd name="adj1" fmla="val 5441"/>
              <a:gd name="adj2" fmla="val 8430"/>
              <a:gd name="adj3" fmla="val 14939"/>
              <a:gd name="adj4" fmla="val 43750"/>
              <a:gd name="adj5" fmla="val 99738"/>
            </a:avLst>
          </a:prstGeom>
          <a:solidFill>
            <a:schemeClr val="accent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7" name="16 Grupo"/>
          <p:cNvGrpSpPr/>
          <p:nvPr/>
        </p:nvGrpSpPr>
        <p:grpSpPr>
          <a:xfrm>
            <a:off x="5921503" y="3856304"/>
            <a:ext cx="1674833" cy="2241184"/>
            <a:chOff x="5921503" y="3856304"/>
            <a:chExt cx="1674833" cy="2241184"/>
          </a:xfrm>
        </p:grpSpPr>
        <p:grpSp>
          <p:nvGrpSpPr>
            <p:cNvPr id="15" name="14 Grupo"/>
            <p:cNvGrpSpPr/>
            <p:nvPr/>
          </p:nvGrpSpPr>
          <p:grpSpPr>
            <a:xfrm>
              <a:off x="5935549" y="3856304"/>
              <a:ext cx="1644136" cy="894240"/>
              <a:chOff x="5796134" y="1172340"/>
              <a:chExt cx="1644136" cy="894240"/>
            </a:xfrm>
          </p:grpSpPr>
          <p:cxnSp>
            <p:nvCxnSpPr>
              <p:cNvPr id="10" name="9 Conector recto de flecha"/>
              <p:cNvCxnSpPr/>
              <p:nvPr/>
            </p:nvCxnSpPr>
            <p:spPr bwMode="auto">
              <a:xfrm>
                <a:off x="6618202" y="1526580"/>
                <a:ext cx="0" cy="540000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grpSp>
            <p:nvGrpSpPr>
              <p:cNvPr id="8" name="7 Grupo"/>
              <p:cNvGrpSpPr/>
              <p:nvPr/>
            </p:nvGrpSpPr>
            <p:grpSpPr>
              <a:xfrm>
                <a:off x="5796134" y="1172340"/>
                <a:ext cx="1644136" cy="384721"/>
                <a:chOff x="5796136" y="1172340"/>
                <a:chExt cx="1512168" cy="384721"/>
              </a:xfrm>
            </p:grpSpPr>
            <p:sp>
              <p:nvSpPr>
                <p:cNvPr id="6" name="5 Rectángulo"/>
                <p:cNvSpPr/>
                <p:nvPr/>
              </p:nvSpPr>
              <p:spPr bwMode="auto">
                <a:xfrm>
                  <a:off x="5796136" y="1176242"/>
                  <a:ext cx="1512168" cy="36004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57263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s-ES" sz="19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7" name="6 CuadroTexto"/>
                <p:cNvSpPr txBox="1"/>
                <p:nvPr/>
              </p:nvSpPr>
              <p:spPr>
                <a:xfrm>
                  <a:off x="5872064" y="1172340"/>
                  <a:ext cx="1431875" cy="3847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s-ES" dirty="0"/>
                    <a:t>instrucción 1</a:t>
                  </a:r>
                </a:p>
              </p:txBody>
            </p:sp>
          </p:grpSp>
        </p:grpSp>
        <p:grpSp>
          <p:nvGrpSpPr>
            <p:cNvPr id="84" name="83 Grupo"/>
            <p:cNvGrpSpPr/>
            <p:nvPr/>
          </p:nvGrpSpPr>
          <p:grpSpPr>
            <a:xfrm>
              <a:off x="5921503" y="4772471"/>
              <a:ext cx="1644136" cy="384721"/>
              <a:chOff x="5796136" y="1172340"/>
              <a:chExt cx="1512168" cy="384721"/>
            </a:xfrm>
          </p:grpSpPr>
          <p:sp>
            <p:nvSpPr>
              <p:cNvPr id="85" name="84 Rectángulo"/>
              <p:cNvSpPr/>
              <p:nvPr/>
            </p:nvSpPr>
            <p:spPr bwMode="auto">
              <a:xfrm>
                <a:off x="5796136" y="1176242"/>
                <a:ext cx="1512168" cy="36004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57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1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86" name="85 CuadroTexto"/>
              <p:cNvSpPr txBox="1"/>
              <p:nvPr/>
            </p:nvSpPr>
            <p:spPr>
              <a:xfrm>
                <a:off x="6164719" y="1172340"/>
                <a:ext cx="846565" cy="3847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dirty="0"/>
                  <a:t>bloque</a:t>
                </a:r>
              </a:p>
            </p:txBody>
          </p:sp>
        </p:grpSp>
        <p:grpSp>
          <p:nvGrpSpPr>
            <p:cNvPr id="92" name="91 Grupo"/>
            <p:cNvGrpSpPr/>
            <p:nvPr/>
          </p:nvGrpSpPr>
          <p:grpSpPr>
            <a:xfrm>
              <a:off x="5952200" y="5712767"/>
              <a:ext cx="1644136" cy="384721"/>
              <a:chOff x="5796136" y="1172340"/>
              <a:chExt cx="1512168" cy="384721"/>
            </a:xfrm>
          </p:grpSpPr>
          <p:sp>
            <p:nvSpPr>
              <p:cNvPr id="93" name="92 Rectángulo"/>
              <p:cNvSpPr/>
              <p:nvPr/>
            </p:nvSpPr>
            <p:spPr bwMode="auto">
              <a:xfrm>
                <a:off x="5796136" y="1176242"/>
                <a:ext cx="1512168" cy="36004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57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1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94" name="93 CuadroTexto"/>
              <p:cNvSpPr txBox="1"/>
              <p:nvPr/>
            </p:nvSpPr>
            <p:spPr>
              <a:xfrm>
                <a:off x="5837021" y="1172340"/>
                <a:ext cx="1431875" cy="3847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dirty="0"/>
                  <a:t>instrucción 3</a:t>
                </a:r>
              </a:p>
            </p:txBody>
          </p:sp>
        </p:grpSp>
        <p:cxnSp>
          <p:nvCxnSpPr>
            <p:cNvPr id="97" name="96 Conector recto de flecha"/>
            <p:cNvCxnSpPr/>
            <p:nvPr/>
          </p:nvCxnSpPr>
          <p:spPr bwMode="auto">
            <a:xfrm>
              <a:off x="6774268" y="5157192"/>
              <a:ext cx="0" cy="54000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49121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82" grpId="0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08842" y="44624"/>
            <a:ext cx="7392988" cy="563563"/>
          </a:xfrm>
        </p:spPr>
        <p:txBody>
          <a:bodyPr/>
          <a:lstStyle/>
          <a:p>
            <a:r>
              <a:rPr lang="en-US" dirty="0" err="1"/>
              <a:t>Estructuras</a:t>
            </a:r>
            <a:r>
              <a:rPr lang="en-US" dirty="0"/>
              <a:t> de </a:t>
            </a:r>
            <a:r>
              <a:rPr lang="en-US" dirty="0" err="1"/>
              <a:t>Repetici</a:t>
            </a:r>
            <a:r>
              <a:rPr lang="es-ES" dirty="0"/>
              <a:t>ón (</a:t>
            </a:r>
            <a:r>
              <a:rPr lang="en-US" dirty="0"/>
              <a:t>While)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2" name="81 CuadroTexto"/>
          <p:cNvSpPr txBox="1"/>
          <p:nvPr/>
        </p:nvSpPr>
        <p:spPr>
          <a:xfrm>
            <a:off x="4770175" y="1444907"/>
            <a:ext cx="3804253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Para que un bloque de código no se repita indefinidamente, es necesario establecer una condición que sirva para evaluar cuándo repetir o cuándo salir del bucle.</a:t>
            </a:r>
          </a:p>
        </p:txBody>
      </p:sp>
      <p:sp>
        <p:nvSpPr>
          <p:cNvPr id="59" name="58 Rectángulo"/>
          <p:cNvSpPr/>
          <p:nvPr/>
        </p:nvSpPr>
        <p:spPr bwMode="auto">
          <a:xfrm>
            <a:off x="545666" y="4064372"/>
            <a:ext cx="3222135" cy="233802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3" name="62 Rectángulo"/>
          <p:cNvSpPr/>
          <p:nvPr/>
        </p:nvSpPr>
        <p:spPr>
          <a:xfrm>
            <a:off x="669467" y="4094074"/>
            <a:ext cx="309833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0070C0"/>
                </a:solidFill>
              </a:rPr>
              <a:t>…</a:t>
            </a:r>
          </a:p>
          <a:p>
            <a:r>
              <a:rPr lang="es-ES" sz="16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int</a:t>
            </a:r>
            <a:r>
              <a:rPr lang="es-ES" sz="1600" dirty="0">
                <a:solidFill>
                  <a:srgbClr val="000000"/>
                </a:solidFill>
              </a:rPr>
              <a:t> </a:t>
            </a:r>
            <a:r>
              <a:rPr lang="es-ES" sz="1600" b="1" dirty="0">
                <a:solidFill>
                  <a:srgbClr val="000000"/>
                </a:solidFill>
              </a:rPr>
              <a:t>n </a:t>
            </a:r>
            <a:r>
              <a:rPr lang="es-ES" sz="1600" dirty="0">
                <a:solidFill>
                  <a:srgbClr val="000000"/>
                </a:solidFill>
              </a:rPr>
              <a:t>= </a:t>
            </a:r>
            <a:r>
              <a:rPr lang="es-ES" sz="1600" b="1" dirty="0" err="1">
                <a:solidFill>
                  <a:srgbClr val="000000"/>
                </a:solidFill>
              </a:rPr>
              <a:t>entrada.</a:t>
            </a:r>
            <a:r>
              <a:rPr lang="es-ES" sz="1600" dirty="0" err="1">
                <a:solidFill>
                  <a:srgbClr val="FF0000"/>
                </a:solidFill>
              </a:rPr>
              <a:t>nextInt</a:t>
            </a:r>
            <a:r>
              <a:rPr lang="es-ES" sz="1600" dirty="0">
                <a:solidFill>
                  <a:srgbClr val="FF0000"/>
                </a:solidFill>
              </a:rPr>
              <a:t>()</a:t>
            </a:r>
            <a:r>
              <a:rPr lang="es-ES" sz="1600" dirty="0">
                <a:solidFill>
                  <a:srgbClr val="000000"/>
                </a:solidFill>
              </a:rPr>
              <a:t>;</a:t>
            </a:r>
          </a:p>
          <a:p>
            <a:r>
              <a:rPr lang="es-ES" sz="1600" b="1" dirty="0" err="1">
                <a:solidFill>
                  <a:srgbClr val="FF0000"/>
                </a:solidFill>
              </a:rPr>
              <a:t>while</a:t>
            </a:r>
            <a:r>
              <a:rPr lang="es-ES" sz="1600" b="1" dirty="0">
                <a:solidFill>
                  <a:srgbClr val="FF0000"/>
                </a:solidFill>
              </a:rPr>
              <a:t>( </a:t>
            </a:r>
            <a:r>
              <a:rPr lang="es-ES" sz="1600">
                <a:solidFill>
                  <a:srgbClr val="009900"/>
                </a:solidFill>
              </a:rPr>
              <a:t>n &gt;= 11 </a:t>
            </a:r>
            <a:r>
              <a:rPr lang="es-ES" sz="1600" b="1" dirty="0">
                <a:solidFill>
                  <a:srgbClr val="FF0000"/>
                </a:solidFill>
              </a:rPr>
              <a:t>) {</a:t>
            </a:r>
          </a:p>
          <a:p>
            <a:r>
              <a:rPr lang="es-ES" sz="1600">
                <a:solidFill>
                  <a:srgbClr val="000000"/>
                </a:solidFill>
              </a:rPr>
              <a:t>     System.out</a:t>
            </a:r>
            <a:r>
              <a:rPr lang="es-ES" sz="1600">
                <a:solidFill>
                  <a:srgbClr val="FF0000"/>
                </a:solidFill>
              </a:rPr>
              <a:t>.println(</a:t>
            </a:r>
            <a:endParaRPr lang="es-ES" sz="1600" dirty="0">
              <a:solidFill>
                <a:srgbClr val="FF0000"/>
              </a:solidFill>
            </a:endParaRPr>
          </a:p>
          <a:p>
            <a:r>
              <a:rPr lang="es-ES" sz="1600" dirty="0">
                <a:solidFill>
                  <a:srgbClr val="000000"/>
                </a:solidFill>
              </a:rPr>
              <a:t>         </a:t>
            </a:r>
            <a:r>
              <a:rPr lang="es-ES" sz="1600" dirty="0">
                <a:solidFill>
                  <a:srgbClr val="009900"/>
                </a:solidFill>
              </a:rPr>
              <a:t>"</a:t>
            </a:r>
            <a:r>
              <a:rPr lang="es-ES" sz="1600">
                <a:solidFill>
                  <a:srgbClr val="009900"/>
                </a:solidFill>
              </a:rPr>
              <a:t>Demasiado grande"</a:t>
            </a:r>
            <a:r>
              <a:rPr lang="es-ES" sz="1600">
                <a:solidFill>
                  <a:srgbClr val="FF0000"/>
                </a:solidFill>
              </a:rPr>
              <a:t>)</a:t>
            </a:r>
            <a:r>
              <a:rPr lang="es-ES" sz="1600">
                <a:solidFill>
                  <a:srgbClr val="000000"/>
                </a:solidFill>
              </a:rPr>
              <a:t>;</a:t>
            </a:r>
            <a:endParaRPr lang="es-ES" sz="1600" dirty="0">
              <a:solidFill>
                <a:srgbClr val="000000"/>
              </a:solidFill>
            </a:endParaRPr>
          </a:p>
          <a:p>
            <a:r>
              <a:rPr lang="es-ES" sz="1600" b="1" dirty="0">
                <a:solidFill>
                  <a:srgbClr val="000000"/>
                </a:solidFill>
              </a:rPr>
              <a:t>     n </a:t>
            </a:r>
            <a:r>
              <a:rPr lang="es-ES" sz="1600" dirty="0">
                <a:solidFill>
                  <a:srgbClr val="000000"/>
                </a:solidFill>
              </a:rPr>
              <a:t>= </a:t>
            </a:r>
            <a:r>
              <a:rPr lang="es-ES" sz="1600" b="1" dirty="0" err="1">
                <a:solidFill>
                  <a:srgbClr val="000000"/>
                </a:solidFill>
              </a:rPr>
              <a:t>entrada.</a:t>
            </a:r>
            <a:r>
              <a:rPr lang="es-ES" sz="1600" dirty="0" err="1">
                <a:solidFill>
                  <a:srgbClr val="FF0000"/>
                </a:solidFill>
              </a:rPr>
              <a:t>nextInt</a:t>
            </a:r>
            <a:r>
              <a:rPr lang="es-ES" sz="1600" dirty="0">
                <a:solidFill>
                  <a:srgbClr val="FF0000"/>
                </a:solidFill>
              </a:rPr>
              <a:t>()</a:t>
            </a:r>
            <a:r>
              <a:rPr lang="es-ES" sz="1600" dirty="0">
                <a:solidFill>
                  <a:srgbClr val="000000"/>
                </a:solidFill>
              </a:rPr>
              <a:t>;</a:t>
            </a:r>
          </a:p>
          <a:p>
            <a:r>
              <a:rPr lang="es-ES" sz="1600" dirty="0">
                <a:solidFill>
                  <a:srgbClr val="FF0000"/>
                </a:solidFill>
              </a:rPr>
              <a:t>}</a:t>
            </a:r>
          </a:p>
          <a:p>
            <a:r>
              <a:rPr lang="es-ES" sz="1600">
                <a:solidFill>
                  <a:srgbClr val="000000"/>
                </a:solidFill>
              </a:rPr>
              <a:t>System.out</a:t>
            </a:r>
            <a:r>
              <a:rPr lang="es-ES" sz="1600">
                <a:solidFill>
                  <a:srgbClr val="FF0000"/>
                </a:solidFill>
              </a:rPr>
              <a:t>.println(</a:t>
            </a:r>
            <a:r>
              <a:rPr lang="es-ES" sz="1600">
                <a:solidFill>
                  <a:srgbClr val="009900"/>
                </a:solidFill>
              </a:rPr>
              <a:t>"</a:t>
            </a:r>
            <a:r>
              <a:rPr lang="es-ES" sz="1600" dirty="0">
                <a:solidFill>
                  <a:srgbClr val="009900"/>
                </a:solidFill>
              </a:rPr>
              <a:t>Gracias"</a:t>
            </a:r>
            <a:r>
              <a:rPr lang="es-ES" sz="1600" dirty="0">
                <a:solidFill>
                  <a:srgbClr val="FF0000"/>
                </a:solidFill>
              </a:rPr>
              <a:t>);</a:t>
            </a:r>
          </a:p>
          <a:p>
            <a:r>
              <a:rPr lang="es-ES" sz="1600" dirty="0">
                <a:solidFill>
                  <a:srgbClr val="000000"/>
                </a:solidFill>
              </a:rPr>
              <a:t>…</a:t>
            </a:r>
            <a:endParaRPr lang="es-ES" sz="1600" dirty="0">
              <a:solidFill>
                <a:srgbClr val="FF0000"/>
              </a:solidFill>
            </a:endParaRPr>
          </a:p>
        </p:txBody>
      </p:sp>
      <p:grpSp>
        <p:nvGrpSpPr>
          <p:cNvPr id="20" name="19 Grupo"/>
          <p:cNvGrpSpPr/>
          <p:nvPr/>
        </p:nvGrpSpPr>
        <p:grpSpPr>
          <a:xfrm>
            <a:off x="2097201" y="1682441"/>
            <a:ext cx="810000" cy="384721"/>
            <a:chOff x="2097201" y="1682441"/>
            <a:chExt cx="810000" cy="384721"/>
          </a:xfrm>
        </p:grpSpPr>
        <p:cxnSp>
          <p:nvCxnSpPr>
            <p:cNvPr id="121" name="120 Conector recto de flecha"/>
            <p:cNvCxnSpPr/>
            <p:nvPr/>
          </p:nvCxnSpPr>
          <p:spPr bwMode="auto">
            <a:xfrm>
              <a:off x="2097201" y="2003661"/>
              <a:ext cx="810000" cy="1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08" name="107 CuadroTexto"/>
            <p:cNvSpPr txBox="1"/>
            <p:nvPr/>
          </p:nvSpPr>
          <p:spPr>
            <a:xfrm>
              <a:off x="2169011" y="1682441"/>
              <a:ext cx="606256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rgbClr val="FF3300"/>
                  </a:solidFill>
                </a:rPr>
                <a:t>true</a:t>
              </a:r>
            </a:p>
          </p:txBody>
        </p:sp>
      </p:grpSp>
      <p:grpSp>
        <p:nvGrpSpPr>
          <p:cNvPr id="22" name="21 Grupo"/>
          <p:cNvGrpSpPr/>
          <p:nvPr/>
        </p:nvGrpSpPr>
        <p:grpSpPr>
          <a:xfrm>
            <a:off x="717821" y="2499932"/>
            <a:ext cx="1640099" cy="924876"/>
            <a:chOff x="717821" y="2499932"/>
            <a:chExt cx="1640099" cy="924876"/>
          </a:xfrm>
        </p:grpSpPr>
        <p:sp>
          <p:nvSpPr>
            <p:cNvPr id="107" name="106 CuadroTexto"/>
            <p:cNvSpPr txBox="1"/>
            <p:nvPr/>
          </p:nvSpPr>
          <p:spPr>
            <a:xfrm>
              <a:off x="876295" y="2568934"/>
              <a:ext cx="700834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rgbClr val="FF3300"/>
                  </a:solidFill>
                </a:rPr>
                <a:t>false</a:t>
              </a:r>
            </a:p>
          </p:txBody>
        </p:sp>
        <p:cxnSp>
          <p:nvCxnSpPr>
            <p:cNvPr id="109" name="108 Conector recto de flecha"/>
            <p:cNvCxnSpPr/>
            <p:nvPr/>
          </p:nvCxnSpPr>
          <p:spPr bwMode="auto">
            <a:xfrm>
              <a:off x="1537870" y="2499932"/>
              <a:ext cx="0" cy="54000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grpSp>
          <p:nvGrpSpPr>
            <p:cNvPr id="110" name="109 Grupo"/>
            <p:cNvGrpSpPr/>
            <p:nvPr/>
          </p:nvGrpSpPr>
          <p:grpSpPr>
            <a:xfrm>
              <a:off x="717821" y="3040087"/>
              <a:ext cx="1640099" cy="384721"/>
              <a:chOff x="5522540" y="1163901"/>
              <a:chExt cx="2059360" cy="384721"/>
            </a:xfrm>
          </p:grpSpPr>
          <p:sp>
            <p:nvSpPr>
              <p:cNvPr id="111" name="110 Rectángulo"/>
              <p:cNvSpPr/>
              <p:nvPr/>
            </p:nvSpPr>
            <p:spPr bwMode="auto">
              <a:xfrm>
                <a:off x="5522540" y="1176242"/>
                <a:ext cx="2059360" cy="36004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57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1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12" name="111 CuadroTexto"/>
              <p:cNvSpPr txBox="1"/>
              <p:nvPr/>
            </p:nvSpPr>
            <p:spPr>
              <a:xfrm>
                <a:off x="5694993" y="1163901"/>
                <a:ext cx="1699190" cy="3847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dirty="0"/>
                  <a:t>instrucción</a:t>
                </a:r>
              </a:p>
            </p:txBody>
          </p:sp>
        </p:grpSp>
      </p:grpSp>
      <p:grpSp>
        <p:nvGrpSpPr>
          <p:cNvPr id="113" name="112 Grupo"/>
          <p:cNvGrpSpPr/>
          <p:nvPr/>
        </p:nvGrpSpPr>
        <p:grpSpPr>
          <a:xfrm>
            <a:off x="919344" y="1743707"/>
            <a:ext cx="1237053" cy="805025"/>
            <a:chOff x="1681668" y="4094098"/>
            <a:chExt cx="1237053" cy="571291"/>
          </a:xfrm>
        </p:grpSpPr>
        <p:sp>
          <p:nvSpPr>
            <p:cNvPr id="114" name="113 Elipse"/>
            <p:cNvSpPr/>
            <p:nvPr/>
          </p:nvSpPr>
          <p:spPr bwMode="auto">
            <a:xfrm>
              <a:off x="1681668" y="4094098"/>
              <a:ext cx="1237053" cy="571291"/>
            </a:xfrm>
            <a:prstGeom prst="ellipse">
              <a:avLst/>
            </a:prstGeom>
            <a:solidFill>
              <a:schemeClr val="accent5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5" name="114 CuadroTexto"/>
            <p:cNvSpPr txBox="1"/>
            <p:nvPr/>
          </p:nvSpPr>
          <p:spPr>
            <a:xfrm>
              <a:off x="1696448" y="4239844"/>
              <a:ext cx="1218603" cy="273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/>
                <a:t>condición</a:t>
              </a:r>
            </a:p>
          </p:txBody>
        </p:sp>
      </p:grpSp>
      <p:grpSp>
        <p:nvGrpSpPr>
          <p:cNvPr id="116" name="115 Grupo"/>
          <p:cNvGrpSpPr/>
          <p:nvPr/>
        </p:nvGrpSpPr>
        <p:grpSpPr>
          <a:xfrm>
            <a:off x="715802" y="1090667"/>
            <a:ext cx="1644136" cy="653040"/>
            <a:chOff x="5796134" y="1172340"/>
            <a:chExt cx="1644136" cy="653040"/>
          </a:xfrm>
        </p:grpSpPr>
        <p:cxnSp>
          <p:nvCxnSpPr>
            <p:cNvPr id="117" name="116 Conector recto de flecha"/>
            <p:cNvCxnSpPr/>
            <p:nvPr/>
          </p:nvCxnSpPr>
          <p:spPr bwMode="auto">
            <a:xfrm>
              <a:off x="6618202" y="1526580"/>
              <a:ext cx="0" cy="29880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grpSp>
          <p:nvGrpSpPr>
            <p:cNvPr id="118" name="117 Grupo"/>
            <p:cNvGrpSpPr/>
            <p:nvPr/>
          </p:nvGrpSpPr>
          <p:grpSpPr>
            <a:xfrm>
              <a:off x="5796134" y="1172340"/>
              <a:ext cx="1644136" cy="384721"/>
              <a:chOff x="5796136" y="1172340"/>
              <a:chExt cx="1512168" cy="384721"/>
            </a:xfrm>
          </p:grpSpPr>
          <p:sp>
            <p:nvSpPr>
              <p:cNvPr id="119" name="118 Rectángulo"/>
              <p:cNvSpPr/>
              <p:nvPr/>
            </p:nvSpPr>
            <p:spPr bwMode="auto">
              <a:xfrm>
                <a:off x="5796136" y="1176242"/>
                <a:ext cx="1512168" cy="36004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57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1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20" name="119 CuadroTexto"/>
              <p:cNvSpPr txBox="1"/>
              <p:nvPr/>
            </p:nvSpPr>
            <p:spPr>
              <a:xfrm>
                <a:off x="5965683" y="1172340"/>
                <a:ext cx="1244635" cy="3847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dirty="0"/>
                  <a:t>instrucción</a:t>
                </a:r>
              </a:p>
            </p:txBody>
          </p:sp>
        </p:grpSp>
      </p:grpSp>
      <p:cxnSp>
        <p:nvCxnSpPr>
          <p:cNvPr id="122" name="121 Conector recto de flecha"/>
          <p:cNvCxnSpPr/>
          <p:nvPr/>
        </p:nvCxnSpPr>
        <p:spPr bwMode="auto">
          <a:xfrm flipH="1" flipV="1">
            <a:off x="2122601" y="2302833"/>
            <a:ext cx="784298" cy="325571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pSp>
        <p:nvGrpSpPr>
          <p:cNvPr id="123" name="122 Grupo"/>
          <p:cNvGrpSpPr/>
          <p:nvPr/>
        </p:nvGrpSpPr>
        <p:grpSpPr>
          <a:xfrm>
            <a:off x="2906899" y="1898145"/>
            <a:ext cx="1644136" cy="874275"/>
            <a:chOff x="5796136" y="1009806"/>
            <a:chExt cx="1512168" cy="655180"/>
          </a:xfrm>
        </p:grpSpPr>
        <p:sp>
          <p:nvSpPr>
            <p:cNvPr id="124" name="123 Rectángulo"/>
            <p:cNvSpPr/>
            <p:nvPr/>
          </p:nvSpPr>
          <p:spPr bwMode="auto">
            <a:xfrm>
              <a:off x="5796136" y="1009806"/>
              <a:ext cx="1512168" cy="65518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5" name="124 CuadroTexto"/>
            <p:cNvSpPr txBox="1"/>
            <p:nvPr/>
          </p:nvSpPr>
          <p:spPr>
            <a:xfrm>
              <a:off x="6164719" y="1172340"/>
              <a:ext cx="846565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/>
                <a:t>bloque</a:t>
              </a:r>
            </a:p>
          </p:txBody>
        </p:sp>
      </p:grpSp>
      <p:grpSp>
        <p:nvGrpSpPr>
          <p:cNvPr id="23" name="22 Grupo"/>
          <p:cNvGrpSpPr/>
          <p:nvPr/>
        </p:nvGrpSpPr>
        <p:grpSpPr>
          <a:xfrm>
            <a:off x="5817210" y="4685128"/>
            <a:ext cx="778480" cy="384721"/>
            <a:chOff x="5739088" y="4685128"/>
            <a:chExt cx="778480" cy="384721"/>
          </a:xfrm>
        </p:grpSpPr>
        <p:cxnSp>
          <p:nvCxnSpPr>
            <p:cNvPr id="53" name="52 Conector recto de flecha"/>
            <p:cNvCxnSpPr/>
            <p:nvPr/>
          </p:nvCxnSpPr>
          <p:spPr bwMode="auto">
            <a:xfrm>
              <a:off x="5739088" y="5006348"/>
              <a:ext cx="778480" cy="1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64" name="63 CuadroTexto"/>
            <p:cNvSpPr txBox="1"/>
            <p:nvPr/>
          </p:nvSpPr>
          <p:spPr>
            <a:xfrm>
              <a:off x="5816340" y="4685128"/>
              <a:ext cx="606256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rgbClr val="FF3300"/>
                  </a:solidFill>
                </a:rPr>
                <a:t>true</a:t>
              </a:r>
            </a:p>
          </p:txBody>
        </p:sp>
      </p:grpSp>
      <p:grpSp>
        <p:nvGrpSpPr>
          <p:cNvPr id="25" name="24 Grupo"/>
          <p:cNvGrpSpPr/>
          <p:nvPr/>
        </p:nvGrpSpPr>
        <p:grpSpPr>
          <a:xfrm>
            <a:off x="4149453" y="5517850"/>
            <a:ext cx="2239082" cy="863478"/>
            <a:chOff x="4071331" y="5517850"/>
            <a:chExt cx="2239082" cy="863478"/>
          </a:xfrm>
        </p:grpSpPr>
        <p:grpSp>
          <p:nvGrpSpPr>
            <p:cNvPr id="24" name="23 Grupo"/>
            <p:cNvGrpSpPr/>
            <p:nvPr/>
          </p:nvGrpSpPr>
          <p:grpSpPr>
            <a:xfrm>
              <a:off x="4518762" y="5517850"/>
              <a:ext cx="700834" cy="504000"/>
              <a:chOff x="4518762" y="5517850"/>
              <a:chExt cx="700834" cy="504000"/>
            </a:xfrm>
          </p:grpSpPr>
          <p:sp>
            <p:nvSpPr>
              <p:cNvPr id="42" name="41 CuadroTexto"/>
              <p:cNvSpPr txBox="1"/>
              <p:nvPr/>
            </p:nvSpPr>
            <p:spPr>
              <a:xfrm>
                <a:off x="4518762" y="5551419"/>
                <a:ext cx="700834" cy="3847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dirty="0">
                    <a:solidFill>
                      <a:srgbClr val="FF3300"/>
                    </a:solidFill>
                  </a:rPr>
                  <a:t>false</a:t>
                </a:r>
              </a:p>
            </p:txBody>
          </p:sp>
          <p:cxnSp>
            <p:nvCxnSpPr>
              <p:cNvPr id="74" name="73 Conector recto de flecha"/>
              <p:cNvCxnSpPr/>
              <p:nvPr/>
            </p:nvCxnSpPr>
            <p:spPr bwMode="auto">
              <a:xfrm>
                <a:off x="5190872" y="5517850"/>
                <a:ext cx="0" cy="504000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</p:grpSp>
        <p:grpSp>
          <p:nvGrpSpPr>
            <p:cNvPr id="75" name="74 Grupo"/>
            <p:cNvGrpSpPr/>
            <p:nvPr/>
          </p:nvGrpSpPr>
          <p:grpSpPr>
            <a:xfrm>
              <a:off x="4071331" y="6042774"/>
              <a:ext cx="2239082" cy="338554"/>
              <a:chOff x="5522540" y="1163901"/>
              <a:chExt cx="2059360" cy="338554"/>
            </a:xfrm>
          </p:grpSpPr>
          <p:sp>
            <p:nvSpPr>
              <p:cNvPr id="76" name="75 Rectángulo"/>
              <p:cNvSpPr/>
              <p:nvPr/>
            </p:nvSpPr>
            <p:spPr bwMode="auto">
              <a:xfrm>
                <a:off x="5522540" y="1176242"/>
                <a:ext cx="2059360" cy="326213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57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1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77" name="76 CuadroTexto"/>
              <p:cNvSpPr txBox="1"/>
              <p:nvPr/>
            </p:nvSpPr>
            <p:spPr>
              <a:xfrm>
                <a:off x="5593444" y="1163901"/>
                <a:ext cx="198845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600" dirty="0"/>
                  <a:t>…</a:t>
                </a:r>
                <a:r>
                  <a:rPr lang="es-ES" sz="1600" dirty="0" err="1">
                    <a:solidFill>
                      <a:srgbClr val="FF0000"/>
                    </a:solidFill>
                  </a:rPr>
                  <a:t>println</a:t>
                </a:r>
                <a:r>
                  <a:rPr lang="es-ES" sz="1600" dirty="0">
                    <a:solidFill>
                      <a:srgbClr val="FF0000"/>
                    </a:solidFill>
                  </a:rPr>
                  <a:t>(</a:t>
                </a:r>
                <a:r>
                  <a:rPr lang="es-ES" sz="1600" dirty="0">
                    <a:solidFill>
                      <a:srgbClr val="009900"/>
                    </a:solidFill>
                  </a:rPr>
                  <a:t>"Gracias"</a:t>
                </a:r>
                <a:r>
                  <a:rPr lang="es-ES" sz="1600" dirty="0">
                    <a:solidFill>
                      <a:srgbClr val="FF0000"/>
                    </a:solidFill>
                  </a:rPr>
                  <a:t>)</a:t>
                </a:r>
                <a:r>
                  <a:rPr lang="es-ES" sz="1600" dirty="0"/>
                  <a:t>;</a:t>
                </a:r>
              </a:p>
            </p:txBody>
          </p:sp>
        </p:grpSp>
      </p:grpSp>
      <p:grpSp>
        <p:nvGrpSpPr>
          <p:cNvPr id="79" name="78 Grupo"/>
          <p:cNvGrpSpPr/>
          <p:nvPr/>
        </p:nvGrpSpPr>
        <p:grpSpPr>
          <a:xfrm>
            <a:off x="4650468" y="4746394"/>
            <a:ext cx="1237053" cy="805025"/>
            <a:chOff x="1681668" y="4094098"/>
            <a:chExt cx="1237053" cy="571291"/>
          </a:xfrm>
        </p:grpSpPr>
        <p:sp>
          <p:nvSpPr>
            <p:cNvPr id="80" name="79 Elipse"/>
            <p:cNvSpPr/>
            <p:nvPr/>
          </p:nvSpPr>
          <p:spPr bwMode="auto">
            <a:xfrm>
              <a:off x="1681668" y="4094098"/>
              <a:ext cx="1237053" cy="571291"/>
            </a:xfrm>
            <a:prstGeom prst="ellipse">
              <a:avLst/>
            </a:prstGeom>
            <a:solidFill>
              <a:schemeClr val="accent5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1" name="80 CuadroTexto"/>
            <p:cNvSpPr txBox="1"/>
            <p:nvPr/>
          </p:nvSpPr>
          <p:spPr>
            <a:xfrm>
              <a:off x="1808080" y="4229544"/>
              <a:ext cx="995337" cy="273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/>
                <a:t>n &gt;= 11</a:t>
              </a:r>
            </a:p>
          </p:txBody>
        </p:sp>
      </p:grpSp>
      <p:cxnSp>
        <p:nvCxnSpPr>
          <p:cNvPr id="88" name="87 Conector recto de flecha"/>
          <p:cNvCxnSpPr/>
          <p:nvPr/>
        </p:nvCxnSpPr>
        <p:spPr bwMode="auto">
          <a:xfrm>
            <a:off x="5268994" y="4447594"/>
            <a:ext cx="0" cy="2988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pSp>
        <p:nvGrpSpPr>
          <p:cNvPr id="89" name="88 Grupo"/>
          <p:cNvGrpSpPr/>
          <p:nvPr/>
        </p:nvGrpSpPr>
        <p:grpSpPr>
          <a:xfrm>
            <a:off x="4197954" y="4093354"/>
            <a:ext cx="2141360" cy="363942"/>
            <a:chOff x="5567479" y="1172340"/>
            <a:chExt cx="1969482" cy="363942"/>
          </a:xfrm>
        </p:grpSpPr>
        <p:sp>
          <p:nvSpPr>
            <p:cNvPr id="90" name="89 Rectángulo"/>
            <p:cNvSpPr/>
            <p:nvPr/>
          </p:nvSpPr>
          <p:spPr bwMode="auto">
            <a:xfrm>
              <a:off x="5567479" y="1176242"/>
              <a:ext cx="1969482" cy="36004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1" name="90 CuadroTexto"/>
            <p:cNvSpPr txBox="1"/>
            <p:nvPr/>
          </p:nvSpPr>
          <p:spPr>
            <a:xfrm>
              <a:off x="5648702" y="1172340"/>
              <a:ext cx="18786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600" dirty="0"/>
                <a:t>n </a:t>
              </a:r>
              <a:r>
                <a:rPr lang="es-ES" sz="1600"/>
                <a:t>= </a:t>
              </a:r>
              <a:r>
                <a:rPr lang="es-ES" sz="1600">
                  <a:solidFill>
                    <a:srgbClr val="000000"/>
                  </a:solidFill>
                </a:rPr>
                <a:t>entrada.</a:t>
              </a:r>
              <a:r>
                <a:rPr lang="es-ES" sz="1600">
                  <a:solidFill>
                    <a:srgbClr val="FF0000"/>
                  </a:solidFill>
                </a:rPr>
                <a:t>nextInt</a:t>
              </a:r>
              <a:r>
                <a:rPr lang="es-ES" sz="1600" dirty="0">
                  <a:solidFill>
                    <a:srgbClr val="FF0000"/>
                  </a:solidFill>
                </a:rPr>
                <a:t>()</a:t>
              </a:r>
            </a:p>
          </p:txBody>
        </p:sp>
      </p:grpSp>
      <p:cxnSp>
        <p:nvCxnSpPr>
          <p:cNvPr id="58" name="57 Conector recto de flecha"/>
          <p:cNvCxnSpPr/>
          <p:nvPr/>
        </p:nvCxnSpPr>
        <p:spPr bwMode="auto">
          <a:xfrm flipH="1" flipV="1">
            <a:off x="5804510" y="5305520"/>
            <a:ext cx="778480" cy="438259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pSp>
        <p:nvGrpSpPr>
          <p:cNvPr id="60" name="59 Grupo"/>
          <p:cNvGrpSpPr/>
          <p:nvPr/>
        </p:nvGrpSpPr>
        <p:grpSpPr>
          <a:xfrm>
            <a:off x="6588807" y="4869159"/>
            <a:ext cx="2287521" cy="995412"/>
            <a:chOff x="5796135" y="993024"/>
            <a:chExt cx="2103911" cy="745961"/>
          </a:xfrm>
        </p:grpSpPr>
        <p:sp>
          <p:nvSpPr>
            <p:cNvPr id="61" name="60 Rectángulo"/>
            <p:cNvSpPr/>
            <p:nvPr/>
          </p:nvSpPr>
          <p:spPr bwMode="auto">
            <a:xfrm>
              <a:off x="5796135" y="1009806"/>
              <a:ext cx="2103911" cy="729179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2" name="61 CuadroTexto"/>
            <p:cNvSpPr txBox="1"/>
            <p:nvPr/>
          </p:nvSpPr>
          <p:spPr>
            <a:xfrm>
              <a:off x="5831712" y="993024"/>
              <a:ext cx="1980329" cy="4382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600" dirty="0"/>
                <a:t>…</a:t>
              </a:r>
              <a:r>
                <a:rPr lang="es-ES" sz="1600" dirty="0" err="1">
                  <a:solidFill>
                    <a:srgbClr val="FF0000"/>
                  </a:solidFill>
                </a:rPr>
                <a:t>println</a:t>
              </a:r>
              <a:r>
                <a:rPr lang="es-ES" sz="1600" dirty="0">
                  <a:solidFill>
                    <a:srgbClr val="FF0000"/>
                  </a:solidFill>
                </a:rPr>
                <a:t>(</a:t>
              </a:r>
            </a:p>
            <a:p>
              <a:pPr algn="ctr"/>
              <a:r>
                <a:rPr lang="es-ES" sz="1600" dirty="0">
                  <a:solidFill>
                    <a:srgbClr val="009900"/>
                  </a:solidFill>
                </a:rPr>
                <a:t>"demasiado grande"</a:t>
              </a:r>
              <a:r>
                <a:rPr lang="es-ES" sz="1600" dirty="0">
                  <a:solidFill>
                    <a:srgbClr val="FF0000"/>
                  </a:solidFill>
                </a:rPr>
                <a:t>)</a:t>
              </a:r>
              <a:r>
                <a:rPr lang="es-ES" sz="1600" dirty="0"/>
                <a:t>;</a:t>
              </a:r>
            </a:p>
          </p:txBody>
        </p:sp>
      </p:grpSp>
      <p:sp>
        <p:nvSpPr>
          <p:cNvPr id="128" name="127 CuadroTexto"/>
          <p:cNvSpPr txBox="1"/>
          <p:nvPr/>
        </p:nvSpPr>
        <p:spPr>
          <a:xfrm>
            <a:off x="6671385" y="5496990"/>
            <a:ext cx="21002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dirty="0"/>
              <a:t>n </a:t>
            </a:r>
            <a:r>
              <a:rPr lang="es-ES" sz="1600"/>
              <a:t>= </a:t>
            </a:r>
            <a:r>
              <a:rPr lang="es-ES" sz="1600">
                <a:solidFill>
                  <a:srgbClr val="000000"/>
                </a:solidFill>
              </a:rPr>
              <a:t>entrada.</a:t>
            </a:r>
            <a:r>
              <a:rPr lang="es-ES" sz="1600">
                <a:solidFill>
                  <a:srgbClr val="FF0000"/>
                </a:solidFill>
              </a:rPr>
              <a:t>nextInt</a:t>
            </a:r>
            <a:r>
              <a:rPr lang="es-ES" sz="1600" dirty="0">
                <a:solidFill>
                  <a:srgbClr val="FF0000"/>
                </a:solidFill>
              </a:rPr>
              <a:t>()</a:t>
            </a:r>
            <a:r>
              <a:rPr lang="es-ES" sz="1600" dirty="0">
                <a:solidFill>
                  <a:srgbClr val="000000"/>
                </a:solidFill>
              </a:rPr>
              <a:t>;</a:t>
            </a:r>
          </a:p>
        </p:txBody>
      </p:sp>
      <p:sp>
        <p:nvSpPr>
          <p:cNvPr id="129" name="128 CuadroTexto"/>
          <p:cNvSpPr txBox="1"/>
          <p:nvPr/>
        </p:nvSpPr>
        <p:spPr>
          <a:xfrm>
            <a:off x="532998" y="3664593"/>
            <a:ext cx="3249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800" b="1" dirty="0" err="1">
                <a:solidFill>
                  <a:srgbClr val="FF3300"/>
                </a:solidFill>
              </a:rPr>
              <a:t>while</a:t>
            </a:r>
            <a:r>
              <a:rPr lang="es-ES" sz="1800" b="1" dirty="0"/>
              <a:t> nos permite hacerlo…</a:t>
            </a:r>
          </a:p>
        </p:txBody>
      </p:sp>
      <p:sp>
        <p:nvSpPr>
          <p:cNvPr id="130" name="129 CuadroTexto"/>
          <p:cNvSpPr txBox="1"/>
          <p:nvPr/>
        </p:nvSpPr>
        <p:spPr>
          <a:xfrm>
            <a:off x="4062347" y="3352183"/>
            <a:ext cx="48767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rgbClr val="FF6600"/>
                </a:solidFill>
                <a:latin typeface="Adobe Heiti Std R" pitchFamily="34" charset="-128"/>
                <a:ea typeface="Adobe Heiti Std R" pitchFamily="34" charset="-128"/>
              </a:rPr>
              <a:t>Ejemplo: </a:t>
            </a:r>
            <a:r>
              <a:rPr lang="es-ES" sz="1600" dirty="0">
                <a:solidFill>
                  <a:srgbClr val="009900"/>
                </a:solidFill>
                <a:latin typeface="Adobe Heiti Std R" pitchFamily="34" charset="-128"/>
                <a:ea typeface="Adobe Heiti Std R" pitchFamily="34" charset="-128"/>
              </a:rPr>
              <a:t>queremos asegurarnos de que un usuario introduce un número menor que 11...</a:t>
            </a:r>
          </a:p>
        </p:txBody>
      </p:sp>
      <p:sp>
        <p:nvSpPr>
          <p:cNvPr id="131" name="130 CuadroTexto"/>
          <p:cNvSpPr txBox="1"/>
          <p:nvPr/>
        </p:nvSpPr>
        <p:spPr>
          <a:xfrm>
            <a:off x="3860831" y="519736"/>
            <a:ext cx="15117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rgbClr val="009900"/>
                </a:solidFill>
                <a:latin typeface="Adobe Heiti Std R" pitchFamily="34" charset="-128"/>
                <a:ea typeface="Adobe Heiti Std R" pitchFamily="34" charset="-128"/>
              </a:rPr>
              <a:t>(mientras)</a:t>
            </a:r>
          </a:p>
        </p:txBody>
      </p:sp>
    </p:spTree>
    <p:extLst>
      <p:ext uri="{BB962C8B-B14F-4D97-AF65-F5344CB8AC3E}">
        <p14:creationId xmlns:p14="http://schemas.microsoft.com/office/powerpoint/2010/main" val="183976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  <p:bldP spid="59" grpId="0" animBg="1"/>
      <p:bldP spid="63" grpId="0" build="p"/>
      <p:bldP spid="128" grpId="0"/>
      <p:bldP spid="129" grpId="0"/>
      <p:bldP spid="1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862776" y="1432398"/>
            <a:ext cx="3493200" cy="1924594"/>
            <a:chOff x="862776" y="1266838"/>
            <a:chExt cx="3493200" cy="1924594"/>
          </a:xfrm>
        </p:grpSpPr>
        <p:cxnSp>
          <p:nvCxnSpPr>
            <p:cNvPr id="53" name="52 Conector recto de flecha"/>
            <p:cNvCxnSpPr/>
            <p:nvPr/>
          </p:nvCxnSpPr>
          <p:spPr bwMode="auto">
            <a:xfrm>
              <a:off x="2029519" y="2175930"/>
              <a:ext cx="778480" cy="1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74" name="73 Conector recto de flecha"/>
            <p:cNvCxnSpPr/>
            <p:nvPr/>
          </p:nvCxnSpPr>
          <p:spPr bwMode="auto">
            <a:xfrm>
              <a:off x="1481303" y="2687432"/>
              <a:ext cx="0" cy="50400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80" name="79 Elipse"/>
            <p:cNvSpPr/>
            <p:nvPr/>
          </p:nvSpPr>
          <p:spPr bwMode="auto">
            <a:xfrm>
              <a:off x="862777" y="1915976"/>
              <a:ext cx="1237053" cy="805025"/>
            </a:xfrm>
            <a:prstGeom prst="ellipse">
              <a:avLst/>
            </a:prstGeom>
            <a:solidFill>
              <a:schemeClr val="accent5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88" name="87 Conector recto de flecha"/>
            <p:cNvCxnSpPr/>
            <p:nvPr/>
          </p:nvCxnSpPr>
          <p:spPr bwMode="auto">
            <a:xfrm>
              <a:off x="1481303" y="1617176"/>
              <a:ext cx="0" cy="29880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90" name="89 Rectángulo"/>
            <p:cNvSpPr/>
            <p:nvPr/>
          </p:nvSpPr>
          <p:spPr bwMode="auto">
            <a:xfrm>
              <a:off x="862776" y="1266838"/>
              <a:ext cx="1236328" cy="36004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58" name="57 Conector recto de flecha"/>
            <p:cNvCxnSpPr/>
            <p:nvPr/>
          </p:nvCxnSpPr>
          <p:spPr bwMode="auto">
            <a:xfrm flipH="1" flipV="1">
              <a:off x="2016819" y="2475102"/>
              <a:ext cx="778480" cy="438259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61" name="60 Rectángulo"/>
            <p:cNvSpPr/>
            <p:nvPr/>
          </p:nvSpPr>
          <p:spPr bwMode="auto">
            <a:xfrm>
              <a:off x="2801116" y="2061135"/>
              <a:ext cx="1554860" cy="973018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08842" y="44624"/>
            <a:ext cx="7392988" cy="563563"/>
          </a:xfrm>
        </p:spPr>
        <p:txBody>
          <a:bodyPr/>
          <a:lstStyle/>
          <a:p>
            <a:r>
              <a:rPr lang="en-US" dirty="0" err="1"/>
              <a:t>Estructuras</a:t>
            </a:r>
            <a:r>
              <a:rPr lang="en-US" dirty="0"/>
              <a:t> de </a:t>
            </a:r>
            <a:r>
              <a:rPr lang="en-US" dirty="0" err="1"/>
              <a:t>Repetici</a:t>
            </a:r>
            <a:r>
              <a:rPr lang="es-ES" dirty="0"/>
              <a:t>ón (</a:t>
            </a:r>
            <a:r>
              <a:rPr lang="en-US" dirty="0"/>
              <a:t>For)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2" name="81 CuadroTexto"/>
          <p:cNvSpPr txBox="1"/>
          <p:nvPr/>
        </p:nvSpPr>
        <p:spPr>
          <a:xfrm>
            <a:off x="4644009" y="1434320"/>
            <a:ext cx="393042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Como en muchos otros casos, la condición de repetición (</a:t>
            </a:r>
            <a:r>
              <a:rPr lang="es-ES" dirty="0">
                <a:solidFill>
                  <a:srgbClr val="009900"/>
                </a:solidFill>
              </a:rPr>
              <a:t>n &lt;= 10</a:t>
            </a:r>
            <a:r>
              <a:rPr lang="es-ES" dirty="0"/>
              <a:t>) depende de una variable (</a:t>
            </a:r>
            <a:r>
              <a:rPr lang="es-ES" dirty="0">
                <a:solidFill>
                  <a:srgbClr val="009900"/>
                </a:solidFill>
              </a:rPr>
              <a:t>n</a:t>
            </a:r>
            <a:r>
              <a:rPr lang="es-ES" dirty="0"/>
              <a:t>) que se inicializa antes de entrar en el bucle (</a:t>
            </a:r>
            <a:r>
              <a:rPr lang="es-ES" dirty="0" err="1">
                <a:solidFill>
                  <a:srgbClr val="FF0000"/>
                </a:solidFill>
              </a:rPr>
              <a:t>int</a:t>
            </a:r>
            <a:r>
              <a:rPr lang="es-ES" dirty="0">
                <a:solidFill>
                  <a:srgbClr val="FF0000"/>
                </a:solidFill>
              </a:rPr>
              <a:t> n = 0</a:t>
            </a:r>
            <a:r>
              <a:rPr lang="es-ES" dirty="0"/>
              <a:t>) y se ve modificada al final cada del bloque (</a:t>
            </a:r>
            <a:r>
              <a:rPr lang="es-ES" dirty="0">
                <a:solidFill>
                  <a:srgbClr val="00B0F0"/>
                </a:solidFill>
              </a:rPr>
              <a:t>n++</a:t>
            </a:r>
            <a:r>
              <a:rPr lang="es-ES" dirty="0"/>
              <a:t>).</a:t>
            </a:r>
          </a:p>
        </p:txBody>
      </p:sp>
      <p:sp>
        <p:nvSpPr>
          <p:cNvPr id="59" name="58 Rectángulo"/>
          <p:cNvSpPr/>
          <p:nvPr/>
        </p:nvSpPr>
        <p:spPr bwMode="auto">
          <a:xfrm>
            <a:off x="545666" y="4352404"/>
            <a:ext cx="3522278" cy="195691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3" name="62 Rectángulo"/>
          <p:cNvSpPr/>
          <p:nvPr/>
        </p:nvSpPr>
        <p:spPr>
          <a:xfrm>
            <a:off x="669467" y="4382106"/>
            <a:ext cx="309833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0070C0"/>
                </a:solidFill>
              </a:rPr>
              <a:t>…</a:t>
            </a:r>
          </a:p>
          <a:p>
            <a:r>
              <a:rPr lang="es-ES" sz="1600" b="1" dirty="0" err="1">
                <a:solidFill>
                  <a:srgbClr val="FFC000"/>
                </a:solidFill>
              </a:rPr>
              <a:t>int</a:t>
            </a:r>
            <a:r>
              <a:rPr lang="es-ES" sz="1600" b="1" dirty="0">
                <a:solidFill>
                  <a:srgbClr val="FFC000"/>
                </a:solidFill>
              </a:rPr>
              <a:t> n = 1;</a:t>
            </a:r>
          </a:p>
          <a:p>
            <a:r>
              <a:rPr lang="es-ES" sz="1600" b="1" dirty="0" err="1">
                <a:solidFill>
                  <a:srgbClr val="0070C0"/>
                </a:solidFill>
              </a:rPr>
              <a:t>while</a:t>
            </a:r>
            <a:r>
              <a:rPr lang="es-ES" sz="1600" b="1" dirty="0">
                <a:solidFill>
                  <a:srgbClr val="0070C0"/>
                </a:solidFill>
              </a:rPr>
              <a:t>(</a:t>
            </a:r>
            <a:r>
              <a:rPr lang="es-ES" sz="1600" b="1" dirty="0">
                <a:solidFill>
                  <a:srgbClr val="FF0000"/>
                </a:solidFill>
              </a:rPr>
              <a:t> </a:t>
            </a:r>
            <a:r>
              <a:rPr lang="es-ES" sz="1600" b="1" dirty="0">
                <a:solidFill>
                  <a:srgbClr val="99FF66"/>
                </a:solidFill>
              </a:rPr>
              <a:t>n &lt;= 10 </a:t>
            </a:r>
            <a:r>
              <a:rPr lang="es-ES" sz="1600" b="1" dirty="0">
                <a:solidFill>
                  <a:srgbClr val="0070C0"/>
                </a:solidFill>
              </a:rPr>
              <a:t>) {</a:t>
            </a:r>
          </a:p>
          <a:p>
            <a:r>
              <a:rPr lang="es-ES" sz="1600" dirty="0">
                <a:solidFill>
                  <a:srgbClr val="000000"/>
                </a:solidFill>
              </a:rPr>
              <a:t>     </a:t>
            </a:r>
            <a:r>
              <a:rPr lang="es-ES" sz="1600" dirty="0" err="1">
                <a:solidFill>
                  <a:srgbClr val="000000"/>
                </a:solidFill>
              </a:rPr>
              <a:t>System.out.print</a:t>
            </a:r>
            <a:r>
              <a:rPr lang="es-ES" sz="1600" dirty="0">
                <a:solidFill>
                  <a:srgbClr val="000000"/>
                </a:solidFill>
              </a:rPr>
              <a:t>( </a:t>
            </a:r>
            <a:r>
              <a:rPr lang="es-ES" sz="1600" b="1" dirty="0">
                <a:solidFill>
                  <a:srgbClr val="000000"/>
                </a:solidFill>
              </a:rPr>
              <a:t>n</a:t>
            </a:r>
            <a:r>
              <a:rPr lang="es-ES" sz="1600" dirty="0">
                <a:solidFill>
                  <a:srgbClr val="000000"/>
                </a:solidFill>
              </a:rPr>
              <a:t> );</a:t>
            </a:r>
          </a:p>
          <a:p>
            <a:r>
              <a:rPr lang="es-ES" sz="1600" b="1" dirty="0">
                <a:solidFill>
                  <a:srgbClr val="000000"/>
                </a:solidFill>
              </a:rPr>
              <a:t>     </a:t>
            </a:r>
            <a:r>
              <a:rPr lang="es-ES" sz="1600" b="1" dirty="0">
                <a:solidFill>
                  <a:schemeClr val="accent5"/>
                </a:solidFill>
              </a:rPr>
              <a:t>n++;</a:t>
            </a:r>
            <a:endParaRPr lang="es-ES" sz="1600" dirty="0">
              <a:solidFill>
                <a:schemeClr val="accent5"/>
              </a:solidFill>
            </a:endParaRPr>
          </a:p>
          <a:p>
            <a:r>
              <a:rPr lang="es-ES" sz="1600" b="1" dirty="0">
                <a:solidFill>
                  <a:srgbClr val="0070C0"/>
                </a:solidFill>
              </a:rPr>
              <a:t>}</a:t>
            </a:r>
          </a:p>
          <a:p>
            <a:r>
              <a:rPr lang="es-ES" sz="1600" dirty="0">
                <a:solidFill>
                  <a:srgbClr val="000000"/>
                </a:solidFill>
              </a:rPr>
              <a:t>…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64" name="63 CuadroTexto"/>
          <p:cNvSpPr txBox="1"/>
          <p:nvPr/>
        </p:nvSpPr>
        <p:spPr>
          <a:xfrm>
            <a:off x="2051720" y="1985703"/>
            <a:ext cx="606256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>
                <a:solidFill>
                  <a:srgbClr val="0070C0"/>
                </a:solidFill>
              </a:rPr>
              <a:t>true</a:t>
            </a:r>
          </a:p>
        </p:txBody>
      </p:sp>
      <p:sp>
        <p:nvSpPr>
          <p:cNvPr id="42" name="41 CuadroTexto"/>
          <p:cNvSpPr txBox="1"/>
          <p:nvPr/>
        </p:nvSpPr>
        <p:spPr>
          <a:xfrm>
            <a:off x="809193" y="2886561"/>
            <a:ext cx="700834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>
                <a:solidFill>
                  <a:srgbClr val="0070C0"/>
                </a:solidFill>
              </a:rPr>
              <a:t>false</a:t>
            </a:r>
          </a:p>
        </p:txBody>
      </p:sp>
      <p:sp>
        <p:nvSpPr>
          <p:cNvPr id="81" name="80 CuadroTexto"/>
          <p:cNvSpPr txBox="1"/>
          <p:nvPr/>
        </p:nvSpPr>
        <p:spPr>
          <a:xfrm>
            <a:off x="973736" y="2272397"/>
            <a:ext cx="1026243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dirty="0">
                <a:solidFill>
                  <a:srgbClr val="009900"/>
                </a:solidFill>
              </a:rPr>
              <a:t>n &lt;= 10</a:t>
            </a:r>
          </a:p>
        </p:txBody>
      </p:sp>
      <p:sp>
        <p:nvSpPr>
          <p:cNvPr id="91" name="90 CuadroTexto"/>
          <p:cNvSpPr txBox="1"/>
          <p:nvPr/>
        </p:nvSpPr>
        <p:spPr>
          <a:xfrm>
            <a:off x="1035576" y="1428496"/>
            <a:ext cx="9685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 err="1">
                <a:solidFill>
                  <a:srgbClr val="FF0000"/>
                </a:solidFill>
              </a:rPr>
              <a:t>int</a:t>
            </a:r>
            <a:r>
              <a:rPr lang="es-ES" sz="1600" b="1" dirty="0">
                <a:solidFill>
                  <a:srgbClr val="FF0000"/>
                </a:solidFill>
              </a:rPr>
              <a:t> n = 1</a:t>
            </a:r>
          </a:p>
        </p:txBody>
      </p:sp>
      <p:sp>
        <p:nvSpPr>
          <p:cNvPr id="62" name="61 CuadroTexto"/>
          <p:cNvSpPr txBox="1"/>
          <p:nvPr/>
        </p:nvSpPr>
        <p:spPr>
          <a:xfrm>
            <a:off x="2881349" y="2319902"/>
            <a:ext cx="13724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dirty="0"/>
              <a:t>…</a:t>
            </a:r>
            <a:r>
              <a:rPr lang="es-ES" sz="1600" dirty="0" err="1"/>
              <a:t>println</a:t>
            </a:r>
            <a:r>
              <a:rPr lang="es-ES" sz="1600" dirty="0"/>
              <a:t>( </a:t>
            </a:r>
            <a:r>
              <a:rPr lang="es-ES" sz="1600" b="1" dirty="0"/>
              <a:t>n</a:t>
            </a:r>
            <a:r>
              <a:rPr lang="es-ES" sz="1600" dirty="0"/>
              <a:t> );</a:t>
            </a:r>
          </a:p>
        </p:txBody>
      </p:sp>
      <p:sp>
        <p:nvSpPr>
          <p:cNvPr id="128" name="127 CuadroTexto"/>
          <p:cNvSpPr txBox="1"/>
          <p:nvPr/>
        </p:nvSpPr>
        <p:spPr>
          <a:xfrm>
            <a:off x="2892601" y="2690514"/>
            <a:ext cx="6190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solidFill>
                  <a:srgbClr val="00B0F0"/>
                </a:solidFill>
              </a:rPr>
              <a:t>n++;</a:t>
            </a:r>
          </a:p>
        </p:txBody>
      </p:sp>
      <p:sp>
        <p:nvSpPr>
          <p:cNvPr id="129" name="128 CuadroTexto"/>
          <p:cNvSpPr txBox="1"/>
          <p:nvPr/>
        </p:nvSpPr>
        <p:spPr>
          <a:xfrm>
            <a:off x="1099498" y="3691632"/>
            <a:ext cx="26084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800" b="1" dirty="0"/>
              <a:t>Sabemos que </a:t>
            </a:r>
            <a:r>
              <a:rPr lang="es-ES" sz="1800" b="1" dirty="0" err="1">
                <a:solidFill>
                  <a:srgbClr val="FF3300"/>
                </a:solidFill>
              </a:rPr>
              <a:t>while</a:t>
            </a:r>
            <a:r>
              <a:rPr lang="es-ES" sz="1800" b="1" dirty="0"/>
              <a:t> </a:t>
            </a:r>
          </a:p>
          <a:p>
            <a:pPr algn="ctr"/>
            <a:r>
              <a:rPr lang="es-ES" sz="1800" b="1" dirty="0"/>
              <a:t>nos permite hacerlo…</a:t>
            </a:r>
          </a:p>
        </p:txBody>
      </p:sp>
      <p:sp>
        <p:nvSpPr>
          <p:cNvPr id="54" name="53 CuadroTexto"/>
          <p:cNvSpPr txBox="1"/>
          <p:nvPr/>
        </p:nvSpPr>
        <p:spPr>
          <a:xfrm>
            <a:off x="1835696" y="858198"/>
            <a:ext cx="48767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rgbClr val="009900"/>
                </a:solidFill>
                <a:latin typeface="Adobe Heiti Std R" pitchFamily="34" charset="-128"/>
                <a:ea typeface="Adobe Heiti Std R" pitchFamily="34" charset="-128"/>
              </a:rPr>
              <a:t>realicemos un bucle que cuenta de 1 a 10...</a:t>
            </a:r>
          </a:p>
        </p:txBody>
      </p:sp>
      <p:sp>
        <p:nvSpPr>
          <p:cNvPr id="57" name="56 CuadroTexto"/>
          <p:cNvSpPr txBox="1"/>
          <p:nvPr/>
        </p:nvSpPr>
        <p:spPr>
          <a:xfrm>
            <a:off x="4751036" y="3691632"/>
            <a:ext cx="34676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800" b="1" dirty="0"/>
              <a:t>Pero una instrucción llamada</a:t>
            </a:r>
          </a:p>
          <a:p>
            <a:pPr algn="ctr"/>
            <a:r>
              <a:rPr lang="es-ES" sz="1800" b="1" dirty="0" err="1">
                <a:solidFill>
                  <a:srgbClr val="FF3300"/>
                </a:solidFill>
              </a:rPr>
              <a:t>for</a:t>
            </a:r>
            <a:r>
              <a:rPr lang="es-ES" sz="1800" b="1" dirty="0"/>
              <a:t> lo hace más compacto…</a:t>
            </a:r>
          </a:p>
        </p:txBody>
      </p:sp>
      <p:sp>
        <p:nvSpPr>
          <p:cNvPr id="65" name="64 Rectángulo"/>
          <p:cNvSpPr/>
          <p:nvPr/>
        </p:nvSpPr>
        <p:spPr bwMode="auto">
          <a:xfrm>
            <a:off x="4499992" y="4352404"/>
            <a:ext cx="3926871" cy="195691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6" name="65 Rectángulo"/>
          <p:cNvSpPr/>
          <p:nvPr/>
        </p:nvSpPr>
        <p:spPr>
          <a:xfrm>
            <a:off x="4644008" y="4632499"/>
            <a:ext cx="357464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0070C0"/>
                </a:solidFill>
              </a:rPr>
              <a:t>…</a:t>
            </a:r>
          </a:p>
          <a:p>
            <a:r>
              <a:rPr lang="es-ES" sz="1600" b="1" dirty="0" err="1">
                <a:solidFill>
                  <a:srgbClr val="0070C0"/>
                </a:solidFill>
              </a:rPr>
              <a:t>for</a:t>
            </a:r>
            <a:r>
              <a:rPr lang="es-ES" sz="1600" b="1" dirty="0">
                <a:solidFill>
                  <a:srgbClr val="0070C0"/>
                </a:solidFill>
              </a:rPr>
              <a:t>(                 ;              ;           ) {</a:t>
            </a:r>
          </a:p>
          <a:p>
            <a:r>
              <a:rPr lang="es-ES" sz="1600" dirty="0">
                <a:solidFill>
                  <a:srgbClr val="000000"/>
                </a:solidFill>
              </a:rPr>
              <a:t>     </a:t>
            </a:r>
            <a:r>
              <a:rPr lang="es-ES" sz="1600" dirty="0" err="1">
                <a:solidFill>
                  <a:srgbClr val="000000"/>
                </a:solidFill>
              </a:rPr>
              <a:t>System.out.print</a:t>
            </a:r>
            <a:r>
              <a:rPr lang="es-ES" sz="1600" dirty="0">
                <a:solidFill>
                  <a:srgbClr val="000000"/>
                </a:solidFill>
              </a:rPr>
              <a:t>( </a:t>
            </a:r>
            <a:r>
              <a:rPr lang="es-ES" sz="1600" b="1" dirty="0">
                <a:solidFill>
                  <a:srgbClr val="000000"/>
                </a:solidFill>
              </a:rPr>
              <a:t>n</a:t>
            </a:r>
            <a:r>
              <a:rPr lang="es-ES" sz="1600" dirty="0">
                <a:solidFill>
                  <a:srgbClr val="000000"/>
                </a:solidFill>
              </a:rPr>
              <a:t> );</a:t>
            </a:r>
            <a:r>
              <a:rPr lang="es-ES" sz="1600" b="1" dirty="0">
                <a:solidFill>
                  <a:srgbClr val="000000"/>
                </a:solidFill>
              </a:rPr>
              <a:t>  </a:t>
            </a:r>
            <a:endParaRPr lang="es-ES" sz="1600" dirty="0">
              <a:solidFill>
                <a:srgbClr val="00B0F0"/>
              </a:solidFill>
            </a:endParaRPr>
          </a:p>
          <a:p>
            <a:r>
              <a:rPr lang="es-ES" sz="1600" b="1" dirty="0">
                <a:solidFill>
                  <a:srgbClr val="0070C0"/>
                </a:solidFill>
              </a:rPr>
              <a:t>}</a:t>
            </a:r>
          </a:p>
          <a:p>
            <a:r>
              <a:rPr lang="es-ES" sz="1600" dirty="0">
                <a:solidFill>
                  <a:srgbClr val="000000"/>
                </a:solidFill>
              </a:rPr>
              <a:t>…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67" name="66 Rectángulo"/>
          <p:cNvSpPr/>
          <p:nvPr/>
        </p:nvSpPr>
        <p:spPr>
          <a:xfrm>
            <a:off x="670998" y="4622974"/>
            <a:ext cx="10347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b="1" dirty="0" err="1">
                <a:solidFill>
                  <a:srgbClr val="FF0000"/>
                </a:solidFill>
              </a:rPr>
              <a:t>int</a:t>
            </a:r>
            <a:r>
              <a:rPr lang="es-ES" sz="1600" b="1" dirty="0">
                <a:solidFill>
                  <a:srgbClr val="FF0000"/>
                </a:solidFill>
              </a:rPr>
              <a:t> n = 1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68" name="67 Rectángulo"/>
          <p:cNvSpPr/>
          <p:nvPr/>
        </p:nvSpPr>
        <p:spPr>
          <a:xfrm>
            <a:off x="1307282" y="4869161"/>
            <a:ext cx="97310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009900"/>
                </a:solidFill>
              </a:rPr>
              <a:t>n &lt;= 10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69" name="68 Rectángulo"/>
          <p:cNvSpPr/>
          <p:nvPr/>
        </p:nvSpPr>
        <p:spPr>
          <a:xfrm>
            <a:off x="956474" y="5356546"/>
            <a:ext cx="80208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00B0F0"/>
                </a:solidFill>
              </a:rPr>
              <a:t>n++</a:t>
            </a:r>
            <a:endParaRPr lang="es-E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9630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1.11111E-6 L 0.49028 0.0375 " pathEditMode="relative" rAng="0" ptsTypes="AA">
                                      <p:cBhvr>
                                        <p:cTn id="98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514" y="18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7.40741E-7 L 0.52048 0.00185 " pathEditMode="relative" rAng="0" ptsTypes="AA">
                                      <p:cBhvr>
                                        <p:cTn id="102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024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4.44444E-6 L 0.65121 -0.07014 " pathEditMode="relative" rAng="0" ptsTypes="AA">
                                      <p:cBhvr>
                                        <p:cTn id="106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552" y="-35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  <p:bldP spid="59" grpId="0" animBg="1"/>
      <p:bldP spid="63" grpId="0"/>
      <p:bldP spid="64" grpId="0"/>
      <p:bldP spid="42" grpId="0"/>
      <p:bldP spid="81" grpId="0"/>
      <p:bldP spid="91" grpId="0"/>
      <p:bldP spid="62" grpId="0"/>
      <p:bldP spid="128" grpId="0"/>
      <p:bldP spid="129" grpId="0"/>
      <p:bldP spid="54" grpId="0"/>
      <p:bldP spid="57" grpId="0"/>
      <p:bldP spid="65" grpId="0" animBg="1"/>
      <p:bldP spid="66" grpId="0"/>
      <p:bldP spid="67" grpId="0"/>
      <p:bldP spid="67" grpId="1"/>
      <p:bldP spid="68" grpId="0"/>
      <p:bldP spid="68" grpId="1"/>
      <p:bldP spid="69" grpId="0"/>
      <p:bldP spid="69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8 Grupo"/>
          <p:cNvGrpSpPr/>
          <p:nvPr/>
        </p:nvGrpSpPr>
        <p:grpSpPr>
          <a:xfrm>
            <a:off x="4884491" y="1674365"/>
            <a:ext cx="3503933" cy="281344"/>
            <a:chOff x="4884491" y="1674365"/>
            <a:chExt cx="3503933" cy="281344"/>
          </a:xfrm>
        </p:grpSpPr>
        <p:sp>
          <p:nvSpPr>
            <p:cNvPr id="8" name="7 Rectángulo"/>
            <p:cNvSpPr/>
            <p:nvPr/>
          </p:nvSpPr>
          <p:spPr bwMode="auto">
            <a:xfrm>
              <a:off x="4900680" y="1674365"/>
              <a:ext cx="3487744" cy="281344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" name="1 Rectángulo"/>
            <p:cNvSpPr/>
            <p:nvPr/>
          </p:nvSpPr>
          <p:spPr>
            <a:xfrm>
              <a:off x="4884491" y="1675730"/>
              <a:ext cx="58702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1200" b="1" dirty="0">
                  <a:solidFill>
                    <a:schemeClr val="bg1"/>
                  </a:solidFill>
                </a:rPr>
                <a:t>0 min</a:t>
              </a:r>
            </a:p>
          </p:txBody>
        </p:sp>
      </p:grpSp>
      <p:grpSp>
        <p:nvGrpSpPr>
          <p:cNvPr id="94" name="93 Grupo"/>
          <p:cNvGrpSpPr/>
          <p:nvPr/>
        </p:nvGrpSpPr>
        <p:grpSpPr>
          <a:xfrm>
            <a:off x="4884491" y="1672233"/>
            <a:ext cx="3503933" cy="281344"/>
            <a:chOff x="4884491" y="1674365"/>
            <a:chExt cx="3503933" cy="281344"/>
          </a:xfrm>
        </p:grpSpPr>
        <p:sp>
          <p:nvSpPr>
            <p:cNvPr id="95" name="94 Rectángulo"/>
            <p:cNvSpPr/>
            <p:nvPr/>
          </p:nvSpPr>
          <p:spPr bwMode="auto">
            <a:xfrm>
              <a:off x="4900680" y="1674365"/>
              <a:ext cx="3487744" cy="281344"/>
            </a:xfrm>
            <a:prstGeom prst="rect">
              <a:avLst/>
            </a:prstGeom>
            <a:solidFill>
              <a:srgbClr val="00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6" name="95 Rectángulo"/>
            <p:cNvSpPr/>
            <p:nvPr/>
          </p:nvSpPr>
          <p:spPr>
            <a:xfrm>
              <a:off x="4884491" y="1675730"/>
              <a:ext cx="58702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1200" b="1" dirty="0">
                  <a:solidFill>
                    <a:schemeClr val="bg1"/>
                  </a:solidFill>
                </a:rPr>
                <a:t>0 min</a:t>
              </a:r>
            </a:p>
          </p:txBody>
        </p:sp>
      </p:grpSp>
      <p:grpSp>
        <p:nvGrpSpPr>
          <p:cNvPr id="10" name="9 Grupo"/>
          <p:cNvGrpSpPr/>
          <p:nvPr/>
        </p:nvGrpSpPr>
        <p:grpSpPr>
          <a:xfrm>
            <a:off x="715448" y="1506581"/>
            <a:ext cx="3640528" cy="1765393"/>
            <a:chOff x="715448" y="1506581"/>
            <a:chExt cx="3640528" cy="1765393"/>
          </a:xfrm>
        </p:grpSpPr>
        <p:sp>
          <p:nvSpPr>
            <p:cNvPr id="61" name="60 Rectángulo"/>
            <p:cNvSpPr/>
            <p:nvPr/>
          </p:nvSpPr>
          <p:spPr bwMode="auto">
            <a:xfrm>
              <a:off x="715448" y="1506581"/>
              <a:ext cx="3640528" cy="1765393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" name="4 Rectángulo"/>
            <p:cNvSpPr/>
            <p:nvPr/>
          </p:nvSpPr>
          <p:spPr bwMode="auto">
            <a:xfrm>
              <a:off x="715448" y="1506581"/>
              <a:ext cx="3640528" cy="31035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1" name="30 CuadroTexto"/>
            <p:cNvSpPr txBox="1"/>
            <p:nvPr/>
          </p:nvSpPr>
          <p:spPr>
            <a:xfrm>
              <a:off x="755576" y="1506581"/>
              <a:ext cx="6174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600" b="1" dirty="0">
                  <a:solidFill>
                    <a:schemeClr val="bg1"/>
                  </a:solidFill>
                </a:rPr>
                <a:t>FOR</a:t>
              </a:r>
            </a:p>
          </p:txBody>
        </p:sp>
      </p:grp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08842" y="44624"/>
            <a:ext cx="7392988" cy="563563"/>
          </a:xfrm>
        </p:spPr>
        <p:txBody>
          <a:bodyPr/>
          <a:lstStyle/>
          <a:p>
            <a:r>
              <a:rPr lang="en-US" sz="2400" dirty="0" err="1"/>
              <a:t>Estructuras</a:t>
            </a:r>
            <a:r>
              <a:rPr lang="en-US" sz="2400" dirty="0"/>
              <a:t> de </a:t>
            </a:r>
            <a:r>
              <a:rPr lang="en-US" sz="2400" dirty="0" err="1"/>
              <a:t>Repetici</a:t>
            </a:r>
            <a:r>
              <a:rPr lang="es-ES" sz="2400" dirty="0"/>
              <a:t>ón (</a:t>
            </a:r>
            <a:r>
              <a:rPr lang="en-US" sz="2400" dirty="0" err="1"/>
              <a:t>Bucles</a:t>
            </a:r>
            <a:r>
              <a:rPr lang="en-US" sz="2400" dirty="0"/>
              <a:t> </a:t>
            </a:r>
            <a:r>
              <a:rPr lang="en-US" sz="2400" dirty="0" err="1"/>
              <a:t>Anidados</a:t>
            </a:r>
            <a:r>
              <a:rPr lang="en-US" sz="2400" dirty="0"/>
              <a:t>)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59" name="58 Rectángulo"/>
          <p:cNvSpPr/>
          <p:nvPr/>
        </p:nvSpPr>
        <p:spPr bwMode="auto">
          <a:xfrm>
            <a:off x="611560" y="3933056"/>
            <a:ext cx="3810311" cy="230425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3" name="62 Rectángulo"/>
          <p:cNvSpPr/>
          <p:nvPr/>
        </p:nvSpPr>
        <p:spPr>
          <a:xfrm>
            <a:off x="686980" y="4149080"/>
            <a:ext cx="368651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400" b="1" dirty="0" err="1">
                <a:solidFill>
                  <a:srgbClr val="0070C0"/>
                </a:solidFill>
              </a:rPr>
              <a:t>for</a:t>
            </a:r>
            <a:r>
              <a:rPr lang="es-ES" sz="1400" b="1" dirty="0">
                <a:solidFill>
                  <a:srgbClr val="0070C0"/>
                </a:solidFill>
              </a:rPr>
              <a:t>( </a:t>
            </a:r>
            <a:r>
              <a:rPr lang="es-ES" sz="1400" b="1" dirty="0" err="1">
                <a:solidFill>
                  <a:srgbClr val="FFC000"/>
                </a:solidFill>
              </a:rPr>
              <a:t>int</a:t>
            </a:r>
            <a:r>
              <a:rPr lang="es-ES" sz="1400" b="1" dirty="0">
                <a:solidFill>
                  <a:srgbClr val="FFC000"/>
                </a:solidFill>
              </a:rPr>
              <a:t> min = 0; </a:t>
            </a:r>
            <a:r>
              <a:rPr lang="es-ES" sz="1400" b="1" dirty="0">
                <a:solidFill>
                  <a:srgbClr val="99FF66"/>
                </a:solidFill>
              </a:rPr>
              <a:t>min &lt; 60; </a:t>
            </a:r>
            <a:r>
              <a:rPr lang="es-ES" sz="1400" b="1" dirty="0">
                <a:solidFill>
                  <a:schemeClr val="accent5"/>
                </a:solidFill>
              </a:rPr>
              <a:t>min++</a:t>
            </a:r>
            <a:r>
              <a:rPr lang="es-ES" sz="1400" b="1" dirty="0">
                <a:solidFill>
                  <a:srgbClr val="99FF66"/>
                </a:solidFill>
              </a:rPr>
              <a:t> </a:t>
            </a:r>
            <a:r>
              <a:rPr lang="es-ES" sz="1400" b="1" dirty="0">
                <a:solidFill>
                  <a:srgbClr val="0070C0"/>
                </a:solidFill>
              </a:rPr>
              <a:t>) {</a:t>
            </a:r>
          </a:p>
          <a:p>
            <a:endParaRPr lang="es-ES" sz="1400" b="1" dirty="0">
              <a:solidFill>
                <a:srgbClr val="0070C0"/>
              </a:solidFill>
            </a:endParaRPr>
          </a:p>
          <a:p>
            <a:r>
              <a:rPr lang="es-ES" sz="1400" dirty="0">
                <a:solidFill>
                  <a:srgbClr val="000000"/>
                </a:solidFill>
              </a:rPr>
              <a:t>     </a:t>
            </a:r>
            <a:r>
              <a:rPr lang="es-ES" sz="1400" dirty="0" err="1">
                <a:solidFill>
                  <a:srgbClr val="000000"/>
                </a:solidFill>
              </a:rPr>
              <a:t>System.out.println</a:t>
            </a:r>
            <a:r>
              <a:rPr lang="es-ES" sz="1400" dirty="0">
                <a:solidFill>
                  <a:srgbClr val="000000"/>
                </a:solidFill>
              </a:rPr>
              <a:t>(</a:t>
            </a:r>
            <a:r>
              <a:rPr lang="es-ES" sz="1400" dirty="0">
                <a:solidFill>
                  <a:srgbClr val="FFC000"/>
                </a:solidFill>
              </a:rPr>
              <a:t>min </a:t>
            </a:r>
            <a:r>
              <a:rPr lang="es-ES" sz="1400" dirty="0">
                <a:solidFill>
                  <a:srgbClr val="000000"/>
                </a:solidFill>
              </a:rPr>
              <a:t>+"minutos" );</a:t>
            </a:r>
          </a:p>
          <a:p>
            <a:endParaRPr lang="es-ES" sz="1400" dirty="0">
              <a:solidFill>
                <a:srgbClr val="000000"/>
              </a:solidFill>
            </a:endParaRPr>
          </a:p>
          <a:p>
            <a:r>
              <a:rPr lang="es-ES" sz="1400" b="1" dirty="0">
                <a:solidFill>
                  <a:srgbClr val="0070C0"/>
                </a:solidFill>
              </a:rPr>
              <a:t>     </a:t>
            </a:r>
          </a:p>
          <a:p>
            <a:endParaRPr lang="es-ES" sz="1400" b="1" dirty="0">
              <a:solidFill>
                <a:srgbClr val="0070C0"/>
              </a:solidFill>
            </a:endParaRPr>
          </a:p>
          <a:p>
            <a:endParaRPr lang="es-ES" sz="1400" b="1" dirty="0">
              <a:solidFill>
                <a:srgbClr val="0070C0"/>
              </a:solidFill>
            </a:endParaRPr>
          </a:p>
          <a:p>
            <a:endParaRPr lang="es-ES" sz="1400" dirty="0">
              <a:solidFill>
                <a:srgbClr val="000000"/>
              </a:solidFill>
            </a:endParaRPr>
          </a:p>
          <a:p>
            <a:r>
              <a:rPr lang="es-ES" sz="1400" b="1" dirty="0">
                <a:solidFill>
                  <a:srgbClr val="0070C0"/>
                </a:solidFill>
              </a:rPr>
              <a:t>}</a:t>
            </a:r>
          </a:p>
        </p:txBody>
      </p:sp>
      <p:sp>
        <p:nvSpPr>
          <p:cNvPr id="62" name="61 CuadroTexto"/>
          <p:cNvSpPr txBox="1"/>
          <p:nvPr/>
        </p:nvSpPr>
        <p:spPr>
          <a:xfrm>
            <a:off x="1763688" y="1888939"/>
            <a:ext cx="16165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/>
              <a:t>…</a:t>
            </a:r>
            <a:r>
              <a:rPr lang="es-ES" sz="1600" dirty="0" err="1"/>
              <a:t>println</a:t>
            </a:r>
            <a:r>
              <a:rPr lang="es-ES" sz="1600" dirty="0"/>
              <a:t>( </a:t>
            </a:r>
            <a:r>
              <a:rPr lang="es-ES" sz="1600" b="1" dirty="0"/>
              <a:t>min</a:t>
            </a:r>
            <a:r>
              <a:rPr lang="es-ES" sz="1600" dirty="0"/>
              <a:t> );</a:t>
            </a:r>
          </a:p>
        </p:txBody>
      </p:sp>
      <p:sp>
        <p:nvSpPr>
          <p:cNvPr id="54" name="53 CuadroTexto"/>
          <p:cNvSpPr txBox="1"/>
          <p:nvPr/>
        </p:nvSpPr>
        <p:spPr>
          <a:xfrm>
            <a:off x="1759124" y="878196"/>
            <a:ext cx="50927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500" dirty="0">
                <a:solidFill>
                  <a:srgbClr val="009900"/>
                </a:solidFill>
                <a:latin typeface="+mn-lt"/>
                <a:ea typeface="Adobe Heiti Std R" pitchFamily="34" charset="-128"/>
              </a:rPr>
              <a:t>realicemos un cronómetro de minutos y segundos</a:t>
            </a:r>
          </a:p>
        </p:txBody>
      </p:sp>
      <p:sp>
        <p:nvSpPr>
          <p:cNvPr id="32" name="31 CuadroTexto"/>
          <p:cNvSpPr txBox="1"/>
          <p:nvPr/>
        </p:nvSpPr>
        <p:spPr>
          <a:xfrm>
            <a:off x="1456606" y="1487902"/>
            <a:ext cx="26865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rgbClr val="FFFF00"/>
                </a:solidFill>
              </a:rPr>
              <a:t>min=0    min&lt;60   min++</a:t>
            </a:r>
          </a:p>
        </p:txBody>
      </p:sp>
      <p:sp>
        <p:nvSpPr>
          <p:cNvPr id="7" name="6 Rectángulo"/>
          <p:cNvSpPr/>
          <p:nvPr/>
        </p:nvSpPr>
        <p:spPr>
          <a:xfrm>
            <a:off x="1948241" y="1484784"/>
            <a:ext cx="1619354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1700" dirty="0">
                <a:solidFill>
                  <a:srgbClr val="FFFF00"/>
                </a:solidFill>
              </a:rPr>
              <a:t>minutos 0 a 59</a:t>
            </a:r>
          </a:p>
        </p:txBody>
      </p:sp>
      <p:grpSp>
        <p:nvGrpSpPr>
          <p:cNvPr id="11" name="10 Grupo"/>
          <p:cNvGrpSpPr/>
          <p:nvPr/>
        </p:nvGrpSpPr>
        <p:grpSpPr>
          <a:xfrm>
            <a:off x="899592" y="2270776"/>
            <a:ext cx="3266462" cy="830997"/>
            <a:chOff x="899592" y="2270776"/>
            <a:chExt cx="3266462" cy="830997"/>
          </a:xfrm>
        </p:grpSpPr>
        <p:sp>
          <p:nvSpPr>
            <p:cNvPr id="35" name="34 Rectángulo"/>
            <p:cNvSpPr/>
            <p:nvPr/>
          </p:nvSpPr>
          <p:spPr bwMode="auto">
            <a:xfrm>
              <a:off x="899592" y="2270776"/>
              <a:ext cx="3266462" cy="830997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7" name="36 Rectángulo"/>
            <p:cNvSpPr/>
            <p:nvPr/>
          </p:nvSpPr>
          <p:spPr bwMode="auto">
            <a:xfrm>
              <a:off x="899592" y="2270776"/>
              <a:ext cx="3266462" cy="296599"/>
            </a:xfrm>
            <a:prstGeom prst="rect">
              <a:avLst/>
            </a:prstGeom>
            <a:solidFill>
              <a:srgbClr val="FF33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8" name="37 CuadroTexto"/>
            <p:cNvSpPr txBox="1"/>
            <p:nvPr/>
          </p:nvSpPr>
          <p:spPr>
            <a:xfrm>
              <a:off x="939719" y="2270776"/>
              <a:ext cx="72243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b="1" dirty="0">
                  <a:solidFill>
                    <a:schemeClr val="bg1"/>
                  </a:solidFill>
                </a:rPr>
                <a:t>FOR</a:t>
              </a:r>
            </a:p>
          </p:txBody>
        </p:sp>
      </p:grpSp>
      <p:sp>
        <p:nvSpPr>
          <p:cNvPr id="39" name="38 CuadroTexto"/>
          <p:cNvSpPr txBox="1"/>
          <p:nvPr/>
        </p:nvSpPr>
        <p:spPr>
          <a:xfrm>
            <a:off x="1633042" y="2249798"/>
            <a:ext cx="24822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 err="1">
                <a:solidFill>
                  <a:srgbClr val="FFFF00"/>
                </a:solidFill>
              </a:rPr>
              <a:t>seg</a:t>
            </a:r>
            <a:r>
              <a:rPr lang="es-ES" sz="1600" b="1" dirty="0">
                <a:solidFill>
                  <a:srgbClr val="FFFF00"/>
                </a:solidFill>
              </a:rPr>
              <a:t>=0    </a:t>
            </a:r>
            <a:r>
              <a:rPr lang="es-ES" sz="1600" b="1" dirty="0" err="1">
                <a:solidFill>
                  <a:srgbClr val="FFFF00"/>
                </a:solidFill>
              </a:rPr>
              <a:t>seg</a:t>
            </a:r>
            <a:r>
              <a:rPr lang="es-ES" sz="1600" b="1" dirty="0">
                <a:solidFill>
                  <a:srgbClr val="FFFF00"/>
                </a:solidFill>
              </a:rPr>
              <a:t>&lt;60   </a:t>
            </a:r>
            <a:r>
              <a:rPr lang="es-ES" sz="1600" b="1" dirty="0" err="1">
                <a:solidFill>
                  <a:srgbClr val="FFFF00"/>
                </a:solidFill>
              </a:rPr>
              <a:t>seg</a:t>
            </a:r>
            <a:r>
              <a:rPr lang="es-ES" sz="1600" b="1" dirty="0">
                <a:solidFill>
                  <a:srgbClr val="FFFF00"/>
                </a:solidFill>
              </a:rPr>
              <a:t>++</a:t>
            </a:r>
          </a:p>
        </p:txBody>
      </p:sp>
      <p:sp>
        <p:nvSpPr>
          <p:cNvPr id="40" name="39 Rectángulo"/>
          <p:cNvSpPr/>
          <p:nvPr/>
        </p:nvSpPr>
        <p:spPr>
          <a:xfrm>
            <a:off x="1825235" y="2248979"/>
            <a:ext cx="1949344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700" dirty="0">
                <a:solidFill>
                  <a:srgbClr val="FFFF00"/>
                </a:solidFill>
              </a:rPr>
              <a:t>segundos 0 a 59</a:t>
            </a:r>
          </a:p>
        </p:txBody>
      </p:sp>
      <p:sp>
        <p:nvSpPr>
          <p:cNvPr id="41" name="40 CuadroTexto"/>
          <p:cNvSpPr txBox="1"/>
          <p:nvPr/>
        </p:nvSpPr>
        <p:spPr>
          <a:xfrm>
            <a:off x="1791573" y="2686274"/>
            <a:ext cx="16165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/>
              <a:t>…</a:t>
            </a:r>
            <a:r>
              <a:rPr lang="es-ES" sz="1600" dirty="0" err="1"/>
              <a:t>println</a:t>
            </a:r>
            <a:r>
              <a:rPr lang="es-ES" sz="1600" dirty="0"/>
              <a:t>( </a:t>
            </a:r>
            <a:r>
              <a:rPr lang="es-ES" sz="1600" b="1" dirty="0" err="1"/>
              <a:t>seg</a:t>
            </a:r>
            <a:r>
              <a:rPr lang="es-ES" sz="1600" dirty="0"/>
              <a:t> );</a:t>
            </a:r>
          </a:p>
        </p:txBody>
      </p:sp>
      <p:grpSp>
        <p:nvGrpSpPr>
          <p:cNvPr id="6" name="5 Grupo"/>
          <p:cNvGrpSpPr/>
          <p:nvPr/>
        </p:nvGrpSpPr>
        <p:grpSpPr>
          <a:xfrm>
            <a:off x="5467368" y="1676425"/>
            <a:ext cx="438876" cy="276999"/>
            <a:chOff x="5429268" y="1677933"/>
            <a:chExt cx="438876" cy="276999"/>
          </a:xfrm>
        </p:grpSpPr>
        <p:sp>
          <p:nvSpPr>
            <p:cNvPr id="45" name="44 Rectángulo"/>
            <p:cNvSpPr/>
            <p:nvPr/>
          </p:nvSpPr>
          <p:spPr bwMode="auto">
            <a:xfrm>
              <a:off x="5492570" y="1708931"/>
              <a:ext cx="291281" cy="216000"/>
            </a:xfrm>
            <a:prstGeom prst="rect">
              <a:avLst/>
            </a:prstGeom>
            <a:solidFill>
              <a:srgbClr val="FF33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4" name="33 Rectángulo"/>
            <p:cNvSpPr/>
            <p:nvPr/>
          </p:nvSpPr>
          <p:spPr>
            <a:xfrm>
              <a:off x="5429268" y="1677933"/>
              <a:ext cx="43887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200" b="1" dirty="0">
                  <a:solidFill>
                    <a:schemeClr val="bg1"/>
                  </a:solidFill>
                </a:rPr>
                <a:t>0s</a:t>
              </a:r>
            </a:p>
          </p:txBody>
        </p:sp>
      </p:grpSp>
      <p:grpSp>
        <p:nvGrpSpPr>
          <p:cNvPr id="36" name="35 Grupo"/>
          <p:cNvGrpSpPr/>
          <p:nvPr/>
        </p:nvGrpSpPr>
        <p:grpSpPr>
          <a:xfrm>
            <a:off x="5829531" y="1676425"/>
            <a:ext cx="438876" cy="276999"/>
            <a:chOff x="5429268" y="1677933"/>
            <a:chExt cx="438876" cy="276999"/>
          </a:xfrm>
        </p:grpSpPr>
        <p:sp>
          <p:nvSpPr>
            <p:cNvPr id="42" name="41 Rectángulo"/>
            <p:cNvSpPr/>
            <p:nvPr/>
          </p:nvSpPr>
          <p:spPr bwMode="auto">
            <a:xfrm>
              <a:off x="5492570" y="1708931"/>
              <a:ext cx="291281" cy="216000"/>
            </a:xfrm>
            <a:prstGeom prst="rect">
              <a:avLst/>
            </a:prstGeom>
            <a:solidFill>
              <a:srgbClr val="FF33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3" name="42 Rectángulo"/>
            <p:cNvSpPr/>
            <p:nvPr/>
          </p:nvSpPr>
          <p:spPr>
            <a:xfrm>
              <a:off x="5429268" y="1677933"/>
              <a:ext cx="43887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200" b="1" dirty="0">
                  <a:solidFill>
                    <a:schemeClr val="bg1"/>
                  </a:solidFill>
                </a:rPr>
                <a:t>1s</a:t>
              </a:r>
            </a:p>
          </p:txBody>
        </p:sp>
      </p:grpSp>
      <p:grpSp>
        <p:nvGrpSpPr>
          <p:cNvPr id="49" name="48 Grupo"/>
          <p:cNvGrpSpPr/>
          <p:nvPr/>
        </p:nvGrpSpPr>
        <p:grpSpPr>
          <a:xfrm>
            <a:off x="6916020" y="1676425"/>
            <a:ext cx="438876" cy="276999"/>
            <a:chOff x="5429268" y="1677933"/>
            <a:chExt cx="438876" cy="276999"/>
          </a:xfrm>
        </p:grpSpPr>
        <p:sp>
          <p:nvSpPr>
            <p:cNvPr id="50" name="49 Rectángulo"/>
            <p:cNvSpPr/>
            <p:nvPr/>
          </p:nvSpPr>
          <p:spPr bwMode="auto">
            <a:xfrm>
              <a:off x="5492570" y="1708931"/>
              <a:ext cx="291281" cy="216000"/>
            </a:xfrm>
            <a:prstGeom prst="rect">
              <a:avLst/>
            </a:prstGeom>
            <a:solidFill>
              <a:srgbClr val="FF33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1" name="50 Rectángulo"/>
            <p:cNvSpPr/>
            <p:nvPr/>
          </p:nvSpPr>
          <p:spPr>
            <a:xfrm>
              <a:off x="5429268" y="1677933"/>
              <a:ext cx="43887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200" b="1" dirty="0">
                  <a:solidFill>
                    <a:schemeClr val="bg1"/>
                  </a:solidFill>
                </a:rPr>
                <a:t>4s</a:t>
              </a:r>
            </a:p>
          </p:txBody>
        </p:sp>
      </p:grpSp>
      <p:grpSp>
        <p:nvGrpSpPr>
          <p:cNvPr id="52" name="51 Grupo"/>
          <p:cNvGrpSpPr/>
          <p:nvPr/>
        </p:nvGrpSpPr>
        <p:grpSpPr>
          <a:xfrm>
            <a:off x="6191694" y="1676425"/>
            <a:ext cx="438876" cy="276999"/>
            <a:chOff x="5429268" y="1677933"/>
            <a:chExt cx="438876" cy="276999"/>
          </a:xfrm>
        </p:grpSpPr>
        <p:sp>
          <p:nvSpPr>
            <p:cNvPr id="53" name="52 Rectángulo"/>
            <p:cNvSpPr/>
            <p:nvPr/>
          </p:nvSpPr>
          <p:spPr bwMode="auto">
            <a:xfrm>
              <a:off x="5492570" y="1708931"/>
              <a:ext cx="291281" cy="216000"/>
            </a:xfrm>
            <a:prstGeom prst="rect">
              <a:avLst/>
            </a:prstGeom>
            <a:solidFill>
              <a:srgbClr val="FF33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5" name="54 Rectángulo"/>
            <p:cNvSpPr/>
            <p:nvPr/>
          </p:nvSpPr>
          <p:spPr>
            <a:xfrm>
              <a:off x="5429268" y="1677933"/>
              <a:ext cx="43887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200" b="1" dirty="0">
                  <a:solidFill>
                    <a:schemeClr val="bg1"/>
                  </a:solidFill>
                </a:rPr>
                <a:t>2s</a:t>
              </a:r>
            </a:p>
          </p:txBody>
        </p:sp>
      </p:grpSp>
      <p:grpSp>
        <p:nvGrpSpPr>
          <p:cNvPr id="56" name="55 Grupo"/>
          <p:cNvGrpSpPr/>
          <p:nvPr/>
        </p:nvGrpSpPr>
        <p:grpSpPr>
          <a:xfrm>
            <a:off x="6553857" y="1676425"/>
            <a:ext cx="438876" cy="276999"/>
            <a:chOff x="5429268" y="1677933"/>
            <a:chExt cx="438876" cy="276999"/>
          </a:xfrm>
        </p:grpSpPr>
        <p:sp>
          <p:nvSpPr>
            <p:cNvPr id="58" name="57 Rectángulo"/>
            <p:cNvSpPr/>
            <p:nvPr/>
          </p:nvSpPr>
          <p:spPr bwMode="auto">
            <a:xfrm>
              <a:off x="5492570" y="1708931"/>
              <a:ext cx="291281" cy="216000"/>
            </a:xfrm>
            <a:prstGeom prst="rect">
              <a:avLst/>
            </a:prstGeom>
            <a:solidFill>
              <a:srgbClr val="FF33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0" name="59 Rectángulo"/>
            <p:cNvSpPr/>
            <p:nvPr/>
          </p:nvSpPr>
          <p:spPr>
            <a:xfrm>
              <a:off x="5429268" y="1677933"/>
              <a:ext cx="43887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200" b="1" dirty="0">
                  <a:solidFill>
                    <a:schemeClr val="bg1"/>
                  </a:solidFill>
                </a:rPr>
                <a:t>3s</a:t>
              </a:r>
            </a:p>
          </p:txBody>
        </p:sp>
      </p:grpSp>
      <p:grpSp>
        <p:nvGrpSpPr>
          <p:cNvPr id="64" name="63 Grupo"/>
          <p:cNvGrpSpPr/>
          <p:nvPr/>
        </p:nvGrpSpPr>
        <p:grpSpPr>
          <a:xfrm>
            <a:off x="7278183" y="1676425"/>
            <a:ext cx="438876" cy="276999"/>
            <a:chOff x="5429268" y="1677933"/>
            <a:chExt cx="438876" cy="276999"/>
          </a:xfrm>
        </p:grpSpPr>
        <p:sp>
          <p:nvSpPr>
            <p:cNvPr id="70" name="69 Rectángulo"/>
            <p:cNvSpPr/>
            <p:nvPr/>
          </p:nvSpPr>
          <p:spPr bwMode="auto">
            <a:xfrm>
              <a:off x="5492570" y="1708931"/>
              <a:ext cx="291281" cy="216000"/>
            </a:xfrm>
            <a:prstGeom prst="rect">
              <a:avLst/>
            </a:prstGeom>
            <a:solidFill>
              <a:srgbClr val="FF33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71" name="70 Rectángulo"/>
            <p:cNvSpPr/>
            <p:nvPr/>
          </p:nvSpPr>
          <p:spPr>
            <a:xfrm>
              <a:off x="5429268" y="1677933"/>
              <a:ext cx="43887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200" b="1" dirty="0">
                  <a:solidFill>
                    <a:schemeClr val="bg1"/>
                  </a:solidFill>
                </a:rPr>
                <a:t>5s</a:t>
              </a:r>
            </a:p>
          </p:txBody>
        </p:sp>
      </p:grpSp>
      <p:grpSp>
        <p:nvGrpSpPr>
          <p:cNvPr id="72" name="71 Grupo"/>
          <p:cNvGrpSpPr/>
          <p:nvPr/>
        </p:nvGrpSpPr>
        <p:grpSpPr>
          <a:xfrm>
            <a:off x="8002506" y="1676425"/>
            <a:ext cx="438876" cy="276999"/>
            <a:chOff x="5429268" y="1677933"/>
            <a:chExt cx="438876" cy="276999"/>
          </a:xfrm>
        </p:grpSpPr>
        <p:sp>
          <p:nvSpPr>
            <p:cNvPr id="73" name="72 Rectángulo"/>
            <p:cNvSpPr/>
            <p:nvPr/>
          </p:nvSpPr>
          <p:spPr bwMode="auto">
            <a:xfrm>
              <a:off x="5492570" y="1708931"/>
              <a:ext cx="291281" cy="216000"/>
            </a:xfrm>
            <a:prstGeom prst="rect">
              <a:avLst/>
            </a:prstGeom>
            <a:solidFill>
              <a:srgbClr val="FF33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74" name="73 Rectángulo"/>
            <p:cNvSpPr/>
            <p:nvPr/>
          </p:nvSpPr>
          <p:spPr>
            <a:xfrm>
              <a:off x="5429268" y="1677933"/>
              <a:ext cx="43887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200" b="1" dirty="0">
                  <a:solidFill>
                    <a:schemeClr val="bg1"/>
                  </a:solidFill>
                </a:rPr>
                <a:t>59s</a:t>
              </a:r>
            </a:p>
          </p:txBody>
        </p:sp>
      </p:grpSp>
      <p:grpSp>
        <p:nvGrpSpPr>
          <p:cNvPr id="75" name="74 Grupo"/>
          <p:cNvGrpSpPr/>
          <p:nvPr/>
        </p:nvGrpSpPr>
        <p:grpSpPr>
          <a:xfrm>
            <a:off x="7640346" y="1676425"/>
            <a:ext cx="438876" cy="276999"/>
            <a:chOff x="5429268" y="1677933"/>
            <a:chExt cx="438876" cy="276999"/>
          </a:xfrm>
        </p:grpSpPr>
        <p:sp>
          <p:nvSpPr>
            <p:cNvPr id="76" name="75 Rectángulo"/>
            <p:cNvSpPr/>
            <p:nvPr/>
          </p:nvSpPr>
          <p:spPr bwMode="auto">
            <a:xfrm>
              <a:off x="5492570" y="1708931"/>
              <a:ext cx="291281" cy="216000"/>
            </a:xfrm>
            <a:prstGeom prst="rect">
              <a:avLst/>
            </a:prstGeom>
            <a:solidFill>
              <a:srgbClr val="FF33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77" name="76 Rectángulo"/>
            <p:cNvSpPr/>
            <p:nvPr/>
          </p:nvSpPr>
          <p:spPr>
            <a:xfrm>
              <a:off x="5429268" y="1677933"/>
              <a:ext cx="43887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200" b="1" dirty="0">
                  <a:solidFill>
                    <a:schemeClr val="bg1"/>
                  </a:solidFill>
                </a:rPr>
                <a:t>…</a:t>
              </a:r>
            </a:p>
          </p:txBody>
        </p:sp>
      </p:grpSp>
      <p:grpSp>
        <p:nvGrpSpPr>
          <p:cNvPr id="78" name="77 Grupo"/>
          <p:cNvGrpSpPr/>
          <p:nvPr/>
        </p:nvGrpSpPr>
        <p:grpSpPr>
          <a:xfrm>
            <a:off x="4884491" y="2003431"/>
            <a:ext cx="3503933" cy="281344"/>
            <a:chOff x="4884491" y="1674365"/>
            <a:chExt cx="3503933" cy="281344"/>
          </a:xfrm>
        </p:grpSpPr>
        <p:sp>
          <p:nvSpPr>
            <p:cNvPr id="79" name="78 Rectángulo"/>
            <p:cNvSpPr/>
            <p:nvPr/>
          </p:nvSpPr>
          <p:spPr bwMode="auto">
            <a:xfrm>
              <a:off x="4900680" y="1674365"/>
              <a:ext cx="3487744" cy="281344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0" name="79 Rectángulo"/>
            <p:cNvSpPr/>
            <p:nvPr/>
          </p:nvSpPr>
          <p:spPr>
            <a:xfrm>
              <a:off x="4884491" y="1675730"/>
              <a:ext cx="58702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1200" b="1" dirty="0">
                  <a:solidFill>
                    <a:schemeClr val="bg1"/>
                  </a:solidFill>
                </a:rPr>
                <a:t>1 min</a:t>
              </a:r>
            </a:p>
          </p:txBody>
        </p:sp>
      </p:grpSp>
      <p:grpSp>
        <p:nvGrpSpPr>
          <p:cNvPr id="81" name="80 Grupo"/>
          <p:cNvGrpSpPr/>
          <p:nvPr/>
        </p:nvGrpSpPr>
        <p:grpSpPr>
          <a:xfrm>
            <a:off x="4884491" y="2332497"/>
            <a:ext cx="3503933" cy="281344"/>
            <a:chOff x="4884491" y="1674365"/>
            <a:chExt cx="3503933" cy="281344"/>
          </a:xfrm>
        </p:grpSpPr>
        <p:sp>
          <p:nvSpPr>
            <p:cNvPr id="82" name="81 Rectángulo"/>
            <p:cNvSpPr/>
            <p:nvPr/>
          </p:nvSpPr>
          <p:spPr bwMode="auto">
            <a:xfrm>
              <a:off x="4900680" y="1674365"/>
              <a:ext cx="3487744" cy="281344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3" name="82 Rectángulo"/>
            <p:cNvSpPr/>
            <p:nvPr/>
          </p:nvSpPr>
          <p:spPr>
            <a:xfrm>
              <a:off x="4884491" y="1675730"/>
              <a:ext cx="58702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1200" b="1" dirty="0">
                  <a:solidFill>
                    <a:schemeClr val="bg1"/>
                  </a:solidFill>
                </a:rPr>
                <a:t>2 min</a:t>
              </a:r>
            </a:p>
          </p:txBody>
        </p:sp>
      </p:grpSp>
      <p:grpSp>
        <p:nvGrpSpPr>
          <p:cNvPr id="84" name="83 Grupo"/>
          <p:cNvGrpSpPr/>
          <p:nvPr/>
        </p:nvGrpSpPr>
        <p:grpSpPr>
          <a:xfrm>
            <a:off x="4884491" y="2661563"/>
            <a:ext cx="3503933" cy="281344"/>
            <a:chOff x="4884491" y="1674365"/>
            <a:chExt cx="3503933" cy="281344"/>
          </a:xfrm>
        </p:grpSpPr>
        <p:sp>
          <p:nvSpPr>
            <p:cNvPr id="85" name="84 Rectángulo"/>
            <p:cNvSpPr/>
            <p:nvPr/>
          </p:nvSpPr>
          <p:spPr bwMode="auto">
            <a:xfrm>
              <a:off x="4900680" y="1674365"/>
              <a:ext cx="3487744" cy="281344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6" name="85 Rectángulo"/>
            <p:cNvSpPr/>
            <p:nvPr/>
          </p:nvSpPr>
          <p:spPr>
            <a:xfrm>
              <a:off x="4884491" y="1675730"/>
              <a:ext cx="65594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1200" b="1" dirty="0">
                  <a:solidFill>
                    <a:schemeClr val="bg1"/>
                  </a:solidFill>
                </a:rPr>
                <a:t>… min</a:t>
              </a:r>
            </a:p>
          </p:txBody>
        </p:sp>
      </p:grpSp>
      <p:grpSp>
        <p:nvGrpSpPr>
          <p:cNvPr id="87" name="86 Grupo"/>
          <p:cNvGrpSpPr/>
          <p:nvPr/>
        </p:nvGrpSpPr>
        <p:grpSpPr>
          <a:xfrm>
            <a:off x="4884491" y="2990630"/>
            <a:ext cx="3503933" cy="281344"/>
            <a:chOff x="4884491" y="1674365"/>
            <a:chExt cx="3503933" cy="281344"/>
          </a:xfrm>
        </p:grpSpPr>
        <p:sp>
          <p:nvSpPr>
            <p:cNvPr id="88" name="87 Rectángulo"/>
            <p:cNvSpPr/>
            <p:nvPr/>
          </p:nvSpPr>
          <p:spPr bwMode="auto">
            <a:xfrm>
              <a:off x="4900680" y="1674365"/>
              <a:ext cx="3487744" cy="281344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9" name="88 Rectángulo"/>
            <p:cNvSpPr/>
            <p:nvPr/>
          </p:nvSpPr>
          <p:spPr>
            <a:xfrm>
              <a:off x="4884491" y="1675730"/>
              <a:ext cx="67197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1200" b="1" dirty="0">
                  <a:solidFill>
                    <a:schemeClr val="bg1"/>
                  </a:solidFill>
                </a:rPr>
                <a:t>59 min</a:t>
              </a:r>
            </a:p>
          </p:txBody>
        </p:sp>
      </p:grpSp>
      <p:sp>
        <p:nvSpPr>
          <p:cNvPr id="90" name="89 Rectángulo"/>
          <p:cNvSpPr/>
          <p:nvPr/>
        </p:nvSpPr>
        <p:spPr>
          <a:xfrm>
            <a:off x="677455" y="5013642"/>
            <a:ext cx="36865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400" b="1" dirty="0">
                <a:solidFill>
                  <a:srgbClr val="0070C0"/>
                </a:solidFill>
              </a:rPr>
              <a:t>     </a:t>
            </a:r>
            <a:r>
              <a:rPr lang="es-ES" sz="1400" b="1" dirty="0" err="1">
                <a:solidFill>
                  <a:srgbClr val="0070C0"/>
                </a:solidFill>
              </a:rPr>
              <a:t>for</a:t>
            </a:r>
            <a:r>
              <a:rPr lang="es-ES" sz="1400" b="1" dirty="0">
                <a:solidFill>
                  <a:srgbClr val="0070C0"/>
                </a:solidFill>
              </a:rPr>
              <a:t>( </a:t>
            </a:r>
            <a:r>
              <a:rPr lang="es-ES" sz="1400" b="1" dirty="0" err="1">
                <a:solidFill>
                  <a:srgbClr val="FFC000"/>
                </a:solidFill>
              </a:rPr>
              <a:t>int</a:t>
            </a:r>
            <a:r>
              <a:rPr lang="es-ES" sz="1400" b="1" dirty="0">
                <a:solidFill>
                  <a:srgbClr val="FFC000"/>
                </a:solidFill>
              </a:rPr>
              <a:t> </a:t>
            </a:r>
            <a:r>
              <a:rPr lang="es-ES" sz="1400" b="1" dirty="0" err="1">
                <a:solidFill>
                  <a:srgbClr val="FFC000"/>
                </a:solidFill>
              </a:rPr>
              <a:t>seg</a:t>
            </a:r>
            <a:r>
              <a:rPr lang="es-ES" sz="1400" b="1" dirty="0">
                <a:solidFill>
                  <a:srgbClr val="FFC000"/>
                </a:solidFill>
              </a:rPr>
              <a:t> = 0; </a:t>
            </a:r>
            <a:r>
              <a:rPr lang="es-ES" sz="1400" b="1" dirty="0" err="1">
                <a:solidFill>
                  <a:srgbClr val="99FF66"/>
                </a:solidFill>
              </a:rPr>
              <a:t>seg</a:t>
            </a:r>
            <a:r>
              <a:rPr lang="es-ES" sz="1400" b="1" dirty="0">
                <a:solidFill>
                  <a:srgbClr val="99FF66"/>
                </a:solidFill>
              </a:rPr>
              <a:t> &lt; 60; </a:t>
            </a:r>
            <a:r>
              <a:rPr lang="es-ES" sz="1400" b="1" dirty="0" err="1">
                <a:solidFill>
                  <a:schemeClr val="accent5"/>
                </a:solidFill>
              </a:rPr>
              <a:t>seg</a:t>
            </a:r>
            <a:r>
              <a:rPr lang="es-ES" sz="1400" b="1" dirty="0">
                <a:solidFill>
                  <a:schemeClr val="accent5"/>
                </a:solidFill>
              </a:rPr>
              <a:t>++</a:t>
            </a:r>
            <a:r>
              <a:rPr lang="es-ES" sz="1400" b="1" dirty="0">
                <a:solidFill>
                  <a:srgbClr val="99FF66"/>
                </a:solidFill>
              </a:rPr>
              <a:t> </a:t>
            </a:r>
            <a:r>
              <a:rPr lang="es-ES" sz="1400" b="1" dirty="0">
                <a:solidFill>
                  <a:srgbClr val="0070C0"/>
                </a:solidFill>
              </a:rPr>
              <a:t>) {</a:t>
            </a:r>
          </a:p>
          <a:p>
            <a:r>
              <a:rPr lang="es-ES" sz="1400" dirty="0">
                <a:solidFill>
                  <a:srgbClr val="000000"/>
                </a:solidFill>
              </a:rPr>
              <a:t>          </a:t>
            </a:r>
            <a:r>
              <a:rPr lang="es-ES" sz="1400" dirty="0" err="1">
                <a:solidFill>
                  <a:srgbClr val="000000"/>
                </a:solidFill>
              </a:rPr>
              <a:t>System.out.println</a:t>
            </a:r>
            <a:r>
              <a:rPr lang="es-ES" sz="1400" dirty="0">
                <a:solidFill>
                  <a:srgbClr val="000000"/>
                </a:solidFill>
              </a:rPr>
              <a:t>(</a:t>
            </a:r>
            <a:r>
              <a:rPr lang="es-ES" sz="1400" dirty="0" err="1">
                <a:solidFill>
                  <a:srgbClr val="FFC000"/>
                </a:solidFill>
              </a:rPr>
              <a:t>seg</a:t>
            </a:r>
            <a:r>
              <a:rPr lang="es-ES" sz="1400" dirty="0">
                <a:solidFill>
                  <a:srgbClr val="FFC000"/>
                </a:solidFill>
              </a:rPr>
              <a:t> </a:t>
            </a:r>
            <a:r>
              <a:rPr lang="es-ES" sz="1400" dirty="0">
                <a:solidFill>
                  <a:srgbClr val="000000"/>
                </a:solidFill>
              </a:rPr>
              <a:t>+"segundos" );</a:t>
            </a:r>
          </a:p>
          <a:p>
            <a:r>
              <a:rPr lang="es-ES" sz="1400" b="1" dirty="0">
                <a:solidFill>
                  <a:srgbClr val="0070C0"/>
                </a:solidFill>
              </a:rPr>
              <a:t>     }</a:t>
            </a:r>
          </a:p>
        </p:txBody>
      </p:sp>
      <p:sp>
        <p:nvSpPr>
          <p:cNvPr id="91" name="90 Rectángulo"/>
          <p:cNvSpPr/>
          <p:nvPr/>
        </p:nvSpPr>
        <p:spPr bwMode="auto">
          <a:xfrm>
            <a:off x="4722129" y="3933056"/>
            <a:ext cx="3810311" cy="201622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2" name="91 Rectángulo"/>
          <p:cNvSpPr/>
          <p:nvPr/>
        </p:nvSpPr>
        <p:spPr>
          <a:xfrm>
            <a:off x="4797549" y="4149080"/>
            <a:ext cx="368651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400" b="1" dirty="0" err="1">
                <a:solidFill>
                  <a:srgbClr val="0070C0"/>
                </a:solidFill>
              </a:rPr>
              <a:t>for</a:t>
            </a:r>
            <a:r>
              <a:rPr lang="es-ES" sz="1400" b="1" dirty="0">
                <a:solidFill>
                  <a:srgbClr val="0070C0"/>
                </a:solidFill>
              </a:rPr>
              <a:t>( </a:t>
            </a:r>
            <a:r>
              <a:rPr lang="es-ES" sz="1400" b="1" dirty="0" err="1">
                <a:solidFill>
                  <a:srgbClr val="FFC000"/>
                </a:solidFill>
              </a:rPr>
              <a:t>int</a:t>
            </a:r>
            <a:r>
              <a:rPr lang="es-ES" sz="1400" b="1" dirty="0">
                <a:solidFill>
                  <a:srgbClr val="FFC000"/>
                </a:solidFill>
              </a:rPr>
              <a:t> min = 0; </a:t>
            </a:r>
            <a:r>
              <a:rPr lang="es-ES" sz="1400" b="1" dirty="0">
                <a:solidFill>
                  <a:srgbClr val="99FF66"/>
                </a:solidFill>
              </a:rPr>
              <a:t>min &lt; 60; </a:t>
            </a:r>
            <a:r>
              <a:rPr lang="es-ES" sz="1400" b="1" dirty="0">
                <a:solidFill>
                  <a:schemeClr val="accent5"/>
                </a:solidFill>
              </a:rPr>
              <a:t>min++</a:t>
            </a:r>
            <a:r>
              <a:rPr lang="es-ES" sz="1400" b="1" dirty="0">
                <a:solidFill>
                  <a:srgbClr val="99FF66"/>
                </a:solidFill>
              </a:rPr>
              <a:t> </a:t>
            </a:r>
            <a:r>
              <a:rPr lang="es-ES" sz="1400" b="1" dirty="0">
                <a:solidFill>
                  <a:srgbClr val="0070C0"/>
                </a:solidFill>
              </a:rPr>
              <a:t>) {</a:t>
            </a:r>
          </a:p>
          <a:p>
            <a:endParaRPr lang="es-ES" sz="1400" dirty="0">
              <a:solidFill>
                <a:srgbClr val="000000"/>
              </a:solidFill>
            </a:endParaRPr>
          </a:p>
          <a:p>
            <a:r>
              <a:rPr lang="es-ES" sz="1400" b="1" dirty="0">
                <a:solidFill>
                  <a:srgbClr val="0070C0"/>
                </a:solidFill>
              </a:rPr>
              <a:t>     </a:t>
            </a:r>
            <a:r>
              <a:rPr lang="es-ES" sz="1400" b="1" dirty="0" err="1">
                <a:solidFill>
                  <a:srgbClr val="0070C0"/>
                </a:solidFill>
              </a:rPr>
              <a:t>for</a:t>
            </a:r>
            <a:r>
              <a:rPr lang="es-ES" sz="1400" b="1" dirty="0">
                <a:solidFill>
                  <a:srgbClr val="0070C0"/>
                </a:solidFill>
              </a:rPr>
              <a:t>( </a:t>
            </a:r>
            <a:r>
              <a:rPr lang="es-ES" sz="1400" b="1" dirty="0" err="1">
                <a:solidFill>
                  <a:srgbClr val="FFC000"/>
                </a:solidFill>
              </a:rPr>
              <a:t>int</a:t>
            </a:r>
            <a:r>
              <a:rPr lang="es-ES" sz="1400" b="1" dirty="0">
                <a:solidFill>
                  <a:srgbClr val="FFC000"/>
                </a:solidFill>
              </a:rPr>
              <a:t> </a:t>
            </a:r>
            <a:r>
              <a:rPr lang="es-ES" sz="1400" b="1" dirty="0" err="1">
                <a:solidFill>
                  <a:srgbClr val="FFC000"/>
                </a:solidFill>
              </a:rPr>
              <a:t>seg</a:t>
            </a:r>
            <a:r>
              <a:rPr lang="es-ES" sz="1400" b="1" dirty="0">
                <a:solidFill>
                  <a:srgbClr val="FFC000"/>
                </a:solidFill>
              </a:rPr>
              <a:t> = 0; </a:t>
            </a:r>
            <a:r>
              <a:rPr lang="es-ES" sz="1400" b="1" dirty="0" err="1">
                <a:solidFill>
                  <a:srgbClr val="99FF66"/>
                </a:solidFill>
              </a:rPr>
              <a:t>seg</a:t>
            </a:r>
            <a:r>
              <a:rPr lang="es-ES" sz="1400" b="1" dirty="0">
                <a:solidFill>
                  <a:srgbClr val="99FF66"/>
                </a:solidFill>
              </a:rPr>
              <a:t> &lt; 60; </a:t>
            </a:r>
            <a:r>
              <a:rPr lang="es-ES" sz="1400" b="1" dirty="0" err="1">
                <a:solidFill>
                  <a:schemeClr val="accent5"/>
                </a:solidFill>
              </a:rPr>
              <a:t>seg</a:t>
            </a:r>
            <a:r>
              <a:rPr lang="es-ES" sz="1400" b="1" dirty="0">
                <a:solidFill>
                  <a:schemeClr val="accent5"/>
                </a:solidFill>
              </a:rPr>
              <a:t>++</a:t>
            </a:r>
            <a:r>
              <a:rPr lang="es-ES" sz="1400" b="1" dirty="0">
                <a:solidFill>
                  <a:srgbClr val="99FF66"/>
                </a:solidFill>
              </a:rPr>
              <a:t> </a:t>
            </a:r>
            <a:r>
              <a:rPr lang="es-ES" sz="1400" b="1" dirty="0">
                <a:solidFill>
                  <a:srgbClr val="0070C0"/>
                </a:solidFill>
              </a:rPr>
              <a:t>) {</a:t>
            </a:r>
          </a:p>
          <a:p>
            <a:r>
              <a:rPr lang="es-ES" sz="1400" dirty="0">
                <a:solidFill>
                  <a:srgbClr val="000000"/>
                </a:solidFill>
              </a:rPr>
              <a:t>          </a:t>
            </a:r>
            <a:r>
              <a:rPr lang="es-ES" sz="1400" dirty="0" err="1">
                <a:solidFill>
                  <a:srgbClr val="000000"/>
                </a:solidFill>
              </a:rPr>
              <a:t>System.out.println</a:t>
            </a:r>
            <a:r>
              <a:rPr lang="es-ES" sz="1400" dirty="0">
                <a:solidFill>
                  <a:srgbClr val="000000"/>
                </a:solidFill>
              </a:rPr>
              <a:t>(</a:t>
            </a:r>
            <a:r>
              <a:rPr lang="es-ES" sz="1400" dirty="0">
                <a:solidFill>
                  <a:srgbClr val="FFC000"/>
                </a:solidFill>
              </a:rPr>
              <a:t>min</a:t>
            </a:r>
            <a:r>
              <a:rPr lang="es-ES" sz="1400" dirty="0">
                <a:solidFill>
                  <a:srgbClr val="000000"/>
                </a:solidFill>
              </a:rPr>
              <a:t>+":"+</a:t>
            </a:r>
            <a:r>
              <a:rPr lang="es-ES" sz="1400" dirty="0" err="1">
                <a:solidFill>
                  <a:srgbClr val="FFC000"/>
                </a:solidFill>
              </a:rPr>
              <a:t>seg</a:t>
            </a:r>
            <a:r>
              <a:rPr lang="es-ES" sz="1400" dirty="0">
                <a:solidFill>
                  <a:srgbClr val="000000"/>
                </a:solidFill>
              </a:rPr>
              <a:t> );</a:t>
            </a:r>
          </a:p>
          <a:p>
            <a:r>
              <a:rPr lang="es-ES" sz="1400" b="1" dirty="0">
                <a:solidFill>
                  <a:srgbClr val="0070C0"/>
                </a:solidFill>
              </a:rPr>
              <a:t>     }</a:t>
            </a:r>
          </a:p>
          <a:p>
            <a:endParaRPr lang="es-ES" sz="1400" dirty="0">
              <a:solidFill>
                <a:srgbClr val="000000"/>
              </a:solidFill>
            </a:endParaRPr>
          </a:p>
          <a:p>
            <a:r>
              <a:rPr lang="es-ES" sz="1400" b="1" dirty="0">
                <a:solidFill>
                  <a:srgbClr val="0070C0"/>
                </a:solidFill>
              </a:rPr>
              <a:t>}</a:t>
            </a:r>
          </a:p>
        </p:txBody>
      </p:sp>
      <p:sp>
        <p:nvSpPr>
          <p:cNvPr id="93" name="92 Rectángulo"/>
          <p:cNvSpPr/>
          <p:nvPr/>
        </p:nvSpPr>
        <p:spPr>
          <a:xfrm>
            <a:off x="4788024" y="5013642"/>
            <a:ext cx="368651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400" b="1" dirty="0">
                <a:solidFill>
                  <a:srgbClr val="0070C0"/>
                </a:solidFill>
              </a:rPr>
              <a:t>     </a:t>
            </a:r>
          </a:p>
        </p:txBody>
      </p:sp>
      <p:grpSp>
        <p:nvGrpSpPr>
          <p:cNvPr id="97" name="96 Grupo"/>
          <p:cNvGrpSpPr/>
          <p:nvPr/>
        </p:nvGrpSpPr>
        <p:grpSpPr>
          <a:xfrm>
            <a:off x="4884491" y="2007890"/>
            <a:ext cx="3503933" cy="281344"/>
            <a:chOff x="4884491" y="1674365"/>
            <a:chExt cx="3503933" cy="281344"/>
          </a:xfrm>
        </p:grpSpPr>
        <p:sp>
          <p:nvSpPr>
            <p:cNvPr id="98" name="97 Rectángulo"/>
            <p:cNvSpPr/>
            <p:nvPr/>
          </p:nvSpPr>
          <p:spPr bwMode="auto">
            <a:xfrm>
              <a:off x="4900680" y="1674365"/>
              <a:ext cx="3487744" cy="281344"/>
            </a:xfrm>
            <a:prstGeom prst="rect">
              <a:avLst/>
            </a:prstGeom>
            <a:solidFill>
              <a:srgbClr val="00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9" name="98 Rectángulo"/>
            <p:cNvSpPr/>
            <p:nvPr/>
          </p:nvSpPr>
          <p:spPr>
            <a:xfrm>
              <a:off x="4884491" y="1675730"/>
              <a:ext cx="58702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1200" b="1" dirty="0">
                  <a:solidFill>
                    <a:schemeClr val="bg1"/>
                  </a:solidFill>
                </a:rPr>
                <a:t>1 min</a:t>
              </a:r>
            </a:p>
          </p:txBody>
        </p:sp>
      </p:grpSp>
      <p:grpSp>
        <p:nvGrpSpPr>
          <p:cNvPr id="100" name="99 Grupo"/>
          <p:cNvGrpSpPr/>
          <p:nvPr/>
        </p:nvGrpSpPr>
        <p:grpSpPr>
          <a:xfrm>
            <a:off x="4884491" y="2336518"/>
            <a:ext cx="3503933" cy="281344"/>
            <a:chOff x="4884491" y="1674365"/>
            <a:chExt cx="3503933" cy="281344"/>
          </a:xfrm>
        </p:grpSpPr>
        <p:sp>
          <p:nvSpPr>
            <p:cNvPr id="101" name="100 Rectángulo"/>
            <p:cNvSpPr/>
            <p:nvPr/>
          </p:nvSpPr>
          <p:spPr bwMode="auto">
            <a:xfrm>
              <a:off x="4900680" y="1674365"/>
              <a:ext cx="3487744" cy="281344"/>
            </a:xfrm>
            <a:prstGeom prst="rect">
              <a:avLst/>
            </a:prstGeom>
            <a:solidFill>
              <a:srgbClr val="00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2" name="101 Rectángulo"/>
            <p:cNvSpPr/>
            <p:nvPr/>
          </p:nvSpPr>
          <p:spPr>
            <a:xfrm>
              <a:off x="4884491" y="1675730"/>
              <a:ext cx="58702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1200" b="1" dirty="0">
                  <a:solidFill>
                    <a:schemeClr val="bg1"/>
                  </a:solidFill>
                </a:rPr>
                <a:t>2 min</a:t>
              </a:r>
            </a:p>
          </p:txBody>
        </p:sp>
      </p:grpSp>
      <p:grpSp>
        <p:nvGrpSpPr>
          <p:cNvPr id="103" name="102 Grupo"/>
          <p:cNvGrpSpPr/>
          <p:nvPr/>
        </p:nvGrpSpPr>
        <p:grpSpPr>
          <a:xfrm>
            <a:off x="5467368" y="1999873"/>
            <a:ext cx="438876" cy="276999"/>
            <a:chOff x="5429268" y="1677933"/>
            <a:chExt cx="438876" cy="276999"/>
          </a:xfrm>
        </p:grpSpPr>
        <p:sp>
          <p:nvSpPr>
            <p:cNvPr id="104" name="103 Rectángulo"/>
            <p:cNvSpPr/>
            <p:nvPr/>
          </p:nvSpPr>
          <p:spPr bwMode="auto">
            <a:xfrm>
              <a:off x="5492570" y="1708931"/>
              <a:ext cx="291281" cy="216000"/>
            </a:xfrm>
            <a:prstGeom prst="rect">
              <a:avLst/>
            </a:prstGeom>
            <a:solidFill>
              <a:srgbClr val="FF33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5" name="104 Rectángulo"/>
            <p:cNvSpPr/>
            <p:nvPr/>
          </p:nvSpPr>
          <p:spPr>
            <a:xfrm>
              <a:off x="5429268" y="1677933"/>
              <a:ext cx="43887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200" b="1" dirty="0">
                  <a:solidFill>
                    <a:schemeClr val="bg1"/>
                  </a:solidFill>
                </a:rPr>
                <a:t>0s</a:t>
              </a:r>
            </a:p>
          </p:txBody>
        </p:sp>
      </p:grpSp>
      <p:grpSp>
        <p:nvGrpSpPr>
          <p:cNvPr id="106" name="105 Grupo"/>
          <p:cNvGrpSpPr/>
          <p:nvPr/>
        </p:nvGrpSpPr>
        <p:grpSpPr>
          <a:xfrm>
            <a:off x="5829531" y="1999873"/>
            <a:ext cx="438876" cy="276999"/>
            <a:chOff x="5429268" y="1677933"/>
            <a:chExt cx="438876" cy="276999"/>
          </a:xfrm>
        </p:grpSpPr>
        <p:sp>
          <p:nvSpPr>
            <p:cNvPr id="107" name="106 Rectángulo"/>
            <p:cNvSpPr/>
            <p:nvPr/>
          </p:nvSpPr>
          <p:spPr bwMode="auto">
            <a:xfrm>
              <a:off x="5492570" y="1708931"/>
              <a:ext cx="291281" cy="216000"/>
            </a:xfrm>
            <a:prstGeom prst="rect">
              <a:avLst/>
            </a:prstGeom>
            <a:solidFill>
              <a:srgbClr val="FF33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8" name="107 Rectángulo"/>
            <p:cNvSpPr/>
            <p:nvPr/>
          </p:nvSpPr>
          <p:spPr>
            <a:xfrm>
              <a:off x="5429268" y="1677933"/>
              <a:ext cx="43887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200" b="1" dirty="0">
                  <a:solidFill>
                    <a:schemeClr val="bg1"/>
                  </a:solidFill>
                </a:rPr>
                <a:t>1s</a:t>
              </a:r>
            </a:p>
          </p:txBody>
        </p:sp>
      </p:grpSp>
      <p:grpSp>
        <p:nvGrpSpPr>
          <p:cNvPr id="109" name="108 Grupo"/>
          <p:cNvGrpSpPr/>
          <p:nvPr/>
        </p:nvGrpSpPr>
        <p:grpSpPr>
          <a:xfrm>
            <a:off x="6916020" y="1999873"/>
            <a:ext cx="438876" cy="276999"/>
            <a:chOff x="5429268" y="1677933"/>
            <a:chExt cx="438876" cy="276999"/>
          </a:xfrm>
        </p:grpSpPr>
        <p:sp>
          <p:nvSpPr>
            <p:cNvPr id="110" name="109 Rectángulo"/>
            <p:cNvSpPr/>
            <p:nvPr/>
          </p:nvSpPr>
          <p:spPr bwMode="auto">
            <a:xfrm>
              <a:off x="5492570" y="1708931"/>
              <a:ext cx="291281" cy="216000"/>
            </a:xfrm>
            <a:prstGeom prst="rect">
              <a:avLst/>
            </a:prstGeom>
            <a:solidFill>
              <a:srgbClr val="FF33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1" name="110 Rectángulo"/>
            <p:cNvSpPr/>
            <p:nvPr/>
          </p:nvSpPr>
          <p:spPr>
            <a:xfrm>
              <a:off x="5429268" y="1677933"/>
              <a:ext cx="43887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200" b="1" dirty="0">
                  <a:solidFill>
                    <a:schemeClr val="bg1"/>
                  </a:solidFill>
                </a:rPr>
                <a:t>4s</a:t>
              </a:r>
            </a:p>
          </p:txBody>
        </p:sp>
      </p:grpSp>
      <p:grpSp>
        <p:nvGrpSpPr>
          <p:cNvPr id="112" name="111 Grupo"/>
          <p:cNvGrpSpPr/>
          <p:nvPr/>
        </p:nvGrpSpPr>
        <p:grpSpPr>
          <a:xfrm>
            <a:off x="6191694" y="1999873"/>
            <a:ext cx="438876" cy="276999"/>
            <a:chOff x="5429268" y="1677933"/>
            <a:chExt cx="438876" cy="276999"/>
          </a:xfrm>
        </p:grpSpPr>
        <p:sp>
          <p:nvSpPr>
            <p:cNvPr id="113" name="112 Rectángulo"/>
            <p:cNvSpPr/>
            <p:nvPr/>
          </p:nvSpPr>
          <p:spPr bwMode="auto">
            <a:xfrm>
              <a:off x="5492570" y="1708931"/>
              <a:ext cx="291281" cy="216000"/>
            </a:xfrm>
            <a:prstGeom prst="rect">
              <a:avLst/>
            </a:prstGeom>
            <a:solidFill>
              <a:srgbClr val="FF33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4" name="113 Rectángulo"/>
            <p:cNvSpPr/>
            <p:nvPr/>
          </p:nvSpPr>
          <p:spPr>
            <a:xfrm>
              <a:off x="5429268" y="1677933"/>
              <a:ext cx="43887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200" b="1" dirty="0">
                  <a:solidFill>
                    <a:schemeClr val="bg1"/>
                  </a:solidFill>
                </a:rPr>
                <a:t>2s</a:t>
              </a:r>
            </a:p>
          </p:txBody>
        </p:sp>
      </p:grpSp>
      <p:grpSp>
        <p:nvGrpSpPr>
          <p:cNvPr id="115" name="114 Grupo"/>
          <p:cNvGrpSpPr/>
          <p:nvPr/>
        </p:nvGrpSpPr>
        <p:grpSpPr>
          <a:xfrm>
            <a:off x="6553857" y="1999873"/>
            <a:ext cx="438876" cy="276999"/>
            <a:chOff x="5429268" y="1677933"/>
            <a:chExt cx="438876" cy="276999"/>
          </a:xfrm>
        </p:grpSpPr>
        <p:sp>
          <p:nvSpPr>
            <p:cNvPr id="116" name="115 Rectángulo"/>
            <p:cNvSpPr/>
            <p:nvPr/>
          </p:nvSpPr>
          <p:spPr bwMode="auto">
            <a:xfrm>
              <a:off x="5492570" y="1708931"/>
              <a:ext cx="291281" cy="216000"/>
            </a:xfrm>
            <a:prstGeom prst="rect">
              <a:avLst/>
            </a:prstGeom>
            <a:solidFill>
              <a:srgbClr val="FF33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7" name="116 Rectángulo"/>
            <p:cNvSpPr/>
            <p:nvPr/>
          </p:nvSpPr>
          <p:spPr>
            <a:xfrm>
              <a:off x="5429268" y="1677933"/>
              <a:ext cx="43887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200" b="1" dirty="0">
                  <a:solidFill>
                    <a:schemeClr val="bg1"/>
                  </a:solidFill>
                </a:rPr>
                <a:t>3s</a:t>
              </a:r>
            </a:p>
          </p:txBody>
        </p:sp>
      </p:grpSp>
      <p:grpSp>
        <p:nvGrpSpPr>
          <p:cNvPr id="118" name="117 Grupo"/>
          <p:cNvGrpSpPr/>
          <p:nvPr/>
        </p:nvGrpSpPr>
        <p:grpSpPr>
          <a:xfrm>
            <a:off x="7278183" y="1999873"/>
            <a:ext cx="438876" cy="276999"/>
            <a:chOff x="5429268" y="1677933"/>
            <a:chExt cx="438876" cy="276999"/>
          </a:xfrm>
        </p:grpSpPr>
        <p:sp>
          <p:nvSpPr>
            <p:cNvPr id="119" name="118 Rectángulo"/>
            <p:cNvSpPr/>
            <p:nvPr/>
          </p:nvSpPr>
          <p:spPr bwMode="auto">
            <a:xfrm>
              <a:off x="5492570" y="1708931"/>
              <a:ext cx="291281" cy="216000"/>
            </a:xfrm>
            <a:prstGeom prst="rect">
              <a:avLst/>
            </a:prstGeom>
            <a:solidFill>
              <a:srgbClr val="FF33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0" name="119 Rectángulo"/>
            <p:cNvSpPr/>
            <p:nvPr/>
          </p:nvSpPr>
          <p:spPr>
            <a:xfrm>
              <a:off x="5429268" y="1677933"/>
              <a:ext cx="43887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200" b="1" dirty="0">
                  <a:solidFill>
                    <a:schemeClr val="bg1"/>
                  </a:solidFill>
                </a:rPr>
                <a:t>5s</a:t>
              </a:r>
            </a:p>
          </p:txBody>
        </p:sp>
      </p:grpSp>
      <p:grpSp>
        <p:nvGrpSpPr>
          <p:cNvPr id="121" name="120 Grupo"/>
          <p:cNvGrpSpPr/>
          <p:nvPr/>
        </p:nvGrpSpPr>
        <p:grpSpPr>
          <a:xfrm>
            <a:off x="8002506" y="1999873"/>
            <a:ext cx="438876" cy="276999"/>
            <a:chOff x="5429268" y="1677933"/>
            <a:chExt cx="438876" cy="276999"/>
          </a:xfrm>
        </p:grpSpPr>
        <p:sp>
          <p:nvSpPr>
            <p:cNvPr id="122" name="121 Rectángulo"/>
            <p:cNvSpPr/>
            <p:nvPr/>
          </p:nvSpPr>
          <p:spPr bwMode="auto">
            <a:xfrm>
              <a:off x="5492570" y="1708931"/>
              <a:ext cx="291281" cy="216000"/>
            </a:xfrm>
            <a:prstGeom prst="rect">
              <a:avLst/>
            </a:prstGeom>
            <a:solidFill>
              <a:srgbClr val="FF33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3" name="122 Rectángulo"/>
            <p:cNvSpPr/>
            <p:nvPr/>
          </p:nvSpPr>
          <p:spPr>
            <a:xfrm>
              <a:off x="5429268" y="1677933"/>
              <a:ext cx="43887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200" b="1" dirty="0">
                  <a:solidFill>
                    <a:schemeClr val="bg1"/>
                  </a:solidFill>
                </a:rPr>
                <a:t>59s</a:t>
              </a:r>
            </a:p>
          </p:txBody>
        </p:sp>
      </p:grpSp>
      <p:grpSp>
        <p:nvGrpSpPr>
          <p:cNvPr id="124" name="123 Grupo"/>
          <p:cNvGrpSpPr/>
          <p:nvPr/>
        </p:nvGrpSpPr>
        <p:grpSpPr>
          <a:xfrm>
            <a:off x="7640346" y="1999873"/>
            <a:ext cx="438876" cy="276999"/>
            <a:chOff x="5429268" y="1677933"/>
            <a:chExt cx="438876" cy="276999"/>
          </a:xfrm>
        </p:grpSpPr>
        <p:sp>
          <p:nvSpPr>
            <p:cNvPr id="125" name="124 Rectángulo"/>
            <p:cNvSpPr/>
            <p:nvPr/>
          </p:nvSpPr>
          <p:spPr bwMode="auto">
            <a:xfrm>
              <a:off x="5492570" y="1708931"/>
              <a:ext cx="291281" cy="216000"/>
            </a:xfrm>
            <a:prstGeom prst="rect">
              <a:avLst/>
            </a:prstGeom>
            <a:solidFill>
              <a:srgbClr val="FF33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6" name="125 Rectángulo"/>
            <p:cNvSpPr/>
            <p:nvPr/>
          </p:nvSpPr>
          <p:spPr>
            <a:xfrm>
              <a:off x="5429268" y="1677933"/>
              <a:ext cx="43887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200" b="1" dirty="0">
                  <a:solidFill>
                    <a:schemeClr val="bg1"/>
                  </a:solidFill>
                </a:rPr>
                <a:t>…</a:t>
              </a:r>
            </a:p>
          </p:txBody>
        </p:sp>
      </p:grpSp>
      <p:grpSp>
        <p:nvGrpSpPr>
          <p:cNvPr id="127" name="126 Grupo"/>
          <p:cNvGrpSpPr/>
          <p:nvPr/>
        </p:nvGrpSpPr>
        <p:grpSpPr>
          <a:xfrm>
            <a:off x="5467368" y="2331338"/>
            <a:ext cx="438876" cy="276999"/>
            <a:chOff x="5429268" y="1677933"/>
            <a:chExt cx="438876" cy="276999"/>
          </a:xfrm>
        </p:grpSpPr>
        <p:sp>
          <p:nvSpPr>
            <p:cNvPr id="128" name="127 Rectángulo"/>
            <p:cNvSpPr/>
            <p:nvPr/>
          </p:nvSpPr>
          <p:spPr bwMode="auto">
            <a:xfrm>
              <a:off x="5492570" y="1708931"/>
              <a:ext cx="291281" cy="216000"/>
            </a:xfrm>
            <a:prstGeom prst="rect">
              <a:avLst/>
            </a:prstGeom>
            <a:solidFill>
              <a:srgbClr val="FF33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30" name="129 Rectángulo"/>
            <p:cNvSpPr/>
            <p:nvPr/>
          </p:nvSpPr>
          <p:spPr>
            <a:xfrm>
              <a:off x="5429268" y="1677933"/>
              <a:ext cx="43887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200" b="1" dirty="0">
                  <a:solidFill>
                    <a:schemeClr val="bg1"/>
                  </a:solidFill>
                </a:rPr>
                <a:t>0s</a:t>
              </a:r>
            </a:p>
          </p:txBody>
        </p:sp>
      </p:grpSp>
      <p:grpSp>
        <p:nvGrpSpPr>
          <p:cNvPr id="131" name="130 Grupo"/>
          <p:cNvGrpSpPr/>
          <p:nvPr/>
        </p:nvGrpSpPr>
        <p:grpSpPr>
          <a:xfrm>
            <a:off x="5829531" y="2331338"/>
            <a:ext cx="438876" cy="276999"/>
            <a:chOff x="5429268" y="1677933"/>
            <a:chExt cx="438876" cy="276999"/>
          </a:xfrm>
        </p:grpSpPr>
        <p:sp>
          <p:nvSpPr>
            <p:cNvPr id="132" name="131 Rectángulo"/>
            <p:cNvSpPr/>
            <p:nvPr/>
          </p:nvSpPr>
          <p:spPr bwMode="auto">
            <a:xfrm>
              <a:off x="5492570" y="1708931"/>
              <a:ext cx="291281" cy="216000"/>
            </a:xfrm>
            <a:prstGeom prst="rect">
              <a:avLst/>
            </a:prstGeom>
            <a:solidFill>
              <a:srgbClr val="FF33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33" name="132 Rectángulo"/>
            <p:cNvSpPr/>
            <p:nvPr/>
          </p:nvSpPr>
          <p:spPr>
            <a:xfrm>
              <a:off x="5429268" y="1677933"/>
              <a:ext cx="43887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200" b="1" dirty="0">
                  <a:solidFill>
                    <a:schemeClr val="bg1"/>
                  </a:solidFill>
                </a:rPr>
                <a:t>1s</a:t>
              </a:r>
            </a:p>
          </p:txBody>
        </p:sp>
      </p:grpSp>
      <p:grpSp>
        <p:nvGrpSpPr>
          <p:cNvPr id="134" name="133 Grupo"/>
          <p:cNvGrpSpPr/>
          <p:nvPr/>
        </p:nvGrpSpPr>
        <p:grpSpPr>
          <a:xfrm>
            <a:off x="6916020" y="2331338"/>
            <a:ext cx="438876" cy="276999"/>
            <a:chOff x="5429268" y="1677933"/>
            <a:chExt cx="438876" cy="276999"/>
          </a:xfrm>
        </p:grpSpPr>
        <p:sp>
          <p:nvSpPr>
            <p:cNvPr id="135" name="134 Rectángulo"/>
            <p:cNvSpPr/>
            <p:nvPr/>
          </p:nvSpPr>
          <p:spPr bwMode="auto">
            <a:xfrm>
              <a:off x="5492570" y="1708931"/>
              <a:ext cx="291281" cy="216000"/>
            </a:xfrm>
            <a:prstGeom prst="rect">
              <a:avLst/>
            </a:prstGeom>
            <a:solidFill>
              <a:srgbClr val="FF33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36" name="135 Rectángulo"/>
            <p:cNvSpPr/>
            <p:nvPr/>
          </p:nvSpPr>
          <p:spPr>
            <a:xfrm>
              <a:off x="5429268" y="1677933"/>
              <a:ext cx="43887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200" b="1" dirty="0">
                  <a:solidFill>
                    <a:schemeClr val="bg1"/>
                  </a:solidFill>
                </a:rPr>
                <a:t>4s</a:t>
              </a:r>
            </a:p>
          </p:txBody>
        </p:sp>
      </p:grpSp>
      <p:grpSp>
        <p:nvGrpSpPr>
          <p:cNvPr id="137" name="136 Grupo"/>
          <p:cNvGrpSpPr/>
          <p:nvPr/>
        </p:nvGrpSpPr>
        <p:grpSpPr>
          <a:xfrm>
            <a:off x="6191694" y="2331338"/>
            <a:ext cx="438876" cy="276999"/>
            <a:chOff x="5429268" y="1677933"/>
            <a:chExt cx="438876" cy="276999"/>
          </a:xfrm>
        </p:grpSpPr>
        <p:sp>
          <p:nvSpPr>
            <p:cNvPr id="138" name="137 Rectángulo"/>
            <p:cNvSpPr/>
            <p:nvPr/>
          </p:nvSpPr>
          <p:spPr bwMode="auto">
            <a:xfrm>
              <a:off x="5492570" y="1708931"/>
              <a:ext cx="291281" cy="216000"/>
            </a:xfrm>
            <a:prstGeom prst="rect">
              <a:avLst/>
            </a:prstGeom>
            <a:solidFill>
              <a:srgbClr val="FF33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39" name="138 Rectángulo"/>
            <p:cNvSpPr/>
            <p:nvPr/>
          </p:nvSpPr>
          <p:spPr>
            <a:xfrm>
              <a:off x="5429268" y="1677933"/>
              <a:ext cx="43887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200" b="1" dirty="0">
                  <a:solidFill>
                    <a:schemeClr val="bg1"/>
                  </a:solidFill>
                </a:rPr>
                <a:t>2s</a:t>
              </a:r>
            </a:p>
          </p:txBody>
        </p:sp>
      </p:grpSp>
      <p:grpSp>
        <p:nvGrpSpPr>
          <p:cNvPr id="140" name="139 Grupo"/>
          <p:cNvGrpSpPr/>
          <p:nvPr/>
        </p:nvGrpSpPr>
        <p:grpSpPr>
          <a:xfrm>
            <a:off x="6553857" y="2331338"/>
            <a:ext cx="438876" cy="276999"/>
            <a:chOff x="5429268" y="1677933"/>
            <a:chExt cx="438876" cy="276999"/>
          </a:xfrm>
        </p:grpSpPr>
        <p:sp>
          <p:nvSpPr>
            <p:cNvPr id="141" name="140 Rectángulo"/>
            <p:cNvSpPr/>
            <p:nvPr/>
          </p:nvSpPr>
          <p:spPr bwMode="auto">
            <a:xfrm>
              <a:off x="5492570" y="1708931"/>
              <a:ext cx="291281" cy="216000"/>
            </a:xfrm>
            <a:prstGeom prst="rect">
              <a:avLst/>
            </a:prstGeom>
            <a:solidFill>
              <a:srgbClr val="FF33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42" name="141 Rectángulo"/>
            <p:cNvSpPr/>
            <p:nvPr/>
          </p:nvSpPr>
          <p:spPr>
            <a:xfrm>
              <a:off x="5429268" y="1677933"/>
              <a:ext cx="43887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200" b="1" dirty="0">
                  <a:solidFill>
                    <a:schemeClr val="bg1"/>
                  </a:solidFill>
                </a:rPr>
                <a:t>3s</a:t>
              </a:r>
            </a:p>
          </p:txBody>
        </p:sp>
      </p:grpSp>
      <p:grpSp>
        <p:nvGrpSpPr>
          <p:cNvPr id="143" name="142 Grupo"/>
          <p:cNvGrpSpPr/>
          <p:nvPr/>
        </p:nvGrpSpPr>
        <p:grpSpPr>
          <a:xfrm>
            <a:off x="7278183" y="2331338"/>
            <a:ext cx="438876" cy="276999"/>
            <a:chOff x="5429268" y="1677933"/>
            <a:chExt cx="438876" cy="276999"/>
          </a:xfrm>
        </p:grpSpPr>
        <p:sp>
          <p:nvSpPr>
            <p:cNvPr id="144" name="143 Rectángulo"/>
            <p:cNvSpPr/>
            <p:nvPr/>
          </p:nvSpPr>
          <p:spPr bwMode="auto">
            <a:xfrm>
              <a:off x="5492570" y="1708931"/>
              <a:ext cx="291281" cy="216000"/>
            </a:xfrm>
            <a:prstGeom prst="rect">
              <a:avLst/>
            </a:prstGeom>
            <a:solidFill>
              <a:srgbClr val="FF33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45" name="144 Rectángulo"/>
            <p:cNvSpPr/>
            <p:nvPr/>
          </p:nvSpPr>
          <p:spPr>
            <a:xfrm>
              <a:off x="5429268" y="1677933"/>
              <a:ext cx="43887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200" b="1" dirty="0">
                  <a:solidFill>
                    <a:schemeClr val="bg1"/>
                  </a:solidFill>
                </a:rPr>
                <a:t>5s</a:t>
              </a:r>
            </a:p>
          </p:txBody>
        </p:sp>
      </p:grpSp>
      <p:grpSp>
        <p:nvGrpSpPr>
          <p:cNvPr id="146" name="145 Grupo"/>
          <p:cNvGrpSpPr/>
          <p:nvPr/>
        </p:nvGrpSpPr>
        <p:grpSpPr>
          <a:xfrm>
            <a:off x="8002506" y="2331338"/>
            <a:ext cx="438876" cy="276999"/>
            <a:chOff x="5429268" y="1677933"/>
            <a:chExt cx="438876" cy="276999"/>
          </a:xfrm>
        </p:grpSpPr>
        <p:sp>
          <p:nvSpPr>
            <p:cNvPr id="147" name="146 Rectángulo"/>
            <p:cNvSpPr/>
            <p:nvPr/>
          </p:nvSpPr>
          <p:spPr bwMode="auto">
            <a:xfrm>
              <a:off x="5492570" y="1708931"/>
              <a:ext cx="291281" cy="216000"/>
            </a:xfrm>
            <a:prstGeom prst="rect">
              <a:avLst/>
            </a:prstGeom>
            <a:solidFill>
              <a:srgbClr val="FF33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48" name="147 Rectángulo"/>
            <p:cNvSpPr/>
            <p:nvPr/>
          </p:nvSpPr>
          <p:spPr>
            <a:xfrm>
              <a:off x="5429268" y="1677933"/>
              <a:ext cx="43887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200" b="1" dirty="0">
                  <a:solidFill>
                    <a:schemeClr val="bg1"/>
                  </a:solidFill>
                </a:rPr>
                <a:t>59s</a:t>
              </a:r>
            </a:p>
          </p:txBody>
        </p:sp>
      </p:grpSp>
      <p:grpSp>
        <p:nvGrpSpPr>
          <p:cNvPr id="149" name="148 Grupo"/>
          <p:cNvGrpSpPr/>
          <p:nvPr/>
        </p:nvGrpSpPr>
        <p:grpSpPr>
          <a:xfrm>
            <a:off x="7640346" y="2331338"/>
            <a:ext cx="438876" cy="276999"/>
            <a:chOff x="5429268" y="1677933"/>
            <a:chExt cx="438876" cy="276999"/>
          </a:xfrm>
        </p:grpSpPr>
        <p:sp>
          <p:nvSpPr>
            <p:cNvPr id="150" name="149 Rectángulo"/>
            <p:cNvSpPr/>
            <p:nvPr/>
          </p:nvSpPr>
          <p:spPr bwMode="auto">
            <a:xfrm>
              <a:off x="5492570" y="1708931"/>
              <a:ext cx="291281" cy="216000"/>
            </a:xfrm>
            <a:prstGeom prst="rect">
              <a:avLst/>
            </a:prstGeom>
            <a:solidFill>
              <a:srgbClr val="FF3300"/>
            </a:solidFill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51" name="150 Rectángulo"/>
            <p:cNvSpPr/>
            <p:nvPr/>
          </p:nvSpPr>
          <p:spPr>
            <a:xfrm>
              <a:off x="5429268" y="1677933"/>
              <a:ext cx="43887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200" b="1" dirty="0">
                  <a:solidFill>
                    <a:schemeClr val="bg1"/>
                  </a:solidFill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453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8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5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2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4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9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0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6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3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3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3" grpId="0"/>
      <p:bldP spid="62" grpId="0"/>
      <p:bldP spid="54" grpId="0"/>
      <p:bldP spid="32" grpId="0"/>
      <p:bldP spid="7" grpId="0"/>
      <p:bldP spid="7" grpId="1"/>
      <p:bldP spid="39" grpId="0"/>
      <p:bldP spid="40" grpId="0"/>
      <p:bldP spid="40" grpId="1"/>
      <p:bldP spid="41" grpId="0"/>
      <p:bldP spid="90" grpId="0"/>
      <p:bldP spid="91" grpId="0" animBg="1"/>
      <p:bldP spid="92" grpId="0"/>
      <p:bldP spid="9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50 Grupo"/>
          <p:cNvGrpSpPr/>
          <p:nvPr/>
        </p:nvGrpSpPr>
        <p:grpSpPr>
          <a:xfrm>
            <a:off x="5458893" y="2205308"/>
            <a:ext cx="554768" cy="1280288"/>
            <a:chOff x="4139952" y="2086749"/>
            <a:chExt cx="554768" cy="1280288"/>
          </a:xfrm>
        </p:grpSpPr>
        <p:cxnSp>
          <p:nvCxnSpPr>
            <p:cNvPr id="167" name="166 Conector recto de flecha"/>
            <p:cNvCxnSpPr/>
            <p:nvPr/>
          </p:nvCxnSpPr>
          <p:spPr bwMode="auto">
            <a:xfrm>
              <a:off x="4139952" y="2086749"/>
              <a:ext cx="360000" cy="2149"/>
            </a:xfrm>
            <a:prstGeom prst="straightConnector1">
              <a:avLst/>
            </a:prstGeom>
            <a:ln>
              <a:solidFill>
                <a:srgbClr val="92D050"/>
              </a:solidFill>
              <a:headEnd type="none" w="med" len="med"/>
              <a:tailEnd type="arrow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64" name="163 Conector recto de flecha"/>
            <p:cNvCxnSpPr/>
            <p:nvPr/>
          </p:nvCxnSpPr>
          <p:spPr bwMode="auto">
            <a:xfrm>
              <a:off x="4160219" y="2091357"/>
              <a:ext cx="0" cy="1265635"/>
            </a:xfrm>
            <a:prstGeom prst="straightConnector1">
              <a:avLst/>
            </a:prstGeom>
            <a:ln>
              <a:solidFill>
                <a:srgbClr val="92D050"/>
              </a:solidFill>
              <a:headEnd type="none" w="med" len="med"/>
              <a:tailEnd type="non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70" name="169 Conector recto de flecha"/>
            <p:cNvCxnSpPr/>
            <p:nvPr/>
          </p:nvCxnSpPr>
          <p:spPr bwMode="auto">
            <a:xfrm>
              <a:off x="4152702" y="3356992"/>
              <a:ext cx="542018" cy="10045"/>
            </a:xfrm>
            <a:prstGeom prst="straightConnector1">
              <a:avLst/>
            </a:prstGeom>
            <a:ln>
              <a:solidFill>
                <a:srgbClr val="92D050"/>
              </a:solidFill>
              <a:headEnd type="none" w="med" len="med"/>
              <a:tailEnd type="non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cxnSp>
        <p:nvCxnSpPr>
          <p:cNvPr id="169" name="168 Conector recto de flecha"/>
          <p:cNvCxnSpPr/>
          <p:nvPr/>
        </p:nvCxnSpPr>
        <p:spPr bwMode="auto">
          <a:xfrm flipH="1">
            <a:off x="6618315" y="3892885"/>
            <a:ext cx="1" cy="616235"/>
          </a:xfrm>
          <a:prstGeom prst="straightConnector1">
            <a:avLst/>
          </a:prstGeom>
          <a:ln>
            <a:solidFill>
              <a:srgbClr val="FF3300"/>
            </a:solidFill>
            <a:headEnd type="none" w="med" len="med"/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pSp>
        <p:nvGrpSpPr>
          <p:cNvPr id="57" name="56 Grupo"/>
          <p:cNvGrpSpPr/>
          <p:nvPr/>
        </p:nvGrpSpPr>
        <p:grpSpPr>
          <a:xfrm>
            <a:off x="5999789" y="2599886"/>
            <a:ext cx="1237053" cy="1305700"/>
            <a:chOff x="5999789" y="2599886"/>
            <a:chExt cx="1237053" cy="1305700"/>
          </a:xfrm>
        </p:grpSpPr>
        <p:cxnSp>
          <p:nvCxnSpPr>
            <p:cNvPr id="152" name="151 Conector recto de flecha"/>
            <p:cNvCxnSpPr/>
            <p:nvPr/>
          </p:nvCxnSpPr>
          <p:spPr bwMode="auto">
            <a:xfrm>
              <a:off x="6618315" y="2599886"/>
              <a:ext cx="0" cy="46800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grpSp>
          <p:nvGrpSpPr>
            <p:cNvPr id="160" name="159 Grupo"/>
            <p:cNvGrpSpPr/>
            <p:nvPr/>
          </p:nvGrpSpPr>
          <p:grpSpPr>
            <a:xfrm>
              <a:off x="5999789" y="3100561"/>
              <a:ext cx="1237053" cy="805025"/>
              <a:chOff x="1681668" y="4103111"/>
              <a:chExt cx="1237053" cy="571291"/>
            </a:xfrm>
          </p:grpSpPr>
          <p:sp>
            <p:nvSpPr>
              <p:cNvPr id="161" name="160 Elipse"/>
              <p:cNvSpPr/>
              <p:nvPr/>
            </p:nvSpPr>
            <p:spPr bwMode="auto">
              <a:xfrm>
                <a:off x="1681668" y="4103111"/>
                <a:ext cx="1237053" cy="571291"/>
              </a:xfrm>
              <a:prstGeom prst="ellipse">
                <a:avLst/>
              </a:prstGeom>
              <a:solidFill>
                <a:schemeClr val="accent5"/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57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1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62" name="161 CuadroTexto"/>
              <p:cNvSpPr txBox="1"/>
              <p:nvPr/>
            </p:nvSpPr>
            <p:spPr>
              <a:xfrm>
                <a:off x="1696448" y="4239844"/>
                <a:ext cx="1218603" cy="2730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dirty="0"/>
                  <a:t>condición</a:t>
                </a:r>
              </a:p>
            </p:txBody>
          </p:sp>
        </p:grpSp>
      </p:grpSp>
      <p:grpSp>
        <p:nvGrpSpPr>
          <p:cNvPr id="50" name="49 Grupo"/>
          <p:cNvGrpSpPr/>
          <p:nvPr/>
        </p:nvGrpSpPr>
        <p:grpSpPr>
          <a:xfrm>
            <a:off x="2404229" y="2009885"/>
            <a:ext cx="1249200" cy="2600387"/>
            <a:chOff x="2413692" y="2009885"/>
            <a:chExt cx="1249200" cy="2600387"/>
          </a:xfrm>
        </p:grpSpPr>
        <p:cxnSp>
          <p:nvCxnSpPr>
            <p:cNvPr id="73" name="72 Conector recto de flecha"/>
            <p:cNvCxnSpPr/>
            <p:nvPr/>
          </p:nvCxnSpPr>
          <p:spPr bwMode="auto">
            <a:xfrm>
              <a:off x="2961604" y="2029455"/>
              <a:ext cx="686929" cy="0"/>
            </a:xfrm>
            <a:prstGeom prst="straightConnector1">
              <a:avLst/>
            </a:prstGeom>
            <a:ln>
              <a:solidFill>
                <a:srgbClr val="FF6600"/>
              </a:solidFill>
              <a:headEnd type="none" w="med" len="med"/>
              <a:tailEnd type="non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5" name="84 Conector recto de flecha"/>
            <p:cNvCxnSpPr/>
            <p:nvPr/>
          </p:nvCxnSpPr>
          <p:spPr bwMode="auto">
            <a:xfrm>
              <a:off x="3648533" y="2009885"/>
              <a:ext cx="0" cy="2143960"/>
            </a:xfrm>
            <a:prstGeom prst="straightConnector1">
              <a:avLst/>
            </a:prstGeom>
            <a:ln>
              <a:solidFill>
                <a:srgbClr val="FF6600"/>
              </a:solidFill>
              <a:headEnd type="none" w="med" len="med"/>
              <a:tailEnd type="non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6" name="85 Conector recto de flecha"/>
            <p:cNvCxnSpPr/>
            <p:nvPr/>
          </p:nvCxnSpPr>
          <p:spPr bwMode="auto">
            <a:xfrm>
              <a:off x="2413692" y="4157517"/>
              <a:ext cx="1249200" cy="0"/>
            </a:xfrm>
            <a:prstGeom prst="straightConnector1">
              <a:avLst/>
            </a:prstGeom>
            <a:ln>
              <a:solidFill>
                <a:srgbClr val="FF6600"/>
              </a:solidFill>
              <a:headEnd type="none" w="med" len="med"/>
              <a:tailEnd type="non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7" name="86 Conector recto de flecha"/>
            <p:cNvCxnSpPr/>
            <p:nvPr/>
          </p:nvCxnSpPr>
          <p:spPr bwMode="auto">
            <a:xfrm>
              <a:off x="2428570" y="4142272"/>
              <a:ext cx="0" cy="468000"/>
            </a:xfrm>
            <a:prstGeom prst="straightConnector1">
              <a:avLst/>
            </a:prstGeom>
            <a:ln>
              <a:solidFill>
                <a:srgbClr val="FF6600"/>
              </a:solidFill>
              <a:headEnd type="none" w="med" len="med"/>
              <a:tailEnd type="arrow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08842" y="44624"/>
            <a:ext cx="7392988" cy="563563"/>
          </a:xfrm>
        </p:spPr>
        <p:txBody>
          <a:bodyPr/>
          <a:lstStyle/>
          <a:p>
            <a:r>
              <a:rPr lang="en-US" dirty="0" err="1"/>
              <a:t>Estructuras</a:t>
            </a:r>
            <a:r>
              <a:rPr lang="en-US" dirty="0"/>
              <a:t> de </a:t>
            </a:r>
            <a:r>
              <a:rPr lang="en-US" dirty="0" err="1"/>
              <a:t>Repetici</a:t>
            </a:r>
            <a:r>
              <a:rPr lang="es-ES" dirty="0"/>
              <a:t>ón (</a:t>
            </a:r>
            <a:r>
              <a:rPr lang="en-US" dirty="0"/>
              <a:t>Do … While)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08" name="107 CuadroTexto"/>
          <p:cNvSpPr txBox="1"/>
          <p:nvPr/>
        </p:nvSpPr>
        <p:spPr>
          <a:xfrm>
            <a:off x="2997607" y="1659450"/>
            <a:ext cx="700834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>
                <a:solidFill>
                  <a:srgbClr val="FF3300"/>
                </a:solidFill>
              </a:rPr>
              <a:t>false</a:t>
            </a:r>
          </a:p>
        </p:txBody>
      </p:sp>
      <p:sp>
        <p:nvSpPr>
          <p:cNvPr id="107" name="106 CuadroTexto"/>
          <p:cNvSpPr txBox="1"/>
          <p:nvPr/>
        </p:nvSpPr>
        <p:spPr>
          <a:xfrm>
            <a:off x="2514441" y="2413912"/>
            <a:ext cx="606256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>
                <a:solidFill>
                  <a:srgbClr val="92D050"/>
                </a:solidFill>
              </a:rPr>
              <a:t>true</a:t>
            </a:r>
          </a:p>
        </p:txBody>
      </p:sp>
      <p:grpSp>
        <p:nvGrpSpPr>
          <p:cNvPr id="55" name="54 Grupo"/>
          <p:cNvGrpSpPr/>
          <p:nvPr/>
        </p:nvGrpSpPr>
        <p:grpSpPr>
          <a:xfrm>
            <a:off x="1630946" y="2354435"/>
            <a:ext cx="1644136" cy="1362597"/>
            <a:chOff x="1630946" y="2354435"/>
            <a:chExt cx="1644136" cy="1362597"/>
          </a:xfrm>
        </p:grpSpPr>
        <p:cxnSp>
          <p:nvCxnSpPr>
            <p:cNvPr id="109" name="108 Conector recto de flecha"/>
            <p:cNvCxnSpPr/>
            <p:nvPr/>
          </p:nvCxnSpPr>
          <p:spPr bwMode="auto">
            <a:xfrm>
              <a:off x="2419107" y="2354435"/>
              <a:ext cx="0" cy="468000"/>
            </a:xfrm>
            <a:prstGeom prst="straightConnector1">
              <a:avLst/>
            </a:prstGeom>
            <a:ln>
              <a:solidFill>
                <a:srgbClr val="92D050"/>
              </a:solidFill>
              <a:headEnd type="none" w="med" len="med"/>
              <a:tailEnd type="arrow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grpSp>
          <p:nvGrpSpPr>
            <p:cNvPr id="123" name="122 Grupo"/>
            <p:cNvGrpSpPr/>
            <p:nvPr/>
          </p:nvGrpSpPr>
          <p:grpSpPr>
            <a:xfrm>
              <a:off x="1630946" y="2842757"/>
              <a:ext cx="1644136" cy="874275"/>
              <a:chOff x="5796136" y="1009806"/>
              <a:chExt cx="1512168" cy="655180"/>
            </a:xfrm>
          </p:grpSpPr>
          <p:sp>
            <p:nvSpPr>
              <p:cNvPr id="124" name="123 Rectángulo"/>
              <p:cNvSpPr/>
              <p:nvPr/>
            </p:nvSpPr>
            <p:spPr bwMode="auto">
              <a:xfrm>
                <a:off x="5796136" y="1009806"/>
                <a:ext cx="1512168" cy="65518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57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1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25" name="124 CuadroTexto"/>
              <p:cNvSpPr txBox="1"/>
              <p:nvPr/>
            </p:nvSpPr>
            <p:spPr>
              <a:xfrm>
                <a:off x="6164719" y="1172340"/>
                <a:ext cx="846565" cy="3847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dirty="0"/>
                  <a:t>bloque</a:t>
                </a:r>
              </a:p>
            </p:txBody>
          </p:sp>
        </p:grpSp>
      </p:grpSp>
      <p:sp>
        <p:nvSpPr>
          <p:cNvPr id="131" name="130 CuadroTexto"/>
          <p:cNvSpPr txBox="1"/>
          <p:nvPr/>
        </p:nvSpPr>
        <p:spPr>
          <a:xfrm>
            <a:off x="3518774" y="642174"/>
            <a:ext cx="2160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rgbClr val="009900"/>
                </a:solidFill>
                <a:latin typeface="Adobe Heiti Std R" pitchFamily="34" charset="-128"/>
                <a:ea typeface="Adobe Heiti Std R" pitchFamily="34" charset="-128"/>
              </a:rPr>
              <a:t>(haz... mientras)</a:t>
            </a:r>
          </a:p>
        </p:txBody>
      </p:sp>
      <p:grpSp>
        <p:nvGrpSpPr>
          <p:cNvPr id="54" name="53 Grupo"/>
          <p:cNvGrpSpPr/>
          <p:nvPr/>
        </p:nvGrpSpPr>
        <p:grpSpPr>
          <a:xfrm>
            <a:off x="1795229" y="1274010"/>
            <a:ext cx="1237053" cy="1129225"/>
            <a:chOff x="1795229" y="1274010"/>
            <a:chExt cx="1237053" cy="1129225"/>
          </a:xfrm>
        </p:grpSpPr>
        <p:cxnSp>
          <p:nvCxnSpPr>
            <p:cNvPr id="117" name="116 Conector recto de flecha"/>
            <p:cNvCxnSpPr/>
            <p:nvPr/>
          </p:nvCxnSpPr>
          <p:spPr bwMode="auto">
            <a:xfrm>
              <a:off x="2419107" y="1274010"/>
              <a:ext cx="0" cy="29880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grpSp>
          <p:nvGrpSpPr>
            <p:cNvPr id="113" name="112 Grupo"/>
            <p:cNvGrpSpPr/>
            <p:nvPr/>
          </p:nvGrpSpPr>
          <p:grpSpPr>
            <a:xfrm>
              <a:off x="1795229" y="1598210"/>
              <a:ext cx="1237053" cy="805025"/>
              <a:chOff x="1681668" y="4094098"/>
              <a:chExt cx="1237053" cy="571291"/>
            </a:xfrm>
          </p:grpSpPr>
          <p:sp>
            <p:nvSpPr>
              <p:cNvPr id="114" name="113 Elipse"/>
              <p:cNvSpPr/>
              <p:nvPr/>
            </p:nvSpPr>
            <p:spPr bwMode="auto">
              <a:xfrm>
                <a:off x="1681668" y="4094098"/>
                <a:ext cx="1237053" cy="571291"/>
              </a:xfrm>
              <a:prstGeom prst="ellipse">
                <a:avLst/>
              </a:prstGeom>
              <a:solidFill>
                <a:schemeClr val="accent5"/>
              </a:solidFill>
              <a:ln>
                <a:headEnd type="none" w="med" len="med"/>
                <a:tailEnd type="none" w="med" len="med"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57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1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15" name="114 CuadroTexto"/>
              <p:cNvSpPr txBox="1"/>
              <p:nvPr/>
            </p:nvSpPr>
            <p:spPr>
              <a:xfrm>
                <a:off x="1696448" y="4239844"/>
                <a:ext cx="1218603" cy="2730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dirty="0"/>
                  <a:t>condición</a:t>
                </a:r>
              </a:p>
            </p:txBody>
          </p:sp>
        </p:grpSp>
      </p:grpSp>
      <p:grpSp>
        <p:nvGrpSpPr>
          <p:cNvPr id="52" name="51 Grupo"/>
          <p:cNvGrpSpPr/>
          <p:nvPr/>
        </p:nvGrpSpPr>
        <p:grpSpPr>
          <a:xfrm>
            <a:off x="1259632" y="2029455"/>
            <a:ext cx="1174332" cy="1923408"/>
            <a:chOff x="1259632" y="2029455"/>
            <a:chExt cx="1174332" cy="1923408"/>
          </a:xfrm>
        </p:grpSpPr>
        <p:cxnSp>
          <p:nvCxnSpPr>
            <p:cNvPr id="148" name="147 Conector recto de flecha"/>
            <p:cNvCxnSpPr/>
            <p:nvPr/>
          </p:nvCxnSpPr>
          <p:spPr bwMode="auto">
            <a:xfrm>
              <a:off x="1259632" y="2029455"/>
              <a:ext cx="536400" cy="2149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5" name="144 Conector recto de flecha"/>
            <p:cNvCxnSpPr/>
            <p:nvPr/>
          </p:nvCxnSpPr>
          <p:spPr bwMode="auto">
            <a:xfrm>
              <a:off x="1282279" y="2034063"/>
              <a:ext cx="0" cy="1918800"/>
            </a:xfrm>
            <a:prstGeom prst="straightConnector1">
              <a:avLst/>
            </a:prstGeom>
            <a:ln>
              <a:headEnd type="none" w="med" len="med"/>
              <a:tailEnd type="non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6" name="145 Conector recto de flecha"/>
            <p:cNvCxnSpPr/>
            <p:nvPr/>
          </p:nvCxnSpPr>
          <p:spPr bwMode="auto">
            <a:xfrm>
              <a:off x="2413755" y="3717032"/>
              <a:ext cx="0" cy="216024"/>
            </a:xfrm>
            <a:prstGeom prst="straightConnector1">
              <a:avLst/>
            </a:prstGeom>
            <a:ln>
              <a:headEnd type="none" w="med" len="med"/>
              <a:tailEnd type="non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7" name="146 Conector recto de flecha"/>
            <p:cNvCxnSpPr/>
            <p:nvPr/>
          </p:nvCxnSpPr>
          <p:spPr bwMode="auto">
            <a:xfrm>
              <a:off x="1267991" y="3942581"/>
              <a:ext cx="1165973" cy="0"/>
            </a:xfrm>
            <a:prstGeom prst="straightConnector1">
              <a:avLst/>
            </a:prstGeom>
            <a:ln>
              <a:headEnd type="none" w="med" len="med"/>
              <a:tailEnd type="non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149" name="148 CuadroTexto"/>
          <p:cNvSpPr txBox="1"/>
          <p:nvPr/>
        </p:nvSpPr>
        <p:spPr>
          <a:xfrm>
            <a:off x="6620131" y="3915028"/>
            <a:ext cx="700834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>
                <a:solidFill>
                  <a:srgbClr val="FF3300"/>
                </a:solidFill>
              </a:rPr>
              <a:t>false</a:t>
            </a:r>
          </a:p>
        </p:txBody>
      </p:sp>
      <p:grpSp>
        <p:nvGrpSpPr>
          <p:cNvPr id="56" name="55 Grupo"/>
          <p:cNvGrpSpPr/>
          <p:nvPr/>
        </p:nvGrpSpPr>
        <p:grpSpPr>
          <a:xfrm>
            <a:off x="5835506" y="1516538"/>
            <a:ext cx="1644136" cy="1195052"/>
            <a:chOff x="5835506" y="1516538"/>
            <a:chExt cx="1644136" cy="1195052"/>
          </a:xfrm>
        </p:grpSpPr>
        <p:cxnSp>
          <p:nvCxnSpPr>
            <p:cNvPr id="153" name="152 Conector recto de flecha"/>
            <p:cNvCxnSpPr/>
            <p:nvPr/>
          </p:nvCxnSpPr>
          <p:spPr bwMode="auto">
            <a:xfrm>
              <a:off x="6618315" y="1516538"/>
              <a:ext cx="0" cy="29880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grpSp>
          <p:nvGrpSpPr>
            <p:cNvPr id="154" name="153 Grupo"/>
            <p:cNvGrpSpPr/>
            <p:nvPr/>
          </p:nvGrpSpPr>
          <p:grpSpPr>
            <a:xfrm>
              <a:off x="5835506" y="1837315"/>
              <a:ext cx="1644136" cy="874275"/>
              <a:chOff x="5796136" y="1009806"/>
              <a:chExt cx="1512168" cy="655180"/>
            </a:xfrm>
          </p:grpSpPr>
          <p:sp>
            <p:nvSpPr>
              <p:cNvPr id="155" name="154 Rectángulo"/>
              <p:cNvSpPr/>
              <p:nvPr/>
            </p:nvSpPr>
            <p:spPr bwMode="auto">
              <a:xfrm>
                <a:off x="5796136" y="1009806"/>
                <a:ext cx="1512168" cy="65518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57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1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56" name="155 CuadroTexto"/>
              <p:cNvSpPr txBox="1"/>
              <p:nvPr/>
            </p:nvSpPr>
            <p:spPr>
              <a:xfrm>
                <a:off x="6164719" y="1172340"/>
                <a:ext cx="846565" cy="3847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dirty="0"/>
                  <a:t>bloque</a:t>
                </a:r>
              </a:p>
            </p:txBody>
          </p:sp>
        </p:grpSp>
      </p:grpSp>
      <p:sp>
        <p:nvSpPr>
          <p:cNvPr id="168" name="167 CuadroTexto"/>
          <p:cNvSpPr txBox="1"/>
          <p:nvPr/>
        </p:nvSpPr>
        <p:spPr>
          <a:xfrm>
            <a:off x="4880583" y="2593222"/>
            <a:ext cx="606256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>
                <a:solidFill>
                  <a:srgbClr val="92D050"/>
                </a:solidFill>
              </a:rPr>
              <a:t>true</a:t>
            </a:r>
          </a:p>
        </p:txBody>
      </p:sp>
      <p:sp>
        <p:nvSpPr>
          <p:cNvPr id="171" name="170 Rectángulo"/>
          <p:cNvSpPr/>
          <p:nvPr/>
        </p:nvSpPr>
        <p:spPr bwMode="auto">
          <a:xfrm>
            <a:off x="454844" y="4801468"/>
            <a:ext cx="4045148" cy="16561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2" name="171 Rectángulo"/>
          <p:cNvSpPr/>
          <p:nvPr/>
        </p:nvSpPr>
        <p:spPr>
          <a:xfrm>
            <a:off x="611560" y="4837673"/>
            <a:ext cx="388843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000000"/>
                </a:solidFill>
              </a:rPr>
              <a:t>...</a:t>
            </a:r>
            <a:r>
              <a:rPr lang="es-ES" sz="1600" dirty="0" err="1">
                <a:solidFill>
                  <a:srgbClr val="000000"/>
                </a:solidFill>
              </a:rPr>
              <a:t>println</a:t>
            </a:r>
            <a:r>
              <a:rPr lang="es-ES" sz="1600" dirty="0">
                <a:solidFill>
                  <a:srgbClr val="000000"/>
                </a:solidFill>
              </a:rPr>
              <a:t>(</a:t>
            </a:r>
            <a:r>
              <a:rPr lang="es-ES" sz="1600" dirty="0">
                <a:solidFill>
                  <a:srgbClr val="92D050"/>
                </a:solidFill>
              </a:rPr>
              <a:t>"Introduce número &lt;= 10 "</a:t>
            </a:r>
            <a:r>
              <a:rPr lang="es-ES" sz="1600" dirty="0">
                <a:solidFill>
                  <a:srgbClr val="000000"/>
                </a:solidFill>
              </a:rPr>
              <a:t>);</a:t>
            </a:r>
          </a:p>
          <a:p>
            <a:r>
              <a:rPr lang="es-ES" sz="1600" dirty="0" err="1">
                <a:solidFill>
                  <a:srgbClr val="000000"/>
                </a:solidFill>
              </a:rPr>
              <a:t>int</a:t>
            </a:r>
            <a:r>
              <a:rPr lang="es-ES" sz="1600" dirty="0">
                <a:solidFill>
                  <a:srgbClr val="000000"/>
                </a:solidFill>
              </a:rPr>
              <a:t> </a:t>
            </a:r>
            <a:r>
              <a:rPr lang="es-ES" sz="1600" b="1" dirty="0">
                <a:solidFill>
                  <a:srgbClr val="000000"/>
                </a:solidFill>
              </a:rPr>
              <a:t>n </a:t>
            </a:r>
            <a:r>
              <a:rPr lang="es-ES" sz="1600" dirty="0">
                <a:solidFill>
                  <a:srgbClr val="000000"/>
                </a:solidFill>
              </a:rPr>
              <a:t>= </a:t>
            </a:r>
            <a:r>
              <a:rPr lang="es-ES" sz="1600" b="1" dirty="0" err="1">
                <a:solidFill>
                  <a:srgbClr val="000000"/>
                </a:solidFill>
              </a:rPr>
              <a:t>entrada</a:t>
            </a:r>
            <a:r>
              <a:rPr lang="es-ES" sz="1600" dirty="0" err="1">
                <a:solidFill>
                  <a:srgbClr val="000000"/>
                </a:solidFill>
              </a:rPr>
              <a:t>.nextInt</a:t>
            </a:r>
            <a:r>
              <a:rPr lang="es-ES" sz="1600" dirty="0">
                <a:solidFill>
                  <a:srgbClr val="000000"/>
                </a:solidFill>
              </a:rPr>
              <a:t>();</a:t>
            </a:r>
          </a:p>
          <a:p>
            <a:r>
              <a:rPr lang="es-ES" sz="1600" b="1" dirty="0" err="1">
                <a:solidFill>
                  <a:schemeClr val="accent1"/>
                </a:solidFill>
              </a:rPr>
              <a:t>while</a:t>
            </a:r>
            <a:r>
              <a:rPr lang="es-ES" sz="1600" b="1" dirty="0">
                <a:solidFill>
                  <a:schemeClr val="accent1"/>
                </a:solidFill>
              </a:rPr>
              <a:t> </a:t>
            </a:r>
            <a:r>
              <a:rPr lang="es-ES" sz="1600" b="1" dirty="0">
                <a:solidFill>
                  <a:srgbClr val="FF3300"/>
                </a:solidFill>
              </a:rPr>
              <a:t>(</a:t>
            </a:r>
            <a:r>
              <a:rPr lang="es-ES" sz="1600" b="1" dirty="0">
                <a:solidFill>
                  <a:srgbClr val="FF0000"/>
                </a:solidFill>
              </a:rPr>
              <a:t> </a:t>
            </a:r>
            <a:r>
              <a:rPr lang="es-ES" sz="1600" b="1" dirty="0">
                <a:solidFill>
                  <a:srgbClr val="FF3300"/>
                </a:solidFill>
              </a:rPr>
              <a:t>n &gt;10 </a:t>
            </a:r>
            <a:r>
              <a:rPr lang="es-ES" sz="1600" b="1" dirty="0">
                <a:solidFill>
                  <a:srgbClr val="FF0000"/>
                </a:solidFill>
              </a:rPr>
              <a:t>) </a:t>
            </a:r>
            <a:r>
              <a:rPr lang="es-ES" sz="1600" b="1" dirty="0">
                <a:solidFill>
                  <a:schemeClr val="accent1"/>
                </a:solidFill>
              </a:rPr>
              <a:t>{</a:t>
            </a:r>
          </a:p>
          <a:p>
            <a:r>
              <a:rPr lang="es-ES" sz="1600" dirty="0">
                <a:solidFill>
                  <a:srgbClr val="000000"/>
                </a:solidFill>
              </a:rPr>
              <a:t>     ...</a:t>
            </a:r>
            <a:r>
              <a:rPr lang="es-ES" sz="1600" dirty="0" err="1">
                <a:solidFill>
                  <a:srgbClr val="000000"/>
                </a:solidFill>
              </a:rPr>
              <a:t>println</a:t>
            </a:r>
            <a:r>
              <a:rPr lang="es-ES" sz="1600" dirty="0">
                <a:solidFill>
                  <a:srgbClr val="000000"/>
                </a:solidFill>
              </a:rPr>
              <a:t>(</a:t>
            </a:r>
            <a:r>
              <a:rPr lang="es-ES" sz="1600" dirty="0">
                <a:solidFill>
                  <a:srgbClr val="92D050"/>
                </a:solidFill>
              </a:rPr>
              <a:t>"Introduce número &lt;= 10 "</a:t>
            </a:r>
            <a:r>
              <a:rPr lang="es-ES" sz="1600" dirty="0">
                <a:solidFill>
                  <a:srgbClr val="000000"/>
                </a:solidFill>
              </a:rPr>
              <a:t>);</a:t>
            </a:r>
          </a:p>
          <a:p>
            <a:r>
              <a:rPr lang="es-ES" sz="1600" b="1" dirty="0">
                <a:solidFill>
                  <a:srgbClr val="000000"/>
                </a:solidFill>
              </a:rPr>
              <a:t>     n </a:t>
            </a:r>
            <a:r>
              <a:rPr lang="es-ES" sz="1600" dirty="0">
                <a:solidFill>
                  <a:srgbClr val="000000"/>
                </a:solidFill>
              </a:rPr>
              <a:t>= </a:t>
            </a:r>
            <a:r>
              <a:rPr lang="es-ES" sz="1600" b="1" dirty="0" err="1">
                <a:solidFill>
                  <a:srgbClr val="000000"/>
                </a:solidFill>
              </a:rPr>
              <a:t>entrada</a:t>
            </a:r>
            <a:r>
              <a:rPr lang="es-ES" sz="1600" dirty="0" err="1">
                <a:solidFill>
                  <a:srgbClr val="000000"/>
                </a:solidFill>
              </a:rPr>
              <a:t>.nextInt</a:t>
            </a:r>
            <a:r>
              <a:rPr lang="es-ES" sz="1600" dirty="0">
                <a:solidFill>
                  <a:srgbClr val="000000"/>
                </a:solidFill>
              </a:rPr>
              <a:t>();</a:t>
            </a:r>
          </a:p>
          <a:p>
            <a:r>
              <a:rPr lang="es-ES" sz="1600" b="1" dirty="0">
                <a:solidFill>
                  <a:schemeClr val="accent1"/>
                </a:solidFill>
              </a:rPr>
              <a:t>}</a:t>
            </a:r>
          </a:p>
        </p:txBody>
      </p:sp>
      <p:sp>
        <p:nvSpPr>
          <p:cNvPr id="173" name="172 CuadroTexto"/>
          <p:cNvSpPr txBox="1"/>
          <p:nvPr/>
        </p:nvSpPr>
        <p:spPr>
          <a:xfrm>
            <a:off x="2053090" y="827420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800" b="1" dirty="0" err="1">
                <a:solidFill>
                  <a:srgbClr val="FF3300"/>
                </a:solidFill>
              </a:rPr>
              <a:t>while</a:t>
            </a:r>
            <a:endParaRPr lang="es-ES" sz="1800" b="1" dirty="0"/>
          </a:p>
        </p:txBody>
      </p:sp>
      <p:sp>
        <p:nvSpPr>
          <p:cNvPr id="177" name="176 CuadroTexto"/>
          <p:cNvSpPr txBox="1"/>
          <p:nvPr/>
        </p:nvSpPr>
        <p:spPr>
          <a:xfrm>
            <a:off x="5986517" y="967971"/>
            <a:ext cx="1274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800" b="1" dirty="0">
                <a:solidFill>
                  <a:srgbClr val="FF3300"/>
                </a:solidFill>
              </a:rPr>
              <a:t>do…</a:t>
            </a:r>
            <a:r>
              <a:rPr lang="es-ES" sz="1800" b="1" dirty="0" err="1">
                <a:solidFill>
                  <a:srgbClr val="FF3300"/>
                </a:solidFill>
              </a:rPr>
              <a:t>while</a:t>
            </a:r>
            <a:endParaRPr lang="es-ES" sz="1800" b="1" dirty="0"/>
          </a:p>
        </p:txBody>
      </p:sp>
      <p:sp>
        <p:nvSpPr>
          <p:cNvPr id="178" name="177 Rectángulo"/>
          <p:cNvSpPr/>
          <p:nvPr/>
        </p:nvSpPr>
        <p:spPr bwMode="auto">
          <a:xfrm>
            <a:off x="4802646" y="4797152"/>
            <a:ext cx="3821322" cy="158417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9" name="178 Rectángulo"/>
          <p:cNvSpPr/>
          <p:nvPr/>
        </p:nvSpPr>
        <p:spPr>
          <a:xfrm>
            <a:off x="4989946" y="5023376"/>
            <a:ext cx="354249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0070C0"/>
                </a:solidFill>
              </a:rPr>
              <a:t>do {</a:t>
            </a:r>
          </a:p>
          <a:p>
            <a:r>
              <a:rPr lang="es-ES" sz="1600" dirty="0">
                <a:solidFill>
                  <a:srgbClr val="000000"/>
                </a:solidFill>
              </a:rPr>
              <a:t>     ...</a:t>
            </a:r>
            <a:r>
              <a:rPr lang="es-ES" sz="1600" dirty="0" err="1">
                <a:solidFill>
                  <a:srgbClr val="000000"/>
                </a:solidFill>
              </a:rPr>
              <a:t>print</a:t>
            </a:r>
            <a:r>
              <a:rPr lang="es-ES" sz="1600" dirty="0">
                <a:solidFill>
                  <a:srgbClr val="000000"/>
                </a:solidFill>
              </a:rPr>
              <a:t> (</a:t>
            </a:r>
            <a:r>
              <a:rPr lang="es-ES" sz="1600" dirty="0">
                <a:solidFill>
                  <a:srgbClr val="92D050"/>
                </a:solidFill>
              </a:rPr>
              <a:t>"Introduce número &lt;10 "</a:t>
            </a:r>
            <a:r>
              <a:rPr lang="es-ES" sz="1600" dirty="0">
                <a:solidFill>
                  <a:srgbClr val="000000"/>
                </a:solidFill>
              </a:rPr>
              <a:t>);</a:t>
            </a:r>
          </a:p>
          <a:p>
            <a:r>
              <a:rPr lang="es-ES" sz="1600" b="1" dirty="0">
                <a:solidFill>
                  <a:srgbClr val="000000"/>
                </a:solidFill>
              </a:rPr>
              <a:t>     </a:t>
            </a:r>
            <a:r>
              <a:rPr lang="es-ES" sz="1600" dirty="0" err="1">
                <a:solidFill>
                  <a:srgbClr val="000000"/>
                </a:solidFill>
              </a:rPr>
              <a:t>int</a:t>
            </a:r>
            <a:r>
              <a:rPr lang="es-ES" sz="1600" dirty="0">
                <a:solidFill>
                  <a:srgbClr val="000000"/>
                </a:solidFill>
              </a:rPr>
              <a:t> </a:t>
            </a:r>
            <a:r>
              <a:rPr lang="es-ES" sz="1600" b="1" dirty="0">
                <a:solidFill>
                  <a:srgbClr val="000000"/>
                </a:solidFill>
              </a:rPr>
              <a:t>n </a:t>
            </a:r>
            <a:r>
              <a:rPr lang="es-ES" sz="1600" dirty="0">
                <a:solidFill>
                  <a:srgbClr val="000000"/>
                </a:solidFill>
              </a:rPr>
              <a:t>= </a:t>
            </a:r>
            <a:r>
              <a:rPr lang="es-ES" sz="1600" b="1" dirty="0" err="1">
                <a:solidFill>
                  <a:srgbClr val="000000"/>
                </a:solidFill>
              </a:rPr>
              <a:t>entrada</a:t>
            </a:r>
            <a:r>
              <a:rPr lang="es-ES" sz="1600" dirty="0" err="1">
                <a:solidFill>
                  <a:srgbClr val="000000"/>
                </a:solidFill>
              </a:rPr>
              <a:t>.nextInt</a:t>
            </a:r>
            <a:r>
              <a:rPr lang="es-ES" sz="1600" dirty="0">
                <a:solidFill>
                  <a:srgbClr val="000000"/>
                </a:solidFill>
              </a:rPr>
              <a:t>();</a:t>
            </a:r>
          </a:p>
          <a:p>
            <a:r>
              <a:rPr lang="es-ES" sz="1600" b="1" dirty="0">
                <a:solidFill>
                  <a:srgbClr val="0070C0"/>
                </a:solidFill>
              </a:rPr>
              <a:t>} </a:t>
            </a:r>
            <a:r>
              <a:rPr lang="es-ES" sz="1600" b="1" dirty="0" err="1">
                <a:solidFill>
                  <a:srgbClr val="0070C0"/>
                </a:solidFill>
              </a:rPr>
              <a:t>while</a:t>
            </a:r>
            <a:r>
              <a:rPr lang="es-ES" sz="1600" b="1" dirty="0">
                <a:solidFill>
                  <a:srgbClr val="0070C0"/>
                </a:solidFill>
              </a:rPr>
              <a:t> </a:t>
            </a:r>
            <a:r>
              <a:rPr lang="es-ES" sz="1600" b="1" dirty="0">
                <a:solidFill>
                  <a:srgbClr val="FF3300"/>
                </a:solidFill>
              </a:rPr>
              <a:t>( n &gt; 10 )</a:t>
            </a:r>
            <a:r>
              <a:rPr lang="es-ES" sz="1600" b="1" dirty="0">
                <a:solidFill>
                  <a:srgbClr val="0070C0"/>
                </a:solidFill>
              </a:rPr>
              <a:t> ;</a:t>
            </a:r>
          </a:p>
        </p:txBody>
      </p:sp>
    </p:spTree>
    <p:extLst>
      <p:ext uri="{BB962C8B-B14F-4D97-AF65-F5344CB8AC3E}">
        <p14:creationId xmlns:p14="http://schemas.microsoft.com/office/powerpoint/2010/main" val="169671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  <p:bldP spid="107" grpId="0"/>
      <p:bldP spid="107" grpId="1"/>
      <p:bldP spid="149" grpId="0"/>
      <p:bldP spid="168" grpId="0"/>
      <p:bldP spid="168" grpId="1"/>
      <p:bldP spid="171" grpId="0" animBg="1"/>
      <p:bldP spid="172" grpId="0" build="p"/>
      <p:bldP spid="173" grpId="0"/>
      <p:bldP spid="177" grpId="0"/>
      <p:bldP spid="178" grpId="0" animBg="1"/>
      <p:bldP spid="17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08842" y="44624"/>
            <a:ext cx="7392988" cy="563563"/>
          </a:xfrm>
        </p:spPr>
        <p:txBody>
          <a:bodyPr/>
          <a:lstStyle/>
          <a:p>
            <a:r>
              <a:rPr lang="en-US" dirty="0" err="1"/>
              <a:t>Estructuras</a:t>
            </a:r>
            <a:r>
              <a:rPr lang="en-US" dirty="0"/>
              <a:t> de </a:t>
            </a:r>
            <a:r>
              <a:rPr lang="en-US" dirty="0" err="1"/>
              <a:t>salto</a:t>
            </a:r>
            <a:r>
              <a:rPr lang="en-US" dirty="0"/>
              <a:t> (break)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31" name="130 CuadroTexto"/>
          <p:cNvSpPr txBox="1"/>
          <p:nvPr/>
        </p:nvSpPr>
        <p:spPr>
          <a:xfrm>
            <a:off x="1115616" y="1116033"/>
            <a:ext cx="6552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rgbClr val="009900"/>
                </a:solidFill>
                <a:latin typeface="+mn-lt"/>
                <a:ea typeface="Adobe Heiti Std R" pitchFamily="34" charset="-128"/>
              </a:rPr>
              <a:t>La instrucción </a:t>
            </a:r>
            <a:r>
              <a:rPr lang="es-ES" sz="1600" b="1" dirty="0">
                <a:solidFill>
                  <a:srgbClr val="FF0000"/>
                </a:solidFill>
                <a:latin typeface="+mn-lt"/>
                <a:ea typeface="Adobe Heiti Std R" pitchFamily="34" charset="-128"/>
              </a:rPr>
              <a:t>break</a:t>
            </a:r>
            <a:r>
              <a:rPr lang="es-ES" sz="1600" dirty="0">
                <a:solidFill>
                  <a:srgbClr val="009900"/>
                </a:solidFill>
                <a:latin typeface="+mn-lt"/>
                <a:ea typeface="Adobe Heiti Std R" pitchFamily="34" charset="-128"/>
              </a:rPr>
              <a:t>, colocada en cualquier parte del bloque interior del bucle, interrumpe definitivamente su ejecución.</a:t>
            </a:r>
          </a:p>
        </p:txBody>
      </p:sp>
      <p:grpSp>
        <p:nvGrpSpPr>
          <p:cNvPr id="5" name="4 Grupo"/>
          <p:cNvGrpSpPr/>
          <p:nvPr/>
        </p:nvGrpSpPr>
        <p:grpSpPr>
          <a:xfrm>
            <a:off x="1259632" y="2053268"/>
            <a:ext cx="2438809" cy="3782852"/>
            <a:chOff x="1259632" y="2053268"/>
            <a:chExt cx="2438809" cy="3782852"/>
          </a:xfrm>
        </p:grpSpPr>
        <p:grpSp>
          <p:nvGrpSpPr>
            <p:cNvPr id="50" name="49 Grupo"/>
            <p:cNvGrpSpPr/>
            <p:nvPr/>
          </p:nvGrpSpPr>
          <p:grpSpPr>
            <a:xfrm>
              <a:off x="2404229" y="3235733"/>
              <a:ext cx="1249200" cy="2600387"/>
              <a:chOff x="2413692" y="2009885"/>
              <a:chExt cx="1249200" cy="2600387"/>
            </a:xfrm>
          </p:grpSpPr>
          <p:cxnSp>
            <p:nvCxnSpPr>
              <p:cNvPr id="73" name="72 Conector recto de flecha"/>
              <p:cNvCxnSpPr/>
              <p:nvPr/>
            </p:nvCxnSpPr>
            <p:spPr bwMode="auto">
              <a:xfrm>
                <a:off x="2961604" y="2029455"/>
                <a:ext cx="686929" cy="0"/>
              </a:xfrm>
              <a:prstGeom prst="straightConnector1">
                <a:avLst/>
              </a:prstGeom>
              <a:ln>
                <a:solidFill>
                  <a:srgbClr val="FF6600"/>
                </a:solidFill>
                <a:headEnd type="none" w="med" len="med"/>
                <a:tailEnd type="none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85" name="84 Conector recto de flecha"/>
              <p:cNvCxnSpPr/>
              <p:nvPr/>
            </p:nvCxnSpPr>
            <p:spPr bwMode="auto">
              <a:xfrm>
                <a:off x="3648533" y="2009885"/>
                <a:ext cx="0" cy="2143960"/>
              </a:xfrm>
              <a:prstGeom prst="straightConnector1">
                <a:avLst/>
              </a:prstGeom>
              <a:ln>
                <a:solidFill>
                  <a:srgbClr val="FF6600"/>
                </a:solidFill>
                <a:headEnd type="none" w="med" len="med"/>
                <a:tailEnd type="none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86" name="85 Conector recto de flecha"/>
              <p:cNvCxnSpPr/>
              <p:nvPr/>
            </p:nvCxnSpPr>
            <p:spPr bwMode="auto">
              <a:xfrm>
                <a:off x="2413692" y="4157517"/>
                <a:ext cx="1249200" cy="0"/>
              </a:xfrm>
              <a:prstGeom prst="straightConnector1">
                <a:avLst/>
              </a:prstGeom>
              <a:ln>
                <a:solidFill>
                  <a:srgbClr val="FF6600"/>
                </a:solidFill>
                <a:headEnd type="none" w="med" len="med"/>
                <a:tailEnd type="none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87" name="86 Conector recto de flecha"/>
              <p:cNvCxnSpPr/>
              <p:nvPr/>
            </p:nvCxnSpPr>
            <p:spPr bwMode="auto">
              <a:xfrm>
                <a:off x="2428570" y="4142272"/>
                <a:ext cx="0" cy="468000"/>
              </a:xfrm>
              <a:prstGeom prst="straightConnector1">
                <a:avLst/>
              </a:prstGeom>
              <a:ln>
                <a:solidFill>
                  <a:srgbClr val="FF6600"/>
                </a:solidFill>
                <a:headEnd type="none" w="med" len="med"/>
                <a:tailEnd type="arrow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</p:grpSp>
        <p:sp>
          <p:nvSpPr>
            <p:cNvPr id="108" name="107 CuadroTexto"/>
            <p:cNvSpPr txBox="1"/>
            <p:nvPr/>
          </p:nvSpPr>
          <p:spPr>
            <a:xfrm>
              <a:off x="2997607" y="2885298"/>
              <a:ext cx="700834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rgbClr val="FF3300"/>
                  </a:solidFill>
                </a:rPr>
                <a:t>false</a:t>
              </a:r>
            </a:p>
          </p:txBody>
        </p:sp>
        <p:sp>
          <p:nvSpPr>
            <p:cNvPr id="107" name="106 CuadroTexto"/>
            <p:cNvSpPr txBox="1"/>
            <p:nvPr/>
          </p:nvSpPr>
          <p:spPr>
            <a:xfrm>
              <a:off x="2514441" y="3639760"/>
              <a:ext cx="606256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rgbClr val="92D050"/>
                  </a:solidFill>
                </a:rPr>
                <a:t>true</a:t>
              </a:r>
            </a:p>
          </p:txBody>
        </p:sp>
        <p:grpSp>
          <p:nvGrpSpPr>
            <p:cNvPr id="55" name="54 Grupo"/>
            <p:cNvGrpSpPr/>
            <p:nvPr/>
          </p:nvGrpSpPr>
          <p:grpSpPr>
            <a:xfrm>
              <a:off x="1630946" y="3580283"/>
              <a:ext cx="1644136" cy="1362597"/>
              <a:chOff x="1630946" y="2354435"/>
              <a:chExt cx="1644136" cy="1362597"/>
            </a:xfrm>
          </p:grpSpPr>
          <p:cxnSp>
            <p:nvCxnSpPr>
              <p:cNvPr id="109" name="108 Conector recto de flecha"/>
              <p:cNvCxnSpPr/>
              <p:nvPr/>
            </p:nvCxnSpPr>
            <p:spPr bwMode="auto">
              <a:xfrm>
                <a:off x="2419107" y="2354435"/>
                <a:ext cx="0" cy="468000"/>
              </a:xfrm>
              <a:prstGeom prst="straightConnector1">
                <a:avLst/>
              </a:prstGeom>
              <a:ln>
                <a:solidFill>
                  <a:srgbClr val="92D050"/>
                </a:solidFill>
                <a:headEnd type="none" w="med" len="med"/>
                <a:tailEnd type="arrow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grpSp>
            <p:nvGrpSpPr>
              <p:cNvPr id="123" name="122 Grupo"/>
              <p:cNvGrpSpPr/>
              <p:nvPr/>
            </p:nvGrpSpPr>
            <p:grpSpPr>
              <a:xfrm>
                <a:off x="1630946" y="2842757"/>
                <a:ext cx="1644136" cy="874275"/>
                <a:chOff x="5796136" y="1009806"/>
                <a:chExt cx="1512168" cy="655180"/>
              </a:xfrm>
            </p:grpSpPr>
            <p:sp>
              <p:nvSpPr>
                <p:cNvPr id="124" name="123 Rectángulo"/>
                <p:cNvSpPr/>
                <p:nvPr/>
              </p:nvSpPr>
              <p:spPr bwMode="auto">
                <a:xfrm>
                  <a:off x="5796136" y="1009806"/>
                  <a:ext cx="1512168" cy="65518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57263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s-ES" sz="19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25" name="124 CuadroTexto"/>
                <p:cNvSpPr txBox="1"/>
                <p:nvPr/>
              </p:nvSpPr>
              <p:spPr>
                <a:xfrm>
                  <a:off x="6503050" y="1172340"/>
                  <a:ext cx="169903" cy="2883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54" name="53 Grupo"/>
            <p:cNvGrpSpPr/>
            <p:nvPr/>
          </p:nvGrpSpPr>
          <p:grpSpPr>
            <a:xfrm>
              <a:off x="1795229" y="2499858"/>
              <a:ext cx="1237053" cy="1129225"/>
              <a:chOff x="1795229" y="1274010"/>
              <a:chExt cx="1237053" cy="1129225"/>
            </a:xfrm>
          </p:grpSpPr>
          <p:cxnSp>
            <p:nvCxnSpPr>
              <p:cNvPr id="117" name="116 Conector recto de flecha"/>
              <p:cNvCxnSpPr/>
              <p:nvPr/>
            </p:nvCxnSpPr>
            <p:spPr bwMode="auto">
              <a:xfrm>
                <a:off x="2419107" y="1274010"/>
                <a:ext cx="0" cy="298800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grpSp>
            <p:nvGrpSpPr>
              <p:cNvPr id="113" name="112 Grupo"/>
              <p:cNvGrpSpPr/>
              <p:nvPr/>
            </p:nvGrpSpPr>
            <p:grpSpPr>
              <a:xfrm>
                <a:off x="1795229" y="1598210"/>
                <a:ext cx="1237053" cy="805025"/>
                <a:chOff x="1681668" y="4094098"/>
                <a:chExt cx="1237053" cy="571291"/>
              </a:xfrm>
            </p:grpSpPr>
            <p:sp>
              <p:nvSpPr>
                <p:cNvPr id="114" name="113 Elipse"/>
                <p:cNvSpPr/>
                <p:nvPr/>
              </p:nvSpPr>
              <p:spPr bwMode="auto">
                <a:xfrm>
                  <a:off x="1681668" y="4094098"/>
                  <a:ext cx="1237053" cy="571291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headEnd type="none" w="med" len="med"/>
                  <a:tailEnd type="none" w="med" len="med"/>
                </a:ln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57263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s-ES" sz="19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15" name="114 CuadroTexto"/>
                <p:cNvSpPr txBox="1"/>
                <p:nvPr/>
              </p:nvSpPr>
              <p:spPr>
                <a:xfrm>
                  <a:off x="1696448" y="4239844"/>
                  <a:ext cx="1218603" cy="2730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s-ES" dirty="0"/>
                    <a:t>condición</a:t>
                  </a:r>
                </a:p>
              </p:txBody>
            </p:sp>
          </p:grpSp>
        </p:grpSp>
        <p:grpSp>
          <p:nvGrpSpPr>
            <p:cNvPr id="52" name="51 Grupo"/>
            <p:cNvGrpSpPr/>
            <p:nvPr/>
          </p:nvGrpSpPr>
          <p:grpSpPr>
            <a:xfrm>
              <a:off x="1259632" y="3255303"/>
              <a:ext cx="1174332" cy="1923408"/>
              <a:chOff x="1259632" y="2029455"/>
              <a:chExt cx="1174332" cy="1923408"/>
            </a:xfrm>
          </p:grpSpPr>
          <p:cxnSp>
            <p:nvCxnSpPr>
              <p:cNvPr id="148" name="147 Conector recto de flecha"/>
              <p:cNvCxnSpPr/>
              <p:nvPr/>
            </p:nvCxnSpPr>
            <p:spPr bwMode="auto">
              <a:xfrm>
                <a:off x="1259632" y="2029455"/>
                <a:ext cx="536400" cy="2149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145" name="144 Conector recto de flecha"/>
              <p:cNvCxnSpPr/>
              <p:nvPr/>
            </p:nvCxnSpPr>
            <p:spPr bwMode="auto">
              <a:xfrm>
                <a:off x="1282279" y="2034063"/>
                <a:ext cx="0" cy="1918800"/>
              </a:xfrm>
              <a:prstGeom prst="straightConnector1">
                <a:avLst/>
              </a:prstGeom>
              <a:ln>
                <a:headEnd type="none" w="med" len="med"/>
                <a:tailEnd type="none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146" name="145 Conector recto de flecha"/>
              <p:cNvCxnSpPr/>
              <p:nvPr/>
            </p:nvCxnSpPr>
            <p:spPr bwMode="auto">
              <a:xfrm>
                <a:off x="2413755" y="3717032"/>
                <a:ext cx="0" cy="216024"/>
              </a:xfrm>
              <a:prstGeom prst="straightConnector1">
                <a:avLst/>
              </a:prstGeom>
              <a:ln>
                <a:headEnd type="none" w="med" len="med"/>
                <a:tailEnd type="none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147" name="146 Conector recto de flecha"/>
              <p:cNvCxnSpPr/>
              <p:nvPr/>
            </p:nvCxnSpPr>
            <p:spPr bwMode="auto">
              <a:xfrm>
                <a:off x="1267991" y="3942581"/>
                <a:ext cx="1165973" cy="0"/>
              </a:xfrm>
              <a:prstGeom prst="straightConnector1">
                <a:avLst/>
              </a:prstGeom>
              <a:ln>
                <a:headEnd type="none" w="med" len="med"/>
                <a:tailEnd type="none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</p:grpSp>
        <p:sp>
          <p:nvSpPr>
            <p:cNvPr id="173" name="172 CuadroTexto"/>
            <p:cNvSpPr txBox="1"/>
            <p:nvPr/>
          </p:nvSpPr>
          <p:spPr>
            <a:xfrm>
              <a:off x="2053090" y="2053268"/>
              <a:ext cx="761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800" b="1" dirty="0" err="1">
                  <a:solidFill>
                    <a:srgbClr val="FF3300"/>
                  </a:solidFill>
                </a:rPr>
                <a:t>while</a:t>
              </a:r>
              <a:endParaRPr lang="es-ES" sz="1800" b="1" dirty="0"/>
            </a:p>
          </p:txBody>
        </p:sp>
        <p:sp>
          <p:nvSpPr>
            <p:cNvPr id="53" name="52 CuadroTexto"/>
            <p:cNvSpPr txBox="1"/>
            <p:nvPr/>
          </p:nvSpPr>
          <p:spPr>
            <a:xfrm>
              <a:off x="1630946" y="4103585"/>
              <a:ext cx="164413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dirty="0"/>
                <a:t>instrucciones</a:t>
              </a:r>
            </a:p>
            <a:p>
              <a:pPr algn="ctr"/>
              <a:endParaRPr lang="es-ES" sz="1600" dirty="0"/>
            </a:p>
            <a:p>
              <a:pPr algn="ctr"/>
              <a:r>
                <a:rPr lang="es-ES" sz="1600" dirty="0"/>
                <a:t>instrucciones</a:t>
              </a:r>
            </a:p>
          </p:txBody>
        </p:sp>
      </p:grpSp>
      <p:sp>
        <p:nvSpPr>
          <p:cNvPr id="6" name="5 Flecha circular"/>
          <p:cNvSpPr/>
          <p:nvPr/>
        </p:nvSpPr>
        <p:spPr bwMode="auto">
          <a:xfrm rot="5400000">
            <a:off x="1945636" y="4460761"/>
            <a:ext cx="1616809" cy="1360229"/>
          </a:xfrm>
          <a:prstGeom prst="circularArrow">
            <a:avLst>
              <a:gd name="adj1" fmla="val 6266"/>
              <a:gd name="adj2" fmla="val 1454042"/>
              <a:gd name="adj3" fmla="val 21027756"/>
              <a:gd name="adj4" fmla="val 10800000"/>
              <a:gd name="adj5" fmla="val 13351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8" name="7 Grupo"/>
          <p:cNvGrpSpPr/>
          <p:nvPr/>
        </p:nvGrpSpPr>
        <p:grpSpPr>
          <a:xfrm>
            <a:off x="4880583" y="2193819"/>
            <a:ext cx="2611759" cy="3541149"/>
            <a:chOff x="4880583" y="2193819"/>
            <a:chExt cx="2611759" cy="3541149"/>
          </a:xfrm>
        </p:grpSpPr>
        <p:grpSp>
          <p:nvGrpSpPr>
            <p:cNvPr id="51" name="50 Grupo"/>
            <p:cNvGrpSpPr/>
            <p:nvPr/>
          </p:nvGrpSpPr>
          <p:grpSpPr>
            <a:xfrm>
              <a:off x="5458893" y="3431156"/>
              <a:ext cx="554768" cy="1280288"/>
              <a:chOff x="4139952" y="2086749"/>
              <a:chExt cx="554768" cy="1280288"/>
            </a:xfrm>
          </p:grpSpPr>
          <p:cxnSp>
            <p:nvCxnSpPr>
              <p:cNvPr id="167" name="166 Conector recto de flecha"/>
              <p:cNvCxnSpPr/>
              <p:nvPr/>
            </p:nvCxnSpPr>
            <p:spPr bwMode="auto">
              <a:xfrm>
                <a:off x="4139952" y="2086749"/>
                <a:ext cx="360000" cy="2149"/>
              </a:xfrm>
              <a:prstGeom prst="straightConnector1">
                <a:avLst/>
              </a:prstGeom>
              <a:ln>
                <a:solidFill>
                  <a:srgbClr val="92D050"/>
                </a:solidFill>
                <a:headEnd type="none" w="med" len="med"/>
                <a:tailEnd type="arrow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164" name="163 Conector recto de flecha"/>
              <p:cNvCxnSpPr/>
              <p:nvPr/>
            </p:nvCxnSpPr>
            <p:spPr bwMode="auto">
              <a:xfrm>
                <a:off x="4160219" y="2091357"/>
                <a:ext cx="0" cy="1265635"/>
              </a:xfrm>
              <a:prstGeom prst="straightConnector1">
                <a:avLst/>
              </a:prstGeom>
              <a:ln>
                <a:solidFill>
                  <a:srgbClr val="92D050"/>
                </a:solidFill>
                <a:headEnd type="none" w="med" len="med"/>
                <a:tailEnd type="none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170" name="169 Conector recto de flecha"/>
              <p:cNvCxnSpPr/>
              <p:nvPr/>
            </p:nvCxnSpPr>
            <p:spPr bwMode="auto">
              <a:xfrm>
                <a:off x="4152702" y="3356992"/>
                <a:ext cx="542018" cy="10045"/>
              </a:xfrm>
              <a:prstGeom prst="straightConnector1">
                <a:avLst/>
              </a:prstGeom>
              <a:ln>
                <a:solidFill>
                  <a:srgbClr val="92D050"/>
                </a:solidFill>
                <a:headEnd type="none" w="med" len="med"/>
                <a:tailEnd type="none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</p:grpSp>
        <p:cxnSp>
          <p:nvCxnSpPr>
            <p:cNvPr id="169" name="168 Conector recto de flecha"/>
            <p:cNvCxnSpPr/>
            <p:nvPr/>
          </p:nvCxnSpPr>
          <p:spPr bwMode="auto">
            <a:xfrm flipH="1">
              <a:off x="6618315" y="5118733"/>
              <a:ext cx="1" cy="616235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grpSp>
          <p:nvGrpSpPr>
            <p:cNvPr id="57" name="56 Grupo"/>
            <p:cNvGrpSpPr/>
            <p:nvPr/>
          </p:nvGrpSpPr>
          <p:grpSpPr>
            <a:xfrm>
              <a:off x="5999789" y="3825734"/>
              <a:ext cx="1237053" cy="1305700"/>
              <a:chOff x="5999789" y="2599886"/>
              <a:chExt cx="1237053" cy="1305700"/>
            </a:xfrm>
          </p:grpSpPr>
          <p:cxnSp>
            <p:nvCxnSpPr>
              <p:cNvPr id="152" name="151 Conector recto de flecha"/>
              <p:cNvCxnSpPr/>
              <p:nvPr/>
            </p:nvCxnSpPr>
            <p:spPr bwMode="auto">
              <a:xfrm>
                <a:off x="6618315" y="2599886"/>
                <a:ext cx="0" cy="468000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grpSp>
            <p:nvGrpSpPr>
              <p:cNvPr id="160" name="159 Grupo"/>
              <p:cNvGrpSpPr/>
              <p:nvPr/>
            </p:nvGrpSpPr>
            <p:grpSpPr>
              <a:xfrm>
                <a:off x="5999789" y="3100561"/>
                <a:ext cx="1237053" cy="805025"/>
                <a:chOff x="1681668" y="4103111"/>
                <a:chExt cx="1237053" cy="571291"/>
              </a:xfrm>
            </p:grpSpPr>
            <p:sp>
              <p:nvSpPr>
                <p:cNvPr id="161" name="160 Elipse"/>
                <p:cNvSpPr/>
                <p:nvPr/>
              </p:nvSpPr>
              <p:spPr bwMode="auto">
                <a:xfrm>
                  <a:off x="1681668" y="4103111"/>
                  <a:ext cx="1237053" cy="571291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headEnd type="none" w="med" len="med"/>
                  <a:tailEnd type="none" w="med" len="med"/>
                </a:ln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57263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s-ES" sz="19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62" name="161 CuadroTexto"/>
                <p:cNvSpPr txBox="1"/>
                <p:nvPr/>
              </p:nvSpPr>
              <p:spPr>
                <a:xfrm>
                  <a:off x="1696448" y="4239844"/>
                  <a:ext cx="1218603" cy="2730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s-ES" dirty="0"/>
                    <a:t>condición</a:t>
                  </a:r>
                </a:p>
              </p:txBody>
            </p:sp>
          </p:grpSp>
        </p:grpSp>
        <p:sp>
          <p:nvSpPr>
            <p:cNvPr id="149" name="148 CuadroTexto"/>
            <p:cNvSpPr txBox="1"/>
            <p:nvPr/>
          </p:nvSpPr>
          <p:spPr>
            <a:xfrm>
              <a:off x="5835506" y="5158904"/>
              <a:ext cx="700834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rgbClr val="FF3300"/>
                  </a:solidFill>
                </a:rPr>
                <a:t>false</a:t>
              </a:r>
            </a:p>
          </p:txBody>
        </p:sp>
        <p:grpSp>
          <p:nvGrpSpPr>
            <p:cNvPr id="56" name="55 Grupo"/>
            <p:cNvGrpSpPr/>
            <p:nvPr/>
          </p:nvGrpSpPr>
          <p:grpSpPr>
            <a:xfrm>
              <a:off x="5835506" y="2742386"/>
              <a:ext cx="1644136" cy="1195052"/>
              <a:chOff x="5835506" y="1516538"/>
              <a:chExt cx="1644136" cy="1195052"/>
            </a:xfrm>
          </p:grpSpPr>
          <p:cxnSp>
            <p:nvCxnSpPr>
              <p:cNvPr id="153" name="152 Conector recto de flecha"/>
              <p:cNvCxnSpPr/>
              <p:nvPr/>
            </p:nvCxnSpPr>
            <p:spPr bwMode="auto">
              <a:xfrm>
                <a:off x="6618315" y="1516538"/>
                <a:ext cx="0" cy="298800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155" name="154 Rectángulo"/>
              <p:cNvSpPr/>
              <p:nvPr/>
            </p:nvSpPr>
            <p:spPr bwMode="auto">
              <a:xfrm>
                <a:off x="5835506" y="1837315"/>
                <a:ext cx="1644136" cy="874275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57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1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sp>
          <p:nvSpPr>
            <p:cNvPr id="168" name="167 CuadroTexto"/>
            <p:cNvSpPr txBox="1"/>
            <p:nvPr/>
          </p:nvSpPr>
          <p:spPr>
            <a:xfrm>
              <a:off x="4880583" y="3819070"/>
              <a:ext cx="606256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rgbClr val="92D050"/>
                  </a:solidFill>
                </a:rPr>
                <a:t>true</a:t>
              </a:r>
            </a:p>
          </p:txBody>
        </p:sp>
        <p:sp>
          <p:nvSpPr>
            <p:cNvPr id="177" name="176 CuadroTexto"/>
            <p:cNvSpPr txBox="1"/>
            <p:nvPr/>
          </p:nvSpPr>
          <p:spPr>
            <a:xfrm>
              <a:off x="5986517" y="2193819"/>
              <a:ext cx="12747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800" b="1" dirty="0">
                  <a:solidFill>
                    <a:srgbClr val="FF3300"/>
                  </a:solidFill>
                </a:rPr>
                <a:t>do…</a:t>
              </a:r>
              <a:r>
                <a:rPr lang="es-ES" sz="1800" b="1" dirty="0" err="1">
                  <a:solidFill>
                    <a:srgbClr val="FF3300"/>
                  </a:solidFill>
                </a:rPr>
                <a:t>while</a:t>
              </a:r>
              <a:endParaRPr lang="es-ES" sz="1800" b="1" dirty="0"/>
            </a:p>
          </p:txBody>
        </p:sp>
        <p:sp>
          <p:nvSpPr>
            <p:cNvPr id="58" name="57 CuadroTexto"/>
            <p:cNvSpPr txBox="1"/>
            <p:nvPr/>
          </p:nvSpPr>
          <p:spPr>
            <a:xfrm>
              <a:off x="5848206" y="3106441"/>
              <a:ext cx="164413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dirty="0"/>
                <a:t>instrucciones</a:t>
              </a:r>
            </a:p>
            <a:p>
              <a:pPr algn="ctr"/>
              <a:endParaRPr lang="es-ES" sz="1600" dirty="0"/>
            </a:p>
            <a:p>
              <a:pPr algn="ctr"/>
              <a:r>
                <a:rPr lang="es-ES" sz="1600" dirty="0"/>
                <a:t>instrucciones</a:t>
              </a:r>
            </a:p>
          </p:txBody>
        </p:sp>
      </p:grpSp>
      <p:sp>
        <p:nvSpPr>
          <p:cNvPr id="7" name="6 Flecha circular"/>
          <p:cNvSpPr/>
          <p:nvPr/>
        </p:nvSpPr>
        <p:spPr bwMode="auto">
          <a:xfrm rot="5720360">
            <a:off x="5753602" y="3383376"/>
            <a:ext cx="2451396" cy="2320814"/>
          </a:xfrm>
          <a:prstGeom prst="circularArrow">
            <a:avLst>
              <a:gd name="adj1" fmla="val 4580"/>
              <a:gd name="adj2" fmla="val 1142319"/>
              <a:gd name="adj3" fmla="val 20410763"/>
              <a:gd name="adj4" fmla="val 10800000"/>
              <a:gd name="adj5" fmla="val 894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9" name="58 Rectángulo"/>
          <p:cNvSpPr/>
          <p:nvPr/>
        </p:nvSpPr>
        <p:spPr>
          <a:xfrm>
            <a:off x="2031510" y="4318328"/>
            <a:ext cx="7617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1800" dirty="0">
                <a:solidFill>
                  <a:srgbClr val="FF0000"/>
                </a:solidFill>
              </a:rPr>
              <a:t>break</a:t>
            </a:r>
          </a:p>
        </p:txBody>
      </p:sp>
      <p:sp>
        <p:nvSpPr>
          <p:cNvPr id="60" name="59 Rectángulo"/>
          <p:cNvSpPr/>
          <p:nvPr/>
        </p:nvSpPr>
        <p:spPr>
          <a:xfrm>
            <a:off x="6237441" y="3337273"/>
            <a:ext cx="7617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1800" dirty="0">
                <a:solidFill>
                  <a:srgbClr val="FF0000"/>
                </a:solidFill>
              </a:rPr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1958890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59" grpId="0"/>
      <p:bldP spid="6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08842" y="44624"/>
            <a:ext cx="7392988" cy="563563"/>
          </a:xfrm>
        </p:spPr>
        <p:txBody>
          <a:bodyPr/>
          <a:lstStyle/>
          <a:p>
            <a:r>
              <a:rPr lang="en-US" dirty="0" err="1"/>
              <a:t>Estructuras</a:t>
            </a:r>
            <a:r>
              <a:rPr lang="en-US" dirty="0"/>
              <a:t> de </a:t>
            </a:r>
            <a:r>
              <a:rPr lang="en-US" dirty="0" err="1"/>
              <a:t>salto</a:t>
            </a:r>
            <a:r>
              <a:rPr lang="en-US" dirty="0"/>
              <a:t> (continue)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31" name="130 CuadroTexto"/>
          <p:cNvSpPr txBox="1"/>
          <p:nvPr/>
        </p:nvSpPr>
        <p:spPr>
          <a:xfrm>
            <a:off x="971600" y="1013827"/>
            <a:ext cx="68407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rgbClr val="009900"/>
                </a:solidFill>
                <a:latin typeface="+mn-lt"/>
                <a:ea typeface="Adobe Heiti Std R" pitchFamily="34" charset="-128"/>
              </a:rPr>
              <a:t>La instrucción </a:t>
            </a:r>
            <a:r>
              <a:rPr lang="es-ES" sz="1600" b="1" dirty="0" err="1">
                <a:solidFill>
                  <a:srgbClr val="FF0000"/>
                </a:solidFill>
                <a:latin typeface="+mn-lt"/>
                <a:ea typeface="Adobe Heiti Std R" pitchFamily="34" charset="-128"/>
              </a:rPr>
              <a:t>continue</a:t>
            </a:r>
            <a:r>
              <a:rPr lang="es-ES" sz="1600" dirty="0">
                <a:solidFill>
                  <a:srgbClr val="009900"/>
                </a:solidFill>
                <a:latin typeface="+mn-lt"/>
                <a:ea typeface="Adobe Heiti Std R" pitchFamily="34" charset="-128"/>
              </a:rPr>
              <a:t>, colocada en cualquier parte del bloque interior del bucle, interrumpe sólo la iteración actual, pasando a comprobar nuevamente la condición.</a:t>
            </a:r>
          </a:p>
        </p:txBody>
      </p:sp>
      <p:grpSp>
        <p:nvGrpSpPr>
          <p:cNvPr id="9" name="8 Grupo"/>
          <p:cNvGrpSpPr/>
          <p:nvPr/>
        </p:nvGrpSpPr>
        <p:grpSpPr>
          <a:xfrm>
            <a:off x="1259632" y="2053268"/>
            <a:ext cx="2438809" cy="3782852"/>
            <a:chOff x="1259632" y="2053268"/>
            <a:chExt cx="2438809" cy="3782852"/>
          </a:xfrm>
        </p:grpSpPr>
        <p:grpSp>
          <p:nvGrpSpPr>
            <p:cNvPr id="50" name="49 Grupo"/>
            <p:cNvGrpSpPr/>
            <p:nvPr/>
          </p:nvGrpSpPr>
          <p:grpSpPr>
            <a:xfrm>
              <a:off x="2404229" y="3235733"/>
              <a:ext cx="1249200" cy="2600387"/>
              <a:chOff x="2413692" y="2009885"/>
              <a:chExt cx="1249200" cy="2600387"/>
            </a:xfrm>
          </p:grpSpPr>
          <p:cxnSp>
            <p:nvCxnSpPr>
              <p:cNvPr id="73" name="72 Conector recto de flecha"/>
              <p:cNvCxnSpPr/>
              <p:nvPr/>
            </p:nvCxnSpPr>
            <p:spPr bwMode="auto">
              <a:xfrm>
                <a:off x="2961604" y="2029455"/>
                <a:ext cx="686929" cy="0"/>
              </a:xfrm>
              <a:prstGeom prst="straightConnector1">
                <a:avLst/>
              </a:prstGeom>
              <a:ln>
                <a:solidFill>
                  <a:srgbClr val="FF6600"/>
                </a:solidFill>
                <a:headEnd type="none" w="med" len="med"/>
                <a:tailEnd type="none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85" name="84 Conector recto de flecha"/>
              <p:cNvCxnSpPr/>
              <p:nvPr/>
            </p:nvCxnSpPr>
            <p:spPr bwMode="auto">
              <a:xfrm>
                <a:off x="3648533" y="2009885"/>
                <a:ext cx="0" cy="2143960"/>
              </a:xfrm>
              <a:prstGeom prst="straightConnector1">
                <a:avLst/>
              </a:prstGeom>
              <a:ln>
                <a:solidFill>
                  <a:srgbClr val="FF6600"/>
                </a:solidFill>
                <a:headEnd type="none" w="med" len="med"/>
                <a:tailEnd type="none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86" name="85 Conector recto de flecha"/>
              <p:cNvCxnSpPr/>
              <p:nvPr/>
            </p:nvCxnSpPr>
            <p:spPr bwMode="auto">
              <a:xfrm>
                <a:off x="2413692" y="4157517"/>
                <a:ext cx="1249200" cy="0"/>
              </a:xfrm>
              <a:prstGeom prst="straightConnector1">
                <a:avLst/>
              </a:prstGeom>
              <a:ln>
                <a:solidFill>
                  <a:srgbClr val="FF6600"/>
                </a:solidFill>
                <a:headEnd type="none" w="med" len="med"/>
                <a:tailEnd type="none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87" name="86 Conector recto de flecha"/>
              <p:cNvCxnSpPr/>
              <p:nvPr/>
            </p:nvCxnSpPr>
            <p:spPr bwMode="auto">
              <a:xfrm>
                <a:off x="2428570" y="4142272"/>
                <a:ext cx="0" cy="468000"/>
              </a:xfrm>
              <a:prstGeom prst="straightConnector1">
                <a:avLst/>
              </a:prstGeom>
              <a:ln>
                <a:solidFill>
                  <a:srgbClr val="FF6600"/>
                </a:solidFill>
                <a:headEnd type="none" w="med" len="med"/>
                <a:tailEnd type="arrow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</p:grpSp>
        <p:sp>
          <p:nvSpPr>
            <p:cNvPr id="108" name="107 CuadroTexto"/>
            <p:cNvSpPr txBox="1"/>
            <p:nvPr/>
          </p:nvSpPr>
          <p:spPr>
            <a:xfrm>
              <a:off x="2997607" y="2885298"/>
              <a:ext cx="700834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rgbClr val="FF3300"/>
                  </a:solidFill>
                </a:rPr>
                <a:t>false</a:t>
              </a:r>
            </a:p>
          </p:txBody>
        </p:sp>
        <p:sp>
          <p:nvSpPr>
            <p:cNvPr id="107" name="106 CuadroTexto"/>
            <p:cNvSpPr txBox="1"/>
            <p:nvPr/>
          </p:nvSpPr>
          <p:spPr>
            <a:xfrm>
              <a:off x="2514441" y="3639760"/>
              <a:ext cx="606256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rgbClr val="92D050"/>
                  </a:solidFill>
                </a:rPr>
                <a:t>true</a:t>
              </a:r>
            </a:p>
          </p:txBody>
        </p:sp>
        <p:grpSp>
          <p:nvGrpSpPr>
            <p:cNvPr id="55" name="54 Grupo"/>
            <p:cNvGrpSpPr/>
            <p:nvPr/>
          </p:nvGrpSpPr>
          <p:grpSpPr>
            <a:xfrm>
              <a:off x="1630946" y="3580283"/>
              <a:ext cx="1644136" cy="1362597"/>
              <a:chOff x="1630946" y="2354435"/>
              <a:chExt cx="1644136" cy="1362597"/>
            </a:xfrm>
          </p:grpSpPr>
          <p:cxnSp>
            <p:nvCxnSpPr>
              <p:cNvPr id="109" name="108 Conector recto de flecha"/>
              <p:cNvCxnSpPr/>
              <p:nvPr/>
            </p:nvCxnSpPr>
            <p:spPr bwMode="auto">
              <a:xfrm>
                <a:off x="2419107" y="2354435"/>
                <a:ext cx="0" cy="468000"/>
              </a:xfrm>
              <a:prstGeom prst="straightConnector1">
                <a:avLst/>
              </a:prstGeom>
              <a:ln>
                <a:solidFill>
                  <a:srgbClr val="92D050"/>
                </a:solidFill>
                <a:headEnd type="none" w="med" len="med"/>
                <a:tailEnd type="arrow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grpSp>
            <p:nvGrpSpPr>
              <p:cNvPr id="123" name="122 Grupo"/>
              <p:cNvGrpSpPr/>
              <p:nvPr/>
            </p:nvGrpSpPr>
            <p:grpSpPr>
              <a:xfrm>
                <a:off x="1630946" y="2842757"/>
                <a:ext cx="1644136" cy="874275"/>
                <a:chOff x="5796136" y="1009806"/>
                <a:chExt cx="1512168" cy="655180"/>
              </a:xfrm>
            </p:grpSpPr>
            <p:sp>
              <p:nvSpPr>
                <p:cNvPr id="124" name="123 Rectángulo"/>
                <p:cNvSpPr/>
                <p:nvPr/>
              </p:nvSpPr>
              <p:spPr bwMode="auto">
                <a:xfrm>
                  <a:off x="5796136" y="1009806"/>
                  <a:ext cx="1512168" cy="65518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57263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s-ES" sz="19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25" name="124 CuadroTexto"/>
                <p:cNvSpPr txBox="1"/>
                <p:nvPr/>
              </p:nvSpPr>
              <p:spPr>
                <a:xfrm>
                  <a:off x="6503050" y="1172340"/>
                  <a:ext cx="169903" cy="2883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endParaRPr lang="es-ES" dirty="0"/>
                </a:p>
              </p:txBody>
            </p:sp>
          </p:grpSp>
        </p:grpSp>
        <p:grpSp>
          <p:nvGrpSpPr>
            <p:cNvPr id="54" name="53 Grupo"/>
            <p:cNvGrpSpPr/>
            <p:nvPr/>
          </p:nvGrpSpPr>
          <p:grpSpPr>
            <a:xfrm>
              <a:off x="1795229" y="2499858"/>
              <a:ext cx="1237053" cy="1129225"/>
              <a:chOff x="1795229" y="1274010"/>
              <a:chExt cx="1237053" cy="1129225"/>
            </a:xfrm>
          </p:grpSpPr>
          <p:cxnSp>
            <p:nvCxnSpPr>
              <p:cNvPr id="117" name="116 Conector recto de flecha"/>
              <p:cNvCxnSpPr/>
              <p:nvPr/>
            </p:nvCxnSpPr>
            <p:spPr bwMode="auto">
              <a:xfrm>
                <a:off x="2419107" y="1274010"/>
                <a:ext cx="0" cy="298800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grpSp>
            <p:nvGrpSpPr>
              <p:cNvPr id="113" name="112 Grupo"/>
              <p:cNvGrpSpPr/>
              <p:nvPr/>
            </p:nvGrpSpPr>
            <p:grpSpPr>
              <a:xfrm>
                <a:off x="1795229" y="1598210"/>
                <a:ext cx="1237053" cy="805025"/>
                <a:chOff x="1681668" y="4094098"/>
                <a:chExt cx="1237053" cy="571291"/>
              </a:xfrm>
            </p:grpSpPr>
            <p:sp>
              <p:nvSpPr>
                <p:cNvPr id="114" name="113 Elipse"/>
                <p:cNvSpPr/>
                <p:nvPr/>
              </p:nvSpPr>
              <p:spPr bwMode="auto">
                <a:xfrm>
                  <a:off x="1681668" y="4094098"/>
                  <a:ext cx="1237053" cy="571291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headEnd type="none" w="med" len="med"/>
                  <a:tailEnd type="none" w="med" len="med"/>
                </a:ln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57263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s-ES" sz="19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15" name="114 CuadroTexto"/>
                <p:cNvSpPr txBox="1"/>
                <p:nvPr/>
              </p:nvSpPr>
              <p:spPr>
                <a:xfrm>
                  <a:off x="1696448" y="4239844"/>
                  <a:ext cx="1218603" cy="2730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s-ES" dirty="0"/>
                    <a:t>condición</a:t>
                  </a:r>
                </a:p>
              </p:txBody>
            </p:sp>
          </p:grpSp>
        </p:grpSp>
        <p:grpSp>
          <p:nvGrpSpPr>
            <p:cNvPr id="52" name="51 Grupo"/>
            <p:cNvGrpSpPr/>
            <p:nvPr/>
          </p:nvGrpSpPr>
          <p:grpSpPr>
            <a:xfrm>
              <a:off x="1259632" y="3255303"/>
              <a:ext cx="1174332" cy="1923408"/>
              <a:chOff x="1259632" y="2029455"/>
              <a:chExt cx="1174332" cy="1923408"/>
            </a:xfrm>
          </p:grpSpPr>
          <p:cxnSp>
            <p:nvCxnSpPr>
              <p:cNvPr id="148" name="147 Conector recto de flecha"/>
              <p:cNvCxnSpPr/>
              <p:nvPr/>
            </p:nvCxnSpPr>
            <p:spPr bwMode="auto">
              <a:xfrm>
                <a:off x="1259632" y="2029455"/>
                <a:ext cx="536400" cy="2149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145" name="144 Conector recto de flecha"/>
              <p:cNvCxnSpPr/>
              <p:nvPr/>
            </p:nvCxnSpPr>
            <p:spPr bwMode="auto">
              <a:xfrm>
                <a:off x="1282279" y="2034063"/>
                <a:ext cx="0" cy="1918800"/>
              </a:xfrm>
              <a:prstGeom prst="straightConnector1">
                <a:avLst/>
              </a:prstGeom>
              <a:ln>
                <a:headEnd type="none" w="med" len="med"/>
                <a:tailEnd type="none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146" name="145 Conector recto de flecha"/>
              <p:cNvCxnSpPr/>
              <p:nvPr/>
            </p:nvCxnSpPr>
            <p:spPr bwMode="auto">
              <a:xfrm>
                <a:off x="2413755" y="3717032"/>
                <a:ext cx="0" cy="216024"/>
              </a:xfrm>
              <a:prstGeom prst="straightConnector1">
                <a:avLst/>
              </a:prstGeom>
              <a:ln>
                <a:headEnd type="none" w="med" len="med"/>
                <a:tailEnd type="none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147" name="146 Conector recto de flecha"/>
              <p:cNvCxnSpPr/>
              <p:nvPr/>
            </p:nvCxnSpPr>
            <p:spPr bwMode="auto">
              <a:xfrm>
                <a:off x="1267991" y="3942581"/>
                <a:ext cx="1165973" cy="0"/>
              </a:xfrm>
              <a:prstGeom prst="straightConnector1">
                <a:avLst/>
              </a:prstGeom>
              <a:ln>
                <a:headEnd type="none" w="med" len="med"/>
                <a:tailEnd type="none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</p:grpSp>
        <p:sp>
          <p:nvSpPr>
            <p:cNvPr id="173" name="172 CuadroTexto"/>
            <p:cNvSpPr txBox="1"/>
            <p:nvPr/>
          </p:nvSpPr>
          <p:spPr>
            <a:xfrm>
              <a:off x="2053090" y="2053268"/>
              <a:ext cx="761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800" b="1" dirty="0" err="1">
                  <a:solidFill>
                    <a:srgbClr val="FF3300"/>
                  </a:solidFill>
                </a:rPr>
                <a:t>while</a:t>
              </a:r>
              <a:endParaRPr lang="es-ES" sz="1800" b="1" dirty="0"/>
            </a:p>
          </p:txBody>
        </p:sp>
        <p:sp>
          <p:nvSpPr>
            <p:cNvPr id="53" name="52 CuadroTexto"/>
            <p:cNvSpPr txBox="1"/>
            <p:nvPr/>
          </p:nvSpPr>
          <p:spPr>
            <a:xfrm>
              <a:off x="1630946" y="4103585"/>
              <a:ext cx="164413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dirty="0"/>
                <a:t>instrucciones</a:t>
              </a:r>
            </a:p>
            <a:p>
              <a:pPr algn="ctr"/>
              <a:endParaRPr lang="es-ES" sz="1600" dirty="0"/>
            </a:p>
            <a:p>
              <a:pPr algn="ctr"/>
              <a:r>
                <a:rPr lang="es-ES" sz="1600" dirty="0"/>
                <a:t>instrucciones</a:t>
              </a:r>
            </a:p>
          </p:txBody>
        </p:sp>
      </p:grpSp>
      <p:sp>
        <p:nvSpPr>
          <p:cNvPr id="6" name="5 Flecha circular"/>
          <p:cNvSpPr/>
          <p:nvPr/>
        </p:nvSpPr>
        <p:spPr bwMode="auto">
          <a:xfrm rot="15572165">
            <a:off x="1105101" y="3352622"/>
            <a:ext cx="1522591" cy="1245751"/>
          </a:xfrm>
          <a:prstGeom prst="circularArrow">
            <a:avLst>
              <a:gd name="adj1" fmla="val 6266"/>
              <a:gd name="adj2" fmla="val 1454042"/>
              <a:gd name="adj3" fmla="val 21027756"/>
              <a:gd name="adj4" fmla="val 10800000"/>
              <a:gd name="adj5" fmla="val 13351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0" name="9 Grupo"/>
          <p:cNvGrpSpPr/>
          <p:nvPr/>
        </p:nvGrpSpPr>
        <p:grpSpPr>
          <a:xfrm>
            <a:off x="4880583" y="2193819"/>
            <a:ext cx="2611759" cy="3541149"/>
            <a:chOff x="4880583" y="2193819"/>
            <a:chExt cx="2611759" cy="3541149"/>
          </a:xfrm>
        </p:grpSpPr>
        <p:grpSp>
          <p:nvGrpSpPr>
            <p:cNvPr id="51" name="50 Grupo"/>
            <p:cNvGrpSpPr/>
            <p:nvPr/>
          </p:nvGrpSpPr>
          <p:grpSpPr>
            <a:xfrm>
              <a:off x="5458893" y="3431156"/>
              <a:ext cx="554768" cy="1280288"/>
              <a:chOff x="4139952" y="2086749"/>
              <a:chExt cx="554768" cy="1280288"/>
            </a:xfrm>
          </p:grpSpPr>
          <p:cxnSp>
            <p:nvCxnSpPr>
              <p:cNvPr id="167" name="166 Conector recto de flecha"/>
              <p:cNvCxnSpPr/>
              <p:nvPr/>
            </p:nvCxnSpPr>
            <p:spPr bwMode="auto">
              <a:xfrm>
                <a:off x="4139952" y="2086749"/>
                <a:ext cx="360000" cy="2149"/>
              </a:xfrm>
              <a:prstGeom prst="straightConnector1">
                <a:avLst/>
              </a:prstGeom>
              <a:ln>
                <a:solidFill>
                  <a:srgbClr val="92D050"/>
                </a:solidFill>
                <a:headEnd type="none" w="med" len="med"/>
                <a:tailEnd type="arrow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164" name="163 Conector recto de flecha"/>
              <p:cNvCxnSpPr/>
              <p:nvPr/>
            </p:nvCxnSpPr>
            <p:spPr bwMode="auto">
              <a:xfrm>
                <a:off x="4160219" y="2091357"/>
                <a:ext cx="0" cy="1265635"/>
              </a:xfrm>
              <a:prstGeom prst="straightConnector1">
                <a:avLst/>
              </a:prstGeom>
              <a:ln>
                <a:solidFill>
                  <a:srgbClr val="92D050"/>
                </a:solidFill>
                <a:headEnd type="none" w="med" len="med"/>
                <a:tailEnd type="none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170" name="169 Conector recto de flecha"/>
              <p:cNvCxnSpPr/>
              <p:nvPr/>
            </p:nvCxnSpPr>
            <p:spPr bwMode="auto">
              <a:xfrm>
                <a:off x="4152702" y="3356992"/>
                <a:ext cx="542018" cy="10045"/>
              </a:xfrm>
              <a:prstGeom prst="straightConnector1">
                <a:avLst/>
              </a:prstGeom>
              <a:ln>
                <a:solidFill>
                  <a:srgbClr val="92D050"/>
                </a:solidFill>
                <a:headEnd type="none" w="med" len="med"/>
                <a:tailEnd type="none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</p:grpSp>
        <p:cxnSp>
          <p:nvCxnSpPr>
            <p:cNvPr id="169" name="168 Conector recto de flecha"/>
            <p:cNvCxnSpPr/>
            <p:nvPr/>
          </p:nvCxnSpPr>
          <p:spPr bwMode="auto">
            <a:xfrm flipH="1">
              <a:off x="6618315" y="5118733"/>
              <a:ext cx="1" cy="616235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grpSp>
          <p:nvGrpSpPr>
            <p:cNvPr id="57" name="56 Grupo"/>
            <p:cNvGrpSpPr/>
            <p:nvPr/>
          </p:nvGrpSpPr>
          <p:grpSpPr>
            <a:xfrm>
              <a:off x="5999789" y="3825734"/>
              <a:ext cx="1237053" cy="1305700"/>
              <a:chOff x="5999789" y="2599886"/>
              <a:chExt cx="1237053" cy="1305700"/>
            </a:xfrm>
          </p:grpSpPr>
          <p:cxnSp>
            <p:nvCxnSpPr>
              <p:cNvPr id="152" name="151 Conector recto de flecha"/>
              <p:cNvCxnSpPr/>
              <p:nvPr/>
            </p:nvCxnSpPr>
            <p:spPr bwMode="auto">
              <a:xfrm>
                <a:off x="6618315" y="2599886"/>
                <a:ext cx="0" cy="468000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grpSp>
            <p:nvGrpSpPr>
              <p:cNvPr id="160" name="159 Grupo"/>
              <p:cNvGrpSpPr/>
              <p:nvPr/>
            </p:nvGrpSpPr>
            <p:grpSpPr>
              <a:xfrm>
                <a:off x="5999789" y="3100561"/>
                <a:ext cx="1237053" cy="805025"/>
                <a:chOff x="1681668" y="4103111"/>
                <a:chExt cx="1237053" cy="571291"/>
              </a:xfrm>
            </p:grpSpPr>
            <p:sp>
              <p:nvSpPr>
                <p:cNvPr id="161" name="160 Elipse"/>
                <p:cNvSpPr/>
                <p:nvPr/>
              </p:nvSpPr>
              <p:spPr bwMode="auto">
                <a:xfrm>
                  <a:off x="1681668" y="4103111"/>
                  <a:ext cx="1237053" cy="571291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headEnd type="none" w="med" len="med"/>
                  <a:tailEnd type="none" w="med" len="med"/>
                </a:ln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57263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s-ES" sz="19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62" name="161 CuadroTexto"/>
                <p:cNvSpPr txBox="1"/>
                <p:nvPr/>
              </p:nvSpPr>
              <p:spPr>
                <a:xfrm>
                  <a:off x="1696448" y="4239844"/>
                  <a:ext cx="1218603" cy="2730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s-ES" dirty="0"/>
                    <a:t>condición</a:t>
                  </a:r>
                </a:p>
              </p:txBody>
            </p:sp>
          </p:grpSp>
        </p:grpSp>
        <p:sp>
          <p:nvSpPr>
            <p:cNvPr id="149" name="148 CuadroTexto"/>
            <p:cNvSpPr txBox="1"/>
            <p:nvPr/>
          </p:nvSpPr>
          <p:spPr>
            <a:xfrm>
              <a:off x="5835506" y="5158904"/>
              <a:ext cx="700834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rgbClr val="FF3300"/>
                  </a:solidFill>
                </a:rPr>
                <a:t>false</a:t>
              </a:r>
            </a:p>
          </p:txBody>
        </p:sp>
        <p:grpSp>
          <p:nvGrpSpPr>
            <p:cNvPr id="56" name="55 Grupo"/>
            <p:cNvGrpSpPr/>
            <p:nvPr/>
          </p:nvGrpSpPr>
          <p:grpSpPr>
            <a:xfrm>
              <a:off x="5835506" y="2742386"/>
              <a:ext cx="1644136" cy="1195052"/>
              <a:chOff x="5835506" y="1516538"/>
              <a:chExt cx="1644136" cy="1195052"/>
            </a:xfrm>
          </p:grpSpPr>
          <p:cxnSp>
            <p:nvCxnSpPr>
              <p:cNvPr id="153" name="152 Conector recto de flecha"/>
              <p:cNvCxnSpPr/>
              <p:nvPr/>
            </p:nvCxnSpPr>
            <p:spPr bwMode="auto">
              <a:xfrm>
                <a:off x="6618315" y="1516538"/>
                <a:ext cx="0" cy="298800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155" name="154 Rectángulo"/>
              <p:cNvSpPr/>
              <p:nvPr/>
            </p:nvSpPr>
            <p:spPr bwMode="auto">
              <a:xfrm>
                <a:off x="5835506" y="1837315"/>
                <a:ext cx="1644136" cy="874275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57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1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sp>
          <p:nvSpPr>
            <p:cNvPr id="168" name="167 CuadroTexto"/>
            <p:cNvSpPr txBox="1"/>
            <p:nvPr/>
          </p:nvSpPr>
          <p:spPr>
            <a:xfrm>
              <a:off x="4880583" y="3819070"/>
              <a:ext cx="606256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rgbClr val="92D050"/>
                  </a:solidFill>
                </a:rPr>
                <a:t>true</a:t>
              </a:r>
            </a:p>
          </p:txBody>
        </p:sp>
        <p:sp>
          <p:nvSpPr>
            <p:cNvPr id="177" name="176 CuadroTexto"/>
            <p:cNvSpPr txBox="1"/>
            <p:nvPr/>
          </p:nvSpPr>
          <p:spPr>
            <a:xfrm>
              <a:off x="5986517" y="2193819"/>
              <a:ext cx="12747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800" b="1" dirty="0">
                  <a:solidFill>
                    <a:srgbClr val="FF3300"/>
                  </a:solidFill>
                </a:rPr>
                <a:t>do…</a:t>
              </a:r>
              <a:r>
                <a:rPr lang="es-ES" sz="1800" b="1" dirty="0" err="1">
                  <a:solidFill>
                    <a:srgbClr val="FF3300"/>
                  </a:solidFill>
                </a:rPr>
                <a:t>while</a:t>
              </a:r>
              <a:endParaRPr lang="es-ES" sz="1800" b="1" dirty="0"/>
            </a:p>
          </p:txBody>
        </p:sp>
        <p:sp>
          <p:nvSpPr>
            <p:cNvPr id="58" name="57 CuadroTexto"/>
            <p:cNvSpPr txBox="1"/>
            <p:nvPr/>
          </p:nvSpPr>
          <p:spPr>
            <a:xfrm>
              <a:off x="5848206" y="3106441"/>
              <a:ext cx="164413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dirty="0"/>
                <a:t>instrucciones</a:t>
              </a:r>
            </a:p>
            <a:p>
              <a:pPr algn="ctr"/>
              <a:endParaRPr lang="es-ES" sz="1600" dirty="0"/>
            </a:p>
            <a:p>
              <a:pPr algn="ctr"/>
              <a:r>
                <a:rPr lang="es-ES" sz="1600" dirty="0"/>
                <a:t>instrucciones</a:t>
              </a:r>
            </a:p>
          </p:txBody>
        </p:sp>
      </p:grpSp>
      <p:sp>
        <p:nvSpPr>
          <p:cNvPr id="7" name="6 Flecha circular"/>
          <p:cNvSpPr/>
          <p:nvPr/>
        </p:nvSpPr>
        <p:spPr bwMode="auto">
          <a:xfrm rot="5212584">
            <a:off x="6519493" y="3253414"/>
            <a:ext cx="1424232" cy="1744572"/>
          </a:xfrm>
          <a:prstGeom prst="circularArrow">
            <a:avLst>
              <a:gd name="adj1" fmla="val 7758"/>
              <a:gd name="adj2" fmla="val 1142319"/>
              <a:gd name="adj3" fmla="val 20412526"/>
              <a:gd name="adj4" fmla="val 10800000"/>
              <a:gd name="adj5" fmla="val 894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0" name="59 Rectángulo"/>
          <p:cNvSpPr/>
          <p:nvPr/>
        </p:nvSpPr>
        <p:spPr>
          <a:xfrm>
            <a:off x="1944975" y="4317482"/>
            <a:ext cx="10567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1800" dirty="0" err="1">
                <a:solidFill>
                  <a:srgbClr val="FF0000"/>
                </a:solidFill>
              </a:rPr>
              <a:t>continue</a:t>
            </a:r>
            <a:endParaRPr lang="es-ES" sz="1800" dirty="0">
              <a:solidFill>
                <a:srgbClr val="FF0000"/>
              </a:solidFill>
            </a:endParaRPr>
          </a:p>
        </p:txBody>
      </p:sp>
      <p:sp>
        <p:nvSpPr>
          <p:cNvPr id="61" name="60 Rectángulo"/>
          <p:cNvSpPr/>
          <p:nvPr/>
        </p:nvSpPr>
        <p:spPr>
          <a:xfrm>
            <a:off x="6109578" y="3324573"/>
            <a:ext cx="10567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1800" dirty="0" err="1">
                <a:solidFill>
                  <a:srgbClr val="FF0000"/>
                </a:solidFill>
              </a:rPr>
              <a:t>continue</a:t>
            </a:r>
            <a:endParaRPr lang="es-E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91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60" grpId="0"/>
      <p:bldP spid="6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Estructuras de salto (</a:t>
            </a:r>
            <a:r>
              <a:rPr lang="es-ES_tradnl" dirty="0" err="1"/>
              <a:t>return</a:t>
            </a:r>
            <a:r>
              <a:rPr lang="es-ES_tradnl" dirty="0"/>
              <a:t>)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_tradnl" sz="2000" b="0" dirty="0"/>
          </a:p>
          <a:p>
            <a:r>
              <a:rPr lang="es-ES" sz="2000" b="0" dirty="0"/>
              <a:t>Se recomienda no utilizar las estructuras de salto (o salida anticipada), dado que rompen la secuencia natural de instrucciones.</a:t>
            </a:r>
            <a:endParaRPr lang="es-ES_tradnl" sz="2000" b="0" dirty="0"/>
          </a:p>
          <a:p>
            <a:endParaRPr lang="es-ES_tradnl" sz="2000" b="0" dirty="0"/>
          </a:p>
          <a:p>
            <a:r>
              <a:rPr lang="es-ES_tradnl" sz="2000" b="0" dirty="0"/>
              <a:t>La sentencia </a:t>
            </a:r>
            <a:r>
              <a:rPr lang="es-ES_tradnl" sz="2000" dirty="0" err="1"/>
              <a:t>return</a:t>
            </a:r>
            <a:r>
              <a:rPr lang="es-ES_tradnl" sz="2000" b="0" dirty="0"/>
              <a:t> es otra forma de salir de una estructura de control. </a:t>
            </a:r>
          </a:p>
          <a:p>
            <a:endParaRPr lang="es-ES_tradnl" sz="2000" b="0" dirty="0"/>
          </a:p>
          <a:p>
            <a:r>
              <a:rPr lang="es-ES_tradnl" sz="2000" b="0" dirty="0"/>
              <a:t>La diferencia con </a:t>
            </a:r>
            <a:r>
              <a:rPr lang="es-ES_tradnl" sz="2000" dirty="0"/>
              <a:t>break</a:t>
            </a:r>
            <a:r>
              <a:rPr lang="es-ES_tradnl" sz="2000" b="0" dirty="0"/>
              <a:t> y </a:t>
            </a:r>
            <a:r>
              <a:rPr lang="es-ES_tradnl" sz="2000" dirty="0" err="1"/>
              <a:t>continue</a:t>
            </a:r>
            <a:r>
              <a:rPr lang="es-ES_tradnl" sz="2000" b="0" dirty="0"/>
              <a:t> es que </a:t>
            </a:r>
            <a:r>
              <a:rPr lang="es-ES_tradnl" sz="2000" b="0" dirty="0" err="1"/>
              <a:t>return</a:t>
            </a:r>
            <a:r>
              <a:rPr lang="es-ES_tradnl" sz="2000" b="0" dirty="0"/>
              <a:t> sale de la </a:t>
            </a:r>
            <a:r>
              <a:rPr lang="es-ES_tradnl" sz="2000" b="0" dirty="0" err="1"/>
              <a:t>funci</a:t>
            </a:r>
            <a:r>
              <a:rPr lang="es-ES" sz="2000" b="0" dirty="0"/>
              <a:t>ón o método que está ejecutando y permite devolver un valor. Por ejemplo:</a:t>
            </a:r>
          </a:p>
          <a:p>
            <a:pPr marL="0" indent="0">
              <a:buNone/>
            </a:pPr>
            <a:endParaRPr lang="es-ES" sz="2000" b="0" dirty="0"/>
          </a:p>
          <a:p>
            <a:pPr marL="0" indent="0">
              <a:buNone/>
            </a:pPr>
            <a:r>
              <a:rPr lang="es-ES" sz="2000" b="0" dirty="0"/>
              <a:t> 	</a:t>
            </a:r>
            <a:r>
              <a:rPr lang="es-ES" sz="1800" b="0" dirty="0" err="1"/>
              <a:t>return</a:t>
            </a:r>
            <a:r>
              <a:rPr lang="es-ES" sz="1800" b="0" dirty="0"/>
              <a:t> 5; // sale del método y devuelve el valor 5</a:t>
            </a:r>
            <a:endParaRPr lang="es-ES_tradnl" sz="1800" b="0" dirty="0"/>
          </a:p>
        </p:txBody>
      </p:sp>
    </p:spTree>
    <p:extLst>
      <p:ext uri="{BB962C8B-B14F-4D97-AF65-F5344CB8AC3E}">
        <p14:creationId xmlns:p14="http://schemas.microsoft.com/office/powerpoint/2010/main" val="1873769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EJERCICIOS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_tradnl" dirty="0"/>
          </a:p>
          <a:p>
            <a:endParaRPr lang="es-ES_tradnl" dirty="0"/>
          </a:p>
          <a:p>
            <a:endParaRPr lang="es-ES_tradnl" dirty="0"/>
          </a:p>
          <a:p>
            <a:endParaRPr lang="es-ES_tradnl" dirty="0"/>
          </a:p>
          <a:p>
            <a:endParaRPr lang="es-ES_tradnl" dirty="0"/>
          </a:p>
          <a:p>
            <a:pPr algn="ctr">
              <a:buNone/>
            </a:pPr>
            <a:r>
              <a:rPr lang="es-ES_tradnl" dirty="0"/>
              <a:t>EJERCICIOS ESTRUCTURAS DE REPETICI</a:t>
            </a:r>
            <a:r>
              <a:rPr lang="es-ES" dirty="0"/>
              <a:t>ÓN</a:t>
            </a:r>
            <a:endParaRPr lang="es-ES_tradnl" dirty="0"/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993175375"/>
      </p:ext>
    </p:extLst>
  </p:cSld>
  <p:clrMapOvr>
    <a:masterClrMapping/>
  </p:clrMapOvr>
</p:sld>
</file>

<file path=ppt/theme/theme1.xml><?xml version="1.0" encoding="utf-8"?>
<a:theme xmlns:a="http://schemas.openxmlformats.org/drawingml/2006/main" name="cdb2004c019l">
  <a:themeElements>
    <a:clrScheme name="sample 3">
      <a:dk1>
        <a:srgbClr val="000066"/>
      </a:dk1>
      <a:lt1>
        <a:srgbClr val="FFFFFF"/>
      </a:lt1>
      <a:dk2>
        <a:srgbClr val="58A252"/>
      </a:dk2>
      <a:lt2>
        <a:srgbClr val="B2B2B2"/>
      </a:lt2>
      <a:accent1>
        <a:srgbClr val="0066FF"/>
      </a:accent1>
      <a:accent2>
        <a:srgbClr val="2C95A0"/>
      </a:accent2>
      <a:accent3>
        <a:srgbClr val="FFFFFF"/>
      </a:accent3>
      <a:accent4>
        <a:srgbClr val="000056"/>
      </a:accent4>
      <a:accent5>
        <a:srgbClr val="AAB8FF"/>
      </a:accent5>
      <a:accent6>
        <a:srgbClr val="278791"/>
      </a:accent6>
      <a:hlink>
        <a:srgbClr val="35BBE5"/>
      </a:hlink>
      <a:folHlink>
        <a:srgbClr val="872ECA"/>
      </a:folHlink>
    </a:clrScheme>
    <a:fontScheme name="sample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57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57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ample 1">
        <a:dk1>
          <a:srgbClr val="000066"/>
        </a:dk1>
        <a:lt1>
          <a:srgbClr val="FFFFFF"/>
        </a:lt1>
        <a:dk2>
          <a:srgbClr val="58A252"/>
        </a:dk2>
        <a:lt2>
          <a:srgbClr val="B2B2B2"/>
        </a:lt2>
        <a:accent1>
          <a:srgbClr val="33CCCC"/>
        </a:accent1>
        <a:accent2>
          <a:srgbClr val="0099CC"/>
        </a:accent2>
        <a:accent3>
          <a:srgbClr val="FFFFFF"/>
        </a:accent3>
        <a:accent4>
          <a:srgbClr val="000056"/>
        </a:accent4>
        <a:accent5>
          <a:srgbClr val="ADE2E2"/>
        </a:accent5>
        <a:accent6>
          <a:srgbClr val="008AB9"/>
        </a:accent6>
        <a:hlink>
          <a:srgbClr val="6A9EB0"/>
        </a:hlink>
        <a:folHlink>
          <a:srgbClr val="66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000066"/>
        </a:dk1>
        <a:lt1>
          <a:srgbClr val="FFFFFF"/>
        </a:lt1>
        <a:dk2>
          <a:srgbClr val="415CB3"/>
        </a:dk2>
        <a:lt2>
          <a:srgbClr val="B2B2B2"/>
        </a:lt2>
        <a:accent1>
          <a:srgbClr val="55AEEB"/>
        </a:accent1>
        <a:accent2>
          <a:srgbClr val="FF9933"/>
        </a:accent2>
        <a:accent3>
          <a:srgbClr val="FFFFFF"/>
        </a:accent3>
        <a:accent4>
          <a:srgbClr val="000056"/>
        </a:accent4>
        <a:accent5>
          <a:srgbClr val="B4D3F3"/>
        </a:accent5>
        <a:accent6>
          <a:srgbClr val="E78A2D"/>
        </a:accent6>
        <a:hlink>
          <a:srgbClr val="4D7AB5"/>
        </a:hlink>
        <a:folHlink>
          <a:srgbClr val="9964A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000066"/>
        </a:dk1>
        <a:lt1>
          <a:srgbClr val="FFFFFF"/>
        </a:lt1>
        <a:dk2>
          <a:srgbClr val="58A252"/>
        </a:dk2>
        <a:lt2>
          <a:srgbClr val="B2B2B2"/>
        </a:lt2>
        <a:accent1>
          <a:srgbClr val="0066FF"/>
        </a:accent1>
        <a:accent2>
          <a:srgbClr val="2C95A0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78791"/>
        </a:accent6>
        <a:hlink>
          <a:srgbClr val="35BBE5"/>
        </a:hlink>
        <a:folHlink>
          <a:srgbClr val="872EC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cdb2004c019l</Template>
  <TotalTime>5688</TotalTime>
  <Words>938</Words>
  <Application>Microsoft Office PowerPoint</Application>
  <PresentationFormat>Presentación en pantalla (4:3)</PresentationFormat>
  <Paragraphs>228</Paragraphs>
  <Slides>11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9" baseType="lpstr">
      <vt:lpstr>Adobe Heiti Std R</vt:lpstr>
      <vt:lpstr>Arial</vt:lpstr>
      <vt:lpstr>Calibri</vt:lpstr>
      <vt:lpstr>NewsGotT-Regu</vt:lpstr>
      <vt:lpstr>Times New Roman</vt:lpstr>
      <vt:lpstr>Verdana</vt:lpstr>
      <vt:lpstr>Wingdings</vt:lpstr>
      <vt:lpstr>cdb2004c019l</vt:lpstr>
      <vt:lpstr>Uso de estructuras de control</vt:lpstr>
      <vt:lpstr>Contenido</vt:lpstr>
      <vt:lpstr>ESTRUCTURAS DE REPETICIÓN</vt:lpstr>
      <vt:lpstr>Estructuras de Repetición (While)</vt:lpstr>
      <vt:lpstr>Estructuras de Repetición (For)</vt:lpstr>
      <vt:lpstr>Estructuras de Repetición (Bucles Anidados)</vt:lpstr>
      <vt:lpstr>Estructuras de Repetición (Do … While)</vt:lpstr>
      <vt:lpstr>Estructuras de salto (break)</vt:lpstr>
      <vt:lpstr>Estructuras de salto (continue)</vt:lpstr>
      <vt:lpstr>Estructuras de salto (return)</vt:lpstr>
      <vt:lpstr>EJERCICIOS</vt:lpstr>
    </vt:vector>
  </TitlesOfParts>
  <Company>RevolucionUnattended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UsuarioAdministrador</dc:creator>
  <cp:lastModifiedBy>Usuario</cp:lastModifiedBy>
  <cp:revision>326</cp:revision>
  <dcterms:created xsi:type="dcterms:W3CDTF">2008-09-25T01:23:28Z</dcterms:created>
  <dcterms:modified xsi:type="dcterms:W3CDTF">2024-10-14T07:16:58Z</dcterms:modified>
</cp:coreProperties>
</file>