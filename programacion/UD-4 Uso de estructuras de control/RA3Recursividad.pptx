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50" r:id="rId3"/>
    <p:sldId id="383" r:id="rId4"/>
    <p:sldId id="384" r:id="rId5"/>
    <p:sldId id="385" r:id="rId6"/>
    <p:sldId id="395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C1"/>
    <a:srgbClr val="FFDF79"/>
    <a:srgbClr val="000000"/>
    <a:srgbClr val="009900"/>
    <a:srgbClr val="FF6600"/>
    <a:srgbClr val="FF3300"/>
    <a:srgbClr val="C00000"/>
    <a:srgbClr val="99FF66"/>
    <a:srgbClr val="57FF57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3030" autoAdjust="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14/10/2024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12533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 err="1"/>
              <a:t>Uso</a:t>
            </a:r>
            <a:r>
              <a:rPr lang="en-US" sz="3200" dirty="0"/>
              <a:t> de </a:t>
            </a:r>
            <a:r>
              <a:rPr lang="en-US" sz="3200" dirty="0" err="1"/>
              <a:t>estructuras</a:t>
            </a:r>
            <a:r>
              <a:rPr lang="en-US" sz="3200" dirty="0"/>
              <a:t> de control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122488"/>
            <a:ext cx="7086600" cy="434975"/>
          </a:xfrm>
        </p:spPr>
        <p:txBody>
          <a:bodyPr/>
          <a:lstStyle/>
          <a:p>
            <a:r>
              <a:rPr lang="en-US" dirty="0"/>
              <a:t>UNIDAD 3</a:t>
            </a:r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Contenido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sz="1800" dirty="0"/>
              <a:t>R.A. 3: Escribe y depura código, analizando y utilizando las estructuras de control del lenguaje.</a:t>
            </a:r>
          </a:p>
          <a:p>
            <a:endParaRPr lang="es-ES_tradnl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/>
        </p:nvGraphicFramePr>
        <p:xfrm>
          <a:off x="1803717" y="2145982"/>
          <a:ext cx="5536565" cy="3108960"/>
        </p:xfrm>
        <a:graphic>
          <a:graphicData uri="http://schemas.openxmlformats.org/drawingml/2006/table">
            <a:tbl>
              <a:tblPr firstRow="1" firstCol="1" bandRow="1"/>
              <a:tblGrid>
                <a:gridCol w="1847850">
                  <a:extLst>
                    <a:ext uri="{9D8B030D-6E8A-4147-A177-3AD203B41FA5}">
                      <a16:colId xmlns:a16="http://schemas.microsoft.com/office/drawing/2014/main" val="14619607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60978254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4082826578"/>
                    </a:ext>
                  </a:extLst>
                </a:gridCol>
                <a:gridCol w="1329690">
                  <a:extLst>
                    <a:ext uri="{9D8B030D-6E8A-4147-A177-3AD203B41FA5}">
                      <a16:colId xmlns:a16="http://schemas.microsoft.com/office/drawing/2014/main" val="1181483996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 DE 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PROCEDIMIENTOS ESENCIALES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CONTENIDOS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0963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y probado código que haga uso de estructuras de selección.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utilizado estructuras de repetición.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reconocido las posibilidades de las sentencias de salto.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código utilizando control de excepciones.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creado programas ejecutables utilizando diferentes estructuras de control.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probado y depurado los programas.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comentado y documentado el código.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 3. Desarrollar programas que hagan uso de estructuras de selección, estructuras de repetición, control de excepciones y recursividad.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Prueba Práctica 1 (100%)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Estructuras de selección. Estructuras de repetición. Estructuras de salto. Control de excepciones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Recursividad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Depuración de programas. El depurador como herramienta de control de errores.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Documentación de programas. Documentación interna, comentarios. Documentación externa, diagramas de clases, requisitos, guías, etc.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Aserciones, Pruebas.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62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48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 dirty="0"/>
              <a:t>Los métodos recursivos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827584" y="1196752"/>
            <a:ext cx="759928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Un método se llamada </a:t>
            </a:r>
            <a:r>
              <a:rPr lang="es-ES" sz="2000" b="1" dirty="0"/>
              <a:t>recursivo </a:t>
            </a:r>
            <a:r>
              <a:rPr lang="es-ES" sz="2000" dirty="0"/>
              <a:t>cuando </a:t>
            </a:r>
            <a:r>
              <a:rPr lang="es-ES" sz="2000" b="1" dirty="0"/>
              <a:t>se llama a sí mismo.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dirty="0"/>
              <a:t>¿Cuándo utilizar la recursividad?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Cuando la resolución de un problema es más sencilla.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Cuando no es infinita, es decir, hay un caso resoluble más básico o más sencillo.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dirty="0"/>
              <a:t>Generalmente, cuando se va a resolver un problema recursivo vemos que en cada llamada sucesiva al método recursivo nos vamos acercando cada vez más a la solución.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b="1" dirty="0"/>
              <a:t>¿Es eficiente la recursividad?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dirty="0"/>
              <a:t>NO. La recursividad </a:t>
            </a:r>
            <a:r>
              <a:rPr lang="es-ES" sz="1800" b="1" dirty="0"/>
              <a:t>no </a:t>
            </a:r>
            <a:r>
              <a:rPr lang="es-ES" sz="1800" dirty="0"/>
              <a:t>es eficiente pero es sencilla de programar y de entender. Hay que tener siempre en cuenta que para un método recursivo siempre hay un equivalente iterativo.</a:t>
            </a:r>
          </a:p>
        </p:txBody>
      </p:sp>
    </p:spTree>
    <p:extLst>
      <p:ext uri="{BB962C8B-B14F-4D97-AF65-F5344CB8AC3E}">
        <p14:creationId xmlns:p14="http://schemas.microsoft.com/office/powerpoint/2010/main" val="68696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0" dirty="0"/>
              <a:t>A modo de ejemplo, vamos a trabajar con el método </a:t>
            </a:r>
            <a:r>
              <a:rPr lang="es-ES" dirty="0"/>
              <a:t>potencia (x, y).</a:t>
            </a:r>
          </a:p>
          <a:p>
            <a:r>
              <a:rPr lang="es-ES" b="0" dirty="0"/>
              <a:t>Para resolver un caso recursivo generalmente debemos encontrar:</a:t>
            </a:r>
          </a:p>
          <a:p>
            <a:pPr lvl="1"/>
            <a:r>
              <a:rPr lang="es-ES" dirty="0"/>
              <a:t>Una fórmula o proceso que reduzca la complejidad y nos vaya acercando a la solución.</a:t>
            </a:r>
          </a:p>
          <a:p>
            <a:pPr lvl="1"/>
            <a:r>
              <a:rPr lang="es-ES" b="0" dirty="0"/>
              <a:t>Un caso base que hace que nuestra recursividad no sea infinita.</a:t>
            </a:r>
          </a:p>
          <a:p>
            <a:r>
              <a:rPr lang="es-ES" b="0" dirty="0"/>
              <a:t>En el caso de la potencia:</a:t>
            </a:r>
          </a:p>
          <a:p>
            <a:pPr lvl="1"/>
            <a:r>
              <a:rPr lang="es-ES" dirty="0"/>
              <a:t>Sabemos que </a:t>
            </a:r>
            <a:r>
              <a:rPr lang="es-ES" dirty="0" err="1"/>
              <a:t>x</a:t>
            </a:r>
            <a:r>
              <a:rPr lang="es-ES" baseline="30000" dirty="0" err="1"/>
              <a:t>y</a:t>
            </a:r>
            <a:r>
              <a:rPr lang="es-ES" dirty="0"/>
              <a:t> = x * x</a:t>
            </a:r>
            <a:r>
              <a:rPr lang="es-ES" baseline="30000" dirty="0"/>
              <a:t>y-1</a:t>
            </a:r>
            <a:r>
              <a:rPr lang="es-ES" dirty="0"/>
              <a:t> </a:t>
            </a:r>
            <a:r>
              <a:rPr lang="es-ES" sz="1600" dirty="0"/>
              <a:t>(ésta es la fórmula que reduce la complejidad)</a:t>
            </a:r>
          </a:p>
          <a:p>
            <a:pPr lvl="1"/>
            <a:r>
              <a:rPr lang="es-ES" b="0" dirty="0"/>
              <a:t>Y que x</a:t>
            </a:r>
            <a:r>
              <a:rPr lang="es-ES" b="0" baseline="30000" dirty="0"/>
              <a:t>0</a:t>
            </a:r>
            <a:r>
              <a:rPr lang="es-ES" b="0" dirty="0"/>
              <a:t> = 1 (caso base)</a:t>
            </a:r>
          </a:p>
          <a:p>
            <a:r>
              <a:rPr lang="es-ES" b="0" dirty="0"/>
              <a:t>Este problema, como se puede observar, es un caso claro de método recursivo.</a:t>
            </a:r>
          </a:p>
        </p:txBody>
      </p:sp>
    </p:spTree>
    <p:extLst>
      <p:ext uri="{BB962C8B-B14F-4D97-AF65-F5344CB8AC3E}">
        <p14:creationId xmlns:p14="http://schemas.microsoft.com/office/powerpoint/2010/main" val="94562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4032" t="42938" r="31102" b="24578"/>
          <a:stretch>
            <a:fillRect/>
          </a:stretch>
        </p:blipFill>
        <p:spPr bwMode="auto">
          <a:xfrm>
            <a:off x="1475656" y="1196751"/>
            <a:ext cx="5832648" cy="3055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/>
          <p:nvPr/>
        </p:nvSpPr>
        <p:spPr>
          <a:xfrm>
            <a:off x="1763688" y="4797152"/>
            <a:ext cx="640871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Preguntas:</a:t>
            </a:r>
          </a:p>
          <a:p>
            <a:pPr marL="457200" indent="-457200">
              <a:buAutoNum type="arabicPeriod"/>
            </a:pPr>
            <a:r>
              <a:rPr lang="es-ES" dirty="0"/>
              <a:t>¿Qué otro caso base podríamos haber seleccionado?</a:t>
            </a:r>
          </a:p>
          <a:p>
            <a:pPr marL="457200" indent="-457200">
              <a:buAutoNum type="arabicPeriod"/>
            </a:pPr>
            <a:r>
              <a:rPr lang="es-ES" dirty="0"/>
              <a:t>¿Cómo lo resolveríamos de forma iterativa, sin recursividad?</a:t>
            </a:r>
          </a:p>
        </p:txBody>
      </p:sp>
    </p:spTree>
    <p:extLst>
      <p:ext uri="{BB962C8B-B14F-4D97-AF65-F5344CB8AC3E}">
        <p14:creationId xmlns:p14="http://schemas.microsoft.com/office/powerpoint/2010/main" val="176830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pPr algn="ctr">
              <a:buNone/>
            </a:pPr>
            <a:r>
              <a:rPr lang="es-ES_tradnl" dirty="0"/>
              <a:t>EJERCICIOS RECURSIVIDAD</a:t>
            </a:r>
          </a:p>
        </p:txBody>
      </p:sp>
    </p:spTree>
    <p:extLst>
      <p:ext uri="{BB962C8B-B14F-4D97-AF65-F5344CB8AC3E}">
        <p14:creationId xmlns:p14="http://schemas.microsoft.com/office/powerpoint/2010/main" val="621739736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5693</TotalTime>
  <Words>434</Words>
  <Application>Microsoft Office PowerPoint</Application>
  <PresentationFormat>Presentación en pantalla (4:3)</PresentationFormat>
  <Paragraphs>54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NewsGotT-Regu</vt:lpstr>
      <vt:lpstr>Times New Roman</vt:lpstr>
      <vt:lpstr>Verdana</vt:lpstr>
      <vt:lpstr>Wingdings</vt:lpstr>
      <vt:lpstr>cdb2004c019l</vt:lpstr>
      <vt:lpstr>Uso de estructuras de control</vt:lpstr>
      <vt:lpstr>Contenido</vt:lpstr>
      <vt:lpstr>Los métodos recursivos</vt:lpstr>
      <vt:lpstr>Ejemplo</vt:lpstr>
      <vt:lpstr>Ejemplo</vt:lpstr>
      <vt:lpstr>EJERCICIOS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325</cp:revision>
  <dcterms:created xsi:type="dcterms:W3CDTF">2008-09-25T01:23:28Z</dcterms:created>
  <dcterms:modified xsi:type="dcterms:W3CDTF">2024-10-14T07:27:07Z</dcterms:modified>
</cp:coreProperties>
</file>