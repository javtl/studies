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9" r:id="rId3"/>
    <p:sldId id="475" r:id="rId4"/>
    <p:sldId id="478" r:id="rId5"/>
    <p:sldId id="479" r:id="rId6"/>
    <p:sldId id="481" r:id="rId7"/>
    <p:sldId id="480" r:id="rId8"/>
    <p:sldId id="298" r:id="rId9"/>
    <p:sldId id="310" r:id="rId10"/>
    <p:sldId id="299" r:id="rId11"/>
    <p:sldId id="302" r:id="rId12"/>
    <p:sldId id="484" r:id="rId13"/>
    <p:sldId id="485" r:id="rId14"/>
    <p:sldId id="301" r:id="rId15"/>
    <p:sldId id="486" r:id="rId16"/>
    <p:sldId id="487" r:id="rId17"/>
    <p:sldId id="304" r:id="rId18"/>
    <p:sldId id="488" r:id="rId19"/>
    <p:sldId id="489" r:id="rId20"/>
    <p:sldId id="490" r:id="rId21"/>
    <p:sldId id="483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E249EDBE-9125-4EDC-A34A-0044E829241A}">
          <p14:sldIdLst>
            <p14:sldId id="256"/>
            <p14:sldId id="269"/>
            <p14:sldId id="475"/>
            <p14:sldId id="478"/>
            <p14:sldId id="479"/>
            <p14:sldId id="481"/>
            <p14:sldId id="480"/>
            <p14:sldId id="298"/>
            <p14:sldId id="310"/>
            <p14:sldId id="299"/>
            <p14:sldId id="302"/>
            <p14:sldId id="484"/>
            <p14:sldId id="485"/>
            <p14:sldId id="301"/>
            <p14:sldId id="486"/>
            <p14:sldId id="487"/>
            <p14:sldId id="304"/>
            <p14:sldId id="488"/>
            <p14:sldId id="489"/>
            <p14:sldId id="490"/>
            <p14:sldId id="483"/>
          </p14:sldIdLst>
        </p14:section>
        <p14:section name="Sección sin título" id="{E4FCF462-0BFF-4E95-876C-35E98A900FF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E79B"/>
    <a:srgbClr val="F8A602"/>
    <a:srgbClr val="D6D9DF"/>
    <a:srgbClr val="FF3300"/>
    <a:srgbClr val="FFFFCC"/>
    <a:srgbClr val="EFEFEF"/>
    <a:srgbClr val="FF6600"/>
    <a:srgbClr val="FFFF00"/>
    <a:srgbClr val="FFDB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99" autoAdjust="0"/>
    <p:restoredTop sz="50000" autoAdjust="0"/>
  </p:normalViewPr>
  <p:slideViewPr>
    <p:cSldViewPr>
      <p:cViewPr varScale="1">
        <p:scale>
          <a:sx n="87" d="100"/>
          <a:sy n="87" d="100"/>
        </p:scale>
        <p:origin x="173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60469D27-3A80-4AE4-983A-5127F419349B}" type="datetimeFigureOut">
              <a:rPr lang="es-ES_tradnl"/>
              <a:pPr>
                <a:defRPr/>
              </a:pPr>
              <a:t>05/03/2025</a:t>
            </a:fld>
            <a:endParaRPr lang="es-ES_tradn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FB2CE7FE-09D1-49CA-91BF-39EACD17411D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67553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_tradnl"/>
          </a:p>
        </p:txBody>
      </p:sp>
      <p:sp>
        <p:nvSpPr>
          <p:cNvPr id="13316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36EE85E-37C0-4958-BA08-E096993B5EBD}" type="slidenum">
              <a:rPr lang="es-ES_tradnl" sz="1200"/>
              <a:pPr eaLnBrk="1" hangingPunct="1"/>
              <a:t>1</a:t>
            </a:fld>
            <a:endParaRPr lang="es-ES_tradnl" sz="1200"/>
          </a:p>
        </p:txBody>
      </p:sp>
    </p:spTree>
    <p:extLst>
      <p:ext uri="{BB962C8B-B14F-4D97-AF65-F5344CB8AC3E}">
        <p14:creationId xmlns:p14="http://schemas.microsoft.com/office/powerpoint/2010/main" val="4102978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629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69740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10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73943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11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91450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12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560336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13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30644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14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59153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15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78734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16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50516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17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738538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5520-BDD4-43CE-8361-A6BD6040F919}" type="slidenum">
              <a:rPr lang="es-ES_tradnl" smtClean="0"/>
              <a:pPr/>
              <a:t>18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23872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 bwMode="ltGray"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1"/>
          <p:cNvSpPr>
            <a:spLocks noChangeArrowheads="1"/>
          </p:cNvSpPr>
          <p:nvPr/>
        </p:nvSpPr>
        <p:spPr bwMode="gray">
          <a:xfrm>
            <a:off x="0" y="2708275"/>
            <a:ext cx="9144000" cy="874713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2857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_tradnl"/>
          </a:p>
        </p:txBody>
      </p:sp>
      <p:sp>
        <p:nvSpPr>
          <p:cNvPr id="5" name="Text Box 14"/>
          <p:cNvSpPr txBox="1">
            <a:spLocks noChangeArrowheads="1"/>
          </p:cNvSpPr>
          <p:nvPr/>
        </p:nvSpPr>
        <p:spPr bwMode="black">
          <a:xfrm>
            <a:off x="381000" y="271463"/>
            <a:ext cx="1089025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5782" tIns="47891" rIns="95782" bIns="47891">
            <a:spAutoFit/>
          </a:bodyPr>
          <a:lstStyle/>
          <a:p>
            <a:pPr defTabSz="957263">
              <a:defRPr/>
            </a:pPr>
            <a:r>
              <a:rPr lang="en-US" sz="2100" b="1">
                <a:solidFill>
                  <a:schemeClr val="bg1"/>
                </a:solidFill>
                <a:latin typeface="Verdana" pitchFamily="34" charset="0"/>
              </a:rPr>
              <a:t>LOGO</a:t>
            </a:r>
          </a:p>
        </p:txBody>
      </p:sp>
      <p:grpSp>
        <p:nvGrpSpPr>
          <p:cNvPr id="6" name="Group 42"/>
          <p:cNvGrpSpPr>
            <a:grpSpLocks/>
          </p:cNvGrpSpPr>
          <p:nvPr/>
        </p:nvGrpSpPr>
        <p:grpSpPr bwMode="auto">
          <a:xfrm>
            <a:off x="-11113" y="-12700"/>
            <a:ext cx="9175751" cy="6870700"/>
            <a:chOff x="-7" y="-8"/>
            <a:chExt cx="5780" cy="4328"/>
          </a:xfrm>
        </p:grpSpPr>
        <p:sp>
          <p:nvSpPr>
            <p:cNvPr id="7" name="AutoShape 36"/>
            <p:cNvSpPr>
              <a:spLocks noChangeArrowheads="1"/>
            </p:cNvSpPr>
            <p:nvPr/>
          </p:nvSpPr>
          <p:spPr bwMode="gray">
            <a:xfrm>
              <a:off x="17" y="16"/>
              <a:ext cx="5729" cy="4285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8" name="Freeform 37"/>
            <p:cNvSpPr>
              <a:spLocks/>
            </p:cNvSpPr>
            <p:nvPr/>
          </p:nvSpPr>
          <p:spPr bwMode="gray">
            <a:xfrm>
              <a:off x="-3" y="-8"/>
              <a:ext cx="295" cy="289"/>
            </a:xfrm>
            <a:custGeom>
              <a:avLst/>
              <a:gdLst/>
              <a:ahLst/>
              <a:cxnLst>
                <a:cxn ang="0">
                  <a:pos x="3" y="395"/>
                </a:cxn>
                <a:cxn ang="0">
                  <a:pos x="74" y="216"/>
                </a:cxn>
                <a:cxn ang="0">
                  <a:pos x="231" y="50"/>
                </a:cxn>
                <a:cxn ang="0">
                  <a:pos x="403" y="0"/>
                </a:cxn>
                <a:cxn ang="0">
                  <a:pos x="0" y="0"/>
                </a:cxn>
              </a:cxnLst>
              <a:rect l="0" t="0" r="r" b="b"/>
              <a:pathLst>
                <a:path w="403" h="395">
                  <a:moveTo>
                    <a:pt x="3" y="395"/>
                  </a:moveTo>
                  <a:lnTo>
                    <a:pt x="74" y="216"/>
                  </a:lnTo>
                  <a:lnTo>
                    <a:pt x="231" y="50"/>
                  </a:lnTo>
                  <a:lnTo>
                    <a:pt x="403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9" name="Freeform 38"/>
            <p:cNvSpPr>
              <a:spLocks/>
            </p:cNvSpPr>
            <p:nvPr/>
          </p:nvSpPr>
          <p:spPr bwMode="gray">
            <a:xfrm>
              <a:off x="-7" y="3982"/>
              <a:ext cx="287" cy="338"/>
            </a:xfrm>
            <a:custGeom>
              <a:avLst/>
              <a:gdLst/>
              <a:ahLst/>
              <a:cxnLst>
                <a:cxn ang="0">
                  <a:pos x="391" y="473"/>
                </a:cxn>
                <a:cxn ang="0">
                  <a:pos x="151" y="353"/>
                </a:cxn>
                <a:cxn ang="0">
                  <a:pos x="42" y="201"/>
                </a:cxn>
                <a:cxn ang="0">
                  <a:pos x="0" y="0"/>
                </a:cxn>
                <a:cxn ang="0">
                  <a:pos x="1" y="470"/>
                </a:cxn>
              </a:cxnLst>
              <a:rect l="0" t="0" r="r" b="b"/>
              <a:pathLst>
                <a:path w="391" h="473">
                  <a:moveTo>
                    <a:pt x="391" y="473"/>
                  </a:moveTo>
                  <a:lnTo>
                    <a:pt x="151" y="353"/>
                  </a:lnTo>
                  <a:lnTo>
                    <a:pt x="42" y="201"/>
                  </a:lnTo>
                  <a:lnTo>
                    <a:pt x="0" y="0"/>
                  </a:lnTo>
                  <a:lnTo>
                    <a:pt x="1" y="47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" name="Freeform 39"/>
            <p:cNvSpPr>
              <a:spLocks/>
            </p:cNvSpPr>
            <p:nvPr/>
          </p:nvSpPr>
          <p:spPr bwMode="gray">
            <a:xfrm>
              <a:off x="5499" y="4026"/>
              <a:ext cx="274" cy="287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164" y="144"/>
                </a:cxn>
                <a:cxn ang="0">
                  <a:pos x="98" y="253"/>
                </a:cxn>
                <a:cxn ang="0">
                  <a:pos x="0" y="290"/>
                </a:cxn>
                <a:cxn ang="0">
                  <a:pos x="232" y="287"/>
                </a:cxn>
              </a:cxnLst>
              <a:rect l="0" t="0" r="r" b="b"/>
              <a:pathLst>
                <a:path w="232" h="290">
                  <a:moveTo>
                    <a:pt x="229" y="0"/>
                  </a:moveTo>
                  <a:lnTo>
                    <a:pt x="164" y="144"/>
                  </a:lnTo>
                  <a:lnTo>
                    <a:pt x="98" y="253"/>
                  </a:lnTo>
                  <a:lnTo>
                    <a:pt x="0" y="290"/>
                  </a:lnTo>
                  <a:lnTo>
                    <a:pt x="232" y="287"/>
                  </a:lnTo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1" name="Freeform 40"/>
            <p:cNvSpPr>
              <a:spLocks/>
            </p:cNvSpPr>
            <p:nvPr/>
          </p:nvSpPr>
          <p:spPr bwMode="gray">
            <a:xfrm>
              <a:off x="5467" y="0"/>
              <a:ext cx="302" cy="2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1" y="96"/>
                </a:cxn>
                <a:cxn ang="0">
                  <a:pos x="353" y="231"/>
                </a:cxn>
                <a:cxn ang="0">
                  <a:pos x="403" y="403"/>
                </a:cxn>
                <a:cxn ang="0">
                  <a:pos x="403" y="0"/>
                </a:cxn>
              </a:cxnLst>
              <a:rect l="0" t="0" r="r" b="b"/>
              <a:pathLst>
                <a:path w="403" h="403">
                  <a:moveTo>
                    <a:pt x="0" y="0"/>
                  </a:moveTo>
                  <a:lnTo>
                    <a:pt x="221" y="96"/>
                  </a:lnTo>
                  <a:lnTo>
                    <a:pt x="353" y="231"/>
                  </a:lnTo>
                  <a:lnTo>
                    <a:pt x="403" y="403"/>
                  </a:lnTo>
                  <a:lnTo>
                    <a:pt x="403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</p:grp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0" y="2720975"/>
            <a:ext cx="9144000" cy="817563"/>
          </a:xfrm>
        </p:spPr>
        <p:txBody>
          <a:bodyPr/>
          <a:lstStyle>
            <a:lvl1pPr>
              <a:defRPr sz="46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990600" y="2176463"/>
            <a:ext cx="7086600" cy="436562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90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1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C10960-1D47-4F31-A178-4215E754AE7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04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8B1BE4-FB56-497F-AC71-04F364CF33BF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16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D86F26-C6EC-496E-AD78-D42D5BE6465A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666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ED370-19CA-4C7C-85E3-1587DE8EE63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16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14D8DD-9D00-4312-B4C4-A03ADF0178CC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196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537A5B-A9CE-4669-BC99-AE9F32CE8D07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97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D770F1-8B0E-485D-8FC1-DD5CDADCB470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39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s-ES_tradnl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368E41-874E-4862-AAFD-AC18B393D094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25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01FC98-F929-48AB-9F4D-6385B8877736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8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53975"/>
            <a:ext cx="2057400" cy="62706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53975"/>
            <a:ext cx="6019800" cy="62706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DFA751-5FBB-4471-AF6F-9D0A8609C3C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00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2925" y="53975"/>
            <a:ext cx="7392988" cy="563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457200" y="1076325"/>
            <a:ext cx="8229600" cy="5248275"/>
          </a:xfrm>
        </p:spPr>
        <p:txBody>
          <a:bodyPr/>
          <a:lstStyle/>
          <a:p>
            <a:pPr lvl="0"/>
            <a:r>
              <a:rPr lang="es-ES" noProof="0"/>
              <a:t>Haga clic en el icono para agregar una tabla</a:t>
            </a:r>
            <a:endParaRPr lang="es-ES_tradnl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F47353-9D15-4571-BF0B-64C1267AE8A4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88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Freeform 15" descr="29641"/>
          <p:cNvSpPr>
            <a:spLocks/>
          </p:cNvSpPr>
          <p:nvPr/>
        </p:nvSpPr>
        <p:spPr bwMode="gray">
          <a:xfrm>
            <a:off x="36513" y="80963"/>
            <a:ext cx="9077325" cy="1595437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576" y="560"/>
              </a:cxn>
              <a:cxn ang="0">
                <a:pos x="1403" y="390"/>
              </a:cxn>
              <a:cxn ang="0">
                <a:pos x="2452" y="314"/>
              </a:cxn>
              <a:cxn ang="0">
                <a:pos x="3102" y="326"/>
              </a:cxn>
              <a:cxn ang="0">
                <a:pos x="4043" y="434"/>
              </a:cxn>
              <a:cxn ang="0">
                <a:pos x="4944" y="668"/>
              </a:cxn>
              <a:cxn ang="0">
                <a:pos x="5691" y="971"/>
              </a:cxn>
              <a:cxn ang="0">
                <a:pos x="5718" y="19"/>
              </a:cxn>
              <a:cxn ang="0">
                <a:pos x="9" y="0"/>
              </a:cxn>
            </a:cxnLst>
            <a:rect l="0" t="0" r="r" b="b"/>
            <a:pathLst>
              <a:path w="5718" h="1005">
                <a:moveTo>
                  <a:pt x="0" y="756"/>
                </a:moveTo>
                <a:cubicBezTo>
                  <a:pt x="96" y="724"/>
                  <a:pt x="297" y="635"/>
                  <a:pt x="576" y="560"/>
                </a:cubicBezTo>
                <a:cubicBezTo>
                  <a:pt x="855" y="485"/>
                  <a:pt x="1037" y="442"/>
                  <a:pt x="1403" y="390"/>
                </a:cubicBezTo>
                <a:cubicBezTo>
                  <a:pt x="1769" y="337"/>
                  <a:pt x="2154" y="320"/>
                  <a:pt x="2452" y="314"/>
                </a:cubicBezTo>
                <a:lnTo>
                  <a:pt x="3102" y="326"/>
                </a:lnTo>
                <a:cubicBezTo>
                  <a:pt x="3367" y="346"/>
                  <a:pt x="3736" y="377"/>
                  <a:pt x="4043" y="434"/>
                </a:cubicBezTo>
                <a:cubicBezTo>
                  <a:pt x="4350" y="490"/>
                  <a:pt x="4669" y="578"/>
                  <a:pt x="4944" y="668"/>
                </a:cubicBezTo>
                <a:cubicBezTo>
                  <a:pt x="5219" y="757"/>
                  <a:pt x="5679" y="1005"/>
                  <a:pt x="5691" y="971"/>
                </a:cubicBezTo>
                <a:cubicBezTo>
                  <a:pt x="5695" y="964"/>
                  <a:pt x="5718" y="25"/>
                  <a:pt x="5718" y="19"/>
                </a:cubicBezTo>
                <a:cubicBezTo>
                  <a:pt x="5718" y="7"/>
                  <a:pt x="1198" y="4"/>
                  <a:pt x="9" y="0"/>
                </a:cubicBezTo>
              </a:path>
            </a:pathLst>
          </a:custGeom>
          <a:blipFill dpi="0" rotWithShape="1">
            <a:blip r:embed="rId15" cstate="print"/>
            <a:srcRect/>
            <a:stretch>
              <a:fillRect/>
            </a:stretch>
          </a:blip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_tradnl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84888" y="6450013"/>
            <a:ext cx="2897187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>
            <a:lvl1pPr algn="r">
              <a:defRPr sz="1300" b="1">
                <a:latin typeface="Verdana" pitchFamily="34" charset="0"/>
              </a:defRPr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454775"/>
            <a:ext cx="927100" cy="239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>
            <a:lvl1pPr algn="ctr">
              <a:defRPr sz="1300" b="1">
                <a:latin typeface="Verdana" pitchFamily="34" charset="0"/>
              </a:defRPr>
            </a:lvl1pPr>
          </a:lstStyle>
          <a:p>
            <a:fld id="{BD04EC93-4901-40B8-B615-125461DCA23D}" type="slidenum">
              <a:rPr lang="en-US"/>
              <a:pPr/>
              <a:t>‹Nº›</a:t>
            </a:fld>
            <a:endParaRPr lang="en-US"/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542925" y="53975"/>
            <a:ext cx="7392988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grpSp>
        <p:nvGrpSpPr>
          <p:cNvPr id="1031" name="Group 16"/>
          <p:cNvGrpSpPr>
            <a:grpSpLocks/>
          </p:cNvGrpSpPr>
          <p:nvPr/>
        </p:nvGrpSpPr>
        <p:grpSpPr bwMode="auto">
          <a:xfrm>
            <a:off x="-1588" y="0"/>
            <a:ext cx="9145588" cy="6858000"/>
            <a:chOff x="-1" y="0"/>
            <a:chExt cx="8065" cy="6048"/>
          </a:xfrm>
        </p:grpSpPr>
        <p:sp>
          <p:nvSpPr>
            <p:cNvPr id="1041" name="Freeform 17"/>
            <p:cNvSpPr>
              <a:spLocks/>
            </p:cNvSpPr>
            <p:nvPr/>
          </p:nvSpPr>
          <p:spPr bwMode="gray">
            <a:xfrm>
              <a:off x="-1" y="5629"/>
              <a:ext cx="389" cy="417"/>
            </a:xfrm>
            <a:custGeom>
              <a:avLst/>
              <a:gdLst/>
              <a:ahLst/>
              <a:cxnLst>
                <a:cxn ang="0">
                  <a:pos x="314" y="416"/>
                </a:cxn>
                <a:cxn ang="0">
                  <a:pos x="389" y="417"/>
                </a:cxn>
                <a:cxn ang="0">
                  <a:pos x="158" y="297"/>
                </a:cxn>
                <a:cxn ang="0">
                  <a:pos x="39" y="179"/>
                </a:cxn>
                <a:cxn ang="0">
                  <a:pos x="0" y="0"/>
                </a:cxn>
                <a:cxn ang="0">
                  <a:pos x="1" y="417"/>
                </a:cxn>
              </a:cxnLst>
              <a:rect l="0" t="0" r="r" b="b"/>
              <a:pathLst>
                <a:path w="389" h="417">
                  <a:moveTo>
                    <a:pt x="314" y="416"/>
                  </a:moveTo>
                  <a:lnTo>
                    <a:pt x="389" y="417"/>
                  </a:lnTo>
                  <a:lnTo>
                    <a:pt x="158" y="297"/>
                  </a:lnTo>
                  <a:lnTo>
                    <a:pt x="39" y="179"/>
                  </a:lnTo>
                  <a:lnTo>
                    <a:pt x="0" y="0"/>
                  </a:lnTo>
                  <a:lnTo>
                    <a:pt x="1" y="417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2" name="Freeform 18"/>
            <p:cNvSpPr>
              <a:spLocks/>
            </p:cNvSpPr>
            <p:nvPr/>
          </p:nvSpPr>
          <p:spPr bwMode="gray">
            <a:xfrm>
              <a:off x="7701" y="5645"/>
              <a:ext cx="363" cy="403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164" y="144"/>
                </a:cxn>
                <a:cxn ang="0">
                  <a:pos x="98" y="253"/>
                </a:cxn>
                <a:cxn ang="0">
                  <a:pos x="0" y="290"/>
                </a:cxn>
                <a:cxn ang="0">
                  <a:pos x="232" y="287"/>
                </a:cxn>
              </a:cxnLst>
              <a:rect l="0" t="0" r="r" b="b"/>
              <a:pathLst>
                <a:path w="232" h="290">
                  <a:moveTo>
                    <a:pt x="229" y="0"/>
                  </a:moveTo>
                  <a:lnTo>
                    <a:pt x="164" y="144"/>
                  </a:lnTo>
                  <a:lnTo>
                    <a:pt x="98" y="253"/>
                  </a:lnTo>
                  <a:lnTo>
                    <a:pt x="0" y="290"/>
                  </a:lnTo>
                  <a:lnTo>
                    <a:pt x="232" y="287"/>
                  </a:lnTo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3" name="AutoShape 19"/>
            <p:cNvSpPr>
              <a:spLocks noChangeArrowheads="1"/>
            </p:cNvSpPr>
            <p:nvPr/>
          </p:nvSpPr>
          <p:spPr bwMode="gray">
            <a:xfrm>
              <a:off x="26" y="42"/>
              <a:ext cx="8012" cy="5985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4" name="Freeform 20"/>
            <p:cNvSpPr>
              <a:spLocks/>
            </p:cNvSpPr>
            <p:nvPr/>
          </p:nvSpPr>
          <p:spPr bwMode="gray">
            <a:xfrm>
              <a:off x="-1" y="13"/>
              <a:ext cx="405" cy="441"/>
            </a:xfrm>
            <a:custGeom>
              <a:avLst/>
              <a:gdLst/>
              <a:ahLst/>
              <a:cxnLst>
                <a:cxn ang="0">
                  <a:pos x="2" y="441"/>
                </a:cxn>
                <a:cxn ang="0">
                  <a:pos x="107" y="175"/>
                </a:cxn>
                <a:cxn ang="0">
                  <a:pos x="387" y="0"/>
                </a:cxn>
                <a:cxn ang="0">
                  <a:pos x="1" y="0"/>
                </a:cxn>
              </a:cxnLst>
              <a:rect l="0" t="0" r="r" b="b"/>
              <a:pathLst>
                <a:path w="405" h="441">
                  <a:moveTo>
                    <a:pt x="2" y="441"/>
                  </a:moveTo>
                  <a:cubicBezTo>
                    <a:pt x="19" y="397"/>
                    <a:pt x="0" y="345"/>
                    <a:pt x="107" y="175"/>
                  </a:cubicBezTo>
                  <a:cubicBezTo>
                    <a:pt x="214" y="6"/>
                    <a:pt x="405" y="16"/>
                    <a:pt x="387" y="0"/>
                  </a:cubicBezTo>
                  <a:lnTo>
                    <a:pt x="1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5" name="Freeform 21"/>
            <p:cNvSpPr>
              <a:spLocks/>
            </p:cNvSpPr>
            <p:nvPr/>
          </p:nvSpPr>
          <p:spPr bwMode="gray">
            <a:xfrm>
              <a:off x="7588" y="0"/>
              <a:ext cx="470" cy="483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342" y="150"/>
                </a:cxn>
                <a:cxn ang="0">
                  <a:pos x="470" y="461"/>
                </a:cxn>
                <a:cxn ang="0">
                  <a:pos x="470" y="0"/>
                </a:cxn>
              </a:cxnLst>
              <a:rect l="0" t="0" r="r" b="b"/>
              <a:pathLst>
                <a:path w="470" h="483">
                  <a:moveTo>
                    <a:pt x="0" y="4"/>
                  </a:moveTo>
                  <a:cubicBezTo>
                    <a:pt x="57" y="28"/>
                    <a:pt x="264" y="74"/>
                    <a:pt x="342" y="150"/>
                  </a:cubicBezTo>
                  <a:cubicBezTo>
                    <a:pt x="450" y="275"/>
                    <a:pt x="452" y="483"/>
                    <a:pt x="470" y="461"/>
                  </a:cubicBezTo>
                  <a:lnTo>
                    <a:pt x="47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</p:grpSp>
      <p:sp>
        <p:nvSpPr>
          <p:cNvPr id="1046" name="Line 22"/>
          <p:cNvSpPr>
            <a:spLocks noChangeShapeType="1"/>
          </p:cNvSpPr>
          <p:nvPr/>
        </p:nvSpPr>
        <p:spPr bwMode="gray">
          <a:xfrm>
            <a:off x="323850" y="6500813"/>
            <a:ext cx="8569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_trad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dt="0"/>
  <p:txStyles>
    <p:titleStyle>
      <a:lvl1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+mj-lt"/>
          <a:ea typeface="+mj-ea"/>
          <a:cs typeface="+mj-cs"/>
        </a:defRPr>
      </a:lvl1pPr>
      <a:lvl2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2pPr>
      <a:lvl3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3pPr>
      <a:lvl4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4pPr>
      <a:lvl5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5pPr>
      <a:lvl6pPr marL="4572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6pPr>
      <a:lvl7pPr marL="9144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7pPr>
      <a:lvl8pPr marL="13716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8pPr>
      <a:lvl9pPr marL="18288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9pPr>
    </p:titleStyle>
    <p:bodyStyle>
      <a:lvl1pPr marL="358775" indent="-358775" algn="l" defTabSz="957263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77875" indent="-298450" algn="l" defTabSz="957263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100">
          <a:solidFill>
            <a:schemeClr val="tx1"/>
          </a:solidFill>
          <a:latin typeface="+mj-lt"/>
        </a:defRPr>
      </a:lvl2pPr>
      <a:lvl3pPr marL="1196975" indent="-239713" algn="l" defTabSz="957263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100">
          <a:solidFill>
            <a:schemeClr val="tx1"/>
          </a:solidFill>
          <a:latin typeface="+mj-lt"/>
        </a:defRPr>
      </a:lvl3pPr>
      <a:lvl4pPr marL="1676400" indent="-239713" algn="l" defTabSz="957263" rtl="0" fontAlgn="base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j-lt"/>
        </a:defRPr>
      </a:lvl4pPr>
      <a:lvl5pPr marL="2154238" indent="-238125" algn="l" defTabSz="957263" rtl="0" fontAlgn="base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5pPr>
      <a:lvl6pPr marL="26114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6pPr>
      <a:lvl7pPr marL="30686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7pPr>
      <a:lvl8pPr marL="35258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8pPr>
      <a:lvl9pPr marL="39830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720975"/>
            <a:ext cx="9144000" cy="564009"/>
          </a:xfrm>
        </p:spPr>
        <p:txBody>
          <a:bodyPr/>
          <a:lstStyle/>
          <a:p>
            <a:r>
              <a:rPr lang="en-US" sz="3200" dirty="0" err="1"/>
              <a:t>Lectura</a:t>
            </a:r>
            <a:r>
              <a:rPr lang="en-US" sz="3200" dirty="0"/>
              <a:t> y </a:t>
            </a:r>
            <a:r>
              <a:rPr lang="en-US" sz="3200" dirty="0" err="1"/>
              <a:t>Escritura</a:t>
            </a:r>
            <a:r>
              <a:rPr lang="en-US" sz="3200" dirty="0"/>
              <a:t> de </a:t>
            </a:r>
            <a:r>
              <a:rPr lang="en-US" sz="3200" dirty="0" err="1"/>
              <a:t>Información</a:t>
            </a:r>
            <a:endParaRPr lang="en-US" sz="32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C683052-0079-4D4D-9251-97B1352315A0}"/>
              </a:ext>
            </a:extLst>
          </p:cNvPr>
          <p:cNvSpPr txBox="1"/>
          <p:nvPr/>
        </p:nvSpPr>
        <p:spPr>
          <a:xfrm>
            <a:off x="3959932" y="1772816"/>
            <a:ext cx="122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UD7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FC4BB-8607-D848-9E54-6ACCA7AD9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EB94C8-1B73-5A40-9D59-151501703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_tradnl" sz="2000" dirty="0"/>
              <a:t>R.A. 5:Realiza operaciones de entrada y salida de información, utilizando procedimientos específicos del lenguaje y librerías de clases.</a:t>
            </a:r>
            <a:endParaRPr lang="es-ES" sz="2000" dirty="0"/>
          </a:p>
          <a:p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274" y="2164749"/>
            <a:ext cx="5407451" cy="415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143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C08DC2-1737-EE4F-AA7D-368F44C3D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Contenido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E36D980-6D78-F242-9108-94F43E5B3B0D}"/>
              </a:ext>
            </a:extLst>
          </p:cNvPr>
          <p:cNvSpPr txBox="1"/>
          <p:nvPr/>
        </p:nvSpPr>
        <p:spPr>
          <a:xfrm>
            <a:off x="1151620" y="2868455"/>
            <a:ext cx="6840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/>
              <a:t>FLUJOS DE DATOS</a:t>
            </a:r>
          </a:p>
        </p:txBody>
      </p:sp>
    </p:spTree>
    <p:extLst>
      <p:ext uri="{BB962C8B-B14F-4D97-AF65-F5344CB8AC3E}">
        <p14:creationId xmlns:p14="http://schemas.microsoft.com/office/powerpoint/2010/main" val="2392054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416427-ADA9-8744-8E8E-A826AEF7D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flujos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784D30-76E6-9244-84E9-8AB1F54B6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sz="1800" b="0" dirty="0"/>
          </a:p>
          <a:p>
            <a:r>
              <a:rPr lang="es-ES" sz="1800" b="0" dirty="0"/>
              <a:t>La entrada (input) y salida (output) en java se implementa en el paquete </a:t>
            </a:r>
            <a:r>
              <a:rPr lang="es-ES" sz="1800" dirty="0" err="1"/>
              <a:t>java.io</a:t>
            </a:r>
            <a:r>
              <a:rPr lang="es-ES" sz="1800" dirty="0"/>
              <a:t>.</a:t>
            </a:r>
          </a:p>
          <a:p>
            <a:endParaRPr lang="es-ES" sz="1800" b="0" dirty="0"/>
          </a:p>
          <a:p>
            <a:r>
              <a:rPr lang="es-ES" sz="1800" b="0" dirty="0"/>
              <a:t>La E/S en Java se basa en el concepto de </a:t>
            </a:r>
            <a:r>
              <a:rPr lang="es-ES" sz="1800" dirty="0"/>
              <a:t>flujo</a:t>
            </a:r>
            <a:r>
              <a:rPr lang="es-ES" sz="1800" b="0" dirty="0"/>
              <a:t>. El flujo es una secuencia ordenada de datos que tiene una fuente (flujos de entrada) o un destino (flujos de salida).</a:t>
            </a:r>
          </a:p>
          <a:p>
            <a:endParaRPr lang="es-ES" sz="1800" b="0" dirty="0"/>
          </a:p>
          <a:p>
            <a:r>
              <a:rPr lang="es-ES" sz="1800" b="0" dirty="0"/>
              <a:t>Los flujos se caracterizan por ser </a:t>
            </a:r>
            <a:r>
              <a:rPr lang="es-ES" sz="1800" dirty="0"/>
              <a:t>unidireccionales</a:t>
            </a:r>
            <a:r>
              <a:rPr lang="es-ES" sz="1800" b="0" dirty="0"/>
              <a:t>, es decir que un flujo se utilizará solo para leer, solo para escribir, pero no ambas acciones al mismo tiempo.</a:t>
            </a:r>
          </a:p>
          <a:p>
            <a:endParaRPr lang="es-ES" sz="1800" b="0" dirty="0"/>
          </a:p>
          <a:p>
            <a:r>
              <a:rPr lang="es-ES" sz="1800" b="0" dirty="0"/>
              <a:t>Existen dos tipos de flujos:</a:t>
            </a:r>
          </a:p>
          <a:p>
            <a:pPr lvl="1"/>
            <a:r>
              <a:rPr lang="es-ES" sz="1800" dirty="0"/>
              <a:t>Los que trabajan con </a:t>
            </a:r>
            <a:r>
              <a:rPr lang="es-ES" sz="1800" b="1" dirty="0"/>
              <a:t>bytes</a:t>
            </a:r>
            <a:r>
              <a:rPr lang="es-ES" sz="1800" dirty="0"/>
              <a:t> (binarios)</a:t>
            </a:r>
          </a:p>
          <a:p>
            <a:pPr lvl="1"/>
            <a:r>
              <a:rPr lang="es-ES" sz="1800" b="0" dirty="0"/>
              <a:t>Los que trabajan con </a:t>
            </a:r>
            <a:r>
              <a:rPr lang="es-ES" sz="1800" b="1" dirty="0"/>
              <a:t>caracteres</a:t>
            </a:r>
            <a:r>
              <a:rPr lang="es-ES" sz="1800" b="0" dirty="0"/>
              <a:t> (texto)</a:t>
            </a:r>
          </a:p>
          <a:p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315375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98BB5-56B1-7E4C-96C8-785EBC19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Flujos de bytes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316C36-4B2D-2442-8D39-016602B3C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6713"/>
            <a:ext cx="8229600" cy="5487888"/>
          </a:xfrm>
        </p:spPr>
        <p:txBody>
          <a:bodyPr/>
          <a:lstStyle/>
          <a:p>
            <a:pPr marL="0" indent="0">
              <a:buNone/>
            </a:pPr>
            <a:endParaRPr lang="es-ES" sz="2000" b="0" dirty="0"/>
          </a:p>
          <a:p>
            <a:r>
              <a:rPr lang="es-ES" sz="2000" b="0" dirty="0"/>
              <a:t>Los bytes a leer se leerán en forma unitaria(es decir 8 bits por byte).</a:t>
            </a:r>
          </a:p>
          <a:p>
            <a:endParaRPr lang="es-ES" sz="2000" b="0" dirty="0"/>
          </a:p>
          <a:p>
            <a:r>
              <a:rPr lang="es-ES" sz="2000" b="0" dirty="0"/>
              <a:t>Son utilizados para leer y escribir información que esta almacenada en forma binaria</a:t>
            </a:r>
          </a:p>
          <a:p>
            <a:endParaRPr lang="es-ES" sz="2000" b="0" dirty="0"/>
          </a:p>
          <a:p>
            <a:r>
              <a:rPr lang="es-ES" sz="2000" b="0" dirty="0"/>
              <a:t>La superclase utilizada para leer flujos de este tipo es la clase </a:t>
            </a:r>
            <a:r>
              <a:rPr lang="es-ES" sz="2000" dirty="0" err="1"/>
              <a:t>InputStream</a:t>
            </a:r>
            <a:r>
              <a:rPr lang="es-ES" sz="2000" b="0" dirty="0"/>
              <a:t>. A partir de esta clase - la cual es abstracta – heredan todas las clases concretas que se utilizan para leer información en forma binaria.</a:t>
            </a:r>
          </a:p>
          <a:p>
            <a:endParaRPr lang="es-ES" sz="2000" b="0" dirty="0"/>
          </a:p>
          <a:p>
            <a:r>
              <a:rPr lang="es-ES" sz="2000" b="0" dirty="0"/>
              <a:t>La superclase utilizada para escribir flujos de este tipo es la clase </a:t>
            </a:r>
            <a:r>
              <a:rPr lang="es-ES" sz="2000" dirty="0" err="1"/>
              <a:t>OutputStream</a:t>
            </a:r>
            <a:r>
              <a:rPr lang="es-ES" sz="2000" b="0" dirty="0"/>
              <a:t>. A partir de esta clase - la cual es abstracta – heredan todas las clases concretas que se utilizan para escribir información en forma binaria.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37908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E06225-5C19-7140-882B-A5BB29D44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Flujos de caracteres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57B3E9-BCB7-D348-9887-896AC4CB0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sz="2000" b="0" dirty="0"/>
          </a:p>
          <a:p>
            <a:r>
              <a:rPr lang="es-ES" sz="2000" b="0" dirty="0"/>
              <a:t>Los caracteres a leer están formados por 2 bytes(es decir 16 bits por carácter).</a:t>
            </a:r>
          </a:p>
          <a:p>
            <a:endParaRPr lang="es-ES" sz="2000" b="0" dirty="0"/>
          </a:p>
          <a:p>
            <a:r>
              <a:rPr lang="es-ES" sz="2000" b="0" dirty="0"/>
              <a:t>Son utilizados para leer y escribir información que esta almacenada en forma de texto</a:t>
            </a:r>
          </a:p>
          <a:p>
            <a:endParaRPr lang="es-ES" sz="2000" b="0" dirty="0"/>
          </a:p>
          <a:p>
            <a:r>
              <a:rPr lang="es-ES" sz="2000" b="0" dirty="0"/>
              <a:t>La superclase utilizada para leer flujos de este tipo es la clase </a:t>
            </a:r>
            <a:r>
              <a:rPr lang="es-ES" sz="2000" dirty="0"/>
              <a:t>Reader</a:t>
            </a:r>
            <a:r>
              <a:rPr lang="es-ES" sz="2000" b="0" dirty="0"/>
              <a:t>. A partir de esta clase - la cual es abstracta – heredan todas las clases concretas que se utilizan para leer información en forma textual.</a:t>
            </a:r>
          </a:p>
          <a:p>
            <a:endParaRPr lang="es-ES" sz="2000" b="0" dirty="0"/>
          </a:p>
          <a:p>
            <a:r>
              <a:rPr lang="es-ES" sz="2000" b="0" dirty="0"/>
              <a:t>La superclase utilizada para escribir flujos de este tipo es la clase </a:t>
            </a:r>
            <a:r>
              <a:rPr lang="es-ES" sz="2000" dirty="0" err="1"/>
              <a:t>Writer</a:t>
            </a:r>
            <a:r>
              <a:rPr lang="es-ES" sz="2000" b="0" dirty="0"/>
              <a:t>. A partir de esta clase - la cual es abstracta – heredan todas las clases concretas que se utilizan para escribir información en forma textual.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4175526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7E5B45-E27E-FF45-8E75-9D595165D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Clases relativas a flujos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52570C7-8C40-2E4C-9EBB-5148AD35B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" y="1340768"/>
            <a:ext cx="5485345" cy="477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245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64 Bisel"/>
          <p:cNvSpPr/>
          <p:nvPr/>
        </p:nvSpPr>
        <p:spPr bwMode="auto">
          <a:xfrm>
            <a:off x="3571868" y="1643050"/>
            <a:ext cx="5143536" cy="4286280"/>
          </a:xfrm>
          <a:prstGeom prst="bevel">
            <a:avLst>
              <a:gd name="adj" fmla="val 2297"/>
            </a:avLst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4" y="45760"/>
            <a:ext cx="7392988" cy="563563"/>
          </a:xfrm>
        </p:spPr>
        <p:txBody>
          <a:bodyPr/>
          <a:lstStyle/>
          <a:p>
            <a:r>
              <a:rPr lang="en-US" dirty="0"/>
              <a:t>CLASE FILE</a:t>
            </a: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 bwMode="auto">
          <a:xfrm>
            <a:off x="142844" y="1357298"/>
            <a:ext cx="7858180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/>
          <a:p>
            <a:pPr marL="777875" marR="0" lvl="1" indent="-298450" algn="ctr" defTabSz="95726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22" name="21 CuadroTexto"/>
          <p:cNvSpPr txBox="1"/>
          <p:nvPr/>
        </p:nvSpPr>
        <p:spPr>
          <a:xfrm>
            <a:off x="4000496" y="6072206"/>
            <a:ext cx="4286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</a:rPr>
              <a:t>File F = new File(“</a:t>
            </a:r>
            <a:r>
              <a:rPr lang="es-ES_tradnl" sz="1400" b="1" dirty="0">
                <a:solidFill>
                  <a:srgbClr val="000000"/>
                </a:solidFill>
                <a:latin typeface="Century Gothic" pitchFamily="34" charset="0"/>
              </a:rPr>
              <a:t>documentos/</a:t>
            </a:r>
            <a:r>
              <a:rPr lang="es-ES_tradnl" sz="1400" b="1" dirty="0" err="1">
                <a:solidFill>
                  <a:srgbClr val="000000"/>
                </a:solidFill>
                <a:latin typeface="Century Gothic" pitchFamily="34" charset="0"/>
              </a:rPr>
              <a:t>texto.txt</a:t>
            </a:r>
            <a:r>
              <a:rPr lang="es-ES_tradnl" sz="1400" b="1" dirty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</a:rPr>
              <a:t>”);</a:t>
            </a:r>
          </a:p>
        </p:txBody>
      </p:sp>
      <p:grpSp>
        <p:nvGrpSpPr>
          <p:cNvPr id="64" name="63 Grupo"/>
          <p:cNvGrpSpPr/>
          <p:nvPr/>
        </p:nvGrpSpPr>
        <p:grpSpPr>
          <a:xfrm>
            <a:off x="3929058" y="2143116"/>
            <a:ext cx="4429156" cy="3214710"/>
            <a:chOff x="3357554" y="1500174"/>
            <a:chExt cx="3143272" cy="2428892"/>
          </a:xfrm>
          <a:gradFill>
            <a:gsLst>
              <a:gs pos="0">
                <a:srgbClr val="FFC000"/>
              </a:gs>
              <a:gs pos="100000">
                <a:srgbClr val="FFE285"/>
              </a:gs>
            </a:gsLst>
            <a:path path="shape">
              <a:fillToRect l="50000" t="50000" r="50000" b="50000"/>
            </a:path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1" name="60 Rectángulo"/>
            <p:cNvSpPr/>
            <p:nvPr/>
          </p:nvSpPr>
          <p:spPr bwMode="auto">
            <a:xfrm>
              <a:off x="3357554" y="1714488"/>
              <a:ext cx="3143272" cy="2214578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3" name="62 Trapecio"/>
            <p:cNvSpPr/>
            <p:nvPr/>
          </p:nvSpPr>
          <p:spPr bwMode="auto">
            <a:xfrm>
              <a:off x="3357554" y="1500174"/>
              <a:ext cx="1285884" cy="214314"/>
            </a:xfrm>
            <a:prstGeom prst="trapezoid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66" name="65 CuadroTexto"/>
          <p:cNvSpPr txBox="1"/>
          <p:nvPr/>
        </p:nvSpPr>
        <p:spPr>
          <a:xfrm>
            <a:off x="4929190" y="1285860"/>
            <a:ext cx="25003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2000" b="1" dirty="0"/>
              <a:t>C:</a:t>
            </a:r>
          </a:p>
        </p:txBody>
      </p:sp>
      <p:grpSp>
        <p:nvGrpSpPr>
          <p:cNvPr id="70" name="69 Grupo"/>
          <p:cNvGrpSpPr/>
          <p:nvPr/>
        </p:nvGrpSpPr>
        <p:grpSpPr>
          <a:xfrm>
            <a:off x="5072066" y="2643182"/>
            <a:ext cx="3000396" cy="2438416"/>
            <a:chOff x="3357554" y="1500174"/>
            <a:chExt cx="3143272" cy="2428892"/>
          </a:xfrm>
          <a:gradFill flip="none" rotWithShape="1">
            <a:gsLst>
              <a:gs pos="0">
                <a:srgbClr val="FFC000"/>
              </a:gs>
              <a:gs pos="50000">
                <a:srgbClr val="FFE285"/>
              </a:gs>
              <a:gs pos="100000">
                <a:srgbClr val="FFFFCC"/>
              </a:gs>
            </a:gsLst>
            <a:lin ang="27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1" name="70 Rectángulo"/>
            <p:cNvSpPr/>
            <p:nvPr/>
          </p:nvSpPr>
          <p:spPr bwMode="auto">
            <a:xfrm>
              <a:off x="3357554" y="1714488"/>
              <a:ext cx="3143272" cy="2214578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2" name="71 Trapecio"/>
            <p:cNvSpPr/>
            <p:nvPr/>
          </p:nvSpPr>
          <p:spPr bwMode="auto">
            <a:xfrm>
              <a:off x="3357554" y="1500174"/>
              <a:ext cx="1462527" cy="214314"/>
            </a:xfrm>
            <a:prstGeom prst="trapezoid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73" name="72 CuadroTexto"/>
          <p:cNvSpPr txBox="1"/>
          <p:nvPr/>
        </p:nvSpPr>
        <p:spPr>
          <a:xfrm>
            <a:off x="4957759" y="2590824"/>
            <a:ext cx="150019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300" b="1" dirty="0"/>
              <a:t>documentos</a:t>
            </a:r>
          </a:p>
        </p:txBody>
      </p:sp>
      <p:sp>
        <p:nvSpPr>
          <p:cNvPr id="74" name="73 CuadroTexto"/>
          <p:cNvSpPr txBox="1"/>
          <p:nvPr/>
        </p:nvSpPr>
        <p:spPr>
          <a:xfrm>
            <a:off x="4043361" y="2138366"/>
            <a:ext cx="150019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300" b="1" dirty="0"/>
              <a:t>proyecto</a:t>
            </a:r>
          </a:p>
        </p:txBody>
      </p:sp>
      <p:sp>
        <p:nvSpPr>
          <p:cNvPr id="20" name="19 CuadroTexto"/>
          <p:cNvSpPr txBox="1"/>
          <p:nvPr/>
        </p:nvSpPr>
        <p:spPr>
          <a:xfrm>
            <a:off x="3929058" y="3500438"/>
            <a:ext cx="10715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2000" b="1" dirty="0">
                <a:solidFill>
                  <a:schemeClr val="accent1">
                    <a:lumMod val="75000"/>
                  </a:schemeClr>
                </a:solidFill>
              </a:rPr>
              <a:t>F</a:t>
            </a:r>
          </a:p>
        </p:txBody>
      </p:sp>
      <p:grpSp>
        <p:nvGrpSpPr>
          <p:cNvPr id="77" name="76 Grupo"/>
          <p:cNvGrpSpPr/>
          <p:nvPr/>
        </p:nvGrpSpPr>
        <p:grpSpPr>
          <a:xfrm>
            <a:off x="4143372" y="2786058"/>
            <a:ext cx="642942" cy="642942"/>
            <a:chOff x="2844800" y="1828800"/>
            <a:chExt cx="2235200" cy="2235200"/>
          </a:xfrm>
        </p:grpSpPr>
        <p:sp>
          <p:nvSpPr>
            <p:cNvPr id="78" name=" 3"/>
            <p:cNvSpPr/>
            <p:nvPr/>
          </p:nvSpPr>
          <p:spPr>
            <a:xfrm>
              <a:off x="2844800" y="1828800"/>
              <a:ext cx="2235200" cy="2235200"/>
            </a:xfrm>
            <a:prstGeom prst="gear9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0" name=" 4"/>
            <p:cNvSpPr/>
            <p:nvPr/>
          </p:nvSpPr>
          <p:spPr>
            <a:xfrm>
              <a:off x="3294173" y="2352387"/>
              <a:ext cx="1336454" cy="114893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lvl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s-ES_tradnl" sz="2700" kern="1200"/>
            </a:p>
          </p:txBody>
        </p:sp>
      </p:grpSp>
      <p:grpSp>
        <p:nvGrpSpPr>
          <p:cNvPr id="45" name="44 Grupo"/>
          <p:cNvGrpSpPr/>
          <p:nvPr/>
        </p:nvGrpSpPr>
        <p:grpSpPr>
          <a:xfrm>
            <a:off x="4572000" y="3357562"/>
            <a:ext cx="3286149" cy="1500198"/>
            <a:chOff x="4572000" y="3357562"/>
            <a:chExt cx="3286149" cy="1500198"/>
          </a:xfrm>
        </p:grpSpPr>
        <p:sp>
          <p:nvSpPr>
            <p:cNvPr id="18" name="17 Rectángulo redondeado"/>
            <p:cNvSpPr/>
            <p:nvPr/>
          </p:nvSpPr>
          <p:spPr bwMode="auto">
            <a:xfrm>
              <a:off x="6429389" y="3357562"/>
              <a:ext cx="1428760" cy="150019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73000"/>
              </a:schemeClr>
            </a:solidFill>
            <a:ln w="38100" cap="flat" cmpd="thickThin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52400" dist="889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82" name="81 Conector recto de flecha"/>
            <p:cNvCxnSpPr/>
            <p:nvPr/>
          </p:nvCxnSpPr>
          <p:spPr bwMode="auto">
            <a:xfrm>
              <a:off x="4572000" y="3714752"/>
              <a:ext cx="1857388" cy="35719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58" name="57 Grupo"/>
          <p:cNvGrpSpPr/>
          <p:nvPr/>
        </p:nvGrpSpPr>
        <p:grpSpPr>
          <a:xfrm>
            <a:off x="6613978" y="3317673"/>
            <a:ext cx="1000132" cy="1325773"/>
            <a:chOff x="4113648" y="2317541"/>
            <a:chExt cx="1000132" cy="1325773"/>
          </a:xfrm>
        </p:grpSpPr>
        <p:sp>
          <p:nvSpPr>
            <p:cNvPr id="25" name="24 Esquina doblada"/>
            <p:cNvSpPr/>
            <p:nvPr/>
          </p:nvSpPr>
          <p:spPr bwMode="auto">
            <a:xfrm>
              <a:off x="4214810" y="2571744"/>
              <a:ext cx="857256" cy="1071570"/>
            </a:xfrm>
            <a:prstGeom prst="foldedCorner">
              <a:avLst/>
            </a:prstGeom>
            <a:solidFill>
              <a:srgbClr val="FFFFCC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0" name="49 CuadroTexto"/>
            <p:cNvSpPr txBox="1"/>
            <p:nvPr/>
          </p:nvSpPr>
          <p:spPr>
            <a:xfrm>
              <a:off x="4113648" y="2317541"/>
              <a:ext cx="1000132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300" b="1" dirty="0"/>
                <a:t>texto.txt</a:t>
              </a:r>
            </a:p>
          </p:txBody>
        </p:sp>
      </p:grpSp>
      <p:sp>
        <p:nvSpPr>
          <p:cNvPr id="83" name="82 CuadroTexto"/>
          <p:cNvSpPr txBox="1"/>
          <p:nvPr/>
        </p:nvSpPr>
        <p:spPr>
          <a:xfrm>
            <a:off x="92340" y="1124744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latin typeface="Century Gothic" pitchFamily="34" charset="0"/>
              </a:rPr>
              <a:t>…</a:t>
            </a:r>
            <a:r>
              <a:rPr lang="es-ES_tradnl" sz="1400" b="1" dirty="0" err="1">
                <a:latin typeface="Century Gothic" pitchFamily="34" charset="0"/>
              </a:rPr>
              <a:t>println</a:t>
            </a:r>
            <a:r>
              <a:rPr lang="es-ES_tradnl" sz="1400" b="1" dirty="0">
                <a:latin typeface="Century Gothic" pitchFamily="34" charset="0"/>
              </a:rPr>
              <a:t>( </a:t>
            </a:r>
            <a:r>
              <a:rPr lang="es-ES_tradnl" sz="1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F.getName</a:t>
            </a:r>
            <a:r>
              <a:rPr lang="es-ES_tradnl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() </a:t>
            </a:r>
            <a:r>
              <a:rPr lang="es-ES_tradnl" sz="1400" b="1" dirty="0">
                <a:latin typeface="Century Gothic" pitchFamily="34" charset="0"/>
              </a:rPr>
              <a:t>)</a:t>
            </a:r>
          </a:p>
        </p:txBody>
      </p:sp>
      <p:sp>
        <p:nvSpPr>
          <p:cNvPr id="84" name="83 CuadroTexto"/>
          <p:cNvSpPr txBox="1"/>
          <p:nvPr/>
        </p:nvSpPr>
        <p:spPr>
          <a:xfrm>
            <a:off x="92340" y="1339058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rgbClr val="C00000"/>
                </a:solidFill>
                <a:latin typeface="Arno Pro Smbd" pitchFamily="18" charset="0"/>
              </a:rPr>
              <a:t>texto.txt</a:t>
            </a:r>
          </a:p>
        </p:txBody>
      </p:sp>
      <p:sp>
        <p:nvSpPr>
          <p:cNvPr id="91" name="90 CuadroTexto"/>
          <p:cNvSpPr txBox="1"/>
          <p:nvPr/>
        </p:nvSpPr>
        <p:spPr>
          <a:xfrm>
            <a:off x="92340" y="1624810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latin typeface="Century Gothic" pitchFamily="34" charset="0"/>
              </a:rPr>
              <a:t>…</a:t>
            </a:r>
            <a:r>
              <a:rPr lang="es-ES_tradnl" sz="1400" b="1" dirty="0" err="1">
                <a:latin typeface="Century Gothic" pitchFamily="34" charset="0"/>
              </a:rPr>
              <a:t>println</a:t>
            </a:r>
            <a:r>
              <a:rPr lang="es-ES_tradnl" sz="1400" b="1" dirty="0">
                <a:latin typeface="Century Gothic" pitchFamily="34" charset="0"/>
              </a:rPr>
              <a:t>( </a:t>
            </a:r>
            <a:r>
              <a:rPr lang="es-ES_tradnl" sz="1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F.getParent</a:t>
            </a:r>
            <a:r>
              <a:rPr lang="es-ES_tradnl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() </a:t>
            </a:r>
            <a:r>
              <a:rPr lang="es-ES_tradnl" sz="1400" b="1" dirty="0">
                <a:latin typeface="Century Gothic" pitchFamily="34" charset="0"/>
              </a:rPr>
              <a:t>)</a:t>
            </a:r>
          </a:p>
        </p:txBody>
      </p:sp>
      <p:sp>
        <p:nvSpPr>
          <p:cNvPr id="92" name="91 CuadroTexto"/>
          <p:cNvSpPr txBox="1"/>
          <p:nvPr/>
        </p:nvSpPr>
        <p:spPr>
          <a:xfrm>
            <a:off x="92340" y="1839124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rgbClr val="C00000"/>
                </a:solidFill>
                <a:latin typeface="Arno Pro Smbd" pitchFamily="18" charset="0"/>
              </a:rPr>
              <a:t>documentos</a:t>
            </a:r>
          </a:p>
        </p:txBody>
      </p:sp>
      <p:sp>
        <p:nvSpPr>
          <p:cNvPr id="94" name="93 CuadroTexto"/>
          <p:cNvSpPr txBox="1"/>
          <p:nvPr/>
        </p:nvSpPr>
        <p:spPr>
          <a:xfrm>
            <a:off x="92340" y="2124876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latin typeface="Century Gothic" pitchFamily="34" charset="0"/>
              </a:rPr>
              <a:t>…</a:t>
            </a:r>
            <a:r>
              <a:rPr lang="es-ES_tradnl" sz="1400" b="1" dirty="0" err="1">
                <a:latin typeface="Century Gothic" pitchFamily="34" charset="0"/>
              </a:rPr>
              <a:t>println</a:t>
            </a:r>
            <a:r>
              <a:rPr lang="es-ES_tradnl" sz="1400" b="1" dirty="0">
                <a:latin typeface="Century Gothic" pitchFamily="34" charset="0"/>
              </a:rPr>
              <a:t>( </a:t>
            </a:r>
            <a:r>
              <a:rPr lang="es-ES_tradnl" sz="1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F.getPath</a:t>
            </a:r>
            <a:r>
              <a:rPr lang="es-ES_tradnl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() </a:t>
            </a:r>
            <a:r>
              <a:rPr lang="es-ES_tradnl" sz="1400" b="1" dirty="0">
                <a:latin typeface="Century Gothic" pitchFamily="34" charset="0"/>
              </a:rPr>
              <a:t>)</a:t>
            </a:r>
          </a:p>
        </p:txBody>
      </p:sp>
      <p:sp>
        <p:nvSpPr>
          <p:cNvPr id="95" name="94 CuadroTexto"/>
          <p:cNvSpPr txBox="1"/>
          <p:nvPr/>
        </p:nvSpPr>
        <p:spPr>
          <a:xfrm>
            <a:off x="92340" y="2339190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rgbClr val="C00000"/>
                </a:solidFill>
                <a:latin typeface="Arno Pro Smbd" pitchFamily="18" charset="0"/>
              </a:rPr>
              <a:t>documentos\texto.txt</a:t>
            </a:r>
          </a:p>
        </p:txBody>
      </p:sp>
      <p:sp>
        <p:nvSpPr>
          <p:cNvPr id="97" name="96 CuadroTexto"/>
          <p:cNvSpPr txBox="1"/>
          <p:nvPr/>
        </p:nvSpPr>
        <p:spPr>
          <a:xfrm>
            <a:off x="92340" y="2696380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latin typeface="Century Gothic" pitchFamily="34" charset="0"/>
              </a:rPr>
              <a:t>…</a:t>
            </a:r>
            <a:r>
              <a:rPr lang="es-ES_tradnl" sz="1400" b="1" dirty="0" err="1">
                <a:latin typeface="Century Gothic" pitchFamily="34" charset="0"/>
              </a:rPr>
              <a:t>println</a:t>
            </a:r>
            <a:r>
              <a:rPr lang="es-ES_tradnl" sz="1400" b="1" dirty="0">
                <a:latin typeface="Century Gothic" pitchFamily="34" charset="0"/>
              </a:rPr>
              <a:t>( </a:t>
            </a:r>
            <a:r>
              <a:rPr lang="es-ES_tradnl" sz="1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F.getAbsolutePath</a:t>
            </a:r>
            <a:r>
              <a:rPr lang="es-ES_tradnl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() </a:t>
            </a:r>
            <a:r>
              <a:rPr lang="es-ES_tradnl" sz="1400" b="1" dirty="0">
                <a:latin typeface="Century Gothic" pitchFamily="34" charset="0"/>
              </a:rPr>
              <a:t>)</a:t>
            </a:r>
          </a:p>
        </p:txBody>
      </p:sp>
      <p:sp>
        <p:nvSpPr>
          <p:cNvPr id="98" name="97 CuadroTexto"/>
          <p:cNvSpPr txBox="1"/>
          <p:nvPr/>
        </p:nvSpPr>
        <p:spPr>
          <a:xfrm>
            <a:off x="92340" y="2910694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rgbClr val="C00000"/>
                </a:solidFill>
                <a:latin typeface="Arno Pro Smbd" pitchFamily="18" charset="0"/>
              </a:rPr>
              <a:t>C:\proyecto\documentos\texto.txt</a:t>
            </a:r>
          </a:p>
        </p:txBody>
      </p:sp>
      <p:sp>
        <p:nvSpPr>
          <p:cNvPr id="100" name="99 CuadroTexto"/>
          <p:cNvSpPr txBox="1"/>
          <p:nvPr/>
        </p:nvSpPr>
        <p:spPr>
          <a:xfrm>
            <a:off x="80032" y="3279314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latin typeface="Century Gothic" pitchFamily="34" charset="0"/>
              </a:rPr>
              <a:t>…</a:t>
            </a:r>
            <a:r>
              <a:rPr lang="es-ES_tradnl" sz="1400" b="1" dirty="0" err="1">
                <a:latin typeface="Century Gothic" pitchFamily="34" charset="0"/>
              </a:rPr>
              <a:t>println</a:t>
            </a:r>
            <a:r>
              <a:rPr lang="es-ES_tradnl" sz="1400" b="1" dirty="0">
                <a:latin typeface="Century Gothic" pitchFamily="34" charset="0"/>
              </a:rPr>
              <a:t>( </a:t>
            </a:r>
            <a:r>
              <a:rPr lang="es-ES_tradnl" sz="1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F.length</a:t>
            </a:r>
            <a:r>
              <a:rPr lang="es-ES_tradnl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() </a:t>
            </a:r>
            <a:r>
              <a:rPr lang="es-ES_tradnl" sz="1400" b="1" dirty="0">
                <a:latin typeface="Century Gothic" pitchFamily="34" charset="0"/>
              </a:rPr>
              <a:t>)</a:t>
            </a:r>
          </a:p>
        </p:txBody>
      </p:sp>
      <p:sp>
        <p:nvSpPr>
          <p:cNvPr id="101" name="100 CuadroTexto"/>
          <p:cNvSpPr txBox="1"/>
          <p:nvPr/>
        </p:nvSpPr>
        <p:spPr>
          <a:xfrm>
            <a:off x="158984" y="3482198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rgbClr val="C00000"/>
                </a:solidFill>
                <a:latin typeface="Arno Pro Smbd" pitchFamily="18" charset="0"/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6715140" y="3786190"/>
            <a:ext cx="8572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1600" b="1" dirty="0">
                <a:solidFill>
                  <a:srgbClr val="C00000"/>
                </a:solidFill>
                <a:latin typeface="Arno Pro Smbd" pitchFamily="18" charset="0"/>
              </a:rPr>
              <a:t>Hola</a:t>
            </a:r>
          </a:p>
          <a:p>
            <a:pPr algn="ctr"/>
            <a:r>
              <a:rPr lang="es-ES_tradnl" sz="1600" b="1" dirty="0">
                <a:solidFill>
                  <a:srgbClr val="C00000"/>
                </a:solidFill>
                <a:latin typeface="Arno Pro Smbd" pitchFamily="18" charset="0"/>
              </a:rPr>
              <a:t>Mundo</a:t>
            </a:r>
          </a:p>
        </p:txBody>
      </p:sp>
      <p:sp>
        <p:nvSpPr>
          <p:cNvPr id="104" name="103 CuadroTexto"/>
          <p:cNvSpPr txBox="1"/>
          <p:nvPr/>
        </p:nvSpPr>
        <p:spPr>
          <a:xfrm>
            <a:off x="16140" y="3767950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latin typeface="Century Gothic" pitchFamily="34" charset="0"/>
              </a:rPr>
              <a:t>…</a:t>
            </a:r>
            <a:r>
              <a:rPr lang="es-ES_tradnl" sz="1400" b="1" dirty="0" err="1">
                <a:latin typeface="Century Gothic" pitchFamily="34" charset="0"/>
              </a:rPr>
              <a:t>println</a:t>
            </a:r>
            <a:r>
              <a:rPr lang="es-ES_tradnl" sz="1400" b="1" dirty="0">
                <a:latin typeface="Century Gothic" pitchFamily="34" charset="0"/>
              </a:rPr>
              <a:t>( </a:t>
            </a:r>
            <a:r>
              <a:rPr lang="es-ES_tradnl" sz="1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F.exists</a:t>
            </a:r>
            <a:r>
              <a:rPr lang="es-ES_tradnl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() </a:t>
            </a:r>
            <a:r>
              <a:rPr lang="es-ES_tradnl" sz="1400" b="1" dirty="0">
                <a:latin typeface="Century Gothic" pitchFamily="34" charset="0"/>
              </a:rPr>
              <a:t>)</a:t>
            </a:r>
          </a:p>
        </p:txBody>
      </p:sp>
      <p:sp>
        <p:nvSpPr>
          <p:cNvPr id="105" name="104 CuadroTexto"/>
          <p:cNvSpPr txBox="1"/>
          <p:nvPr/>
        </p:nvSpPr>
        <p:spPr>
          <a:xfrm>
            <a:off x="16140" y="3982264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rgbClr val="C00000"/>
                </a:solidFill>
                <a:latin typeface="Arno Pro Smbd" pitchFamily="18" charset="0"/>
              </a:rPr>
              <a:t>true / false</a:t>
            </a:r>
          </a:p>
        </p:txBody>
      </p:sp>
      <p:sp>
        <p:nvSpPr>
          <p:cNvPr id="107" name="106 CuadroTexto"/>
          <p:cNvSpPr txBox="1"/>
          <p:nvPr/>
        </p:nvSpPr>
        <p:spPr>
          <a:xfrm>
            <a:off x="16140" y="4365104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latin typeface="Century Gothic" pitchFamily="34" charset="0"/>
              </a:rPr>
              <a:t>…</a:t>
            </a:r>
            <a:r>
              <a:rPr lang="es-ES_tradnl" sz="1400" b="1" dirty="0" err="1">
                <a:latin typeface="Century Gothic" pitchFamily="34" charset="0"/>
              </a:rPr>
              <a:t>println</a:t>
            </a:r>
            <a:r>
              <a:rPr lang="es-ES_tradnl" sz="1400" b="1" dirty="0">
                <a:latin typeface="Century Gothic" pitchFamily="34" charset="0"/>
              </a:rPr>
              <a:t>( </a:t>
            </a:r>
            <a:r>
              <a:rPr lang="es-ES_tradnl" sz="1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F.isFile</a:t>
            </a:r>
            <a:r>
              <a:rPr lang="es-ES_tradnl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() </a:t>
            </a:r>
            <a:r>
              <a:rPr lang="es-ES_tradnl" sz="1400" b="1" dirty="0">
                <a:latin typeface="Century Gothic" pitchFamily="34" charset="0"/>
              </a:rPr>
              <a:t>)</a:t>
            </a:r>
          </a:p>
        </p:txBody>
      </p:sp>
      <p:sp>
        <p:nvSpPr>
          <p:cNvPr id="108" name="107 CuadroTexto"/>
          <p:cNvSpPr txBox="1"/>
          <p:nvPr/>
        </p:nvSpPr>
        <p:spPr>
          <a:xfrm>
            <a:off x="16140" y="4579418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rgbClr val="C00000"/>
                </a:solidFill>
                <a:latin typeface="Arno Pro Smbd" pitchFamily="18" charset="0"/>
              </a:rPr>
              <a:t>true</a:t>
            </a:r>
          </a:p>
        </p:txBody>
      </p:sp>
      <p:sp>
        <p:nvSpPr>
          <p:cNvPr id="110" name="109 CuadroTexto"/>
          <p:cNvSpPr txBox="1"/>
          <p:nvPr/>
        </p:nvSpPr>
        <p:spPr>
          <a:xfrm>
            <a:off x="16140" y="4865170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latin typeface="Century Gothic" pitchFamily="34" charset="0"/>
              </a:rPr>
              <a:t>…</a:t>
            </a:r>
            <a:r>
              <a:rPr lang="es-ES_tradnl" sz="1400" b="1" dirty="0" err="1">
                <a:latin typeface="Century Gothic" pitchFamily="34" charset="0"/>
              </a:rPr>
              <a:t>println</a:t>
            </a:r>
            <a:r>
              <a:rPr lang="es-ES_tradnl" sz="1400" b="1" dirty="0">
                <a:latin typeface="Century Gothic" pitchFamily="34" charset="0"/>
              </a:rPr>
              <a:t>( </a:t>
            </a:r>
            <a:r>
              <a:rPr lang="es-ES_tradnl" sz="1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F.isDirectory</a:t>
            </a:r>
            <a:r>
              <a:rPr lang="es-ES_tradnl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() </a:t>
            </a:r>
            <a:r>
              <a:rPr lang="es-ES_tradnl" sz="1400" b="1" dirty="0">
                <a:latin typeface="Century Gothic" pitchFamily="34" charset="0"/>
              </a:rPr>
              <a:t>)</a:t>
            </a:r>
          </a:p>
        </p:txBody>
      </p:sp>
      <p:sp>
        <p:nvSpPr>
          <p:cNvPr id="111" name="110 CuadroTexto"/>
          <p:cNvSpPr txBox="1"/>
          <p:nvPr/>
        </p:nvSpPr>
        <p:spPr>
          <a:xfrm>
            <a:off x="16140" y="5079484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rgbClr val="C00000"/>
                </a:solidFill>
                <a:latin typeface="Arno Pro Smbd" pitchFamily="18" charset="0"/>
              </a:rPr>
              <a:t>false</a:t>
            </a:r>
          </a:p>
        </p:txBody>
      </p:sp>
      <p:sp>
        <p:nvSpPr>
          <p:cNvPr id="48" name="47 CuadroTexto"/>
          <p:cNvSpPr txBox="1"/>
          <p:nvPr/>
        </p:nvSpPr>
        <p:spPr>
          <a:xfrm>
            <a:off x="22049" y="5373127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latin typeface="Century Gothic" pitchFamily="34" charset="0"/>
              </a:rPr>
              <a:t>…</a:t>
            </a:r>
            <a:r>
              <a:rPr lang="es-ES_tradnl" sz="1400" b="1" dirty="0" err="1">
                <a:latin typeface="Century Gothic" pitchFamily="34" charset="0"/>
              </a:rPr>
              <a:t>println</a:t>
            </a:r>
            <a:r>
              <a:rPr lang="es-ES_tradnl" sz="1400" b="1" dirty="0">
                <a:latin typeface="Century Gothic" pitchFamily="34" charset="0"/>
              </a:rPr>
              <a:t>( </a:t>
            </a:r>
            <a:r>
              <a:rPr lang="es-ES_tradnl" sz="1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F.canRead</a:t>
            </a:r>
            <a:r>
              <a:rPr lang="es-ES_tradnl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 () </a:t>
            </a:r>
            <a:r>
              <a:rPr lang="es-ES_tradnl" sz="1400" b="1" dirty="0">
                <a:latin typeface="Century Gothic" pitchFamily="34" charset="0"/>
              </a:rPr>
              <a:t>)</a:t>
            </a:r>
          </a:p>
        </p:txBody>
      </p:sp>
      <p:sp>
        <p:nvSpPr>
          <p:cNvPr id="49" name="48 CuadroTexto"/>
          <p:cNvSpPr txBox="1"/>
          <p:nvPr/>
        </p:nvSpPr>
        <p:spPr>
          <a:xfrm>
            <a:off x="22049" y="5587441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rgbClr val="C00000"/>
                </a:solidFill>
                <a:latin typeface="Arno Pro Smbd" pitchFamily="18" charset="0"/>
              </a:rPr>
              <a:t>true</a:t>
            </a:r>
          </a:p>
        </p:txBody>
      </p:sp>
      <p:sp>
        <p:nvSpPr>
          <p:cNvPr id="51" name="50 CuadroTexto"/>
          <p:cNvSpPr txBox="1"/>
          <p:nvPr/>
        </p:nvSpPr>
        <p:spPr>
          <a:xfrm>
            <a:off x="8602" y="5872684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latin typeface="Century Gothic" pitchFamily="34" charset="0"/>
              </a:rPr>
              <a:t>…</a:t>
            </a:r>
            <a:r>
              <a:rPr lang="es-ES_tradnl" sz="1400" b="1" dirty="0" err="1">
                <a:latin typeface="Century Gothic" pitchFamily="34" charset="0"/>
              </a:rPr>
              <a:t>println</a:t>
            </a:r>
            <a:r>
              <a:rPr lang="es-ES_tradnl" sz="1400" b="1" dirty="0">
                <a:latin typeface="Century Gothic" pitchFamily="34" charset="0"/>
              </a:rPr>
              <a:t>( </a:t>
            </a:r>
            <a:r>
              <a:rPr lang="es-ES_tradnl" sz="1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F.canWrite</a:t>
            </a:r>
            <a:r>
              <a:rPr lang="es-ES_tradnl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 () </a:t>
            </a:r>
            <a:r>
              <a:rPr lang="es-ES_tradnl" sz="1400" b="1" dirty="0">
                <a:latin typeface="Century Gothic" pitchFamily="34" charset="0"/>
              </a:rPr>
              <a:t>)</a:t>
            </a:r>
          </a:p>
        </p:txBody>
      </p:sp>
      <p:sp>
        <p:nvSpPr>
          <p:cNvPr id="52" name="51 CuadroTexto"/>
          <p:cNvSpPr txBox="1"/>
          <p:nvPr/>
        </p:nvSpPr>
        <p:spPr>
          <a:xfrm>
            <a:off x="8602" y="6086998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rgbClr val="C00000"/>
                </a:solidFill>
                <a:latin typeface="Arno Pro Smbd" pitchFamily="18" charset="0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350961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0" grpId="0"/>
      <p:bldP spid="83" grpId="0"/>
      <p:bldP spid="84" grpId="0"/>
      <p:bldP spid="91" grpId="0"/>
      <p:bldP spid="92" grpId="0"/>
      <p:bldP spid="94" grpId="0"/>
      <p:bldP spid="95" grpId="0"/>
      <p:bldP spid="97" grpId="0"/>
      <p:bldP spid="98" grpId="0"/>
      <p:bldP spid="100" grpId="0"/>
      <p:bldP spid="101" grpId="0"/>
      <p:bldP spid="104" grpId="0"/>
      <p:bldP spid="105" grpId="0"/>
      <p:bldP spid="107" grpId="0"/>
      <p:bldP spid="108" grpId="0"/>
      <p:bldP spid="110" grpId="0"/>
      <p:bldP spid="111" grpId="0"/>
      <p:bldP spid="48" grpId="0"/>
      <p:bldP spid="49" grpId="0"/>
      <p:bldP spid="51" grpId="0"/>
      <p:bldP spid="5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64 Bisel"/>
          <p:cNvSpPr/>
          <p:nvPr/>
        </p:nvSpPr>
        <p:spPr bwMode="auto">
          <a:xfrm>
            <a:off x="3571868" y="1643050"/>
            <a:ext cx="5143536" cy="4286280"/>
          </a:xfrm>
          <a:prstGeom prst="bevel">
            <a:avLst>
              <a:gd name="adj" fmla="val 2297"/>
            </a:avLst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4" y="45760"/>
            <a:ext cx="7392988" cy="563563"/>
          </a:xfrm>
        </p:spPr>
        <p:txBody>
          <a:bodyPr/>
          <a:lstStyle/>
          <a:p>
            <a:r>
              <a:rPr lang="en-US" dirty="0"/>
              <a:t>CLASE FILE</a:t>
            </a: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 bwMode="auto">
          <a:xfrm>
            <a:off x="142844" y="1357298"/>
            <a:ext cx="7858180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/>
          <a:p>
            <a:pPr marL="777875" marR="0" lvl="1" indent="-298450" algn="ctr" defTabSz="95726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</a:endParaRPr>
          </a:p>
        </p:txBody>
      </p:sp>
      <p:grpSp>
        <p:nvGrpSpPr>
          <p:cNvPr id="64" name="63 Grupo"/>
          <p:cNvGrpSpPr/>
          <p:nvPr/>
        </p:nvGrpSpPr>
        <p:grpSpPr>
          <a:xfrm>
            <a:off x="3929058" y="2143116"/>
            <a:ext cx="4429156" cy="3214710"/>
            <a:chOff x="3357554" y="1500174"/>
            <a:chExt cx="3143272" cy="2428892"/>
          </a:xfrm>
          <a:gradFill>
            <a:gsLst>
              <a:gs pos="0">
                <a:srgbClr val="FFC000"/>
              </a:gs>
              <a:gs pos="100000">
                <a:srgbClr val="FFE285"/>
              </a:gs>
            </a:gsLst>
            <a:path path="shape">
              <a:fillToRect l="50000" t="50000" r="50000" b="50000"/>
            </a:path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1" name="60 Rectángulo"/>
            <p:cNvSpPr/>
            <p:nvPr/>
          </p:nvSpPr>
          <p:spPr bwMode="auto">
            <a:xfrm>
              <a:off x="3357554" y="1714488"/>
              <a:ext cx="3143272" cy="2214578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3" name="62 Trapecio"/>
            <p:cNvSpPr/>
            <p:nvPr/>
          </p:nvSpPr>
          <p:spPr bwMode="auto">
            <a:xfrm>
              <a:off x="3357554" y="1500174"/>
              <a:ext cx="1285884" cy="214314"/>
            </a:xfrm>
            <a:prstGeom prst="trapezoid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66" name="65 CuadroTexto"/>
          <p:cNvSpPr txBox="1"/>
          <p:nvPr/>
        </p:nvSpPr>
        <p:spPr>
          <a:xfrm>
            <a:off x="4929190" y="1285860"/>
            <a:ext cx="25003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2000" b="1" dirty="0"/>
              <a:t>C:</a:t>
            </a:r>
          </a:p>
        </p:txBody>
      </p:sp>
      <p:grpSp>
        <p:nvGrpSpPr>
          <p:cNvPr id="70" name="69 Grupo"/>
          <p:cNvGrpSpPr/>
          <p:nvPr/>
        </p:nvGrpSpPr>
        <p:grpSpPr>
          <a:xfrm>
            <a:off x="5072066" y="2643182"/>
            <a:ext cx="3000396" cy="2438416"/>
            <a:chOff x="3357554" y="1500174"/>
            <a:chExt cx="3143272" cy="2428892"/>
          </a:xfrm>
          <a:gradFill flip="none" rotWithShape="1">
            <a:gsLst>
              <a:gs pos="0">
                <a:srgbClr val="FFC000"/>
              </a:gs>
              <a:gs pos="50000">
                <a:srgbClr val="FFE285"/>
              </a:gs>
              <a:gs pos="100000">
                <a:srgbClr val="FFFFCC"/>
              </a:gs>
            </a:gsLst>
            <a:lin ang="27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1" name="70 Rectángulo"/>
            <p:cNvSpPr/>
            <p:nvPr/>
          </p:nvSpPr>
          <p:spPr bwMode="auto">
            <a:xfrm>
              <a:off x="3357554" y="1714488"/>
              <a:ext cx="3143272" cy="2214578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2" name="71 Trapecio"/>
            <p:cNvSpPr/>
            <p:nvPr/>
          </p:nvSpPr>
          <p:spPr bwMode="auto">
            <a:xfrm>
              <a:off x="3357554" y="1500174"/>
              <a:ext cx="1462527" cy="214314"/>
            </a:xfrm>
            <a:prstGeom prst="trapezoid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73" name="72 CuadroTexto"/>
          <p:cNvSpPr txBox="1"/>
          <p:nvPr/>
        </p:nvSpPr>
        <p:spPr>
          <a:xfrm>
            <a:off x="4957759" y="2590824"/>
            <a:ext cx="150019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300" b="1" dirty="0"/>
              <a:t>documentos</a:t>
            </a:r>
          </a:p>
        </p:txBody>
      </p:sp>
      <p:sp>
        <p:nvSpPr>
          <p:cNvPr id="74" name="73 CuadroTexto"/>
          <p:cNvSpPr txBox="1"/>
          <p:nvPr/>
        </p:nvSpPr>
        <p:spPr>
          <a:xfrm>
            <a:off x="4043361" y="2138366"/>
            <a:ext cx="150019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300" b="1" dirty="0"/>
              <a:t>proyecto</a:t>
            </a:r>
          </a:p>
        </p:txBody>
      </p:sp>
      <p:sp>
        <p:nvSpPr>
          <p:cNvPr id="20" name="19 CuadroTexto"/>
          <p:cNvSpPr txBox="1"/>
          <p:nvPr/>
        </p:nvSpPr>
        <p:spPr>
          <a:xfrm>
            <a:off x="3929058" y="3500438"/>
            <a:ext cx="10715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2000" b="1" dirty="0">
                <a:solidFill>
                  <a:schemeClr val="accent1">
                    <a:lumMod val="75000"/>
                  </a:schemeClr>
                </a:solidFill>
              </a:rPr>
              <a:t>F</a:t>
            </a:r>
          </a:p>
        </p:txBody>
      </p:sp>
      <p:grpSp>
        <p:nvGrpSpPr>
          <p:cNvPr id="77" name="76 Grupo"/>
          <p:cNvGrpSpPr/>
          <p:nvPr/>
        </p:nvGrpSpPr>
        <p:grpSpPr>
          <a:xfrm>
            <a:off x="4143372" y="2786058"/>
            <a:ext cx="642942" cy="642942"/>
            <a:chOff x="2844800" y="1828800"/>
            <a:chExt cx="2235200" cy="2235200"/>
          </a:xfrm>
        </p:grpSpPr>
        <p:sp>
          <p:nvSpPr>
            <p:cNvPr id="78" name=" 3"/>
            <p:cNvSpPr/>
            <p:nvPr/>
          </p:nvSpPr>
          <p:spPr>
            <a:xfrm>
              <a:off x="2844800" y="1828800"/>
              <a:ext cx="2235200" cy="2235200"/>
            </a:xfrm>
            <a:prstGeom prst="gear9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0" name=" 4"/>
            <p:cNvSpPr/>
            <p:nvPr/>
          </p:nvSpPr>
          <p:spPr>
            <a:xfrm>
              <a:off x="3294173" y="2352387"/>
              <a:ext cx="1336454" cy="114893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lvl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s-ES_tradnl" sz="2700" kern="1200"/>
            </a:p>
          </p:txBody>
        </p:sp>
      </p:grpSp>
      <p:grpSp>
        <p:nvGrpSpPr>
          <p:cNvPr id="45" name="44 Grupo"/>
          <p:cNvGrpSpPr/>
          <p:nvPr/>
        </p:nvGrpSpPr>
        <p:grpSpPr>
          <a:xfrm>
            <a:off x="4572000" y="3357562"/>
            <a:ext cx="3286149" cy="1500198"/>
            <a:chOff x="4572000" y="3357562"/>
            <a:chExt cx="3286149" cy="1500198"/>
          </a:xfrm>
        </p:grpSpPr>
        <p:sp>
          <p:nvSpPr>
            <p:cNvPr id="18" name="17 Rectángulo redondeado"/>
            <p:cNvSpPr/>
            <p:nvPr/>
          </p:nvSpPr>
          <p:spPr bwMode="auto">
            <a:xfrm>
              <a:off x="6429389" y="3357562"/>
              <a:ext cx="1428760" cy="150019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73000"/>
              </a:schemeClr>
            </a:solidFill>
            <a:ln w="38100" cap="flat" cmpd="thickThin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52400" dist="889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82" name="81 Conector recto de flecha"/>
            <p:cNvCxnSpPr/>
            <p:nvPr/>
          </p:nvCxnSpPr>
          <p:spPr bwMode="auto">
            <a:xfrm>
              <a:off x="4572000" y="3714752"/>
              <a:ext cx="1857388" cy="35719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58" name="57 Grupo"/>
          <p:cNvGrpSpPr/>
          <p:nvPr/>
        </p:nvGrpSpPr>
        <p:grpSpPr>
          <a:xfrm>
            <a:off x="6613978" y="3317673"/>
            <a:ext cx="1000132" cy="1325773"/>
            <a:chOff x="4113648" y="2317541"/>
            <a:chExt cx="1000132" cy="1325773"/>
          </a:xfrm>
        </p:grpSpPr>
        <p:sp>
          <p:nvSpPr>
            <p:cNvPr id="25" name="24 Esquina doblada"/>
            <p:cNvSpPr/>
            <p:nvPr/>
          </p:nvSpPr>
          <p:spPr bwMode="auto">
            <a:xfrm>
              <a:off x="4214810" y="2571744"/>
              <a:ext cx="857256" cy="1071570"/>
            </a:xfrm>
            <a:prstGeom prst="foldedCorner">
              <a:avLst/>
            </a:prstGeom>
            <a:solidFill>
              <a:srgbClr val="FFFFCC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0" name="49 CuadroTexto"/>
            <p:cNvSpPr txBox="1"/>
            <p:nvPr/>
          </p:nvSpPr>
          <p:spPr>
            <a:xfrm>
              <a:off x="4113648" y="2317541"/>
              <a:ext cx="1000132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300" b="1" dirty="0"/>
                <a:t>texto.txt</a:t>
              </a:r>
            </a:p>
          </p:txBody>
        </p:sp>
      </p:grpSp>
      <p:sp>
        <p:nvSpPr>
          <p:cNvPr id="102" name="101 Rectángulo"/>
          <p:cNvSpPr/>
          <p:nvPr/>
        </p:nvSpPr>
        <p:spPr>
          <a:xfrm>
            <a:off x="6715140" y="3786190"/>
            <a:ext cx="8572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1600" b="1" dirty="0">
                <a:solidFill>
                  <a:srgbClr val="C00000"/>
                </a:solidFill>
                <a:latin typeface="Arno Pro Smbd" pitchFamily="18" charset="0"/>
              </a:rPr>
              <a:t>Hola</a:t>
            </a:r>
          </a:p>
          <a:p>
            <a:pPr algn="ctr"/>
            <a:r>
              <a:rPr lang="es-ES_tradnl" sz="1600" b="1" dirty="0">
                <a:solidFill>
                  <a:srgbClr val="C00000"/>
                </a:solidFill>
                <a:latin typeface="Arno Pro Smbd" pitchFamily="18" charset="0"/>
              </a:rPr>
              <a:t>Mundo</a:t>
            </a:r>
          </a:p>
        </p:txBody>
      </p:sp>
      <p:sp>
        <p:nvSpPr>
          <p:cNvPr id="112" name="111 CuadroTexto"/>
          <p:cNvSpPr txBox="1"/>
          <p:nvPr/>
        </p:nvSpPr>
        <p:spPr>
          <a:xfrm>
            <a:off x="22884" y="3197204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F.delete</a:t>
            </a:r>
            <a:r>
              <a:rPr lang="es-ES_tradnl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()</a:t>
            </a:r>
            <a:endParaRPr lang="es-ES_tradnl" sz="1400" b="1" dirty="0">
              <a:latin typeface="Century Gothic" pitchFamily="34" charset="0"/>
            </a:endParaRPr>
          </a:p>
        </p:txBody>
      </p:sp>
      <p:sp>
        <p:nvSpPr>
          <p:cNvPr id="113" name="112 CuadroTexto"/>
          <p:cNvSpPr txBox="1"/>
          <p:nvPr/>
        </p:nvSpPr>
        <p:spPr>
          <a:xfrm>
            <a:off x="22884" y="3411518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rgbClr val="C00000"/>
                </a:solidFill>
                <a:latin typeface="Arno Pro Smbd" pitchFamily="18" charset="0"/>
              </a:rPr>
              <a:t>Elimina el fichero</a:t>
            </a:r>
          </a:p>
        </p:txBody>
      </p:sp>
      <p:sp>
        <p:nvSpPr>
          <p:cNvPr id="114" name="113 CuadroTexto"/>
          <p:cNvSpPr txBox="1"/>
          <p:nvPr/>
        </p:nvSpPr>
        <p:spPr>
          <a:xfrm>
            <a:off x="0" y="2697156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F.renameTo</a:t>
            </a:r>
            <a:r>
              <a:rPr lang="es-ES_tradnl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(</a:t>
            </a:r>
            <a:r>
              <a:rPr lang="es-ES_tradnl" sz="1400" b="1" dirty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</a:rPr>
              <a:t>F2</a:t>
            </a:r>
            <a:r>
              <a:rPr lang="es-ES_tradnl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)</a:t>
            </a:r>
            <a:endParaRPr lang="es-ES_tradnl" sz="1400" b="1" dirty="0">
              <a:latin typeface="Century Gothic" pitchFamily="34" charset="0"/>
            </a:endParaRPr>
          </a:p>
        </p:txBody>
      </p:sp>
      <p:sp>
        <p:nvSpPr>
          <p:cNvPr id="115" name="114 CuadroTexto"/>
          <p:cNvSpPr txBox="1"/>
          <p:nvPr/>
        </p:nvSpPr>
        <p:spPr>
          <a:xfrm>
            <a:off x="0" y="2911470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rgbClr val="C00000"/>
                </a:solidFill>
                <a:latin typeface="Arno Pro Smbd" pitchFamily="18" charset="0"/>
              </a:rPr>
              <a:t>Cambia el nombre del fichero</a:t>
            </a:r>
          </a:p>
        </p:txBody>
      </p:sp>
      <p:sp>
        <p:nvSpPr>
          <p:cNvPr id="46" name="45 CuadroTexto"/>
          <p:cNvSpPr txBox="1"/>
          <p:nvPr/>
        </p:nvSpPr>
        <p:spPr>
          <a:xfrm>
            <a:off x="-4845" y="2193680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F.createNewFile</a:t>
            </a:r>
            <a:r>
              <a:rPr lang="es-ES_tradnl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()</a:t>
            </a:r>
            <a:endParaRPr lang="es-ES_tradnl" sz="1400" b="1" dirty="0">
              <a:latin typeface="Century Gothic" pitchFamily="34" charset="0"/>
            </a:endParaRPr>
          </a:p>
        </p:txBody>
      </p:sp>
      <p:sp>
        <p:nvSpPr>
          <p:cNvPr id="47" name="46 CuadroTexto"/>
          <p:cNvSpPr txBox="1"/>
          <p:nvPr/>
        </p:nvSpPr>
        <p:spPr>
          <a:xfrm>
            <a:off x="-4845" y="2407994"/>
            <a:ext cx="37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rgbClr val="C00000"/>
                </a:solidFill>
                <a:latin typeface="Arno Pro Smbd" pitchFamily="18" charset="0"/>
              </a:rPr>
              <a:t>Crea el fichero si no existía</a:t>
            </a:r>
          </a:p>
        </p:txBody>
      </p:sp>
      <p:sp>
        <p:nvSpPr>
          <p:cNvPr id="48" name="47 CuadroTexto"/>
          <p:cNvSpPr txBox="1"/>
          <p:nvPr/>
        </p:nvSpPr>
        <p:spPr>
          <a:xfrm>
            <a:off x="94129" y="3777856"/>
            <a:ext cx="3571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 err="1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</a:rPr>
              <a:t>F.mkdir</a:t>
            </a:r>
            <a:r>
              <a:rPr lang="es-ES_tradnl" sz="1400" b="1" dirty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</a:rPr>
              <a:t>()</a:t>
            </a:r>
          </a:p>
        </p:txBody>
      </p:sp>
      <p:sp>
        <p:nvSpPr>
          <p:cNvPr id="49" name="48 CuadroTexto"/>
          <p:cNvSpPr txBox="1"/>
          <p:nvPr/>
        </p:nvSpPr>
        <p:spPr>
          <a:xfrm>
            <a:off x="94129" y="4063608"/>
            <a:ext cx="3571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rgbClr val="C00000"/>
                </a:solidFill>
                <a:latin typeface="Arno Pro Smbd" pitchFamily="18" charset="0"/>
              </a:rPr>
              <a:t>Crea el directorio si no existe</a:t>
            </a:r>
          </a:p>
        </p:txBody>
      </p:sp>
      <p:sp>
        <p:nvSpPr>
          <p:cNvPr id="51" name="50 CuadroTexto"/>
          <p:cNvSpPr txBox="1"/>
          <p:nvPr/>
        </p:nvSpPr>
        <p:spPr>
          <a:xfrm>
            <a:off x="94129" y="4492236"/>
            <a:ext cx="3571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 err="1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</a:rPr>
              <a:t>F.mkdirs</a:t>
            </a:r>
            <a:r>
              <a:rPr lang="es-ES_tradnl" sz="1400" b="1" dirty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</a:rPr>
              <a:t>()</a:t>
            </a:r>
          </a:p>
        </p:txBody>
      </p:sp>
      <p:sp>
        <p:nvSpPr>
          <p:cNvPr id="52" name="51 CuadroTexto"/>
          <p:cNvSpPr txBox="1"/>
          <p:nvPr/>
        </p:nvSpPr>
        <p:spPr>
          <a:xfrm>
            <a:off x="94129" y="4777988"/>
            <a:ext cx="3571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rgbClr val="C00000"/>
                </a:solidFill>
                <a:latin typeface="Arno Pro Smbd" pitchFamily="18" charset="0"/>
              </a:rPr>
              <a:t>Crea los directorios</a:t>
            </a:r>
          </a:p>
          <a:p>
            <a:pPr algn="ctr"/>
            <a:r>
              <a:rPr lang="es-ES_tradnl" sz="1400" b="1" dirty="0">
                <a:solidFill>
                  <a:srgbClr val="C00000"/>
                </a:solidFill>
                <a:latin typeface="Arno Pro Smbd" pitchFamily="18" charset="0"/>
              </a:rPr>
              <a:t>que sean necesarios</a:t>
            </a:r>
          </a:p>
        </p:txBody>
      </p:sp>
    </p:spTree>
    <p:extLst>
      <p:ext uri="{BB962C8B-B14F-4D97-AF65-F5344CB8AC3E}">
        <p14:creationId xmlns:p14="http://schemas.microsoft.com/office/powerpoint/2010/main" val="274133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/>
      <p:bldP spid="113" grpId="0"/>
      <p:bldP spid="114" grpId="0"/>
      <p:bldP spid="115" grpId="0"/>
      <p:bldP spid="46" grpId="0"/>
      <p:bldP spid="47" grpId="0"/>
      <p:bldP spid="48" grpId="0"/>
      <p:bldP spid="49" grpId="0"/>
      <p:bldP spid="51" grpId="0"/>
      <p:bldP spid="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64 Bisel"/>
          <p:cNvSpPr/>
          <p:nvPr/>
        </p:nvSpPr>
        <p:spPr bwMode="auto">
          <a:xfrm>
            <a:off x="3571868" y="1643050"/>
            <a:ext cx="5143536" cy="4286280"/>
          </a:xfrm>
          <a:prstGeom prst="bevel">
            <a:avLst>
              <a:gd name="adj" fmla="val 2297"/>
            </a:avLst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4" y="45760"/>
            <a:ext cx="7392988" cy="563563"/>
          </a:xfrm>
        </p:spPr>
        <p:txBody>
          <a:bodyPr/>
          <a:lstStyle/>
          <a:p>
            <a:r>
              <a:rPr lang="en-US" dirty="0"/>
              <a:t>CLASE FILE</a:t>
            </a: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 bwMode="auto">
          <a:xfrm>
            <a:off x="142844" y="1357298"/>
            <a:ext cx="7858180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/>
          <a:p>
            <a:pPr marL="777875" marR="0" lvl="1" indent="-298450" algn="ctr" defTabSz="95726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22" name="21 CuadroTexto"/>
          <p:cNvSpPr txBox="1"/>
          <p:nvPr/>
        </p:nvSpPr>
        <p:spPr>
          <a:xfrm>
            <a:off x="4071934" y="6072206"/>
            <a:ext cx="4286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 err="1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</a:rPr>
              <a:t>File</a:t>
            </a:r>
            <a:r>
              <a:rPr lang="es-ES_tradnl" sz="1400" b="1" dirty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</a:rPr>
              <a:t> F = new </a:t>
            </a:r>
            <a:r>
              <a:rPr lang="es-ES_tradnl" sz="1400" b="1" dirty="0" err="1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</a:rPr>
              <a:t>File</a:t>
            </a:r>
            <a:r>
              <a:rPr lang="es-ES_tradnl" sz="1400" b="1" dirty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</a:rPr>
              <a:t>(“</a:t>
            </a:r>
            <a:r>
              <a:rPr lang="es-ES_tradnl" sz="1400" b="1" dirty="0">
                <a:solidFill>
                  <a:srgbClr val="000000"/>
                </a:solidFill>
                <a:latin typeface="Century Gothic" pitchFamily="34" charset="0"/>
              </a:rPr>
              <a:t>documentos</a:t>
            </a:r>
            <a:r>
              <a:rPr lang="es-ES_tradnl" sz="1400" b="1" dirty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</a:rPr>
              <a:t>”);</a:t>
            </a:r>
          </a:p>
        </p:txBody>
      </p:sp>
      <p:grpSp>
        <p:nvGrpSpPr>
          <p:cNvPr id="2" name="63 Grupo"/>
          <p:cNvGrpSpPr/>
          <p:nvPr/>
        </p:nvGrpSpPr>
        <p:grpSpPr>
          <a:xfrm>
            <a:off x="3929058" y="2143116"/>
            <a:ext cx="4429156" cy="3214710"/>
            <a:chOff x="3357554" y="1500174"/>
            <a:chExt cx="3143272" cy="2428892"/>
          </a:xfrm>
          <a:gradFill>
            <a:gsLst>
              <a:gs pos="0">
                <a:srgbClr val="FFC000"/>
              </a:gs>
              <a:gs pos="100000">
                <a:srgbClr val="FFE285"/>
              </a:gs>
            </a:gsLst>
            <a:path path="shape">
              <a:fillToRect l="50000" t="50000" r="50000" b="50000"/>
            </a:path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1" name="60 Rectángulo"/>
            <p:cNvSpPr/>
            <p:nvPr/>
          </p:nvSpPr>
          <p:spPr bwMode="auto">
            <a:xfrm>
              <a:off x="3357554" y="1714488"/>
              <a:ext cx="3143272" cy="2214578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3" name="62 Trapecio"/>
            <p:cNvSpPr/>
            <p:nvPr/>
          </p:nvSpPr>
          <p:spPr bwMode="auto">
            <a:xfrm>
              <a:off x="3357554" y="1500174"/>
              <a:ext cx="1285884" cy="214314"/>
            </a:xfrm>
            <a:prstGeom prst="trapezoid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66" name="65 CuadroTexto"/>
          <p:cNvSpPr txBox="1"/>
          <p:nvPr/>
        </p:nvSpPr>
        <p:spPr>
          <a:xfrm>
            <a:off x="4929190" y="1285860"/>
            <a:ext cx="25003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2000" b="1" dirty="0"/>
              <a:t>C:</a:t>
            </a:r>
          </a:p>
        </p:txBody>
      </p:sp>
      <p:grpSp>
        <p:nvGrpSpPr>
          <p:cNvPr id="3" name="69 Grupo"/>
          <p:cNvGrpSpPr/>
          <p:nvPr/>
        </p:nvGrpSpPr>
        <p:grpSpPr>
          <a:xfrm>
            <a:off x="5643570" y="2786058"/>
            <a:ext cx="2357454" cy="2295540"/>
            <a:chOff x="3357554" y="1500174"/>
            <a:chExt cx="3143272" cy="2428892"/>
          </a:xfrm>
          <a:gradFill flip="none" rotWithShape="1">
            <a:gsLst>
              <a:gs pos="0">
                <a:srgbClr val="FFC000"/>
              </a:gs>
              <a:gs pos="50000">
                <a:srgbClr val="FFE285"/>
              </a:gs>
              <a:gs pos="100000">
                <a:srgbClr val="FFFFCC"/>
              </a:gs>
            </a:gsLst>
            <a:lin ang="27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1" name="70 Rectángulo"/>
            <p:cNvSpPr/>
            <p:nvPr/>
          </p:nvSpPr>
          <p:spPr bwMode="auto">
            <a:xfrm>
              <a:off x="3357554" y="1714488"/>
              <a:ext cx="3143272" cy="2214578"/>
            </a:xfrm>
            <a:prstGeom prst="rect">
              <a:avLst/>
            </a:prstGeom>
            <a:grpFill/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2" name="71 Trapecio"/>
            <p:cNvSpPr/>
            <p:nvPr/>
          </p:nvSpPr>
          <p:spPr bwMode="auto">
            <a:xfrm>
              <a:off x="3357554" y="1500174"/>
              <a:ext cx="1661489" cy="213296"/>
            </a:xfrm>
            <a:prstGeom prst="trapezoid">
              <a:avLst/>
            </a:prstGeom>
            <a:grpFill/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73" name="72 CuadroTexto"/>
          <p:cNvSpPr txBox="1"/>
          <p:nvPr/>
        </p:nvSpPr>
        <p:spPr>
          <a:xfrm>
            <a:off x="5547910" y="2749438"/>
            <a:ext cx="145607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300" b="1" dirty="0"/>
              <a:t>documentos</a:t>
            </a:r>
          </a:p>
        </p:txBody>
      </p:sp>
      <p:sp>
        <p:nvSpPr>
          <p:cNvPr id="74" name="73 CuadroTexto"/>
          <p:cNvSpPr txBox="1"/>
          <p:nvPr/>
        </p:nvSpPr>
        <p:spPr>
          <a:xfrm>
            <a:off x="4043361" y="2138366"/>
            <a:ext cx="150019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300" b="1" dirty="0"/>
              <a:t>proyecto</a:t>
            </a:r>
          </a:p>
        </p:txBody>
      </p:sp>
      <p:sp>
        <p:nvSpPr>
          <p:cNvPr id="20" name="19 CuadroTexto"/>
          <p:cNvSpPr txBox="1"/>
          <p:nvPr/>
        </p:nvSpPr>
        <p:spPr>
          <a:xfrm>
            <a:off x="3929058" y="3500438"/>
            <a:ext cx="10715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2000" b="1" dirty="0">
                <a:solidFill>
                  <a:schemeClr val="accent1">
                    <a:lumMod val="75000"/>
                  </a:schemeClr>
                </a:solidFill>
              </a:rPr>
              <a:t>F</a:t>
            </a:r>
          </a:p>
        </p:txBody>
      </p:sp>
      <p:grpSp>
        <p:nvGrpSpPr>
          <p:cNvPr id="4" name="76 Grupo"/>
          <p:cNvGrpSpPr/>
          <p:nvPr/>
        </p:nvGrpSpPr>
        <p:grpSpPr>
          <a:xfrm>
            <a:off x="4143372" y="2786058"/>
            <a:ext cx="642942" cy="642942"/>
            <a:chOff x="2844800" y="1828800"/>
            <a:chExt cx="2235200" cy="2235200"/>
          </a:xfrm>
        </p:grpSpPr>
        <p:sp>
          <p:nvSpPr>
            <p:cNvPr id="78" name=" 3"/>
            <p:cNvSpPr/>
            <p:nvPr/>
          </p:nvSpPr>
          <p:spPr>
            <a:xfrm>
              <a:off x="2844800" y="1828800"/>
              <a:ext cx="2235200" cy="2235200"/>
            </a:xfrm>
            <a:prstGeom prst="gear9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0" name=" 4"/>
            <p:cNvSpPr/>
            <p:nvPr/>
          </p:nvSpPr>
          <p:spPr>
            <a:xfrm>
              <a:off x="3294173" y="2352387"/>
              <a:ext cx="1336454" cy="114893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lvl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s-ES_tradnl" sz="2700" kern="1200"/>
            </a:p>
          </p:txBody>
        </p:sp>
      </p:grpSp>
      <p:cxnSp>
        <p:nvCxnSpPr>
          <p:cNvPr id="82" name="81 Conector recto de flecha"/>
          <p:cNvCxnSpPr>
            <a:endCxn id="71" idx="1"/>
          </p:cNvCxnSpPr>
          <p:nvPr/>
        </p:nvCxnSpPr>
        <p:spPr bwMode="auto">
          <a:xfrm>
            <a:off x="4572000" y="3714752"/>
            <a:ext cx="1071570" cy="32035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3" name="82 CuadroTexto"/>
          <p:cNvSpPr txBox="1"/>
          <p:nvPr/>
        </p:nvSpPr>
        <p:spPr>
          <a:xfrm>
            <a:off x="349780" y="2426792"/>
            <a:ext cx="32861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itchFamily="34" charset="0"/>
              </a:rPr>
              <a:t> </a:t>
            </a:r>
            <a:r>
              <a:rPr lang="es-ES_tradnl" sz="1400" b="1" dirty="0" err="1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</a:rPr>
              <a:t>F.list</a:t>
            </a:r>
            <a:r>
              <a:rPr lang="es-ES_tradnl" sz="1400" b="1" dirty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</a:rPr>
              <a:t>()</a:t>
            </a:r>
          </a:p>
        </p:txBody>
      </p:sp>
      <p:sp>
        <p:nvSpPr>
          <p:cNvPr id="48" name="47 CuadroTexto"/>
          <p:cNvSpPr txBox="1"/>
          <p:nvPr/>
        </p:nvSpPr>
        <p:spPr>
          <a:xfrm>
            <a:off x="5715008" y="3143248"/>
            <a:ext cx="164307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300" b="1" dirty="0">
                <a:solidFill>
                  <a:srgbClr val="C00000"/>
                </a:solidFill>
                <a:latin typeface="Century Gothic" pitchFamily="34" charset="0"/>
              </a:rPr>
              <a:t>reclamación.doc</a:t>
            </a:r>
          </a:p>
          <a:p>
            <a:r>
              <a:rPr lang="es-ES_tradnl" sz="1300" b="1" dirty="0">
                <a:solidFill>
                  <a:srgbClr val="C00000"/>
                </a:solidFill>
                <a:latin typeface="Century Gothic" pitchFamily="34" charset="0"/>
              </a:rPr>
              <a:t>foto.jpg</a:t>
            </a:r>
          </a:p>
          <a:p>
            <a:r>
              <a:rPr lang="es-ES_tradnl" sz="1300" b="1" dirty="0">
                <a:solidFill>
                  <a:srgbClr val="C00000"/>
                </a:solidFill>
                <a:latin typeface="Century Gothic" pitchFamily="34" charset="0"/>
              </a:rPr>
              <a:t>…</a:t>
            </a:r>
          </a:p>
          <a:p>
            <a:r>
              <a:rPr lang="es-ES_tradnl" sz="1300" b="1" dirty="0">
                <a:solidFill>
                  <a:srgbClr val="C00000"/>
                </a:solidFill>
                <a:latin typeface="Century Gothic" pitchFamily="34" charset="0"/>
              </a:rPr>
              <a:t>música.mp3</a:t>
            </a:r>
          </a:p>
        </p:txBody>
      </p:sp>
      <p:grpSp>
        <p:nvGrpSpPr>
          <p:cNvPr id="39" name="38 Grupo"/>
          <p:cNvGrpSpPr/>
          <p:nvPr/>
        </p:nvGrpSpPr>
        <p:grpSpPr>
          <a:xfrm>
            <a:off x="1064128" y="2783982"/>
            <a:ext cx="1857388" cy="1221082"/>
            <a:chOff x="857192" y="2500306"/>
            <a:chExt cx="1857388" cy="1221082"/>
          </a:xfrm>
        </p:grpSpPr>
        <p:grpSp>
          <p:nvGrpSpPr>
            <p:cNvPr id="52" name="51 Grupo"/>
            <p:cNvGrpSpPr/>
            <p:nvPr/>
          </p:nvGrpSpPr>
          <p:grpSpPr>
            <a:xfrm>
              <a:off x="857192" y="2500306"/>
              <a:ext cx="1857388" cy="307777"/>
              <a:chOff x="714348" y="1669217"/>
              <a:chExt cx="1857388" cy="307777"/>
            </a:xfrm>
          </p:grpSpPr>
          <p:sp>
            <p:nvSpPr>
              <p:cNvPr id="49" name="48 Rectángulo"/>
              <p:cNvSpPr/>
              <p:nvPr/>
            </p:nvSpPr>
            <p:spPr bwMode="auto">
              <a:xfrm>
                <a:off x="714348" y="1714488"/>
                <a:ext cx="1857388" cy="21431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1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_tradnl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51" name="50 Rectángulo"/>
              <p:cNvSpPr/>
              <p:nvPr/>
            </p:nvSpPr>
            <p:spPr>
              <a:xfrm>
                <a:off x="841874" y="1669217"/>
                <a:ext cx="1515579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ES_tradnl" sz="1400" b="1" dirty="0">
                    <a:solidFill>
                      <a:srgbClr val="C00000"/>
                    </a:solidFill>
                    <a:latin typeface="Arno Pro Smbd" pitchFamily="18" charset="0"/>
                  </a:rPr>
                  <a:t>reclamación.doc</a:t>
                </a:r>
              </a:p>
            </p:txBody>
          </p:sp>
        </p:grpSp>
        <p:grpSp>
          <p:nvGrpSpPr>
            <p:cNvPr id="53" name="52 Grupo"/>
            <p:cNvGrpSpPr/>
            <p:nvPr/>
          </p:nvGrpSpPr>
          <p:grpSpPr>
            <a:xfrm>
              <a:off x="857192" y="2714620"/>
              <a:ext cx="1857388" cy="307777"/>
              <a:chOff x="714348" y="1669217"/>
              <a:chExt cx="1857388" cy="307777"/>
            </a:xfrm>
          </p:grpSpPr>
          <p:sp>
            <p:nvSpPr>
              <p:cNvPr id="54" name="53 Rectángulo"/>
              <p:cNvSpPr/>
              <p:nvPr/>
            </p:nvSpPr>
            <p:spPr bwMode="auto">
              <a:xfrm>
                <a:off x="714348" y="1714488"/>
                <a:ext cx="1857388" cy="21431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1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_tradnl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55" name="54 Rectángulo"/>
              <p:cNvSpPr/>
              <p:nvPr/>
            </p:nvSpPr>
            <p:spPr>
              <a:xfrm>
                <a:off x="841875" y="1669217"/>
                <a:ext cx="1351652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ES_tradnl" sz="1400" b="1" dirty="0">
                    <a:solidFill>
                      <a:srgbClr val="C00000"/>
                    </a:solidFill>
                    <a:latin typeface="Arno Pro Smbd" pitchFamily="18" charset="0"/>
                  </a:rPr>
                  <a:t>foto.jpg</a:t>
                </a:r>
              </a:p>
            </p:txBody>
          </p:sp>
        </p:grpSp>
        <p:grpSp>
          <p:nvGrpSpPr>
            <p:cNvPr id="56" name="55 Grupo"/>
            <p:cNvGrpSpPr/>
            <p:nvPr/>
          </p:nvGrpSpPr>
          <p:grpSpPr>
            <a:xfrm>
              <a:off x="857192" y="2928934"/>
              <a:ext cx="1857388" cy="307777"/>
              <a:chOff x="714348" y="1669217"/>
              <a:chExt cx="1857388" cy="307777"/>
            </a:xfrm>
          </p:grpSpPr>
          <p:sp>
            <p:nvSpPr>
              <p:cNvPr id="57" name="56 Rectángulo"/>
              <p:cNvSpPr/>
              <p:nvPr/>
            </p:nvSpPr>
            <p:spPr bwMode="auto">
              <a:xfrm>
                <a:off x="714348" y="1714488"/>
                <a:ext cx="1857388" cy="21431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1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_tradnl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58" name="57 Rectángulo"/>
              <p:cNvSpPr/>
              <p:nvPr/>
            </p:nvSpPr>
            <p:spPr>
              <a:xfrm>
                <a:off x="841875" y="1669217"/>
                <a:ext cx="1351652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ES_tradnl" sz="1400" b="1" dirty="0">
                    <a:solidFill>
                      <a:srgbClr val="C00000"/>
                    </a:solidFill>
                    <a:latin typeface="Arno Pro Smbd" pitchFamily="18" charset="0"/>
                  </a:rPr>
                  <a:t>…</a:t>
                </a:r>
              </a:p>
            </p:txBody>
          </p:sp>
        </p:grpSp>
        <p:grpSp>
          <p:nvGrpSpPr>
            <p:cNvPr id="59" name="58 Grupo"/>
            <p:cNvGrpSpPr/>
            <p:nvPr/>
          </p:nvGrpSpPr>
          <p:grpSpPr>
            <a:xfrm>
              <a:off x="857192" y="3143248"/>
              <a:ext cx="1857388" cy="307777"/>
              <a:chOff x="714348" y="1669217"/>
              <a:chExt cx="1857388" cy="307777"/>
            </a:xfrm>
          </p:grpSpPr>
          <p:sp>
            <p:nvSpPr>
              <p:cNvPr id="60" name="59 Rectángulo"/>
              <p:cNvSpPr/>
              <p:nvPr/>
            </p:nvSpPr>
            <p:spPr bwMode="auto">
              <a:xfrm>
                <a:off x="714348" y="1714488"/>
                <a:ext cx="1857388" cy="21431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1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_tradnl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62" name="61 Rectángulo"/>
              <p:cNvSpPr/>
              <p:nvPr/>
            </p:nvSpPr>
            <p:spPr>
              <a:xfrm>
                <a:off x="841875" y="1669217"/>
                <a:ext cx="1351652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ES_tradnl" sz="1400" b="1" dirty="0">
                    <a:solidFill>
                      <a:srgbClr val="C00000"/>
                    </a:solidFill>
                    <a:latin typeface="Arno Pro Smbd" pitchFamily="18" charset="0"/>
                  </a:rPr>
                  <a:t>música.mp3</a:t>
                </a:r>
              </a:p>
            </p:txBody>
          </p:sp>
        </p:grpSp>
        <p:sp>
          <p:nvSpPr>
            <p:cNvPr id="38" name="37 CuadroTexto"/>
            <p:cNvSpPr txBox="1"/>
            <p:nvPr/>
          </p:nvSpPr>
          <p:spPr>
            <a:xfrm>
              <a:off x="1000100" y="3429000"/>
              <a:ext cx="1500198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300" b="1" dirty="0"/>
                <a:t>matriz m</a:t>
              </a:r>
            </a:p>
          </p:txBody>
        </p:sp>
      </p:grpSp>
      <p:sp>
        <p:nvSpPr>
          <p:cNvPr id="40" name="39 Rectángulo"/>
          <p:cNvSpPr/>
          <p:nvPr/>
        </p:nvSpPr>
        <p:spPr>
          <a:xfrm>
            <a:off x="421218" y="2783982"/>
            <a:ext cx="537327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300" b="1" dirty="0"/>
              <a:t>m[0]</a:t>
            </a:r>
            <a:endParaRPr lang="es-ES_tradnl" sz="1300" dirty="0"/>
          </a:p>
        </p:txBody>
      </p:sp>
      <p:sp>
        <p:nvSpPr>
          <p:cNvPr id="41" name="40 Rectángulo"/>
          <p:cNvSpPr/>
          <p:nvPr/>
        </p:nvSpPr>
        <p:spPr>
          <a:xfrm>
            <a:off x="421218" y="2998296"/>
            <a:ext cx="537327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300" b="1" dirty="0"/>
              <a:t>m[1]</a:t>
            </a:r>
            <a:endParaRPr lang="es-ES_tradnl" sz="1300" dirty="0"/>
          </a:p>
        </p:txBody>
      </p:sp>
      <p:sp>
        <p:nvSpPr>
          <p:cNvPr id="42" name="41 Rectángulo"/>
          <p:cNvSpPr/>
          <p:nvPr/>
        </p:nvSpPr>
        <p:spPr>
          <a:xfrm>
            <a:off x="421218" y="3212610"/>
            <a:ext cx="583814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300" b="1" dirty="0"/>
              <a:t>m[...]</a:t>
            </a:r>
            <a:endParaRPr lang="es-ES_tradnl" sz="1300" dirty="0"/>
          </a:p>
        </p:txBody>
      </p:sp>
      <p:sp>
        <p:nvSpPr>
          <p:cNvPr id="43" name="42 Rectángulo"/>
          <p:cNvSpPr/>
          <p:nvPr/>
        </p:nvSpPr>
        <p:spPr>
          <a:xfrm>
            <a:off x="421218" y="3426924"/>
            <a:ext cx="546945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300" b="1" dirty="0"/>
              <a:t>m[n]</a:t>
            </a:r>
            <a:endParaRPr lang="es-ES_tradnl" sz="1300" dirty="0"/>
          </a:p>
        </p:txBody>
      </p:sp>
    </p:spTree>
    <p:extLst>
      <p:ext uri="{BB962C8B-B14F-4D97-AF65-F5344CB8AC3E}">
        <p14:creationId xmlns:p14="http://schemas.microsoft.com/office/powerpoint/2010/main" val="4225147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83" grpId="0"/>
      <p:bldP spid="40" grpId="0"/>
      <p:bldP spid="41" grpId="0"/>
      <p:bldP spid="42" grpId="0"/>
      <p:bldP spid="4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2"/>
          <p:cNvSpPr txBox="1">
            <a:spLocks noChangeArrowheads="1"/>
          </p:cNvSpPr>
          <p:nvPr/>
        </p:nvSpPr>
        <p:spPr bwMode="white">
          <a:xfrm>
            <a:off x="800104" y="45760"/>
            <a:ext cx="7392988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>
            <a:lvl1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2pPr>
            <a:lvl3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3pPr>
            <a:lvl4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4pPr>
            <a:lvl5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5pPr>
            <a:lvl6pPr marL="4572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6pPr>
            <a:lvl7pPr marL="9144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7pPr>
            <a:lvl8pPr marL="13716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8pPr>
            <a:lvl9pPr marL="18288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kern="0" smtClean="0"/>
              <a:t>Lectura de ficheros de texto</a:t>
            </a:r>
            <a:endParaRPr lang="en-US" kern="0" dirty="0"/>
          </a:p>
        </p:txBody>
      </p:sp>
      <p:sp>
        <p:nvSpPr>
          <p:cNvPr id="7" name="CuadroTexto 6"/>
          <p:cNvSpPr txBox="1"/>
          <p:nvPr/>
        </p:nvSpPr>
        <p:spPr>
          <a:xfrm>
            <a:off x="2123728" y="1268760"/>
            <a:ext cx="722828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smtClean="0"/>
              <a:t>1. Usando FileReader y BufferedReader</a:t>
            </a:r>
            <a:endParaRPr lang="es-ES" b="1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844824"/>
            <a:ext cx="6401355" cy="381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933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2"/>
          <p:cNvSpPr txBox="1">
            <a:spLocks noChangeArrowheads="1"/>
          </p:cNvSpPr>
          <p:nvPr/>
        </p:nvSpPr>
        <p:spPr bwMode="white">
          <a:xfrm>
            <a:off x="800104" y="45760"/>
            <a:ext cx="7392988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>
            <a:lvl1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2pPr>
            <a:lvl3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3pPr>
            <a:lvl4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4pPr>
            <a:lvl5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5pPr>
            <a:lvl6pPr marL="4572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6pPr>
            <a:lvl7pPr marL="9144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7pPr>
            <a:lvl8pPr marL="13716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8pPr>
            <a:lvl9pPr marL="18288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kern="0" smtClean="0"/>
              <a:t>Lectura de ficheros de texto</a:t>
            </a:r>
            <a:endParaRPr lang="en-US" kern="0" dirty="0"/>
          </a:p>
        </p:txBody>
      </p:sp>
      <p:sp>
        <p:nvSpPr>
          <p:cNvPr id="7" name="CuadroTexto 6"/>
          <p:cNvSpPr txBox="1"/>
          <p:nvPr/>
        </p:nvSpPr>
        <p:spPr>
          <a:xfrm>
            <a:off x="899592" y="1196752"/>
            <a:ext cx="720080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smtClean="0"/>
              <a:t>2. Usando Files.readAllLines()</a:t>
            </a:r>
          </a:p>
          <a:p>
            <a:endParaRPr lang="es-ES"/>
          </a:p>
          <a:p>
            <a:r>
              <a:rPr lang="es-ES" smtClean="0"/>
              <a:t>Si el archivo no es muy grande, se puede utilizar este método</a:t>
            </a:r>
            <a:endParaRPr lang="es-E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2276872"/>
            <a:ext cx="5730737" cy="365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795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2"/>
          <p:cNvSpPr txBox="1">
            <a:spLocks noChangeArrowheads="1"/>
          </p:cNvSpPr>
          <p:nvPr/>
        </p:nvSpPr>
        <p:spPr bwMode="white">
          <a:xfrm>
            <a:off x="800104" y="45760"/>
            <a:ext cx="7392988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>
            <a:lvl1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2pPr>
            <a:lvl3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3pPr>
            <a:lvl4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4pPr>
            <a:lvl5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5pPr>
            <a:lvl6pPr marL="4572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6pPr>
            <a:lvl7pPr marL="9144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7pPr>
            <a:lvl8pPr marL="13716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8pPr>
            <a:lvl9pPr marL="18288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kern="0" smtClean="0"/>
              <a:t>Lectura de ficheros de texto</a:t>
            </a:r>
            <a:endParaRPr lang="en-US" kern="0" dirty="0"/>
          </a:p>
        </p:txBody>
      </p:sp>
      <p:sp>
        <p:nvSpPr>
          <p:cNvPr id="7" name="CuadroTexto 6"/>
          <p:cNvSpPr txBox="1"/>
          <p:nvPr/>
        </p:nvSpPr>
        <p:spPr>
          <a:xfrm>
            <a:off x="899592" y="1196752"/>
            <a:ext cx="7200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smtClean="0"/>
              <a:t>3. Usando Scanner</a:t>
            </a:r>
          </a:p>
          <a:p>
            <a:endParaRPr lang="es-ES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88" y="1873860"/>
            <a:ext cx="5959356" cy="33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32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"/>
          <p:cNvSpPr txBox="1">
            <a:spLocks noChangeArrowheads="1"/>
          </p:cNvSpPr>
          <p:nvPr/>
        </p:nvSpPr>
        <p:spPr bwMode="white">
          <a:xfrm>
            <a:off x="800104" y="45760"/>
            <a:ext cx="7392988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>
            <a:lvl1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2pPr>
            <a:lvl3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3pPr>
            <a:lvl4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4pPr>
            <a:lvl5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5pPr>
            <a:lvl6pPr marL="4572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6pPr>
            <a:lvl7pPr marL="9144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7pPr>
            <a:lvl8pPr marL="13716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8pPr>
            <a:lvl9pPr marL="18288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kern="0" smtClean="0"/>
              <a:t>Escritura de ficheros de texto</a:t>
            </a:r>
            <a:endParaRPr lang="en-US" kern="0" dirty="0"/>
          </a:p>
        </p:txBody>
      </p:sp>
      <p:sp>
        <p:nvSpPr>
          <p:cNvPr id="74" name="CuadroTexto 73"/>
          <p:cNvSpPr txBox="1"/>
          <p:nvPr/>
        </p:nvSpPr>
        <p:spPr>
          <a:xfrm>
            <a:off x="2051720" y="1052736"/>
            <a:ext cx="511256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smtClean="0"/>
              <a:t>1. Usando BufferedWriter y FileWriter</a:t>
            </a:r>
            <a:endParaRPr lang="es-ES" b="1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88" y="1772816"/>
            <a:ext cx="6195597" cy="370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306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"/>
          <p:cNvSpPr txBox="1">
            <a:spLocks noChangeArrowheads="1"/>
          </p:cNvSpPr>
          <p:nvPr/>
        </p:nvSpPr>
        <p:spPr bwMode="white">
          <a:xfrm>
            <a:off x="800104" y="45760"/>
            <a:ext cx="7392988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>
            <a:lvl1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2pPr>
            <a:lvl3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3pPr>
            <a:lvl4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4pPr>
            <a:lvl5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5pPr>
            <a:lvl6pPr marL="4572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6pPr>
            <a:lvl7pPr marL="9144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7pPr>
            <a:lvl8pPr marL="13716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8pPr>
            <a:lvl9pPr marL="18288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kern="0" smtClean="0"/>
              <a:t>Escritura de ficheros de texto</a:t>
            </a:r>
            <a:endParaRPr lang="en-US" kern="0" dirty="0"/>
          </a:p>
        </p:txBody>
      </p:sp>
      <p:sp>
        <p:nvSpPr>
          <p:cNvPr id="74" name="CuadroTexto 73"/>
          <p:cNvSpPr txBox="1"/>
          <p:nvPr/>
        </p:nvSpPr>
        <p:spPr>
          <a:xfrm>
            <a:off x="2051720" y="1052736"/>
            <a:ext cx="511256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smtClean="0"/>
              <a:t>2. Usando Files.write()</a:t>
            </a:r>
            <a:endParaRPr lang="es-ES" b="1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1556792"/>
            <a:ext cx="5730737" cy="435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476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"/>
          <p:cNvSpPr txBox="1">
            <a:spLocks noChangeArrowheads="1"/>
          </p:cNvSpPr>
          <p:nvPr/>
        </p:nvSpPr>
        <p:spPr bwMode="white">
          <a:xfrm>
            <a:off x="800104" y="45760"/>
            <a:ext cx="7392988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>
            <a:lvl1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2pPr>
            <a:lvl3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3pPr>
            <a:lvl4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4pPr>
            <a:lvl5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5pPr>
            <a:lvl6pPr marL="4572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6pPr>
            <a:lvl7pPr marL="9144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7pPr>
            <a:lvl8pPr marL="13716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8pPr>
            <a:lvl9pPr marL="18288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kern="0" smtClean="0"/>
              <a:t>Escritura de ficheros de texto</a:t>
            </a:r>
            <a:endParaRPr lang="en-US" kern="0" dirty="0"/>
          </a:p>
        </p:txBody>
      </p:sp>
      <p:sp>
        <p:nvSpPr>
          <p:cNvPr id="74" name="CuadroTexto 73"/>
          <p:cNvSpPr txBox="1"/>
          <p:nvPr/>
        </p:nvSpPr>
        <p:spPr>
          <a:xfrm>
            <a:off x="2051720" y="1052736"/>
            <a:ext cx="511256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smtClean="0"/>
              <a:t>3. Usando PrintWriter</a:t>
            </a:r>
            <a:endParaRPr lang="es-ES" b="1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822" y="2125867"/>
            <a:ext cx="6180356" cy="260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549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2"/>
          <p:cNvSpPr txBox="1">
            <a:spLocks noChangeArrowheads="1"/>
          </p:cNvSpPr>
          <p:nvPr/>
        </p:nvSpPr>
        <p:spPr bwMode="white">
          <a:xfrm>
            <a:off x="800104" y="45760"/>
            <a:ext cx="7392988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>
            <a:lvl1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2pPr>
            <a:lvl3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3pPr>
            <a:lvl4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4pPr>
            <a:lvl5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5pPr>
            <a:lvl6pPr marL="4572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6pPr>
            <a:lvl7pPr marL="9144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7pPr>
            <a:lvl8pPr marL="13716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8pPr>
            <a:lvl9pPr marL="18288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kern="0" smtClean="0"/>
              <a:t>Lectura de ficheros binarios</a:t>
            </a:r>
            <a:endParaRPr lang="en-US" kern="0" dirty="0"/>
          </a:p>
        </p:txBody>
      </p:sp>
      <p:sp>
        <p:nvSpPr>
          <p:cNvPr id="60" name="CuadroTexto 59"/>
          <p:cNvSpPr txBox="1"/>
          <p:nvPr/>
        </p:nvSpPr>
        <p:spPr>
          <a:xfrm>
            <a:off x="1331640" y="1124744"/>
            <a:ext cx="698477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smtClean="0"/>
              <a:t>1. Usando FileInputStream (Lectura Byte a Byte)</a:t>
            </a:r>
            <a:endParaRPr lang="es-ES" b="1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1916832"/>
            <a:ext cx="5959356" cy="325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827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2"/>
          <p:cNvSpPr txBox="1">
            <a:spLocks noChangeArrowheads="1"/>
          </p:cNvSpPr>
          <p:nvPr/>
        </p:nvSpPr>
        <p:spPr bwMode="white">
          <a:xfrm>
            <a:off x="800104" y="45760"/>
            <a:ext cx="7392988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>
            <a:lvl1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2pPr>
            <a:lvl3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3pPr>
            <a:lvl4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4pPr>
            <a:lvl5pPr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5pPr>
            <a:lvl6pPr marL="4572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6pPr>
            <a:lvl7pPr marL="9144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7pPr>
            <a:lvl8pPr marL="13716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8pPr>
            <a:lvl9pPr marL="18288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kern="0" smtClean="0"/>
              <a:t>Lectura de ficheros binarios</a:t>
            </a:r>
            <a:endParaRPr lang="en-US" kern="0" dirty="0"/>
          </a:p>
        </p:txBody>
      </p:sp>
      <p:sp>
        <p:nvSpPr>
          <p:cNvPr id="60" name="CuadroTexto 59"/>
          <p:cNvSpPr txBox="1"/>
          <p:nvPr/>
        </p:nvSpPr>
        <p:spPr>
          <a:xfrm>
            <a:off x="1331640" y="1124744"/>
            <a:ext cx="698477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smtClean="0"/>
              <a:t>2. Usando FileInputStream con un buffer</a:t>
            </a:r>
            <a:endParaRPr lang="es-ES" b="1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1772816"/>
            <a:ext cx="5845047" cy="371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99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Escritura de ficheros binarios</a:t>
            </a:r>
            <a:endParaRPr lang="es-ES"/>
          </a:p>
        </p:txBody>
      </p:sp>
      <p:sp>
        <p:nvSpPr>
          <p:cNvPr id="5" name="CuadroTexto 4"/>
          <p:cNvSpPr txBox="1"/>
          <p:nvPr/>
        </p:nvSpPr>
        <p:spPr>
          <a:xfrm>
            <a:off x="1331640" y="1124744"/>
            <a:ext cx="698477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smtClean="0"/>
              <a:t>1. Usando FileOutputStream (Escritura Byte a Byte)</a:t>
            </a:r>
            <a:endParaRPr lang="es-ES" b="1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772816"/>
            <a:ext cx="5639289" cy="405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348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Escritura de ficheros binarios</a:t>
            </a:r>
            <a:endParaRPr lang="es-ES"/>
          </a:p>
        </p:txBody>
      </p:sp>
      <p:sp>
        <p:nvSpPr>
          <p:cNvPr id="5" name="CuadroTexto 4"/>
          <p:cNvSpPr txBox="1"/>
          <p:nvPr/>
        </p:nvSpPr>
        <p:spPr>
          <a:xfrm>
            <a:off x="1331640" y="1124744"/>
            <a:ext cx="698477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smtClean="0"/>
              <a:t>2. Usando FileOutputStream con un Buffer</a:t>
            </a:r>
            <a:endParaRPr lang="es-ES" b="1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056" y="1628800"/>
            <a:ext cx="5585944" cy="421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1774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Ficheros binarios (Para objetos)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600" b="0" dirty="0" smtClean="0"/>
              <a:t>La gran potencia que nos ofrecen los ficheros binarios se ve reflejada con la Programación Orientada a Objetos</a:t>
            </a:r>
          </a:p>
          <a:p>
            <a:r>
              <a:rPr lang="es-ES" sz="1600" b="0" dirty="0" smtClean="0"/>
              <a:t>Podemos escribir y leer objetos desde un fichero, y también lista de objetos, de manera </a:t>
            </a:r>
            <a:r>
              <a:rPr lang="es-ES" sz="1600" b="0" smtClean="0"/>
              <a:t>bastante </a:t>
            </a:r>
            <a:r>
              <a:rPr lang="es-ES" sz="1600" b="0" smtClean="0"/>
              <a:t>sencilla (ObjectOutputStream y ObjectInputStream)</a:t>
            </a:r>
            <a:endParaRPr lang="es-ES" sz="1600" b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67130" t="13617" r="4420" b="69848"/>
          <a:stretch/>
        </p:blipFill>
        <p:spPr>
          <a:xfrm>
            <a:off x="1259632" y="2465575"/>
            <a:ext cx="6408712" cy="122413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/>
          <a:srcRect l="66620" t="18926" r="4935" b="56021"/>
          <a:stretch/>
        </p:blipFill>
        <p:spPr>
          <a:xfrm>
            <a:off x="1043608" y="4148497"/>
            <a:ext cx="6624736" cy="191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667385"/>
      </p:ext>
    </p:extLst>
  </p:cSld>
  <p:clrMapOvr>
    <a:masterClrMapping/>
  </p:clrMapOvr>
</p:sld>
</file>

<file path=ppt/theme/theme1.xml><?xml version="1.0" encoding="utf-8"?>
<a:theme xmlns:a="http://schemas.openxmlformats.org/drawingml/2006/main" name="cdb2004c019l">
  <a:themeElements>
    <a:clrScheme name="sample 3">
      <a:dk1>
        <a:srgbClr val="000066"/>
      </a:dk1>
      <a:lt1>
        <a:srgbClr val="FFFFFF"/>
      </a:lt1>
      <a:dk2>
        <a:srgbClr val="58A252"/>
      </a:dk2>
      <a:lt2>
        <a:srgbClr val="B2B2B2"/>
      </a:lt2>
      <a:accent1>
        <a:srgbClr val="0066FF"/>
      </a:accent1>
      <a:accent2>
        <a:srgbClr val="2C95A0"/>
      </a:accent2>
      <a:accent3>
        <a:srgbClr val="FFFFFF"/>
      </a:accent3>
      <a:accent4>
        <a:srgbClr val="000056"/>
      </a:accent4>
      <a:accent5>
        <a:srgbClr val="AAB8FF"/>
      </a:accent5>
      <a:accent6>
        <a:srgbClr val="278791"/>
      </a:accent6>
      <a:hlink>
        <a:srgbClr val="35BBE5"/>
      </a:hlink>
      <a:folHlink>
        <a:srgbClr val="872ECA"/>
      </a:folHlink>
    </a:clrScheme>
    <a:fontScheme name="sample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5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5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ample 1">
        <a:dk1>
          <a:srgbClr val="000066"/>
        </a:dk1>
        <a:lt1>
          <a:srgbClr val="FFFFFF"/>
        </a:lt1>
        <a:dk2>
          <a:srgbClr val="58A252"/>
        </a:dk2>
        <a:lt2>
          <a:srgbClr val="B2B2B2"/>
        </a:lt2>
        <a:accent1>
          <a:srgbClr val="33CCCC"/>
        </a:accent1>
        <a:accent2>
          <a:srgbClr val="0099CC"/>
        </a:accent2>
        <a:accent3>
          <a:srgbClr val="FFFFFF"/>
        </a:accent3>
        <a:accent4>
          <a:srgbClr val="000056"/>
        </a:accent4>
        <a:accent5>
          <a:srgbClr val="ADE2E2"/>
        </a:accent5>
        <a:accent6>
          <a:srgbClr val="008AB9"/>
        </a:accent6>
        <a:hlink>
          <a:srgbClr val="6A9EB0"/>
        </a:hlink>
        <a:folHlink>
          <a:srgbClr val="66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000066"/>
        </a:dk1>
        <a:lt1>
          <a:srgbClr val="FFFFFF"/>
        </a:lt1>
        <a:dk2>
          <a:srgbClr val="415CB3"/>
        </a:dk2>
        <a:lt2>
          <a:srgbClr val="B2B2B2"/>
        </a:lt2>
        <a:accent1>
          <a:srgbClr val="55AEEB"/>
        </a:accent1>
        <a:accent2>
          <a:srgbClr val="FF9933"/>
        </a:accent2>
        <a:accent3>
          <a:srgbClr val="FFFFFF"/>
        </a:accent3>
        <a:accent4>
          <a:srgbClr val="000056"/>
        </a:accent4>
        <a:accent5>
          <a:srgbClr val="B4D3F3"/>
        </a:accent5>
        <a:accent6>
          <a:srgbClr val="E78A2D"/>
        </a:accent6>
        <a:hlink>
          <a:srgbClr val="4D7AB5"/>
        </a:hlink>
        <a:folHlink>
          <a:srgbClr val="9964A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0066"/>
        </a:dk1>
        <a:lt1>
          <a:srgbClr val="FFFFFF"/>
        </a:lt1>
        <a:dk2>
          <a:srgbClr val="58A252"/>
        </a:dk2>
        <a:lt2>
          <a:srgbClr val="B2B2B2"/>
        </a:lt2>
        <a:accent1>
          <a:srgbClr val="0066FF"/>
        </a:accent1>
        <a:accent2>
          <a:srgbClr val="2C95A0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78791"/>
        </a:accent6>
        <a:hlink>
          <a:srgbClr val="35BBE5"/>
        </a:hlink>
        <a:folHlink>
          <a:srgbClr val="872EC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cdb2004c019l</Template>
  <TotalTime>28316</TotalTime>
  <Words>728</Words>
  <Application>Microsoft Office PowerPoint</Application>
  <PresentationFormat>Presentación en pantalla (4:3)</PresentationFormat>
  <Paragraphs>141</Paragraphs>
  <Slides>21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8" baseType="lpstr">
      <vt:lpstr>Arial</vt:lpstr>
      <vt:lpstr>Arno Pro Smbd</vt:lpstr>
      <vt:lpstr>Calibri</vt:lpstr>
      <vt:lpstr>Century Gothic</vt:lpstr>
      <vt:lpstr>Verdana</vt:lpstr>
      <vt:lpstr>Wingdings</vt:lpstr>
      <vt:lpstr>cdb2004c019l</vt:lpstr>
      <vt:lpstr>Lectura y Escritura de Información</vt:lpstr>
      <vt:lpstr>Contenido</vt:lpstr>
      <vt:lpstr>Contenido</vt:lpstr>
      <vt:lpstr>Tipos de flujos</vt:lpstr>
      <vt:lpstr>Flujos de bytes</vt:lpstr>
      <vt:lpstr>Flujos de caracteres</vt:lpstr>
      <vt:lpstr>Clases relativas a flujos</vt:lpstr>
      <vt:lpstr>CLASE FILE</vt:lpstr>
      <vt:lpstr>CLASE FILE</vt:lpstr>
      <vt:lpstr>CLASE FILE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Escritura de ficheros binarios</vt:lpstr>
      <vt:lpstr>Escritura de ficheros binarios</vt:lpstr>
      <vt:lpstr>Ficheros binarios (Para objetos)</vt:lpstr>
    </vt:vector>
  </TitlesOfParts>
  <Company>RevolucionUnattended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UsuarioAdministrador</dc:creator>
  <cp:lastModifiedBy>Usuario</cp:lastModifiedBy>
  <cp:revision>1337</cp:revision>
  <dcterms:created xsi:type="dcterms:W3CDTF">2008-09-25T01:23:28Z</dcterms:created>
  <dcterms:modified xsi:type="dcterms:W3CDTF">2025-03-05T11:52:43Z</dcterms:modified>
</cp:coreProperties>
</file>