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319" r:id="rId3"/>
    <p:sldId id="365" r:id="rId4"/>
    <p:sldId id="366" r:id="rId5"/>
    <p:sldId id="367" r:id="rId6"/>
    <p:sldId id="368" r:id="rId7"/>
    <p:sldId id="369" r:id="rId8"/>
    <p:sldId id="370" r:id="rId9"/>
    <p:sldId id="371" r:id="rId10"/>
    <p:sldId id="372" r:id="rId11"/>
    <p:sldId id="309" r:id="rId12"/>
    <p:sldId id="348" r:id="rId13"/>
    <p:sldId id="361" r:id="rId14"/>
    <p:sldId id="349" r:id="rId15"/>
    <p:sldId id="310" r:id="rId16"/>
    <p:sldId id="311" r:id="rId17"/>
    <p:sldId id="312" r:id="rId18"/>
    <p:sldId id="313" r:id="rId19"/>
    <p:sldId id="301" r:id="rId20"/>
    <p:sldId id="300" r:id="rId21"/>
    <p:sldId id="318" r:id="rId22"/>
    <p:sldId id="336" r:id="rId23"/>
    <p:sldId id="337" r:id="rId24"/>
    <p:sldId id="338" r:id="rId25"/>
    <p:sldId id="339" r:id="rId26"/>
    <p:sldId id="340" r:id="rId27"/>
    <p:sldId id="341" r:id="rId28"/>
    <p:sldId id="342" r:id="rId29"/>
    <p:sldId id="343" r:id="rId30"/>
    <p:sldId id="344" r:id="rId31"/>
    <p:sldId id="346" r:id="rId32"/>
    <p:sldId id="351" r:id="rId33"/>
    <p:sldId id="352" r:id="rId34"/>
    <p:sldId id="354" r:id="rId35"/>
    <p:sldId id="355" r:id="rId36"/>
    <p:sldId id="356" r:id="rId37"/>
    <p:sldId id="357" r:id="rId38"/>
    <p:sldId id="358" r:id="rId39"/>
    <p:sldId id="359" r:id="rId40"/>
    <p:sldId id="360" r:id="rId41"/>
    <p:sldId id="362" r:id="rId42"/>
    <p:sldId id="363" r:id="rId43"/>
    <p:sldId id="364" r:id="rId44"/>
  </p:sldIdLst>
  <p:sldSz cx="9144000" cy="6858000" type="screen4x3"/>
  <p:notesSz cx="6858000" cy="9144000"/>
  <p:defaultTextStyle>
    <a:defPPr>
      <a:defRPr lang="en-US"/>
    </a:defPPr>
    <a:lvl1pPr algn="l" rtl="0" fontAlgn="base">
      <a:spcBef>
        <a:spcPct val="0"/>
      </a:spcBef>
      <a:spcAft>
        <a:spcPct val="0"/>
      </a:spcAft>
      <a:defRPr sz="1900" kern="1200">
        <a:solidFill>
          <a:schemeClr val="tx1"/>
        </a:solidFill>
        <a:latin typeface="Arial" charset="0"/>
        <a:ea typeface="+mn-ea"/>
        <a:cs typeface="+mn-cs"/>
      </a:defRPr>
    </a:lvl1pPr>
    <a:lvl2pPr marL="457200" algn="l" rtl="0" fontAlgn="base">
      <a:spcBef>
        <a:spcPct val="0"/>
      </a:spcBef>
      <a:spcAft>
        <a:spcPct val="0"/>
      </a:spcAft>
      <a:defRPr sz="1900" kern="1200">
        <a:solidFill>
          <a:schemeClr val="tx1"/>
        </a:solidFill>
        <a:latin typeface="Arial" charset="0"/>
        <a:ea typeface="+mn-ea"/>
        <a:cs typeface="+mn-cs"/>
      </a:defRPr>
    </a:lvl2pPr>
    <a:lvl3pPr marL="914400" algn="l" rtl="0" fontAlgn="base">
      <a:spcBef>
        <a:spcPct val="0"/>
      </a:spcBef>
      <a:spcAft>
        <a:spcPct val="0"/>
      </a:spcAft>
      <a:defRPr sz="1900" kern="1200">
        <a:solidFill>
          <a:schemeClr val="tx1"/>
        </a:solidFill>
        <a:latin typeface="Arial" charset="0"/>
        <a:ea typeface="+mn-ea"/>
        <a:cs typeface="+mn-cs"/>
      </a:defRPr>
    </a:lvl3pPr>
    <a:lvl4pPr marL="1371600" algn="l" rtl="0" fontAlgn="base">
      <a:spcBef>
        <a:spcPct val="0"/>
      </a:spcBef>
      <a:spcAft>
        <a:spcPct val="0"/>
      </a:spcAft>
      <a:defRPr sz="1900" kern="1200">
        <a:solidFill>
          <a:schemeClr val="tx1"/>
        </a:solidFill>
        <a:latin typeface="Arial" charset="0"/>
        <a:ea typeface="+mn-ea"/>
        <a:cs typeface="+mn-cs"/>
      </a:defRPr>
    </a:lvl4pPr>
    <a:lvl5pPr marL="1828800" algn="l" rtl="0" fontAlgn="base">
      <a:spcBef>
        <a:spcPct val="0"/>
      </a:spcBef>
      <a:spcAft>
        <a:spcPct val="0"/>
      </a:spcAft>
      <a:defRPr sz="1900" kern="1200">
        <a:solidFill>
          <a:schemeClr val="tx1"/>
        </a:solidFill>
        <a:latin typeface="Arial" charset="0"/>
        <a:ea typeface="+mn-ea"/>
        <a:cs typeface="+mn-cs"/>
      </a:defRPr>
    </a:lvl5pPr>
    <a:lvl6pPr marL="2286000" algn="l" defTabSz="914400" rtl="0" eaLnBrk="1" latinLnBrk="0" hangingPunct="1">
      <a:defRPr sz="1900" kern="1200">
        <a:solidFill>
          <a:schemeClr val="tx1"/>
        </a:solidFill>
        <a:latin typeface="Arial" charset="0"/>
        <a:ea typeface="+mn-ea"/>
        <a:cs typeface="+mn-cs"/>
      </a:defRPr>
    </a:lvl6pPr>
    <a:lvl7pPr marL="2743200" algn="l" defTabSz="914400" rtl="0" eaLnBrk="1" latinLnBrk="0" hangingPunct="1">
      <a:defRPr sz="1900" kern="1200">
        <a:solidFill>
          <a:schemeClr val="tx1"/>
        </a:solidFill>
        <a:latin typeface="Arial" charset="0"/>
        <a:ea typeface="+mn-ea"/>
        <a:cs typeface="+mn-cs"/>
      </a:defRPr>
    </a:lvl7pPr>
    <a:lvl8pPr marL="3200400" algn="l" defTabSz="914400" rtl="0" eaLnBrk="1" latinLnBrk="0" hangingPunct="1">
      <a:defRPr sz="1900" kern="1200">
        <a:solidFill>
          <a:schemeClr val="tx1"/>
        </a:solidFill>
        <a:latin typeface="Arial" charset="0"/>
        <a:ea typeface="+mn-ea"/>
        <a:cs typeface="+mn-cs"/>
      </a:defRPr>
    </a:lvl8pPr>
    <a:lvl9pPr marL="3657600" algn="l" defTabSz="914400" rtl="0" eaLnBrk="1" latinLnBrk="0" hangingPunct="1">
      <a:defRPr sz="19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9900"/>
    <a:srgbClr val="FFFFCC"/>
    <a:srgbClr val="66FF66"/>
    <a:srgbClr val="FF7C80"/>
    <a:srgbClr val="FF99CC"/>
    <a:srgbClr val="FF9999"/>
    <a:srgbClr val="FFDF79"/>
    <a:srgbClr val="F5F4FE"/>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2535" autoAdjust="0"/>
  </p:normalViewPr>
  <p:slideViewPr>
    <p:cSldViewPr>
      <p:cViewPr varScale="1">
        <p:scale>
          <a:sx n="80" d="100"/>
          <a:sy n="80" d="100"/>
        </p:scale>
        <p:origin x="1522"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ES_tradn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60469D27-3A80-4AE4-983A-5127F419349B}" type="datetimeFigureOut">
              <a:rPr lang="es-ES_tradnl"/>
              <a:pPr>
                <a:defRPr/>
              </a:pPr>
              <a:t>25/09/2024</a:t>
            </a:fld>
            <a:endParaRPr lang="es-ES_tradnl"/>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ES_tradn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FB2CE7FE-09D1-49CA-91BF-39EACD17411D}" type="slidenum">
              <a:rPr lang="es-ES_tradnl"/>
              <a:pPr>
                <a:defRPr/>
              </a:pPr>
              <a:t>‹Nº›</a:t>
            </a:fld>
            <a:endParaRPr lang="es-ES_tradnl"/>
          </a:p>
        </p:txBody>
      </p:sp>
    </p:spTree>
    <p:extLst>
      <p:ext uri="{BB962C8B-B14F-4D97-AF65-F5344CB8AC3E}">
        <p14:creationId xmlns:p14="http://schemas.microsoft.com/office/powerpoint/2010/main" val="92675530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_tradnl"/>
          </a:p>
        </p:txBody>
      </p:sp>
      <p:sp>
        <p:nvSpPr>
          <p:cNvPr id="1331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fld id="{D36EE85E-37C0-4958-BA08-E096993B5EBD}" type="slidenum">
              <a:rPr lang="es-ES_tradnl" sz="1200"/>
              <a:pPr eaLnBrk="1" hangingPunct="1"/>
              <a:t>1</a:t>
            </a:fld>
            <a:endParaRPr lang="es-ES_tradnl" sz="1200"/>
          </a:p>
        </p:txBody>
      </p:sp>
    </p:spTree>
    <p:extLst>
      <p:ext uri="{BB962C8B-B14F-4D97-AF65-F5344CB8AC3E}">
        <p14:creationId xmlns:p14="http://schemas.microsoft.com/office/powerpoint/2010/main" val="9684956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41"/>
          <p:cNvSpPr>
            <a:spLocks noChangeArrowheads="1"/>
          </p:cNvSpPr>
          <p:nvPr/>
        </p:nvSpPr>
        <p:spPr bwMode="gray">
          <a:xfrm>
            <a:off x="0" y="2708275"/>
            <a:ext cx="9144000" cy="874713"/>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28575">
            <a:solidFill>
              <a:schemeClr val="bg1"/>
            </a:solidFill>
            <a:miter lim="800000"/>
            <a:headEnd/>
            <a:tailEnd/>
          </a:ln>
          <a:effectLst/>
        </p:spPr>
        <p:txBody>
          <a:bodyPr wrap="none" anchor="ctr"/>
          <a:lstStyle/>
          <a:p>
            <a:pPr>
              <a:defRPr/>
            </a:pPr>
            <a:endParaRPr lang="es-ES_tradnl"/>
          </a:p>
        </p:txBody>
      </p:sp>
      <p:sp>
        <p:nvSpPr>
          <p:cNvPr id="5" name="Text Box 14"/>
          <p:cNvSpPr txBox="1">
            <a:spLocks noChangeArrowheads="1"/>
          </p:cNvSpPr>
          <p:nvPr/>
        </p:nvSpPr>
        <p:spPr bwMode="black">
          <a:xfrm>
            <a:off x="381000" y="271463"/>
            <a:ext cx="1089025" cy="415925"/>
          </a:xfrm>
          <a:prstGeom prst="rect">
            <a:avLst/>
          </a:prstGeom>
          <a:noFill/>
          <a:ln w="9525">
            <a:noFill/>
            <a:miter lim="800000"/>
            <a:headEnd/>
            <a:tailEnd/>
          </a:ln>
          <a:effectLst/>
        </p:spPr>
        <p:txBody>
          <a:bodyPr lIns="95782" tIns="47891" rIns="95782" bIns="47891">
            <a:spAutoFit/>
          </a:bodyPr>
          <a:lstStyle/>
          <a:p>
            <a:pPr defTabSz="957263">
              <a:defRPr/>
            </a:pPr>
            <a:r>
              <a:rPr lang="en-US" sz="2100" b="1">
                <a:solidFill>
                  <a:schemeClr val="bg1"/>
                </a:solidFill>
                <a:latin typeface="Verdana" pitchFamily="34" charset="0"/>
              </a:rPr>
              <a:t>LOGO</a:t>
            </a:r>
          </a:p>
        </p:txBody>
      </p:sp>
      <p:grpSp>
        <p:nvGrpSpPr>
          <p:cNvPr id="6" name="Group 42"/>
          <p:cNvGrpSpPr>
            <a:grpSpLocks/>
          </p:cNvGrpSpPr>
          <p:nvPr/>
        </p:nvGrpSpPr>
        <p:grpSpPr bwMode="auto">
          <a:xfrm>
            <a:off x="-11113" y="-12700"/>
            <a:ext cx="9175751" cy="6870700"/>
            <a:chOff x="-7" y="-8"/>
            <a:chExt cx="5780" cy="4328"/>
          </a:xfrm>
        </p:grpSpPr>
        <p:sp>
          <p:nvSpPr>
            <p:cNvPr id="7" name="AutoShape 36"/>
            <p:cNvSpPr>
              <a:spLocks noChangeArrowheads="1"/>
            </p:cNvSpPr>
            <p:nvPr/>
          </p:nvSpPr>
          <p:spPr bwMode="gray">
            <a:xfrm>
              <a:off x="17" y="16"/>
              <a:ext cx="5729" cy="42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8" name="Freeform 37"/>
            <p:cNvSpPr>
              <a:spLocks/>
            </p:cNvSpPr>
            <p:nvPr/>
          </p:nvSpPr>
          <p:spPr bwMode="gray">
            <a:xfrm>
              <a:off x="-3" y="-8"/>
              <a:ext cx="295" cy="289"/>
            </a:xfrm>
            <a:custGeom>
              <a:avLst/>
              <a:gdLst/>
              <a:ahLst/>
              <a:cxnLst>
                <a:cxn ang="0">
                  <a:pos x="3" y="395"/>
                </a:cxn>
                <a:cxn ang="0">
                  <a:pos x="74" y="216"/>
                </a:cxn>
                <a:cxn ang="0">
                  <a:pos x="231" y="50"/>
                </a:cxn>
                <a:cxn ang="0">
                  <a:pos x="403" y="0"/>
                </a:cxn>
                <a:cxn ang="0">
                  <a:pos x="0" y="0"/>
                </a:cxn>
              </a:cxnLst>
              <a:rect l="0" t="0" r="r" b="b"/>
              <a:pathLst>
                <a:path w="403" h="395">
                  <a:moveTo>
                    <a:pt x="3" y="395"/>
                  </a:moveTo>
                  <a:lnTo>
                    <a:pt x="74" y="216"/>
                  </a:lnTo>
                  <a:lnTo>
                    <a:pt x="231" y="50"/>
                  </a:lnTo>
                  <a:lnTo>
                    <a:pt x="403" y="0"/>
                  </a:lnTo>
                  <a:lnTo>
                    <a:pt x="0" y="0"/>
                  </a:lnTo>
                </a:path>
              </a:pathLst>
            </a:custGeom>
            <a:solidFill>
              <a:schemeClr val="bg1"/>
            </a:solidFill>
            <a:ln w="9525">
              <a:noFill/>
              <a:round/>
              <a:headEnd/>
              <a:tailEnd/>
            </a:ln>
            <a:effectLst/>
          </p:spPr>
          <p:txBody>
            <a:bodyPr/>
            <a:lstStyle/>
            <a:p>
              <a:pPr>
                <a:defRPr/>
              </a:pPr>
              <a:endParaRPr lang="es-ES_tradnl"/>
            </a:p>
          </p:txBody>
        </p:sp>
        <p:sp>
          <p:nvSpPr>
            <p:cNvPr id="9" name="Freeform 38"/>
            <p:cNvSpPr>
              <a:spLocks/>
            </p:cNvSpPr>
            <p:nvPr/>
          </p:nvSpPr>
          <p:spPr bwMode="gray">
            <a:xfrm>
              <a:off x="-7" y="3982"/>
              <a:ext cx="287" cy="338"/>
            </a:xfrm>
            <a:custGeom>
              <a:avLst/>
              <a:gdLst/>
              <a:ahLst/>
              <a:cxnLst>
                <a:cxn ang="0">
                  <a:pos x="391" y="473"/>
                </a:cxn>
                <a:cxn ang="0">
                  <a:pos x="151" y="353"/>
                </a:cxn>
                <a:cxn ang="0">
                  <a:pos x="42" y="201"/>
                </a:cxn>
                <a:cxn ang="0">
                  <a:pos x="0" y="0"/>
                </a:cxn>
                <a:cxn ang="0">
                  <a:pos x="1" y="470"/>
                </a:cxn>
              </a:cxnLst>
              <a:rect l="0" t="0" r="r" b="b"/>
              <a:pathLst>
                <a:path w="391" h="473">
                  <a:moveTo>
                    <a:pt x="391" y="473"/>
                  </a:moveTo>
                  <a:lnTo>
                    <a:pt x="151" y="353"/>
                  </a:lnTo>
                  <a:lnTo>
                    <a:pt x="42" y="201"/>
                  </a:lnTo>
                  <a:lnTo>
                    <a:pt x="0" y="0"/>
                  </a:lnTo>
                  <a:lnTo>
                    <a:pt x="1" y="470"/>
                  </a:lnTo>
                </a:path>
              </a:pathLst>
            </a:custGeom>
            <a:solidFill>
              <a:schemeClr val="bg1"/>
            </a:solidFill>
            <a:ln w="9525">
              <a:noFill/>
              <a:round/>
              <a:headEnd/>
              <a:tailEnd/>
            </a:ln>
            <a:effectLst/>
          </p:spPr>
          <p:txBody>
            <a:bodyPr/>
            <a:lstStyle/>
            <a:p>
              <a:pPr>
                <a:defRPr/>
              </a:pPr>
              <a:endParaRPr lang="es-ES_tradnl"/>
            </a:p>
          </p:txBody>
        </p:sp>
        <p:sp>
          <p:nvSpPr>
            <p:cNvPr id="10" name="Freeform 39"/>
            <p:cNvSpPr>
              <a:spLocks/>
            </p:cNvSpPr>
            <p:nvPr/>
          </p:nvSpPr>
          <p:spPr bwMode="gray">
            <a:xfrm>
              <a:off x="5499" y="4026"/>
              <a:ext cx="274" cy="287"/>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1" name="Freeform 40"/>
            <p:cNvSpPr>
              <a:spLocks/>
            </p:cNvSpPr>
            <p:nvPr/>
          </p:nvSpPr>
          <p:spPr bwMode="gray">
            <a:xfrm>
              <a:off x="5467" y="0"/>
              <a:ext cx="302" cy="288"/>
            </a:xfrm>
            <a:custGeom>
              <a:avLst/>
              <a:gdLst/>
              <a:ahLst/>
              <a:cxnLst>
                <a:cxn ang="0">
                  <a:pos x="0" y="0"/>
                </a:cxn>
                <a:cxn ang="0">
                  <a:pos x="221" y="96"/>
                </a:cxn>
                <a:cxn ang="0">
                  <a:pos x="353" y="231"/>
                </a:cxn>
                <a:cxn ang="0">
                  <a:pos x="403" y="403"/>
                </a:cxn>
                <a:cxn ang="0">
                  <a:pos x="403" y="0"/>
                </a:cxn>
              </a:cxnLst>
              <a:rect l="0" t="0" r="r" b="b"/>
              <a:pathLst>
                <a:path w="403" h="403">
                  <a:moveTo>
                    <a:pt x="0" y="0"/>
                  </a:moveTo>
                  <a:lnTo>
                    <a:pt x="221" y="96"/>
                  </a:lnTo>
                  <a:lnTo>
                    <a:pt x="353" y="231"/>
                  </a:lnTo>
                  <a:lnTo>
                    <a:pt x="403" y="403"/>
                  </a:lnTo>
                  <a:lnTo>
                    <a:pt x="403" y="0"/>
                  </a:lnTo>
                </a:path>
              </a:pathLst>
            </a:custGeom>
            <a:solidFill>
              <a:schemeClr val="bg1"/>
            </a:solidFill>
            <a:ln w="9525">
              <a:noFill/>
              <a:round/>
              <a:headEnd/>
              <a:tailEnd/>
            </a:ln>
            <a:effectLst/>
          </p:spPr>
          <p:txBody>
            <a:bodyPr/>
            <a:lstStyle/>
            <a:p>
              <a:pPr>
                <a:defRPr/>
              </a:pPr>
              <a:endParaRPr lang="es-ES_tradnl"/>
            </a:p>
          </p:txBody>
        </p:sp>
      </p:grpSp>
      <p:sp>
        <p:nvSpPr>
          <p:cNvPr id="3074" name="Rectangle 2"/>
          <p:cNvSpPr>
            <a:spLocks noGrp="1" noChangeArrowheads="1"/>
          </p:cNvSpPr>
          <p:nvPr>
            <p:ph type="ctrTitle"/>
          </p:nvPr>
        </p:nvSpPr>
        <p:spPr bwMode="gray">
          <a:xfrm>
            <a:off x="0" y="2720975"/>
            <a:ext cx="9144000" cy="817563"/>
          </a:xfrm>
        </p:spPr>
        <p:txBody>
          <a:bodyPr/>
          <a:lstStyle>
            <a:lvl1pPr>
              <a:defRPr sz="4600"/>
            </a:lvl1pPr>
          </a:lstStyle>
          <a:p>
            <a:r>
              <a:rPr lang="es-ES"/>
              <a:t>Haga clic para modificar el estilo de título del patrón</a:t>
            </a:r>
            <a:endParaRPr lang="en-US"/>
          </a:p>
        </p:txBody>
      </p:sp>
      <p:sp>
        <p:nvSpPr>
          <p:cNvPr id="3075" name="Rectangle 3"/>
          <p:cNvSpPr>
            <a:spLocks noGrp="1" noChangeArrowheads="1"/>
          </p:cNvSpPr>
          <p:nvPr>
            <p:ph type="subTitle" idx="1"/>
          </p:nvPr>
        </p:nvSpPr>
        <p:spPr bwMode="black">
          <a:xfrm>
            <a:off x="990600" y="2176463"/>
            <a:ext cx="7086600" cy="436562"/>
          </a:xfrm>
        </p:spPr>
        <p:txBody>
          <a:bodyPr/>
          <a:lstStyle>
            <a:lvl1pPr marL="0" indent="0" algn="ctr">
              <a:buFont typeface="Wingdings" pitchFamily="2" charset="2"/>
              <a:buNone/>
              <a:defRPr sz="1900">
                <a:solidFill>
                  <a:schemeClr val="bg1"/>
                </a:solidFill>
                <a:latin typeface="Arial" charset="0"/>
              </a:defRPr>
            </a:lvl1pPr>
          </a:lstStyle>
          <a:p>
            <a:r>
              <a:rPr lang="es-ES"/>
              <a:t>Haga clic para modificar el estilo de subtítulo del patrón</a:t>
            </a:r>
            <a:endParaRPr lang="en-US"/>
          </a:p>
        </p:txBody>
      </p:sp>
    </p:spTree>
    <p:extLst>
      <p:ext uri="{BB962C8B-B14F-4D97-AF65-F5344CB8AC3E}">
        <p14:creationId xmlns:p14="http://schemas.microsoft.com/office/powerpoint/2010/main" val="393711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9BC10960-1D47-4F31-A178-4215E754AE71}" type="slidenum">
              <a:rPr lang="en-US"/>
              <a:pPr/>
              <a:t>‹Nº›</a:t>
            </a:fld>
            <a:endParaRPr lang="en-US"/>
          </a:p>
        </p:txBody>
      </p:sp>
    </p:spTree>
    <p:extLst>
      <p:ext uri="{BB962C8B-B14F-4D97-AF65-F5344CB8AC3E}">
        <p14:creationId xmlns:p14="http://schemas.microsoft.com/office/powerpoint/2010/main" val="279380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108B1BE4-FB56-497F-AC71-04F364CF33BF}" type="slidenum">
              <a:rPr lang="en-US"/>
              <a:pPr/>
              <a:t>‹Nº›</a:t>
            </a:fld>
            <a:endParaRPr lang="en-US"/>
          </a:p>
        </p:txBody>
      </p:sp>
    </p:spTree>
    <p:extLst>
      <p:ext uri="{BB962C8B-B14F-4D97-AF65-F5344CB8AC3E}">
        <p14:creationId xmlns:p14="http://schemas.microsoft.com/office/powerpoint/2010/main" val="244741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8AD86F26-C6EC-496E-AD78-D42D5BE6465A}" type="slidenum">
              <a:rPr lang="en-US"/>
              <a:pPr/>
              <a:t>‹Nº›</a:t>
            </a:fld>
            <a:endParaRPr lang="en-US"/>
          </a:p>
        </p:txBody>
      </p:sp>
    </p:spTree>
    <p:extLst>
      <p:ext uri="{BB962C8B-B14F-4D97-AF65-F5344CB8AC3E}">
        <p14:creationId xmlns:p14="http://schemas.microsoft.com/office/powerpoint/2010/main" val="1476666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Rectangle 5"/>
          <p:cNvSpPr>
            <a:spLocks noGrp="1" noChangeArrowheads="1"/>
          </p:cNvSpPr>
          <p:nvPr>
            <p:ph type="ftr" sz="quarter" idx="10"/>
          </p:nvPr>
        </p:nvSpPr>
        <p:spPr>
          <a:ln/>
        </p:spPr>
        <p:txBody>
          <a:bodyPr/>
          <a:lstStyle>
            <a:lvl1pPr>
              <a:defRPr/>
            </a:lvl1pPr>
          </a:lstStyle>
          <a:p>
            <a:r>
              <a:rPr lang="en-US"/>
              <a:t>www.themegallery.com</a:t>
            </a:r>
          </a:p>
        </p:txBody>
      </p:sp>
      <p:sp>
        <p:nvSpPr>
          <p:cNvPr id="8" name="Rectangle 6"/>
          <p:cNvSpPr>
            <a:spLocks noGrp="1" noChangeArrowheads="1"/>
          </p:cNvSpPr>
          <p:nvPr>
            <p:ph type="sldNum" sz="quarter" idx="11"/>
          </p:nvPr>
        </p:nvSpPr>
        <p:spPr>
          <a:ln/>
        </p:spPr>
        <p:txBody>
          <a:bodyPr/>
          <a:lstStyle>
            <a:lvl1pPr>
              <a:defRPr/>
            </a:lvl1pPr>
          </a:lstStyle>
          <a:p>
            <a:fld id="{D8AED370-19CA-4C7C-85E3-1587DE8EE631}" type="slidenum">
              <a:rPr lang="en-US"/>
              <a:pPr/>
              <a:t>‹Nº›</a:t>
            </a:fld>
            <a:endParaRPr lang="en-US"/>
          </a:p>
        </p:txBody>
      </p:sp>
    </p:spTree>
    <p:extLst>
      <p:ext uri="{BB962C8B-B14F-4D97-AF65-F5344CB8AC3E}">
        <p14:creationId xmlns:p14="http://schemas.microsoft.com/office/powerpoint/2010/main" val="3320516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Rectangle 5"/>
          <p:cNvSpPr>
            <a:spLocks noGrp="1" noChangeArrowheads="1"/>
          </p:cNvSpPr>
          <p:nvPr>
            <p:ph type="ftr" sz="quarter" idx="10"/>
          </p:nvPr>
        </p:nvSpPr>
        <p:spPr>
          <a:ln/>
        </p:spPr>
        <p:txBody>
          <a:bodyPr/>
          <a:lstStyle>
            <a:lvl1pPr>
              <a:defRPr/>
            </a:lvl1pPr>
          </a:lstStyle>
          <a:p>
            <a:r>
              <a:rPr lang="en-US"/>
              <a:t>www.themegallery.com</a:t>
            </a:r>
          </a:p>
        </p:txBody>
      </p:sp>
      <p:sp>
        <p:nvSpPr>
          <p:cNvPr id="4" name="Rectangle 6"/>
          <p:cNvSpPr>
            <a:spLocks noGrp="1" noChangeArrowheads="1"/>
          </p:cNvSpPr>
          <p:nvPr>
            <p:ph type="sldNum" sz="quarter" idx="11"/>
          </p:nvPr>
        </p:nvSpPr>
        <p:spPr>
          <a:ln/>
        </p:spPr>
        <p:txBody>
          <a:bodyPr/>
          <a:lstStyle>
            <a:lvl1pPr>
              <a:defRPr/>
            </a:lvl1pPr>
          </a:lstStyle>
          <a:p>
            <a:fld id="{FD14D8DD-9D00-4312-B4C4-A03ADF0178CC}" type="slidenum">
              <a:rPr lang="en-US"/>
              <a:pPr/>
              <a:t>‹Nº›</a:t>
            </a:fld>
            <a:endParaRPr lang="en-US"/>
          </a:p>
        </p:txBody>
      </p:sp>
    </p:spTree>
    <p:extLst>
      <p:ext uri="{BB962C8B-B14F-4D97-AF65-F5344CB8AC3E}">
        <p14:creationId xmlns:p14="http://schemas.microsoft.com/office/powerpoint/2010/main" val="1106196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r>
              <a:rPr lang="en-US"/>
              <a:t>www.themegallery.com</a:t>
            </a:r>
          </a:p>
        </p:txBody>
      </p:sp>
      <p:sp>
        <p:nvSpPr>
          <p:cNvPr id="3" name="Rectangle 6"/>
          <p:cNvSpPr>
            <a:spLocks noGrp="1" noChangeArrowheads="1"/>
          </p:cNvSpPr>
          <p:nvPr>
            <p:ph type="sldNum" sz="quarter" idx="11"/>
          </p:nvPr>
        </p:nvSpPr>
        <p:spPr>
          <a:ln/>
        </p:spPr>
        <p:txBody>
          <a:bodyPr/>
          <a:lstStyle>
            <a:lvl1pPr>
              <a:defRPr/>
            </a:lvl1pPr>
          </a:lstStyle>
          <a:p>
            <a:fld id="{18537A5B-A9CE-4669-BC99-AE9F32CE8D07}" type="slidenum">
              <a:rPr lang="en-US"/>
              <a:pPr/>
              <a:t>‹Nº›</a:t>
            </a:fld>
            <a:endParaRPr lang="en-US"/>
          </a:p>
        </p:txBody>
      </p:sp>
    </p:spTree>
    <p:extLst>
      <p:ext uri="{BB962C8B-B14F-4D97-AF65-F5344CB8AC3E}">
        <p14:creationId xmlns:p14="http://schemas.microsoft.com/office/powerpoint/2010/main" val="459697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ECD770F1-8B0E-485D-8FC1-DD5CDADCB470}" type="slidenum">
              <a:rPr lang="en-US"/>
              <a:pPr/>
              <a:t>‹Nº›</a:t>
            </a:fld>
            <a:endParaRPr lang="en-US"/>
          </a:p>
        </p:txBody>
      </p:sp>
    </p:spTree>
    <p:extLst>
      <p:ext uri="{BB962C8B-B14F-4D97-AF65-F5344CB8AC3E}">
        <p14:creationId xmlns:p14="http://schemas.microsoft.com/office/powerpoint/2010/main" val="250813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s-ES_tradnl"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C3368E41-874E-4862-AAFD-AC18B393D094}" type="slidenum">
              <a:rPr lang="en-US"/>
              <a:pPr/>
              <a:t>‹Nº›</a:t>
            </a:fld>
            <a:endParaRPr lang="en-US"/>
          </a:p>
        </p:txBody>
      </p:sp>
    </p:spTree>
    <p:extLst>
      <p:ext uri="{BB962C8B-B14F-4D97-AF65-F5344CB8AC3E}">
        <p14:creationId xmlns:p14="http://schemas.microsoft.com/office/powerpoint/2010/main" val="1071725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D801FC98-F929-48AB-9F4D-6385B8877736}" type="slidenum">
              <a:rPr lang="en-US"/>
              <a:pPr/>
              <a:t>‹Nº›</a:t>
            </a:fld>
            <a:endParaRPr lang="en-US"/>
          </a:p>
        </p:txBody>
      </p:sp>
    </p:spTree>
    <p:extLst>
      <p:ext uri="{BB962C8B-B14F-4D97-AF65-F5344CB8AC3E}">
        <p14:creationId xmlns:p14="http://schemas.microsoft.com/office/powerpoint/2010/main" val="421658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53975"/>
            <a:ext cx="2057400" cy="6270625"/>
          </a:xfrm>
        </p:spPr>
        <p:txBody>
          <a:bodyPr vert="eaVert"/>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457200" y="53975"/>
            <a:ext cx="6019800" cy="62706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F5DFA751-5FBB-4471-AF6F-9D0A8609C3C1}" type="slidenum">
              <a:rPr lang="en-US"/>
              <a:pPr/>
              <a:t>‹Nº›</a:t>
            </a:fld>
            <a:endParaRPr lang="en-US"/>
          </a:p>
        </p:txBody>
      </p:sp>
    </p:spTree>
    <p:extLst>
      <p:ext uri="{BB962C8B-B14F-4D97-AF65-F5344CB8AC3E}">
        <p14:creationId xmlns:p14="http://schemas.microsoft.com/office/powerpoint/2010/main" val="31486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542925" y="53975"/>
            <a:ext cx="7392988" cy="563563"/>
          </a:xfrm>
        </p:spPr>
        <p:txBody>
          <a:bodyPr/>
          <a:lstStyle/>
          <a:p>
            <a:r>
              <a:rPr lang="es-ES"/>
              <a:t>Haga clic para modificar el estilo de título del patrón</a:t>
            </a:r>
            <a:endParaRPr lang="es-ES_tradnl"/>
          </a:p>
        </p:txBody>
      </p:sp>
      <p:sp>
        <p:nvSpPr>
          <p:cNvPr id="3" name="2 Marcador de tabla"/>
          <p:cNvSpPr>
            <a:spLocks noGrp="1"/>
          </p:cNvSpPr>
          <p:nvPr>
            <p:ph type="tbl" idx="1"/>
          </p:nvPr>
        </p:nvSpPr>
        <p:spPr>
          <a:xfrm>
            <a:off x="457200" y="1076325"/>
            <a:ext cx="8229600" cy="5248275"/>
          </a:xfrm>
        </p:spPr>
        <p:txBody>
          <a:bodyPr/>
          <a:lstStyle/>
          <a:p>
            <a:pPr lvl="0"/>
            <a:r>
              <a:rPr lang="es-ES" noProof="0"/>
              <a:t>Haga clic en el icono para agregar una tabla</a:t>
            </a:r>
            <a:endParaRPr lang="es-ES_tradnl" noProof="0"/>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27F47353-9D15-4571-BF0B-64C1267AE8A4}" type="slidenum">
              <a:rPr lang="en-US"/>
              <a:pPr/>
              <a:t>‹Nº›</a:t>
            </a:fld>
            <a:endParaRPr lang="en-US"/>
          </a:p>
        </p:txBody>
      </p:sp>
    </p:spTree>
    <p:extLst>
      <p:ext uri="{BB962C8B-B14F-4D97-AF65-F5344CB8AC3E}">
        <p14:creationId xmlns:p14="http://schemas.microsoft.com/office/powerpoint/2010/main" val="3841788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39" name="Freeform 15" descr="29641"/>
          <p:cNvSpPr>
            <a:spLocks/>
          </p:cNvSpPr>
          <p:nvPr/>
        </p:nvSpPr>
        <p:spPr bwMode="gray">
          <a:xfrm>
            <a:off x="36513" y="80963"/>
            <a:ext cx="9077325" cy="1595437"/>
          </a:xfrm>
          <a:custGeom>
            <a:avLst/>
            <a:gdLst/>
            <a:ahLst/>
            <a:cxnLst>
              <a:cxn ang="0">
                <a:pos x="0" y="756"/>
              </a:cxn>
              <a:cxn ang="0">
                <a:pos x="576" y="560"/>
              </a:cxn>
              <a:cxn ang="0">
                <a:pos x="1403" y="390"/>
              </a:cxn>
              <a:cxn ang="0">
                <a:pos x="2452" y="314"/>
              </a:cxn>
              <a:cxn ang="0">
                <a:pos x="3102" y="326"/>
              </a:cxn>
              <a:cxn ang="0">
                <a:pos x="4043" y="434"/>
              </a:cxn>
              <a:cxn ang="0">
                <a:pos x="4944" y="668"/>
              </a:cxn>
              <a:cxn ang="0">
                <a:pos x="5691" y="971"/>
              </a:cxn>
              <a:cxn ang="0">
                <a:pos x="5718" y="19"/>
              </a:cxn>
              <a:cxn ang="0">
                <a:pos x="9" y="0"/>
              </a:cxn>
            </a:cxnLst>
            <a:rect l="0" t="0" r="r" b="b"/>
            <a:pathLst>
              <a:path w="5718" h="1005">
                <a:moveTo>
                  <a:pt x="0" y="756"/>
                </a:moveTo>
                <a:cubicBezTo>
                  <a:pt x="96" y="724"/>
                  <a:pt x="297" y="635"/>
                  <a:pt x="576" y="560"/>
                </a:cubicBezTo>
                <a:cubicBezTo>
                  <a:pt x="855" y="485"/>
                  <a:pt x="1037" y="442"/>
                  <a:pt x="1403" y="390"/>
                </a:cubicBezTo>
                <a:cubicBezTo>
                  <a:pt x="1769" y="337"/>
                  <a:pt x="2154" y="320"/>
                  <a:pt x="2452" y="314"/>
                </a:cubicBezTo>
                <a:lnTo>
                  <a:pt x="3102" y="326"/>
                </a:lnTo>
                <a:cubicBezTo>
                  <a:pt x="3367" y="346"/>
                  <a:pt x="3736" y="377"/>
                  <a:pt x="4043" y="434"/>
                </a:cubicBezTo>
                <a:cubicBezTo>
                  <a:pt x="4350" y="490"/>
                  <a:pt x="4669" y="578"/>
                  <a:pt x="4944" y="668"/>
                </a:cubicBezTo>
                <a:cubicBezTo>
                  <a:pt x="5219" y="757"/>
                  <a:pt x="5679" y="1005"/>
                  <a:pt x="5691" y="971"/>
                </a:cubicBezTo>
                <a:cubicBezTo>
                  <a:pt x="5695" y="964"/>
                  <a:pt x="5718" y="25"/>
                  <a:pt x="5718" y="19"/>
                </a:cubicBezTo>
                <a:cubicBezTo>
                  <a:pt x="5718" y="7"/>
                  <a:pt x="1198" y="4"/>
                  <a:pt x="9" y="0"/>
                </a:cubicBezTo>
              </a:path>
            </a:pathLst>
          </a:custGeom>
          <a:blipFill dpi="0" rotWithShape="1">
            <a:blip r:embed="rId15" cstate="print"/>
            <a:srcRect/>
            <a:stretch>
              <a:fillRect/>
            </a:stretch>
          </a:blipFill>
          <a:ln w="9525">
            <a:noFill/>
            <a:round/>
            <a:headEnd/>
            <a:tailEnd/>
          </a:ln>
          <a:effectLst/>
        </p:spPr>
        <p:txBody>
          <a:bodyPr/>
          <a:lstStyle/>
          <a:p>
            <a:pPr>
              <a:defRPr/>
            </a:pPr>
            <a:endParaRPr lang="es-ES_tradnl"/>
          </a:p>
        </p:txBody>
      </p:sp>
      <p:sp>
        <p:nvSpPr>
          <p:cNvPr id="1027" name="Rectangle 3"/>
          <p:cNvSpPr>
            <a:spLocks noGrp="1" noChangeArrowheads="1"/>
          </p:cNvSpPr>
          <p:nvPr>
            <p:ph type="body" idx="1"/>
          </p:nvPr>
        </p:nvSpPr>
        <p:spPr bwMode="auto">
          <a:xfrm>
            <a:off x="457200" y="1076325"/>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29" name="Rectangle 5"/>
          <p:cNvSpPr>
            <a:spLocks noGrp="1" noChangeArrowheads="1"/>
          </p:cNvSpPr>
          <p:nvPr>
            <p:ph type="ftr" sz="quarter" idx="3"/>
          </p:nvPr>
        </p:nvSpPr>
        <p:spPr bwMode="auto">
          <a:xfrm>
            <a:off x="6084888" y="6450013"/>
            <a:ext cx="2897187" cy="320675"/>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r">
              <a:defRPr sz="1300" b="1">
                <a:latin typeface="Verdana" pitchFamily="34" charset="0"/>
              </a:defRPr>
            </a:lvl1pPr>
          </a:lstStyle>
          <a:p>
            <a:r>
              <a:rPr lang="en-US"/>
              <a:t>www.themegallery.com</a:t>
            </a:r>
          </a:p>
        </p:txBody>
      </p:sp>
      <p:sp>
        <p:nvSpPr>
          <p:cNvPr id="1030" name="Rectangle 6"/>
          <p:cNvSpPr>
            <a:spLocks noGrp="1" noChangeArrowheads="1"/>
          </p:cNvSpPr>
          <p:nvPr>
            <p:ph type="sldNum" sz="quarter" idx="4"/>
          </p:nvPr>
        </p:nvSpPr>
        <p:spPr bwMode="auto">
          <a:xfrm>
            <a:off x="107950" y="6454775"/>
            <a:ext cx="927100" cy="239713"/>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ctr">
              <a:defRPr sz="1300" b="1">
                <a:latin typeface="Verdana" pitchFamily="34" charset="0"/>
              </a:defRPr>
            </a:lvl1pPr>
          </a:lstStyle>
          <a:p>
            <a:fld id="{BD04EC93-4901-40B8-B615-125461DCA23D}" type="slidenum">
              <a:rPr lang="en-US"/>
              <a:pPr/>
              <a:t>‹Nº›</a:t>
            </a:fld>
            <a:endParaRPr lang="en-US"/>
          </a:p>
        </p:txBody>
      </p:sp>
      <p:sp>
        <p:nvSpPr>
          <p:cNvPr id="2" name="Rectangle 2"/>
          <p:cNvSpPr>
            <a:spLocks noGrp="1" noChangeArrowheads="1"/>
          </p:cNvSpPr>
          <p:nvPr>
            <p:ph type="title"/>
          </p:nvPr>
        </p:nvSpPr>
        <p:spPr bwMode="white">
          <a:xfrm>
            <a:off x="542925" y="53975"/>
            <a:ext cx="73929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p>
            <a:pPr lvl="0"/>
            <a:r>
              <a:rPr lang="es-ES"/>
              <a:t>Haga clic para modificar el estilo de título del patrón</a:t>
            </a:r>
            <a:endParaRPr lang="en-US"/>
          </a:p>
        </p:txBody>
      </p:sp>
      <p:grpSp>
        <p:nvGrpSpPr>
          <p:cNvPr id="1031" name="Group 16"/>
          <p:cNvGrpSpPr>
            <a:grpSpLocks/>
          </p:cNvGrpSpPr>
          <p:nvPr/>
        </p:nvGrpSpPr>
        <p:grpSpPr bwMode="auto">
          <a:xfrm>
            <a:off x="-1588" y="0"/>
            <a:ext cx="9145588" cy="6858000"/>
            <a:chOff x="-1" y="0"/>
            <a:chExt cx="8065" cy="6048"/>
          </a:xfrm>
        </p:grpSpPr>
        <p:sp>
          <p:nvSpPr>
            <p:cNvPr id="1041" name="Freeform 17"/>
            <p:cNvSpPr>
              <a:spLocks/>
            </p:cNvSpPr>
            <p:nvPr/>
          </p:nvSpPr>
          <p:spPr bwMode="gray">
            <a:xfrm>
              <a:off x="-1" y="5629"/>
              <a:ext cx="389" cy="417"/>
            </a:xfrm>
            <a:custGeom>
              <a:avLst/>
              <a:gdLst/>
              <a:ahLst/>
              <a:cxnLst>
                <a:cxn ang="0">
                  <a:pos x="314" y="416"/>
                </a:cxn>
                <a:cxn ang="0">
                  <a:pos x="389" y="417"/>
                </a:cxn>
                <a:cxn ang="0">
                  <a:pos x="158" y="297"/>
                </a:cxn>
                <a:cxn ang="0">
                  <a:pos x="39" y="179"/>
                </a:cxn>
                <a:cxn ang="0">
                  <a:pos x="0" y="0"/>
                </a:cxn>
                <a:cxn ang="0">
                  <a:pos x="1" y="417"/>
                </a:cxn>
              </a:cxnLst>
              <a:rect l="0" t="0" r="r" b="b"/>
              <a:pathLst>
                <a:path w="389" h="417">
                  <a:moveTo>
                    <a:pt x="314" y="416"/>
                  </a:moveTo>
                  <a:lnTo>
                    <a:pt x="389" y="417"/>
                  </a:lnTo>
                  <a:lnTo>
                    <a:pt x="158" y="297"/>
                  </a:lnTo>
                  <a:lnTo>
                    <a:pt x="39" y="179"/>
                  </a:lnTo>
                  <a:lnTo>
                    <a:pt x="0" y="0"/>
                  </a:lnTo>
                  <a:lnTo>
                    <a:pt x="1" y="417"/>
                  </a:lnTo>
                </a:path>
              </a:pathLst>
            </a:custGeom>
            <a:solidFill>
              <a:schemeClr val="bg1"/>
            </a:solidFill>
            <a:ln w="9525">
              <a:noFill/>
              <a:round/>
              <a:headEnd/>
              <a:tailEnd/>
            </a:ln>
            <a:effectLst/>
          </p:spPr>
          <p:txBody>
            <a:bodyPr/>
            <a:lstStyle/>
            <a:p>
              <a:pPr>
                <a:defRPr/>
              </a:pPr>
              <a:endParaRPr lang="es-ES_tradnl"/>
            </a:p>
          </p:txBody>
        </p:sp>
        <p:sp>
          <p:nvSpPr>
            <p:cNvPr id="1042" name="Freeform 18"/>
            <p:cNvSpPr>
              <a:spLocks/>
            </p:cNvSpPr>
            <p:nvPr/>
          </p:nvSpPr>
          <p:spPr bwMode="gray">
            <a:xfrm>
              <a:off x="7701" y="5645"/>
              <a:ext cx="363" cy="403"/>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043" name="AutoShape 19"/>
            <p:cNvSpPr>
              <a:spLocks noChangeArrowheads="1"/>
            </p:cNvSpPr>
            <p:nvPr/>
          </p:nvSpPr>
          <p:spPr bwMode="gray">
            <a:xfrm>
              <a:off x="26" y="42"/>
              <a:ext cx="8012" cy="59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1044" name="Freeform 20"/>
            <p:cNvSpPr>
              <a:spLocks/>
            </p:cNvSpPr>
            <p:nvPr/>
          </p:nvSpPr>
          <p:spPr bwMode="gray">
            <a:xfrm>
              <a:off x="-1" y="13"/>
              <a:ext cx="405" cy="441"/>
            </a:xfrm>
            <a:custGeom>
              <a:avLst/>
              <a:gdLst/>
              <a:ahLst/>
              <a:cxnLst>
                <a:cxn ang="0">
                  <a:pos x="2" y="441"/>
                </a:cxn>
                <a:cxn ang="0">
                  <a:pos x="107" y="175"/>
                </a:cxn>
                <a:cxn ang="0">
                  <a:pos x="387" y="0"/>
                </a:cxn>
                <a:cxn ang="0">
                  <a:pos x="1" y="0"/>
                </a:cxn>
              </a:cxnLst>
              <a:rect l="0" t="0" r="r" b="b"/>
              <a:pathLst>
                <a:path w="405" h="441">
                  <a:moveTo>
                    <a:pt x="2" y="441"/>
                  </a:moveTo>
                  <a:cubicBezTo>
                    <a:pt x="19" y="397"/>
                    <a:pt x="0" y="345"/>
                    <a:pt x="107" y="175"/>
                  </a:cubicBezTo>
                  <a:cubicBezTo>
                    <a:pt x="214" y="6"/>
                    <a:pt x="405" y="16"/>
                    <a:pt x="387" y="0"/>
                  </a:cubicBezTo>
                  <a:lnTo>
                    <a:pt x="1" y="0"/>
                  </a:lnTo>
                </a:path>
              </a:pathLst>
            </a:custGeom>
            <a:solidFill>
              <a:schemeClr val="bg1"/>
            </a:solidFill>
            <a:ln w="9525">
              <a:noFill/>
              <a:round/>
              <a:headEnd/>
              <a:tailEnd/>
            </a:ln>
            <a:effectLst/>
          </p:spPr>
          <p:txBody>
            <a:bodyPr/>
            <a:lstStyle/>
            <a:p>
              <a:pPr>
                <a:defRPr/>
              </a:pPr>
              <a:endParaRPr lang="es-ES_tradnl"/>
            </a:p>
          </p:txBody>
        </p:sp>
        <p:sp>
          <p:nvSpPr>
            <p:cNvPr id="1045" name="Freeform 21"/>
            <p:cNvSpPr>
              <a:spLocks/>
            </p:cNvSpPr>
            <p:nvPr/>
          </p:nvSpPr>
          <p:spPr bwMode="gray">
            <a:xfrm>
              <a:off x="7588" y="0"/>
              <a:ext cx="470" cy="483"/>
            </a:xfrm>
            <a:custGeom>
              <a:avLst/>
              <a:gdLst/>
              <a:ahLst/>
              <a:cxnLst>
                <a:cxn ang="0">
                  <a:pos x="0" y="4"/>
                </a:cxn>
                <a:cxn ang="0">
                  <a:pos x="342" y="150"/>
                </a:cxn>
                <a:cxn ang="0">
                  <a:pos x="470" y="461"/>
                </a:cxn>
                <a:cxn ang="0">
                  <a:pos x="470" y="0"/>
                </a:cxn>
              </a:cxnLst>
              <a:rect l="0" t="0" r="r" b="b"/>
              <a:pathLst>
                <a:path w="470" h="483">
                  <a:moveTo>
                    <a:pt x="0" y="4"/>
                  </a:moveTo>
                  <a:cubicBezTo>
                    <a:pt x="57" y="28"/>
                    <a:pt x="264" y="74"/>
                    <a:pt x="342" y="150"/>
                  </a:cubicBezTo>
                  <a:cubicBezTo>
                    <a:pt x="450" y="275"/>
                    <a:pt x="452" y="483"/>
                    <a:pt x="470" y="461"/>
                  </a:cubicBezTo>
                  <a:lnTo>
                    <a:pt x="470" y="0"/>
                  </a:lnTo>
                </a:path>
              </a:pathLst>
            </a:custGeom>
            <a:solidFill>
              <a:schemeClr val="bg1"/>
            </a:solidFill>
            <a:ln w="9525">
              <a:noFill/>
              <a:round/>
              <a:headEnd/>
              <a:tailEnd/>
            </a:ln>
            <a:effectLst/>
          </p:spPr>
          <p:txBody>
            <a:bodyPr/>
            <a:lstStyle/>
            <a:p>
              <a:pPr>
                <a:defRPr/>
              </a:pPr>
              <a:endParaRPr lang="es-ES_tradnl"/>
            </a:p>
          </p:txBody>
        </p:sp>
      </p:grpSp>
      <p:sp>
        <p:nvSpPr>
          <p:cNvPr id="1046" name="Line 22"/>
          <p:cNvSpPr>
            <a:spLocks noChangeShapeType="1"/>
          </p:cNvSpPr>
          <p:nvPr/>
        </p:nvSpPr>
        <p:spPr bwMode="gray">
          <a:xfrm>
            <a:off x="323850" y="6500813"/>
            <a:ext cx="8569325" cy="0"/>
          </a:xfrm>
          <a:prstGeom prst="line">
            <a:avLst/>
          </a:prstGeom>
          <a:noFill/>
          <a:ln w="9525">
            <a:solidFill>
              <a:schemeClr val="tx1"/>
            </a:solidFill>
            <a:round/>
            <a:headEnd/>
            <a:tailEnd/>
          </a:ln>
          <a:effectLst/>
        </p:spPr>
        <p:txBody>
          <a:bodyPr/>
          <a:lstStyle/>
          <a:p>
            <a:pPr>
              <a:defRPr/>
            </a:pPr>
            <a:endParaRPr lang="es-ES_tradnl"/>
          </a:p>
        </p:txBody>
      </p:sp>
    </p:spTree>
  </p:cSld>
  <p:clrMap bg1="lt1" tx1="dk1" bg2="lt2" tx2="dk2" accent1="accent1" accent2="accent2" accent3="accent3" accent4="accent4" accent5="accent5" accent6="accent6" hlink="hlink" folHlink="folHlink"/>
  <p:sldLayoutIdLst>
    <p:sldLayoutId id="2147483673"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p:titleStyle>
    <p:body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r>
              <a:rPr lang="en-US" sz="3200" dirty="0" err="1"/>
              <a:t>Utilizaci</a:t>
            </a:r>
            <a:r>
              <a:rPr lang="es-ES" sz="3200" dirty="0"/>
              <a:t>ón de Objetos</a:t>
            </a:r>
            <a:endParaRPr lang="en-US" sz="3200" dirty="0"/>
          </a:p>
        </p:txBody>
      </p:sp>
      <p:sp>
        <p:nvSpPr>
          <p:cNvPr id="3075" name="Rectangle 3"/>
          <p:cNvSpPr>
            <a:spLocks noGrp="1" noChangeArrowheads="1"/>
          </p:cNvSpPr>
          <p:nvPr>
            <p:ph type="subTitle" idx="1"/>
          </p:nvPr>
        </p:nvSpPr>
        <p:spPr>
          <a:xfrm>
            <a:off x="990600" y="2122488"/>
            <a:ext cx="7086600" cy="434975"/>
          </a:xfrm>
        </p:spPr>
        <p:txBody>
          <a:bodyPr/>
          <a:lstStyle/>
          <a:p>
            <a:r>
              <a:rPr lang="en-US" dirty="0" err="1"/>
              <a:t>Unidad</a:t>
            </a:r>
            <a:r>
              <a:rPr lang="en-US" dirty="0"/>
              <a:t> Did</a:t>
            </a:r>
            <a:r>
              <a:rPr lang="es-ES" dirty="0" err="1"/>
              <a:t>áctica</a:t>
            </a:r>
            <a:r>
              <a:rPr lang="es-ES" dirty="0"/>
              <a:t> 2</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Contenido</a:t>
            </a:r>
          </a:p>
        </p:txBody>
      </p:sp>
      <p:sp>
        <p:nvSpPr>
          <p:cNvPr id="6" name="Rectangle 1"/>
          <p:cNvSpPr>
            <a:spLocks noChangeArrowheads="1"/>
          </p:cNvSpPr>
          <p:nvPr/>
        </p:nvSpPr>
        <p:spPr bwMode="auto">
          <a:xfrm>
            <a:off x="683568" y="-92838"/>
            <a:ext cx="7192995"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_tradnl" altLang="es-ES_tradnl" sz="1800" b="1"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ES_tradnl" altLang="es-ES_tradnl" sz="1800" b="1"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s-ES_tradnl" altLang="es-ES_tradnl" sz="1800" b="1"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_tradnl" altLang="es-ES_tradnl" sz="16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_tradnl" altLang="es-ES_tradnl" sz="1600" b="1" dirty="0"/>
              <a:t>       </a:t>
            </a:r>
            <a:r>
              <a:rPr kumimoji="0" lang="es-ES_tradnl" altLang="es-ES_tradnl" sz="1600" b="1" i="0" u="none" strike="noStrike" cap="none" normalizeH="0" baseline="0" dirty="0">
                <a:ln>
                  <a:noFill/>
                </a:ln>
                <a:solidFill>
                  <a:schemeClr val="tx1"/>
                </a:solidFill>
                <a:effectLst/>
                <a:latin typeface="Arial" charset="0"/>
              </a:rPr>
              <a:t>R.A. 2:Escribe y prueba programas sencillos, reconociendo y </a:t>
            </a:r>
          </a:p>
          <a:p>
            <a:pPr marL="0" marR="0" lvl="0" indent="0" algn="l" defTabSz="914400" rtl="0" eaLnBrk="0" fontAlgn="base" latinLnBrk="0" hangingPunct="0">
              <a:lnSpc>
                <a:spcPct val="100000"/>
              </a:lnSpc>
              <a:spcBef>
                <a:spcPct val="0"/>
              </a:spcBef>
              <a:spcAft>
                <a:spcPct val="0"/>
              </a:spcAft>
              <a:buClrTx/>
              <a:buSzTx/>
              <a:buFontTx/>
              <a:buNone/>
              <a:tabLst/>
            </a:pPr>
            <a:r>
              <a:rPr lang="es-ES_tradnl" altLang="es-ES_tradnl" sz="1600" b="1" dirty="0"/>
              <a:t>       </a:t>
            </a:r>
            <a:r>
              <a:rPr kumimoji="0" lang="es-ES_tradnl" altLang="es-ES_tradnl" sz="1600" b="1" i="0" u="none" strike="noStrike" cap="none" normalizeH="0" baseline="0" dirty="0">
                <a:ln>
                  <a:noFill/>
                </a:ln>
                <a:solidFill>
                  <a:schemeClr val="tx1"/>
                </a:solidFill>
                <a:effectLst/>
                <a:latin typeface="Arial" charset="0"/>
              </a:rPr>
              <a:t>aplicando los fundamentos de la programación orientada a objetos.</a:t>
            </a:r>
            <a:endParaRPr kumimoji="0" lang="es-ES_tradnl" altLang="es-ES_tradnl" sz="16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_tradnl" altLang="es-ES_tradnl" sz="1800" b="0" i="0" u="none" strike="noStrike" cap="none" normalizeH="0" baseline="0" dirty="0">
                <a:ln>
                  <a:noFill/>
                </a:ln>
                <a:solidFill>
                  <a:schemeClr val="tx1"/>
                </a:solidFill>
                <a:effectLst/>
                <a:latin typeface="Arial" charset="0"/>
              </a:rPr>
              <a:t/>
            </a:r>
            <a:br>
              <a:rPr kumimoji="0" lang="es-ES_tradnl" altLang="es-ES_tradnl" sz="1800" b="0" i="0" u="none" strike="noStrike" cap="none" normalizeH="0" baseline="0" dirty="0">
                <a:ln>
                  <a:noFill/>
                </a:ln>
                <a:solidFill>
                  <a:schemeClr val="tx1"/>
                </a:solidFill>
                <a:effectLst/>
                <a:latin typeface="Arial" charset="0"/>
              </a:rPr>
            </a:br>
            <a:endParaRPr kumimoji="0" lang="es-ES_tradnl" altLang="es-ES_tradnl" sz="1800" b="0" i="0" u="none" strike="noStrike" cap="none" normalizeH="0" baseline="0" dirty="0">
              <a:ln>
                <a:noFill/>
              </a:ln>
              <a:solidFill>
                <a:schemeClr val="tx1"/>
              </a:solidFill>
              <a:effectLst/>
              <a:latin typeface="Arial" charset="0"/>
            </a:endParaRPr>
          </a:p>
        </p:txBody>
      </p:sp>
      <p:graphicFrame>
        <p:nvGraphicFramePr>
          <p:cNvPr id="5" name="Tabla 4"/>
          <p:cNvGraphicFramePr>
            <a:graphicFrameLocks noGrp="1"/>
          </p:cNvGraphicFramePr>
          <p:nvPr>
            <p:extLst>
              <p:ext uri="{D42A27DB-BD31-4B8C-83A1-F6EECF244321}">
                <p14:modId xmlns:p14="http://schemas.microsoft.com/office/powerpoint/2010/main" val="3348741369"/>
              </p:ext>
            </p:extLst>
          </p:nvPr>
        </p:nvGraphicFramePr>
        <p:xfrm>
          <a:off x="1763688" y="1844824"/>
          <a:ext cx="5536565" cy="3520440"/>
        </p:xfrm>
        <a:graphic>
          <a:graphicData uri="http://schemas.openxmlformats.org/drawingml/2006/table">
            <a:tbl>
              <a:tblPr firstRow="1" firstCol="1" bandRow="1"/>
              <a:tblGrid>
                <a:gridCol w="1866900">
                  <a:extLst>
                    <a:ext uri="{9D8B030D-6E8A-4147-A177-3AD203B41FA5}">
                      <a16:colId xmlns:a16="http://schemas.microsoft.com/office/drawing/2014/main" val="1667609873"/>
                    </a:ext>
                  </a:extLst>
                </a:gridCol>
                <a:gridCol w="1026795">
                  <a:extLst>
                    <a:ext uri="{9D8B030D-6E8A-4147-A177-3AD203B41FA5}">
                      <a16:colId xmlns:a16="http://schemas.microsoft.com/office/drawing/2014/main" val="201112775"/>
                    </a:ext>
                  </a:extLst>
                </a:gridCol>
                <a:gridCol w="1319530">
                  <a:extLst>
                    <a:ext uri="{9D8B030D-6E8A-4147-A177-3AD203B41FA5}">
                      <a16:colId xmlns:a16="http://schemas.microsoft.com/office/drawing/2014/main" val="4212282609"/>
                    </a:ext>
                  </a:extLst>
                </a:gridCol>
                <a:gridCol w="1323340">
                  <a:extLst>
                    <a:ext uri="{9D8B030D-6E8A-4147-A177-3AD203B41FA5}">
                      <a16:colId xmlns:a16="http://schemas.microsoft.com/office/drawing/2014/main" val="1425797638"/>
                    </a:ext>
                  </a:extLst>
                </a:gridCol>
              </a:tblGrid>
              <a:tr h="436880">
                <a:tc>
                  <a:txBody>
                    <a:bodyPr/>
                    <a:lstStyle/>
                    <a:p>
                      <a:pPr algn="ctr">
                        <a:spcAft>
                          <a:spcPts val="0"/>
                        </a:spcAft>
                      </a:pPr>
                      <a:r>
                        <a:rPr lang="es-ES_tradnl" sz="1100" b="1">
                          <a:effectLst/>
                          <a:latin typeface="Calibri" panose="020F0502020204030204" pitchFamily="34" charset="0"/>
                          <a:ea typeface="Calibri" panose="020F0502020204030204" pitchFamily="34" charset="0"/>
                          <a:cs typeface="Times New Roman" panose="02020603050405020304" pitchFamily="18" charset="0"/>
                        </a:rPr>
                        <a:t>CRITERIOS DE EVALUACIÓN</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_tradnl" sz="1100" b="1">
                          <a:effectLst/>
                          <a:latin typeface="Calibri" panose="020F0502020204030204" pitchFamily="34" charset="0"/>
                          <a:ea typeface="Calibri" panose="020F0502020204030204" pitchFamily="34" charset="0"/>
                          <a:cs typeface="Times New Roman" panose="02020603050405020304" pitchFamily="18" charset="0"/>
                        </a:rPr>
                        <a:t>PROCEDIMIENTOS ESENCIALES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_tradnl" sz="1100" b="1">
                          <a:effectLst/>
                          <a:latin typeface="Calibri" panose="020F0502020204030204" pitchFamily="34" charset="0"/>
                          <a:ea typeface="Calibri" panose="020F0502020204030204" pitchFamily="34" charset="0"/>
                          <a:cs typeface="Times New Roman" panose="02020603050405020304" pitchFamily="18" charset="0"/>
                        </a:rPr>
                        <a:t>EVALUACIÓN</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_tradnl" sz="1100" b="1">
                          <a:effectLst/>
                          <a:latin typeface="Calibri" panose="020F0502020204030204" pitchFamily="34" charset="0"/>
                          <a:ea typeface="Calibri" panose="020F0502020204030204" pitchFamily="34" charset="0"/>
                          <a:cs typeface="Times New Roman" panose="02020603050405020304" pitchFamily="18" charset="0"/>
                        </a:rPr>
                        <a:t>CONTENIDOS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7291586"/>
                  </a:ext>
                </a:extLst>
              </a:tr>
              <a:tr h="273050">
                <a:tc>
                  <a:txBody>
                    <a:bodyPr/>
                    <a:lstStyle/>
                    <a:p>
                      <a:pPr marL="342900" lvl="0" indent="-342900">
                        <a:spcAft>
                          <a:spcPts val="0"/>
                        </a:spcAft>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identificado los fundamentos de la programación orientada a objetos.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escrito programas simples.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instanciado objetos a partir de clases predefinidas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utilizado métodos y propiedades de los objetos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escrito llamadas a métodos estáticos.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utilizado parámetros en la llamada a métodos.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incorporado y utilizado librerías de objetos.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utilizado constructores.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 utilizado el entorno integrado de desarrollo en la creación y compilación de programas simples.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_tradnl" sz="900">
                          <a:effectLst/>
                          <a:latin typeface="Calibri" panose="020F0502020204030204" pitchFamily="34" charset="0"/>
                          <a:ea typeface="Calibri" panose="020F0502020204030204" pitchFamily="34" charset="0"/>
                          <a:cs typeface="Times New Roman" panose="02020603050405020304" pitchFamily="18" charset="0"/>
                        </a:rPr>
                        <a:t>PE 2. Desarrollar proyectos simples con características de orientación a objetos, distinguiendo en ellos los conceptos de clase, objeto, propiedades, métodos (estáticos-no estáticos), constructores, usando ciertas librerías de objetos.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spcAft>
                          <a:spcPts val="0"/>
                        </a:spcAft>
                      </a:pPr>
                      <a:r>
                        <a:rPr lang="es-ES_tradnl" sz="900">
                          <a:effectLst/>
                          <a:latin typeface="Times New Roman" panose="02020603050405020304" pitchFamily="18" charset="0"/>
                          <a:ea typeface="Times New Roman" panose="02020603050405020304" pitchFamily="18" charset="0"/>
                        </a:rPr>
                        <a:t>Prueba Teórica (Test) 1 (100%)</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spcAft>
                          <a:spcPts val="0"/>
                        </a:spcAft>
                      </a:pPr>
                      <a:r>
                        <a:rPr lang="es-ES_tradnl" sz="900">
                          <a:effectLst/>
                          <a:latin typeface="Calibri" panose="020F0502020204030204" pitchFamily="34" charset="0"/>
                          <a:ea typeface="Calibri" panose="020F0502020204030204" pitchFamily="34" charset="0"/>
                          <a:cs typeface="Times New Roman" panose="02020603050405020304" pitchFamily="18" charset="0"/>
                        </a:rPr>
                        <a:t>Características de los objetos.</a:t>
                      </a:r>
                      <a:endParaRPr lang="es-ES" sz="1000">
                        <a:effectLst/>
                        <a:latin typeface="Times New Roman" panose="02020603050405020304" pitchFamily="18" charset="0"/>
                        <a:ea typeface="Times New Roman" panose="02020603050405020304" pitchFamily="18" charset="0"/>
                      </a:endParaRPr>
                    </a:p>
                    <a:p>
                      <a:pPr>
                        <a:spcAft>
                          <a:spcPts val="0"/>
                        </a:spcAft>
                      </a:pPr>
                      <a:r>
                        <a:rPr lang="es-ES_tradnl" sz="900">
                          <a:effectLst/>
                          <a:latin typeface="Calibri" panose="020F0502020204030204" pitchFamily="34" charset="0"/>
                          <a:ea typeface="Calibri" panose="020F0502020204030204" pitchFamily="34" charset="0"/>
                        </a:rPr>
                        <a:t>Instanciación de objetos. Utilización de métodos. Utilización de propiedades. Utilización de métodos estáticos. Librerías de objetos. Inclusión y uso. Constructores. </a:t>
                      </a:r>
                      <a:endParaRPr lang="es-ES" sz="1000">
                        <a:effectLst/>
                        <a:latin typeface="Times New Roman" panose="02020603050405020304" pitchFamily="18" charset="0"/>
                        <a:ea typeface="Times New Roman" panose="02020603050405020304" pitchFamily="18" charset="0"/>
                      </a:endParaRPr>
                    </a:p>
                    <a:p>
                      <a:pPr>
                        <a:spcAft>
                          <a:spcPts val="0"/>
                        </a:spcAft>
                      </a:pPr>
                      <a:r>
                        <a:rPr lang="es-ES_tradnl"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Destrucción de objetos y liberación de memoria.</a:t>
                      </a:r>
                      <a:r>
                        <a:rPr lang="es-ES_tradnl" sz="900">
                          <a:effectLst/>
                          <a:latin typeface="Calibri" panose="020F0502020204030204" pitchFamily="34" charset="0"/>
                          <a:ea typeface="Calibri" panose="020F0502020204030204" pitchFamily="34" charset="0"/>
                          <a:cs typeface="Times New Roman" panose="02020603050405020304" pitchFamily="18" charset="0"/>
                        </a:rPr>
                        <a:t> </a:t>
                      </a:r>
                      <a:r>
                        <a:rPr lang="es-ES_tradnl" sz="900">
                          <a:effectLst/>
                          <a:latin typeface="Calibri" panose="020F0502020204030204" pitchFamily="34" charset="0"/>
                          <a:ea typeface="Calibri" panose="020F0502020204030204" pitchFamily="34" charset="0"/>
                        </a:rPr>
                        <a:t>Entornos de desarrollo para programación orientada a objetos: Entornos específicos. Plugins de integración en entornos genéricos.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5423282"/>
                  </a:ext>
                </a:extLst>
              </a:tr>
            </a:tbl>
          </a:graphicData>
        </a:graphic>
      </p:graphicFrame>
    </p:spTree>
    <p:extLst>
      <p:ext uri="{BB962C8B-B14F-4D97-AF65-F5344CB8AC3E}">
        <p14:creationId xmlns:p14="http://schemas.microsoft.com/office/powerpoint/2010/main" val="1911557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B8E903-7560-F24E-912B-CD73BBB9EF5D}"/>
              </a:ext>
            </a:extLst>
          </p:cNvPr>
          <p:cNvSpPr>
            <a:spLocks noGrp="1"/>
          </p:cNvSpPr>
          <p:nvPr>
            <p:ph type="title"/>
          </p:nvPr>
        </p:nvSpPr>
        <p:spPr/>
        <p:txBody>
          <a:bodyPr/>
          <a:lstStyle/>
          <a:p>
            <a:r>
              <a:rPr lang="es-ES" dirty="0"/>
              <a:t>Objetos</a:t>
            </a:r>
          </a:p>
        </p:txBody>
      </p:sp>
      <p:sp>
        <p:nvSpPr>
          <p:cNvPr id="3" name="Marcador de contenido 2">
            <a:extLst>
              <a:ext uri="{FF2B5EF4-FFF2-40B4-BE49-F238E27FC236}">
                <a16:creationId xmlns:a16="http://schemas.microsoft.com/office/drawing/2014/main" id="{B243049D-2298-544B-9528-767EBBF02830}"/>
              </a:ext>
            </a:extLst>
          </p:cNvPr>
          <p:cNvSpPr>
            <a:spLocks noGrp="1"/>
          </p:cNvSpPr>
          <p:nvPr>
            <p:ph idx="1"/>
          </p:nvPr>
        </p:nvSpPr>
        <p:spPr/>
        <p:txBody>
          <a:bodyPr/>
          <a:lstStyle/>
          <a:p>
            <a:r>
              <a:rPr lang="es-ES" dirty="0"/>
              <a:t>Un objeto es cualquier cosa sobre la que podemos emitir un concepto. </a:t>
            </a:r>
          </a:p>
          <a:p>
            <a:endParaRPr lang="es-ES" dirty="0"/>
          </a:p>
        </p:txBody>
      </p:sp>
      <p:pic>
        <p:nvPicPr>
          <p:cNvPr id="6" name="Imagen 5">
            <a:extLst>
              <a:ext uri="{FF2B5EF4-FFF2-40B4-BE49-F238E27FC236}">
                <a16:creationId xmlns:a16="http://schemas.microsoft.com/office/drawing/2014/main" id="{6066FF37-1F9F-7741-8494-7DA32BE257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2877185"/>
            <a:ext cx="6804248" cy="1646553"/>
          </a:xfrm>
          <a:prstGeom prst="rect">
            <a:avLst/>
          </a:prstGeom>
        </p:spPr>
      </p:pic>
    </p:spTree>
    <p:extLst>
      <p:ext uri="{BB962C8B-B14F-4D97-AF65-F5344CB8AC3E}">
        <p14:creationId xmlns:p14="http://schemas.microsoft.com/office/powerpoint/2010/main" val="849860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B8E903-7560-F24E-912B-CD73BBB9EF5D}"/>
              </a:ext>
            </a:extLst>
          </p:cNvPr>
          <p:cNvSpPr>
            <a:spLocks noGrp="1"/>
          </p:cNvSpPr>
          <p:nvPr>
            <p:ph type="title"/>
          </p:nvPr>
        </p:nvSpPr>
        <p:spPr/>
        <p:txBody>
          <a:bodyPr/>
          <a:lstStyle/>
          <a:p>
            <a:r>
              <a:rPr lang="es-ES" dirty="0"/>
              <a:t>Objetos</a:t>
            </a:r>
          </a:p>
        </p:txBody>
      </p:sp>
      <p:sp>
        <p:nvSpPr>
          <p:cNvPr id="3" name="Marcador de contenido 2">
            <a:extLst>
              <a:ext uri="{FF2B5EF4-FFF2-40B4-BE49-F238E27FC236}">
                <a16:creationId xmlns:a16="http://schemas.microsoft.com/office/drawing/2014/main" id="{B243049D-2298-544B-9528-767EBBF02830}"/>
              </a:ext>
            </a:extLst>
          </p:cNvPr>
          <p:cNvSpPr>
            <a:spLocks noGrp="1"/>
          </p:cNvSpPr>
          <p:nvPr>
            <p:ph idx="1"/>
          </p:nvPr>
        </p:nvSpPr>
        <p:spPr/>
        <p:txBody>
          <a:bodyPr/>
          <a:lstStyle/>
          <a:p>
            <a:r>
              <a:rPr lang="es-ES" dirty="0"/>
              <a:t>Podemos construir una representación de los objetos en nuestros programas. </a:t>
            </a:r>
          </a:p>
          <a:p>
            <a:endParaRPr lang="es-ES" dirty="0"/>
          </a:p>
        </p:txBody>
      </p:sp>
      <p:pic>
        <p:nvPicPr>
          <p:cNvPr id="7" name="Imagen 6">
            <a:extLst>
              <a:ext uri="{FF2B5EF4-FFF2-40B4-BE49-F238E27FC236}">
                <a16:creationId xmlns:a16="http://schemas.microsoft.com/office/drawing/2014/main" id="{FAA00AB3-F084-F54E-A316-CAF0E4BCA7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868" y="2564904"/>
            <a:ext cx="6948264" cy="1971368"/>
          </a:xfrm>
          <a:prstGeom prst="rect">
            <a:avLst/>
          </a:prstGeom>
        </p:spPr>
      </p:pic>
    </p:spTree>
    <p:extLst>
      <p:ext uri="{BB962C8B-B14F-4D97-AF65-F5344CB8AC3E}">
        <p14:creationId xmlns:p14="http://schemas.microsoft.com/office/powerpoint/2010/main" val="3394084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667FEB-29B3-4042-8E82-4C847B4B5245}"/>
              </a:ext>
            </a:extLst>
          </p:cNvPr>
          <p:cNvSpPr>
            <a:spLocks noGrp="1"/>
          </p:cNvSpPr>
          <p:nvPr>
            <p:ph type="title"/>
          </p:nvPr>
        </p:nvSpPr>
        <p:spPr/>
        <p:txBody>
          <a:bodyPr/>
          <a:lstStyle/>
          <a:p>
            <a:r>
              <a:rPr lang="es-ES" dirty="0"/>
              <a:t>Estructura y Comportamiento</a:t>
            </a:r>
          </a:p>
        </p:txBody>
      </p:sp>
      <p:sp>
        <p:nvSpPr>
          <p:cNvPr id="3" name="Marcador de contenido 2">
            <a:extLst>
              <a:ext uri="{FF2B5EF4-FFF2-40B4-BE49-F238E27FC236}">
                <a16:creationId xmlns:a16="http://schemas.microsoft.com/office/drawing/2014/main" id="{D5EF797A-571B-EE40-853B-6699A50CA137}"/>
              </a:ext>
            </a:extLst>
          </p:cNvPr>
          <p:cNvSpPr>
            <a:spLocks noGrp="1"/>
          </p:cNvSpPr>
          <p:nvPr>
            <p:ph idx="1"/>
          </p:nvPr>
        </p:nvSpPr>
        <p:spPr/>
        <p:txBody>
          <a:bodyPr/>
          <a:lstStyle/>
          <a:p>
            <a:r>
              <a:rPr lang="es-ES" dirty="0"/>
              <a:t>En general, todos los objetos tienen una estructura (como están conformado) y un comportamiento (realizan una serie de operaciones). </a:t>
            </a:r>
          </a:p>
          <a:p>
            <a:endParaRPr lang="es-ES" dirty="0"/>
          </a:p>
        </p:txBody>
      </p:sp>
      <p:pic>
        <p:nvPicPr>
          <p:cNvPr id="6" name="Imagen 5">
            <a:extLst>
              <a:ext uri="{FF2B5EF4-FFF2-40B4-BE49-F238E27FC236}">
                <a16:creationId xmlns:a16="http://schemas.microsoft.com/office/drawing/2014/main" id="{B2828DE3-E76F-534D-BB4B-DD6C30DA3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113" y="3068960"/>
            <a:ext cx="7200800" cy="1860531"/>
          </a:xfrm>
          <a:prstGeom prst="rect">
            <a:avLst/>
          </a:prstGeom>
        </p:spPr>
      </p:pic>
    </p:spTree>
    <p:extLst>
      <p:ext uri="{BB962C8B-B14F-4D97-AF65-F5344CB8AC3E}">
        <p14:creationId xmlns:p14="http://schemas.microsoft.com/office/powerpoint/2010/main" val="760284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A1885F-5DE7-D145-BF6C-53B9BC6CAE7E}"/>
              </a:ext>
            </a:extLst>
          </p:cNvPr>
          <p:cNvSpPr>
            <a:spLocks noGrp="1"/>
          </p:cNvSpPr>
          <p:nvPr>
            <p:ph type="title"/>
          </p:nvPr>
        </p:nvSpPr>
        <p:spPr/>
        <p:txBody>
          <a:bodyPr/>
          <a:lstStyle/>
          <a:p>
            <a:r>
              <a:rPr lang="es-ES" dirty="0"/>
              <a:t>Clase</a:t>
            </a:r>
          </a:p>
        </p:txBody>
      </p:sp>
      <p:sp>
        <p:nvSpPr>
          <p:cNvPr id="3" name="Marcador de contenido 2">
            <a:extLst>
              <a:ext uri="{FF2B5EF4-FFF2-40B4-BE49-F238E27FC236}">
                <a16:creationId xmlns:a16="http://schemas.microsoft.com/office/drawing/2014/main" id="{FBFDB5C5-F3D6-1542-B232-21E75F0380A8}"/>
              </a:ext>
            </a:extLst>
          </p:cNvPr>
          <p:cNvSpPr>
            <a:spLocks noGrp="1"/>
          </p:cNvSpPr>
          <p:nvPr>
            <p:ph idx="1"/>
          </p:nvPr>
        </p:nvSpPr>
        <p:spPr/>
        <p:txBody>
          <a:bodyPr/>
          <a:lstStyle/>
          <a:p>
            <a:endParaRPr lang="es-ES" dirty="0"/>
          </a:p>
          <a:p>
            <a:r>
              <a:rPr lang="es-ES" dirty="0"/>
              <a:t>Cada uno de estos elementos son un objeto. Pero todos ellos tienen algo en común; nos referimos a ellos como GLOBO. </a:t>
            </a:r>
          </a:p>
          <a:p>
            <a:endParaRPr lang="es-ES" dirty="0"/>
          </a:p>
        </p:txBody>
      </p:sp>
      <p:pic>
        <p:nvPicPr>
          <p:cNvPr id="6" name="Imagen 5">
            <a:extLst>
              <a:ext uri="{FF2B5EF4-FFF2-40B4-BE49-F238E27FC236}">
                <a16:creationId xmlns:a16="http://schemas.microsoft.com/office/drawing/2014/main" id="{B6E71E75-7329-0845-A8A9-1F9C52D4F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8431" y="3068960"/>
            <a:ext cx="3747137" cy="2964931"/>
          </a:xfrm>
          <a:prstGeom prst="rect">
            <a:avLst/>
          </a:prstGeom>
        </p:spPr>
      </p:pic>
    </p:spTree>
    <p:extLst>
      <p:ext uri="{BB962C8B-B14F-4D97-AF65-F5344CB8AC3E}">
        <p14:creationId xmlns:p14="http://schemas.microsoft.com/office/powerpoint/2010/main" val="2608080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A1885F-5DE7-D145-BF6C-53B9BC6CAE7E}"/>
              </a:ext>
            </a:extLst>
          </p:cNvPr>
          <p:cNvSpPr>
            <a:spLocks noGrp="1"/>
          </p:cNvSpPr>
          <p:nvPr>
            <p:ph type="title"/>
          </p:nvPr>
        </p:nvSpPr>
        <p:spPr/>
        <p:txBody>
          <a:bodyPr/>
          <a:lstStyle/>
          <a:p>
            <a:r>
              <a:rPr lang="es-ES" dirty="0"/>
              <a:t>Clase</a:t>
            </a:r>
          </a:p>
        </p:txBody>
      </p:sp>
      <p:sp>
        <p:nvSpPr>
          <p:cNvPr id="3" name="Marcador de contenido 2">
            <a:extLst>
              <a:ext uri="{FF2B5EF4-FFF2-40B4-BE49-F238E27FC236}">
                <a16:creationId xmlns:a16="http://schemas.microsoft.com/office/drawing/2014/main" id="{FBFDB5C5-F3D6-1542-B232-21E75F0380A8}"/>
              </a:ext>
            </a:extLst>
          </p:cNvPr>
          <p:cNvSpPr>
            <a:spLocks noGrp="1"/>
          </p:cNvSpPr>
          <p:nvPr>
            <p:ph idx="1"/>
          </p:nvPr>
        </p:nvSpPr>
        <p:spPr/>
        <p:txBody>
          <a:bodyPr/>
          <a:lstStyle/>
          <a:p>
            <a:r>
              <a:rPr lang="es-ES" dirty="0"/>
              <a:t>Una clase es un molde con el que podemos construir objetos de un tipo. </a:t>
            </a:r>
          </a:p>
          <a:p>
            <a:r>
              <a:rPr lang="es-ES" dirty="0"/>
              <a:t>El molde determina las características y el comportamiento que podrá́ tener ese objeto. </a:t>
            </a:r>
          </a:p>
          <a:p>
            <a:r>
              <a:rPr lang="es-ES" dirty="0"/>
              <a:t>A ese molde, como tal, no lo consideramos un objeto. </a:t>
            </a:r>
          </a:p>
          <a:p>
            <a:endParaRPr lang="es-ES" dirty="0"/>
          </a:p>
        </p:txBody>
      </p:sp>
      <p:pic>
        <p:nvPicPr>
          <p:cNvPr id="7" name="Imagen 6">
            <a:extLst>
              <a:ext uri="{FF2B5EF4-FFF2-40B4-BE49-F238E27FC236}">
                <a16:creationId xmlns:a16="http://schemas.microsoft.com/office/drawing/2014/main" id="{C7F422B4-BBE8-0042-B8AB-799B2894F4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193" y="3933056"/>
            <a:ext cx="7067128" cy="1331799"/>
          </a:xfrm>
          <a:prstGeom prst="rect">
            <a:avLst/>
          </a:prstGeom>
        </p:spPr>
      </p:pic>
    </p:spTree>
    <p:extLst>
      <p:ext uri="{BB962C8B-B14F-4D97-AF65-F5344CB8AC3E}">
        <p14:creationId xmlns:p14="http://schemas.microsoft.com/office/powerpoint/2010/main" val="2147241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E9656E-A7B4-FB42-90E4-C0DEE081571D}"/>
              </a:ext>
            </a:extLst>
          </p:cNvPr>
          <p:cNvSpPr>
            <a:spLocks noGrp="1"/>
          </p:cNvSpPr>
          <p:nvPr>
            <p:ph type="title"/>
          </p:nvPr>
        </p:nvSpPr>
        <p:spPr/>
        <p:txBody>
          <a:bodyPr/>
          <a:lstStyle/>
          <a:p>
            <a:r>
              <a:rPr lang="es-ES" dirty="0"/>
              <a:t>Clase vs Objetos</a:t>
            </a:r>
          </a:p>
        </p:txBody>
      </p:sp>
      <p:pic>
        <p:nvPicPr>
          <p:cNvPr id="6" name="Marcador de contenido 5">
            <a:extLst>
              <a:ext uri="{FF2B5EF4-FFF2-40B4-BE49-F238E27FC236}">
                <a16:creationId xmlns:a16="http://schemas.microsoft.com/office/drawing/2014/main" id="{8392C064-1A4A-CE43-BB01-93BFE2EFDD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4462"/>
            <a:ext cx="8229600" cy="4572000"/>
          </a:xfrm>
        </p:spPr>
      </p:pic>
    </p:spTree>
    <p:extLst>
      <p:ext uri="{BB962C8B-B14F-4D97-AF65-F5344CB8AC3E}">
        <p14:creationId xmlns:p14="http://schemas.microsoft.com/office/powerpoint/2010/main" val="3348298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53F4AE-9814-574E-B406-ABBF359F8C26}"/>
              </a:ext>
            </a:extLst>
          </p:cNvPr>
          <p:cNvSpPr>
            <a:spLocks noGrp="1"/>
          </p:cNvSpPr>
          <p:nvPr>
            <p:ph type="title"/>
          </p:nvPr>
        </p:nvSpPr>
        <p:spPr/>
        <p:txBody>
          <a:bodyPr/>
          <a:lstStyle/>
          <a:p>
            <a:r>
              <a:rPr lang="es-ES" dirty="0"/>
              <a:t>Paradigma</a:t>
            </a:r>
          </a:p>
        </p:txBody>
      </p:sp>
      <p:sp>
        <p:nvSpPr>
          <p:cNvPr id="3" name="Marcador de contenido 2">
            <a:extLst>
              <a:ext uri="{FF2B5EF4-FFF2-40B4-BE49-F238E27FC236}">
                <a16:creationId xmlns:a16="http://schemas.microsoft.com/office/drawing/2014/main" id="{D72E4D02-92D1-0E46-A2E8-9F2AF1F459F5}"/>
              </a:ext>
            </a:extLst>
          </p:cNvPr>
          <p:cNvSpPr>
            <a:spLocks noGrp="1"/>
          </p:cNvSpPr>
          <p:nvPr>
            <p:ph idx="1"/>
          </p:nvPr>
        </p:nvSpPr>
        <p:spPr/>
        <p:txBody>
          <a:bodyPr/>
          <a:lstStyle/>
          <a:p>
            <a:r>
              <a:rPr lang="es-ES" dirty="0"/>
              <a:t>Paradigma significa modelo.</a:t>
            </a:r>
          </a:p>
          <a:p>
            <a:r>
              <a:rPr lang="es-ES" dirty="0"/>
              <a:t>Es la forma en la que se entiende que hay </a:t>
            </a:r>
          </a:p>
          <a:p>
            <a:pPr marL="0" indent="0">
              <a:buNone/>
            </a:pPr>
            <a:r>
              <a:rPr lang="es-ES" dirty="0"/>
              <a:t>que estructurar un programa.</a:t>
            </a:r>
          </a:p>
          <a:p>
            <a:r>
              <a:rPr lang="es-ES" dirty="0"/>
              <a:t>Hay múltiples paradigmas</a:t>
            </a:r>
          </a:p>
          <a:p>
            <a:endParaRPr lang="es-ES" dirty="0"/>
          </a:p>
        </p:txBody>
      </p:sp>
      <p:pic>
        <p:nvPicPr>
          <p:cNvPr id="6" name="Imagen 5">
            <a:extLst>
              <a:ext uri="{FF2B5EF4-FFF2-40B4-BE49-F238E27FC236}">
                <a16:creationId xmlns:a16="http://schemas.microsoft.com/office/drawing/2014/main" id="{6BC2F666-59F7-4541-B491-365D9D0AB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675" y="3140968"/>
            <a:ext cx="8407400" cy="2857500"/>
          </a:xfrm>
          <a:prstGeom prst="rect">
            <a:avLst/>
          </a:prstGeom>
        </p:spPr>
      </p:pic>
    </p:spTree>
    <p:extLst>
      <p:ext uri="{BB962C8B-B14F-4D97-AF65-F5344CB8AC3E}">
        <p14:creationId xmlns:p14="http://schemas.microsoft.com/office/powerpoint/2010/main" val="287065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D5A46F-BFA8-D246-841D-8740E0BDB41A}"/>
              </a:ext>
            </a:extLst>
          </p:cNvPr>
          <p:cNvSpPr>
            <a:spLocks noGrp="1"/>
          </p:cNvSpPr>
          <p:nvPr>
            <p:ph type="title"/>
          </p:nvPr>
        </p:nvSpPr>
        <p:spPr/>
        <p:txBody>
          <a:bodyPr/>
          <a:lstStyle/>
          <a:p>
            <a:r>
              <a:rPr lang="es-ES" dirty="0"/>
              <a:t>Programación Orientada a Objetos</a:t>
            </a:r>
          </a:p>
        </p:txBody>
      </p:sp>
      <p:sp>
        <p:nvSpPr>
          <p:cNvPr id="3" name="Marcador de contenido 2">
            <a:extLst>
              <a:ext uri="{FF2B5EF4-FFF2-40B4-BE49-F238E27FC236}">
                <a16:creationId xmlns:a16="http://schemas.microsoft.com/office/drawing/2014/main" id="{775832B1-6DB7-D144-97DD-D03825B2363A}"/>
              </a:ext>
            </a:extLst>
          </p:cNvPr>
          <p:cNvSpPr>
            <a:spLocks noGrp="1"/>
          </p:cNvSpPr>
          <p:nvPr>
            <p:ph idx="1"/>
          </p:nvPr>
        </p:nvSpPr>
        <p:spPr/>
        <p:txBody>
          <a:bodyPr/>
          <a:lstStyle/>
          <a:p>
            <a:endParaRPr lang="es-ES" dirty="0"/>
          </a:p>
          <a:p>
            <a:r>
              <a:rPr lang="es-ES" dirty="0"/>
              <a:t>Estructura todas las partes de un programa mediante objetos. </a:t>
            </a:r>
          </a:p>
          <a:p>
            <a:endParaRPr lang="es-ES" dirty="0"/>
          </a:p>
          <a:p>
            <a:endParaRPr lang="es-ES" dirty="0"/>
          </a:p>
          <a:p>
            <a:endParaRPr lang="es-ES" dirty="0"/>
          </a:p>
          <a:p>
            <a:r>
              <a:rPr lang="es-ES" dirty="0"/>
              <a:t>Los objetos interaccionan entre ellos mediante un paso de mensajes. </a:t>
            </a:r>
          </a:p>
          <a:p>
            <a:endParaRPr lang="es-ES" dirty="0"/>
          </a:p>
          <a:p>
            <a:endParaRPr lang="es-ES" dirty="0"/>
          </a:p>
          <a:p>
            <a:endParaRPr lang="es-ES" dirty="0"/>
          </a:p>
          <a:p>
            <a:endParaRPr lang="es-ES" dirty="0"/>
          </a:p>
        </p:txBody>
      </p:sp>
    </p:spTree>
    <p:extLst>
      <p:ext uri="{BB962C8B-B14F-4D97-AF65-F5344CB8AC3E}">
        <p14:creationId xmlns:p14="http://schemas.microsoft.com/office/powerpoint/2010/main" val="1432707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83518" y="44624"/>
            <a:ext cx="7392988" cy="563563"/>
          </a:xfrm>
        </p:spPr>
        <p:txBody>
          <a:bodyPr/>
          <a:lstStyle/>
          <a:p>
            <a:r>
              <a:rPr lang="en-US" dirty="0" err="1"/>
              <a:t>Resumen</a:t>
            </a:r>
            <a:r>
              <a:rPr lang="en-US" dirty="0"/>
              <a:t> de un </a:t>
            </a:r>
            <a:r>
              <a:rPr lang="en-US" dirty="0" err="1"/>
              <a:t>Objeto</a:t>
            </a:r>
            <a:endParaRPr lang="en-US" dirty="0">
              <a:solidFill>
                <a:schemeClr val="accent1"/>
              </a:solidFill>
            </a:endParaRPr>
          </a:p>
        </p:txBody>
      </p:sp>
      <p:grpSp>
        <p:nvGrpSpPr>
          <p:cNvPr id="29" name="28 Grupo"/>
          <p:cNvGrpSpPr/>
          <p:nvPr/>
        </p:nvGrpSpPr>
        <p:grpSpPr>
          <a:xfrm>
            <a:off x="1275156" y="3681493"/>
            <a:ext cx="1692187" cy="599728"/>
            <a:chOff x="971600" y="4077072"/>
            <a:chExt cx="1440160" cy="504056"/>
          </a:xfrm>
        </p:grpSpPr>
        <p:sp>
          <p:nvSpPr>
            <p:cNvPr id="30" name="29 Flecha derecha"/>
            <p:cNvSpPr/>
            <p:nvPr/>
          </p:nvSpPr>
          <p:spPr bwMode="auto">
            <a:xfrm>
              <a:off x="971600" y="4077072"/>
              <a:ext cx="1440160" cy="504056"/>
            </a:xfrm>
            <a:prstGeom prst="rightArrow">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1" name="30 CuadroTexto"/>
            <p:cNvSpPr txBox="1"/>
            <p:nvPr/>
          </p:nvSpPr>
          <p:spPr>
            <a:xfrm>
              <a:off x="1006647" y="4173335"/>
              <a:ext cx="1116127" cy="284546"/>
            </a:xfrm>
            <a:prstGeom prst="rect">
              <a:avLst/>
            </a:prstGeom>
            <a:noFill/>
          </p:spPr>
          <p:txBody>
            <a:bodyPr wrap="none" rtlCol="0">
              <a:spAutoFit/>
            </a:bodyPr>
            <a:lstStyle/>
            <a:p>
              <a:r>
                <a:rPr lang="es-ES" sz="1600" b="1" dirty="0" err="1">
                  <a:solidFill>
                    <a:srgbClr val="FF0000"/>
                  </a:solidFill>
                </a:rPr>
                <a:t>ponerVerde</a:t>
              </a:r>
              <a:endParaRPr lang="es-ES" sz="1600" b="1" dirty="0">
                <a:solidFill>
                  <a:srgbClr val="FF0000"/>
                </a:solidFill>
              </a:endParaRPr>
            </a:p>
          </p:txBody>
        </p:sp>
      </p:grpSp>
      <p:grpSp>
        <p:nvGrpSpPr>
          <p:cNvPr id="3" name="2 Grupo"/>
          <p:cNvGrpSpPr/>
          <p:nvPr/>
        </p:nvGrpSpPr>
        <p:grpSpPr>
          <a:xfrm>
            <a:off x="3204441" y="1087438"/>
            <a:ext cx="2774092" cy="5211510"/>
            <a:chOff x="3204441" y="1087438"/>
            <a:chExt cx="2774092" cy="5211510"/>
          </a:xfrm>
        </p:grpSpPr>
        <p:sp>
          <p:nvSpPr>
            <p:cNvPr id="23" name="22 CuadroTexto"/>
            <p:cNvSpPr txBox="1"/>
            <p:nvPr/>
          </p:nvSpPr>
          <p:spPr>
            <a:xfrm>
              <a:off x="3204441" y="1087438"/>
              <a:ext cx="2774092" cy="384721"/>
            </a:xfrm>
            <a:prstGeom prst="rect">
              <a:avLst/>
            </a:prstGeom>
            <a:noFill/>
          </p:spPr>
          <p:txBody>
            <a:bodyPr wrap="square" rtlCol="0">
              <a:spAutoFit/>
            </a:bodyPr>
            <a:lstStyle/>
            <a:p>
              <a:pPr algn="ctr"/>
              <a:r>
                <a:rPr lang="es-ES" b="1" smtClean="0"/>
                <a:t>CLASE SEMÁFORO</a:t>
              </a:r>
              <a:endParaRPr lang="es-ES" b="1" dirty="0"/>
            </a:p>
          </p:txBody>
        </p:sp>
        <p:grpSp>
          <p:nvGrpSpPr>
            <p:cNvPr id="52" name="51 Grupo"/>
            <p:cNvGrpSpPr/>
            <p:nvPr/>
          </p:nvGrpSpPr>
          <p:grpSpPr>
            <a:xfrm>
              <a:off x="3214811" y="1542634"/>
              <a:ext cx="2763722" cy="4756314"/>
              <a:chOff x="1905" y="1810554"/>
              <a:chExt cx="1857374" cy="1185840"/>
            </a:xfrm>
            <a:scene3d>
              <a:camera prst="orthographicFront">
                <a:rot lat="0" lon="0" rev="0"/>
              </a:camera>
              <a:lightRig rig="contrasting" dir="t">
                <a:rot lat="0" lon="0" rev="1200000"/>
              </a:lightRig>
            </a:scene3d>
          </p:grpSpPr>
          <p:sp>
            <p:nvSpPr>
              <p:cNvPr id="53" name="52 Rectángulo"/>
              <p:cNvSpPr/>
              <p:nvPr/>
            </p:nvSpPr>
            <p:spPr>
              <a:xfrm>
                <a:off x="1905" y="1810554"/>
                <a:ext cx="1857374" cy="1185840"/>
              </a:xfrm>
              <a:prstGeom prst="rect">
                <a:avLst/>
              </a:prstGeom>
              <a:solidFill>
                <a:srgbClr val="FFDF79">
                  <a:alpha val="90000"/>
                </a:srgbClr>
              </a:solidFill>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4" name="53 Rectángulo"/>
              <p:cNvSpPr/>
              <p:nvPr/>
            </p:nvSpPr>
            <p:spPr>
              <a:xfrm>
                <a:off x="1905" y="1810554"/>
                <a:ext cx="1857374" cy="1185840"/>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grpSp>
      <p:grpSp>
        <p:nvGrpSpPr>
          <p:cNvPr id="15" name="14 Grupo"/>
          <p:cNvGrpSpPr/>
          <p:nvPr/>
        </p:nvGrpSpPr>
        <p:grpSpPr>
          <a:xfrm>
            <a:off x="3204441" y="2687927"/>
            <a:ext cx="2774092" cy="3428137"/>
            <a:chOff x="3204441" y="2687927"/>
            <a:chExt cx="2774092" cy="3428137"/>
          </a:xfrm>
        </p:grpSpPr>
        <p:grpSp>
          <p:nvGrpSpPr>
            <p:cNvPr id="55" name="54 Grupo"/>
            <p:cNvGrpSpPr/>
            <p:nvPr/>
          </p:nvGrpSpPr>
          <p:grpSpPr>
            <a:xfrm>
              <a:off x="3204441" y="2687927"/>
              <a:ext cx="2774092" cy="812211"/>
              <a:chOff x="1905" y="1304799"/>
              <a:chExt cx="1857374" cy="455007"/>
            </a:xfrm>
            <a:scene3d>
              <a:camera prst="orthographicFront">
                <a:rot lat="0" lon="0" rev="0"/>
              </a:camera>
              <a:lightRig rig="contrasting" dir="t">
                <a:rot lat="0" lon="0" rev="1200000"/>
              </a:lightRig>
            </a:scene3d>
          </p:grpSpPr>
          <p:sp>
            <p:nvSpPr>
              <p:cNvPr id="56" name="55 Rectángulo"/>
              <p:cNvSpPr/>
              <p:nvPr/>
            </p:nvSpPr>
            <p:spPr>
              <a:xfrm>
                <a:off x="1905" y="1356785"/>
                <a:ext cx="1857374" cy="397698"/>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57" name="56 Rectángulo"/>
              <p:cNvSpPr/>
              <p:nvPr/>
            </p:nvSpPr>
            <p:spPr>
              <a:xfrm>
                <a:off x="1905" y="1304799"/>
                <a:ext cx="1857374" cy="45500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Métodos</a:t>
                </a:r>
              </a:p>
              <a:p>
                <a:pPr lvl="0" algn="ctr" defTabSz="889000">
                  <a:spcBef>
                    <a:spcPct val="0"/>
                  </a:spcBef>
                  <a:spcAft>
                    <a:spcPts val="0"/>
                  </a:spcAft>
                </a:pPr>
                <a:r>
                  <a:rPr lang="es-ES" sz="1400" b="1" dirty="0"/>
                  <a:t>(acciones realizables)</a:t>
                </a:r>
                <a:endParaRPr lang="es-ES" sz="1400" b="1" kern="1200" dirty="0"/>
              </a:p>
            </p:txBody>
          </p:sp>
        </p:grpSp>
        <p:grpSp>
          <p:nvGrpSpPr>
            <p:cNvPr id="7" name="6 Grupo"/>
            <p:cNvGrpSpPr/>
            <p:nvPr/>
          </p:nvGrpSpPr>
          <p:grpSpPr>
            <a:xfrm>
              <a:off x="3499320" y="3562640"/>
              <a:ext cx="2312340" cy="2553424"/>
              <a:chOff x="3499320" y="3562640"/>
              <a:chExt cx="2312340" cy="2553424"/>
            </a:xfrm>
          </p:grpSpPr>
          <p:sp>
            <p:nvSpPr>
              <p:cNvPr id="59" name="58 CuadroTexto"/>
              <p:cNvSpPr txBox="1"/>
              <p:nvPr/>
            </p:nvSpPr>
            <p:spPr>
              <a:xfrm>
                <a:off x="3499320" y="4448136"/>
                <a:ext cx="2312340" cy="369332"/>
              </a:xfrm>
              <a:prstGeom prst="rect">
                <a:avLst/>
              </a:prstGeom>
              <a:noFill/>
            </p:spPr>
            <p:txBody>
              <a:bodyPr wrap="square" rtlCol="0">
                <a:spAutoFit/>
              </a:bodyPr>
              <a:lstStyle/>
              <a:p>
                <a:pPr algn="ctr"/>
                <a:r>
                  <a:rPr lang="es-ES" sz="1800" b="1" dirty="0" err="1"/>
                  <a:t>ponerAmarillo</a:t>
                </a:r>
                <a:endParaRPr lang="es-ES" sz="1800" b="1" dirty="0"/>
              </a:p>
            </p:txBody>
          </p:sp>
          <p:sp>
            <p:nvSpPr>
              <p:cNvPr id="60" name="59 Rectángulo"/>
              <p:cNvSpPr/>
              <p:nvPr/>
            </p:nvSpPr>
            <p:spPr bwMode="auto">
              <a:xfrm>
                <a:off x="3499320" y="4856223"/>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1" name="60 CuadroTexto"/>
              <p:cNvSpPr txBox="1"/>
              <p:nvPr/>
            </p:nvSpPr>
            <p:spPr>
              <a:xfrm>
                <a:off x="3909998" y="4880053"/>
                <a:ext cx="1490986" cy="338554"/>
              </a:xfrm>
              <a:prstGeom prst="rect">
                <a:avLst/>
              </a:prstGeom>
              <a:noFill/>
            </p:spPr>
            <p:txBody>
              <a:bodyPr wrap="none" rtlCol="0">
                <a:spAutoFit/>
              </a:bodyPr>
              <a:lstStyle/>
              <a:p>
                <a:pPr algn="ctr"/>
                <a:r>
                  <a:rPr lang="es-ES" sz="1600" dirty="0"/>
                  <a:t>luz </a:t>
                </a:r>
                <a:r>
                  <a:rPr lang="es-ES" sz="1600" dirty="0">
                    <a:sym typeface="Symbol"/>
                  </a:rPr>
                  <a:t> </a:t>
                </a:r>
                <a:r>
                  <a:rPr lang="es-ES" sz="1600" dirty="0">
                    <a:solidFill>
                      <a:srgbClr val="FFC000"/>
                    </a:solidFill>
                    <a:sym typeface="Symbol"/>
                  </a:rPr>
                  <a:t>Amarillo</a:t>
                </a:r>
                <a:endParaRPr lang="es-ES" sz="1600" dirty="0">
                  <a:solidFill>
                    <a:srgbClr val="FFC000"/>
                  </a:solidFill>
                </a:endParaRPr>
              </a:p>
            </p:txBody>
          </p:sp>
          <p:sp>
            <p:nvSpPr>
              <p:cNvPr id="66" name="65 CuadroTexto"/>
              <p:cNvSpPr txBox="1"/>
              <p:nvPr/>
            </p:nvSpPr>
            <p:spPr>
              <a:xfrm>
                <a:off x="3499320" y="3562640"/>
                <a:ext cx="2312340" cy="369332"/>
              </a:xfrm>
              <a:prstGeom prst="rect">
                <a:avLst/>
              </a:prstGeom>
              <a:noFill/>
            </p:spPr>
            <p:txBody>
              <a:bodyPr wrap="square" rtlCol="0">
                <a:spAutoFit/>
              </a:bodyPr>
              <a:lstStyle/>
              <a:p>
                <a:pPr algn="ctr"/>
                <a:r>
                  <a:rPr lang="es-ES" sz="1800" b="1" dirty="0" err="1"/>
                  <a:t>ponerVerde</a:t>
                </a:r>
                <a:endParaRPr lang="es-ES" sz="1800" b="1" dirty="0"/>
              </a:p>
            </p:txBody>
          </p:sp>
          <p:sp>
            <p:nvSpPr>
              <p:cNvPr id="67" name="66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8" name="67 CuadroTexto"/>
              <p:cNvSpPr txBox="1"/>
              <p:nvPr/>
            </p:nvSpPr>
            <p:spPr>
              <a:xfrm>
                <a:off x="4006177" y="3994557"/>
                <a:ext cx="1298625" cy="338554"/>
              </a:xfrm>
              <a:prstGeom prst="rect">
                <a:avLst/>
              </a:prstGeom>
              <a:noFill/>
            </p:spPr>
            <p:txBody>
              <a:bodyPr wrap="none" rtlCol="0">
                <a:spAutoFit/>
              </a:bodyPr>
              <a:lstStyle/>
              <a:p>
                <a:pPr algn="ctr"/>
                <a:r>
                  <a:rPr lang="es-ES" sz="1600" dirty="0"/>
                  <a:t>luz </a:t>
                </a:r>
                <a:r>
                  <a:rPr lang="es-ES" sz="1600" dirty="0">
                    <a:sym typeface="Symbol"/>
                  </a:rPr>
                  <a:t> </a:t>
                </a:r>
                <a:r>
                  <a:rPr lang="es-ES" sz="1600" dirty="0">
                    <a:solidFill>
                      <a:srgbClr val="009900"/>
                    </a:solidFill>
                    <a:sym typeface="Symbol"/>
                  </a:rPr>
                  <a:t>Verde</a:t>
                </a:r>
                <a:endParaRPr lang="es-ES" sz="1600" dirty="0">
                  <a:solidFill>
                    <a:srgbClr val="009900"/>
                  </a:solidFill>
                </a:endParaRPr>
              </a:p>
            </p:txBody>
          </p:sp>
          <p:sp>
            <p:nvSpPr>
              <p:cNvPr id="70" name="69 CuadroTexto"/>
              <p:cNvSpPr txBox="1"/>
              <p:nvPr/>
            </p:nvSpPr>
            <p:spPr>
              <a:xfrm>
                <a:off x="3499320" y="5333387"/>
                <a:ext cx="2312340" cy="369332"/>
              </a:xfrm>
              <a:prstGeom prst="rect">
                <a:avLst/>
              </a:prstGeom>
              <a:noFill/>
            </p:spPr>
            <p:txBody>
              <a:bodyPr wrap="square" rtlCol="0">
                <a:spAutoFit/>
              </a:bodyPr>
              <a:lstStyle/>
              <a:p>
                <a:pPr algn="ctr"/>
                <a:r>
                  <a:rPr lang="es-ES" sz="1800" b="1" dirty="0" err="1"/>
                  <a:t>ponerRojo</a:t>
                </a:r>
                <a:endParaRPr lang="es-ES" sz="1800" b="1" dirty="0"/>
              </a:p>
            </p:txBody>
          </p:sp>
          <p:sp>
            <p:nvSpPr>
              <p:cNvPr id="71" name="70 Rectángulo"/>
              <p:cNvSpPr/>
              <p:nvPr/>
            </p:nvSpPr>
            <p:spPr bwMode="auto">
              <a:xfrm>
                <a:off x="3499320" y="5741474"/>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2" name="71 CuadroTexto"/>
              <p:cNvSpPr txBox="1"/>
              <p:nvPr/>
            </p:nvSpPr>
            <p:spPr>
              <a:xfrm>
                <a:off x="4063820" y="5765304"/>
                <a:ext cx="1183337" cy="338554"/>
              </a:xfrm>
              <a:prstGeom prst="rect">
                <a:avLst/>
              </a:prstGeom>
              <a:noFill/>
            </p:spPr>
            <p:txBody>
              <a:bodyPr wrap="none" rtlCol="0">
                <a:spAutoFit/>
              </a:bodyPr>
              <a:lstStyle/>
              <a:p>
                <a:pPr algn="ctr"/>
                <a:r>
                  <a:rPr lang="es-ES" sz="1600" dirty="0"/>
                  <a:t>luz </a:t>
                </a:r>
                <a:r>
                  <a:rPr lang="es-ES" sz="1600" dirty="0">
                    <a:sym typeface="Symbol"/>
                  </a:rPr>
                  <a:t> </a:t>
                </a:r>
                <a:r>
                  <a:rPr lang="es-ES" sz="1600" dirty="0">
                    <a:solidFill>
                      <a:srgbClr val="FF0000"/>
                    </a:solidFill>
                    <a:sym typeface="Symbol"/>
                  </a:rPr>
                  <a:t>Rojo</a:t>
                </a:r>
                <a:endParaRPr lang="es-ES" sz="1600" dirty="0">
                  <a:solidFill>
                    <a:srgbClr val="FF0000"/>
                  </a:solidFill>
                </a:endParaRPr>
              </a:p>
            </p:txBody>
          </p:sp>
        </p:grpSp>
      </p:grpSp>
      <p:grpSp>
        <p:nvGrpSpPr>
          <p:cNvPr id="6" name="5 Grupo"/>
          <p:cNvGrpSpPr/>
          <p:nvPr/>
        </p:nvGrpSpPr>
        <p:grpSpPr>
          <a:xfrm>
            <a:off x="3204441" y="1483316"/>
            <a:ext cx="2774092" cy="1220101"/>
            <a:chOff x="3204441" y="1483316"/>
            <a:chExt cx="2774092" cy="1220101"/>
          </a:xfrm>
        </p:grpSpPr>
        <p:sp>
          <p:nvSpPr>
            <p:cNvPr id="75" name="74 CuadroTexto"/>
            <p:cNvSpPr txBox="1"/>
            <p:nvPr/>
          </p:nvSpPr>
          <p:spPr>
            <a:xfrm>
              <a:off x="3435396" y="2334085"/>
              <a:ext cx="2312340" cy="369332"/>
            </a:xfrm>
            <a:prstGeom prst="rect">
              <a:avLst/>
            </a:prstGeom>
            <a:noFill/>
          </p:spPr>
          <p:txBody>
            <a:bodyPr wrap="square" rtlCol="0">
              <a:spAutoFit/>
            </a:bodyPr>
            <a:lstStyle/>
            <a:p>
              <a:pPr algn="ctr"/>
              <a:r>
                <a:rPr lang="es-ES" sz="1800" b="1" dirty="0"/>
                <a:t>luz</a:t>
              </a:r>
            </a:p>
          </p:txBody>
        </p:sp>
        <p:grpSp>
          <p:nvGrpSpPr>
            <p:cNvPr id="77" name="76 Grupo"/>
            <p:cNvGrpSpPr/>
            <p:nvPr/>
          </p:nvGrpSpPr>
          <p:grpSpPr>
            <a:xfrm>
              <a:off x="3204441" y="1483316"/>
              <a:ext cx="2774092" cy="812211"/>
              <a:chOff x="1905" y="1304799"/>
              <a:chExt cx="1857374" cy="455007"/>
            </a:xfrm>
            <a:scene3d>
              <a:camera prst="orthographicFront">
                <a:rot lat="0" lon="0" rev="0"/>
              </a:camera>
              <a:lightRig rig="contrasting" dir="t">
                <a:rot lat="0" lon="0" rev="1200000"/>
              </a:lightRig>
            </a:scene3d>
          </p:grpSpPr>
          <p:sp>
            <p:nvSpPr>
              <p:cNvPr id="78" name="77 Rectángulo"/>
              <p:cNvSpPr/>
              <p:nvPr/>
            </p:nvSpPr>
            <p:spPr>
              <a:xfrm>
                <a:off x="1905" y="1338029"/>
                <a:ext cx="1857374" cy="397698"/>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9" name="78 Rectángulo"/>
              <p:cNvSpPr/>
              <p:nvPr/>
            </p:nvSpPr>
            <p:spPr>
              <a:xfrm>
                <a:off x="1905" y="1304799"/>
                <a:ext cx="1857374" cy="45500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Atributos</a:t>
                </a:r>
              </a:p>
              <a:p>
                <a:pPr lvl="0" algn="ctr" defTabSz="889000">
                  <a:spcBef>
                    <a:spcPct val="0"/>
                  </a:spcBef>
                  <a:spcAft>
                    <a:spcPts val="0"/>
                  </a:spcAft>
                </a:pPr>
                <a:r>
                  <a:rPr lang="es-ES" sz="1400" b="1" dirty="0"/>
                  <a:t>(conservan el Estado)</a:t>
                </a:r>
                <a:endParaRPr lang="es-ES" sz="1400" b="1" kern="1200" dirty="0"/>
              </a:p>
            </p:txBody>
          </p:sp>
        </p:grpSp>
      </p:grpSp>
      <p:grpSp>
        <p:nvGrpSpPr>
          <p:cNvPr id="18" name="17 Grupo"/>
          <p:cNvGrpSpPr/>
          <p:nvPr/>
        </p:nvGrpSpPr>
        <p:grpSpPr>
          <a:xfrm>
            <a:off x="891295" y="3016188"/>
            <a:ext cx="2312340" cy="731118"/>
            <a:chOff x="891295" y="3016188"/>
            <a:chExt cx="2312340" cy="731118"/>
          </a:xfrm>
        </p:grpSpPr>
        <p:sp>
          <p:nvSpPr>
            <p:cNvPr id="64" name="63 CuadroTexto"/>
            <p:cNvSpPr txBox="1"/>
            <p:nvPr/>
          </p:nvSpPr>
          <p:spPr>
            <a:xfrm>
              <a:off x="891295" y="3016188"/>
              <a:ext cx="2312340" cy="307777"/>
            </a:xfrm>
            <a:prstGeom prst="rect">
              <a:avLst/>
            </a:prstGeom>
            <a:noFill/>
          </p:spPr>
          <p:txBody>
            <a:bodyPr wrap="square" rtlCol="0">
              <a:spAutoFit/>
            </a:bodyPr>
            <a:lstStyle/>
            <a:p>
              <a:pPr algn="ctr"/>
              <a:r>
                <a:rPr lang="es-ES" sz="1400" b="1" i="1" dirty="0">
                  <a:solidFill>
                    <a:schemeClr val="tx1">
                      <a:lumMod val="50000"/>
                    </a:schemeClr>
                  </a:solidFill>
                </a:rPr>
                <a:t>Llamar a un método</a:t>
              </a:r>
            </a:p>
          </p:txBody>
        </p:sp>
        <p:cxnSp>
          <p:nvCxnSpPr>
            <p:cNvPr id="11" name="10 Conector recto de flecha"/>
            <p:cNvCxnSpPr/>
            <p:nvPr/>
          </p:nvCxnSpPr>
          <p:spPr bwMode="auto">
            <a:xfrm flipV="1">
              <a:off x="2047465" y="3336747"/>
              <a:ext cx="0" cy="410559"/>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grpSp>
        <p:nvGrpSpPr>
          <p:cNvPr id="19" name="18 Grupo"/>
          <p:cNvGrpSpPr/>
          <p:nvPr/>
        </p:nvGrpSpPr>
        <p:grpSpPr>
          <a:xfrm>
            <a:off x="881413" y="4195793"/>
            <a:ext cx="2312340" cy="922148"/>
            <a:chOff x="881413" y="4195793"/>
            <a:chExt cx="2312340" cy="922148"/>
          </a:xfrm>
        </p:grpSpPr>
        <p:sp>
          <p:nvSpPr>
            <p:cNvPr id="74" name="73 CuadroTexto"/>
            <p:cNvSpPr txBox="1"/>
            <p:nvPr/>
          </p:nvSpPr>
          <p:spPr>
            <a:xfrm>
              <a:off x="881413" y="4594721"/>
              <a:ext cx="2312340" cy="523220"/>
            </a:xfrm>
            <a:prstGeom prst="rect">
              <a:avLst/>
            </a:prstGeom>
            <a:noFill/>
          </p:spPr>
          <p:txBody>
            <a:bodyPr wrap="square" rtlCol="0">
              <a:spAutoFit/>
            </a:bodyPr>
            <a:lstStyle/>
            <a:p>
              <a:pPr algn="ctr"/>
              <a:r>
                <a:rPr lang="es-ES" sz="1400" b="1" i="1" dirty="0">
                  <a:solidFill>
                    <a:schemeClr val="tx1">
                      <a:lumMod val="50000"/>
                    </a:schemeClr>
                  </a:solidFill>
                </a:rPr>
                <a:t>Enviar un mensaje</a:t>
              </a:r>
            </a:p>
            <a:p>
              <a:pPr algn="ctr"/>
              <a:r>
                <a:rPr lang="es-ES" sz="1400" b="1" i="1" dirty="0">
                  <a:solidFill>
                    <a:schemeClr val="tx1">
                      <a:lumMod val="50000"/>
                    </a:schemeClr>
                  </a:solidFill>
                </a:rPr>
                <a:t>al objeto</a:t>
              </a:r>
            </a:p>
          </p:txBody>
        </p:sp>
        <p:cxnSp>
          <p:nvCxnSpPr>
            <p:cNvPr id="80" name="79 Conector recto de flecha"/>
            <p:cNvCxnSpPr/>
            <p:nvPr/>
          </p:nvCxnSpPr>
          <p:spPr bwMode="auto">
            <a:xfrm>
              <a:off x="2037583" y="4195793"/>
              <a:ext cx="0" cy="410559"/>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grpSp>
        <p:nvGrpSpPr>
          <p:cNvPr id="16" name="15 Grupo"/>
          <p:cNvGrpSpPr/>
          <p:nvPr/>
        </p:nvGrpSpPr>
        <p:grpSpPr>
          <a:xfrm>
            <a:off x="5401101" y="3579418"/>
            <a:ext cx="3041621" cy="307777"/>
            <a:chOff x="5401101" y="3579418"/>
            <a:chExt cx="3041621" cy="307777"/>
          </a:xfrm>
        </p:grpSpPr>
        <p:sp>
          <p:nvSpPr>
            <p:cNvPr id="62" name="61 CuadroTexto"/>
            <p:cNvSpPr txBox="1"/>
            <p:nvPr/>
          </p:nvSpPr>
          <p:spPr>
            <a:xfrm>
              <a:off x="6130382" y="3579418"/>
              <a:ext cx="2312340" cy="307777"/>
            </a:xfrm>
            <a:prstGeom prst="rect">
              <a:avLst/>
            </a:prstGeom>
            <a:noFill/>
          </p:spPr>
          <p:txBody>
            <a:bodyPr wrap="square" rtlCol="0">
              <a:spAutoFit/>
            </a:bodyPr>
            <a:lstStyle/>
            <a:p>
              <a:pPr algn="ctr"/>
              <a:r>
                <a:rPr lang="es-ES" sz="1400" b="1" i="1" dirty="0">
                  <a:solidFill>
                    <a:schemeClr val="tx1">
                      <a:lumMod val="50000"/>
                    </a:schemeClr>
                  </a:solidFill>
                </a:rPr>
                <a:t>nombre del método</a:t>
              </a:r>
            </a:p>
          </p:txBody>
        </p:sp>
        <p:cxnSp>
          <p:nvCxnSpPr>
            <p:cNvPr id="81" name="80 Conector recto de flecha"/>
            <p:cNvCxnSpPr/>
            <p:nvPr/>
          </p:nvCxnSpPr>
          <p:spPr bwMode="auto">
            <a:xfrm>
              <a:off x="5401101" y="3747307"/>
              <a:ext cx="899093" cy="1"/>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grpSp>
        <p:nvGrpSpPr>
          <p:cNvPr id="17" name="16 Grupo"/>
          <p:cNvGrpSpPr/>
          <p:nvPr/>
        </p:nvGrpSpPr>
        <p:grpSpPr>
          <a:xfrm>
            <a:off x="5859755" y="3926715"/>
            <a:ext cx="2520755" cy="523220"/>
            <a:chOff x="5859755" y="3926715"/>
            <a:chExt cx="2520755" cy="523220"/>
          </a:xfrm>
        </p:grpSpPr>
        <p:sp>
          <p:nvSpPr>
            <p:cNvPr id="63" name="62 CuadroTexto"/>
            <p:cNvSpPr txBox="1"/>
            <p:nvPr/>
          </p:nvSpPr>
          <p:spPr>
            <a:xfrm>
              <a:off x="6068170" y="3926715"/>
              <a:ext cx="2312340" cy="523220"/>
            </a:xfrm>
            <a:prstGeom prst="rect">
              <a:avLst/>
            </a:prstGeom>
            <a:noFill/>
          </p:spPr>
          <p:txBody>
            <a:bodyPr wrap="square" rtlCol="0">
              <a:spAutoFit/>
            </a:bodyPr>
            <a:lstStyle/>
            <a:p>
              <a:pPr algn="ctr"/>
              <a:r>
                <a:rPr lang="es-ES" sz="1400" b="1" i="1" dirty="0">
                  <a:solidFill>
                    <a:schemeClr val="tx1">
                      <a:lumMod val="50000"/>
                    </a:schemeClr>
                  </a:solidFill>
                </a:rPr>
                <a:t>instrucciones</a:t>
              </a:r>
            </a:p>
            <a:p>
              <a:pPr algn="ctr"/>
              <a:r>
                <a:rPr lang="es-ES" sz="1400" b="1" i="1" dirty="0">
                  <a:solidFill>
                    <a:schemeClr val="tx1">
                      <a:lumMod val="50000"/>
                    </a:schemeClr>
                  </a:solidFill>
                </a:rPr>
                <a:t>(cuerpo del método)</a:t>
              </a:r>
            </a:p>
          </p:txBody>
        </p:sp>
        <p:cxnSp>
          <p:nvCxnSpPr>
            <p:cNvPr id="82" name="81 Conector recto de flecha"/>
            <p:cNvCxnSpPr/>
            <p:nvPr/>
          </p:nvCxnSpPr>
          <p:spPr bwMode="auto">
            <a:xfrm>
              <a:off x="5859755" y="4152764"/>
              <a:ext cx="446027"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grpSp>
        <p:nvGrpSpPr>
          <p:cNvPr id="9" name="8 Grupo"/>
          <p:cNvGrpSpPr/>
          <p:nvPr/>
        </p:nvGrpSpPr>
        <p:grpSpPr>
          <a:xfrm>
            <a:off x="6444208" y="4941168"/>
            <a:ext cx="2232248" cy="1368152"/>
            <a:chOff x="6660232" y="4941168"/>
            <a:chExt cx="2232248" cy="1368152"/>
          </a:xfrm>
        </p:grpSpPr>
        <p:sp>
          <p:nvSpPr>
            <p:cNvPr id="2" name="1 Recortar rectángulo de esquina sencilla"/>
            <p:cNvSpPr/>
            <p:nvPr/>
          </p:nvSpPr>
          <p:spPr bwMode="auto">
            <a:xfrm>
              <a:off x="6660232" y="4941168"/>
              <a:ext cx="2232248" cy="1357780"/>
            </a:xfrm>
            <a:prstGeom prst="snip1Rect">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dirty="0">
                <a:ln>
                  <a:noFill/>
                </a:ln>
                <a:solidFill>
                  <a:schemeClr val="tx1"/>
                </a:solidFill>
                <a:effectLst/>
                <a:latin typeface="Arial" charset="0"/>
              </a:endParaRPr>
            </a:p>
          </p:txBody>
        </p:sp>
        <p:sp>
          <p:nvSpPr>
            <p:cNvPr id="4" name="3 CuadroTexto"/>
            <p:cNvSpPr txBox="1"/>
            <p:nvPr/>
          </p:nvSpPr>
          <p:spPr>
            <a:xfrm>
              <a:off x="7350700" y="4941168"/>
              <a:ext cx="749692" cy="338554"/>
            </a:xfrm>
            <a:prstGeom prst="rect">
              <a:avLst/>
            </a:prstGeom>
            <a:noFill/>
          </p:spPr>
          <p:txBody>
            <a:bodyPr wrap="none" rtlCol="0">
              <a:spAutoFit/>
            </a:bodyPr>
            <a:lstStyle/>
            <a:p>
              <a:r>
                <a:rPr lang="es-ES" sz="1600" b="1" dirty="0">
                  <a:solidFill>
                    <a:srgbClr val="0070C0"/>
                  </a:solidFill>
                </a:rPr>
                <a:t>NOTA</a:t>
              </a:r>
            </a:p>
          </p:txBody>
        </p:sp>
        <p:sp>
          <p:nvSpPr>
            <p:cNvPr id="8" name="7 CuadroTexto"/>
            <p:cNvSpPr txBox="1"/>
            <p:nvPr/>
          </p:nvSpPr>
          <p:spPr>
            <a:xfrm>
              <a:off x="6660232" y="5232102"/>
              <a:ext cx="2232248" cy="1077218"/>
            </a:xfrm>
            <a:prstGeom prst="rect">
              <a:avLst/>
            </a:prstGeom>
            <a:noFill/>
          </p:spPr>
          <p:txBody>
            <a:bodyPr wrap="square" rtlCol="0">
              <a:spAutoFit/>
            </a:bodyPr>
            <a:lstStyle/>
            <a:p>
              <a:pPr algn="ctr"/>
              <a:r>
                <a:rPr lang="es-ES" sz="1600" dirty="0"/>
                <a:t>A los </a:t>
              </a:r>
              <a:r>
                <a:rPr lang="es-ES" sz="1600" u="sng" dirty="0"/>
                <a:t>Atributos</a:t>
              </a:r>
              <a:r>
                <a:rPr lang="es-ES" sz="1600" dirty="0"/>
                <a:t> y a los</a:t>
              </a:r>
            </a:p>
            <a:p>
              <a:pPr algn="ctr"/>
              <a:r>
                <a:rPr lang="es-ES" sz="1600" u="sng" dirty="0"/>
                <a:t>Métodos</a:t>
              </a:r>
              <a:r>
                <a:rPr lang="es-ES" sz="1600" dirty="0"/>
                <a:t> de un objeto</a:t>
              </a:r>
            </a:p>
            <a:p>
              <a:pPr algn="ctr"/>
              <a:r>
                <a:rPr lang="es-ES" sz="1600" dirty="0"/>
                <a:t>se les puede llamar «</a:t>
              </a:r>
              <a:r>
                <a:rPr lang="es-ES" sz="1600" b="1" dirty="0"/>
                <a:t>Miembros</a:t>
              </a:r>
              <a:r>
                <a:rPr lang="es-ES" sz="1600" dirty="0"/>
                <a:t>»</a:t>
              </a:r>
            </a:p>
          </p:txBody>
        </p:sp>
      </p:grpSp>
      <p:grpSp>
        <p:nvGrpSpPr>
          <p:cNvPr id="10" name="9 Grupo"/>
          <p:cNvGrpSpPr/>
          <p:nvPr/>
        </p:nvGrpSpPr>
        <p:grpSpPr>
          <a:xfrm>
            <a:off x="6444208" y="1611451"/>
            <a:ext cx="2232248" cy="1169275"/>
            <a:chOff x="6624228" y="1611451"/>
            <a:chExt cx="2232248" cy="1169275"/>
          </a:xfrm>
        </p:grpSpPr>
        <p:sp>
          <p:nvSpPr>
            <p:cNvPr id="48" name="47 Recortar rectángulo de esquina sencilla"/>
            <p:cNvSpPr/>
            <p:nvPr/>
          </p:nvSpPr>
          <p:spPr bwMode="auto">
            <a:xfrm>
              <a:off x="6624228" y="1611452"/>
              <a:ext cx="2232248" cy="1169274"/>
            </a:xfrm>
            <a:prstGeom prst="snip1Rect">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dirty="0">
                <a:ln>
                  <a:noFill/>
                </a:ln>
                <a:solidFill>
                  <a:schemeClr val="tx1"/>
                </a:solidFill>
                <a:effectLst/>
                <a:latin typeface="Arial" charset="0"/>
              </a:endParaRPr>
            </a:p>
          </p:txBody>
        </p:sp>
        <p:sp>
          <p:nvSpPr>
            <p:cNvPr id="49" name="48 CuadroTexto"/>
            <p:cNvSpPr txBox="1"/>
            <p:nvPr/>
          </p:nvSpPr>
          <p:spPr>
            <a:xfrm>
              <a:off x="7314696" y="1611451"/>
              <a:ext cx="749692" cy="338554"/>
            </a:xfrm>
            <a:prstGeom prst="rect">
              <a:avLst/>
            </a:prstGeom>
            <a:noFill/>
          </p:spPr>
          <p:txBody>
            <a:bodyPr wrap="none" rtlCol="0">
              <a:spAutoFit/>
            </a:bodyPr>
            <a:lstStyle/>
            <a:p>
              <a:r>
                <a:rPr lang="es-ES" sz="1600" b="1" dirty="0">
                  <a:solidFill>
                    <a:srgbClr val="0070C0"/>
                  </a:solidFill>
                </a:rPr>
                <a:t>NOTA</a:t>
              </a:r>
            </a:p>
          </p:txBody>
        </p:sp>
        <p:sp>
          <p:nvSpPr>
            <p:cNvPr id="50" name="49 CuadroTexto"/>
            <p:cNvSpPr txBox="1"/>
            <p:nvPr/>
          </p:nvSpPr>
          <p:spPr>
            <a:xfrm>
              <a:off x="6624228" y="1902385"/>
              <a:ext cx="2232248" cy="830997"/>
            </a:xfrm>
            <a:prstGeom prst="rect">
              <a:avLst/>
            </a:prstGeom>
            <a:noFill/>
          </p:spPr>
          <p:txBody>
            <a:bodyPr wrap="square" rtlCol="0">
              <a:spAutoFit/>
            </a:bodyPr>
            <a:lstStyle/>
            <a:p>
              <a:pPr algn="ctr"/>
              <a:r>
                <a:rPr lang="es-ES" sz="1600" dirty="0"/>
                <a:t>A los </a:t>
              </a:r>
              <a:r>
                <a:rPr lang="es-ES" sz="1600" u="sng" dirty="0"/>
                <a:t>Atributos</a:t>
              </a:r>
              <a:r>
                <a:rPr lang="es-ES" sz="1600" dirty="0"/>
                <a:t> también se les conoce como «</a:t>
              </a:r>
              <a:r>
                <a:rPr lang="es-ES" sz="1600" b="1" dirty="0"/>
                <a:t>Propiedades</a:t>
              </a:r>
              <a:r>
                <a:rPr lang="es-ES" sz="1600" dirty="0"/>
                <a:t>»</a:t>
              </a:r>
            </a:p>
          </p:txBody>
        </p:sp>
      </p:grpSp>
    </p:spTree>
    <p:extLst>
      <p:ext uri="{BB962C8B-B14F-4D97-AF65-F5344CB8AC3E}">
        <p14:creationId xmlns:p14="http://schemas.microsoft.com/office/powerpoint/2010/main" val="417184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83518" y="44624"/>
            <a:ext cx="7392988" cy="563563"/>
          </a:xfrm>
        </p:spPr>
        <p:txBody>
          <a:bodyPr/>
          <a:lstStyle/>
          <a:p>
            <a:r>
              <a:rPr lang="en-US" dirty="0" err="1"/>
              <a:t>Métodos</a:t>
            </a:r>
            <a:r>
              <a:rPr lang="en-US" dirty="0"/>
              <a:t> </a:t>
            </a:r>
            <a:r>
              <a:rPr lang="en-US" dirty="0" err="1"/>
              <a:t>Constructores</a:t>
            </a:r>
            <a:endParaRPr lang="en-US" dirty="0">
              <a:solidFill>
                <a:schemeClr val="accent1"/>
              </a:solidFill>
            </a:endParaRPr>
          </a:p>
        </p:txBody>
      </p:sp>
      <p:sp>
        <p:nvSpPr>
          <p:cNvPr id="38" name="37 Rectángulo"/>
          <p:cNvSpPr/>
          <p:nvPr/>
        </p:nvSpPr>
        <p:spPr>
          <a:xfrm>
            <a:off x="4422830" y="2057062"/>
            <a:ext cx="4214252" cy="4756314"/>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39" name="38 Grupo"/>
          <p:cNvGrpSpPr/>
          <p:nvPr/>
        </p:nvGrpSpPr>
        <p:grpSpPr>
          <a:xfrm>
            <a:off x="4422829" y="1941513"/>
            <a:ext cx="4230065" cy="3144533"/>
            <a:chOff x="4422829" y="1495156"/>
            <a:chExt cx="4230065" cy="3950068"/>
          </a:xfrm>
        </p:grpSpPr>
        <p:sp>
          <p:nvSpPr>
            <p:cNvPr id="41" name="40 Rectángulo"/>
            <p:cNvSpPr/>
            <p:nvPr/>
          </p:nvSpPr>
          <p:spPr>
            <a:xfrm>
              <a:off x="4422830" y="1495156"/>
              <a:ext cx="4214252" cy="3950068"/>
            </a:xfrm>
            <a:prstGeom prst="rect">
              <a:avLst/>
            </a:prstGeom>
            <a:solidFill>
              <a:srgbClr val="FFDF79">
                <a:alpha val="89020"/>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43" name="42 Rectángulo"/>
            <p:cNvSpPr/>
            <p:nvPr/>
          </p:nvSpPr>
          <p:spPr>
            <a:xfrm>
              <a:off x="4422829" y="2201789"/>
              <a:ext cx="4230065" cy="108030"/>
            </a:xfrm>
            <a:prstGeom prst="rect">
              <a:avLst/>
            </a:prstGeom>
            <a:solidFill>
              <a:srgbClr val="C00000">
                <a:alpha val="63137"/>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grpSp>
      <p:sp>
        <p:nvSpPr>
          <p:cNvPr id="44" name="43 CuadroTexto"/>
          <p:cNvSpPr txBox="1"/>
          <p:nvPr/>
        </p:nvSpPr>
        <p:spPr>
          <a:xfrm>
            <a:off x="4454690" y="1959733"/>
            <a:ext cx="4101274" cy="353943"/>
          </a:xfrm>
          <a:prstGeom prst="rect">
            <a:avLst/>
          </a:prstGeom>
          <a:noFill/>
        </p:spPr>
        <p:txBody>
          <a:bodyPr wrap="square" rtlCol="0">
            <a:spAutoFit/>
          </a:bodyPr>
          <a:lstStyle/>
          <a:p>
            <a:pPr algn="ctr"/>
            <a:r>
              <a:rPr lang="es-ES" sz="1700" b="1" i="1" dirty="0">
                <a:solidFill>
                  <a:schemeClr val="tx1">
                    <a:lumMod val="60000"/>
                    <a:lumOff val="40000"/>
                  </a:schemeClr>
                </a:solidFill>
              </a:rPr>
              <a:t>luz</a:t>
            </a:r>
            <a:endParaRPr lang="es-ES" sz="1700" b="1" dirty="0"/>
          </a:p>
        </p:txBody>
      </p:sp>
      <p:grpSp>
        <p:nvGrpSpPr>
          <p:cNvPr id="46" name="45 Grupo"/>
          <p:cNvGrpSpPr/>
          <p:nvPr/>
        </p:nvGrpSpPr>
        <p:grpSpPr>
          <a:xfrm>
            <a:off x="4808129" y="3608193"/>
            <a:ext cx="3525963" cy="627204"/>
            <a:chOff x="3499320" y="3652119"/>
            <a:chExt cx="2312340" cy="627204"/>
          </a:xfrm>
        </p:grpSpPr>
        <p:sp>
          <p:nvSpPr>
            <p:cNvPr id="47" name="46 CuadroTexto"/>
            <p:cNvSpPr txBox="1"/>
            <p:nvPr/>
          </p:nvSpPr>
          <p:spPr>
            <a:xfrm>
              <a:off x="3499320" y="3652119"/>
              <a:ext cx="2312340" cy="353943"/>
            </a:xfrm>
            <a:prstGeom prst="rect">
              <a:avLst/>
            </a:prstGeom>
            <a:noFill/>
          </p:spPr>
          <p:txBody>
            <a:bodyPr wrap="square" rtlCol="0">
              <a:spAutoFit/>
            </a:bodyPr>
            <a:lstStyle/>
            <a:p>
              <a:pPr algn="ctr"/>
              <a:r>
                <a:rPr lang="es-ES" sz="1700" b="1" i="1" dirty="0" err="1">
                  <a:solidFill>
                    <a:schemeClr val="tx1">
                      <a:lumMod val="60000"/>
                      <a:lumOff val="40000"/>
                    </a:schemeClr>
                  </a:solidFill>
                </a:rPr>
                <a:t>Semaforo</a:t>
              </a:r>
              <a:r>
                <a:rPr lang="es-ES" sz="1700" b="1" i="1" dirty="0">
                  <a:solidFill>
                    <a:schemeClr val="tx1">
                      <a:lumMod val="60000"/>
                      <a:lumOff val="40000"/>
                    </a:schemeClr>
                  </a:solidFill>
                </a:rPr>
                <a:t>(</a:t>
              </a:r>
              <a:r>
                <a:rPr lang="es-ES" sz="1700" b="1" i="1" dirty="0" err="1">
                  <a:solidFill>
                    <a:schemeClr val="tx1">
                      <a:lumMod val="60000"/>
                      <a:lumOff val="40000"/>
                    </a:schemeClr>
                  </a:solidFill>
                </a:rPr>
                <a:t>String</a:t>
              </a:r>
              <a:r>
                <a:rPr lang="es-ES" sz="1700" b="1" i="1" dirty="0">
                  <a:solidFill>
                    <a:schemeClr val="tx1">
                      <a:lumMod val="60000"/>
                      <a:lumOff val="40000"/>
                    </a:schemeClr>
                  </a:solidFill>
                </a:rPr>
                <a:t> l</a:t>
              </a:r>
              <a:r>
                <a:rPr lang="es-ES" sz="1700" b="1" dirty="0"/>
                <a:t>)</a:t>
              </a:r>
            </a:p>
          </p:txBody>
        </p:sp>
        <p:sp>
          <p:nvSpPr>
            <p:cNvPr id="48" name="47 Rectángulo"/>
            <p:cNvSpPr/>
            <p:nvPr/>
          </p:nvSpPr>
          <p:spPr bwMode="auto">
            <a:xfrm>
              <a:off x="3499320" y="3970727"/>
              <a:ext cx="2312340" cy="28632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9" name="48 CuadroTexto"/>
            <p:cNvSpPr txBox="1"/>
            <p:nvPr/>
          </p:nvSpPr>
          <p:spPr>
            <a:xfrm>
              <a:off x="4424116" y="3940769"/>
              <a:ext cx="462762" cy="338554"/>
            </a:xfrm>
            <a:prstGeom prst="rect">
              <a:avLst/>
            </a:prstGeom>
            <a:noFill/>
          </p:spPr>
          <p:txBody>
            <a:bodyPr wrap="none" rtlCol="0">
              <a:spAutoFit/>
            </a:bodyPr>
            <a:lstStyle/>
            <a:p>
              <a:pPr algn="ctr"/>
              <a:r>
                <a:rPr lang="es-ES" sz="1600" b="1" dirty="0"/>
                <a:t>luz=l</a:t>
              </a:r>
              <a:r>
                <a:rPr lang="es-ES" sz="1600" dirty="0"/>
                <a:t>;</a:t>
              </a:r>
              <a:endParaRPr lang="es-ES" sz="1600" dirty="0">
                <a:solidFill>
                  <a:srgbClr val="00B050"/>
                </a:solidFill>
              </a:endParaRPr>
            </a:p>
          </p:txBody>
        </p:sp>
      </p:grpSp>
      <p:grpSp>
        <p:nvGrpSpPr>
          <p:cNvPr id="97" name="96 Grupo"/>
          <p:cNvGrpSpPr/>
          <p:nvPr/>
        </p:nvGrpSpPr>
        <p:grpSpPr>
          <a:xfrm>
            <a:off x="467545" y="1892349"/>
            <a:ext cx="3456388" cy="3193697"/>
            <a:chOff x="467545" y="2578876"/>
            <a:chExt cx="3456388" cy="3586428"/>
          </a:xfrm>
        </p:grpSpPr>
        <p:grpSp>
          <p:nvGrpSpPr>
            <p:cNvPr id="98" name="97 Grupo"/>
            <p:cNvGrpSpPr/>
            <p:nvPr/>
          </p:nvGrpSpPr>
          <p:grpSpPr>
            <a:xfrm>
              <a:off x="467545" y="2580866"/>
              <a:ext cx="3456386" cy="3584438"/>
              <a:chOff x="693938" y="3212002"/>
              <a:chExt cx="2763722" cy="4121506"/>
            </a:xfrm>
          </p:grpSpPr>
          <p:grpSp>
            <p:nvGrpSpPr>
              <p:cNvPr id="102" name="101 Grupo"/>
              <p:cNvGrpSpPr/>
              <p:nvPr/>
            </p:nvGrpSpPr>
            <p:grpSpPr>
              <a:xfrm>
                <a:off x="693938" y="3212002"/>
                <a:ext cx="2763722" cy="4121506"/>
                <a:chOff x="1905" y="1810553"/>
                <a:chExt cx="1857374" cy="2120154"/>
              </a:xfrm>
              <a:scene3d>
                <a:camera prst="orthographicFront">
                  <a:rot lat="0" lon="0" rev="0"/>
                </a:camera>
                <a:lightRig rig="contrasting" dir="t">
                  <a:rot lat="0" lon="0" rev="1200000"/>
                </a:lightRig>
              </a:scene3d>
            </p:grpSpPr>
            <p:sp>
              <p:nvSpPr>
                <p:cNvPr id="104" name="103 Rectángulo"/>
                <p:cNvSpPr/>
                <p:nvPr/>
              </p:nvSpPr>
              <p:spPr>
                <a:xfrm>
                  <a:off x="1905" y="1810553"/>
                  <a:ext cx="1857374" cy="2120154"/>
                </a:xfrm>
                <a:prstGeom prst="rect">
                  <a:avLst/>
                </a:prstGeom>
                <a:solidFill>
                  <a:srgbClr val="FFDF79">
                    <a:alpha val="90000"/>
                  </a:srgbClr>
                </a:solidFill>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05" name="104 Rectángulo"/>
                <p:cNvSpPr/>
                <p:nvPr/>
              </p:nvSpPr>
              <p:spPr>
                <a:xfrm>
                  <a:off x="1905" y="1863667"/>
                  <a:ext cx="1857374" cy="1132727"/>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sp>
            <p:nvSpPr>
              <p:cNvPr id="103" name="102 Rectángulo"/>
              <p:cNvSpPr/>
              <p:nvPr/>
            </p:nvSpPr>
            <p:spPr bwMode="auto">
              <a:xfrm>
                <a:off x="839118" y="4052429"/>
                <a:ext cx="2480352" cy="29498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99" name="98 CuadroTexto"/>
            <p:cNvSpPr txBox="1"/>
            <p:nvPr/>
          </p:nvSpPr>
          <p:spPr>
            <a:xfrm>
              <a:off x="873529" y="2828255"/>
              <a:ext cx="2690359" cy="384721"/>
            </a:xfrm>
            <a:prstGeom prst="rect">
              <a:avLst/>
            </a:prstGeom>
            <a:noFill/>
          </p:spPr>
          <p:txBody>
            <a:bodyPr wrap="square" rtlCol="0">
              <a:spAutoFit/>
            </a:bodyPr>
            <a:lstStyle/>
            <a:p>
              <a:pPr algn="ctr"/>
              <a:r>
                <a:rPr lang="es-ES" b="1" i="1" dirty="0" err="1">
                  <a:solidFill>
                    <a:schemeClr val="tx1">
                      <a:lumMod val="60000"/>
                      <a:lumOff val="40000"/>
                    </a:schemeClr>
                  </a:solidFill>
                </a:rPr>
                <a:t>public</a:t>
              </a:r>
              <a:r>
                <a:rPr lang="es-ES" b="1" i="1" dirty="0">
                  <a:solidFill>
                    <a:schemeClr val="tx1">
                      <a:lumMod val="60000"/>
                      <a:lumOff val="40000"/>
                    </a:schemeClr>
                  </a:solidFill>
                </a:rPr>
                <a:t> </a:t>
              </a:r>
              <a:r>
                <a:rPr lang="es-ES" b="1" i="1" dirty="0" err="1">
                  <a:solidFill>
                    <a:schemeClr val="tx1">
                      <a:lumMod val="60000"/>
                      <a:lumOff val="40000"/>
                    </a:schemeClr>
                  </a:solidFill>
                </a:rPr>
                <a:t>static</a:t>
              </a:r>
              <a:r>
                <a:rPr lang="es-ES" b="1" dirty="0">
                  <a:solidFill>
                    <a:schemeClr val="tx1">
                      <a:lumMod val="60000"/>
                      <a:lumOff val="40000"/>
                    </a:schemeClr>
                  </a:solidFill>
                </a:rPr>
                <a:t> </a:t>
              </a:r>
              <a:r>
                <a:rPr lang="es-ES" b="1" dirty="0" err="1"/>
                <a:t>main</a:t>
              </a:r>
              <a:endParaRPr lang="es-ES" b="1" dirty="0"/>
            </a:p>
          </p:txBody>
        </p:sp>
        <p:sp>
          <p:nvSpPr>
            <p:cNvPr id="100" name="99 Rectángulo"/>
            <p:cNvSpPr/>
            <p:nvPr/>
          </p:nvSpPr>
          <p:spPr>
            <a:xfrm>
              <a:off x="467545" y="2578876"/>
              <a:ext cx="3456388" cy="112391"/>
            </a:xfrm>
            <a:prstGeom prst="rect">
              <a:avLst/>
            </a:prstGeom>
            <a:solidFill>
              <a:srgbClr val="C00000">
                <a:alpha val="63137"/>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grpSp>
      <p:sp>
        <p:nvSpPr>
          <p:cNvPr id="107" name="106 CuadroTexto"/>
          <p:cNvSpPr txBox="1"/>
          <p:nvPr/>
        </p:nvSpPr>
        <p:spPr>
          <a:xfrm>
            <a:off x="711099" y="3074378"/>
            <a:ext cx="1398140" cy="307777"/>
          </a:xfrm>
          <a:prstGeom prst="rect">
            <a:avLst/>
          </a:prstGeom>
          <a:noFill/>
        </p:spPr>
        <p:txBody>
          <a:bodyPr wrap="none" rtlCol="0">
            <a:spAutoFit/>
          </a:bodyPr>
          <a:lstStyle/>
          <a:p>
            <a:r>
              <a:rPr lang="es-ES" sz="1400" dirty="0" err="1">
                <a:solidFill>
                  <a:schemeClr val="tx1">
                    <a:lumMod val="60000"/>
                    <a:lumOff val="40000"/>
                  </a:schemeClr>
                </a:solidFill>
              </a:rPr>
              <a:t>Semaforo</a:t>
            </a:r>
            <a:r>
              <a:rPr lang="es-ES" sz="1400" dirty="0">
                <a:solidFill>
                  <a:schemeClr val="tx1">
                    <a:lumMod val="60000"/>
                    <a:lumOff val="40000"/>
                  </a:schemeClr>
                </a:solidFill>
              </a:rPr>
              <a:t> </a:t>
            </a:r>
            <a:r>
              <a:rPr lang="es-ES" sz="1400" dirty="0" err="1">
                <a:solidFill>
                  <a:schemeClr val="tx1">
                    <a:lumMod val="60000"/>
                    <a:lumOff val="40000"/>
                  </a:schemeClr>
                </a:solidFill>
              </a:rPr>
              <a:t>sem</a:t>
            </a:r>
            <a:r>
              <a:rPr lang="es-ES" sz="1400" dirty="0"/>
              <a:t>;</a:t>
            </a:r>
            <a:endParaRPr lang="es-ES" sz="1400" dirty="0">
              <a:solidFill>
                <a:srgbClr val="FF0000"/>
              </a:solidFill>
            </a:endParaRPr>
          </a:p>
        </p:txBody>
      </p:sp>
      <p:sp>
        <p:nvSpPr>
          <p:cNvPr id="108" name="107 CuadroTexto"/>
          <p:cNvSpPr txBox="1"/>
          <p:nvPr/>
        </p:nvSpPr>
        <p:spPr>
          <a:xfrm>
            <a:off x="711099" y="3307876"/>
            <a:ext cx="2020105" cy="307777"/>
          </a:xfrm>
          <a:prstGeom prst="rect">
            <a:avLst/>
          </a:prstGeom>
          <a:noFill/>
        </p:spPr>
        <p:txBody>
          <a:bodyPr wrap="none" rtlCol="0">
            <a:spAutoFit/>
          </a:bodyPr>
          <a:lstStyle/>
          <a:p>
            <a:r>
              <a:rPr lang="es-ES" sz="1400" b="1" dirty="0" err="1"/>
              <a:t>sem</a:t>
            </a:r>
            <a:r>
              <a:rPr lang="es-ES" sz="1400" dirty="0"/>
              <a:t>= new </a:t>
            </a:r>
            <a:r>
              <a:rPr lang="es-ES" sz="1400" dirty="0" err="1">
                <a:solidFill>
                  <a:schemeClr val="tx1">
                    <a:lumMod val="60000"/>
                    <a:lumOff val="40000"/>
                  </a:schemeClr>
                </a:solidFill>
              </a:rPr>
              <a:t>Semaforo</a:t>
            </a:r>
            <a:r>
              <a:rPr lang="es-ES" sz="1400" dirty="0"/>
              <a:t>();</a:t>
            </a:r>
          </a:p>
        </p:txBody>
      </p:sp>
      <p:sp>
        <p:nvSpPr>
          <p:cNvPr id="114" name="113 CuadroTexto"/>
          <p:cNvSpPr txBox="1"/>
          <p:nvPr/>
        </p:nvSpPr>
        <p:spPr>
          <a:xfrm>
            <a:off x="4809403" y="1556792"/>
            <a:ext cx="3435005" cy="384721"/>
          </a:xfrm>
          <a:prstGeom prst="rect">
            <a:avLst/>
          </a:prstGeom>
          <a:noFill/>
        </p:spPr>
        <p:txBody>
          <a:bodyPr wrap="square" rtlCol="0">
            <a:spAutoFit/>
          </a:bodyPr>
          <a:lstStyle/>
          <a:p>
            <a:pPr algn="ctr"/>
            <a:r>
              <a:rPr lang="es-ES" b="1" dirty="0"/>
              <a:t>Semáforo</a:t>
            </a:r>
          </a:p>
        </p:txBody>
      </p:sp>
      <p:sp>
        <p:nvSpPr>
          <p:cNvPr id="115" name="114 CuadroTexto"/>
          <p:cNvSpPr txBox="1"/>
          <p:nvPr/>
        </p:nvSpPr>
        <p:spPr>
          <a:xfrm>
            <a:off x="454844" y="1517033"/>
            <a:ext cx="3435005" cy="384721"/>
          </a:xfrm>
          <a:prstGeom prst="rect">
            <a:avLst/>
          </a:prstGeom>
          <a:noFill/>
        </p:spPr>
        <p:txBody>
          <a:bodyPr wrap="square" rtlCol="0">
            <a:spAutoFit/>
          </a:bodyPr>
          <a:lstStyle/>
          <a:p>
            <a:pPr algn="ctr"/>
            <a:r>
              <a:rPr lang="es-ES" b="1" dirty="0"/>
              <a:t>Test</a:t>
            </a:r>
          </a:p>
        </p:txBody>
      </p:sp>
      <p:sp>
        <p:nvSpPr>
          <p:cNvPr id="116" name="115 CuadroTexto"/>
          <p:cNvSpPr txBox="1"/>
          <p:nvPr/>
        </p:nvSpPr>
        <p:spPr>
          <a:xfrm>
            <a:off x="2265013" y="807676"/>
            <a:ext cx="4827267" cy="677108"/>
          </a:xfrm>
          <a:prstGeom prst="rect">
            <a:avLst/>
          </a:prstGeom>
          <a:noFill/>
        </p:spPr>
        <p:txBody>
          <a:bodyPr wrap="square" rtlCol="0">
            <a:spAutoFit/>
          </a:bodyPr>
          <a:lstStyle/>
          <a:p>
            <a:pPr algn="ctr"/>
            <a:r>
              <a:rPr lang="es-ES" b="1" dirty="0"/>
              <a:t>Son aquellos que se ejecutan automáticamente al crear un objeto</a:t>
            </a:r>
          </a:p>
        </p:txBody>
      </p:sp>
      <p:grpSp>
        <p:nvGrpSpPr>
          <p:cNvPr id="117" name="116 Grupo"/>
          <p:cNvGrpSpPr/>
          <p:nvPr/>
        </p:nvGrpSpPr>
        <p:grpSpPr>
          <a:xfrm>
            <a:off x="4623806" y="2888113"/>
            <a:ext cx="3903633" cy="627204"/>
            <a:chOff x="3375500" y="3652119"/>
            <a:chExt cx="2560017" cy="627204"/>
          </a:xfrm>
        </p:grpSpPr>
        <p:sp>
          <p:nvSpPr>
            <p:cNvPr id="118" name="117 CuadroTexto"/>
            <p:cNvSpPr txBox="1"/>
            <p:nvPr/>
          </p:nvSpPr>
          <p:spPr>
            <a:xfrm>
              <a:off x="3499320" y="3652119"/>
              <a:ext cx="2312340" cy="353943"/>
            </a:xfrm>
            <a:prstGeom prst="rect">
              <a:avLst/>
            </a:prstGeom>
            <a:noFill/>
          </p:spPr>
          <p:txBody>
            <a:bodyPr wrap="square" rtlCol="0">
              <a:spAutoFit/>
            </a:bodyPr>
            <a:lstStyle/>
            <a:p>
              <a:pPr algn="ctr"/>
              <a:r>
                <a:rPr lang="es-ES" sz="1700" b="1" i="1" dirty="0" err="1">
                  <a:solidFill>
                    <a:schemeClr val="tx1">
                      <a:lumMod val="60000"/>
                      <a:lumOff val="40000"/>
                    </a:schemeClr>
                  </a:solidFill>
                </a:rPr>
                <a:t>Semaforo</a:t>
              </a:r>
              <a:r>
                <a:rPr lang="es-ES" sz="1700" b="1" dirty="0"/>
                <a:t>()</a:t>
              </a:r>
            </a:p>
          </p:txBody>
        </p:sp>
        <p:sp>
          <p:nvSpPr>
            <p:cNvPr id="119" name="118 Rectángulo"/>
            <p:cNvSpPr/>
            <p:nvPr/>
          </p:nvSpPr>
          <p:spPr bwMode="auto">
            <a:xfrm>
              <a:off x="3499320" y="3970727"/>
              <a:ext cx="2312340" cy="28632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20" name="119 CuadroTexto"/>
            <p:cNvSpPr txBox="1"/>
            <p:nvPr/>
          </p:nvSpPr>
          <p:spPr>
            <a:xfrm>
              <a:off x="3375500" y="3940769"/>
              <a:ext cx="2560017" cy="338554"/>
            </a:xfrm>
            <a:prstGeom prst="rect">
              <a:avLst/>
            </a:prstGeom>
            <a:noFill/>
          </p:spPr>
          <p:txBody>
            <a:bodyPr wrap="none" rtlCol="0">
              <a:spAutoFit/>
            </a:bodyPr>
            <a:lstStyle/>
            <a:p>
              <a:pPr algn="ctr"/>
              <a:r>
                <a:rPr lang="es-ES" sz="1600" b="1" dirty="0"/>
                <a:t>…</a:t>
              </a:r>
              <a:r>
                <a:rPr lang="es-ES" sz="1600" b="1" dirty="0" err="1"/>
                <a:t>println</a:t>
              </a:r>
              <a:r>
                <a:rPr lang="es-ES" sz="1600" b="1" dirty="0"/>
                <a:t>( </a:t>
              </a:r>
              <a:r>
                <a:rPr lang="es-ES" sz="1600" b="1" dirty="0">
                  <a:solidFill>
                    <a:srgbClr val="009900"/>
                  </a:solidFill>
                </a:rPr>
                <a:t>”Creado nuevo semáforo”</a:t>
              </a:r>
              <a:r>
                <a:rPr lang="es-ES" sz="1600" b="1" dirty="0"/>
                <a:t> );</a:t>
              </a:r>
              <a:endParaRPr lang="es-ES" sz="1600" dirty="0">
                <a:solidFill>
                  <a:srgbClr val="00B050"/>
                </a:solidFill>
              </a:endParaRPr>
            </a:p>
          </p:txBody>
        </p:sp>
      </p:grpSp>
      <p:sp>
        <p:nvSpPr>
          <p:cNvPr id="121" name="120 CuadroTexto"/>
          <p:cNvSpPr txBox="1"/>
          <p:nvPr/>
        </p:nvSpPr>
        <p:spPr>
          <a:xfrm>
            <a:off x="710462" y="3554133"/>
            <a:ext cx="2606547" cy="307777"/>
          </a:xfrm>
          <a:prstGeom prst="rect">
            <a:avLst/>
          </a:prstGeom>
          <a:noFill/>
        </p:spPr>
        <p:txBody>
          <a:bodyPr wrap="none" rtlCol="0">
            <a:spAutoFit/>
          </a:bodyPr>
          <a:lstStyle/>
          <a:p>
            <a:r>
              <a:rPr lang="es-ES" sz="1400" b="1" dirty="0" err="1"/>
              <a:t>sem</a:t>
            </a:r>
            <a:r>
              <a:rPr lang="es-ES" sz="1400" dirty="0"/>
              <a:t>= new </a:t>
            </a:r>
            <a:r>
              <a:rPr lang="es-ES" sz="1400" dirty="0" err="1">
                <a:solidFill>
                  <a:schemeClr val="tx1">
                    <a:lumMod val="60000"/>
                    <a:lumOff val="40000"/>
                  </a:schemeClr>
                </a:solidFill>
              </a:rPr>
              <a:t>Semaforo</a:t>
            </a:r>
            <a:r>
              <a:rPr lang="es-ES" sz="1400" dirty="0"/>
              <a:t>(</a:t>
            </a:r>
            <a:r>
              <a:rPr lang="es-ES" sz="1400" dirty="0">
                <a:solidFill>
                  <a:srgbClr val="00B050"/>
                </a:solidFill>
              </a:rPr>
              <a:t>“Verde”</a:t>
            </a:r>
            <a:r>
              <a:rPr lang="es-ES" sz="1400" dirty="0"/>
              <a:t>);</a:t>
            </a:r>
          </a:p>
        </p:txBody>
      </p:sp>
      <p:sp>
        <p:nvSpPr>
          <p:cNvPr id="124" name="123 CuadroTexto"/>
          <p:cNvSpPr txBox="1"/>
          <p:nvPr/>
        </p:nvSpPr>
        <p:spPr>
          <a:xfrm>
            <a:off x="4572001" y="4366780"/>
            <a:ext cx="3983964" cy="338554"/>
          </a:xfrm>
          <a:prstGeom prst="rect">
            <a:avLst/>
          </a:prstGeom>
          <a:noFill/>
        </p:spPr>
        <p:txBody>
          <a:bodyPr wrap="square" rtlCol="0">
            <a:spAutoFit/>
          </a:bodyPr>
          <a:lstStyle/>
          <a:p>
            <a:pPr algn="ctr"/>
            <a:endParaRPr lang="es-ES" sz="1600" b="1" dirty="0"/>
          </a:p>
        </p:txBody>
      </p:sp>
      <p:sp>
        <p:nvSpPr>
          <p:cNvPr id="127" name="126 CuadroTexto"/>
          <p:cNvSpPr txBox="1"/>
          <p:nvPr/>
        </p:nvSpPr>
        <p:spPr>
          <a:xfrm>
            <a:off x="4543475" y="4448494"/>
            <a:ext cx="3983964" cy="338554"/>
          </a:xfrm>
          <a:prstGeom prst="rect">
            <a:avLst/>
          </a:prstGeom>
          <a:noFill/>
        </p:spPr>
        <p:txBody>
          <a:bodyPr wrap="square" rtlCol="0">
            <a:spAutoFit/>
          </a:bodyPr>
          <a:lstStyle/>
          <a:p>
            <a:pPr algn="ctr"/>
            <a:r>
              <a:rPr lang="es-ES" sz="1600" b="1" i="1" dirty="0">
                <a:solidFill>
                  <a:schemeClr val="tx1">
                    <a:lumMod val="60000"/>
                    <a:lumOff val="40000"/>
                  </a:schemeClr>
                </a:solidFill>
              </a:rPr>
              <a:t>Otros métodos…</a:t>
            </a:r>
            <a:endParaRPr lang="es-ES" sz="1600" b="1" dirty="0"/>
          </a:p>
        </p:txBody>
      </p:sp>
      <p:sp>
        <p:nvSpPr>
          <p:cNvPr id="128" name="127 CuadroTexto"/>
          <p:cNvSpPr txBox="1"/>
          <p:nvPr/>
        </p:nvSpPr>
        <p:spPr>
          <a:xfrm>
            <a:off x="1135543" y="6022041"/>
            <a:ext cx="6984776" cy="384721"/>
          </a:xfrm>
          <a:prstGeom prst="rect">
            <a:avLst/>
          </a:prstGeom>
          <a:noFill/>
        </p:spPr>
        <p:txBody>
          <a:bodyPr wrap="square" rtlCol="0">
            <a:spAutoFit/>
          </a:bodyPr>
          <a:lstStyle/>
          <a:p>
            <a:pPr algn="ctr"/>
            <a:r>
              <a:rPr lang="es-ES" b="1" dirty="0"/>
              <a:t>El método constructor puede estar ‘sobrecargado’</a:t>
            </a:r>
          </a:p>
        </p:txBody>
      </p:sp>
      <p:sp>
        <p:nvSpPr>
          <p:cNvPr id="129" name="128 CuadroTexto"/>
          <p:cNvSpPr txBox="1"/>
          <p:nvPr/>
        </p:nvSpPr>
        <p:spPr>
          <a:xfrm>
            <a:off x="1186258" y="5637320"/>
            <a:ext cx="6984776" cy="384721"/>
          </a:xfrm>
          <a:prstGeom prst="rect">
            <a:avLst/>
          </a:prstGeom>
          <a:noFill/>
        </p:spPr>
        <p:txBody>
          <a:bodyPr wrap="square" rtlCol="0">
            <a:spAutoFit/>
          </a:bodyPr>
          <a:lstStyle/>
          <a:p>
            <a:pPr algn="ctr"/>
            <a:r>
              <a:rPr lang="es-ES" b="1" dirty="0"/>
              <a:t>Tiene el mismo nombre que la clase</a:t>
            </a:r>
          </a:p>
        </p:txBody>
      </p:sp>
    </p:spTree>
    <p:extLst>
      <p:ext uri="{BB962C8B-B14F-4D97-AF65-F5344CB8AC3E}">
        <p14:creationId xmlns:p14="http://schemas.microsoft.com/office/powerpoint/2010/main" val="21446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107" grpId="0"/>
      <p:bldP spid="108" grpId="0"/>
      <p:bldP spid="121" grpId="0"/>
      <p:bldP spid="127" grpId="0"/>
      <p:bldP spid="128" grpId="0"/>
      <p:bldP spid="1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264602-2CD2-C849-95E4-834B0A41E81A}"/>
              </a:ext>
            </a:extLst>
          </p:cNvPr>
          <p:cNvSpPr>
            <a:spLocks noGrp="1"/>
          </p:cNvSpPr>
          <p:nvPr>
            <p:ph type="title"/>
          </p:nvPr>
        </p:nvSpPr>
        <p:spPr>
          <a:xfrm>
            <a:off x="0" y="53975"/>
            <a:ext cx="8892479" cy="563563"/>
          </a:xfrm>
        </p:spPr>
        <p:txBody>
          <a:bodyPr/>
          <a:lstStyle/>
          <a:p>
            <a:r>
              <a:rPr lang="es-ES_tradnl" dirty="0"/>
              <a:t>Destrucción de objetos y liberación de memoria. </a:t>
            </a:r>
            <a:endParaRPr lang="es-ES" dirty="0"/>
          </a:p>
        </p:txBody>
      </p:sp>
      <p:sp>
        <p:nvSpPr>
          <p:cNvPr id="3" name="Marcador de contenido 2">
            <a:extLst>
              <a:ext uri="{FF2B5EF4-FFF2-40B4-BE49-F238E27FC236}">
                <a16:creationId xmlns:a16="http://schemas.microsoft.com/office/drawing/2014/main" id="{1CBFA587-1EFD-2F42-B06E-994F8EBA8147}"/>
              </a:ext>
            </a:extLst>
          </p:cNvPr>
          <p:cNvSpPr>
            <a:spLocks noGrp="1"/>
          </p:cNvSpPr>
          <p:nvPr>
            <p:ph idx="1"/>
          </p:nvPr>
        </p:nvSpPr>
        <p:spPr/>
        <p:txBody>
          <a:bodyPr/>
          <a:lstStyle/>
          <a:p>
            <a:endParaRPr lang="es-ES" sz="1600" b="0" dirty="0"/>
          </a:p>
          <a:p>
            <a:r>
              <a:rPr lang="es-ES" sz="1600" b="0" dirty="0"/>
              <a:t>Cuando un objeto no va a ser empleado, el lugar de memoria que emplea ha de ser liberado así como los recursos que poseía, permitiendo al proyecto disponer de todos los recursos posibles. A esta acción se la da el nombre de </a:t>
            </a:r>
            <a:r>
              <a:rPr lang="es-ES" sz="1600" dirty="0"/>
              <a:t>destrucción del objeto. </a:t>
            </a:r>
          </a:p>
          <a:p>
            <a:r>
              <a:rPr lang="es-ES" sz="1600" b="0" dirty="0"/>
              <a:t>En Java la destrucción se puede hacer de manera automática o de manera personalizada, en función de las características del objeto. </a:t>
            </a:r>
          </a:p>
          <a:p>
            <a:r>
              <a:rPr lang="es-ES" sz="1600" dirty="0"/>
              <a:t>La destrucción por defecto: Recogida de basura</a:t>
            </a:r>
            <a:r>
              <a:rPr lang="es-ES" sz="1600" b="0" dirty="0"/>
              <a:t>. El interprete de Java posee un sistema de recogida de basura, que por lo común faculta que no nos preocupemos de liberar la memoria asignada explícitamente. El recolector de basura será el encargado de liberar una zona de memoria dinámica que había sido reservada mediante el operador new, cuando el objeto ya no va a ser utilizado mas mientras el proyecto (por ejemplo, sale del entorno de utilización, o no es referenciado nuevamente). El sistema de recogida de basura se ejecuta periódicamente, buscando objetos que ya no estén referenciados. </a:t>
            </a:r>
          </a:p>
          <a:p>
            <a:r>
              <a:rPr lang="es-ES" sz="1600" dirty="0"/>
              <a:t>La destrucción personalizada: </a:t>
            </a:r>
            <a:r>
              <a:rPr lang="es-ES" sz="1600" dirty="0" err="1"/>
              <a:t>finalize</a:t>
            </a:r>
            <a:r>
              <a:rPr lang="es-ES" sz="1600" dirty="0"/>
              <a:t>. </a:t>
            </a:r>
            <a:r>
              <a:rPr lang="es-ES" sz="1600" b="0" dirty="0"/>
              <a:t>A veces una clase mantiene un medio que no es de Java como un descriptor de archivo o un tipo de letra del sistema de ventanas. En este caso seria acertado el utilizar la finalización explicita, para asegurar que dicho medio se libera. Se agrega un método a la clase con el nombre </a:t>
            </a:r>
            <a:r>
              <a:rPr lang="es-ES" sz="1600" b="0" dirty="0" err="1"/>
              <a:t>finalize</a:t>
            </a:r>
            <a:endParaRPr lang="es-ES" sz="1600" b="0" dirty="0"/>
          </a:p>
          <a:p>
            <a:endParaRPr lang="es-ES" sz="1600" b="0" dirty="0"/>
          </a:p>
        </p:txBody>
      </p:sp>
    </p:spTree>
    <p:extLst>
      <p:ext uri="{BB962C8B-B14F-4D97-AF65-F5344CB8AC3E}">
        <p14:creationId xmlns:p14="http://schemas.microsoft.com/office/powerpoint/2010/main" val="285448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3 Grupo"/>
          <p:cNvGrpSpPr/>
          <p:nvPr/>
        </p:nvGrpSpPr>
        <p:grpSpPr>
          <a:xfrm>
            <a:off x="589909" y="4293096"/>
            <a:ext cx="3456388" cy="2406188"/>
            <a:chOff x="589909" y="4293096"/>
            <a:chExt cx="3456388" cy="2406188"/>
          </a:xfrm>
        </p:grpSpPr>
        <p:grpSp>
          <p:nvGrpSpPr>
            <p:cNvPr id="56" name="55 Grupo"/>
            <p:cNvGrpSpPr/>
            <p:nvPr/>
          </p:nvGrpSpPr>
          <p:grpSpPr>
            <a:xfrm>
              <a:off x="589909" y="4692453"/>
              <a:ext cx="3456388" cy="2006831"/>
              <a:chOff x="467545" y="2578876"/>
              <a:chExt cx="3456388" cy="2006831"/>
            </a:xfrm>
          </p:grpSpPr>
          <p:grpSp>
            <p:nvGrpSpPr>
              <p:cNvPr id="57" name="56 Grupo"/>
              <p:cNvGrpSpPr/>
              <p:nvPr/>
            </p:nvGrpSpPr>
            <p:grpSpPr>
              <a:xfrm>
                <a:off x="467545" y="2580867"/>
                <a:ext cx="3456386" cy="2004840"/>
                <a:chOff x="693938" y="3212004"/>
                <a:chExt cx="2763722" cy="2305232"/>
              </a:xfrm>
            </p:grpSpPr>
            <p:grpSp>
              <p:nvGrpSpPr>
                <p:cNvPr id="60" name="59 Grupo"/>
                <p:cNvGrpSpPr/>
                <p:nvPr/>
              </p:nvGrpSpPr>
              <p:grpSpPr>
                <a:xfrm>
                  <a:off x="693938" y="3212004"/>
                  <a:ext cx="2763722" cy="2305232"/>
                  <a:chOff x="1905" y="1810554"/>
                  <a:chExt cx="1857374" cy="1185840"/>
                </a:xfrm>
                <a:scene3d>
                  <a:camera prst="orthographicFront">
                    <a:rot lat="0" lon="0" rev="0"/>
                  </a:camera>
                  <a:lightRig rig="contrasting" dir="t">
                    <a:rot lat="0" lon="0" rev="1200000"/>
                  </a:lightRig>
                </a:scene3d>
              </p:grpSpPr>
              <p:sp>
                <p:nvSpPr>
                  <p:cNvPr id="62" name="61 Rectángulo"/>
                  <p:cNvSpPr/>
                  <p:nvPr/>
                </p:nvSpPr>
                <p:spPr>
                  <a:xfrm>
                    <a:off x="1905" y="1810554"/>
                    <a:ext cx="1857374" cy="856345"/>
                  </a:xfrm>
                  <a:prstGeom prst="rect">
                    <a:avLst/>
                  </a:prstGeom>
                  <a:solidFill>
                    <a:srgbClr val="FFDF79">
                      <a:alpha val="90000"/>
                    </a:srgbClr>
                  </a:solidFill>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63" name="62 Rectángulo"/>
                  <p:cNvSpPr/>
                  <p:nvPr/>
                </p:nvSpPr>
                <p:spPr>
                  <a:xfrm>
                    <a:off x="1905" y="1863667"/>
                    <a:ext cx="1857374" cy="1132727"/>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sp>
              <p:nvSpPr>
                <p:cNvPr id="61" name="60 Rectángulo"/>
                <p:cNvSpPr/>
                <p:nvPr/>
              </p:nvSpPr>
              <p:spPr bwMode="auto">
                <a:xfrm>
                  <a:off x="839118" y="4052429"/>
                  <a:ext cx="2480352" cy="610162"/>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58" name="57 CuadroTexto"/>
              <p:cNvSpPr txBox="1"/>
              <p:nvPr/>
            </p:nvSpPr>
            <p:spPr>
              <a:xfrm>
                <a:off x="873529" y="2828255"/>
                <a:ext cx="2690359" cy="384721"/>
              </a:xfrm>
              <a:prstGeom prst="rect">
                <a:avLst/>
              </a:prstGeom>
              <a:noFill/>
            </p:spPr>
            <p:txBody>
              <a:bodyPr wrap="square" rtlCol="0">
                <a:spAutoFit/>
              </a:bodyPr>
              <a:lstStyle/>
              <a:p>
                <a:pPr algn="ctr"/>
                <a:r>
                  <a:rPr lang="es-ES" b="1" i="1" dirty="0" err="1">
                    <a:solidFill>
                      <a:schemeClr val="tx1">
                        <a:lumMod val="60000"/>
                        <a:lumOff val="40000"/>
                      </a:schemeClr>
                    </a:solidFill>
                  </a:rPr>
                  <a:t>public</a:t>
                </a:r>
                <a:r>
                  <a:rPr lang="es-ES" b="1" i="1" dirty="0">
                    <a:solidFill>
                      <a:schemeClr val="tx1">
                        <a:lumMod val="60000"/>
                        <a:lumOff val="40000"/>
                      </a:schemeClr>
                    </a:solidFill>
                  </a:rPr>
                  <a:t> </a:t>
                </a:r>
                <a:r>
                  <a:rPr lang="es-ES" b="1" i="1" dirty="0" err="1">
                    <a:solidFill>
                      <a:schemeClr val="tx1">
                        <a:lumMod val="60000"/>
                        <a:lumOff val="40000"/>
                      </a:schemeClr>
                    </a:solidFill>
                  </a:rPr>
                  <a:t>static</a:t>
                </a:r>
                <a:r>
                  <a:rPr lang="es-ES" b="1" dirty="0">
                    <a:solidFill>
                      <a:schemeClr val="tx1">
                        <a:lumMod val="60000"/>
                        <a:lumOff val="40000"/>
                      </a:schemeClr>
                    </a:solidFill>
                  </a:rPr>
                  <a:t> </a:t>
                </a:r>
                <a:r>
                  <a:rPr lang="es-ES" b="1" dirty="0" err="1"/>
                  <a:t>main</a:t>
                </a:r>
                <a:endParaRPr lang="es-ES" b="1" dirty="0"/>
              </a:p>
            </p:txBody>
          </p:sp>
          <p:sp>
            <p:nvSpPr>
              <p:cNvPr id="59" name="58 Rectángulo"/>
              <p:cNvSpPr/>
              <p:nvPr/>
            </p:nvSpPr>
            <p:spPr>
              <a:xfrm>
                <a:off x="467545" y="2578876"/>
                <a:ext cx="3456388" cy="112391"/>
              </a:xfrm>
              <a:prstGeom prst="rect">
                <a:avLst/>
              </a:prstGeom>
              <a:solidFill>
                <a:srgbClr val="C00000">
                  <a:alpha val="63137"/>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grpSp>
        <p:sp>
          <p:nvSpPr>
            <p:cNvPr id="68" name="67 CuadroTexto"/>
            <p:cNvSpPr txBox="1"/>
            <p:nvPr/>
          </p:nvSpPr>
          <p:spPr>
            <a:xfrm>
              <a:off x="604970" y="4293096"/>
              <a:ext cx="3435005" cy="384721"/>
            </a:xfrm>
            <a:prstGeom prst="rect">
              <a:avLst/>
            </a:prstGeom>
            <a:noFill/>
          </p:spPr>
          <p:txBody>
            <a:bodyPr wrap="square" rtlCol="0">
              <a:spAutoFit/>
            </a:bodyPr>
            <a:lstStyle/>
            <a:p>
              <a:pPr algn="ctr"/>
              <a:r>
                <a:rPr lang="es-ES" b="1" dirty="0"/>
                <a:t>Test</a:t>
              </a:r>
            </a:p>
          </p:txBody>
        </p:sp>
      </p:grpSp>
      <p:sp>
        <p:nvSpPr>
          <p:cNvPr id="4098" name="Rectangle 2"/>
          <p:cNvSpPr>
            <a:spLocks noGrp="1" noChangeArrowheads="1"/>
          </p:cNvSpPr>
          <p:nvPr>
            <p:ph type="title"/>
          </p:nvPr>
        </p:nvSpPr>
        <p:spPr>
          <a:xfrm>
            <a:off x="983518" y="44624"/>
            <a:ext cx="7392988" cy="563563"/>
          </a:xfrm>
        </p:spPr>
        <p:txBody>
          <a:bodyPr/>
          <a:lstStyle/>
          <a:p>
            <a:r>
              <a:rPr lang="en-US" dirty="0" err="1"/>
              <a:t>Métodos</a:t>
            </a:r>
            <a:r>
              <a:rPr lang="en-US" dirty="0"/>
              <a:t> </a:t>
            </a:r>
            <a:r>
              <a:rPr lang="en-US" dirty="0" err="1"/>
              <a:t>estáticos</a:t>
            </a:r>
            <a:r>
              <a:rPr lang="en-US" dirty="0"/>
              <a:t> VS no-</a:t>
            </a:r>
            <a:r>
              <a:rPr lang="en-US" dirty="0" err="1"/>
              <a:t>estáticos</a:t>
            </a:r>
            <a:endParaRPr lang="en-US" dirty="0">
              <a:solidFill>
                <a:schemeClr val="accent1"/>
              </a:solidFill>
            </a:endParaRPr>
          </a:p>
        </p:txBody>
      </p:sp>
      <p:sp>
        <p:nvSpPr>
          <p:cNvPr id="38" name="37 Rectángulo"/>
          <p:cNvSpPr/>
          <p:nvPr/>
        </p:nvSpPr>
        <p:spPr>
          <a:xfrm>
            <a:off x="4422830" y="2057062"/>
            <a:ext cx="4214252" cy="4756314"/>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39" name="38 Grupo"/>
          <p:cNvGrpSpPr/>
          <p:nvPr/>
        </p:nvGrpSpPr>
        <p:grpSpPr>
          <a:xfrm>
            <a:off x="4644008" y="1916832"/>
            <a:ext cx="3802159" cy="1157546"/>
            <a:chOff x="4422829" y="1470475"/>
            <a:chExt cx="4230065" cy="1157546"/>
          </a:xfrm>
        </p:grpSpPr>
        <p:sp>
          <p:nvSpPr>
            <p:cNvPr id="41" name="40 Rectángulo"/>
            <p:cNvSpPr/>
            <p:nvPr/>
          </p:nvSpPr>
          <p:spPr>
            <a:xfrm>
              <a:off x="4422830" y="1495156"/>
              <a:ext cx="4214252" cy="1132865"/>
            </a:xfrm>
            <a:prstGeom prst="rect">
              <a:avLst/>
            </a:prstGeom>
            <a:solidFill>
              <a:srgbClr val="FFDF79">
                <a:alpha val="89020"/>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43" name="42 Rectángulo"/>
            <p:cNvSpPr/>
            <p:nvPr/>
          </p:nvSpPr>
          <p:spPr>
            <a:xfrm>
              <a:off x="4422829" y="1470475"/>
              <a:ext cx="4230065" cy="108030"/>
            </a:xfrm>
            <a:prstGeom prst="rect">
              <a:avLst/>
            </a:prstGeom>
            <a:solidFill>
              <a:srgbClr val="C00000">
                <a:alpha val="63137"/>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grpSp>
      <p:grpSp>
        <p:nvGrpSpPr>
          <p:cNvPr id="46" name="45 Grupo"/>
          <p:cNvGrpSpPr/>
          <p:nvPr/>
        </p:nvGrpSpPr>
        <p:grpSpPr>
          <a:xfrm>
            <a:off x="4422830" y="2230019"/>
            <a:ext cx="4230063" cy="627204"/>
            <a:chOff x="3499320" y="3652119"/>
            <a:chExt cx="2312340" cy="627204"/>
          </a:xfrm>
        </p:grpSpPr>
        <p:sp>
          <p:nvSpPr>
            <p:cNvPr id="47" name="46 CuadroTexto"/>
            <p:cNvSpPr txBox="1"/>
            <p:nvPr/>
          </p:nvSpPr>
          <p:spPr>
            <a:xfrm>
              <a:off x="3499320" y="3652119"/>
              <a:ext cx="2312340" cy="338554"/>
            </a:xfrm>
            <a:prstGeom prst="rect">
              <a:avLst/>
            </a:prstGeom>
            <a:noFill/>
          </p:spPr>
          <p:txBody>
            <a:bodyPr wrap="square" rtlCol="0">
              <a:spAutoFit/>
            </a:bodyPr>
            <a:lstStyle/>
            <a:p>
              <a:pPr algn="ctr"/>
              <a:r>
                <a:rPr lang="es-ES" sz="1600" b="1" i="1" dirty="0" err="1">
                  <a:solidFill>
                    <a:schemeClr val="tx1">
                      <a:lumMod val="60000"/>
                      <a:lumOff val="40000"/>
                    </a:schemeClr>
                  </a:solidFill>
                </a:rPr>
                <a:t>public</a:t>
              </a:r>
              <a:r>
                <a:rPr lang="es-ES" sz="1600" b="1" i="1" dirty="0">
                  <a:solidFill>
                    <a:schemeClr val="tx1">
                      <a:lumMod val="60000"/>
                      <a:lumOff val="40000"/>
                    </a:schemeClr>
                  </a:solidFill>
                </a:rPr>
                <a:t> </a:t>
              </a:r>
              <a:r>
                <a:rPr lang="es-ES" sz="1600" b="1" i="1" dirty="0" err="1">
                  <a:solidFill>
                    <a:schemeClr val="tx1">
                      <a:lumMod val="60000"/>
                      <a:lumOff val="40000"/>
                    </a:schemeClr>
                  </a:solidFill>
                </a:rPr>
                <a:t>int</a:t>
              </a:r>
              <a:r>
                <a:rPr lang="es-ES" sz="1600" b="1" i="1" dirty="0">
                  <a:solidFill>
                    <a:schemeClr val="tx1">
                      <a:lumMod val="60000"/>
                      <a:lumOff val="40000"/>
                    </a:schemeClr>
                  </a:solidFill>
                </a:rPr>
                <a:t> </a:t>
              </a:r>
              <a:r>
                <a:rPr lang="es-ES" sz="1600" b="1" dirty="0"/>
                <a:t>sumar(</a:t>
              </a:r>
              <a:r>
                <a:rPr lang="es-ES" sz="1600" b="1" dirty="0" err="1">
                  <a:solidFill>
                    <a:schemeClr val="tx1">
                      <a:lumMod val="60000"/>
                      <a:lumOff val="40000"/>
                    </a:schemeClr>
                  </a:solidFill>
                </a:rPr>
                <a:t>int</a:t>
              </a:r>
              <a:r>
                <a:rPr lang="es-ES" sz="1600" b="1" dirty="0">
                  <a:solidFill>
                    <a:schemeClr val="tx1">
                      <a:lumMod val="60000"/>
                      <a:lumOff val="40000"/>
                    </a:schemeClr>
                  </a:solidFill>
                </a:rPr>
                <a:t> </a:t>
              </a:r>
              <a:r>
                <a:rPr lang="es-ES" sz="1600" b="1" dirty="0">
                  <a:solidFill>
                    <a:srgbClr val="009900"/>
                  </a:solidFill>
                </a:rPr>
                <a:t>n1, n2</a:t>
              </a:r>
              <a:r>
                <a:rPr lang="es-ES" sz="1600" b="1" dirty="0"/>
                <a:t>)</a:t>
              </a:r>
            </a:p>
          </p:txBody>
        </p:sp>
        <p:sp>
          <p:nvSpPr>
            <p:cNvPr id="48" name="47 Rectángulo"/>
            <p:cNvSpPr/>
            <p:nvPr/>
          </p:nvSpPr>
          <p:spPr bwMode="auto">
            <a:xfrm>
              <a:off x="3856402" y="3990673"/>
              <a:ext cx="1574511" cy="26638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9" name="48 CuadroTexto"/>
            <p:cNvSpPr txBox="1"/>
            <p:nvPr/>
          </p:nvSpPr>
          <p:spPr>
            <a:xfrm>
              <a:off x="4216396" y="3940769"/>
              <a:ext cx="878201" cy="338554"/>
            </a:xfrm>
            <a:prstGeom prst="rect">
              <a:avLst/>
            </a:prstGeom>
            <a:noFill/>
          </p:spPr>
          <p:txBody>
            <a:bodyPr wrap="none" rtlCol="0">
              <a:spAutoFit/>
            </a:bodyPr>
            <a:lstStyle/>
            <a:p>
              <a:pPr algn="ctr"/>
              <a:r>
                <a:rPr lang="es-ES" sz="1600" b="1" dirty="0" err="1"/>
                <a:t>return</a:t>
              </a:r>
              <a:r>
                <a:rPr lang="es-ES" sz="1600" b="1" dirty="0"/>
                <a:t> </a:t>
              </a:r>
              <a:r>
                <a:rPr lang="es-ES" sz="1600" b="1" dirty="0">
                  <a:solidFill>
                    <a:srgbClr val="009900"/>
                  </a:solidFill>
                </a:rPr>
                <a:t>n1 </a:t>
              </a:r>
              <a:r>
                <a:rPr lang="es-ES" sz="1600" b="1" dirty="0"/>
                <a:t>+</a:t>
              </a:r>
              <a:r>
                <a:rPr lang="es-ES" sz="1600" b="1" dirty="0">
                  <a:solidFill>
                    <a:srgbClr val="009900"/>
                  </a:solidFill>
                </a:rPr>
                <a:t> n2</a:t>
              </a:r>
              <a:r>
                <a:rPr lang="es-ES" sz="1600" b="1" dirty="0"/>
                <a:t> </a:t>
              </a:r>
              <a:endParaRPr lang="es-ES" sz="1600" dirty="0">
                <a:solidFill>
                  <a:srgbClr val="00B050"/>
                </a:solidFill>
              </a:endParaRPr>
            </a:p>
          </p:txBody>
        </p:sp>
      </p:grpSp>
      <p:grpSp>
        <p:nvGrpSpPr>
          <p:cNvPr id="97" name="96 Grupo"/>
          <p:cNvGrpSpPr/>
          <p:nvPr/>
        </p:nvGrpSpPr>
        <p:grpSpPr>
          <a:xfrm>
            <a:off x="611556" y="1524101"/>
            <a:ext cx="3456388" cy="2006833"/>
            <a:chOff x="467545" y="2578876"/>
            <a:chExt cx="3456388" cy="2006833"/>
          </a:xfrm>
        </p:grpSpPr>
        <p:grpSp>
          <p:nvGrpSpPr>
            <p:cNvPr id="98" name="97 Grupo"/>
            <p:cNvGrpSpPr/>
            <p:nvPr/>
          </p:nvGrpSpPr>
          <p:grpSpPr>
            <a:xfrm>
              <a:off x="467545" y="2580867"/>
              <a:ext cx="3456386" cy="2004842"/>
              <a:chOff x="693938" y="3212004"/>
              <a:chExt cx="2763722" cy="2305234"/>
            </a:xfrm>
          </p:grpSpPr>
          <p:grpSp>
            <p:nvGrpSpPr>
              <p:cNvPr id="102" name="101 Grupo"/>
              <p:cNvGrpSpPr/>
              <p:nvPr/>
            </p:nvGrpSpPr>
            <p:grpSpPr>
              <a:xfrm>
                <a:off x="693938" y="3212004"/>
                <a:ext cx="2763722" cy="2305234"/>
                <a:chOff x="1905" y="1810554"/>
                <a:chExt cx="1857374" cy="1185841"/>
              </a:xfrm>
              <a:scene3d>
                <a:camera prst="orthographicFront">
                  <a:rot lat="0" lon="0" rev="0"/>
                </a:camera>
                <a:lightRig rig="contrasting" dir="t">
                  <a:rot lat="0" lon="0" rev="1200000"/>
                </a:lightRig>
              </a:scene3d>
            </p:grpSpPr>
            <p:sp>
              <p:nvSpPr>
                <p:cNvPr id="104" name="103 Rectángulo"/>
                <p:cNvSpPr/>
                <p:nvPr/>
              </p:nvSpPr>
              <p:spPr>
                <a:xfrm>
                  <a:off x="1905" y="1810554"/>
                  <a:ext cx="1857374" cy="1185841"/>
                </a:xfrm>
                <a:prstGeom prst="rect">
                  <a:avLst/>
                </a:prstGeom>
                <a:solidFill>
                  <a:srgbClr val="FFDF79">
                    <a:alpha val="90000"/>
                  </a:srgbClr>
                </a:solidFill>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05" name="104 Rectángulo"/>
                <p:cNvSpPr/>
                <p:nvPr/>
              </p:nvSpPr>
              <p:spPr>
                <a:xfrm>
                  <a:off x="1905" y="1863667"/>
                  <a:ext cx="1857374" cy="1132727"/>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sp>
            <p:nvSpPr>
              <p:cNvPr id="103" name="102 Rectángulo"/>
              <p:cNvSpPr/>
              <p:nvPr/>
            </p:nvSpPr>
            <p:spPr bwMode="auto">
              <a:xfrm>
                <a:off x="839118" y="4052429"/>
                <a:ext cx="2480352" cy="122032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99" name="98 CuadroTexto"/>
            <p:cNvSpPr txBox="1"/>
            <p:nvPr/>
          </p:nvSpPr>
          <p:spPr>
            <a:xfrm>
              <a:off x="873529" y="2828255"/>
              <a:ext cx="2690359" cy="384721"/>
            </a:xfrm>
            <a:prstGeom prst="rect">
              <a:avLst/>
            </a:prstGeom>
            <a:noFill/>
          </p:spPr>
          <p:txBody>
            <a:bodyPr wrap="square" rtlCol="0">
              <a:spAutoFit/>
            </a:bodyPr>
            <a:lstStyle/>
            <a:p>
              <a:pPr algn="ctr"/>
              <a:r>
                <a:rPr lang="es-ES" b="1" i="1" dirty="0" err="1">
                  <a:solidFill>
                    <a:schemeClr val="tx1">
                      <a:lumMod val="60000"/>
                      <a:lumOff val="40000"/>
                    </a:schemeClr>
                  </a:solidFill>
                </a:rPr>
                <a:t>public</a:t>
              </a:r>
              <a:r>
                <a:rPr lang="es-ES" b="1" i="1" dirty="0">
                  <a:solidFill>
                    <a:schemeClr val="tx1">
                      <a:lumMod val="60000"/>
                      <a:lumOff val="40000"/>
                    </a:schemeClr>
                  </a:solidFill>
                </a:rPr>
                <a:t> </a:t>
              </a:r>
              <a:r>
                <a:rPr lang="es-ES" b="1" i="1" dirty="0" err="1">
                  <a:solidFill>
                    <a:schemeClr val="tx1">
                      <a:lumMod val="60000"/>
                      <a:lumOff val="40000"/>
                    </a:schemeClr>
                  </a:solidFill>
                </a:rPr>
                <a:t>static</a:t>
              </a:r>
              <a:r>
                <a:rPr lang="es-ES" b="1" dirty="0">
                  <a:solidFill>
                    <a:schemeClr val="tx1">
                      <a:lumMod val="60000"/>
                      <a:lumOff val="40000"/>
                    </a:schemeClr>
                  </a:solidFill>
                </a:rPr>
                <a:t> </a:t>
              </a:r>
              <a:r>
                <a:rPr lang="es-ES" b="1" dirty="0" err="1"/>
                <a:t>main</a:t>
              </a:r>
              <a:endParaRPr lang="es-ES" b="1" dirty="0"/>
            </a:p>
          </p:txBody>
        </p:sp>
        <p:sp>
          <p:nvSpPr>
            <p:cNvPr id="100" name="99 Rectángulo"/>
            <p:cNvSpPr/>
            <p:nvPr/>
          </p:nvSpPr>
          <p:spPr>
            <a:xfrm>
              <a:off x="467545" y="2578876"/>
              <a:ext cx="3456388" cy="112391"/>
            </a:xfrm>
            <a:prstGeom prst="rect">
              <a:avLst/>
            </a:prstGeom>
            <a:solidFill>
              <a:srgbClr val="C00000">
                <a:alpha val="63137"/>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grpSp>
      <p:sp>
        <p:nvSpPr>
          <p:cNvPr id="107" name="106 CuadroTexto"/>
          <p:cNvSpPr txBox="1"/>
          <p:nvPr/>
        </p:nvSpPr>
        <p:spPr>
          <a:xfrm>
            <a:off x="855110" y="2306773"/>
            <a:ext cx="1617751" cy="307777"/>
          </a:xfrm>
          <a:prstGeom prst="rect">
            <a:avLst/>
          </a:prstGeom>
          <a:noFill/>
        </p:spPr>
        <p:txBody>
          <a:bodyPr wrap="none" rtlCol="0">
            <a:spAutoFit/>
          </a:bodyPr>
          <a:lstStyle/>
          <a:p>
            <a:r>
              <a:rPr lang="es-ES" sz="1400" dirty="0" err="1">
                <a:solidFill>
                  <a:schemeClr val="tx1">
                    <a:lumMod val="60000"/>
                    <a:lumOff val="40000"/>
                  </a:schemeClr>
                </a:solidFill>
              </a:rPr>
              <a:t>Matematicas</a:t>
            </a:r>
            <a:r>
              <a:rPr lang="es-ES" sz="1400" dirty="0">
                <a:solidFill>
                  <a:schemeClr val="tx1">
                    <a:lumMod val="60000"/>
                    <a:lumOff val="40000"/>
                  </a:schemeClr>
                </a:solidFill>
              </a:rPr>
              <a:t> </a:t>
            </a:r>
            <a:r>
              <a:rPr lang="es-ES" sz="1400" b="1" dirty="0" err="1"/>
              <a:t>mat</a:t>
            </a:r>
            <a:r>
              <a:rPr lang="es-ES" sz="1400" dirty="0"/>
              <a:t>;</a:t>
            </a:r>
            <a:endParaRPr lang="es-ES" sz="1400" dirty="0">
              <a:solidFill>
                <a:srgbClr val="FF0000"/>
              </a:solidFill>
            </a:endParaRPr>
          </a:p>
        </p:txBody>
      </p:sp>
      <p:sp>
        <p:nvSpPr>
          <p:cNvPr id="108" name="107 CuadroTexto"/>
          <p:cNvSpPr txBox="1"/>
          <p:nvPr/>
        </p:nvSpPr>
        <p:spPr>
          <a:xfrm>
            <a:off x="855110" y="2540271"/>
            <a:ext cx="2268570" cy="307777"/>
          </a:xfrm>
          <a:prstGeom prst="rect">
            <a:avLst/>
          </a:prstGeom>
          <a:noFill/>
        </p:spPr>
        <p:txBody>
          <a:bodyPr wrap="none" rtlCol="0">
            <a:spAutoFit/>
          </a:bodyPr>
          <a:lstStyle/>
          <a:p>
            <a:r>
              <a:rPr lang="es-ES" sz="1400" b="1" dirty="0" err="1"/>
              <a:t>mat</a:t>
            </a:r>
            <a:r>
              <a:rPr lang="es-ES" sz="1400" dirty="0"/>
              <a:t> = new </a:t>
            </a:r>
            <a:r>
              <a:rPr lang="es-ES" sz="1400" dirty="0" err="1">
                <a:solidFill>
                  <a:schemeClr val="tx1">
                    <a:lumMod val="60000"/>
                    <a:lumOff val="40000"/>
                  </a:schemeClr>
                </a:solidFill>
              </a:rPr>
              <a:t>Matematicas</a:t>
            </a:r>
            <a:r>
              <a:rPr lang="es-ES" sz="1400" dirty="0"/>
              <a:t>();</a:t>
            </a:r>
          </a:p>
        </p:txBody>
      </p:sp>
      <p:sp>
        <p:nvSpPr>
          <p:cNvPr id="112" name="111 CuadroTexto"/>
          <p:cNvSpPr txBox="1"/>
          <p:nvPr/>
        </p:nvSpPr>
        <p:spPr>
          <a:xfrm>
            <a:off x="855110" y="2877419"/>
            <a:ext cx="2361544" cy="307777"/>
          </a:xfrm>
          <a:prstGeom prst="rect">
            <a:avLst/>
          </a:prstGeom>
          <a:noFill/>
        </p:spPr>
        <p:txBody>
          <a:bodyPr wrap="none" rtlCol="0">
            <a:spAutoFit/>
          </a:bodyPr>
          <a:lstStyle/>
          <a:p>
            <a:r>
              <a:rPr lang="es-ES" sz="1400" dirty="0"/>
              <a:t>…</a:t>
            </a:r>
            <a:r>
              <a:rPr lang="es-ES" sz="1400" dirty="0" err="1"/>
              <a:t>println</a:t>
            </a:r>
            <a:r>
              <a:rPr lang="es-ES" sz="1400" dirty="0"/>
              <a:t>(</a:t>
            </a:r>
            <a:r>
              <a:rPr lang="es-ES" sz="1400" b="1" dirty="0" err="1"/>
              <a:t>mat.</a:t>
            </a:r>
            <a:r>
              <a:rPr lang="es-ES" sz="1400" dirty="0" err="1">
                <a:solidFill>
                  <a:srgbClr val="FF0000"/>
                </a:solidFill>
              </a:rPr>
              <a:t>sumar</a:t>
            </a:r>
            <a:r>
              <a:rPr lang="es-ES" sz="1400" dirty="0">
                <a:solidFill>
                  <a:srgbClr val="FF0000"/>
                </a:solidFill>
              </a:rPr>
              <a:t>(</a:t>
            </a:r>
            <a:r>
              <a:rPr lang="es-ES" sz="1400" dirty="0">
                <a:solidFill>
                  <a:srgbClr val="009900"/>
                </a:solidFill>
              </a:rPr>
              <a:t>5, 7</a:t>
            </a:r>
            <a:r>
              <a:rPr lang="es-ES" sz="1400" dirty="0">
                <a:solidFill>
                  <a:srgbClr val="FF0000"/>
                </a:solidFill>
              </a:rPr>
              <a:t>)</a:t>
            </a:r>
            <a:r>
              <a:rPr lang="es-ES" sz="1400" dirty="0"/>
              <a:t>);</a:t>
            </a:r>
            <a:endParaRPr lang="es-ES" sz="1400" dirty="0">
              <a:solidFill>
                <a:srgbClr val="FF0000"/>
              </a:solidFill>
            </a:endParaRPr>
          </a:p>
        </p:txBody>
      </p:sp>
      <p:sp>
        <p:nvSpPr>
          <p:cNvPr id="114" name="113 CuadroTexto"/>
          <p:cNvSpPr txBox="1"/>
          <p:nvPr/>
        </p:nvSpPr>
        <p:spPr>
          <a:xfrm>
            <a:off x="4809403" y="1556792"/>
            <a:ext cx="3435005" cy="384721"/>
          </a:xfrm>
          <a:prstGeom prst="rect">
            <a:avLst/>
          </a:prstGeom>
          <a:noFill/>
        </p:spPr>
        <p:txBody>
          <a:bodyPr wrap="square" rtlCol="0">
            <a:spAutoFit/>
          </a:bodyPr>
          <a:lstStyle/>
          <a:p>
            <a:pPr algn="ctr"/>
            <a:r>
              <a:rPr lang="es-ES" b="1" dirty="0" err="1"/>
              <a:t>Matematicas</a:t>
            </a:r>
            <a:endParaRPr lang="es-ES" b="1" dirty="0"/>
          </a:p>
        </p:txBody>
      </p:sp>
      <p:sp>
        <p:nvSpPr>
          <p:cNvPr id="115" name="114 CuadroTexto"/>
          <p:cNvSpPr txBox="1"/>
          <p:nvPr/>
        </p:nvSpPr>
        <p:spPr>
          <a:xfrm>
            <a:off x="626617" y="1124744"/>
            <a:ext cx="3435005" cy="384721"/>
          </a:xfrm>
          <a:prstGeom prst="rect">
            <a:avLst/>
          </a:prstGeom>
          <a:noFill/>
        </p:spPr>
        <p:txBody>
          <a:bodyPr wrap="square" rtlCol="0">
            <a:spAutoFit/>
          </a:bodyPr>
          <a:lstStyle/>
          <a:p>
            <a:pPr algn="ctr"/>
            <a:r>
              <a:rPr lang="es-ES" b="1" dirty="0"/>
              <a:t>Test</a:t>
            </a:r>
          </a:p>
        </p:txBody>
      </p:sp>
      <p:sp>
        <p:nvSpPr>
          <p:cNvPr id="2" name="1 Rectángulo"/>
          <p:cNvSpPr/>
          <p:nvPr/>
        </p:nvSpPr>
        <p:spPr>
          <a:xfrm>
            <a:off x="2987824" y="740023"/>
            <a:ext cx="2626040" cy="384721"/>
          </a:xfrm>
          <a:prstGeom prst="rect">
            <a:avLst/>
          </a:prstGeom>
        </p:spPr>
        <p:txBody>
          <a:bodyPr wrap="none">
            <a:spAutoFit/>
          </a:bodyPr>
          <a:lstStyle/>
          <a:p>
            <a:r>
              <a:rPr lang="en-US" dirty="0" err="1">
                <a:solidFill>
                  <a:srgbClr val="FF3300"/>
                </a:solidFill>
              </a:rPr>
              <a:t>Métodos</a:t>
            </a:r>
            <a:r>
              <a:rPr lang="en-US" dirty="0">
                <a:solidFill>
                  <a:srgbClr val="FF3300"/>
                </a:solidFill>
              </a:rPr>
              <a:t> NO-</a:t>
            </a:r>
            <a:r>
              <a:rPr lang="en-US" dirty="0" err="1">
                <a:solidFill>
                  <a:srgbClr val="FF3300"/>
                </a:solidFill>
              </a:rPr>
              <a:t>Estáticos</a:t>
            </a:r>
            <a:endParaRPr lang="es-ES" dirty="0">
              <a:solidFill>
                <a:srgbClr val="FF3300"/>
              </a:solidFill>
            </a:endParaRPr>
          </a:p>
        </p:txBody>
      </p:sp>
      <p:sp>
        <p:nvSpPr>
          <p:cNvPr id="66" name="65 CuadroTexto"/>
          <p:cNvSpPr txBox="1"/>
          <p:nvPr/>
        </p:nvSpPr>
        <p:spPr>
          <a:xfrm>
            <a:off x="833463" y="5494151"/>
            <a:ext cx="3057247" cy="307777"/>
          </a:xfrm>
          <a:prstGeom prst="rect">
            <a:avLst/>
          </a:prstGeom>
          <a:noFill/>
        </p:spPr>
        <p:txBody>
          <a:bodyPr wrap="none" rtlCol="0">
            <a:spAutoFit/>
          </a:bodyPr>
          <a:lstStyle/>
          <a:p>
            <a:r>
              <a:rPr lang="es-ES" sz="1400" dirty="0"/>
              <a:t>…</a:t>
            </a:r>
            <a:r>
              <a:rPr lang="es-ES" sz="1400" dirty="0" err="1"/>
              <a:t>println</a:t>
            </a:r>
            <a:r>
              <a:rPr lang="es-ES" sz="1400" dirty="0"/>
              <a:t>(</a:t>
            </a:r>
            <a:r>
              <a:rPr lang="es-ES" sz="1400" b="1" dirty="0" err="1"/>
              <a:t>Matematicas.</a:t>
            </a:r>
            <a:r>
              <a:rPr lang="es-ES" sz="1400" dirty="0" err="1">
                <a:solidFill>
                  <a:srgbClr val="FF0000"/>
                </a:solidFill>
              </a:rPr>
              <a:t>sumar</a:t>
            </a:r>
            <a:r>
              <a:rPr lang="es-ES" sz="1400" dirty="0">
                <a:solidFill>
                  <a:srgbClr val="FF0000"/>
                </a:solidFill>
              </a:rPr>
              <a:t>(</a:t>
            </a:r>
            <a:r>
              <a:rPr lang="es-ES" sz="1400" dirty="0">
                <a:solidFill>
                  <a:srgbClr val="009900"/>
                </a:solidFill>
              </a:rPr>
              <a:t>5, 7</a:t>
            </a:r>
            <a:r>
              <a:rPr lang="es-ES" sz="1400" dirty="0">
                <a:solidFill>
                  <a:srgbClr val="FF0000"/>
                </a:solidFill>
              </a:rPr>
              <a:t>)</a:t>
            </a:r>
            <a:r>
              <a:rPr lang="es-ES" sz="1400" dirty="0"/>
              <a:t>);</a:t>
            </a:r>
            <a:endParaRPr lang="es-ES" sz="1400" dirty="0">
              <a:solidFill>
                <a:srgbClr val="FF0000"/>
              </a:solidFill>
            </a:endParaRPr>
          </a:p>
        </p:txBody>
      </p:sp>
      <p:grpSp>
        <p:nvGrpSpPr>
          <p:cNvPr id="3" name="2 Grupo"/>
          <p:cNvGrpSpPr/>
          <p:nvPr/>
        </p:nvGrpSpPr>
        <p:grpSpPr>
          <a:xfrm>
            <a:off x="4401183" y="4460193"/>
            <a:ext cx="4230063" cy="1517586"/>
            <a:chOff x="4401183" y="4460193"/>
            <a:chExt cx="4230063" cy="1517586"/>
          </a:xfrm>
        </p:grpSpPr>
        <p:grpSp>
          <p:nvGrpSpPr>
            <p:cNvPr id="42" name="41 Grupo"/>
            <p:cNvGrpSpPr/>
            <p:nvPr/>
          </p:nvGrpSpPr>
          <p:grpSpPr>
            <a:xfrm>
              <a:off x="4644009" y="4820233"/>
              <a:ext cx="3816424" cy="1157546"/>
              <a:chOff x="4422829" y="1470475"/>
              <a:chExt cx="4230065" cy="1157546"/>
            </a:xfrm>
          </p:grpSpPr>
          <p:sp>
            <p:nvSpPr>
              <p:cNvPr id="50" name="49 Rectángulo"/>
              <p:cNvSpPr/>
              <p:nvPr/>
            </p:nvSpPr>
            <p:spPr>
              <a:xfrm>
                <a:off x="4422830" y="1495156"/>
                <a:ext cx="4214252" cy="1132865"/>
              </a:xfrm>
              <a:prstGeom prst="rect">
                <a:avLst/>
              </a:prstGeom>
              <a:solidFill>
                <a:srgbClr val="FFDF79">
                  <a:alpha val="89020"/>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1" name="50 Rectángulo"/>
              <p:cNvSpPr/>
              <p:nvPr/>
            </p:nvSpPr>
            <p:spPr>
              <a:xfrm>
                <a:off x="4422829" y="1470475"/>
                <a:ext cx="4230065" cy="108030"/>
              </a:xfrm>
              <a:prstGeom prst="rect">
                <a:avLst/>
              </a:prstGeom>
              <a:solidFill>
                <a:srgbClr val="C00000">
                  <a:alpha val="63137"/>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grpSp>
        <p:grpSp>
          <p:nvGrpSpPr>
            <p:cNvPr id="52" name="51 Grupo"/>
            <p:cNvGrpSpPr/>
            <p:nvPr/>
          </p:nvGrpSpPr>
          <p:grpSpPr>
            <a:xfrm>
              <a:off x="4401183" y="5133420"/>
              <a:ext cx="4230063" cy="627204"/>
              <a:chOff x="3499320" y="3652119"/>
              <a:chExt cx="2312340" cy="627204"/>
            </a:xfrm>
          </p:grpSpPr>
          <p:sp>
            <p:nvSpPr>
              <p:cNvPr id="53" name="52 CuadroTexto"/>
              <p:cNvSpPr txBox="1"/>
              <p:nvPr/>
            </p:nvSpPr>
            <p:spPr>
              <a:xfrm>
                <a:off x="3499320" y="3652119"/>
                <a:ext cx="2312340" cy="338554"/>
              </a:xfrm>
              <a:prstGeom prst="rect">
                <a:avLst/>
              </a:prstGeom>
              <a:noFill/>
            </p:spPr>
            <p:txBody>
              <a:bodyPr wrap="square" rtlCol="0">
                <a:spAutoFit/>
              </a:bodyPr>
              <a:lstStyle/>
              <a:p>
                <a:pPr algn="ctr"/>
                <a:r>
                  <a:rPr lang="es-ES" sz="1600" b="1" i="1" dirty="0" err="1">
                    <a:solidFill>
                      <a:schemeClr val="tx1">
                        <a:lumMod val="60000"/>
                        <a:lumOff val="40000"/>
                      </a:schemeClr>
                    </a:solidFill>
                  </a:rPr>
                  <a:t>public</a:t>
                </a:r>
                <a:r>
                  <a:rPr lang="es-ES" sz="1600" b="1" i="1" dirty="0">
                    <a:solidFill>
                      <a:schemeClr val="tx1">
                        <a:lumMod val="60000"/>
                        <a:lumOff val="40000"/>
                      </a:schemeClr>
                    </a:solidFill>
                  </a:rPr>
                  <a:t> </a:t>
                </a:r>
                <a:r>
                  <a:rPr lang="es-ES" sz="1600" b="1" i="1" dirty="0" err="1">
                    <a:solidFill>
                      <a:srgbClr val="FF3300"/>
                    </a:solidFill>
                  </a:rPr>
                  <a:t>static</a:t>
                </a:r>
                <a:r>
                  <a:rPr lang="es-ES" sz="1600" b="1" i="1" dirty="0">
                    <a:solidFill>
                      <a:schemeClr val="tx1">
                        <a:lumMod val="60000"/>
                        <a:lumOff val="40000"/>
                      </a:schemeClr>
                    </a:solidFill>
                  </a:rPr>
                  <a:t> </a:t>
                </a:r>
                <a:r>
                  <a:rPr lang="es-ES" sz="1600" b="1" i="1" dirty="0" err="1">
                    <a:solidFill>
                      <a:schemeClr val="tx1">
                        <a:lumMod val="60000"/>
                        <a:lumOff val="40000"/>
                      </a:schemeClr>
                    </a:solidFill>
                  </a:rPr>
                  <a:t>int</a:t>
                </a:r>
                <a:r>
                  <a:rPr lang="es-ES" sz="1600" b="1" i="1" dirty="0">
                    <a:solidFill>
                      <a:schemeClr val="tx1">
                        <a:lumMod val="60000"/>
                        <a:lumOff val="40000"/>
                      </a:schemeClr>
                    </a:solidFill>
                  </a:rPr>
                  <a:t> </a:t>
                </a:r>
                <a:r>
                  <a:rPr lang="es-ES" sz="1600" b="1" dirty="0"/>
                  <a:t>sumar(</a:t>
                </a:r>
                <a:r>
                  <a:rPr lang="es-ES" sz="1600" b="1" dirty="0" err="1">
                    <a:solidFill>
                      <a:schemeClr val="tx1">
                        <a:lumMod val="60000"/>
                        <a:lumOff val="40000"/>
                      </a:schemeClr>
                    </a:solidFill>
                  </a:rPr>
                  <a:t>int</a:t>
                </a:r>
                <a:r>
                  <a:rPr lang="es-ES" sz="1600" b="1" dirty="0">
                    <a:solidFill>
                      <a:schemeClr val="tx1">
                        <a:lumMod val="60000"/>
                        <a:lumOff val="40000"/>
                      </a:schemeClr>
                    </a:solidFill>
                  </a:rPr>
                  <a:t> </a:t>
                </a:r>
                <a:r>
                  <a:rPr lang="es-ES" sz="1600" b="1" dirty="0">
                    <a:solidFill>
                      <a:srgbClr val="009900"/>
                    </a:solidFill>
                  </a:rPr>
                  <a:t>n1, n2</a:t>
                </a:r>
                <a:r>
                  <a:rPr lang="es-ES" sz="1600" b="1" dirty="0"/>
                  <a:t>)</a:t>
                </a:r>
              </a:p>
            </p:txBody>
          </p:sp>
          <p:sp>
            <p:nvSpPr>
              <p:cNvPr id="54" name="53 Rectángulo"/>
              <p:cNvSpPr/>
              <p:nvPr/>
            </p:nvSpPr>
            <p:spPr bwMode="auto">
              <a:xfrm>
                <a:off x="3856402" y="3990673"/>
                <a:ext cx="1574511" cy="26638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5" name="54 CuadroTexto"/>
              <p:cNvSpPr txBox="1"/>
              <p:nvPr/>
            </p:nvSpPr>
            <p:spPr>
              <a:xfrm>
                <a:off x="4216396" y="3940769"/>
                <a:ext cx="878201" cy="338554"/>
              </a:xfrm>
              <a:prstGeom prst="rect">
                <a:avLst/>
              </a:prstGeom>
              <a:noFill/>
            </p:spPr>
            <p:txBody>
              <a:bodyPr wrap="none" rtlCol="0">
                <a:spAutoFit/>
              </a:bodyPr>
              <a:lstStyle/>
              <a:p>
                <a:pPr algn="ctr"/>
                <a:r>
                  <a:rPr lang="es-ES" sz="1600" b="1" dirty="0" err="1"/>
                  <a:t>return</a:t>
                </a:r>
                <a:r>
                  <a:rPr lang="es-ES" sz="1600" b="1" dirty="0"/>
                  <a:t> </a:t>
                </a:r>
                <a:r>
                  <a:rPr lang="es-ES" sz="1600" b="1" dirty="0">
                    <a:solidFill>
                      <a:srgbClr val="009900"/>
                    </a:solidFill>
                  </a:rPr>
                  <a:t>n1 </a:t>
                </a:r>
                <a:r>
                  <a:rPr lang="es-ES" sz="1600" b="1" dirty="0"/>
                  <a:t>+</a:t>
                </a:r>
                <a:r>
                  <a:rPr lang="es-ES" sz="1600" b="1" dirty="0">
                    <a:solidFill>
                      <a:srgbClr val="009900"/>
                    </a:solidFill>
                  </a:rPr>
                  <a:t> n2</a:t>
                </a:r>
                <a:r>
                  <a:rPr lang="es-ES" sz="1600" b="1" dirty="0"/>
                  <a:t> </a:t>
                </a:r>
                <a:endParaRPr lang="es-ES" sz="1600" dirty="0">
                  <a:solidFill>
                    <a:srgbClr val="00B050"/>
                  </a:solidFill>
                </a:endParaRPr>
              </a:p>
            </p:txBody>
          </p:sp>
        </p:grpSp>
        <p:sp>
          <p:nvSpPr>
            <p:cNvPr id="67" name="66 CuadroTexto"/>
            <p:cNvSpPr txBox="1"/>
            <p:nvPr/>
          </p:nvSpPr>
          <p:spPr>
            <a:xfrm>
              <a:off x="4787756" y="4460193"/>
              <a:ext cx="3435005" cy="384721"/>
            </a:xfrm>
            <a:prstGeom prst="rect">
              <a:avLst/>
            </a:prstGeom>
            <a:noFill/>
          </p:spPr>
          <p:txBody>
            <a:bodyPr wrap="square" rtlCol="0">
              <a:spAutoFit/>
            </a:bodyPr>
            <a:lstStyle/>
            <a:p>
              <a:pPr algn="ctr"/>
              <a:r>
                <a:rPr lang="es-ES" b="1" dirty="0" err="1"/>
                <a:t>Matematicas</a:t>
              </a:r>
              <a:endParaRPr lang="es-ES" b="1" dirty="0"/>
            </a:p>
          </p:txBody>
        </p:sp>
      </p:grpSp>
      <p:sp>
        <p:nvSpPr>
          <p:cNvPr id="69" name="68 Rectángulo"/>
          <p:cNvSpPr/>
          <p:nvPr/>
        </p:nvSpPr>
        <p:spPr>
          <a:xfrm>
            <a:off x="3182201" y="3980383"/>
            <a:ext cx="2178802" cy="384721"/>
          </a:xfrm>
          <a:prstGeom prst="rect">
            <a:avLst/>
          </a:prstGeom>
        </p:spPr>
        <p:txBody>
          <a:bodyPr wrap="none">
            <a:spAutoFit/>
          </a:bodyPr>
          <a:lstStyle/>
          <a:p>
            <a:r>
              <a:rPr lang="en-US" dirty="0" err="1">
                <a:solidFill>
                  <a:srgbClr val="FF3300"/>
                </a:solidFill>
              </a:rPr>
              <a:t>Métodos</a:t>
            </a:r>
            <a:r>
              <a:rPr lang="en-US" dirty="0">
                <a:solidFill>
                  <a:srgbClr val="FF3300"/>
                </a:solidFill>
              </a:rPr>
              <a:t> </a:t>
            </a:r>
            <a:r>
              <a:rPr lang="en-US" dirty="0" err="1">
                <a:solidFill>
                  <a:srgbClr val="FF3300"/>
                </a:solidFill>
              </a:rPr>
              <a:t>Estáticos</a:t>
            </a:r>
            <a:endParaRPr lang="es-ES" dirty="0">
              <a:solidFill>
                <a:srgbClr val="FF3300"/>
              </a:solidFill>
            </a:endParaRPr>
          </a:p>
        </p:txBody>
      </p:sp>
    </p:spTree>
    <p:extLst>
      <p:ext uri="{BB962C8B-B14F-4D97-AF65-F5344CB8AC3E}">
        <p14:creationId xmlns:p14="http://schemas.microsoft.com/office/powerpoint/2010/main" val="43575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115"/>
                                        </p:tgtEl>
                                        <p:attrNameLst>
                                          <p:attrName>style.visibility</p:attrName>
                                        </p:attrNameLst>
                                      </p:cBhvr>
                                      <p:to>
                                        <p:strVal val="visible"/>
                                      </p:to>
                                    </p:set>
                                    <p:anim calcmode="lin" valueType="num">
                                      <p:cBhvr additive="base">
                                        <p:cTn id="14" dur="500" fill="hold"/>
                                        <p:tgtEl>
                                          <p:spTgt spid="115"/>
                                        </p:tgtEl>
                                        <p:attrNameLst>
                                          <p:attrName>ppt_x</p:attrName>
                                        </p:attrNameLst>
                                      </p:cBhvr>
                                      <p:tavLst>
                                        <p:tav tm="0">
                                          <p:val>
                                            <p:strVal val="0-#ppt_w/2"/>
                                          </p:val>
                                        </p:tav>
                                        <p:tav tm="100000">
                                          <p:val>
                                            <p:strVal val="#ppt_x"/>
                                          </p:val>
                                        </p:tav>
                                      </p:tavLst>
                                    </p:anim>
                                    <p:anim calcmode="lin" valueType="num">
                                      <p:cBhvr additive="base">
                                        <p:cTn id="15" dur="500" fill="hold"/>
                                        <p:tgtEl>
                                          <p:spTgt spid="115"/>
                                        </p:tgtEl>
                                        <p:attrNameLst>
                                          <p:attrName>ppt_y</p:attrName>
                                        </p:attrNameLst>
                                      </p:cBhvr>
                                      <p:tavLst>
                                        <p:tav tm="0">
                                          <p:val>
                                            <p:strVal val="#ppt_y"/>
                                          </p:val>
                                        </p:tav>
                                        <p:tav tm="100000">
                                          <p:val>
                                            <p:strVal val="#ppt_y"/>
                                          </p:val>
                                        </p:tav>
                                      </p:tavLst>
                                    </p:anim>
                                  </p:childTnLst>
                                </p:cTn>
                              </p:par>
                              <p:par>
                                <p:cTn id="16" presetID="2" presetClass="entr" presetSubtype="8" fill="hold" nodeType="withEffect">
                                  <p:stCondLst>
                                    <p:cond delay="0"/>
                                  </p:stCondLst>
                                  <p:childTnLst>
                                    <p:set>
                                      <p:cBhvr>
                                        <p:cTn id="17" dur="1" fill="hold">
                                          <p:stCondLst>
                                            <p:cond delay="0"/>
                                          </p:stCondLst>
                                        </p:cTn>
                                        <p:tgtEl>
                                          <p:spTgt spid="97"/>
                                        </p:tgtEl>
                                        <p:attrNameLst>
                                          <p:attrName>style.visibility</p:attrName>
                                        </p:attrNameLst>
                                      </p:cBhvr>
                                      <p:to>
                                        <p:strVal val="visible"/>
                                      </p:to>
                                    </p:set>
                                    <p:anim calcmode="lin" valueType="num">
                                      <p:cBhvr additive="base">
                                        <p:cTn id="18" dur="500" fill="hold"/>
                                        <p:tgtEl>
                                          <p:spTgt spid="97"/>
                                        </p:tgtEl>
                                        <p:attrNameLst>
                                          <p:attrName>ppt_x</p:attrName>
                                        </p:attrNameLst>
                                      </p:cBhvr>
                                      <p:tavLst>
                                        <p:tav tm="0">
                                          <p:val>
                                            <p:strVal val="0-#ppt_w/2"/>
                                          </p:val>
                                        </p:tav>
                                        <p:tav tm="100000">
                                          <p:val>
                                            <p:strVal val="#ppt_x"/>
                                          </p:val>
                                        </p:tav>
                                      </p:tavLst>
                                    </p:anim>
                                    <p:anim calcmode="lin" valueType="num">
                                      <p:cBhvr additive="base">
                                        <p:cTn id="19"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07"/>
                                        </p:tgtEl>
                                        <p:attrNameLst>
                                          <p:attrName>style.visibility</p:attrName>
                                        </p:attrNameLst>
                                      </p:cBhvr>
                                      <p:to>
                                        <p:strVal val="visible"/>
                                      </p:to>
                                    </p:set>
                                    <p:anim calcmode="lin" valueType="num">
                                      <p:cBhvr>
                                        <p:cTn id="24" dur="500" fill="hold"/>
                                        <p:tgtEl>
                                          <p:spTgt spid="107"/>
                                        </p:tgtEl>
                                        <p:attrNameLst>
                                          <p:attrName>ppt_w</p:attrName>
                                        </p:attrNameLst>
                                      </p:cBhvr>
                                      <p:tavLst>
                                        <p:tav tm="0">
                                          <p:val>
                                            <p:fltVal val="0"/>
                                          </p:val>
                                        </p:tav>
                                        <p:tav tm="100000">
                                          <p:val>
                                            <p:strVal val="#ppt_w"/>
                                          </p:val>
                                        </p:tav>
                                      </p:tavLst>
                                    </p:anim>
                                    <p:anim calcmode="lin" valueType="num">
                                      <p:cBhvr>
                                        <p:cTn id="25" dur="500" fill="hold"/>
                                        <p:tgtEl>
                                          <p:spTgt spid="107"/>
                                        </p:tgtEl>
                                        <p:attrNameLst>
                                          <p:attrName>ppt_h</p:attrName>
                                        </p:attrNameLst>
                                      </p:cBhvr>
                                      <p:tavLst>
                                        <p:tav tm="0">
                                          <p:val>
                                            <p:fltVal val="0"/>
                                          </p:val>
                                        </p:tav>
                                        <p:tav tm="100000">
                                          <p:val>
                                            <p:strVal val="#ppt_h"/>
                                          </p:val>
                                        </p:tav>
                                      </p:tavLst>
                                    </p:anim>
                                    <p:animEffect transition="in" filter="fade">
                                      <p:cBhvr>
                                        <p:cTn id="26" dur="500"/>
                                        <p:tgtEl>
                                          <p:spTgt spid="107"/>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08"/>
                                        </p:tgtEl>
                                        <p:attrNameLst>
                                          <p:attrName>style.visibility</p:attrName>
                                        </p:attrNameLst>
                                      </p:cBhvr>
                                      <p:to>
                                        <p:strVal val="visible"/>
                                      </p:to>
                                    </p:set>
                                    <p:anim calcmode="lin" valueType="num">
                                      <p:cBhvr>
                                        <p:cTn id="29" dur="500" fill="hold"/>
                                        <p:tgtEl>
                                          <p:spTgt spid="108"/>
                                        </p:tgtEl>
                                        <p:attrNameLst>
                                          <p:attrName>ppt_w</p:attrName>
                                        </p:attrNameLst>
                                      </p:cBhvr>
                                      <p:tavLst>
                                        <p:tav tm="0">
                                          <p:val>
                                            <p:fltVal val="0"/>
                                          </p:val>
                                        </p:tav>
                                        <p:tav tm="100000">
                                          <p:val>
                                            <p:strVal val="#ppt_w"/>
                                          </p:val>
                                        </p:tav>
                                      </p:tavLst>
                                    </p:anim>
                                    <p:anim calcmode="lin" valueType="num">
                                      <p:cBhvr>
                                        <p:cTn id="30" dur="500" fill="hold"/>
                                        <p:tgtEl>
                                          <p:spTgt spid="108"/>
                                        </p:tgtEl>
                                        <p:attrNameLst>
                                          <p:attrName>ppt_h</p:attrName>
                                        </p:attrNameLst>
                                      </p:cBhvr>
                                      <p:tavLst>
                                        <p:tav tm="0">
                                          <p:val>
                                            <p:fltVal val="0"/>
                                          </p:val>
                                        </p:tav>
                                        <p:tav tm="100000">
                                          <p:val>
                                            <p:strVal val="#ppt_h"/>
                                          </p:val>
                                        </p:tav>
                                      </p:tavLst>
                                    </p:anim>
                                    <p:animEffect transition="in" filter="fade">
                                      <p:cBhvr>
                                        <p:cTn id="31" dur="500"/>
                                        <p:tgtEl>
                                          <p:spTgt spid="108"/>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112"/>
                                        </p:tgtEl>
                                        <p:attrNameLst>
                                          <p:attrName>style.visibility</p:attrName>
                                        </p:attrNameLst>
                                      </p:cBhvr>
                                      <p:to>
                                        <p:strVal val="visible"/>
                                      </p:to>
                                    </p:set>
                                    <p:anim calcmode="lin" valueType="num">
                                      <p:cBhvr>
                                        <p:cTn id="36" dur="500" fill="hold"/>
                                        <p:tgtEl>
                                          <p:spTgt spid="112"/>
                                        </p:tgtEl>
                                        <p:attrNameLst>
                                          <p:attrName>ppt_w</p:attrName>
                                        </p:attrNameLst>
                                      </p:cBhvr>
                                      <p:tavLst>
                                        <p:tav tm="0">
                                          <p:val>
                                            <p:fltVal val="0"/>
                                          </p:val>
                                        </p:tav>
                                        <p:tav tm="100000">
                                          <p:val>
                                            <p:strVal val="#ppt_w"/>
                                          </p:val>
                                        </p:tav>
                                      </p:tavLst>
                                    </p:anim>
                                    <p:anim calcmode="lin" valueType="num">
                                      <p:cBhvr>
                                        <p:cTn id="37" dur="500" fill="hold"/>
                                        <p:tgtEl>
                                          <p:spTgt spid="112"/>
                                        </p:tgtEl>
                                        <p:attrNameLst>
                                          <p:attrName>ppt_h</p:attrName>
                                        </p:attrNameLst>
                                      </p:cBhvr>
                                      <p:tavLst>
                                        <p:tav tm="0">
                                          <p:val>
                                            <p:fltVal val="0"/>
                                          </p:val>
                                        </p:tav>
                                        <p:tav tm="100000">
                                          <p:val>
                                            <p:strVal val="#ppt_h"/>
                                          </p:val>
                                        </p:tav>
                                      </p:tavLst>
                                    </p:anim>
                                    <p:animEffect transition="in" filter="fade">
                                      <p:cBhvr>
                                        <p:cTn id="38" dur="500"/>
                                        <p:tgtEl>
                                          <p:spTgt spid="112"/>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1+#ppt_w/2"/>
                                          </p:val>
                                        </p:tav>
                                        <p:tav tm="100000">
                                          <p:val>
                                            <p:strVal val="#ppt_x"/>
                                          </p:val>
                                        </p:tav>
                                      </p:tavLst>
                                    </p:anim>
                                    <p:anim calcmode="lin" valueType="num">
                                      <p:cBhvr additive="base">
                                        <p:cTn id="4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5" presetClass="entr" presetSubtype="0" fill="hold" grpId="0" nodeType="click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fade">
                                      <p:cBhvr>
                                        <p:cTn id="49" dur="2000"/>
                                        <p:tgtEl>
                                          <p:spTgt spid="69"/>
                                        </p:tgtEl>
                                      </p:cBhvr>
                                    </p:animEffect>
                                    <p:anim calcmode="lin" valueType="num">
                                      <p:cBhvr>
                                        <p:cTn id="50" dur="2000" fill="hold"/>
                                        <p:tgtEl>
                                          <p:spTgt spid="69"/>
                                        </p:tgtEl>
                                        <p:attrNameLst>
                                          <p:attrName>ppt_w</p:attrName>
                                        </p:attrNameLst>
                                      </p:cBhvr>
                                      <p:tavLst>
                                        <p:tav tm="0" fmla="#ppt_w*sin(2.5*pi*$)">
                                          <p:val>
                                            <p:fltVal val="0"/>
                                          </p:val>
                                        </p:tav>
                                        <p:tav tm="100000">
                                          <p:val>
                                            <p:fltVal val="1"/>
                                          </p:val>
                                        </p:tav>
                                      </p:tavLst>
                                    </p:anim>
                                    <p:anim calcmode="lin" valueType="num">
                                      <p:cBhvr>
                                        <p:cTn id="51" dur="2000" fill="hold"/>
                                        <p:tgtEl>
                                          <p:spTgt spid="69"/>
                                        </p:tgtEl>
                                        <p:attrNameLst>
                                          <p:attrName>ppt_h</p:attrName>
                                        </p:attrNameLst>
                                      </p:cBhvr>
                                      <p:tavLst>
                                        <p:tav tm="0">
                                          <p:val>
                                            <p:strVal val="#ppt_h"/>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 calcmode="lin" valueType="num">
                                      <p:cBhvr additive="base">
                                        <p:cTn id="56" dur="500" fill="hold"/>
                                        <p:tgtEl>
                                          <p:spTgt spid="4"/>
                                        </p:tgtEl>
                                        <p:attrNameLst>
                                          <p:attrName>ppt_x</p:attrName>
                                        </p:attrNameLst>
                                      </p:cBhvr>
                                      <p:tavLst>
                                        <p:tav tm="0">
                                          <p:val>
                                            <p:strVal val="0-#ppt_w/2"/>
                                          </p:val>
                                        </p:tav>
                                        <p:tav tm="100000">
                                          <p:val>
                                            <p:strVal val="#ppt_x"/>
                                          </p:val>
                                        </p:tav>
                                      </p:tavLst>
                                    </p:anim>
                                    <p:anim calcmode="lin" valueType="num">
                                      <p:cBhvr additive="base">
                                        <p:cTn id="57"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66"/>
                                        </p:tgtEl>
                                        <p:attrNameLst>
                                          <p:attrName>style.visibility</p:attrName>
                                        </p:attrNameLst>
                                      </p:cBhvr>
                                      <p:to>
                                        <p:strVal val="visible"/>
                                      </p:to>
                                    </p:set>
                                    <p:anim calcmode="lin" valueType="num">
                                      <p:cBhvr>
                                        <p:cTn id="62" dur="500" fill="hold"/>
                                        <p:tgtEl>
                                          <p:spTgt spid="66"/>
                                        </p:tgtEl>
                                        <p:attrNameLst>
                                          <p:attrName>ppt_w</p:attrName>
                                        </p:attrNameLst>
                                      </p:cBhvr>
                                      <p:tavLst>
                                        <p:tav tm="0">
                                          <p:val>
                                            <p:fltVal val="0"/>
                                          </p:val>
                                        </p:tav>
                                        <p:tav tm="100000">
                                          <p:val>
                                            <p:strVal val="#ppt_w"/>
                                          </p:val>
                                        </p:tav>
                                      </p:tavLst>
                                    </p:anim>
                                    <p:anim calcmode="lin" valueType="num">
                                      <p:cBhvr>
                                        <p:cTn id="63" dur="500" fill="hold"/>
                                        <p:tgtEl>
                                          <p:spTgt spid="66"/>
                                        </p:tgtEl>
                                        <p:attrNameLst>
                                          <p:attrName>ppt_h</p:attrName>
                                        </p:attrNameLst>
                                      </p:cBhvr>
                                      <p:tavLst>
                                        <p:tav tm="0">
                                          <p:val>
                                            <p:fltVal val="0"/>
                                          </p:val>
                                        </p:tav>
                                        <p:tav tm="100000">
                                          <p:val>
                                            <p:strVal val="#ppt_h"/>
                                          </p:val>
                                        </p:tav>
                                      </p:tavLst>
                                    </p:anim>
                                    <p:animEffect transition="in" filter="fade">
                                      <p:cBhvr>
                                        <p:cTn id="64"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P spid="112" grpId="0"/>
      <p:bldP spid="115" grpId="0"/>
      <p:bldP spid="2" grpId="0"/>
      <p:bldP spid="66" grpId="0"/>
      <p:bldP spid="6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83518" y="44624"/>
            <a:ext cx="7392988" cy="563563"/>
          </a:xfrm>
        </p:spPr>
        <p:txBody>
          <a:bodyPr/>
          <a:lstStyle/>
          <a:p>
            <a:r>
              <a:rPr lang="en-US" dirty="0" err="1"/>
              <a:t>Ejemplo</a:t>
            </a:r>
            <a:r>
              <a:rPr lang="en-US" dirty="0"/>
              <a:t>: TV simple</a:t>
            </a:r>
            <a:endParaRPr lang="en-US" dirty="0">
              <a:solidFill>
                <a:schemeClr val="accent1"/>
              </a:solidFill>
            </a:endParaRPr>
          </a:p>
        </p:txBody>
      </p:sp>
      <p:sp>
        <p:nvSpPr>
          <p:cNvPr id="23" name="22 CuadroTexto"/>
          <p:cNvSpPr txBox="1"/>
          <p:nvPr/>
        </p:nvSpPr>
        <p:spPr>
          <a:xfrm>
            <a:off x="3204441" y="764704"/>
            <a:ext cx="2774092" cy="384721"/>
          </a:xfrm>
          <a:prstGeom prst="rect">
            <a:avLst/>
          </a:prstGeom>
          <a:noFill/>
        </p:spPr>
        <p:txBody>
          <a:bodyPr wrap="square" rtlCol="0">
            <a:spAutoFit/>
          </a:bodyPr>
          <a:lstStyle/>
          <a:p>
            <a:pPr algn="ctr"/>
            <a:r>
              <a:rPr lang="es-ES" b="1" dirty="0"/>
              <a:t>TV</a:t>
            </a:r>
          </a:p>
        </p:txBody>
      </p:sp>
      <p:sp>
        <p:nvSpPr>
          <p:cNvPr id="53" name="52 Rectángulo"/>
          <p:cNvSpPr/>
          <p:nvPr/>
        </p:nvSpPr>
        <p:spPr>
          <a:xfrm>
            <a:off x="3214811" y="1542634"/>
            <a:ext cx="2763722" cy="4756314"/>
          </a:xfrm>
          <a:prstGeom prst="rect">
            <a:avLst/>
          </a:prstGeom>
          <a:solidFill>
            <a:srgbClr val="FFDF79">
              <a:alpha val="90000"/>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4" name="53 Rectángulo"/>
          <p:cNvSpPr/>
          <p:nvPr/>
        </p:nvSpPr>
        <p:spPr>
          <a:xfrm>
            <a:off x="3214811" y="1542634"/>
            <a:ext cx="2763722" cy="4756314"/>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55" name="54 Grupo"/>
          <p:cNvGrpSpPr/>
          <p:nvPr/>
        </p:nvGrpSpPr>
        <p:grpSpPr>
          <a:xfrm>
            <a:off x="3214811" y="2532562"/>
            <a:ext cx="2774092" cy="504259"/>
            <a:chOff x="1905" y="1356785"/>
            <a:chExt cx="1857374" cy="282490"/>
          </a:xfrm>
          <a:scene3d>
            <a:camera prst="orthographicFront">
              <a:rot lat="0" lon="0" rev="0"/>
            </a:camera>
            <a:lightRig rig="contrasting" dir="t">
              <a:rot lat="0" lon="0" rev="1200000"/>
            </a:lightRig>
          </a:scene3d>
        </p:grpSpPr>
        <p:sp>
          <p:nvSpPr>
            <p:cNvPr id="56" name="55 Rectángulo"/>
            <p:cNvSpPr/>
            <p:nvPr/>
          </p:nvSpPr>
          <p:spPr>
            <a:xfrm>
              <a:off x="1905" y="1356785"/>
              <a:ext cx="1857374" cy="282490"/>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57" name="56 Rectángulo"/>
            <p:cNvSpPr/>
            <p:nvPr/>
          </p:nvSpPr>
          <p:spPr>
            <a:xfrm>
              <a:off x="1905" y="1356785"/>
              <a:ext cx="1857374" cy="28249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Métodos</a:t>
              </a:r>
              <a:endParaRPr lang="es-ES" sz="1400" b="1" kern="1200" dirty="0"/>
            </a:p>
          </p:txBody>
        </p:sp>
      </p:grpSp>
      <p:grpSp>
        <p:nvGrpSpPr>
          <p:cNvPr id="2" name="1 Grupo"/>
          <p:cNvGrpSpPr/>
          <p:nvPr/>
        </p:nvGrpSpPr>
        <p:grpSpPr>
          <a:xfrm>
            <a:off x="3456978" y="3861036"/>
            <a:ext cx="2312340" cy="720092"/>
            <a:chOff x="3499320" y="3625225"/>
            <a:chExt cx="2312340" cy="720092"/>
          </a:xfrm>
        </p:grpSpPr>
        <p:sp>
          <p:nvSpPr>
            <p:cNvPr id="66" name="65 CuadroTexto"/>
            <p:cNvSpPr txBox="1"/>
            <p:nvPr/>
          </p:nvSpPr>
          <p:spPr>
            <a:xfrm>
              <a:off x="3499320" y="3625225"/>
              <a:ext cx="2312340" cy="369332"/>
            </a:xfrm>
            <a:prstGeom prst="rect">
              <a:avLst/>
            </a:prstGeom>
            <a:noFill/>
          </p:spPr>
          <p:txBody>
            <a:bodyPr wrap="square" rtlCol="0">
              <a:spAutoFit/>
            </a:bodyPr>
            <a:lstStyle/>
            <a:p>
              <a:pPr algn="ctr"/>
              <a:r>
                <a:rPr lang="es-ES" sz="1800" b="1" dirty="0"/>
                <a:t>apagar</a:t>
              </a:r>
            </a:p>
          </p:txBody>
        </p:sp>
        <p:sp>
          <p:nvSpPr>
            <p:cNvPr id="67" name="66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8" name="67 CuadroTexto"/>
            <p:cNvSpPr txBox="1"/>
            <p:nvPr/>
          </p:nvSpPr>
          <p:spPr>
            <a:xfrm>
              <a:off x="3698339" y="3994557"/>
              <a:ext cx="1914307" cy="338554"/>
            </a:xfrm>
            <a:prstGeom prst="rect">
              <a:avLst/>
            </a:prstGeom>
            <a:noFill/>
          </p:spPr>
          <p:txBody>
            <a:bodyPr wrap="none" rtlCol="0">
              <a:spAutoFit/>
            </a:bodyPr>
            <a:lstStyle/>
            <a:p>
              <a:pPr algn="ctr"/>
              <a:r>
                <a:rPr lang="es-ES" sz="1600" dirty="0"/>
                <a:t>estado </a:t>
              </a:r>
              <a:r>
                <a:rPr lang="es-ES" sz="1600" dirty="0">
                  <a:sym typeface="Symbol"/>
                </a:rPr>
                <a:t> </a:t>
              </a:r>
              <a:r>
                <a:rPr lang="es-ES" sz="1600" dirty="0">
                  <a:solidFill>
                    <a:srgbClr val="FF0000"/>
                  </a:solidFill>
                  <a:sym typeface="Symbol"/>
                </a:rPr>
                <a:t>apagado</a:t>
              </a:r>
              <a:endParaRPr lang="es-ES" sz="1600" dirty="0">
                <a:solidFill>
                  <a:srgbClr val="FF0000"/>
                </a:solidFill>
              </a:endParaRPr>
            </a:p>
          </p:txBody>
        </p:sp>
      </p:grpSp>
      <p:sp>
        <p:nvSpPr>
          <p:cNvPr id="75" name="74 CuadroTexto"/>
          <p:cNvSpPr txBox="1"/>
          <p:nvPr/>
        </p:nvSpPr>
        <p:spPr>
          <a:xfrm>
            <a:off x="3214811" y="1772816"/>
            <a:ext cx="1486384" cy="369332"/>
          </a:xfrm>
          <a:prstGeom prst="rect">
            <a:avLst/>
          </a:prstGeom>
          <a:noFill/>
        </p:spPr>
        <p:txBody>
          <a:bodyPr wrap="square" rtlCol="0">
            <a:spAutoFit/>
          </a:bodyPr>
          <a:lstStyle/>
          <a:p>
            <a:pPr algn="ctr"/>
            <a:r>
              <a:rPr lang="es-ES" sz="1800" b="1" dirty="0"/>
              <a:t>estado</a:t>
            </a:r>
          </a:p>
        </p:txBody>
      </p:sp>
      <p:grpSp>
        <p:nvGrpSpPr>
          <p:cNvPr id="77" name="76 Grupo"/>
          <p:cNvGrpSpPr/>
          <p:nvPr/>
        </p:nvGrpSpPr>
        <p:grpSpPr>
          <a:xfrm>
            <a:off x="3214811" y="1149425"/>
            <a:ext cx="2774092" cy="577532"/>
            <a:chOff x="1905" y="1304800"/>
            <a:chExt cx="1857374" cy="323538"/>
          </a:xfrm>
          <a:scene3d>
            <a:camera prst="orthographicFront">
              <a:rot lat="0" lon="0" rev="0"/>
            </a:camera>
            <a:lightRig rig="contrasting" dir="t">
              <a:rot lat="0" lon="0" rev="1200000"/>
            </a:lightRig>
          </a:scene3d>
        </p:grpSpPr>
        <p:sp>
          <p:nvSpPr>
            <p:cNvPr id="78" name="77 Rectángulo"/>
            <p:cNvSpPr/>
            <p:nvPr/>
          </p:nvSpPr>
          <p:spPr>
            <a:xfrm>
              <a:off x="1905" y="1338029"/>
              <a:ext cx="1857374" cy="290309"/>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9" name="78 Rectángulo"/>
            <p:cNvSpPr/>
            <p:nvPr/>
          </p:nvSpPr>
          <p:spPr>
            <a:xfrm>
              <a:off x="1905" y="1304800"/>
              <a:ext cx="1857374" cy="32353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Atributos</a:t>
              </a:r>
              <a:endParaRPr lang="es-ES" sz="1400" b="1" kern="1200" dirty="0"/>
            </a:p>
          </p:txBody>
        </p:sp>
      </p:grpSp>
      <p:sp>
        <p:nvSpPr>
          <p:cNvPr id="42" name="41 CuadroTexto"/>
          <p:cNvSpPr txBox="1"/>
          <p:nvPr/>
        </p:nvSpPr>
        <p:spPr>
          <a:xfrm>
            <a:off x="3204441" y="2148731"/>
            <a:ext cx="1490346" cy="369332"/>
          </a:xfrm>
          <a:prstGeom prst="rect">
            <a:avLst/>
          </a:prstGeom>
          <a:noFill/>
        </p:spPr>
        <p:txBody>
          <a:bodyPr wrap="square" rtlCol="0">
            <a:spAutoFit/>
          </a:bodyPr>
          <a:lstStyle/>
          <a:p>
            <a:pPr algn="ctr"/>
            <a:r>
              <a:rPr lang="es-ES" sz="1800" b="1" dirty="0"/>
              <a:t>canal</a:t>
            </a:r>
          </a:p>
        </p:txBody>
      </p:sp>
      <p:sp>
        <p:nvSpPr>
          <p:cNvPr id="43" name="42 CuadroTexto"/>
          <p:cNvSpPr txBox="1"/>
          <p:nvPr/>
        </p:nvSpPr>
        <p:spPr>
          <a:xfrm>
            <a:off x="4353213" y="1726957"/>
            <a:ext cx="1084160" cy="461665"/>
          </a:xfrm>
          <a:prstGeom prst="rect">
            <a:avLst/>
          </a:prstGeom>
          <a:noFill/>
        </p:spPr>
        <p:txBody>
          <a:bodyPr wrap="square" rtlCol="0">
            <a:spAutoFit/>
          </a:bodyPr>
          <a:lstStyle/>
          <a:p>
            <a:pPr algn="ctr"/>
            <a:r>
              <a:rPr lang="es-ES" sz="1200" b="1" dirty="0">
                <a:solidFill>
                  <a:srgbClr val="00B050"/>
                </a:solidFill>
              </a:rPr>
              <a:t>encendido</a:t>
            </a:r>
          </a:p>
          <a:p>
            <a:pPr algn="ctr"/>
            <a:r>
              <a:rPr lang="es-ES" sz="1200" b="1" dirty="0">
                <a:solidFill>
                  <a:srgbClr val="FF0000"/>
                </a:solidFill>
              </a:rPr>
              <a:t>apagado</a:t>
            </a:r>
          </a:p>
        </p:txBody>
      </p:sp>
      <p:grpSp>
        <p:nvGrpSpPr>
          <p:cNvPr id="46" name="45 Grupo"/>
          <p:cNvGrpSpPr/>
          <p:nvPr/>
        </p:nvGrpSpPr>
        <p:grpSpPr>
          <a:xfrm>
            <a:off x="3456976" y="3056671"/>
            <a:ext cx="2312340" cy="720092"/>
            <a:chOff x="3499320" y="3625225"/>
            <a:chExt cx="2312340" cy="720092"/>
          </a:xfrm>
        </p:grpSpPr>
        <p:sp>
          <p:nvSpPr>
            <p:cNvPr id="47" name="46 CuadroTexto"/>
            <p:cNvSpPr txBox="1"/>
            <p:nvPr/>
          </p:nvSpPr>
          <p:spPr>
            <a:xfrm>
              <a:off x="3499320" y="3625225"/>
              <a:ext cx="2312340" cy="369332"/>
            </a:xfrm>
            <a:prstGeom prst="rect">
              <a:avLst/>
            </a:prstGeom>
            <a:noFill/>
          </p:spPr>
          <p:txBody>
            <a:bodyPr wrap="square" rtlCol="0">
              <a:spAutoFit/>
            </a:bodyPr>
            <a:lstStyle/>
            <a:p>
              <a:pPr algn="ctr"/>
              <a:r>
                <a:rPr lang="es-ES" sz="1800" b="1" dirty="0"/>
                <a:t>encender</a:t>
              </a:r>
            </a:p>
          </p:txBody>
        </p:sp>
        <p:sp>
          <p:nvSpPr>
            <p:cNvPr id="48" name="47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9" name="48 CuadroTexto"/>
            <p:cNvSpPr txBox="1"/>
            <p:nvPr/>
          </p:nvSpPr>
          <p:spPr>
            <a:xfrm>
              <a:off x="3624602" y="3994557"/>
              <a:ext cx="2061783" cy="338554"/>
            </a:xfrm>
            <a:prstGeom prst="rect">
              <a:avLst/>
            </a:prstGeom>
            <a:noFill/>
          </p:spPr>
          <p:txBody>
            <a:bodyPr wrap="none" rtlCol="0">
              <a:spAutoFit/>
            </a:bodyPr>
            <a:lstStyle/>
            <a:p>
              <a:pPr algn="ctr"/>
              <a:r>
                <a:rPr lang="es-ES" sz="1600" dirty="0"/>
                <a:t>estado </a:t>
              </a:r>
              <a:r>
                <a:rPr lang="es-ES" sz="1600" dirty="0">
                  <a:sym typeface="Symbol"/>
                </a:rPr>
                <a:t> </a:t>
              </a:r>
              <a:r>
                <a:rPr lang="es-ES" sz="1600" dirty="0">
                  <a:solidFill>
                    <a:srgbClr val="00B050"/>
                  </a:solidFill>
                  <a:sym typeface="Symbol"/>
                </a:rPr>
                <a:t>encendido</a:t>
              </a:r>
              <a:endParaRPr lang="es-ES" sz="1600" dirty="0">
                <a:solidFill>
                  <a:srgbClr val="00B050"/>
                </a:solidFill>
              </a:endParaRPr>
            </a:p>
          </p:txBody>
        </p:sp>
      </p:grpSp>
      <p:sp>
        <p:nvSpPr>
          <p:cNvPr id="50" name="49 CuadroTexto"/>
          <p:cNvSpPr txBox="1"/>
          <p:nvPr/>
        </p:nvSpPr>
        <p:spPr>
          <a:xfrm>
            <a:off x="4314832" y="2201746"/>
            <a:ext cx="1084160" cy="276999"/>
          </a:xfrm>
          <a:prstGeom prst="rect">
            <a:avLst/>
          </a:prstGeom>
          <a:noFill/>
        </p:spPr>
        <p:txBody>
          <a:bodyPr wrap="square" rtlCol="0">
            <a:spAutoFit/>
          </a:bodyPr>
          <a:lstStyle/>
          <a:p>
            <a:pPr algn="ctr"/>
            <a:r>
              <a:rPr lang="es-ES" sz="1200" b="1" dirty="0">
                <a:solidFill>
                  <a:srgbClr val="00B050"/>
                </a:solidFill>
              </a:rPr>
              <a:t>1, 2, 3 …</a:t>
            </a:r>
          </a:p>
        </p:txBody>
      </p:sp>
      <p:grpSp>
        <p:nvGrpSpPr>
          <p:cNvPr id="58" name="57 Grupo"/>
          <p:cNvGrpSpPr/>
          <p:nvPr/>
        </p:nvGrpSpPr>
        <p:grpSpPr>
          <a:xfrm>
            <a:off x="3435317" y="4653136"/>
            <a:ext cx="2312340" cy="720092"/>
            <a:chOff x="3499320" y="3625225"/>
            <a:chExt cx="2312340" cy="720092"/>
          </a:xfrm>
        </p:grpSpPr>
        <p:sp>
          <p:nvSpPr>
            <p:cNvPr id="65" name="64 CuadroTexto"/>
            <p:cNvSpPr txBox="1"/>
            <p:nvPr/>
          </p:nvSpPr>
          <p:spPr>
            <a:xfrm>
              <a:off x="3499320" y="3625225"/>
              <a:ext cx="2312340" cy="369332"/>
            </a:xfrm>
            <a:prstGeom prst="rect">
              <a:avLst/>
            </a:prstGeom>
            <a:noFill/>
          </p:spPr>
          <p:txBody>
            <a:bodyPr wrap="square" rtlCol="0">
              <a:spAutoFit/>
            </a:bodyPr>
            <a:lstStyle/>
            <a:p>
              <a:pPr algn="ctr"/>
              <a:r>
                <a:rPr lang="es-ES" sz="1800" b="1" dirty="0" err="1"/>
                <a:t>subirCanal</a:t>
              </a:r>
              <a:endParaRPr lang="es-ES" sz="1800" b="1" dirty="0"/>
            </a:p>
          </p:txBody>
        </p:sp>
        <p:sp>
          <p:nvSpPr>
            <p:cNvPr id="69" name="68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3" name="72 CuadroTexto"/>
            <p:cNvSpPr txBox="1"/>
            <p:nvPr/>
          </p:nvSpPr>
          <p:spPr>
            <a:xfrm>
              <a:off x="3798528" y="3994557"/>
              <a:ext cx="1713932" cy="338554"/>
            </a:xfrm>
            <a:prstGeom prst="rect">
              <a:avLst/>
            </a:prstGeom>
            <a:noFill/>
          </p:spPr>
          <p:txBody>
            <a:bodyPr wrap="none" rtlCol="0">
              <a:spAutoFit/>
            </a:bodyPr>
            <a:lstStyle/>
            <a:p>
              <a:pPr algn="ctr"/>
              <a:r>
                <a:rPr lang="es-ES" sz="1600" dirty="0"/>
                <a:t>canal </a:t>
              </a:r>
              <a:r>
                <a:rPr lang="es-ES" sz="1600" dirty="0">
                  <a:sym typeface="Symbol"/>
                </a:rPr>
                <a:t></a:t>
              </a:r>
              <a:r>
                <a:rPr lang="es-ES" sz="1600" dirty="0">
                  <a:solidFill>
                    <a:schemeClr val="tx1">
                      <a:lumMod val="60000"/>
                      <a:lumOff val="40000"/>
                    </a:schemeClr>
                  </a:solidFill>
                  <a:sym typeface="Symbol"/>
                </a:rPr>
                <a:t> canal+1</a:t>
              </a:r>
              <a:endParaRPr lang="es-ES" sz="1600" dirty="0">
                <a:solidFill>
                  <a:schemeClr val="tx1">
                    <a:lumMod val="60000"/>
                    <a:lumOff val="40000"/>
                  </a:schemeClr>
                </a:solidFill>
              </a:endParaRPr>
            </a:p>
          </p:txBody>
        </p:sp>
      </p:grpSp>
      <p:grpSp>
        <p:nvGrpSpPr>
          <p:cNvPr id="76" name="75 Grupo"/>
          <p:cNvGrpSpPr/>
          <p:nvPr/>
        </p:nvGrpSpPr>
        <p:grpSpPr>
          <a:xfrm>
            <a:off x="3445687" y="5414802"/>
            <a:ext cx="2312340" cy="720092"/>
            <a:chOff x="3499320" y="3625225"/>
            <a:chExt cx="2312340" cy="720092"/>
          </a:xfrm>
        </p:grpSpPr>
        <p:sp>
          <p:nvSpPr>
            <p:cNvPr id="83" name="82 CuadroTexto"/>
            <p:cNvSpPr txBox="1"/>
            <p:nvPr/>
          </p:nvSpPr>
          <p:spPr>
            <a:xfrm>
              <a:off x="3499320" y="3625225"/>
              <a:ext cx="2312340" cy="369332"/>
            </a:xfrm>
            <a:prstGeom prst="rect">
              <a:avLst/>
            </a:prstGeom>
            <a:noFill/>
          </p:spPr>
          <p:txBody>
            <a:bodyPr wrap="square" rtlCol="0">
              <a:spAutoFit/>
            </a:bodyPr>
            <a:lstStyle/>
            <a:p>
              <a:pPr algn="ctr"/>
              <a:r>
                <a:rPr lang="es-ES" sz="1800" b="1" dirty="0" err="1"/>
                <a:t>bajarCanal</a:t>
              </a:r>
              <a:endParaRPr lang="es-ES" sz="1800" b="1" dirty="0"/>
            </a:p>
          </p:txBody>
        </p:sp>
        <p:sp>
          <p:nvSpPr>
            <p:cNvPr id="84" name="83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5" name="84 CuadroTexto"/>
            <p:cNvSpPr txBox="1"/>
            <p:nvPr/>
          </p:nvSpPr>
          <p:spPr>
            <a:xfrm>
              <a:off x="3824176" y="3994557"/>
              <a:ext cx="1662636" cy="338554"/>
            </a:xfrm>
            <a:prstGeom prst="rect">
              <a:avLst/>
            </a:prstGeom>
            <a:noFill/>
          </p:spPr>
          <p:txBody>
            <a:bodyPr wrap="none" rtlCol="0">
              <a:spAutoFit/>
            </a:bodyPr>
            <a:lstStyle/>
            <a:p>
              <a:pPr algn="ctr"/>
              <a:r>
                <a:rPr lang="es-ES" sz="1600" dirty="0"/>
                <a:t>canal </a:t>
              </a:r>
              <a:r>
                <a:rPr lang="es-ES" sz="1600" dirty="0">
                  <a:sym typeface="Symbol"/>
                </a:rPr>
                <a:t> </a:t>
              </a:r>
              <a:r>
                <a:rPr lang="es-ES" sz="1600" dirty="0">
                  <a:solidFill>
                    <a:schemeClr val="tx1">
                      <a:lumMod val="60000"/>
                      <a:lumOff val="40000"/>
                    </a:schemeClr>
                  </a:solidFill>
                  <a:sym typeface="Symbol"/>
                </a:rPr>
                <a:t>canal-1</a:t>
              </a:r>
              <a:endParaRPr lang="es-ES" sz="1600" dirty="0">
                <a:solidFill>
                  <a:schemeClr val="tx1">
                    <a:lumMod val="60000"/>
                    <a:lumOff val="40000"/>
                  </a:schemeClr>
                </a:solidFill>
              </a:endParaRPr>
            </a:p>
          </p:txBody>
        </p:sp>
      </p:grpSp>
    </p:spTree>
    <p:extLst>
      <p:ext uri="{BB962C8B-B14F-4D97-AF65-F5344CB8AC3E}">
        <p14:creationId xmlns:p14="http://schemas.microsoft.com/office/powerpoint/2010/main" val="1203303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83518" y="44624"/>
            <a:ext cx="7392988" cy="563563"/>
          </a:xfrm>
        </p:spPr>
        <p:txBody>
          <a:bodyPr/>
          <a:lstStyle/>
          <a:p>
            <a:r>
              <a:rPr lang="en-US" dirty="0" err="1"/>
              <a:t>Ejemplo</a:t>
            </a:r>
            <a:r>
              <a:rPr lang="en-US" dirty="0"/>
              <a:t>: </a:t>
            </a:r>
            <a:r>
              <a:rPr lang="en-US" dirty="0" err="1"/>
              <a:t>Ascensor</a:t>
            </a:r>
            <a:endParaRPr lang="en-US" dirty="0">
              <a:solidFill>
                <a:schemeClr val="accent1"/>
              </a:solidFill>
            </a:endParaRPr>
          </a:p>
        </p:txBody>
      </p:sp>
      <p:sp>
        <p:nvSpPr>
          <p:cNvPr id="23" name="22 CuadroTexto"/>
          <p:cNvSpPr txBox="1"/>
          <p:nvPr/>
        </p:nvSpPr>
        <p:spPr>
          <a:xfrm>
            <a:off x="3204441" y="764704"/>
            <a:ext cx="2774092" cy="384721"/>
          </a:xfrm>
          <a:prstGeom prst="rect">
            <a:avLst/>
          </a:prstGeom>
          <a:noFill/>
        </p:spPr>
        <p:txBody>
          <a:bodyPr wrap="square" rtlCol="0">
            <a:spAutoFit/>
          </a:bodyPr>
          <a:lstStyle/>
          <a:p>
            <a:pPr algn="ctr"/>
            <a:r>
              <a:rPr lang="es-ES" b="1" dirty="0"/>
              <a:t>Ascensor</a:t>
            </a:r>
          </a:p>
        </p:txBody>
      </p:sp>
      <p:sp>
        <p:nvSpPr>
          <p:cNvPr id="53" name="52 Rectángulo"/>
          <p:cNvSpPr/>
          <p:nvPr/>
        </p:nvSpPr>
        <p:spPr>
          <a:xfrm>
            <a:off x="3214811" y="1542634"/>
            <a:ext cx="2763722" cy="4756314"/>
          </a:xfrm>
          <a:prstGeom prst="rect">
            <a:avLst/>
          </a:prstGeom>
          <a:solidFill>
            <a:srgbClr val="FFDF79">
              <a:alpha val="90000"/>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4" name="53 Rectángulo"/>
          <p:cNvSpPr/>
          <p:nvPr/>
        </p:nvSpPr>
        <p:spPr>
          <a:xfrm>
            <a:off x="3214811" y="1542634"/>
            <a:ext cx="2763722" cy="4756314"/>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55" name="54 Grupo"/>
          <p:cNvGrpSpPr/>
          <p:nvPr/>
        </p:nvGrpSpPr>
        <p:grpSpPr>
          <a:xfrm>
            <a:off x="3214811" y="2532562"/>
            <a:ext cx="2774092" cy="504259"/>
            <a:chOff x="1905" y="1356785"/>
            <a:chExt cx="1857374" cy="282490"/>
          </a:xfrm>
          <a:scene3d>
            <a:camera prst="orthographicFront">
              <a:rot lat="0" lon="0" rev="0"/>
            </a:camera>
            <a:lightRig rig="contrasting" dir="t">
              <a:rot lat="0" lon="0" rev="1200000"/>
            </a:lightRig>
          </a:scene3d>
        </p:grpSpPr>
        <p:sp>
          <p:nvSpPr>
            <p:cNvPr id="56" name="55 Rectángulo"/>
            <p:cNvSpPr/>
            <p:nvPr/>
          </p:nvSpPr>
          <p:spPr>
            <a:xfrm>
              <a:off x="1905" y="1356785"/>
              <a:ext cx="1857374" cy="282490"/>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57" name="56 Rectángulo"/>
            <p:cNvSpPr/>
            <p:nvPr/>
          </p:nvSpPr>
          <p:spPr>
            <a:xfrm>
              <a:off x="1905" y="1356785"/>
              <a:ext cx="1857374" cy="28249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Métodos</a:t>
              </a:r>
              <a:endParaRPr lang="es-ES" sz="1400" b="1" kern="1200" dirty="0"/>
            </a:p>
          </p:txBody>
        </p:sp>
      </p:grpSp>
      <p:grpSp>
        <p:nvGrpSpPr>
          <p:cNvPr id="2" name="1 Grupo"/>
          <p:cNvGrpSpPr/>
          <p:nvPr/>
        </p:nvGrpSpPr>
        <p:grpSpPr>
          <a:xfrm>
            <a:off x="3456978" y="3861036"/>
            <a:ext cx="2312340" cy="720092"/>
            <a:chOff x="3499320" y="3625225"/>
            <a:chExt cx="2312340" cy="720092"/>
          </a:xfrm>
        </p:grpSpPr>
        <p:sp>
          <p:nvSpPr>
            <p:cNvPr id="66" name="65 CuadroTexto"/>
            <p:cNvSpPr txBox="1"/>
            <p:nvPr/>
          </p:nvSpPr>
          <p:spPr>
            <a:xfrm>
              <a:off x="3499320" y="3625225"/>
              <a:ext cx="2312340" cy="369332"/>
            </a:xfrm>
            <a:prstGeom prst="rect">
              <a:avLst/>
            </a:prstGeom>
            <a:noFill/>
          </p:spPr>
          <p:txBody>
            <a:bodyPr wrap="square" rtlCol="0">
              <a:spAutoFit/>
            </a:bodyPr>
            <a:lstStyle/>
            <a:p>
              <a:pPr algn="ctr"/>
              <a:r>
                <a:rPr lang="es-ES" sz="1800" b="1" dirty="0"/>
                <a:t>cerrar</a:t>
              </a:r>
            </a:p>
          </p:txBody>
        </p:sp>
        <p:sp>
          <p:nvSpPr>
            <p:cNvPr id="67" name="66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8" name="67 CuadroTexto"/>
            <p:cNvSpPr txBox="1"/>
            <p:nvPr/>
          </p:nvSpPr>
          <p:spPr>
            <a:xfrm>
              <a:off x="3765667" y="3994557"/>
              <a:ext cx="1779654" cy="338554"/>
            </a:xfrm>
            <a:prstGeom prst="rect">
              <a:avLst/>
            </a:prstGeom>
            <a:noFill/>
          </p:spPr>
          <p:txBody>
            <a:bodyPr wrap="none" rtlCol="0">
              <a:spAutoFit/>
            </a:bodyPr>
            <a:lstStyle/>
            <a:p>
              <a:pPr algn="ctr"/>
              <a:r>
                <a:rPr lang="es-ES" sz="1600" dirty="0"/>
                <a:t>puerta </a:t>
              </a:r>
              <a:r>
                <a:rPr lang="es-ES" sz="1600" dirty="0">
                  <a:sym typeface="Symbol"/>
                </a:rPr>
                <a:t> </a:t>
              </a:r>
              <a:r>
                <a:rPr lang="es-ES" sz="1600" dirty="0">
                  <a:solidFill>
                    <a:srgbClr val="FF0000"/>
                  </a:solidFill>
                  <a:sym typeface="Symbol"/>
                </a:rPr>
                <a:t>cerrada</a:t>
              </a:r>
              <a:endParaRPr lang="es-ES" sz="1600" dirty="0">
                <a:solidFill>
                  <a:srgbClr val="FF0000"/>
                </a:solidFill>
              </a:endParaRPr>
            </a:p>
          </p:txBody>
        </p:sp>
      </p:grpSp>
      <p:sp>
        <p:nvSpPr>
          <p:cNvPr id="75" name="74 CuadroTexto"/>
          <p:cNvSpPr txBox="1"/>
          <p:nvPr/>
        </p:nvSpPr>
        <p:spPr>
          <a:xfrm>
            <a:off x="2801833" y="1772816"/>
            <a:ext cx="2312340" cy="369332"/>
          </a:xfrm>
          <a:prstGeom prst="rect">
            <a:avLst/>
          </a:prstGeom>
          <a:noFill/>
        </p:spPr>
        <p:txBody>
          <a:bodyPr wrap="square" rtlCol="0">
            <a:spAutoFit/>
          </a:bodyPr>
          <a:lstStyle/>
          <a:p>
            <a:pPr algn="ctr"/>
            <a:r>
              <a:rPr lang="es-ES" sz="1800" b="1" dirty="0"/>
              <a:t>puerta</a:t>
            </a:r>
          </a:p>
        </p:txBody>
      </p:sp>
      <p:grpSp>
        <p:nvGrpSpPr>
          <p:cNvPr id="77" name="76 Grupo"/>
          <p:cNvGrpSpPr/>
          <p:nvPr/>
        </p:nvGrpSpPr>
        <p:grpSpPr>
          <a:xfrm>
            <a:off x="3214811" y="1149425"/>
            <a:ext cx="2774092" cy="577532"/>
            <a:chOff x="1905" y="1304800"/>
            <a:chExt cx="1857374" cy="323538"/>
          </a:xfrm>
          <a:scene3d>
            <a:camera prst="orthographicFront">
              <a:rot lat="0" lon="0" rev="0"/>
            </a:camera>
            <a:lightRig rig="contrasting" dir="t">
              <a:rot lat="0" lon="0" rev="1200000"/>
            </a:lightRig>
          </a:scene3d>
        </p:grpSpPr>
        <p:sp>
          <p:nvSpPr>
            <p:cNvPr id="78" name="77 Rectángulo"/>
            <p:cNvSpPr/>
            <p:nvPr/>
          </p:nvSpPr>
          <p:spPr>
            <a:xfrm>
              <a:off x="1905" y="1338029"/>
              <a:ext cx="1857374" cy="290309"/>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9" name="78 Rectángulo"/>
            <p:cNvSpPr/>
            <p:nvPr/>
          </p:nvSpPr>
          <p:spPr>
            <a:xfrm>
              <a:off x="1905" y="1304800"/>
              <a:ext cx="1857374" cy="32353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Atributos</a:t>
              </a:r>
              <a:endParaRPr lang="es-ES" sz="1400" b="1" kern="1200" dirty="0"/>
            </a:p>
          </p:txBody>
        </p:sp>
      </p:grpSp>
      <p:sp>
        <p:nvSpPr>
          <p:cNvPr id="42" name="41 CuadroTexto"/>
          <p:cNvSpPr txBox="1"/>
          <p:nvPr/>
        </p:nvSpPr>
        <p:spPr>
          <a:xfrm>
            <a:off x="2793444" y="2148731"/>
            <a:ext cx="2312340" cy="369332"/>
          </a:xfrm>
          <a:prstGeom prst="rect">
            <a:avLst/>
          </a:prstGeom>
          <a:noFill/>
        </p:spPr>
        <p:txBody>
          <a:bodyPr wrap="square" rtlCol="0">
            <a:spAutoFit/>
          </a:bodyPr>
          <a:lstStyle/>
          <a:p>
            <a:pPr algn="ctr"/>
            <a:r>
              <a:rPr lang="es-ES" sz="1800" b="1" dirty="0"/>
              <a:t>piso</a:t>
            </a:r>
          </a:p>
        </p:txBody>
      </p:sp>
      <p:sp>
        <p:nvSpPr>
          <p:cNvPr id="43" name="42 CuadroTexto"/>
          <p:cNvSpPr txBox="1"/>
          <p:nvPr/>
        </p:nvSpPr>
        <p:spPr>
          <a:xfrm>
            <a:off x="4353213" y="1726957"/>
            <a:ext cx="1084160" cy="461665"/>
          </a:xfrm>
          <a:prstGeom prst="rect">
            <a:avLst/>
          </a:prstGeom>
          <a:noFill/>
        </p:spPr>
        <p:txBody>
          <a:bodyPr wrap="square" rtlCol="0">
            <a:spAutoFit/>
          </a:bodyPr>
          <a:lstStyle/>
          <a:p>
            <a:pPr algn="ctr"/>
            <a:r>
              <a:rPr lang="es-ES" sz="1200" b="1" dirty="0">
                <a:solidFill>
                  <a:srgbClr val="00B050"/>
                </a:solidFill>
              </a:rPr>
              <a:t>abierta</a:t>
            </a:r>
          </a:p>
          <a:p>
            <a:pPr algn="ctr"/>
            <a:r>
              <a:rPr lang="es-ES" sz="1200" b="1" dirty="0">
                <a:solidFill>
                  <a:srgbClr val="FF0000"/>
                </a:solidFill>
              </a:rPr>
              <a:t>cerrada</a:t>
            </a:r>
          </a:p>
        </p:txBody>
      </p:sp>
      <p:grpSp>
        <p:nvGrpSpPr>
          <p:cNvPr id="46" name="45 Grupo"/>
          <p:cNvGrpSpPr/>
          <p:nvPr/>
        </p:nvGrpSpPr>
        <p:grpSpPr>
          <a:xfrm>
            <a:off x="3456976" y="3056671"/>
            <a:ext cx="2312340" cy="720092"/>
            <a:chOff x="3499320" y="3625225"/>
            <a:chExt cx="2312340" cy="720092"/>
          </a:xfrm>
        </p:grpSpPr>
        <p:sp>
          <p:nvSpPr>
            <p:cNvPr id="47" name="46 CuadroTexto"/>
            <p:cNvSpPr txBox="1"/>
            <p:nvPr/>
          </p:nvSpPr>
          <p:spPr>
            <a:xfrm>
              <a:off x="3499320" y="3625225"/>
              <a:ext cx="2312340" cy="369332"/>
            </a:xfrm>
            <a:prstGeom prst="rect">
              <a:avLst/>
            </a:prstGeom>
            <a:noFill/>
          </p:spPr>
          <p:txBody>
            <a:bodyPr wrap="square" rtlCol="0">
              <a:spAutoFit/>
            </a:bodyPr>
            <a:lstStyle/>
            <a:p>
              <a:pPr algn="ctr"/>
              <a:r>
                <a:rPr lang="es-ES" sz="1800" b="1" dirty="0"/>
                <a:t>abrir</a:t>
              </a:r>
            </a:p>
          </p:txBody>
        </p:sp>
        <p:sp>
          <p:nvSpPr>
            <p:cNvPr id="48" name="47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9" name="48 CuadroTexto"/>
            <p:cNvSpPr txBox="1"/>
            <p:nvPr/>
          </p:nvSpPr>
          <p:spPr>
            <a:xfrm>
              <a:off x="3800132" y="3994557"/>
              <a:ext cx="1710726" cy="338554"/>
            </a:xfrm>
            <a:prstGeom prst="rect">
              <a:avLst/>
            </a:prstGeom>
            <a:noFill/>
          </p:spPr>
          <p:txBody>
            <a:bodyPr wrap="none" rtlCol="0">
              <a:spAutoFit/>
            </a:bodyPr>
            <a:lstStyle/>
            <a:p>
              <a:pPr algn="ctr"/>
              <a:r>
                <a:rPr lang="es-ES" sz="1600" dirty="0"/>
                <a:t>puerta </a:t>
              </a:r>
              <a:r>
                <a:rPr lang="es-ES" sz="1600" dirty="0">
                  <a:sym typeface="Symbol"/>
                </a:rPr>
                <a:t> </a:t>
              </a:r>
              <a:r>
                <a:rPr lang="es-ES" sz="1600" dirty="0">
                  <a:solidFill>
                    <a:srgbClr val="00B050"/>
                  </a:solidFill>
                  <a:sym typeface="Symbol"/>
                </a:rPr>
                <a:t>abierta</a:t>
              </a:r>
              <a:endParaRPr lang="es-ES" sz="1600" dirty="0">
                <a:solidFill>
                  <a:srgbClr val="00B050"/>
                </a:solidFill>
              </a:endParaRPr>
            </a:p>
          </p:txBody>
        </p:sp>
      </p:grpSp>
      <p:sp>
        <p:nvSpPr>
          <p:cNvPr id="50" name="49 CuadroTexto"/>
          <p:cNvSpPr txBox="1"/>
          <p:nvPr/>
        </p:nvSpPr>
        <p:spPr>
          <a:xfrm>
            <a:off x="4314832" y="2201746"/>
            <a:ext cx="1084160" cy="276999"/>
          </a:xfrm>
          <a:prstGeom prst="rect">
            <a:avLst/>
          </a:prstGeom>
          <a:noFill/>
        </p:spPr>
        <p:txBody>
          <a:bodyPr wrap="square" rtlCol="0">
            <a:spAutoFit/>
          </a:bodyPr>
          <a:lstStyle/>
          <a:p>
            <a:pPr algn="ctr"/>
            <a:r>
              <a:rPr lang="es-ES" sz="1200" b="1" dirty="0">
                <a:solidFill>
                  <a:srgbClr val="00B050"/>
                </a:solidFill>
              </a:rPr>
              <a:t>1, 2, 3 …</a:t>
            </a:r>
          </a:p>
        </p:txBody>
      </p:sp>
      <p:grpSp>
        <p:nvGrpSpPr>
          <p:cNvPr id="58" name="57 Grupo"/>
          <p:cNvGrpSpPr/>
          <p:nvPr/>
        </p:nvGrpSpPr>
        <p:grpSpPr>
          <a:xfrm>
            <a:off x="3435317" y="4653136"/>
            <a:ext cx="2312340" cy="720092"/>
            <a:chOff x="3499320" y="3625225"/>
            <a:chExt cx="2312340" cy="720092"/>
          </a:xfrm>
        </p:grpSpPr>
        <p:sp>
          <p:nvSpPr>
            <p:cNvPr id="65" name="64 CuadroTexto"/>
            <p:cNvSpPr txBox="1"/>
            <p:nvPr/>
          </p:nvSpPr>
          <p:spPr>
            <a:xfrm>
              <a:off x="3499320" y="3625225"/>
              <a:ext cx="2312340" cy="369332"/>
            </a:xfrm>
            <a:prstGeom prst="rect">
              <a:avLst/>
            </a:prstGeom>
            <a:noFill/>
          </p:spPr>
          <p:txBody>
            <a:bodyPr wrap="square" rtlCol="0">
              <a:spAutoFit/>
            </a:bodyPr>
            <a:lstStyle/>
            <a:p>
              <a:pPr algn="ctr"/>
              <a:r>
                <a:rPr lang="es-ES" sz="1800" b="1" dirty="0"/>
                <a:t>subir</a:t>
              </a:r>
            </a:p>
          </p:txBody>
        </p:sp>
        <p:sp>
          <p:nvSpPr>
            <p:cNvPr id="69" name="68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3" name="72 CuadroTexto"/>
            <p:cNvSpPr txBox="1"/>
            <p:nvPr/>
          </p:nvSpPr>
          <p:spPr>
            <a:xfrm>
              <a:off x="3912342" y="3994557"/>
              <a:ext cx="1486305" cy="338554"/>
            </a:xfrm>
            <a:prstGeom prst="rect">
              <a:avLst/>
            </a:prstGeom>
            <a:noFill/>
          </p:spPr>
          <p:txBody>
            <a:bodyPr wrap="none" rtlCol="0">
              <a:spAutoFit/>
            </a:bodyPr>
            <a:lstStyle/>
            <a:p>
              <a:pPr algn="ctr"/>
              <a:r>
                <a:rPr lang="es-ES" sz="1600" dirty="0"/>
                <a:t>piso </a:t>
              </a:r>
              <a:r>
                <a:rPr lang="es-ES" sz="1600" dirty="0">
                  <a:sym typeface="Symbol"/>
                </a:rPr>
                <a:t></a:t>
              </a:r>
              <a:r>
                <a:rPr lang="es-ES" sz="1600" dirty="0">
                  <a:solidFill>
                    <a:schemeClr val="tx1">
                      <a:lumMod val="60000"/>
                      <a:lumOff val="40000"/>
                    </a:schemeClr>
                  </a:solidFill>
                  <a:sym typeface="Symbol"/>
                </a:rPr>
                <a:t> piso+1</a:t>
              </a:r>
              <a:endParaRPr lang="es-ES" sz="1600" dirty="0">
                <a:solidFill>
                  <a:schemeClr val="tx1">
                    <a:lumMod val="60000"/>
                    <a:lumOff val="40000"/>
                  </a:schemeClr>
                </a:solidFill>
              </a:endParaRPr>
            </a:p>
          </p:txBody>
        </p:sp>
      </p:grpSp>
      <p:grpSp>
        <p:nvGrpSpPr>
          <p:cNvPr id="76" name="75 Grupo"/>
          <p:cNvGrpSpPr/>
          <p:nvPr/>
        </p:nvGrpSpPr>
        <p:grpSpPr>
          <a:xfrm>
            <a:off x="3445687" y="5414802"/>
            <a:ext cx="2312340" cy="720092"/>
            <a:chOff x="3499320" y="3625225"/>
            <a:chExt cx="2312340" cy="720092"/>
          </a:xfrm>
        </p:grpSpPr>
        <p:sp>
          <p:nvSpPr>
            <p:cNvPr id="83" name="82 CuadroTexto"/>
            <p:cNvSpPr txBox="1"/>
            <p:nvPr/>
          </p:nvSpPr>
          <p:spPr>
            <a:xfrm>
              <a:off x="3499320" y="3625225"/>
              <a:ext cx="2312340" cy="369332"/>
            </a:xfrm>
            <a:prstGeom prst="rect">
              <a:avLst/>
            </a:prstGeom>
            <a:noFill/>
          </p:spPr>
          <p:txBody>
            <a:bodyPr wrap="square" rtlCol="0">
              <a:spAutoFit/>
            </a:bodyPr>
            <a:lstStyle/>
            <a:p>
              <a:pPr algn="ctr"/>
              <a:r>
                <a:rPr lang="es-ES" sz="1800" b="1" dirty="0"/>
                <a:t>bajar</a:t>
              </a:r>
            </a:p>
          </p:txBody>
        </p:sp>
        <p:sp>
          <p:nvSpPr>
            <p:cNvPr id="84" name="83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5" name="84 CuadroTexto"/>
            <p:cNvSpPr txBox="1"/>
            <p:nvPr/>
          </p:nvSpPr>
          <p:spPr>
            <a:xfrm>
              <a:off x="3937991" y="3994557"/>
              <a:ext cx="1435009" cy="338554"/>
            </a:xfrm>
            <a:prstGeom prst="rect">
              <a:avLst/>
            </a:prstGeom>
            <a:noFill/>
          </p:spPr>
          <p:txBody>
            <a:bodyPr wrap="none" rtlCol="0">
              <a:spAutoFit/>
            </a:bodyPr>
            <a:lstStyle/>
            <a:p>
              <a:pPr algn="ctr"/>
              <a:r>
                <a:rPr lang="es-ES" sz="1600" dirty="0"/>
                <a:t>piso </a:t>
              </a:r>
              <a:r>
                <a:rPr lang="es-ES" sz="1600" dirty="0">
                  <a:sym typeface="Symbol"/>
                </a:rPr>
                <a:t> </a:t>
              </a:r>
              <a:r>
                <a:rPr lang="es-ES" sz="1600" dirty="0">
                  <a:solidFill>
                    <a:schemeClr val="tx1">
                      <a:lumMod val="60000"/>
                      <a:lumOff val="40000"/>
                    </a:schemeClr>
                  </a:solidFill>
                  <a:sym typeface="Symbol"/>
                </a:rPr>
                <a:t>piso-1</a:t>
              </a:r>
              <a:endParaRPr lang="es-ES" sz="1600" dirty="0">
                <a:solidFill>
                  <a:schemeClr val="tx1">
                    <a:lumMod val="60000"/>
                    <a:lumOff val="40000"/>
                  </a:schemeClr>
                </a:solidFill>
              </a:endParaRPr>
            </a:p>
          </p:txBody>
        </p:sp>
      </p:grpSp>
    </p:spTree>
    <p:extLst>
      <p:ext uri="{BB962C8B-B14F-4D97-AF65-F5344CB8AC3E}">
        <p14:creationId xmlns:p14="http://schemas.microsoft.com/office/powerpoint/2010/main" val="3766336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83518" y="44624"/>
            <a:ext cx="7392988" cy="563563"/>
          </a:xfrm>
        </p:spPr>
        <p:txBody>
          <a:bodyPr/>
          <a:lstStyle/>
          <a:p>
            <a:r>
              <a:rPr lang="en-US" dirty="0" err="1"/>
              <a:t>Enviar</a:t>
            </a:r>
            <a:r>
              <a:rPr lang="en-US" dirty="0"/>
              <a:t> un valor a un </a:t>
            </a:r>
            <a:r>
              <a:rPr lang="en-US" dirty="0" err="1"/>
              <a:t>método</a:t>
            </a:r>
            <a:endParaRPr lang="en-US" dirty="0">
              <a:solidFill>
                <a:schemeClr val="accent1"/>
              </a:solidFill>
            </a:endParaRPr>
          </a:p>
        </p:txBody>
      </p:sp>
      <p:sp>
        <p:nvSpPr>
          <p:cNvPr id="23" name="22 CuadroTexto"/>
          <p:cNvSpPr txBox="1"/>
          <p:nvPr/>
        </p:nvSpPr>
        <p:spPr>
          <a:xfrm>
            <a:off x="3204441" y="764704"/>
            <a:ext cx="2774092" cy="384721"/>
          </a:xfrm>
          <a:prstGeom prst="rect">
            <a:avLst/>
          </a:prstGeom>
          <a:noFill/>
        </p:spPr>
        <p:txBody>
          <a:bodyPr wrap="square" rtlCol="0">
            <a:spAutoFit/>
          </a:bodyPr>
          <a:lstStyle/>
          <a:p>
            <a:pPr algn="ctr"/>
            <a:r>
              <a:rPr lang="es-ES" b="1" dirty="0"/>
              <a:t>Ascensor</a:t>
            </a:r>
          </a:p>
        </p:txBody>
      </p:sp>
      <p:sp>
        <p:nvSpPr>
          <p:cNvPr id="53" name="52 Rectángulo"/>
          <p:cNvSpPr/>
          <p:nvPr/>
        </p:nvSpPr>
        <p:spPr>
          <a:xfrm>
            <a:off x="3214811" y="1542634"/>
            <a:ext cx="2763722" cy="4756314"/>
          </a:xfrm>
          <a:prstGeom prst="rect">
            <a:avLst/>
          </a:prstGeom>
          <a:solidFill>
            <a:srgbClr val="FFDF79">
              <a:alpha val="90000"/>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4" name="53 Rectángulo"/>
          <p:cNvSpPr/>
          <p:nvPr/>
        </p:nvSpPr>
        <p:spPr>
          <a:xfrm>
            <a:off x="3214811" y="1542634"/>
            <a:ext cx="2763722" cy="4756314"/>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55" name="54 Grupo"/>
          <p:cNvGrpSpPr/>
          <p:nvPr/>
        </p:nvGrpSpPr>
        <p:grpSpPr>
          <a:xfrm>
            <a:off x="3214811" y="2532562"/>
            <a:ext cx="2774092" cy="504259"/>
            <a:chOff x="1905" y="1356785"/>
            <a:chExt cx="1857374" cy="282490"/>
          </a:xfrm>
          <a:scene3d>
            <a:camera prst="orthographicFront">
              <a:rot lat="0" lon="0" rev="0"/>
            </a:camera>
            <a:lightRig rig="contrasting" dir="t">
              <a:rot lat="0" lon="0" rev="1200000"/>
            </a:lightRig>
          </a:scene3d>
        </p:grpSpPr>
        <p:sp>
          <p:nvSpPr>
            <p:cNvPr id="56" name="55 Rectángulo"/>
            <p:cNvSpPr/>
            <p:nvPr/>
          </p:nvSpPr>
          <p:spPr>
            <a:xfrm>
              <a:off x="1905" y="1356785"/>
              <a:ext cx="1857374" cy="282490"/>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57" name="56 Rectángulo"/>
            <p:cNvSpPr/>
            <p:nvPr/>
          </p:nvSpPr>
          <p:spPr>
            <a:xfrm>
              <a:off x="1905" y="1356785"/>
              <a:ext cx="1857374" cy="28249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Métodos</a:t>
              </a:r>
              <a:endParaRPr lang="es-ES" sz="1400" b="1" kern="1200" dirty="0"/>
            </a:p>
          </p:txBody>
        </p:sp>
      </p:grpSp>
      <p:grpSp>
        <p:nvGrpSpPr>
          <p:cNvPr id="2" name="1 Grupo"/>
          <p:cNvGrpSpPr/>
          <p:nvPr/>
        </p:nvGrpSpPr>
        <p:grpSpPr>
          <a:xfrm>
            <a:off x="3585549" y="3645024"/>
            <a:ext cx="1953305" cy="619763"/>
            <a:chOff x="3499320" y="3625225"/>
            <a:chExt cx="2312340" cy="733681"/>
          </a:xfrm>
        </p:grpSpPr>
        <p:sp>
          <p:nvSpPr>
            <p:cNvPr id="66" name="65 CuadroTexto"/>
            <p:cNvSpPr txBox="1"/>
            <p:nvPr/>
          </p:nvSpPr>
          <p:spPr>
            <a:xfrm>
              <a:off x="3499320" y="3625225"/>
              <a:ext cx="2312340" cy="400783"/>
            </a:xfrm>
            <a:prstGeom prst="rect">
              <a:avLst/>
            </a:prstGeom>
            <a:noFill/>
          </p:spPr>
          <p:txBody>
            <a:bodyPr wrap="square" rtlCol="0">
              <a:spAutoFit/>
            </a:bodyPr>
            <a:lstStyle/>
            <a:p>
              <a:pPr algn="ctr"/>
              <a:r>
                <a:rPr lang="es-ES" sz="1600" b="1" dirty="0">
                  <a:solidFill>
                    <a:schemeClr val="accent1">
                      <a:lumMod val="60000"/>
                      <a:lumOff val="40000"/>
                    </a:schemeClr>
                  </a:solidFill>
                </a:rPr>
                <a:t>apagar</a:t>
              </a:r>
            </a:p>
          </p:txBody>
        </p:sp>
        <p:sp>
          <p:nvSpPr>
            <p:cNvPr id="67" name="66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8" name="67 CuadroTexto"/>
            <p:cNvSpPr txBox="1"/>
            <p:nvPr/>
          </p:nvSpPr>
          <p:spPr>
            <a:xfrm>
              <a:off x="3723556" y="3994557"/>
              <a:ext cx="1863872" cy="364349"/>
            </a:xfrm>
            <a:prstGeom prst="rect">
              <a:avLst/>
            </a:prstGeom>
            <a:noFill/>
          </p:spPr>
          <p:txBody>
            <a:bodyPr wrap="none" rtlCol="0">
              <a:spAutoFit/>
            </a:bodyPr>
            <a:lstStyle/>
            <a:p>
              <a:pPr algn="ctr"/>
              <a:r>
                <a:rPr lang="es-ES" sz="1400" dirty="0">
                  <a:solidFill>
                    <a:schemeClr val="accent1">
                      <a:lumMod val="60000"/>
                      <a:lumOff val="40000"/>
                    </a:schemeClr>
                  </a:solidFill>
                </a:rPr>
                <a:t>puerta </a:t>
              </a:r>
              <a:r>
                <a:rPr lang="es-ES" sz="1400" dirty="0">
                  <a:solidFill>
                    <a:schemeClr val="accent1">
                      <a:lumMod val="60000"/>
                      <a:lumOff val="40000"/>
                    </a:schemeClr>
                  </a:solidFill>
                  <a:sym typeface="Symbol"/>
                </a:rPr>
                <a:t></a:t>
              </a:r>
              <a:r>
                <a:rPr lang="es-ES" sz="1400" dirty="0">
                  <a:sym typeface="Symbol"/>
                </a:rPr>
                <a:t> </a:t>
              </a:r>
              <a:r>
                <a:rPr lang="es-ES" sz="1400" dirty="0">
                  <a:solidFill>
                    <a:srgbClr val="FF9999"/>
                  </a:solidFill>
                  <a:sym typeface="Symbol"/>
                </a:rPr>
                <a:t>cerrada</a:t>
              </a:r>
              <a:endParaRPr lang="es-ES" sz="1400" dirty="0">
                <a:solidFill>
                  <a:srgbClr val="FF9999"/>
                </a:solidFill>
              </a:endParaRPr>
            </a:p>
          </p:txBody>
        </p:sp>
      </p:grpSp>
      <p:sp>
        <p:nvSpPr>
          <p:cNvPr id="75" name="74 CuadroTexto"/>
          <p:cNvSpPr txBox="1"/>
          <p:nvPr/>
        </p:nvSpPr>
        <p:spPr>
          <a:xfrm>
            <a:off x="3382234" y="1832414"/>
            <a:ext cx="2312340" cy="369332"/>
          </a:xfrm>
          <a:prstGeom prst="rect">
            <a:avLst/>
          </a:prstGeom>
          <a:noFill/>
        </p:spPr>
        <p:txBody>
          <a:bodyPr wrap="square" rtlCol="0">
            <a:spAutoFit/>
          </a:bodyPr>
          <a:lstStyle/>
          <a:p>
            <a:pPr algn="ctr"/>
            <a:r>
              <a:rPr lang="es-ES" sz="1800" b="1" dirty="0">
                <a:solidFill>
                  <a:schemeClr val="accent1">
                    <a:lumMod val="40000"/>
                    <a:lumOff val="60000"/>
                  </a:schemeClr>
                </a:solidFill>
              </a:rPr>
              <a:t>puerta</a:t>
            </a:r>
          </a:p>
        </p:txBody>
      </p:sp>
      <p:grpSp>
        <p:nvGrpSpPr>
          <p:cNvPr id="77" name="76 Grupo"/>
          <p:cNvGrpSpPr/>
          <p:nvPr/>
        </p:nvGrpSpPr>
        <p:grpSpPr>
          <a:xfrm>
            <a:off x="3214811" y="1149425"/>
            <a:ext cx="2774092" cy="577532"/>
            <a:chOff x="1905" y="1304800"/>
            <a:chExt cx="1857374" cy="323538"/>
          </a:xfrm>
          <a:scene3d>
            <a:camera prst="orthographicFront">
              <a:rot lat="0" lon="0" rev="0"/>
            </a:camera>
            <a:lightRig rig="contrasting" dir="t">
              <a:rot lat="0" lon="0" rev="1200000"/>
            </a:lightRig>
          </a:scene3d>
        </p:grpSpPr>
        <p:sp>
          <p:nvSpPr>
            <p:cNvPr id="78" name="77 Rectángulo"/>
            <p:cNvSpPr/>
            <p:nvPr/>
          </p:nvSpPr>
          <p:spPr>
            <a:xfrm>
              <a:off x="1905" y="1338029"/>
              <a:ext cx="1857374" cy="290309"/>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9" name="78 Rectángulo"/>
            <p:cNvSpPr/>
            <p:nvPr/>
          </p:nvSpPr>
          <p:spPr>
            <a:xfrm>
              <a:off x="1905" y="1304800"/>
              <a:ext cx="1857374" cy="32353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Atributos</a:t>
              </a:r>
              <a:endParaRPr lang="es-ES" sz="1400" b="1" kern="1200" dirty="0"/>
            </a:p>
          </p:txBody>
        </p:sp>
      </p:grpSp>
      <p:sp>
        <p:nvSpPr>
          <p:cNvPr id="42" name="41 CuadroTexto"/>
          <p:cNvSpPr txBox="1"/>
          <p:nvPr/>
        </p:nvSpPr>
        <p:spPr>
          <a:xfrm>
            <a:off x="3382234" y="2109413"/>
            <a:ext cx="2312340" cy="369332"/>
          </a:xfrm>
          <a:prstGeom prst="rect">
            <a:avLst/>
          </a:prstGeom>
          <a:noFill/>
        </p:spPr>
        <p:txBody>
          <a:bodyPr wrap="square" rtlCol="0">
            <a:spAutoFit/>
          </a:bodyPr>
          <a:lstStyle/>
          <a:p>
            <a:pPr algn="ctr"/>
            <a:r>
              <a:rPr lang="es-ES" sz="1800" b="1" dirty="0"/>
              <a:t>piso</a:t>
            </a:r>
          </a:p>
        </p:txBody>
      </p:sp>
      <p:grpSp>
        <p:nvGrpSpPr>
          <p:cNvPr id="46" name="45 Grupo"/>
          <p:cNvGrpSpPr/>
          <p:nvPr/>
        </p:nvGrpSpPr>
        <p:grpSpPr>
          <a:xfrm>
            <a:off x="3585547" y="3056671"/>
            <a:ext cx="1953305" cy="619763"/>
            <a:chOff x="3499320" y="3625225"/>
            <a:chExt cx="2312340" cy="733681"/>
          </a:xfrm>
        </p:grpSpPr>
        <p:sp>
          <p:nvSpPr>
            <p:cNvPr id="47" name="46 CuadroTexto"/>
            <p:cNvSpPr txBox="1"/>
            <p:nvPr/>
          </p:nvSpPr>
          <p:spPr>
            <a:xfrm>
              <a:off x="3499320" y="3625225"/>
              <a:ext cx="2312340" cy="400783"/>
            </a:xfrm>
            <a:prstGeom prst="rect">
              <a:avLst/>
            </a:prstGeom>
            <a:noFill/>
          </p:spPr>
          <p:txBody>
            <a:bodyPr wrap="square" rtlCol="0">
              <a:spAutoFit/>
            </a:bodyPr>
            <a:lstStyle/>
            <a:p>
              <a:pPr algn="ctr"/>
              <a:r>
                <a:rPr lang="es-ES" sz="1600" b="1" dirty="0">
                  <a:solidFill>
                    <a:schemeClr val="accent1">
                      <a:lumMod val="60000"/>
                      <a:lumOff val="40000"/>
                    </a:schemeClr>
                  </a:solidFill>
                </a:rPr>
                <a:t>abrir</a:t>
              </a:r>
            </a:p>
          </p:txBody>
        </p:sp>
        <p:sp>
          <p:nvSpPr>
            <p:cNvPr id="48" name="47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9" name="48 CuadroTexto"/>
            <p:cNvSpPr txBox="1"/>
            <p:nvPr/>
          </p:nvSpPr>
          <p:spPr>
            <a:xfrm>
              <a:off x="3758664" y="3994557"/>
              <a:ext cx="1793659" cy="364349"/>
            </a:xfrm>
            <a:prstGeom prst="rect">
              <a:avLst/>
            </a:prstGeom>
            <a:noFill/>
          </p:spPr>
          <p:txBody>
            <a:bodyPr wrap="none" rtlCol="0">
              <a:spAutoFit/>
            </a:bodyPr>
            <a:lstStyle/>
            <a:p>
              <a:pPr algn="ctr"/>
              <a:r>
                <a:rPr lang="es-ES" sz="1400" dirty="0">
                  <a:solidFill>
                    <a:schemeClr val="accent1">
                      <a:lumMod val="60000"/>
                      <a:lumOff val="40000"/>
                    </a:schemeClr>
                  </a:solidFill>
                </a:rPr>
                <a:t>puerta </a:t>
              </a:r>
              <a:r>
                <a:rPr lang="es-ES" sz="1400" dirty="0">
                  <a:solidFill>
                    <a:schemeClr val="accent1">
                      <a:lumMod val="60000"/>
                      <a:lumOff val="40000"/>
                    </a:schemeClr>
                  </a:solidFill>
                  <a:sym typeface="Symbol"/>
                </a:rPr>
                <a:t></a:t>
              </a:r>
              <a:r>
                <a:rPr lang="es-ES" sz="1400" dirty="0">
                  <a:sym typeface="Symbol"/>
                </a:rPr>
                <a:t> </a:t>
              </a:r>
              <a:r>
                <a:rPr lang="es-ES" sz="1400" dirty="0">
                  <a:solidFill>
                    <a:schemeClr val="tx2">
                      <a:lumMod val="60000"/>
                      <a:lumOff val="40000"/>
                    </a:schemeClr>
                  </a:solidFill>
                  <a:sym typeface="Symbol"/>
                </a:rPr>
                <a:t>abierta</a:t>
              </a:r>
              <a:endParaRPr lang="es-ES" sz="1400" dirty="0">
                <a:solidFill>
                  <a:schemeClr val="tx2">
                    <a:lumMod val="60000"/>
                    <a:lumOff val="40000"/>
                  </a:schemeClr>
                </a:solidFill>
              </a:endParaRPr>
            </a:p>
          </p:txBody>
        </p:sp>
      </p:grpSp>
      <p:grpSp>
        <p:nvGrpSpPr>
          <p:cNvPr id="58" name="57 Grupo"/>
          <p:cNvGrpSpPr/>
          <p:nvPr/>
        </p:nvGrpSpPr>
        <p:grpSpPr>
          <a:xfrm>
            <a:off x="3563888" y="4279819"/>
            <a:ext cx="1953305" cy="619763"/>
            <a:chOff x="3499320" y="3625225"/>
            <a:chExt cx="2312340" cy="733681"/>
          </a:xfrm>
        </p:grpSpPr>
        <p:sp>
          <p:nvSpPr>
            <p:cNvPr id="65" name="64 CuadroTexto"/>
            <p:cNvSpPr txBox="1"/>
            <p:nvPr/>
          </p:nvSpPr>
          <p:spPr>
            <a:xfrm>
              <a:off x="3499320" y="3625225"/>
              <a:ext cx="2312340" cy="400783"/>
            </a:xfrm>
            <a:prstGeom prst="rect">
              <a:avLst/>
            </a:prstGeom>
            <a:noFill/>
          </p:spPr>
          <p:txBody>
            <a:bodyPr wrap="square" rtlCol="0">
              <a:spAutoFit/>
            </a:bodyPr>
            <a:lstStyle/>
            <a:p>
              <a:pPr algn="ctr"/>
              <a:r>
                <a:rPr lang="es-ES" sz="1600" b="1" dirty="0">
                  <a:solidFill>
                    <a:schemeClr val="accent1">
                      <a:lumMod val="60000"/>
                      <a:lumOff val="40000"/>
                    </a:schemeClr>
                  </a:solidFill>
                </a:rPr>
                <a:t>subir</a:t>
              </a:r>
            </a:p>
          </p:txBody>
        </p:sp>
        <p:sp>
          <p:nvSpPr>
            <p:cNvPr id="69" name="68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3" name="72 CuadroTexto"/>
            <p:cNvSpPr txBox="1"/>
            <p:nvPr/>
          </p:nvSpPr>
          <p:spPr>
            <a:xfrm>
              <a:off x="3848804" y="3994557"/>
              <a:ext cx="1613382" cy="364349"/>
            </a:xfrm>
            <a:prstGeom prst="rect">
              <a:avLst/>
            </a:prstGeom>
            <a:noFill/>
          </p:spPr>
          <p:txBody>
            <a:bodyPr wrap="none" rtlCol="0">
              <a:spAutoFit/>
            </a:bodyPr>
            <a:lstStyle/>
            <a:p>
              <a:pPr algn="ctr"/>
              <a:r>
                <a:rPr lang="es-ES" sz="1400" dirty="0">
                  <a:solidFill>
                    <a:schemeClr val="accent1">
                      <a:lumMod val="60000"/>
                      <a:lumOff val="40000"/>
                    </a:schemeClr>
                  </a:solidFill>
                </a:rPr>
                <a:t>piso </a:t>
              </a:r>
              <a:r>
                <a:rPr lang="es-ES" sz="1400" dirty="0">
                  <a:solidFill>
                    <a:schemeClr val="accent1">
                      <a:lumMod val="60000"/>
                      <a:lumOff val="40000"/>
                    </a:schemeClr>
                  </a:solidFill>
                  <a:sym typeface="Symbol"/>
                </a:rPr>
                <a:t></a:t>
              </a:r>
              <a:r>
                <a:rPr lang="es-ES" sz="1400" dirty="0">
                  <a:solidFill>
                    <a:schemeClr val="tx1">
                      <a:lumMod val="60000"/>
                      <a:lumOff val="40000"/>
                    </a:schemeClr>
                  </a:solidFill>
                  <a:sym typeface="Symbol"/>
                </a:rPr>
                <a:t> </a:t>
              </a:r>
              <a:r>
                <a:rPr lang="es-ES" sz="1400" dirty="0">
                  <a:solidFill>
                    <a:schemeClr val="bg1">
                      <a:lumMod val="75000"/>
                    </a:schemeClr>
                  </a:solidFill>
                  <a:sym typeface="Symbol"/>
                </a:rPr>
                <a:t>piso+1</a:t>
              </a:r>
              <a:endParaRPr lang="es-ES" sz="1400" dirty="0">
                <a:solidFill>
                  <a:schemeClr val="bg1">
                    <a:lumMod val="75000"/>
                  </a:schemeClr>
                </a:solidFill>
              </a:endParaRPr>
            </a:p>
          </p:txBody>
        </p:sp>
      </p:grpSp>
      <p:grpSp>
        <p:nvGrpSpPr>
          <p:cNvPr id="76" name="75 Grupo"/>
          <p:cNvGrpSpPr/>
          <p:nvPr/>
        </p:nvGrpSpPr>
        <p:grpSpPr>
          <a:xfrm>
            <a:off x="3574258" y="4897469"/>
            <a:ext cx="1953305" cy="619763"/>
            <a:chOff x="3499320" y="3625225"/>
            <a:chExt cx="2312340" cy="733681"/>
          </a:xfrm>
        </p:grpSpPr>
        <p:sp>
          <p:nvSpPr>
            <p:cNvPr id="83" name="82 CuadroTexto"/>
            <p:cNvSpPr txBox="1"/>
            <p:nvPr/>
          </p:nvSpPr>
          <p:spPr>
            <a:xfrm>
              <a:off x="3499320" y="3625225"/>
              <a:ext cx="2312340" cy="400783"/>
            </a:xfrm>
            <a:prstGeom prst="rect">
              <a:avLst/>
            </a:prstGeom>
            <a:noFill/>
          </p:spPr>
          <p:txBody>
            <a:bodyPr wrap="square" rtlCol="0">
              <a:spAutoFit/>
            </a:bodyPr>
            <a:lstStyle/>
            <a:p>
              <a:pPr algn="ctr"/>
              <a:r>
                <a:rPr lang="es-ES" sz="1600" b="1" dirty="0">
                  <a:solidFill>
                    <a:schemeClr val="accent1">
                      <a:lumMod val="60000"/>
                      <a:lumOff val="40000"/>
                    </a:schemeClr>
                  </a:solidFill>
                </a:rPr>
                <a:t>bajar</a:t>
              </a:r>
            </a:p>
          </p:txBody>
        </p:sp>
        <p:sp>
          <p:nvSpPr>
            <p:cNvPr id="84" name="83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5" name="84 CuadroTexto"/>
            <p:cNvSpPr txBox="1"/>
            <p:nvPr/>
          </p:nvSpPr>
          <p:spPr>
            <a:xfrm>
              <a:off x="3899089" y="3994557"/>
              <a:ext cx="1512807" cy="364349"/>
            </a:xfrm>
            <a:prstGeom prst="rect">
              <a:avLst/>
            </a:prstGeom>
            <a:noFill/>
          </p:spPr>
          <p:txBody>
            <a:bodyPr wrap="none" rtlCol="0">
              <a:spAutoFit/>
            </a:bodyPr>
            <a:lstStyle/>
            <a:p>
              <a:pPr algn="ctr"/>
              <a:r>
                <a:rPr lang="es-ES" sz="1400" dirty="0">
                  <a:solidFill>
                    <a:schemeClr val="accent1">
                      <a:lumMod val="60000"/>
                      <a:lumOff val="40000"/>
                    </a:schemeClr>
                  </a:solidFill>
                </a:rPr>
                <a:t>piso </a:t>
              </a:r>
              <a:r>
                <a:rPr lang="es-ES" sz="1400" dirty="0">
                  <a:solidFill>
                    <a:schemeClr val="accent1">
                      <a:lumMod val="60000"/>
                      <a:lumOff val="40000"/>
                    </a:schemeClr>
                  </a:solidFill>
                  <a:sym typeface="Symbol"/>
                </a:rPr>
                <a:t></a:t>
              </a:r>
              <a:r>
                <a:rPr lang="es-ES" sz="1400" dirty="0">
                  <a:sym typeface="Symbol"/>
                </a:rPr>
                <a:t> </a:t>
              </a:r>
              <a:r>
                <a:rPr lang="es-ES" sz="1400" dirty="0">
                  <a:solidFill>
                    <a:schemeClr val="bg1">
                      <a:lumMod val="75000"/>
                    </a:schemeClr>
                  </a:solidFill>
                  <a:sym typeface="Symbol"/>
                </a:rPr>
                <a:t>piso-1</a:t>
              </a:r>
              <a:endParaRPr lang="es-ES" sz="1400" dirty="0">
                <a:solidFill>
                  <a:schemeClr val="bg1">
                    <a:lumMod val="75000"/>
                  </a:schemeClr>
                </a:solidFill>
              </a:endParaRPr>
            </a:p>
          </p:txBody>
        </p:sp>
      </p:grpSp>
      <p:grpSp>
        <p:nvGrpSpPr>
          <p:cNvPr id="32" name="31 Grupo"/>
          <p:cNvGrpSpPr/>
          <p:nvPr/>
        </p:nvGrpSpPr>
        <p:grpSpPr>
          <a:xfrm>
            <a:off x="3491880" y="5535868"/>
            <a:ext cx="2160240" cy="619763"/>
            <a:chOff x="3416605" y="3625225"/>
            <a:chExt cx="2557312" cy="733681"/>
          </a:xfrm>
        </p:grpSpPr>
        <p:sp>
          <p:nvSpPr>
            <p:cNvPr id="33" name="32 CuadroTexto"/>
            <p:cNvSpPr txBox="1"/>
            <p:nvPr/>
          </p:nvSpPr>
          <p:spPr>
            <a:xfrm>
              <a:off x="3416605" y="3625225"/>
              <a:ext cx="2557312" cy="400783"/>
            </a:xfrm>
            <a:prstGeom prst="rect">
              <a:avLst/>
            </a:prstGeom>
            <a:noFill/>
          </p:spPr>
          <p:txBody>
            <a:bodyPr wrap="square" rtlCol="0">
              <a:spAutoFit/>
            </a:bodyPr>
            <a:lstStyle/>
            <a:p>
              <a:pPr algn="ctr"/>
              <a:r>
                <a:rPr lang="es-ES" sz="1600" b="1" dirty="0" err="1"/>
                <a:t>irAPiso</a:t>
              </a:r>
              <a:r>
                <a:rPr lang="es-ES" sz="1600" b="1" dirty="0"/>
                <a:t> </a:t>
              </a:r>
              <a:r>
                <a:rPr lang="es-ES" sz="1400" b="1" dirty="0">
                  <a:solidFill>
                    <a:srgbClr val="00B050"/>
                  </a:solidFill>
                </a:rPr>
                <a:t>(X)</a:t>
              </a:r>
            </a:p>
          </p:txBody>
        </p:sp>
        <p:sp>
          <p:nvSpPr>
            <p:cNvPr id="34" name="33 Rectángulo"/>
            <p:cNvSpPr/>
            <p:nvPr/>
          </p:nvSpPr>
          <p:spPr bwMode="auto">
            <a:xfrm>
              <a:off x="3499320" y="3970727"/>
              <a:ext cx="2312340"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5" name="34 CuadroTexto"/>
            <p:cNvSpPr txBox="1"/>
            <p:nvPr/>
          </p:nvSpPr>
          <p:spPr>
            <a:xfrm>
              <a:off x="4116372" y="3994557"/>
              <a:ext cx="1078245" cy="364349"/>
            </a:xfrm>
            <a:prstGeom prst="rect">
              <a:avLst/>
            </a:prstGeom>
            <a:noFill/>
          </p:spPr>
          <p:txBody>
            <a:bodyPr wrap="none" rtlCol="0">
              <a:spAutoFit/>
            </a:bodyPr>
            <a:lstStyle/>
            <a:p>
              <a:pPr algn="ctr"/>
              <a:r>
                <a:rPr lang="es-ES" sz="1400" dirty="0"/>
                <a:t>piso </a:t>
              </a:r>
              <a:r>
                <a:rPr lang="es-ES" sz="1400" dirty="0">
                  <a:sym typeface="Symbol"/>
                </a:rPr>
                <a:t> </a:t>
              </a:r>
              <a:r>
                <a:rPr lang="es-ES" sz="1400" dirty="0">
                  <a:solidFill>
                    <a:srgbClr val="00B050"/>
                  </a:solidFill>
                  <a:sym typeface="Symbol"/>
                </a:rPr>
                <a:t>X</a:t>
              </a:r>
              <a:endParaRPr lang="es-ES" sz="1400" dirty="0">
                <a:solidFill>
                  <a:srgbClr val="00B050"/>
                </a:solidFill>
              </a:endParaRPr>
            </a:p>
          </p:txBody>
        </p:sp>
      </p:grpSp>
      <p:grpSp>
        <p:nvGrpSpPr>
          <p:cNvPr id="36" name="35 Grupo"/>
          <p:cNvGrpSpPr/>
          <p:nvPr/>
        </p:nvGrpSpPr>
        <p:grpSpPr>
          <a:xfrm>
            <a:off x="1187624" y="5511644"/>
            <a:ext cx="1728193" cy="672420"/>
            <a:chOff x="971600" y="4077072"/>
            <a:chExt cx="1440160" cy="504056"/>
          </a:xfrm>
        </p:grpSpPr>
        <p:sp>
          <p:nvSpPr>
            <p:cNvPr id="37" name="36 Flecha derecha"/>
            <p:cNvSpPr/>
            <p:nvPr/>
          </p:nvSpPr>
          <p:spPr bwMode="auto">
            <a:xfrm>
              <a:off x="971600" y="4077072"/>
              <a:ext cx="1440160" cy="504056"/>
            </a:xfrm>
            <a:prstGeom prst="rightArrow">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8" name="37 CuadroTexto"/>
            <p:cNvSpPr txBox="1"/>
            <p:nvPr/>
          </p:nvSpPr>
          <p:spPr>
            <a:xfrm>
              <a:off x="1101150" y="4200578"/>
              <a:ext cx="1063592" cy="265321"/>
            </a:xfrm>
            <a:prstGeom prst="rect">
              <a:avLst/>
            </a:prstGeom>
            <a:noFill/>
          </p:spPr>
          <p:txBody>
            <a:bodyPr wrap="none" rtlCol="0">
              <a:spAutoFit/>
            </a:bodyPr>
            <a:lstStyle/>
            <a:p>
              <a:r>
                <a:rPr lang="es-ES" sz="1700" b="1" dirty="0" err="1">
                  <a:solidFill>
                    <a:srgbClr val="FF0000"/>
                  </a:solidFill>
                </a:rPr>
                <a:t>irAPiso</a:t>
              </a:r>
              <a:r>
                <a:rPr lang="es-ES" sz="1700" b="1" dirty="0">
                  <a:solidFill>
                    <a:srgbClr val="FF0000"/>
                  </a:solidFill>
                </a:rPr>
                <a:t> </a:t>
              </a:r>
              <a:r>
                <a:rPr lang="es-ES" sz="1700" b="1" dirty="0">
                  <a:solidFill>
                    <a:srgbClr val="00B050"/>
                  </a:solidFill>
                </a:rPr>
                <a:t>(7)</a:t>
              </a:r>
            </a:p>
          </p:txBody>
        </p:sp>
      </p:grpSp>
      <p:grpSp>
        <p:nvGrpSpPr>
          <p:cNvPr id="44" name="43 Grupo"/>
          <p:cNvGrpSpPr/>
          <p:nvPr/>
        </p:nvGrpSpPr>
        <p:grpSpPr>
          <a:xfrm>
            <a:off x="1230244" y="4820125"/>
            <a:ext cx="2312340" cy="894077"/>
            <a:chOff x="891295" y="2853229"/>
            <a:chExt cx="2312340" cy="894077"/>
          </a:xfrm>
        </p:grpSpPr>
        <p:sp>
          <p:nvSpPr>
            <p:cNvPr id="45" name="44 CuadroTexto"/>
            <p:cNvSpPr txBox="1"/>
            <p:nvPr/>
          </p:nvSpPr>
          <p:spPr>
            <a:xfrm>
              <a:off x="891295" y="2853229"/>
              <a:ext cx="2312340" cy="523220"/>
            </a:xfrm>
            <a:prstGeom prst="rect">
              <a:avLst/>
            </a:prstGeom>
            <a:noFill/>
          </p:spPr>
          <p:txBody>
            <a:bodyPr wrap="square" rtlCol="0">
              <a:spAutoFit/>
            </a:bodyPr>
            <a:lstStyle/>
            <a:p>
              <a:pPr algn="ctr"/>
              <a:r>
                <a:rPr lang="es-ES" sz="1400" b="1" i="1" dirty="0">
                  <a:solidFill>
                    <a:schemeClr val="tx1">
                      <a:lumMod val="50000"/>
                    </a:schemeClr>
                  </a:solidFill>
                </a:rPr>
                <a:t>Parámetro</a:t>
              </a:r>
            </a:p>
            <a:p>
              <a:pPr algn="ctr"/>
              <a:r>
                <a:rPr lang="es-ES" sz="1400" b="1" i="1" dirty="0">
                  <a:solidFill>
                    <a:schemeClr val="tx1">
                      <a:lumMod val="50000"/>
                    </a:schemeClr>
                  </a:solidFill>
                </a:rPr>
                <a:t>de entrada</a:t>
              </a:r>
            </a:p>
          </p:txBody>
        </p:sp>
        <p:cxnSp>
          <p:nvCxnSpPr>
            <p:cNvPr id="51" name="50 Conector recto de flecha"/>
            <p:cNvCxnSpPr/>
            <p:nvPr/>
          </p:nvCxnSpPr>
          <p:spPr bwMode="auto">
            <a:xfrm flipV="1">
              <a:off x="2047465" y="3336747"/>
              <a:ext cx="0" cy="410559"/>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grpSp>
        <p:nvGrpSpPr>
          <p:cNvPr id="4" name="3 Grupo"/>
          <p:cNvGrpSpPr/>
          <p:nvPr/>
        </p:nvGrpSpPr>
        <p:grpSpPr>
          <a:xfrm>
            <a:off x="1751909" y="6003452"/>
            <a:ext cx="1269010" cy="541637"/>
            <a:chOff x="1751909" y="6003452"/>
            <a:chExt cx="1269010" cy="541637"/>
          </a:xfrm>
        </p:grpSpPr>
        <p:sp>
          <p:nvSpPr>
            <p:cNvPr id="40" name="39 CuadroTexto"/>
            <p:cNvSpPr txBox="1"/>
            <p:nvPr/>
          </p:nvSpPr>
          <p:spPr>
            <a:xfrm>
              <a:off x="1751909" y="6237312"/>
              <a:ext cx="1269010" cy="307777"/>
            </a:xfrm>
            <a:prstGeom prst="rect">
              <a:avLst/>
            </a:prstGeom>
            <a:noFill/>
          </p:spPr>
          <p:txBody>
            <a:bodyPr wrap="square" rtlCol="0">
              <a:spAutoFit/>
            </a:bodyPr>
            <a:lstStyle/>
            <a:p>
              <a:pPr algn="ctr"/>
              <a:r>
                <a:rPr lang="es-ES" sz="1400" b="1" i="1" dirty="0">
                  <a:solidFill>
                    <a:schemeClr val="tx1">
                      <a:lumMod val="50000"/>
                    </a:schemeClr>
                  </a:solidFill>
                </a:rPr>
                <a:t>Argumento</a:t>
              </a:r>
            </a:p>
          </p:txBody>
        </p:sp>
        <p:cxnSp>
          <p:nvCxnSpPr>
            <p:cNvPr id="43" name="42 Conector recto de flecha"/>
            <p:cNvCxnSpPr/>
            <p:nvPr/>
          </p:nvCxnSpPr>
          <p:spPr bwMode="auto">
            <a:xfrm>
              <a:off x="2386414" y="6003452"/>
              <a:ext cx="0" cy="344477"/>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spTree>
    <p:extLst>
      <p:ext uri="{BB962C8B-B14F-4D97-AF65-F5344CB8AC3E}">
        <p14:creationId xmlns:p14="http://schemas.microsoft.com/office/powerpoint/2010/main" val="282794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475656" y="44624"/>
            <a:ext cx="6109907" cy="563563"/>
          </a:xfrm>
        </p:spPr>
        <p:txBody>
          <a:bodyPr/>
          <a:lstStyle/>
          <a:p>
            <a:r>
              <a:rPr lang="en-US" dirty="0" err="1"/>
              <a:t>Método</a:t>
            </a:r>
            <a:r>
              <a:rPr lang="en-US" dirty="0"/>
              <a:t> </a:t>
            </a:r>
            <a:r>
              <a:rPr lang="en-US" dirty="0" err="1"/>
              <a:t>que</a:t>
            </a:r>
            <a:r>
              <a:rPr lang="en-US" dirty="0"/>
              <a:t> </a:t>
            </a:r>
            <a:r>
              <a:rPr lang="en-US" dirty="0" err="1"/>
              <a:t>devuelve</a:t>
            </a:r>
            <a:r>
              <a:rPr lang="en-US" dirty="0"/>
              <a:t> un valor</a:t>
            </a:r>
            <a:endParaRPr lang="en-US" dirty="0">
              <a:solidFill>
                <a:schemeClr val="accent1"/>
              </a:solidFill>
            </a:endParaRPr>
          </a:p>
        </p:txBody>
      </p:sp>
      <p:sp>
        <p:nvSpPr>
          <p:cNvPr id="23" name="22 CuadroTexto"/>
          <p:cNvSpPr txBox="1"/>
          <p:nvPr/>
        </p:nvSpPr>
        <p:spPr>
          <a:xfrm>
            <a:off x="3204441" y="692696"/>
            <a:ext cx="2774092" cy="384721"/>
          </a:xfrm>
          <a:prstGeom prst="rect">
            <a:avLst/>
          </a:prstGeom>
          <a:noFill/>
        </p:spPr>
        <p:txBody>
          <a:bodyPr wrap="square" rtlCol="0">
            <a:spAutoFit/>
          </a:bodyPr>
          <a:lstStyle/>
          <a:p>
            <a:pPr algn="ctr"/>
            <a:r>
              <a:rPr lang="es-ES" b="1" dirty="0"/>
              <a:t>Ascensor</a:t>
            </a:r>
          </a:p>
        </p:txBody>
      </p:sp>
      <p:sp>
        <p:nvSpPr>
          <p:cNvPr id="53" name="52 Rectángulo"/>
          <p:cNvSpPr/>
          <p:nvPr/>
        </p:nvSpPr>
        <p:spPr>
          <a:xfrm>
            <a:off x="3214811" y="1470626"/>
            <a:ext cx="2763722" cy="4756314"/>
          </a:xfrm>
          <a:prstGeom prst="rect">
            <a:avLst/>
          </a:prstGeom>
          <a:solidFill>
            <a:srgbClr val="FFDF79">
              <a:alpha val="90000"/>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4" name="53 Rectángulo"/>
          <p:cNvSpPr/>
          <p:nvPr/>
        </p:nvSpPr>
        <p:spPr>
          <a:xfrm>
            <a:off x="3214811" y="1470626"/>
            <a:ext cx="2763722" cy="4756314"/>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55" name="54 Grupo"/>
          <p:cNvGrpSpPr/>
          <p:nvPr/>
        </p:nvGrpSpPr>
        <p:grpSpPr>
          <a:xfrm>
            <a:off x="3214811" y="2460554"/>
            <a:ext cx="2774092" cy="504259"/>
            <a:chOff x="1905" y="1356785"/>
            <a:chExt cx="1857374" cy="282490"/>
          </a:xfrm>
          <a:scene3d>
            <a:camera prst="orthographicFront">
              <a:rot lat="0" lon="0" rev="0"/>
            </a:camera>
            <a:lightRig rig="contrasting" dir="t">
              <a:rot lat="0" lon="0" rev="1200000"/>
            </a:lightRig>
          </a:scene3d>
        </p:grpSpPr>
        <p:sp>
          <p:nvSpPr>
            <p:cNvPr id="56" name="55 Rectángulo"/>
            <p:cNvSpPr/>
            <p:nvPr/>
          </p:nvSpPr>
          <p:spPr>
            <a:xfrm>
              <a:off x="1905" y="1356785"/>
              <a:ext cx="1857374" cy="282490"/>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57" name="56 Rectángulo"/>
            <p:cNvSpPr/>
            <p:nvPr/>
          </p:nvSpPr>
          <p:spPr>
            <a:xfrm>
              <a:off x="1905" y="1356785"/>
              <a:ext cx="1857374" cy="28249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Métodos</a:t>
              </a:r>
              <a:endParaRPr lang="es-ES" sz="1400" b="1" kern="1200" dirty="0"/>
            </a:p>
          </p:txBody>
        </p:sp>
      </p:grpSp>
      <p:grpSp>
        <p:nvGrpSpPr>
          <p:cNvPr id="2" name="1 Grupo"/>
          <p:cNvGrpSpPr/>
          <p:nvPr/>
        </p:nvGrpSpPr>
        <p:grpSpPr>
          <a:xfrm>
            <a:off x="3456978" y="3573016"/>
            <a:ext cx="2312340" cy="595821"/>
            <a:chOff x="3499320" y="3625225"/>
            <a:chExt cx="2312340" cy="595821"/>
          </a:xfrm>
        </p:grpSpPr>
        <p:sp>
          <p:nvSpPr>
            <p:cNvPr id="66" name="65 CuadroTexto"/>
            <p:cNvSpPr txBox="1"/>
            <p:nvPr/>
          </p:nvSpPr>
          <p:spPr>
            <a:xfrm>
              <a:off x="3499320" y="3625225"/>
              <a:ext cx="2312340" cy="338554"/>
            </a:xfrm>
            <a:prstGeom prst="rect">
              <a:avLst/>
            </a:prstGeom>
            <a:noFill/>
          </p:spPr>
          <p:txBody>
            <a:bodyPr wrap="square" rtlCol="0">
              <a:spAutoFit/>
            </a:bodyPr>
            <a:lstStyle/>
            <a:p>
              <a:pPr algn="ctr"/>
              <a:r>
                <a:rPr lang="es-ES" sz="1600" b="1" dirty="0">
                  <a:solidFill>
                    <a:schemeClr val="accent1">
                      <a:lumMod val="40000"/>
                      <a:lumOff val="60000"/>
                    </a:schemeClr>
                  </a:solidFill>
                </a:rPr>
                <a:t>cerrar</a:t>
              </a:r>
            </a:p>
          </p:txBody>
        </p:sp>
        <p:sp>
          <p:nvSpPr>
            <p:cNvPr id="67" name="66 Rectángulo"/>
            <p:cNvSpPr/>
            <p:nvPr/>
          </p:nvSpPr>
          <p:spPr bwMode="auto">
            <a:xfrm>
              <a:off x="3520981" y="3942294"/>
              <a:ext cx="2269018" cy="278752"/>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8" name="67 CuadroTexto"/>
            <p:cNvSpPr txBox="1"/>
            <p:nvPr/>
          </p:nvSpPr>
          <p:spPr>
            <a:xfrm>
              <a:off x="3868259" y="3913269"/>
              <a:ext cx="1574469" cy="307777"/>
            </a:xfrm>
            <a:prstGeom prst="rect">
              <a:avLst/>
            </a:prstGeom>
            <a:noFill/>
          </p:spPr>
          <p:txBody>
            <a:bodyPr wrap="none" rtlCol="0">
              <a:spAutoFit/>
            </a:bodyPr>
            <a:lstStyle/>
            <a:p>
              <a:pPr algn="ctr"/>
              <a:r>
                <a:rPr lang="es-ES" sz="1400" dirty="0">
                  <a:solidFill>
                    <a:schemeClr val="accent1">
                      <a:lumMod val="40000"/>
                      <a:lumOff val="60000"/>
                    </a:schemeClr>
                  </a:solidFill>
                </a:rPr>
                <a:t>puerta </a:t>
              </a:r>
              <a:r>
                <a:rPr lang="es-ES" sz="1400" dirty="0">
                  <a:solidFill>
                    <a:schemeClr val="accent1">
                      <a:lumMod val="40000"/>
                      <a:lumOff val="60000"/>
                    </a:schemeClr>
                  </a:solidFill>
                  <a:sym typeface="Symbol"/>
                </a:rPr>
                <a:t></a:t>
              </a:r>
              <a:r>
                <a:rPr lang="es-ES" sz="1400" dirty="0">
                  <a:sym typeface="Symbol"/>
                </a:rPr>
                <a:t> </a:t>
              </a:r>
              <a:r>
                <a:rPr lang="es-ES" sz="1400" dirty="0">
                  <a:solidFill>
                    <a:srgbClr val="FF99CC"/>
                  </a:solidFill>
                  <a:sym typeface="Symbol"/>
                </a:rPr>
                <a:t>cerrada</a:t>
              </a:r>
              <a:endParaRPr lang="es-ES" sz="1400" dirty="0">
                <a:solidFill>
                  <a:srgbClr val="FF99CC"/>
                </a:solidFill>
              </a:endParaRPr>
            </a:p>
          </p:txBody>
        </p:sp>
      </p:grpSp>
      <p:sp>
        <p:nvSpPr>
          <p:cNvPr id="75" name="74 CuadroTexto"/>
          <p:cNvSpPr txBox="1"/>
          <p:nvPr/>
        </p:nvSpPr>
        <p:spPr>
          <a:xfrm>
            <a:off x="3351357" y="1763524"/>
            <a:ext cx="2312340" cy="369332"/>
          </a:xfrm>
          <a:prstGeom prst="rect">
            <a:avLst/>
          </a:prstGeom>
          <a:noFill/>
        </p:spPr>
        <p:txBody>
          <a:bodyPr wrap="square" rtlCol="0">
            <a:spAutoFit/>
          </a:bodyPr>
          <a:lstStyle/>
          <a:p>
            <a:pPr algn="ctr"/>
            <a:r>
              <a:rPr lang="es-ES" sz="1800" b="1" dirty="0">
                <a:solidFill>
                  <a:schemeClr val="tx2">
                    <a:lumMod val="40000"/>
                    <a:lumOff val="60000"/>
                  </a:schemeClr>
                </a:solidFill>
              </a:rPr>
              <a:t>puerta</a:t>
            </a:r>
          </a:p>
        </p:txBody>
      </p:sp>
      <p:grpSp>
        <p:nvGrpSpPr>
          <p:cNvPr id="77" name="76 Grupo"/>
          <p:cNvGrpSpPr/>
          <p:nvPr/>
        </p:nvGrpSpPr>
        <p:grpSpPr>
          <a:xfrm>
            <a:off x="3214811" y="1077417"/>
            <a:ext cx="2774092" cy="577532"/>
            <a:chOff x="1905" y="1304800"/>
            <a:chExt cx="1857374" cy="323538"/>
          </a:xfrm>
          <a:scene3d>
            <a:camera prst="orthographicFront">
              <a:rot lat="0" lon="0" rev="0"/>
            </a:camera>
            <a:lightRig rig="contrasting" dir="t">
              <a:rot lat="0" lon="0" rev="1200000"/>
            </a:lightRig>
          </a:scene3d>
        </p:grpSpPr>
        <p:sp>
          <p:nvSpPr>
            <p:cNvPr id="78" name="77 Rectángulo"/>
            <p:cNvSpPr/>
            <p:nvPr/>
          </p:nvSpPr>
          <p:spPr>
            <a:xfrm>
              <a:off x="1905" y="1338029"/>
              <a:ext cx="1857374" cy="290309"/>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9" name="78 Rectángulo"/>
            <p:cNvSpPr/>
            <p:nvPr/>
          </p:nvSpPr>
          <p:spPr>
            <a:xfrm>
              <a:off x="1905" y="1304800"/>
              <a:ext cx="1857374" cy="32353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Atributos</a:t>
              </a:r>
              <a:endParaRPr lang="es-ES" sz="1400" b="1" kern="1200" dirty="0"/>
            </a:p>
          </p:txBody>
        </p:sp>
      </p:grpSp>
      <p:sp>
        <p:nvSpPr>
          <p:cNvPr id="42" name="41 CuadroTexto"/>
          <p:cNvSpPr txBox="1"/>
          <p:nvPr/>
        </p:nvSpPr>
        <p:spPr>
          <a:xfrm>
            <a:off x="3589314" y="2034778"/>
            <a:ext cx="1583583" cy="369332"/>
          </a:xfrm>
          <a:prstGeom prst="rect">
            <a:avLst/>
          </a:prstGeom>
          <a:noFill/>
        </p:spPr>
        <p:txBody>
          <a:bodyPr wrap="square" rtlCol="0">
            <a:spAutoFit/>
          </a:bodyPr>
          <a:lstStyle/>
          <a:p>
            <a:pPr algn="ctr"/>
            <a:r>
              <a:rPr lang="es-ES" sz="1800" b="1" dirty="0"/>
              <a:t>piso</a:t>
            </a:r>
          </a:p>
        </p:txBody>
      </p:sp>
      <p:grpSp>
        <p:nvGrpSpPr>
          <p:cNvPr id="46" name="45 Grupo"/>
          <p:cNvGrpSpPr/>
          <p:nvPr/>
        </p:nvGrpSpPr>
        <p:grpSpPr>
          <a:xfrm>
            <a:off x="3456976" y="2984663"/>
            <a:ext cx="2312340" cy="592710"/>
            <a:chOff x="3499320" y="3625225"/>
            <a:chExt cx="2312340" cy="592710"/>
          </a:xfrm>
        </p:grpSpPr>
        <p:sp>
          <p:nvSpPr>
            <p:cNvPr id="47" name="46 CuadroTexto"/>
            <p:cNvSpPr txBox="1"/>
            <p:nvPr/>
          </p:nvSpPr>
          <p:spPr>
            <a:xfrm>
              <a:off x="3499320" y="3625225"/>
              <a:ext cx="2312340" cy="338554"/>
            </a:xfrm>
            <a:prstGeom prst="rect">
              <a:avLst/>
            </a:prstGeom>
            <a:noFill/>
          </p:spPr>
          <p:txBody>
            <a:bodyPr wrap="square" rtlCol="0">
              <a:spAutoFit/>
            </a:bodyPr>
            <a:lstStyle/>
            <a:p>
              <a:pPr algn="ctr"/>
              <a:r>
                <a:rPr lang="es-ES" sz="1600" b="1" dirty="0">
                  <a:solidFill>
                    <a:schemeClr val="accent1">
                      <a:lumMod val="40000"/>
                      <a:lumOff val="60000"/>
                    </a:schemeClr>
                  </a:solidFill>
                </a:rPr>
                <a:t>abrir</a:t>
              </a:r>
            </a:p>
          </p:txBody>
        </p:sp>
        <p:sp>
          <p:nvSpPr>
            <p:cNvPr id="48" name="47 Rectángulo"/>
            <p:cNvSpPr/>
            <p:nvPr/>
          </p:nvSpPr>
          <p:spPr bwMode="auto">
            <a:xfrm>
              <a:off x="3520979" y="3925546"/>
              <a:ext cx="2269022" cy="291029"/>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9" name="48 CuadroTexto"/>
            <p:cNvSpPr txBox="1"/>
            <p:nvPr/>
          </p:nvSpPr>
          <p:spPr>
            <a:xfrm>
              <a:off x="3897916" y="3910158"/>
              <a:ext cx="1515158" cy="307777"/>
            </a:xfrm>
            <a:prstGeom prst="rect">
              <a:avLst/>
            </a:prstGeom>
            <a:noFill/>
          </p:spPr>
          <p:txBody>
            <a:bodyPr wrap="none" rtlCol="0">
              <a:spAutoFit/>
            </a:bodyPr>
            <a:lstStyle/>
            <a:p>
              <a:pPr algn="ctr"/>
              <a:r>
                <a:rPr lang="es-ES" sz="1400" dirty="0">
                  <a:solidFill>
                    <a:schemeClr val="accent1">
                      <a:lumMod val="40000"/>
                      <a:lumOff val="60000"/>
                    </a:schemeClr>
                  </a:solidFill>
                </a:rPr>
                <a:t>puerta</a:t>
              </a:r>
              <a:r>
                <a:rPr lang="es-ES" sz="1400" dirty="0"/>
                <a:t> </a:t>
              </a:r>
              <a:r>
                <a:rPr lang="es-ES" sz="1400" dirty="0">
                  <a:solidFill>
                    <a:schemeClr val="accent1">
                      <a:lumMod val="40000"/>
                      <a:lumOff val="60000"/>
                    </a:schemeClr>
                  </a:solidFill>
                  <a:sym typeface="Symbol"/>
                </a:rPr>
                <a:t></a:t>
              </a:r>
              <a:r>
                <a:rPr lang="es-ES" sz="1400" dirty="0">
                  <a:sym typeface="Symbol"/>
                </a:rPr>
                <a:t> </a:t>
              </a:r>
              <a:r>
                <a:rPr lang="es-ES" sz="1400" dirty="0">
                  <a:solidFill>
                    <a:schemeClr val="tx2">
                      <a:lumMod val="40000"/>
                      <a:lumOff val="60000"/>
                    </a:schemeClr>
                  </a:solidFill>
                  <a:sym typeface="Symbol"/>
                </a:rPr>
                <a:t>abierta</a:t>
              </a:r>
              <a:endParaRPr lang="es-ES" sz="1400" dirty="0">
                <a:solidFill>
                  <a:schemeClr val="tx2">
                    <a:lumMod val="40000"/>
                    <a:lumOff val="60000"/>
                  </a:schemeClr>
                </a:solidFill>
              </a:endParaRPr>
            </a:p>
          </p:txBody>
        </p:sp>
      </p:grpSp>
      <p:sp>
        <p:nvSpPr>
          <p:cNvPr id="50" name="49 CuadroTexto"/>
          <p:cNvSpPr txBox="1"/>
          <p:nvPr/>
        </p:nvSpPr>
        <p:spPr>
          <a:xfrm>
            <a:off x="4286570" y="2048778"/>
            <a:ext cx="1084160" cy="369332"/>
          </a:xfrm>
          <a:prstGeom prst="rect">
            <a:avLst/>
          </a:prstGeom>
          <a:noFill/>
        </p:spPr>
        <p:txBody>
          <a:bodyPr wrap="square" rtlCol="0">
            <a:spAutoFit/>
          </a:bodyPr>
          <a:lstStyle/>
          <a:p>
            <a:pPr algn="ctr"/>
            <a:r>
              <a:rPr lang="es-ES" sz="1800" b="1" dirty="0">
                <a:solidFill>
                  <a:srgbClr val="00B050"/>
                </a:solidFill>
              </a:rPr>
              <a:t>7</a:t>
            </a:r>
          </a:p>
        </p:txBody>
      </p:sp>
      <p:grpSp>
        <p:nvGrpSpPr>
          <p:cNvPr id="34" name="33 Grupo"/>
          <p:cNvGrpSpPr/>
          <p:nvPr/>
        </p:nvGrpSpPr>
        <p:grpSpPr>
          <a:xfrm>
            <a:off x="3455383" y="5140037"/>
            <a:ext cx="2312340" cy="593219"/>
            <a:chOff x="3499320" y="3625225"/>
            <a:chExt cx="2312340" cy="593219"/>
          </a:xfrm>
        </p:grpSpPr>
        <p:sp>
          <p:nvSpPr>
            <p:cNvPr id="35" name="34 CuadroTexto"/>
            <p:cNvSpPr txBox="1"/>
            <p:nvPr/>
          </p:nvSpPr>
          <p:spPr>
            <a:xfrm>
              <a:off x="3499320" y="3625225"/>
              <a:ext cx="2312340" cy="338554"/>
            </a:xfrm>
            <a:prstGeom prst="rect">
              <a:avLst/>
            </a:prstGeom>
            <a:noFill/>
          </p:spPr>
          <p:txBody>
            <a:bodyPr wrap="square" rtlCol="0">
              <a:spAutoFit/>
            </a:bodyPr>
            <a:lstStyle/>
            <a:p>
              <a:pPr algn="ctr"/>
              <a:r>
                <a:rPr lang="es-ES" sz="1600" b="1" dirty="0" err="1"/>
                <a:t>dóndeEstas</a:t>
              </a:r>
              <a:endParaRPr lang="es-ES" sz="1600" b="1" dirty="0"/>
            </a:p>
          </p:txBody>
        </p:sp>
        <p:sp>
          <p:nvSpPr>
            <p:cNvPr id="36" name="35 Rectángulo"/>
            <p:cNvSpPr/>
            <p:nvPr/>
          </p:nvSpPr>
          <p:spPr bwMode="auto">
            <a:xfrm>
              <a:off x="3501800" y="3952612"/>
              <a:ext cx="2291600" cy="237154"/>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7" name="36 CuadroTexto"/>
            <p:cNvSpPr txBox="1"/>
            <p:nvPr/>
          </p:nvSpPr>
          <p:spPr>
            <a:xfrm>
              <a:off x="3993424" y="3910667"/>
              <a:ext cx="1308371" cy="307777"/>
            </a:xfrm>
            <a:prstGeom prst="rect">
              <a:avLst/>
            </a:prstGeom>
            <a:noFill/>
          </p:spPr>
          <p:txBody>
            <a:bodyPr wrap="none" rtlCol="0">
              <a:spAutoFit/>
            </a:bodyPr>
            <a:lstStyle/>
            <a:p>
              <a:pPr algn="ctr"/>
              <a:r>
                <a:rPr lang="es-ES" sz="1400" dirty="0"/>
                <a:t>Devolver </a:t>
              </a:r>
              <a:r>
                <a:rPr lang="es-ES" sz="1400" b="1" dirty="0"/>
                <a:t>piso</a:t>
              </a:r>
            </a:p>
          </p:txBody>
        </p:sp>
      </p:grpSp>
      <p:grpSp>
        <p:nvGrpSpPr>
          <p:cNvPr id="38" name="37 Grupo"/>
          <p:cNvGrpSpPr/>
          <p:nvPr/>
        </p:nvGrpSpPr>
        <p:grpSpPr>
          <a:xfrm>
            <a:off x="1187624" y="5013176"/>
            <a:ext cx="1728192" cy="495950"/>
            <a:chOff x="971600" y="4077072"/>
            <a:chExt cx="1440160" cy="504056"/>
          </a:xfrm>
        </p:grpSpPr>
        <p:sp>
          <p:nvSpPr>
            <p:cNvPr id="39" name="38 Flecha derecha"/>
            <p:cNvSpPr/>
            <p:nvPr/>
          </p:nvSpPr>
          <p:spPr bwMode="auto">
            <a:xfrm>
              <a:off x="971600" y="4077072"/>
              <a:ext cx="1440160" cy="504056"/>
            </a:xfrm>
            <a:prstGeom prst="rightArrow">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0" name="39 CuadroTexto"/>
            <p:cNvSpPr txBox="1"/>
            <p:nvPr/>
          </p:nvSpPr>
          <p:spPr>
            <a:xfrm>
              <a:off x="1110707" y="4142018"/>
              <a:ext cx="1121033" cy="293389"/>
            </a:xfrm>
            <a:prstGeom prst="rect">
              <a:avLst/>
            </a:prstGeom>
            <a:noFill/>
          </p:spPr>
          <p:txBody>
            <a:bodyPr wrap="none" rtlCol="0">
              <a:spAutoFit/>
            </a:bodyPr>
            <a:lstStyle/>
            <a:p>
              <a:r>
                <a:rPr lang="es-ES" sz="1600" b="1" dirty="0" err="1">
                  <a:solidFill>
                    <a:srgbClr val="FF0000"/>
                  </a:solidFill>
                </a:rPr>
                <a:t>dóndeEstas</a:t>
              </a:r>
              <a:endParaRPr lang="es-ES" sz="1600" b="1" dirty="0">
                <a:solidFill>
                  <a:srgbClr val="00B050"/>
                </a:solidFill>
              </a:endParaRPr>
            </a:p>
          </p:txBody>
        </p:sp>
      </p:grpSp>
      <p:grpSp>
        <p:nvGrpSpPr>
          <p:cNvPr id="41" name="40 Grupo"/>
          <p:cNvGrpSpPr/>
          <p:nvPr/>
        </p:nvGrpSpPr>
        <p:grpSpPr>
          <a:xfrm flipH="1">
            <a:off x="1187624" y="5413551"/>
            <a:ext cx="1728192" cy="495950"/>
            <a:chOff x="977371" y="4077072"/>
            <a:chExt cx="1440160" cy="504056"/>
          </a:xfrm>
        </p:grpSpPr>
        <p:sp>
          <p:nvSpPr>
            <p:cNvPr id="44" name="43 Flecha derecha"/>
            <p:cNvSpPr/>
            <p:nvPr/>
          </p:nvSpPr>
          <p:spPr bwMode="auto">
            <a:xfrm>
              <a:off x="977371" y="4077072"/>
              <a:ext cx="1440160" cy="504056"/>
            </a:xfrm>
            <a:prstGeom prst="rightArrow">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5" name="44 CuadroTexto"/>
            <p:cNvSpPr txBox="1"/>
            <p:nvPr/>
          </p:nvSpPr>
          <p:spPr>
            <a:xfrm>
              <a:off x="1568732" y="4159071"/>
              <a:ext cx="248733" cy="344087"/>
            </a:xfrm>
            <a:prstGeom prst="rect">
              <a:avLst/>
            </a:prstGeom>
            <a:noFill/>
          </p:spPr>
          <p:txBody>
            <a:bodyPr wrap="none" rtlCol="0">
              <a:spAutoFit/>
            </a:bodyPr>
            <a:lstStyle/>
            <a:p>
              <a:r>
                <a:rPr lang="es-ES" sz="1600" b="1" dirty="0">
                  <a:solidFill>
                    <a:schemeClr val="tx2">
                      <a:lumMod val="75000"/>
                    </a:schemeClr>
                  </a:solidFill>
                </a:rPr>
                <a:t>7</a:t>
              </a:r>
            </a:p>
          </p:txBody>
        </p:sp>
      </p:grpSp>
      <p:grpSp>
        <p:nvGrpSpPr>
          <p:cNvPr id="3" name="2 Grupo"/>
          <p:cNvGrpSpPr/>
          <p:nvPr/>
        </p:nvGrpSpPr>
        <p:grpSpPr>
          <a:xfrm>
            <a:off x="755575" y="5826753"/>
            <a:ext cx="2690111" cy="661810"/>
            <a:chOff x="755575" y="6114785"/>
            <a:chExt cx="2690111" cy="661810"/>
          </a:xfrm>
        </p:grpSpPr>
        <p:sp>
          <p:nvSpPr>
            <p:cNvPr id="52" name="51 CuadroTexto"/>
            <p:cNvSpPr txBox="1"/>
            <p:nvPr/>
          </p:nvSpPr>
          <p:spPr>
            <a:xfrm>
              <a:off x="755575" y="6468818"/>
              <a:ext cx="2690111" cy="307777"/>
            </a:xfrm>
            <a:prstGeom prst="rect">
              <a:avLst/>
            </a:prstGeom>
            <a:noFill/>
          </p:spPr>
          <p:txBody>
            <a:bodyPr wrap="square" rtlCol="0">
              <a:spAutoFit/>
            </a:bodyPr>
            <a:lstStyle/>
            <a:p>
              <a:pPr algn="ctr"/>
              <a:r>
                <a:rPr lang="es-ES" sz="1400" b="1" i="1" dirty="0">
                  <a:solidFill>
                    <a:schemeClr val="tx1">
                      <a:lumMod val="50000"/>
                    </a:schemeClr>
                  </a:solidFill>
                </a:rPr>
                <a:t>valor devuelto (o de retorno)</a:t>
              </a:r>
            </a:p>
          </p:txBody>
        </p:sp>
        <p:cxnSp>
          <p:nvCxnSpPr>
            <p:cNvPr id="60" name="59 Conector recto de flecha"/>
            <p:cNvCxnSpPr/>
            <p:nvPr/>
          </p:nvCxnSpPr>
          <p:spPr bwMode="auto">
            <a:xfrm>
              <a:off x="2034942" y="6114785"/>
              <a:ext cx="0" cy="410559"/>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grpSp>
        <p:nvGrpSpPr>
          <p:cNvPr id="51" name="50 Grupo"/>
          <p:cNvGrpSpPr/>
          <p:nvPr/>
        </p:nvGrpSpPr>
        <p:grpSpPr>
          <a:xfrm>
            <a:off x="3489744" y="4191025"/>
            <a:ext cx="2257913" cy="619763"/>
            <a:chOff x="3499320" y="3625225"/>
            <a:chExt cx="2672938" cy="733681"/>
          </a:xfrm>
        </p:grpSpPr>
        <p:sp>
          <p:nvSpPr>
            <p:cNvPr id="59" name="58 CuadroTexto"/>
            <p:cNvSpPr txBox="1"/>
            <p:nvPr/>
          </p:nvSpPr>
          <p:spPr>
            <a:xfrm>
              <a:off x="3571365" y="3625225"/>
              <a:ext cx="2557312" cy="400783"/>
            </a:xfrm>
            <a:prstGeom prst="rect">
              <a:avLst/>
            </a:prstGeom>
            <a:noFill/>
          </p:spPr>
          <p:txBody>
            <a:bodyPr wrap="square" rtlCol="0">
              <a:spAutoFit/>
            </a:bodyPr>
            <a:lstStyle/>
            <a:p>
              <a:pPr algn="ctr"/>
              <a:r>
                <a:rPr lang="es-ES" sz="1600" b="1" dirty="0" err="1">
                  <a:solidFill>
                    <a:schemeClr val="accent1">
                      <a:lumMod val="40000"/>
                      <a:lumOff val="60000"/>
                    </a:schemeClr>
                  </a:solidFill>
                </a:rPr>
                <a:t>irAPiso</a:t>
              </a:r>
              <a:r>
                <a:rPr lang="es-ES" sz="1600" b="1" dirty="0"/>
                <a:t> </a:t>
              </a:r>
              <a:r>
                <a:rPr lang="es-ES" sz="1400" b="1" dirty="0">
                  <a:solidFill>
                    <a:schemeClr val="tx2">
                      <a:lumMod val="60000"/>
                      <a:lumOff val="40000"/>
                    </a:schemeClr>
                  </a:solidFill>
                </a:rPr>
                <a:t>(X)</a:t>
              </a:r>
            </a:p>
          </p:txBody>
        </p:sp>
        <p:sp>
          <p:nvSpPr>
            <p:cNvPr id="61" name="60 Rectángulo"/>
            <p:cNvSpPr/>
            <p:nvPr/>
          </p:nvSpPr>
          <p:spPr bwMode="auto">
            <a:xfrm>
              <a:off x="3499320" y="3970727"/>
              <a:ext cx="2672938" cy="3745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2" name="61 CuadroTexto"/>
            <p:cNvSpPr txBox="1"/>
            <p:nvPr/>
          </p:nvSpPr>
          <p:spPr>
            <a:xfrm>
              <a:off x="4278890" y="3994557"/>
              <a:ext cx="1078245" cy="364349"/>
            </a:xfrm>
            <a:prstGeom prst="rect">
              <a:avLst/>
            </a:prstGeom>
            <a:noFill/>
          </p:spPr>
          <p:txBody>
            <a:bodyPr wrap="none" rtlCol="0">
              <a:spAutoFit/>
            </a:bodyPr>
            <a:lstStyle/>
            <a:p>
              <a:pPr algn="ctr"/>
              <a:r>
                <a:rPr lang="es-ES" sz="1400" dirty="0">
                  <a:solidFill>
                    <a:schemeClr val="accent1">
                      <a:lumMod val="40000"/>
                      <a:lumOff val="60000"/>
                    </a:schemeClr>
                  </a:solidFill>
                </a:rPr>
                <a:t>piso </a:t>
              </a:r>
              <a:r>
                <a:rPr lang="es-ES" sz="1400" dirty="0">
                  <a:solidFill>
                    <a:schemeClr val="accent1">
                      <a:lumMod val="40000"/>
                      <a:lumOff val="60000"/>
                    </a:schemeClr>
                  </a:solidFill>
                  <a:sym typeface="Symbol"/>
                </a:rPr>
                <a:t></a:t>
              </a:r>
              <a:r>
                <a:rPr lang="es-ES" sz="1400" dirty="0">
                  <a:sym typeface="Symbol"/>
                </a:rPr>
                <a:t> </a:t>
              </a:r>
              <a:r>
                <a:rPr lang="es-ES" sz="1400" dirty="0">
                  <a:solidFill>
                    <a:schemeClr val="tx2">
                      <a:lumMod val="60000"/>
                      <a:lumOff val="40000"/>
                    </a:schemeClr>
                  </a:solidFill>
                  <a:sym typeface="Symbol"/>
                </a:rPr>
                <a:t>X</a:t>
              </a:r>
              <a:endParaRPr lang="es-ES" sz="1400" dirty="0">
                <a:solidFill>
                  <a:schemeClr val="tx2">
                    <a:lumMod val="60000"/>
                    <a:lumOff val="40000"/>
                  </a:schemeClr>
                </a:solidFill>
              </a:endParaRPr>
            </a:p>
          </p:txBody>
        </p:sp>
      </p:grpSp>
    </p:spTree>
    <p:extLst>
      <p:ext uri="{BB962C8B-B14F-4D97-AF65-F5344CB8AC3E}">
        <p14:creationId xmlns:p14="http://schemas.microsoft.com/office/powerpoint/2010/main" val="1541195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animEffect transition="in" filter="fade">
                                      <p:cBhvr>
                                        <p:cTn id="9" dur="500"/>
                                        <p:tgtEl>
                                          <p:spTgt spid="5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26 Imagen" descr="Escenario.png"/>
          <p:cNvPicPr>
            <a:picLocks noChangeAspect="1"/>
          </p:cNvPicPr>
          <p:nvPr/>
        </p:nvPicPr>
        <p:blipFill>
          <a:blip r:embed="rId2" cstate="print"/>
          <a:stretch>
            <a:fillRect/>
          </a:stretch>
        </p:blipFill>
        <p:spPr>
          <a:xfrm>
            <a:off x="1835696" y="4077072"/>
            <a:ext cx="5554857" cy="2448272"/>
          </a:xfrm>
          <a:prstGeom prst="rect">
            <a:avLst/>
          </a:prstGeom>
        </p:spPr>
      </p:pic>
      <p:pic>
        <p:nvPicPr>
          <p:cNvPr id="5" name="4 Imagen" descr="carretera.jpg"/>
          <p:cNvPicPr>
            <a:picLocks noChangeAspect="1"/>
          </p:cNvPicPr>
          <p:nvPr/>
        </p:nvPicPr>
        <p:blipFill>
          <a:blip r:embed="rId3" cstate="print"/>
          <a:stretch>
            <a:fillRect/>
          </a:stretch>
        </p:blipFill>
        <p:spPr>
          <a:xfrm>
            <a:off x="251520" y="188640"/>
            <a:ext cx="1224136" cy="1587551"/>
          </a:xfrm>
          <a:prstGeom prst="rect">
            <a:avLst/>
          </a:prstGeom>
          <a:ln>
            <a:solidFill>
              <a:srgbClr val="00B050"/>
            </a:solidFill>
          </a:ln>
        </p:spPr>
      </p:pic>
      <p:sp>
        <p:nvSpPr>
          <p:cNvPr id="10" name="9 Rectángulo"/>
          <p:cNvSpPr/>
          <p:nvPr/>
        </p:nvSpPr>
        <p:spPr>
          <a:xfrm>
            <a:off x="3923928" y="620688"/>
            <a:ext cx="1452642" cy="830997"/>
          </a:xfrm>
          <a:prstGeom prst="rect">
            <a:avLst/>
          </a:prstGeom>
        </p:spPr>
        <p:txBody>
          <a:bodyPr wrap="none">
            <a:spAutoFit/>
          </a:bodyPr>
          <a:lstStyle/>
          <a:p>
            <a:pPr algn="ctr"/>
            <a:r>
              <a:rPr lang="es-ES" sz="2400" b="1" dirty="0">
                <a:solidFill>
                  <a:srgbClr val="FF0000"/>
                </a:solidFill>
              </a:rPr>
              <a:t>CLASES</a:t>
            </a:r>
          </a:p>
          <a:p>
            <a:pPr algn="ctr"/>
            <a:r>
              <a:rPr lang="es-ES" sz="2400" dirty="0">
                <a:solidFill>
                  <a:srgbClr val="FF0000"/>
                </a:solidFill>
              </a:rPr>
              <a:t>de objeto</a:t>
            </a:r>
          </a:p>
        </p:txBody>
      </p:sp>
      <p:pic>
        <p:nvPicPr>
          <p:cNvPr id="7" name="6 Imagen" descr="carretera perspectiva.png"/>
          <p:cNvPicPr>
            <a:picLocks noChangeAspect="1"/>
          </p:cNvPicPr>
          <p:nvPr/>
        </p:nvPicPr>
        <p:blipFill>
          <a:blip r:embed="rId4" cstate="print"/>
          <a:stretch>
            <a:fillRect/>
          </a:stretch>
        </p:blipFill>
        <p:spPr>
          <a:xfrm>
            <a:off x="1259632" y="1484784"/>
            <a:ext cx="1944216" cy="1782103"/>
          </a:xfrm>
          <a:prstGeom prst="rect">
            <a:avLst/>
          </a:prstGeom>
        </p:spPr>
      </p:pic>
      <p:grpSp>
        <p:nvGrpSpPr>
          <p:cNvPr id="13" name="12 Grupo"/>
          <p:cNvGrpSpPr/>
          <p:nvPr/>
        </p:nvGrpSpPr>
        <p:grpSpPr>
          <a:xfrm>
            <a:off x="1403648" y="1484784"/>
            <a:ext cx="742857" cy="297696"/>
            <a:chOff x="3268639" y="3643313"/>
            <a:chExt cx="1962547" cy="445630"/>
          </a:xfrm>
        </p:grpSpPr>
        <p:sp>
          <p:nvSpPr>
            <p:cNvPr id="11" name="10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12" name="11 CuadroTexto"/>
            <p:cNvSpPr txBox="1">
              <a:spLocks noChangeArrowheads="1"/>
            </p:cNvSpPr>
            <p:nvPr/>
          </p:nvSpPr>
          <p:spPr bwMode="auto">
            <a:xfrm>
              <a:off x="3268639" y="3643313"/>
              <a:ext cx="1946298"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Calzada</a:t>
              </a:r>
            </a:p>
          </p:txBody>
        </p:sp>
      </p:grpSp>
      <p:grpSp>
        <p:nvGrpSpPr>
          <p:cNvPr id="14" name="13 Grupo"/>
          <p:cNvGrpSpPr/>
          <p:nvPr/>
        </p:nvGrpSpPr>
        <p:grpSpPr>
          <a:xfrm>
            <a:off x="5580112" y="4149081"/>
            <a:ext cx="792088" cy="261610"/>
            <a:chOff x="3268639" y="3643315"/>
            <a:chExt cx="2207865" cy="445630"/>
          </a:xfrm>
        </p:grpSpPr>
        <p:sp>
          <p:nvSpPr>
            <p:cNvPr id="15" name="14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16" name="15 CuadroTexto"/>
            <p:cNvSpPr txBox="1">
              <a:spLocks noChangeArrowheads="1"/>
            </p:cNvSpPr>
            <p:nvPr/>
          </p:nvSpPr>
          <p:spPr bwMode="auto">
            <a:xfrm>
              <a:off x="3268639" y="3643315"/>
              <a:ext cx="2207865"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arbol_1</a:t>
              </a:r>
            </a:p>
          </p:txBody>
        </p:sp>
      </p:grpSp>
      <p:grpSp>
        <p:nvGrpSpPr>
          <p:cNvPr id="57" name="56 Grupo"/>
          <p:cNvGrpSpPr/>
          <p:nvPr/>
        </p:nvGrpSpPr>
        <p:grpSpPr>
          <a:xfrm>
            <a:off x="6660232" y="1772816"/>
            <a:ext cx="1779017" cy="1517646"/>
            <a:chOff x="7236296" y="1772816"/>
            <a:chExt cx="1779017" cy="1517646"/>
          </a:xfrm>
        </p:grpSpPr>
        <p:pic>
          <p:nvPicPr>
            <p:cNvPr id="6" name="5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36296" y="2060848"/>
              <a:ext cx="1779017" cy="1229614"/>
            </a:xfrm>
            <a:prstGeom prst="rect">
              <a:avLst/>
            </a:prstGeom>
          </p:spPr>
        </p:pic>
        <p:grpSp>
          <p:nvGrpSpPr>
            <p:cNvPr id="17" name="16 Grupo"/>
            <p:cNvGrpSpPr/>
            <p:nvPr/>
          </p:nvGrpSpPr>
          <p:grpSpPr>
            <a:xfrm>
              <a:off x="7596336" y="1772816"/>
              <a:ext cx="648072" cy="261610"/>
              <a:chOff x="3268639" y="3643313"/>
              <a:chExt cx="1962547" cy="445630"/>
            </a:xfrm>
          </p:grpSpPr>
          <p:sp>
            <p:nvSpPr>
              <p:cNvPr id="18" name="17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19" name="18 CuadroTexto"/>
              <p:cNvSpPr txBox="1">
                <a:spLocks noChangeArrowheads="1"/>
              </p:cNvSpPr>
              <p:nvPr/>
            </p:nvSpPr>
            <p:spPr bwMode="auto">
              <a:xfrm>
                <a:off x="3268639" y="3643313"/>
                <a:ext cx="1946298"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Coche</a:t>
                </a:r>
              </a:p>
            </p:txBody>
          </p:sp>
        </p:grpSp>
      </p:grpSp>
      <p:grpSp>
        <p:nvGrpSpPr>
          <p:cNvPr id="56" name="55 Grupo"/>
          <p:cNvGrpSpPr/>
          <p:nvPr/>
        </p:nvGrpSpPr>
        <p:grpSpPr>
          <a:xfrm>
            <a:off x="5364088" y="1484784"/>
            <a:ext cx="1087571" cy="1872208"/>
            <a:chOff x="6228184" y="1484784"/>
            <a:chExt cx="1087571" cy="1872208"/>
          </a:xfrm>
        </p:grpSpPr>
        <p:pic>
          <p:nvPicPr>
            <p:cNvPr id="9" name="8 Imagen" descr="Señal.PNG"/>
            <p:cNvPicPr>
              <a:picLocks noChangeAspect="1"/>
            </p:cNvPicPr>
            <p:nvPr/>
          </p:nvPicPr>
          <p:blipFill>
            <a:blip r:embed="rId6" cstate="print"/>
            <a:stretch>
              <a:fillRect/>
            </a:stretch>
          </p:blipFill>
          <p:spPr>
            <a:xfrm>
              <a:off x="6372200" y="1484784"/>
              <a:ext cx="943555" cy="1872208"/>
            </a:xfrm>
            <a:prstGeom prst="rect">
              <a:avLst/>
            </a:prstGeom>
          </p:spPr>
        </p:pic>
        <p:grpSp>
          <p:nvGrpSpPr>
            <p:cNvPr id="20" name="19 Grupo"/>
            <p:cNvGrpSpPr/>
            <p:nvPr/>
          </p:nvGrpSpPr>
          <p:grpSpPr>
            <a:xfrm>
              <a:off x="6228184" y="1484784"/>
              <a:ext cx="623659" cy="250022"/>
              <a:chOff x="3268639" y="3643313"/>
              <a:chExt cx="1962547" cy="445630"/>
            </a:xfrm>
          </p:grpSpPr>
          <p:sp>
            <p:nvSpPr>
              <p:cNvPr id="21" name="20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22" name="21 CuadroTexto"/>
              <p:cNvSpPr txBox="1">
                <a:spLocks noChangeArrowheads="1"/>
              </p:cNvSpPr>
              <p:nvPr/>
            </p:nvSpPr>
            <p:spPr bwMode="auto">
              <a:xfrm>
                <a:off x="3268639" y="3643313"/>
                <a:ext cx="1946298"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Señal</a:t>
                </a:r>
              </a:p>
            </p:txBody>
          </p:sp>
        </p:grpSp>
      </p:grpSp>
      <p:sp>
        <p:nvSpPr>
          <p:cNvPr id="28" name="27 Rectángulo"/>
          <p:cNvSpPr/>
          <p:nvPr/>
        </p:nvSpPr>
        <p:spPr>
          <a:xfrm>
            <a:off x="3707904" y="3501008"/>
            <a:ext cx="1649041" cy="461665"/>
          </a:xfrm>
          <a:prstGeom prst="rect">
            <a:avLst/>
          </a:prstGeom>
        </p:spPr>
        <p:txBody>
          <a:bodyPr wrap="none">
            <a:spAutoFit/>
          </a:bodyPr>
          <a:lstStyle/>
          <a:p>
            <a:pPr algn="ctr"/>
            <a:r>
              <a:rPr lang="es-ES" sz="2400" b="1" dirty="0">
                <a:solidFill>
                  <a:srgbClr val="FF0000"/>
                </a:solidFill>
              </a:rPr>
              <a:t>OBJETOS</a:t>
            </a:r>
            <a:endParaRPr lang="es-ES" sz="2400" dirty="0">
              <a:solidFill>
                <a:srgbClr val="FF0000"/>
              </a:solidFill>
            </a:endParaRPr>
          </a:p>
        </p:txBody>
      </p:sp>
      <p:grpSp>
        <p:nvGrpSpPr>
          <p:cNvPr id="55" name="54 Grupo"/>
          <p:cNvGrpSpPr/>
          <p:nvPr/>
        </p:nvGrpSpPr>
        <p:grpSpPr>
          <a:xfrm>
            <a:off x="3275856" y="1412776"/>
            <a:ext cx="1577645" cy="1866365"/>
            <a:chOff x="3131840" y="1412776"/>
            <a:chExt cx="1577645" cy="1866365"/>
          </a:xfrm>
        </p:grpSpPr>
        <p:pic>
          <p:nvPicPr>
            <p:cNvPr id="8" name="7 Imagen" descr="Arbol.png"/>
            <p:cNvPicPr>
              <a:picLocks noChangeAspect="1"/>
            </p:cNvPicPr>
            <p:nvPr/>
          </p:nvPicPr>
          <p:blipFill>
            <a:blip r:embed="rId7" cstate="print"/>
            <a:stretch>
              <a:fillRect/>
            </a:stretch>
          </p:blipFill>
          <p:spPr>
            <a:xfrm>
              <a:off x="3131840" y="1412776"/>
              <a:ext cx="1577645" cy="1866365"/>
            </a:xfrm>
            <a:prstGeom prst="rect">
              <a:avLst/>
            </a:prstGeom>
          </p:spPr>
        </p:pic>
        <p:grpSp>
          <p:nvGrpSpPr>
            <p:cNvPr id="30" name="29 Grupo"/>
            <p:cNvGrpSpPr/>
            <p:nvPr/>
          </p:nvGrpSpPr>
          <p:grpSpPr>
            <a:xfrm>
              <a:off x="3131840" y="1484785"/>
              <a:ext cx="576064" cy="261610"/>
              <a:chOff x="3268639" y="3643315"/>
              <a:chExt cx="1962547" cy="445630"/>
            </a:xfrm>
          </p:grpSpPr>
          <p:sp>
            <p:nvSpPr>
              <p:cNvPr id="31" name="30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32" name="31 CuadroTexto"/>
              <p:cNvSpPr txBox="1">
                <a:spLocks noChangeArrowheads="1"/>
              </p:cNvSpPr>
              <p:nvPr/>
            </p:nvSpPr>
            <p:spPr bwMode="auto">
              <a:xfrm>
                <a:off x="3268639" y="3643315"/>
                <a:ext cx="1946296"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err="1"/>
                  <a:t>Arbol</a:t>
                </a:r>
                <a:endParaRPr lang="es-ES_tradnl" sz="1100" b="1" dirty="0"/>
              </a:p>
            </p:txBody>
          </p:sp>
        </p:grpSp>
      </p:grpSp>
      <p:grpSp>
        <p:nvGrpSpPr>
          <p:cNvPr id="33" name="32 Grupo"/>
          <p:cNvGrpSpPr/>
          <p:nvPr/>
        </p:nvGrpSpPr>
        <p:grpSpPr>
          <a:xfrm>
            <a:off x="3203848" y="5877272"/>
            <a:ext cx="792088" cy="261610"/>
            <a:chOff x="3268639" y="3643315"/>
            <a:chExt cx="2207865" cy="445630"/>
          </a:xfrm>
        </p:grpSpPr>
        <p:sp>
          <p:nvSpPr>
            <p:cNvPr id="34" name="33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35" name="34 CuadroTexto"/>
            <p:cNvSpPr txBox="1">
              <a:spLocks noChangeArrowheads="1"/>
            </p:cNvSpPr>
            <p:nvPr/>
          </p:nvSpPr>
          <p:spPr bwMode="auto">
            <a:xfrm>
              <a:off x="3268639" y="3643315"/>
              <a:ext cx="2207865"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arbol_2</a:t>
              </a:r>
            </a:p>
          </p:txBody>
        </p:sp>
      </p:grpSp>
      <p:grpSp>
        <p:nvGrpSpPr>
          <p:cNvPr id="36" name="35 Grupo"/>
          <p:cNvGrpSpPr/>
          <p:nvPr/>
        </p:nvGrpSpPr>
        <p:grpSpPr>
          <a:xfrm>
            <a:off x="1835696" y="4437112"/>
            <a:ext cx="792088" cy="261610"/>
            <a:chOff x="3268639" y="3643315"/>
            <a:chExt cx="2207865" cy="445630"/>
          </a:xfrm>
        </p:grpSpPr>
        <p:sp>
          <p:nvSpPr>
            <p:cNvPr id="37" name="36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38" name="37 CuadroTexto"/>
            <p:cNvSpPr txBox="1">
              <a:spLocks noChangeArrowheads="1"/>
            </p:cNvSpPr>
            <p:nvPr/>
          </p:nvSpPr>
          <p:spPr bwMode="auto">
            <a:xfrm>
              <a:off x="3268639" y="3643315"/>
              <a:ext cx="2207865"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coche1</a:t>
              </a:r>
            </a:p>
          </p:txBody>
        </p:sp>
      </p:grpSp>
      <p:grpSp>
        <p:nvGrpSpPr>
          <p:cNvPr id="39" name="38 Grupo"/>
          <p:cNvGrpSpPr/>
          <p:nvPr/>
        </p:nvGrpSpPr>
        <p:grpSpPr>
          <a:xfrm>
            <a:off x="3851920" y="4797152"/>
            <a:ext cx="792088" cy="261610"/>
            <a:chOff x="3268639" y="3643315"/>
            <a:chExt cx="2207865" cy="445630"/>
          </a:xfrm>
        </p:grpSpPr>
        <p:sp>
          <p:nvSpPr>
            <p:cNvPr id="40" name="39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41" name="40 CuadroTexto"/>
            <p:cNvSpPr txBox="1">
              <a:spLocks noChangeArrowheads="1"/>
            </p:cNvSpPr>
            <p:nvPr/>
          </p:nvSpPr>
          <p:spPr bwMode="auto">
            <a:xfrm>
              <a:off x="3268639" y="3643315"/>
              <a:ext cx="2207865"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coche2</a:t>
              </a:r>
            </a:p>
          </p:txBody>
        </p:sp>
      </p:grpSp>
      <p:grpSp>
        <p:nvGrpSpPr>
          <p:cNvPr id="42" name="41 Grupo"/>
          <p:cNvGrpSpPr/>
          <p:nvPr/>
        </p:nvGrpSpPr>
        <p:grpSpPr>
          <a:xfrm>
            <a:off x="5508104" y="5733256"/>
            <a:ext cx="792088" cy="261610"/>
            <a:chOff x="3268639" y="3643315"/>
            <a:chExt cx="2207865" cy="445630"/>
          </a:xfrm>
        </p:grpSpPr>
        <p:sp>
          <p:nvSpPr>
            <p:cNvPr id="43" name="42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44" name="43 CuadroTexto"/>
            <p:cNvSpPr txBox="1">
              <a:spLocks noChangeArrowheads="1"/>
            </p:cNvSpPr>
            <p:nvPr/>
          </p:nvSpPr>
          <p:spPr bwMode="auto">
            <a:xfrm>
              <a:off x="3268639" y="3643315"/>
              <a:ext cx="2207865"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coche3</a:t>
              </a:r>
            </a:p>
          </p:txBody>
        </p:sp>
      </p:grpSp>
      <p:grpSp>
        <p:nvGrpSpPr>
          <p:cNvPr id="45" name="44 Grupo"/>
          <p:cNvGrpSpPr/>
          <p:nvPr/>
        </p:nvGrpSpPr>
        <p:grpSpPr>
          <a:xfrm>
            <a:off x="2483768" y="5013176"/>
            <a:ext cx="792088" cy="261610"/>
            <a:chOff x="3268639" y="3643315"/>
            <a:chExt cx="2207865" cy="445630"/>
          </a:xfrm>
        </p:grpSpPr>
        <p:sp>
          <p:nvSpPr>
            <p:cNvPr id="46" name="45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47" name="46 CuadroTexto"/>
            <p:cNvSpPr txBox="1">
              <a:spLocks noChangeArrowheads="1"/>
            </p:cNvSpPr>
            <p:nvPr/>
          </p:nvSpPr>
          <p:spPr bwMode="auto">
            <a:xfrm>
              <a:off x="3268639" y="3643315"/>
              <a:ext cx="2207865"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señal_1</a:t>
              </a:r>
            </a:p>
          </p:txBody>
        </p:sp>
      </p:grpSp>
      <p:grpSp>
        <p:nvGrpSpPr>
          <p:cNvPr id="48" name="47 Grupo"/>
          <p:cNvGrpSpPr/>
          <p:nvPr/>
        </p:nvGrpSpPr>
        <p:grpSpPr>
          <a:xfrm>
            <a:off x="3347864" y="4149080"/>
            <a:ext cx="792088" cy="261610"/>
            <a:chOff x="3268639" y="3643315"/>
            <a:chExt cx="2207865" cy="445630"/>
          </a:xfrm>
        </p:grpSpPr>
        <p:sp>
          <p:nvSpPr>
            <p:cNvPr id="49" name="48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50" name="49 CuadroTexto"/>
            <p:cNvSpPr txBox="1">
              <a:spLocks noChangeArrowheads="1"/>
            </p:cNvSpPr>
            <p:nvPr/>
          </p:nvSpPr>
          <p:spPr bwMode="auto">
            <a:xfrm>
              <a:off x="3268639" y="3643315"/>
              <a:ext cx="2207865"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Señal_2</a:t>
              </a:r>
            </a:p>
          </p:txBody>
        </p:sp>
      </p:grpSp>
      <p:grpSp>
        <p:nvGrpSpPr>
          <p:cNvPr id="51" name="50 Grupo"/>
          <p:cNvGrpSpPr/>
          <p:nvPr/>
        </p:nvGrpSpPr>
        <p:grpSpPr>
          <a:xfrm>
            <a:off x="6156176" y="6237312"/>
            <a:ext cx="864096" cy="263024"/>
            <a:chOff x="3245269" y="3629034"/>
            <a:chExt cx="2207865" cy="448038"/>
          </a:xfrm>
        </p:grpSpPr>
        <p:sp>
          <p:nvSpPr>
            <p:cNvPr id="52" name="51 Rectángulo redondeado"/>
            <p:cNvSpPr/>
            <p:nvPr/>
          </p:nvSpPr>
          <p:spPr bwMode="auto">
            <a:xfrm>
              <a:off x="3286116" y="3643884"/>
              <a:ext cx="1945070" cy="433188"/>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53" name="52 CuadroTexto"/>
            <p:cNvSpPr txBox="1">
              <a:spLocks noChangeArrowheads="1"/>
            </p:cNvSpPr>
            <p:nvPr/>
          </p:nvSpPr>
          <p:spPr bwMode="auto">
            <a:xfrm>
              <a:off x="3245269" y="3629034"/>
              <a:ext cx="2207865" cy="44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100" b="1" dirty="0"/>
                <a:t>calzada1</a:t>
              </a:r>
            </a:p>
          </p:txBody>
        </p:sp>
      </p:grpSp>
      <p:sp>
        <p:nvSpPr>
          <p:cNvPr id="54" name="Rectangle 2"/>
          <p:cNvSpPr>
            <a:spLocks noGrp="1" noChangeArrowheads="1"/>
          </p:cNvSpPr>
          <p:nvPr>
            <p:ph type="title"/>
          </p:nvPr>
        </p:nvSpPr>
        <p:spPr>
          <a:xfrm>
            <a:off x="983518" y="44624"/>
            <a:ext cx="7392988" cy="563563"/>
          </a:xfrm>
        </p:spPr>
        <p:txBody>
          <a:bodyPr/>
          <a:lstStyle/>
          <a:p>
            <a:r>
              <a:rPr lang="en-US" dirty="0" err="1"/>
              <a:t>Clases</a:t>
            </a:r>
            <a:r>
              <a:rPr lang="en-US" dirty="0"/>
              <a:t> y </a:t>
            </a:r>
            <a:r>
              <a:rPr lang="en-US" dirty="0" err="1"/>
              <a:t>Objetos</a:t>
            </a:r>
            <a:endParaRPr lang="en-US" dirty="0">
              <a:solidFill>
                <a:schemeClr val="accent1"/>
              </a:solidFill>
            </a:endParaRPr>
          </a:p>
        </p:txBody>
      </p:sp>
      <p:sp>
        <p:nvSpPr>
          <p:cNvPr id="2" name="CuadroTexto 1"/>
          <p:cNvSpPr txBox="1"/>
          <p:nvPr/>
        </p:nvSpPr>
        <p:spPr>
          <a:xfrm>
            <a:off x="93182" y="3471917"/>
            <a:ext cx="3902754" cy="384721"/>
          </a:xfrm>
          <a:prstGeom prst="rect">
            <a:avLst/>
          </a:prstGeom>
          <a:noFill/>
        </p:spPr>
        <p:txBody>
          <a:bodyPr wrap="square" rtlCol="0">
            <a:spAutoFit/>
          </a:bodyPr>
          <a:lstStyle/>
          <a:p>
            <a:r>
              <a:rPr lang="es-ES_tradnl" dirty="0" err="1"/>
              <a:t>Simulaci</a:t>
            </a:r>
            <a:r>
              <a:rPr lang="es-ES" dirty="0"/>
              <a:t>ón de una carretera</a:t>
            </a:r>
            <a:endParaRPr lang="es-ES_tradnl"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4 Imagen"/>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6250"/>
                    </a14:imgEffect>
                    <a14:imgEffect>
                      <a14:saturation sat="0"/>
                    </a14:imgEffect>
                  </a14:imgLayer>
                </a14:imgProps>
              </a:ext>
              <a:ext uri="{28A0092B-C50C-407E-A947-70E740481C1C}">
                <a14:useLocalDpi xmlns:a14="http://schemas.microsoft.com/office/drawing/2010/main" val="0"/>
              </a:ext>
            </a:extLst>
          </a:blip>
          <a:stretch>
            <a:fillRect/>
          </a:stretch>
        </p:blipFill>
        <p:spPr>
          <a:xfrm>
            <a:off x="995585" y="2996952"/>
            <a:ext cx="2716653" cy="1877686"/>
          </a:xfrm>
          <a:prstGeom prst="rect">
            <a:avLst/>
          </a:prstGeom>
        </p:spPr>
      </p:pic>
      <p:pic>
        <p:nvPicPr>
          <p:cNvPr id="6" name="5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73454" y="1504302"/>
            <a:ext cx="1708541" cy="1180903"/>
          </a:xfrm>
          <a:prstGeom prst="rect">
            <a:avLst/>
          </a:prstGeom>
        </p:spPr>
      </p:pic>
      <p:pic>
        <p:nvPicPr>
          <p:cNvPr id="7" name="6 Imagen"/>
          <p:cNvPicPr>
            <a:picLocks noChangeAspect="1"/>
          </p:cNvPicPr>
          <p:nvPr/>
        </p:nvPicPr>
        <p:blipFill>
          <a:blip r:embed="rId4"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6444208" y="3400225"/>
            <a:ext cx="1708541" cy="1180903"/>
          </a:xfrm>
          <a:prstGeom prst="rect">
            <a:avLst/>
          </a:prstGeom>
        </p:spPr>
      </p:pic>
      <p:pic>
        <p:nvPicPr>
          <p:cNvPr id="8" name="7 Imagen"/>
          <p:cNvPicPr>
            <a:picLocks noChangeAspect="1"/>
          </p:cNvPicPr>
          <p:nvPr/>
        </p:nvPicPr>
        <p:blipFill>
          <a:blip r:embed="rId4"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5392531" y="5157192"/>
            <a:ext cx="1708541" cy="1180903"/>
          </a:xfrm>
          <a:prstGeom prst="rect">
            <a:avLst/>
          </a:prstGeom>
        </p:spPr>
      </p:pic>
      <p:sp>
        <p:nvSpPr>
          <p:cNvPr id="9" name="8 Rectángulo"/>
          <p:cNvSpPr/>
          <p:nvPr/>
        </p:nvSpPr>
        <p:spPr>
          <a:xfrm>
            <a:off x="1077244" y="2192835"/>
            <a:ext cx="2006571" cy="707886"/>
          </a:xfrm>
          <a:prstGeom prst="rect">
            <a:avLst/>
          </a:prstGeom>
        </p:spPr>
        <p:txBody>
          <a:bodyPr wrap="square">
            <a:spAutoFit/>
          </a:bodyPr>
          <a:lstStyle/>
          <a:p>
            <a:pPr algn="ctr"/>
            <a:r>
              <a:rPr lang="es-ES" sz="2000" dirty="0"/>
              <a:t>Clase</a:t>
            </a:r>
          </a:p>
          <a:p>
            <a:pPr algn="ctr"/>
            <a:r>
              <a:rPr lang="es-ES" sz="2000" b="1" dirty="0"/>
              <a:t>Coche</a:t>
            </a:r>
            <a:endParaRPr lang="es-ES" b="1" dirty="0"/>
          </a:p>
        </p:txBody>
      </p:sp>
      <p:sp>
        <p:nvSpPr>
          <p:cNvPr id="10" name="9 Rectángulo"/>
          <p:cNvSpPr/>
          <p:nvPr/>
        </p:nvSpPr>
        <p:spPr>
          <a:xfrm>
            <a:off x="5374684" y="778077"/>
            <a:ext cx="1069524" cy="707886"/>
          </a:xfrm>
          <a:prstGeom prst="rect">
            <a:avLst/>
          </a:prstGeom>
        </p:spPr>
        <p:txBody>
          <a:bodyPr wrap="none">
            <a:spAutoFit/>
          </a:bodyPr>
          <a:lstStyle/>
          <a:p>
            <a:pPr algn="ctr"/>
            <a:r>
              <a:rPr lang="es-ES" sz="2000" dirty="0"/>
              <a:t>objeto </a:t>
            </a:r>
          </a:p>
          <a:p>
            <a:pPr algn="ctr"/>
            <a:r>
              <a:rPr lang="es-ES" sz="2000" b="1" dirty="0"/>
              <a:t>coche1</a:t>
            </a:r>
            <a:endParaRPr lang="es-ES" b="1" dirty="0"/>
          </a:p>
        </p:txBody>
      </p:sp>
      <p:sp>
        <p:nvSpPr>
          <p:cNvPr id="11" name="10 Rectángulo"/>
          <p:cNvSpPr/>
          <p:nvPr/>
        </p:nvSpPr>
        <p:spPr>
          <a:xfrm>
            <a:off x="6617774" y="2674549"/>
            <a:ext cx="1069525" cy="707886"/>
          </a:xfrm>
          <a:prstGeom prst="rect">
            <a:avLst/>
          </a:prstGeom>
        </p:spPr>
        <p:txBody>
          <a:bodyPr wrap="none">
            <a:spAutoFit/>
          </a:bodyPr>
          <a:lstStyle/>
          <a:p>
            <a:pPr algn="ctr"/>
            <a:r>
              <a:rPr lang="es-ES" sz="2000" dirty="0"/>
              <a:t>objeto </a:t>
            </a:r>
          </a:p>
          <a:p>
            <a:pPr algn="ctr"/>
            <a:r>
              <a:rPr lang="es-ES" sz="2000" b="1" dirty="0"/>
              <a:t>coche2</a:t>
            </a:r>
            <a:endParaRPr lang="es-ES" b="1" dirty="0"/>
          </a:p>
        </p:txBody>
      </p:sp>
      <p:sp>
        <p:nvSpPr>
          <p:cNvPr id="12" name="11 Rectángulo"/>
          <p:cNvSpPr/>
          <p:nvPr/>
        </p:nvSpPr>
        <p:spPr>
          <a:xfrm>
            <a:off x="5548249" y="4405811"/>
            <a:ext cx="1069525" cy="707886"/>
          </a:xfrm>
          <a:prstGeom prst="rect">
            <a:avLst/>
          </a:prstGeom>
        </p:spPr>
        <p:txBody>
          <a:bodyPr wrap="none">
            <a:spAutoFit/>
          </a:bodyPr>
          <a:lstStyle/>
          <a:p>
            <a:pPr algn="ctr"/>
            <a:r>
              <a:rPr lang="es-ES" sz="2000" dirty="0"/>
              <a:t>objeto </a:t>
            </a:r>
          </a:p>
          <a:p>
            <a:pPr algn="ctr"/>
            <a:r>
              <a:rPr lang="es-ES" sz="2000" b="1" dirty="0"/>
              <a:t>coche3</a:t>
            </a:r>
            <a:endParaRPr lang="es-ES" b="1" dirty="0"/>
          </a:p>
        </p:txBody>
      </p:sp>
      <p:sp>
        <p:nvSpPr>
          <p:cNvPr id="15" name="14 Flecha a la derecha con bandas"/>
          <p:cNvSpPr/>
          <p:nvPr/>
        </p:nvSpPr>
        <p:spPr bwMode="auto">
          <a:xfrm rot="1810192">
            <a:off x="3578004" y="4582640"/>
            <a:ext cx="1932732" cy="670230"/>
          </a:xfrm>
          <a:prstGeom prst="stripedRightArrow">
            <a:avLst/>
          </a:prstGeom>
          <a:gradFill>
            <a:gsLst>
              <a:gs pos="39999">
                <a:srgbClr val="35BBE5"/>
              </a:gs>
              <a:gs pos="70000">
                <a:srgbClr val="BFE9F7"/>
              </a:gs>
            </a:gsLst>
            <a:lin ang="108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6" name="15 Flecha a la derecha con bandas"/>
          <p:cNvSpPr/>
          <p:nvPr/>
        </p:nvSpPr>
        <p:spPr bwMode="auto">
          <a:xfrm flipV="1">
            <a:off x="3876589" y="3579866"/>
            <a:ext cx="2135571" cy="711857"/>
          </a:xfrm>
          <a:prstGeom prst="stripedRightArrow">
            <a:avLst/>
          </a:prstGeom>
          <a:gradFill>
            <a:gsLst>
              <a:gs pos="39999">
                <a:srgbClr val="35BBE5"/>
              </a:gs>
              <a:gs pos="70000">
                <a:srgbClr val="BFE9F7"/>
              </a:gs>
            </a:gsLst>
            <a:lin ang="108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7" name="16 Flecha a la derecha con bandas"/>
          <p:cNvSpPr/>
          <p:nvPr/>
        </p:nvSpPr>
        <p:spPr bwMode="auto">
          <a:xfrm rot="19789808" flipV="1">
            <a:off x="3404108" y="2535021"/>
            <a:ext cx="1932732" cy="670230"/>
          </a:xfrm>
          <a:prstGeom prst="stripedRightArrow">
            <a:avLst/>
          </a:prstGeom>
          <a:gradFill>
            <a:gsLst>
              <a:gs pos="39999">
                <a:srgbClr val="35BBE5"/>
              </a:gs>
              <a:gs pos="70000">
                <a:srgbClr val="BFE9F7"/>
              </a:gs>
            </a:gsLst>
            <a:lin ang="108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3" name="Rectangle 2"/>
          <p:cNvSpPr>
            <a:spLocks noGrp="1" noChangeArrowheads="1"/>
          </p:cNvSpPr>
          <p:nvPr>
            <p:ph type="title"/>
          </p:nvPr>
        </p:nvSpPr>
        <p:spPr>
          <a:xfrm>
            <a:off x="983518" y="44624"/>
            <a:ext cx="7392988" cy="563563"/>
          </a:xfrm>
        </p:spPr>
        <p:txBody>
          <a:bodyPr/>
          <a:lstStyle/>
          <a:p>
            <a:r>
              <a:rPr lang="en-US" dirty="0" err="1"/>
              <a:t>Clases</a:t>
            </a:r>
            <a:r>
              <a:rPr lang="en-US" dirty="0"/>
              <a:t> y </a:t>
            </a:r>
            <a:r>
              <a:rPr lang="en-US" dirty="0" err="1"/>
              <a:t>Objetos</a:t>
            </a:r>
            <a:endParaRPr lang="en-US" dirty="0">
              <a:solidFill>
                <a:schemeClr val="accent1"/>
              </a:solidFill>
            </a:endParaRPr>
          </a:p>
        </p:txBody>
      </p:sp>
    </p:spTree>
    <p:extLst>
      <p:ext uri="{BB962C8B-B14F-4D97-AF65-F5344CB8AC3E}">
        <p14:creationId xmlns:p14="http://schemas.microsoft.com/office/powerpoint/2010/main" val="21845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redondeado"/>
          <p:cNvSpPr/>
          <p:nvPr/>
        </p:nvSpPr>
        <p:spPr bwMode="auto">
          <a:xfrm>
            <a:off x="251520" y="1340768"/>
            <a:ext cx="8496944" cy="4608512"/>
          </a:xfrm>
          <a:prstGeom prst="roundRect">
            <a:avLst/>
          </a:prstGeom>
          <a:solidFill>
            <a:srgbClr val="66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11" name="10 Grupo"/>
          <p:cNvGrpSpPr/>
          <p:nvPr/>
        </p:nvGrpSpPr>
        <p:grpSpPr>
          <a:xfrm>
            <a:off x="683568" y="2110118"/>
            <a:ext cx="2774092" cy="3407114"/>
            <a:chOff x="683568" y="2110118"/>
            <a:chExt cx="2774092" cy="3407114"/>
          </a:xfrm>
        </p:grpSpPr>
        <p:grpSp>
          <p:nvGrpSpPr>
            <p:cNvPr id="5" name="4 Grupo"/>
            <p:cNvGrpSpPr/>
            <p:nvPr/>
          </p:nvGrpSpPr>
          <p:grpSpPr>
            <a:xfrm>
              <a:off x="693938" y="2110118"/>
              <a:ext cx="2763722" cy="3407114"/>
              <a:chOff x="800866" y="1700808"/>
              <a:chExt cx="2763722" cy="3782362"/>
            </a:xfrm>
          </p:grpSpPr>
          <p:sp>
            <p:nvSpPr>
              <p:cNvPr id="20" name="19 CuadroTexto"/>
              <p:cNvSpPr txBox="1"/>
              <p:nvPr/>
            </p:nvSpPr>
            <p:spPr>
              <a:xfrm>
                <a:off x="903054" y="1700808"/>
                <a:ext cx="2598789" cy="751682"/>
              </a:xfrm>
              <a:prstGeom prst="rect">
                <a:avLst/>
              </a:prstGeom>
              <a:noFill/>
            </p:spPr>
            <p:txBody>
              <a:bodyPr wrap="none" rtlCol="0">
                <a:spAutoFit/>
              </a:bodyPr>
              <a:lstStyle/>
              <a:p>
                <a:pPr algn="ctr"/>
                <a:r>
                  <a:rPr lang="es-ES" b="1" dirty="0">
                    <a:solidFill>
                      <a:schemeClr val="tx1">
                        <a:lumMod val="60000"/>
                        <a:lumOff val="40000"/>
                      </a:schemeClr>
                    </a:solidFill>
                  </a:rPr>
                  <a:t>CLASE</a:t>
                </a:r>
              </a:p>
              <a:p>
                <a:pPr algn="ctr"/>
                <a:r>
                  <a:rPr lang="es-ES" b="1" dirty="0" err="1"/>
                  <a:t>ModuloControl.class</a:t>
                </a:r>
                <a:endParaRPr lang="es-ES" b="1" dirty="0"/>
              </a:p>
            </p:txBody>
          </p:sp>
          <p:grpSp>
            <p:nvGrpSpPr>
              <p:cNvPr id="21" name="20 Grupo"/>
              <p:cNvGrpSpPr/>
              <p:nvPr/>
            </p:nvGrpSpPr>
            <p:grpSpPr>
              <a:xfrm>
                <a:off x="800866" y="2924049"/>
                <a:ext cx="2763722" cy="2559121"/>
                <a:chOff x="1905" y="1810554"/>
                <a:chExt cx="1857374" cy="1185840"/>
              </a:xfrm>
              <a:scene3d>
                <a:camera prst="orthographicFront">
                  <a:rot lat="0" lon="0" rev="0"/>
                </a:camera>
                <a:lightRig rig="contrasting" dir="t">
                  <a:rot lat="0" lon="0" rev="1200000"/>
                </a:lightRig>
              </a:scene3d>
            </p:grpSpPr>
            <p:sp>
              <p:nvSpPr>
                <p:cNvPr id="22" name="21 Rectángulo"/>
                <p:cNvSpPr/>
                <p:nvPr/>
              </p:nvSpPr>
              <p:spPr>
                <a:xfrm>
                  <a:off x="1905" y="1810554"/>
                  <a:ext cx="1857374" cy="926388"/>
                </a:xfrm>
                <a:prstGeom prst="rect">
                  <a:avLst/>
                </a:prstGeom>
                <a:solidFill>
                  <a:srgbClr val="FFDF79">
                    <a:alpha val="90000"/>
                  </a:srgbClr>
                </a:solidFill>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27" name="26 Rectángulo"/>
                <p:cNvSpPr/>
                <p:nvPr/>
              </p:nvSpPr>
              <p:spPr>
                <a:xfrm>
                  <a:off x="1905" y="1863667"/>
                  <a:ext cx="1857374" cy="1132727"/>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grpSp>
        <p:grpSp>
          <p:nvGrpSpPr>
            <p:cNvPr id="44" name="43 Grupo"/>
            <p:cNvGrpSpPr/>
            <p:nvPr/>
          </p:nvGrpSpPr>
          <p:grpSpPr>
            <a:xfrm>
              <a:off x="683568" y="2886442"/>
              <a:ext cx="2774092" cy="611951"/>
              <a:chOff x="1905" y="1304799"/>
              <a:chExt cx="1857374" cy="455007"/>
            </a:xfrm>
            <a:scene3d>
              <a:camera prst="orthographicFront">
                <a:rot lat="0" lon="0" rev="0"/>
              </a:camera>
              <a:lightRig rig="contrasting" dir="t">
                <a:rot lat="0" lon="0" rev="1200000"/>
              </a:lightRig>
            </a:scene3d>
          </p:grpSpPr>
          <p:sp>
            <p:nvSpPr>
              <p:cNvPr id="45" name="44 Rectángulo"/>
              <p:cNvSpPr/>
              <p:nvPr/>
            </p:nvSpPr>
            <p:spPr>
              <a:xfrm>
                <a:off x="1905" y="1334573"/>
                <a:ext cx="1857374" cy="397698"/>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46" name="45 Rectángulo"/>
              <p:cNvSpPr/>
              <p:nvPr/>
            </p:nvSpPr>
            <p:spPr>
              <a:xfrm>
                <a:off x="1905" y="1304799"/>
                <a:ext cx="1857374" cy="45500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Métodos</a:t>
                </a:r>
                <a:endParaRPr lang="es-ES" sz="1600" b="1" kern="1200" dirty="0"/>
              </a:p>
            </p:txBody>
          </p:sp>
        </p:grpSp>
        <p:grpSp>
          <p:nvGrpSpPr>
            <p:cNvPr id="9" name="8 Grupo"/>
            <p:cNvGrpSpPr/>
            <p:nvPr/>
          </p:nvGrpSpPr>
          <p:grpSpPr>
            <a:xfrm>
              <a:off x="956191" y="3952651"/>
              <a:ext cx="2312340" cy="899728"/>
              <a:chOff x="1256286" y="3543340"/>
              <a:chExt cx="2312340" cy="2082685"/>
            </a:xfrm>
          </p:grpSpPr>
          <p:sp>
            <p:nvSpPr>
              <p:cNvPr id="2" name="1 Rectángulo"/>
              <p:cNvSpPr/>
              <p:nvPr/>
            </p:nvSpPr>
            <p:spPr bwMode="auto">
              <a:xfrm>
                <a:off x="1256286" y="3543340"/>
                <a:ext cx="2312340" cy="2082685"/>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3" name="42 CuadroTexto"/>
              <p:cNvSpPr txBox="1"/>
              <p:nvPr/>
            </p:nvSpPr>
            <p:spPr>
              <a:xfrm>
                <a:off x="1265395" y="3594701"/>
                <a:ext cx="2138727" cy="1592916"/>
              </a:xfrm>
              <a:prstGeom prst="rect">
                <a:avLst/>
              </a:prstGeom>
              <a:noFill/>
            </p:spPr>
            <p:txBody>
              <a:bodyPr wrap="none" rtlCol="0">
                <a:spAutoFit/>
              </a:bodyPr>
              <a:lstStyle/>
              <a:p>
                <a:r>
                  <a:rPr lang="es-ES" sz="1400" dirty="0">
                    <a:solidFill>
                      <a:srgbClr val="FF0000"/>
                    </a:solidFill>
                  </a:rPr>
                  <a:t>sem1 = </a:t>
                </a:r>
                <a:r>
                  <a:rPr lang="es-ES" sz="1400" dirty="0">
                    <a:solidFill>
                      <a:schemeClr val="tx1">
                        <a:lumMod val="60000"/>
                        <a:lumOff val="40000"/>
                      </a:schemeClr>
                    </a:solidFill>
                  </a:rPr>
                  <a:t>nuevo</a:t>
                </a:r>
                <a:r>
                  <a:rPr lang="es-ES" sz="1400" dirty="0">
                    <a:solidFill>
                      <a:srgbClr val="FF0000"/>
                    </a:solidFill>
                  </a:rPr>
                  <a:t> </a:t>
                </a:r>
                <a:r>
                  <a:rPr lang="es-ES" sz="1400" dirty="0" err="1">
                    <a:solidFill>
                      <a:srgbClr val="FF0000"/>
                    </a:solidFill>
                  </a:rPr>
                  <a:t>Semaforo</a:t>
                </a:r>
                <a:endParaRPr lang="es-ES" sz="1400" dirty="0">
                  <a:solidFill>
                    <a:srgbClr val="FF0000"/>
                  </a:solidFill>
                </a:endParaRPr>
              </a:p>
              <a:p>
                <a:r>
                  <a:rPr lang="es-ES" sz="1400" dirty="0">
                    <a:solidFill>
                      <a:srgbClr val="FF0000"/>
                    </a:solidFill>
                  </a:rPr>
                  <a:t>sem2 = </a:t>
                </a:r>
                <a:r>
                  <a:rPr lang="es-ES" sz="1400" dirty="0">
                    <a:solidFill>
                      <a:schemeClr val="tx1">
                        <a:lumMod val="60000"/>
                        <a:lumOff val="40000"/>
                      </a:schemeClr>
                    </a:solidFill>
                  </a:rPr>
                  <a:t>nuevo</a:t>
                </a:r>
                <a:r>
                  <a:rPr lang="es-ES" sz="1400" dirty="0">
                    <a:solidFill>
                      <a:srgbClr val="FF0000"/>
                    </a:solidFill>
                  </a:rPr>
                  <a:t> </a:t>
                </a:r>
                <a:r>
                  <a:rPr lang="es-ES" sz="1400" dirty="0" err="1">
                    <a:solidFill>
                      <a:srgbClr val="FF0000"/>
                    </a:solidFill>
                  </a:rPr>
                  <a:t>Semaforo</a:t>
                </a:r>
                <a:endParaRPr lang="es-ES" sz="1400" dirty="0">
                  <a:solidFill>
                    <a:srgbClr val="FF0000"/>
                  </a:solidFill>
                </a:endParaRPr>
              </a:p>
              <a:p>
                <a:r>
                  <a:rPr lang="es-ES" sz="1400" dirty="0">
                    <a:solidFill>
                      <a:srgbClr val="FF0000"/>
                    </a:solidFill>
                  </a:rPr>
                  <a:t>…</a:t>
                </a:r>
              </a:p>
            </p:txBody>
          </p:sp>
        </p:grpSp>
      </p:grpSp>
      <p:sp>
        <p:nvSpPr>
          <p:cNvPr id="4098" name="Rectangle 2"/>
          <p:cNvSpPr>
            <a:spLocks noGrp="1" noChangeArrowheads="1"/>
          </p:cNvSpPr>
          <p:nvPr>
            <p:ph type="title"/>
          </p:nvPr>
        </p:nvSpPr>
        <p:spPr>
          <a:xfrm>
            <a:off x="983518" y="44624"/>
            <a:ext cx="7392988" cy="563563"/>
          </a:xfrm>
        </p:spPr>
        <p:txBody>
          <a:bodyPr/>
          <a:lstStyle/>
          <a:p>
            <a:r>
              <a:rPr lang="en-US" dirty="0" err="1"/>
              <a:t>Método</a:t>
            </a:r>
            <a:r>
              <a:rPr lang="en-US" dirty="0"/>
              <a:t> main</a:t>
            </a:r>
            <a:endParaRPr lang="en-US" dirty="0">
              <a:solidFill>
                <a:schemeClr val="accent1"/>
              </a:solidFill>
            </a:endParaRPr>
          </a:p>
        </p:txBody>
      </p:sp>
      <p:sp>
        <p:nvSpPr>
          <p:cNvPr id="50" name="49 CuadroTexto"/>
          <p:cNvSpPr txBox="1"/>
          <p:nvPr/>
        </p:nvSpPr>
        <p:spPr>
          <a:xfrm>
            <a:off x="1456719" y="3532878"/>
            <a:ext cx="1162498" cy="384721"/>
          </a:xfrm>
          <a:prstGeom prst="rect">
            <a:avLst/>
          </a:prstGeom>
          <a:noFill/>
        </p:spPr>
        <p:txBody>
          <a:bodyPr wrap="none" rtlCol="0">
            <a:spAutoFit/>
          </a:bodyPr>
          <a:lstStyle/>
          <a:p>
            <a:r>
              <a:rPr lang="es-ES" b="1" dirty="0"/>
              <a:t>arrancar</a:t>
            </a:r>
          </a:p>
        </p:txBody>
      </p:sp>
      <p:grpSp>
        <p:nvGrpSpPr>
          <p:cNvPr id="3" name="2 Grupo"/>
          <p:cNvGrpSpPr/>
          <p:nvPr/>
        </p:nvGrpSpPr>
        <p:grpSpPr>
          <a:xfrm>
            <a:off x="5546956" y="1671258"/>
            <a:ext cx="2774092" cy="5461981"/>
            <a:chOff x="4750236" y="692695"/>
            <a:chExt cx="2774092" cy="5461981"/>
          </a:xfrm>
        </p:grpSpPr>
        <p:sp>
          <p:nvSpPr>
            <p:cNvPr id="63" name="62 CuadroTexto"/>
            <p:cNvSpPr txBox="1"/>
            <p:nvPr/>
          </p:nvSpPr>
          <p:spPr>
            <a:xfrm>
              <a:off x="5142461" y="692695"/>
              <a:ext cx="1989648" cy="677108"/>
            </a:xfrm>
            <a:prstGeom prst="rect">
              <a:avLst/>
            </a:prstGeom>
            <a:noFill/>
          </p:spPr>
          <p:txBody>
            <a:bodyPr wrap="none" rtlCol="0">
              <a:spAutoFit/>
            </a:bodyPr>
            <a:lstStyle/>
            <a:p>
              <a:pPr algn="ctr"/>
              <a:r>
                <a:rPr lang="es-ES" b="1" dirty="0">
                  <a:solidFill>
                    <a:schemeClr val="tx1">
                      <a:lumMod val="60000"/>
                      <a:lumOff val="40000"/>
                    </a:schemeClr>
                  </a:solidFill>
                </a:rPr>
                <a:t>CLASE</a:t>
              </a:r>
            </a:p>
            <a:p>
              <a:pPr algn="ctr"/>
              <a:r>
                <a:rPr lang="es-ES" b="1" dirty="0" err="1"/>
                <a:t>Semáforo.class</a:t>
              </a:r>
              <a:endParaRPr lang="es-ES" b="1" dirty="0"/>
            </a:p>
          </p:txBody>
        </p:sp>
        <p:grpSp>
          <p:nvGrpSpPr>
            <p:cNvPr id="64" name="63 Grupo"/>
            <p:cNvGrpSpPr/>
            <p:nvPr/>
          </p:nvGrpSpPr>
          <p:grpSpPr>
            <a:xfrm>
              <a:off x="4760606" y="2924945"/>
              <a:ext cx="2763722" cy="3229731"/>
              <a:chOff x="1905" y="1715977"/>
              <a:chExt cx="1857374" cy="1280417"/>
            </a:xfrm>
            <a:scene3d>
              <a:camera prst="orthographicFront">
                <a:rot lat="0" lon="0" rev="0"/>
              </a:camera>
              <a:lightRig rig="contrasting" dir="t">
                <a:rot lat="0" lon="0" rev="1200000"/>
              </a:lightRig>
            </a:scene3d>
          </p:grpSpPr>
          <p:sp>
            <p:nvSpPr>
              <p:cNvPr id="89" name="88 Rectángulo"/>
              <p:cNvSpPr/>
              <p:nvPr/>
            </p:nvSpPr>
            <p:spPr>
              <a:xfrm>
                <a:off x="1905" y="1715977"/>
                <a:ext cx="1857374" cy="615089"/>
              </a:xfrm>
              <a:prstGeom prst="rect">
                <a:avLst/>
              </a:prstGeom>
              <a:solidFill>
                <a:srgbClr val="FFDF79">
                  <a:alpha val="90000"/>
                </a:srgbClr>
              </a:solidFill>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90" name="89 Rectángulo"/>
              <p:cNvSpPr/>
              <p:nvPr/>
            </p:nvSpPr>
            <p:spPr>
              <a:xfrm>
                <a:off x="1905" y="1810554"/>
                <a:ext cx="1857374" cy="1185840"/>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grpSp>
          <p:nvGrpSpPr>
            <p:cNvPr id="74" name="73 Grupo"/>
            <p:cNvGrpSpPr/>
            <p:nvPr/>
          </p:nvGrpSpPr>
          <p:grpSpPr>
            <a:xfrm>
              <a:off x="4750236" y="2287051"/>
              <a:ext cx="2774092" cy="812211"/>
              <a:chOff x="1905" y="1161048"/>
              <a:chExt cx="1857374" cy="455007"/>
            </a:xfrm>
            <a:scene3d>
              <a:camera prst="orthographicFront">
                <a:rot lat="0" lon="0" rev="0"/>
              </a:camera>
              <a:lightRig rig="contrasting" dir="t">
                <a:rot lat="0" lon="0" rev="1200000"/>
              </a:lightRig>
            </a:scene3d>
          </p:grpSpPr>
          <p:sp>
            <p:nvSpPr>
              <p:cNvPr id="87" name="86 Rectángulo"/>
              <p:cNvSpPr/>
              <p:nvPr/>
            </p:nvSpPr>
            <p:spPr>
              <a:xfrm>
                <a:off x="1905" y="1236024"/>
                <a:ext cx="1857374" cy="295259"/>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8" name="87 Rectángulo"/>
              <p:cNvSpPr/>
              <p:nvPr/>
            </p:nvSpPr>
            <p:spPr>
              <a:xfrm>
                <a:off x="1905" y="1161048"/>
                <a:ext cx="1857374" cy="45500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Métodos</a:t>
                </a:r>
                <a:endParaRPr lang="es-ES" sz="1600" b="1" kern="1200" dirty="0"/>
              </a:p>
            </p:txBody>
          </p:sp>
        </p:grpSp>
        <p:sp>
          <p:nvSpPr>
            <p:cNvPr id="76" name="75 CuadroTexto"/>
            <p:cNvSpPr txBox="1"/>
            <p:nvPr/>
          </p:nvSpPr>
          <p:spPr>
            <a:xfrm>
              <a:off x="5010000" y="3501008"/>
              <a:ext cx="2312340" cy="369332"/>
            </a:xfrm>
            <a:prstGeom prst="rect">
              <a:avLst/>
            </a:prstGeom>
            <a:noFill/>
          </p:spPr>
          <p:txBody>
            <a:bodyPr wrap="square" rtlCol="0">
              <a:spAutoFit/>
            </a:bodyPr>
            <a:lstStyle/>
            <a:p>
              <a:pPr algn="ctr"/>
              <a:r>
                <a:rPr lang="es-ES" sz="1800" b="1" dirty="0" err="1"/>
                <a:t>ponerAmarillo</a:t>
              </a:r>
              <a:endParaRPr lang="es-ES" sz="1800" b="1" dirty="0"/>
            </a:p>
          </p:txBody>
        </p:sp>
        <p:sp>
          <p:nvSpPr>
            <p:cNvPr id="80" name="79 CuadroTexto"/>
            <p:cNvSpPr txBox="1"/>
            <p:nvPr/>
          </p:nvSpPr>
          <p:spPr>
            <a:xfrm>
              <a:off x="4995964" y="3068960"/>
              <a:ext cx="2312340" cy="369332"/>
            </a:xfrm>
            <a:prstGeom prst="rect">
              <a:avLst/>
            </a:prstGeom>
            <a:noFill/>
          </p:spPr>
          <p:txBody>
            <a:bodyPr wrap="square" rtlCol="0">
              <a:spAutoFit/>
            </a:bodyPr>
            <a:lstStyle/>
            <a:p>
              <a:pPr algn="ctr"/>
              <a:r>
                <a:rPr lang="es-ES" sz="1800" b="1" dirty="0" err="1"/>
                <a:t>ponerVerde</a:t>
              </a:r>
              <a:endParaRPr lang="es-ES" sz="1800" b="1" dirty="0"/>
            </a:p>
          </p:txBody>
        </p:sp>
        <p:sp>
          <p:nvSpPr>
            <p:cNvPr id="81" name="80 CuadroTexto"/>
            <p:cNvSpPr txBox="1"/>
            <p:nvPr/>
          </p:nvSpPr>
          <p:spPr>
            <a:xfrm>
              <a:off x="4995964" y="3933056"/>
              <a:ext cx="2312340" cy="369332"/>
            </a:xfrm>
            <a:prstGeom prst="rect">
              <a:avLst/>
            </a:prstGeom>
            <a:noFill/>
          </p:spPr>
          <p:txBody>
            <a:bodyPr wrap="square" rtlCol="0">
              <a:spAutoFit/>
            </a:bodyPr>
            <a:lstStyle/>
            <a:p>
              <a:pPr algn="ctr"/>
              <a:r>
                <a:rPr lang="es-ES" sz="1800" b="1" dirty="0" err="1"/>
                <a:t>ponerRojo</a:t>
              </a:r>
              <a:endParaRPr lang="es-ES" sz="1800" b="1" dirty="0"/>
            </a:p>
          </p:txBody>
        </p:sp>
        <p:sp>
          <p:nvSpPr>
            <p:cNvPr id="82" name="81 Rectángulo"/>
            <p:cNvSpPr/>
            <p:nvPr/>
          </p:nvSpPr>
          <p:spPr>
            <a:xfrm>
              <a:off x="4760606" y="1916831"/>
              <a:ext cx="2763722" cy="503607"/>
            </a:xfrm>
            <a:prstGeom prst="rect">
              <a:avLst/>
            </a:prstGeom>
            <a:solidFill>
              <a:srgbClr val="FFDF79">
                <a:alpha val="90000"/>
              </a:srgb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83" name="82 CuadroTexto"/>
            <p:cNvSpPr txBox="1"/>
            <p:nvPr/>
          </p:nvSpPr>
          <p:spPr>
            <a:xfrm>
              <a:off x="4981191" y="1983968"/>
              <a:ext cx="2312340" cy="369332"/>
            </a:xfrm>
            <a:prstGeom prst="rect">
              <a:avLst/>
            </a:prstGeom>
            <a:noFill/>
          </p:spPr>
          <p:txBody>
            <a:bodyPr wrap="square" rtlCol="0">
              <a:spAutoFit/>
            </a:bodyPr>
            <a:lstStyle/>
            <a:p>
              <a:pPr algn="ctr"/>
              <a:r>
                <a:rPr lang="es-ES" sz="1800" b="1" dirty="0"/>
                <a:t>luz</a:t>
              </a:r>
            </a:p>
          </p:txBody>
        </p:sp>
        <p:grpSp>
          <p:nvGrpSpPr>
            <p:cNvPr id="84" name="83 Grupo"/>
            <p:cNvGrpSpPr/>
            <p:nvPr/>
          </p:nvGrpSpPr>
          <p:grpSpPr>
            <a:xfrm>
              <a:off x="4750236" y="1255311"/>
              <a:ext cx="2774092" cy="812211"/>
              <a:chOff x="1905" y="1257892"/>
              <a:chExt cx="1857374" cy="455007"/>
            </a:xfrm>
            <a:scene3d>
              <a:camera prst="orthographicFront">
                <a:rot lat="0" lon="0" rev="0"/>
              </a:camera>
              <a:lightRig rig="contrasting" dir="t">
                <a:rot lat="0" lon="0" rev="1200000"/>
              </a:lightRig>
            </a:scene3d>
          </p:grpSpPr>
          <p:sp>
            <p:nvSpPr>
              <p:cNvPr id="85" name="84 Rectángulo"/>
              <p:cNvSpPr/>
              <p:nvPr/>
            </p:nvSpPr>
            <p:spPr>
              <a:xfrm>
                <a:off x="1905" y="1338029"/>
                <a:ext cx="1857374" cy="290452"/>
              </a:xfrm>
              <a:prstGeom prst="rect">
                <a:avLst/>
              </a:prstGeom>
              <a:sp3d contourW="19050" prstMaterial="metal">
                <a:bevelT w="88900" h="203200"/>
                <a:bevelB w="165100" h="254000"/>
              </a:sp3d>
            </p:spPr>
            <p:style>
              <a:lnRef idx="0">
                <a:schemeClr val="accen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6" name="85 Rectángulo"/>
              <p:cNvSpPr/>
              <p:nvPr/>
            </p:nvSpPr>
            <p:spPr>
              <a:xfrm>
                <a:off x="1905" y="1257892"/>
                <a:ext cx="1857374" cy="45500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spcBef>
                    <a:spcPct val="0"/>
                  </a:spcBef>
                  <a:spcAft>
                    <a:spcPts val="0"/>
                  </a:spcAft>
                </a:pPr>
                <a:r>
                  <a:rPr lang="es-ES" sz="2000" b="1" kern="1200" dirty="0">
                    <a:solidFill>
                      <a:srgbClr val="FFFF00"/>
                    </a:solidFill>
                  </a:rPr>
                  <a:t>Atributos</a:t>
                </a:r>
                <a:endParaRPr lang="es-ES" sz="1600" b="1" kern="1200" dirty="0"/>
              </a:p>
            </p:txBody>
          </p:sp>
        </p:grpSp>
      </p:grpSp>
      <p:sp>
        <p:nvSpPr>
          <p:cNvPr id="115" name="114 Flecha derecha"/>
          <p:cNvSpPr/>
          <p:nvPr/>
        </p:nvSpPr>
        <p:spPr bwMode="auto">
          <a:xfrm>
            <a:off x="16559" y="3470783"/>
            <a:ext cx="1099057" cy="504056"/>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17" name="116 CuadroTexto"/>
          <p:cNvSpPr txBox="1"/>
          <p:nvPr/>
        </p:nvSpPr>
        <p:spPr>
          <a:xfrm>
            <a:off x="1657797" y="3529701"/>
            <a:ext cx="753732" cy="384721"/>
          </a:xfrm>
          <a:prstGeom prst="rect">
            <a:avLst/>
          </a:prstGeom>
          <a:noFill/>
        </p:spPr>
        <p:txBody>
          <a:bodyPr wrap="none" rtlCol="0">
            <a:spAutoFit/>
          </a:bodyPr>
          <a:lstStyle/>
          <a:p>
            <a:r>
              <a:rPr lang="es-ES" b="1" dirty="0" err="1"/>
              <a:t>main</a:t>
            </a:r>
            <a:endParaRPr lang="es-ES" b="1" dirty="0"/>
          </a:p>
        </p:txBody>
      </p:sp>
      <p:grpSp>
        <p:nvGrpSpPr>
          <p:cNvPr id="18" name="17 Grupo"/>
          <p:cNvGrpSpPr/>
          <p:nvPr/>
        </p:nvGrpSpPr>
        <p:grpSpPr>
          <a:xfrm>
            <a:off x="3104027" y="1500986"/>
            <a:ext cx="1782346" cy="4256144"/>
            <a:chOff x="3104027" y="1500986"/>
            <a:chExt cx="1782346" cy="4256144"/>
          </a:xfrm>
        </p:grpSpPr>
        <p:grpSp>
          <p:nvGrpSpPr>
            <p:cNvPr id="103" name="102 Grupo"/>
            <p:cNvGrpSpPr/>
            <p:nvPr/>
          </p:nvGrpSpPr>
          <p:grpSpPr>
            <a:xfrm>
              <a:off x="4065984" y="1500986"/>
              <a:ext cx="813666" cy="2031892"/>
              <a:chOff x="3747375" y="805021"/>
              <a:chExt cx="1057040" cy="2639647"/>
            </a:xfrm>
          </p:grpSpPr>
          <p:pic>
            <p:nvPicPr>
              <p:cNvPr id="104" name="Picture 2" descr="C:\Users\Usuario\Desktop\imágenes presentación\semaforo-8.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V="1">
                <a:off x="3840346" y="1484784"/>
                <a:ext cx="897124" cy="1959884"/>
              </a:xfrm>
              <a:prstGeom prst="rect">
                <a:avLst/>
              </a:prstGeom>
              <a:noFill/>
              <a:extLst>
                <a:ext uri="{909E8E84-426E-40DD-AFC4-6F175D3DCCD1}">
                  <a14:hiddenFill xmlns:a14="http://schemas.microsoft.com/office/drawing/2010/main">
                    <a:solidFill>
                      <a:srgbClr val="FFFFFF"/>
                    </a:solidFill>
                  </a14:hiddenFill>
                </a:ext>
              </a:extLst>
            </p:spPr>
          </p:pic>
          <p:sp>
            <p:nvSpPr>
              <p:cNvPr id="105" name="104 CuadroTexto"/>
              <p:cNvSpPr txBox="1"/>
              <p:nvPr/>
            </p:nvSpPr>
            <p:spPr>
              <a:xfrm>
                <a:off x="3747375" y="1027052"/>
                <a:ext cx="809836" cy="384720"/>
              </a:xfrm>
              <a:prstGeom prst="rect">
                <a:avLst/>
              </a:prstGeom>
              <a:noFill/>
            </p:spPr>
            <p:txBody>
              <a:bodyPr wrap="none" rtlCol="0">
                <a:spAutoFit/>
              </a:bodyPr>
              <a:lstStyle/>
              <a:p>
                <a:r>
                  <a:rPr lang="es-ES" b="1" dirty="0"/>
                  <a:t>sem1</a:t>
                </a:r>
              </a:p>
            </p:txBody>
          </p:sp>
          <p:sp>
            <p:nvSpPr>
              <p:cNvPr id="107" name="106 CuadroTexto"/>
              <p:cNvSpPr txBox="1"/>
              <p:nvPr/>
            </p:nvSpPr>
            <p:spPr>
              <a:xfrm>
                <a:off x="3764844" y="805021"/>
                <a:ext cx="1039571" cy="439818"/>
              </a:xfrm>
              <a:prstGeom prst="rect">
                <a:avLst/>
              </a:prstGeom>
              <a:noFill/>
            </p:spPr>
            <p:txBody>
              <a:bodyPr wrap="none" rtlCol="0">
                <a:spAutoFit/>
              </a:bodyPr>
              <a:lstStyle/>
              <a:p>
                <a:r>
                  <a:rPr lang="es-ES" sz="1600" b="1" dirty="0">
                    <a:solidFill>
                      <a:srgbClr val="FF0000"/>
                    </a:solidFill>
                  </a:rPr>
                  <a:t>objeto</a:t>
                </a:r>
              </a:p>
            </p:txBody>
          </p:sp>
        </p:grpSp>
        <p:grpSp>
          <p:nvGrpSpPr>
            <p:cNvPr id="109" name="108 Grupo"/>
            <p:cNvGrpSpPr/>
            <p:nvPr/>
          </p:nvGrpSpPr>
          <p:grpSpPr>
            <a:xfrm>
              <a:off x="4072707" y="3725238"/>
              <a:ext cx="813666" cy="2031892"/>
              <a:chOff x="3747375" y="805021"/>
              <a:chExt cx="1057040" cy="2639647"/>
            </a:xfrm>
          </p:grpSpPr>
          <p:pic>
            <p:nvPicPr>
              <p:cNvPr id="110" name="Picture 2" descr="C:\Users\Usuario\Desktop\imágenes presentación\semaforo-8.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V="1">
                <a:off x="3840346" y="1484784"/>
                <a:ext cx="897124" cy="1959884"/>
              </a:xfrm>
              <a:prstGeom prst="rect">
                <a:avLst/>
              </a:prstGeom>
              <a:noFill/>
              <a:extLst>
                <a:ext uri="{909E8E84-426E-40DD-AFC4-6F175D3DCCD1}">
                  <a14:hiddenFill xmlns:a14="http://schemas.microsoft.com/office/drawing/2010/main">
                    <a:solidFill>
                      <a:srgbClr val="FFFFFF"/>
                    </a:solidFill>
                  </a14:hiddenFill>
                </a:ext>
              </a:extLst>
            </p:spPr>
          </p:pic>
          <p:sp>
            <p:nvSpPr>
              <p:cNvPr id="111" name="110 CuadroTexto"/>
              <p:cNvSpPr txBox="1"/>
              <p:nvPr/>
            </p:nvSpPr>
            <p:spPr>
              <a:xfrm>
                <a:off x="3747375" y="1027052"/>
                <a:ext cx="1052066" cy="499794"/>
              </a:xfrm>
              <a:prstGeom prst="rect">
                <a:avLst/>
              </a:prstGeom>
              <a:noFill/>
            </p:spPr>
            <p:txBody>
              <a:bodyPr wrap="none" rtlCol="0">
                <a:spAutoFit/>
              </a:bodyPr>
              <a:lstStyle/>
              <a:p>
                <a:r>
                  <a:rPr lang="es-ES" b="1" dirty="0"/>
                  <a:t>sem2</a:t>
                </a:r>
              </a:p>
            </p:txBody>
          </p:sp>
          <p:sp>
            <p:nvSpPr>
              <p:cNvPr id="112" name="111 CuadroTexto"/>
              <p:cNvSpPr txBox="1"/>
              <p:nvPr/>
            </p:nvSpPr>
            <p:spPr>
              <a:xfrm>
                <a:off x="3764844" y="805021"/>
                <a:ext cx="1039571" cy="439818"/>
              </a:xfrm>
              <a:prstGeom prst="rect">
                <a:avLst/>
              </a:prstGeom>
              <a:noFill/>
            </p:spPr>
            <p:txBody>
              <a:bodyPr wrap="none" rtlCol="0">
                <a:spAutoFit/>
              </a:bodyPr>
              <a:lstStyle/>
              <a:p>
                <a:r>
                  <a:rPr lang="es-ES" sz="1600" b="1" dirty="0">
                    <a:solidFill>
                      <a:srgbClr val="FF0000"/>
                    </a:solidFill>
                  </a:rPr>
                  <a:t>objeto</a:t>
                </a:r>
              </a:p>
            </p:txBody>
          </p:sp>
        </p:grpSp>
        <p:cxnSp>
          <p:nvCxnSpPr>
            <p:cNvPr id="13" name="12 Conector recto de flecha"/>
            <p:cNvCxnSpPr/>
            <p:nvPr/>
          </p:nvCxnSpPr>
          <p:spPr bwMode="auto">
            <a:xfrm flipV="1">
              <a:off x="3104027" y="3265615"/>
              <a:ext cx="961957" cy="84681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5" name="14 Conector recto de flecha"/>
            <p:cNvCxnSpPr>
              <a:stCxn id="43" idx="3"/>
            </p:cNvCxnSpPr>
            <p:nvPr/>
          </p:nvCxnSpPr>
          <p:spPr bwMode="auto">
            <a:xfrm>
              <a:off x="3104027" y="4318912"/>
              <a:ext cx="961957" cy="34407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sp>
        <p:nvSpPr>
          <p:cNvPr id="118" name="117 CuadroTexto"/>
          <p:cNvSpPr txBox="1"/>
          <p:nvPr/>
        </p:nvSpPr>
        <p:spPr>
          <a:xfrm>
            <a:off x="1383152" y="3529700"/>
            <a:ext cx="1460656" cy="384721"/>
          </a:xfrm>
          <a:prstGeom prst="rect">
            <a:avLst/>
          </a:prstGeom>
          <a:noFill/>
        </p:spPr>
        <p:txBody>
          <a:bodyPr wrap="none" rtlCol="0">
            <a:spAutoFit/>
          </a:bodyPr>
          <a:lstStyle/>
          <a:p>
            <a:r>
              <a:rPr lang="es-ES" b="1" i="1" dirty="0" err="1">
                <a:solidFill>
                  <a:srgbClr val="009900"/>
                </a:solidFill>
              </a:rPr>
              <a:t>static</a:t>
            </a:r>
            <a:r>
              <a:rPr lang="es-ES" b="1" dirty="0"/>
              <a:t> </a:t>
            </a:r>
            <a:r>
              <a:rPr lang="es-ES" b="1" dirty="0" err="1"/>
              <a:t>main</a:t>
            </a:r>
            <a:endParaRPr lang="es-ES" b="1" dirty="0"/>
          </a:p>
        </p:txBody>
      </p:sp>
    </p:spTree>
    <p:extLst>
      <p:ext uri="{BB962C8B-B14F-4D97-AF65-F5344CB8AC3E}">
        <p14:creationId xmlns:p14="http://schemas.microsoft.com/office/powerpoint/2010/main" val="341966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0"/>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0" grpId="1"/>
      <p:bldP spid="115" grpId="0" animBg="1"/>
      <p:bldP spid="117" grpId="0"/>
      <p:bldP spid="117" grpId="1"/>
      <p:bldP spid="1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91 Esquina doblada"/>
          <p:cNvSpPr/>
          <p:nvPr/>
        </p:nvSpPr>
        <p:spPr bwMode="auto">
          <a:xfrm>
            <a:off x="683568" y="1340768"/>
            <a:ext cx="8064896" cy="4752528"/>
          </a:xfrm>
          <a:prstGeom prst="foldedCorner">
            <a:avLst/>
          </a:prstGeom>
          <a:solidFill>
            <a:srgbClr val="EFFE98"/>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grpSp>
        <p:nvGrpSpPr>
          <p:cNvPr id="77" name="76 Grupo"/>
          <p:cNvGrpSpPr/>
          <p:nvPr/>
        </p:nvGrpSpPr>
        <p:grpSpPr>
          <a:xfrm>
            <a:off x="971600" y="1555768"/>
            <a:ext cx="7488832" cy="3917044"/>
            <a:chOff x="971600" y="1928918"/>
            <a:chExt cx="7488832" cy="2419905"/>
          </a:xfrm>
        </p:grpSpPr>
        <p:sp>
          <p:nvSpPr>
            <p:cNvPr id="32" name="31 Rectángulo"/>
            <p:cNvSpPr/>
            <p:nvPr/>
          </p:nvSpPr>
          <p:spPr bwMode="auto">
            <a:xfrm>
              <a:off x="971600" y="1928918"/>
              <a:ext cx="7488832" cy="2419905"/>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1" name="20 Rectángulo"/>
            <p:cNvSpPr/>
            <p:nvPr/>
          </p:nvSpPr>
          <p:spPr>
            <a:xfrm>
              <a:off x="1043608" y="1943541"/>
              <a:ext cx="7292286" cy="2405282"/>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a:t>Bienvenido</a:t>
              </a:r>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r>
                <a:rPr lang="es-ES" sz="1600" dirty="0"/>
                <a:t>}</a:t>
              </a:r>
            </a:p>
          </p:txBody>
        </p:sp>
      </p:grpSp>
      <p:sp>
        <p:nvSpPr>
          <p:cNvPr id="2" name="1 Título"/>
          <p:cNvSpPr>
            <a:spLocks noGrp="1"/>
          </p:cNvSpPr>
          <p:nvPr>
            <p:ph type="title"/>
          </p:nvPr>
        </p:nvSpPr>
        <p:spPr>
          <a:xfrm>
            <a:off x="851420" y="53975"/>
            <a:ext cx="7392988" cy="563563"/>
          </a:xfrm>
        </p:spPr>
        <p:txBody>
          <a:bodyPr/>
          <a:lstStyle/>
          <a:p>
            <a:r>
              <a:rPr lang="es-ES" dirty="0"/>
              <a:t>Método Simple</a:t>
            </a:r>
          </a:p>
        </p:txBody>
      </p:sp>
      <p:sp>
        <p:nvSpPr>
          <p:cNvPr id="16" name="15 Rectángulo"/>
          <p:cNvSpPr/>
          <p:nvPr/>
        </p:nvSpPr>
        <p:spPr>
          <a:xfrm>
            <a:off x="1225134" y="2462719"/>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81" name="80 Grupo"/>
          <p:cNvGrpSpPr/>
          <p:nvPr/>
        </p:nvGrpSpPr>
        <p:grpSpPr>
          <a:xfrm>
            <a:off x="1979712" y="2482689"/>
            <a:ext cx="6197383" cy="1111127"/>
            <a:chOff x="2147033" y="2796529"/>
            <a:chExt cx="6197383" cy="1111127"/>
          </a:xfrm>
        </p:grpSpPr>
        <p:sp>
          <p:nvSpPr>
            <p:cNvPr id="3" name="2 Rectángulo"/>
            <p:cNvSpPr/>
            <p:nvPr/>
          </p:nvSpPr>
          <p:spPr bwMode="auto">
            <a:xfrm>
              <a:off x="2147033" y="2827536"/>
              <a:ext cx="6188862" cy="1080120"/>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9" name="68 Rectángulo"/>
            <p:cNvSpPr/>
            <p:nvPr/>
          </p:nvSpPr>
          <p:spPr>
            <a:xfrm>
              <a:off x="2204258" y="2796529"/>
              <a:ext cx="6140158" cy="1077218"/>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p>
            <a:p>
              <a:r>
                <a:rPr lang="es-ES" sz="1600" dirty="0"/>
                <a:t>     </a:t>
              </a:r>
            </a:p>
            <a:p>
              <a:pPr>
                <a:spcAft>
                  <a:spcPts val="600"/>
                </a:spcAft>
              </a:pPr>
              <a:r>
                <a:rPr lang="es-ES" sz="1600" dirty="0"/>
                <a:t>}</a:t>
              </a:r>
            </a:p>
          </p:txBody>
        </p:sp>
      </p:grpSp>
      <p:grpSp>
        <p:nvGrpSpPr>
          <p:cNvPr id="86" name="85 Grupo"/>
          <p:cNvGrpSpPr/>
          <p:nvPr/>
        </p:nvGrpSpPr>
        <p:grpSpPr>
          <a:xfrm>
            <a:off x="35496" y="2179464"/>
            <a:ext cx="1800200" cy="661731"/>
            <a:chOff x="35496" y="2963292"/>
            <a:chExt cx="1800200" cy="661731"/>
          </a:xfrm>
        </p:grpSpPr>
        <p:sp>
          <p:nvSpPr>
            <p:cNvPr id="17" name="16 Flecha derecha"/>
            <p:cNvSpPr/>
            <p:nvPr/>
          </p:nvSpPr>
          <p:spPr bwMode="auto">
            <a:xfrm>
              <a:off x="128351" y="3296852"/>
              <a:ext cx="1707345" cy="328171"/>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1" name="30 Rectángulo"/>
            <p:cNvSpPr/>
            <p:nvPr/>
          </p:nvSpPr>
          <p:spPr>
            <a:xfrm>
              <a:off x="35496" y="2963292"/>
              <a:ext cx="740908" cy="400110"/>
            </a:xfrm>
            <a:prstGeom prst="rect">
              <a:avLst/>
            </a:prstGeom>
          </p:spPr>
          <p:txBody>
            <a:bodyPr wrap="none">
              <a:spAutoFit/>
            </a:bodyPr>
            <a:lstStyle/>
            <a:p>
              <a:r>
                <a:rPr lang="es-ES" sz="2000" dirty="0" err="1">
                  <a:solidFill>
                    <a:srgbClr val="FF0000"/>
                  </a:solidFill>
                </a:rPr>
                <a:t>main</a:t>
              </a:r>
              <a:endParaRPr lang="es-ES" dirty="0"/>
            </a:p>
          </p:txBody>
        </p:sp>
      </p:grpSp>
      <p:sp>
        <p:nvSpPr>
          <p:cNvPr id="40" name="39 Rectángulo"/>
          <p:cNvSpPr/>
          <p:nvPr/>
        </p:nvSpPr>
        <p:spPr bwMode="auto">
          <a:xfrm>
            <a:off x="2342671" y="2962635"/>
            <a:ext cx="5181658" cy="301353"/>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8" name="77 Rectángulo"/>
          <p:cNvSpPr/>
          <p:nvPr/>
        </p:nvSpPr>
        <p:spPr>
          <a:xfrm>
            <a:off x="3491880" y="2933321"/>
            <a:ext cx="1080120" cy="338554"/>
          </a:xfrm>
          <a:prstGeom prst="rect">
            <a:avLst/>
          </a:prstGeom>
        </p:spPr>
        <p:txBody>
          <a:bodyPr wrap="square">
            <a:spAutoFit/>
          </a:bodyPr>
          <a:lstStyle/>
          <a:p>
            <a:r>
              <a:rPr lang="es-ES" sz="1600" dirty="0">
                <a:solidFill>
                  <a:srgbClr val="FF0000"/>
                </a:solidFill>
              </a:rPr>
              <a:t>saluda()</a:t>
            </a:r>
            <a:r>
              <a:rPr lang="es-ES" sz="1600" dirty="0"/>
              <a:t>;</a:t>
            </a:r>
          </a:p>
        </p:txBody>
      </p:sp>
      <p:grpSp>
        <p:nvGrpSpPr>
          <p:cNvPr id="7" name="6 Grupo"/>
          <p:cNvGrpSpPr/>
          <p:nvPr/>
        </p:nvGrpSpPr>
        <p:grpSpPr>
          <a:xfrm>
            <a:off x="1979712" y="3758033"/>
            <a:ext cx="6225383" cy="1111127"/>
            <a:chOff x="1979712" y="3758033"/>
            <a:chExt cx="6225383" cy="1111127"/>
          </a:xfrm>
        </p:grpSpPr>
        <p:grpSp>
          <p:nvGrpSpPr>
            <p:cNvPr id="55" name="54 Grupo"/>
            <p:cNvGrpSpPr/>
            <p:nvPr/>
          </p:nvGrpSpPr>
          <p:grpSpPr>
            <a:xfrm>
              <a:off x="1979712" y="3758033"/>
              <a:ext cx="6197383" cy="1111127"/>
              <a:chOff x="2147033" y="2796529"/>
              <a:chExt cx="6197383" cy="1111127"/>
            </a:xfrm>
          </p:grpSpPr>
          <p:sp>
            <p:nvSpPr>
              <p:cNvPr id="56" name="55 Rectángulo"/>
              <p:cNvSpPr/>
              <p:nvPr/>
            </p:nvSpPr>
            <p:spPr bwMode="auto">
              <a:xfrm>
                <a:off x="2147033" y="2827536"/>
                <a:ext cx="6188862" cy="1080120"/>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7" name="56 Rectángulo"/>
              <p:cNvSpPr/>
              <p:nvPr/>
            </p:nvSpPr>
            <p:spPr>
              <a:xfrm>
                <a:off x="2204258" y="2796529"/>
                <a:ext cx="6140158" cy="1077218"/>
              </a:xfrm>
              <a:prstGeom prst="rect">
                <a:avLst/>
              </a:prstGeom>
            </p:spPr>
            <p:txBody>
              <a:bodyPr wrap="square">
                <a:spAutoFit/>
              </a:bodyPr>
              <a:lstStyle/>
              <a:p>
                <a:r>
                  <a:rPr lang="en-US" sz="1600" dirty="0">
                    <a:solidFill>
                      <a:srgbClr val="0070C0"/>
                    </a:solidFill>
                  </a:rPr>
                  <a:t>                                 </a:t>
                </a:r>
                <a:r>
                  <a:rPr lang="en-US" sz="1600" b="1" dirty="0" err="1"/>
                  <a:t>saluda</a:t>
                </a:r>
                <a:r>
                  <a:rPr lang="en-US" sz="1600" b="1" dirty="0"/>
                  <a:t> </a:t>
                </a:r>
                <a:r>
                  <a:rPr lang="en-US" sz="1600" dirty="0"/>
                  <a:t>()</a:t>
                </a:r>
              </a:p>
              <a:p>
                <a:r>
                  <a:rPr lang="es-ES" sz="1600" dirty="0"/>
                  <a:t>{</a:t>
                </a:r>
              </a:p>
              <a:p>
                <a:r>
                  <a:rPr lang="es-ES" sz="1600" dirty="0"/>
                  <a:t>     </a:t>
                </a:r>
              </a:p>
              <a:p>
                <a:pPr>
                  <a:spcAft>
                    <a:spcPts val="600"/>
                  </a:spcAft>
                </a:pPr>
                <a:r>
                  <a:rPr lang="es-ES" sz="1600" dirty="0"/>
                  <a:t>}</a:t>
                </a:r>
              </a:p>
            </p:txBody>
          </p:sp>
        </p:grpSp>
        <p:grpSp>
          <p:nvGrpSpPr>
            <p:cNvPr id="58" name="57 Grupo"/>
            <p:cNvGrpSpPr/>
            <p:nvPr/>
          </p:nvGrpSpPr>
          <p:grpSpPr>
            <a:xfrm>
              <a:off x="2260979" y="4259465"/>
              <a:ext cx="5944116" cy="338554"/>
              <a:chOff x="2400300" y="3306470"/>
              <a:chExt cx="5944116" cy="338554"/>
            </a:xfrm>
          </p:grpSpPr>
          <p:sp>
            <p:nvSpPr>
              <p:cNvPr id="60" name="59 Rectángulo"/>
              <p:cNvSpPr/>
              <p:nvPr/>
            </p:nvSpPr>
            <p:spPr bwMode="auto">
              <a:xfrm>
                <a:off x="2443449" y="3335784"/>
                <a:ext cx="5800959" cy="301353"/>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1" name="60 Rectángulo"/>
              <p:cNvSpPr/>
              <p:nvPr/>
            </p:nvSpPr>
            <p:spPr>
              <a:xfrm>
                <a:off x="2400300" y="3306470"/>
                <a:ext cx="5944116" cy="338554"/>
              </a:xfrm>
              <a:prstGeom prst="rect">
                <a:avLst/>
              </a:prstGeom>
            </p:spPr>
            <p:txBody>
              <a:bodyPr wrap="square">
                <a:spAutoFit/>
              </a:bodyPr>
              <a:lstStyle/>
              <a:p>
                <a:r>
                  <a:rPr lang="es-ES" sz="1600" b="1" dirty="0" err="1">
                    <a:solidFill>
                      <a:srgbClr val="080808"/>
                    </a:solidFill>
                  </a:rPr>
                  <a:t>System.out</a:t>
                </a:r>
                <a:r>
                  <a:rPr lang="es-ES" sz="1600" b="1" dirty="0" err="1"/>
                  <a:t>.</a:t>
                </a:r>
                <a:r>
                  <a:rPr lang="es-ES" sz="1600" dirty="0" err="1">
                    <a:solidFill>
                      <a:srgbClr val="FF0000"/>
                    </a:solidFill>
                  </a:rPr>
                  <a:t>println</a:t>
                </a:r>
                <a:r>
                  <a:rPr lang="es-ES" sz="1600" dirty="0">
                    <a:solidFill>
                      <a:srgbClr val="FF0000"/>
                    </a:solidFill>
                  </a:rPr>
                  <a:t>(</a:t>
                </a:r>
                <a:r>
                  <a:rPr lang="es-ES" sz="1600" dirty="0"/>
                  <a:t> </a:t>
                </a:r>
                <a:r>
                  <a:rPr lang="es-ES" sz="1600" dirty="0">
                    <a:solidFill>
                      <a:srgbClr val="009900"/>
                    </a:solidFill>
                  </a:rPr>
                  <a:t>“Bienvenido a la programación en Java!” </a:t>
                </a:r>
                <a:r>
                  <a:rPr lang="es-ES" sz="1600" dirty="0">
                    <a:solidFill>
                      <a:srgbClr val="FF0000"/>
                    </a:solidFill>
                  </a:rPr>
                  <a:t>)</a:t>
                </a:r>
                <a:r>
                  <a:rPr lang="es-ES" sz="1600" dirty="0"/>
                  <a:t>;</a:t>
                </a:r>
              </a:p>
            </p:txBody>
          </p:sp>
        </p:grpSp>
      </p:grpSp>
      <p:grpSp>
        <p:nvGrpSpPr>
          <p:cNvPr id="62" name="61 Grupo"/>
          <p:cNvGrpSpPr/>
          <p:nvPr/>
        </p:nvGrpSpPr>
        <p:grpSpPr>
          <a:xfrm>
            <a:off x="35496" y="3449249"/>
            <a:ext cx="1800200" cy="661731"/>
            <a:chOff x="35496" y="2963292"/>
            <a:chExt cx="1800200" cy="661731"/>
          </a:xfrm>
        </p:grpSpPr>
        <p:sp>
          <p:nvSpPr>
            <p:cNvPr id="63" name="62 Flecha derecha"/>
            <p:cNvSpPr/>
            <p:nvPr/>
          </p:nvSpPr>
          <p:spPr bwMode="auto">
            <a:xfrm>
              <a:off x="128351" y="3296852"/>
              <a:ext cx="1707345" cy="328171"/>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4" name="63 Rectángulo"/>
            <p:cNvSpPr/>
            <p:nvPr/>
          </p:nvSpPr>
          <p:spPr>
            <a:xfrm>
              <a:off x="35496" y="2963292"/>
              <a:ext cx="941283" cy="400110"/>
            </a:xfrm>
            <a:prstGeom prst="rect">
              <a:avLst/>
            </a:prstGeom>
          </p:spPr>
          <p:txBody>
            <a:bodyPr wrap="none">
              <a:spAutoFit/>
            </a:bodyPr>
            <a:lstStyle/>
            <a:p>
              <a:r>
                <a:rPr lang="es-ES" sz="2000" dirty="0">
                  <a:solidFill>
                    <a:srgbClr val="FF0000"/>
                  </a:solidFill>
                </a:rPr>
                <a:t>saluda</a:t>
              </a:r>
              <a:endParaRPr lang="es-ES" dirty="0"/>
            </a:p>
          </p:txBody>
        </p:sp>
      </p:grpSp>
      <p:sp>
        <p:nvSpPr>
          <p:cNvPr id="68" name="67 Rectángulo"/>
          <p:cNvSpPr/>
          <p:nvPr/>
        </p:nvSpPr>
        <p:spPr>
          <a:xfrm>
            <a:off x="2068736" y="3763640"/>
            <a:ext cx="789169" cy="338554"/>
          </a:xfrm>
          <a:prstGeom prst="rect">
            <a:avLst/>
          </a:prstGeom>
        </p:spPr>
        <p:txBody>
          <a:bodyPr wrap="square">
            <a:spAutoFit/>
          </a:bodyPr>
          <a:lstStyle/>
          <a:p>
            <a:r>
              <a:rPr lang="en-US" sz="1600" dirty="0">
                <a:solidFill>
                  <a:srgbClr val="0070C0"/>
                </a:solidFill>
              </a:rPr>
              <a:t>public</a:t>
            </a:r>
            <a:endParaRPr lang="es-ES" sz="1600" dirty="0"/>
          </a:p>
        </p:txBody>
      </p:sp>
      <p:sp>
        <p:nvSpPr>
          <p:cNvPr id="88" name="87 Flecha derecha"/>
          <p:cNvSpPr/>
          <p:nvPr/>
        </p:nvSpPr>
        <p:spPr bwMode="auto">
          <a:xfrm rot="2957693">
            <a:off x="3725066" y="3366795"/>
            <a:ext cx="639596" cy="290688"/>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8" name="7 Grupo"/>
          <p:cNvGrpSpPr/>
          <p:nvPr/>
        </p:nvGrpSpPr>
        <p:grpSpPr>
          <a:xfrm>
            <a:off x="2345235" y="3259488"/>
            <a:ext cx="1337226" cy="651789"/>
            <a:chOff x="2345235" y="3259488"/>
            <a:chExt cx="1337226" cy="651789"/>
          </a:xfrm>
        </p:grpSpPr>
        <p:sp>
          <p:nvSpPr>
            <p:cNvPr id="33" name="32 CuadroTexto"/>
            <p:cNvSpPr txBox="1"/>
            <p:nvPr/>
          </p:nvSpPr>
          <p:spPr>
            <a:xfrm>
              <a:off x="2345235" y="3259488"/>
              <a:ext cx="1337226" cy="523220"/>
            </a:xfrm>
            <a:prstGeom prst="rect">
              <a:avLst/>
            </a:prstGeom>
            <a:noFill/>
          </p:spPr>
          <p:txBody>
            <a:bodyPr wrap="none" rtlCol="0">
              <a:spAutoFit/>
            </a:bodyPr>
            <a:lstStyle/>
            <a:p>
              <a:pPr algn="ctr">
                <a:lnSpc>
                  <a:spcPct val="70000"/>
                </a:lnSpc>
              </a:pPr>
              <a:r>
                <a:rPr lang="es-ES" sz="2000" b="1" dirty="0">
                  <a:solidFill>
                    <a:srgbClr val="009900"/>
                  </a:solidFill>
                  <a:latin typeface="Script MT Bold" pitchFamily="66" charset="0"/>
                </a:rPr>
                <a:t>no devuelve</a:t>
              </a:r>
            </a:p>
            <a:p>
              <a:pPr algn="ctr">
                <a:lnSpc>
                  <a:spcPct val="70000"/>
                </a:lnSpc>
              </a:pPr>
              <a:r>
                <a:rPr lang="es-ES" sz="2000" b="1" dirty="0">
                  <a:solidFill>
                    <a:srgbClr val="009900"/>
                  </a:solidFill>
                  <a:latin typeface="Script MT Bold" pitchFamily="66" charset="0"/>
                </a:rPr>
                <a:t> valor</a:t>
              </a:r>
            </a:p>
          </p:txBody>
        </p:sp>
        <p:sp>
          <p:nvSpPr>
            <p:cNvPr id="34" name="33 Flecha derecha"/>
            <p:cNvSpPr/>
            <p:nvPr/>
          </p:nvSpPr>
          <p:spPr bwMode="auto">
            <a:xfrm rot="2957693">
              <a:off x="3347170" y="3604902"/>
              <a:ext cx="421282" cy="191467"/>
            </a:xfrm>
            <a:prstGeom prst="right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36" name="35 Rectángulo"/>
          <p:cNvSpPr/>
          <p:nvPr/>
        </p:nvSpPr>
        <p:spPr>
          <a:xfrm>
            <a:off x="2858254" y="3768033"/>
            <a:ext cx="663964" cy="338554"/>
          </a:xfrm>
          <a:prstGeom prst="rect">
            <a:avLst/>
          </a:prstGeom>
        </p:spPr>
        <p:txBody>
          <a:bodyPr wrap="none">
            <a:spAutoFit/>
          </a:bodyPr>
          <a:lstStyle/>
          <a:p>
            <a:r>
              <a:rPr lang="en-US" sz="1600" dirty="0">
                <a:solidFill>
                  <a:srgbClr val="0070C0"/>
                </a:solidFill>
              </a:rPr>
              <a:t>static</a:t>
            </a:r>
            <a:endParaRPr lang="es-ES" sz="1600" dirty="0"/>
          </a:p>
        </p:txBody>
      </p:sp>
      <p:sp>
        <p:nvSpPr>
          <p:cNvPr id="37" name="36 Rectángulo"/>
          <p:cNvSpPr/>
          <p:nvPr/>
        </p:nvSpPr>
        <p:spPr>
          <a:xfrm>
            <a:off x="3441080" y="3763559"/>
            <a:ext cx="559769" cy="338554"/>
          </a:xfrm>
          <a:prstGeom prst="rect">
            <a:avLst/>
          </a:prstGeom>
        </p:spPr>
        <p:txBody>
          <a:bodyPr wrap="none">
            <a:spAutoFit/>
          </a:bodyPr>
          <a:lstStyle/>
          <a:p>
            <a:r>
              <a:rPr lang="en-US" sz="1600" dirty="0">
                <a:solidFill>
                  <a:srgbClr val="0070C0"/>
                </a:solidFill>
              </a:rPr>
              <a:t>void</a:t>
            </a:r>
            <a:endParaRPr lang="es-ES" sz="1600" dirty="0"/>
          </a:p>
        </p:txBody>
      </p:sp>
    </p:spTree>
    <p:extLst>
      <p:ext uri="{BB962C8B-B14F-4D97-AF65-F5344CB8AC3E}">
        <p14:creationId xmlns:p14="http://schemas.microsoft.com/office/powerpoint/2010/main" val="99513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8"/>
                                        </p:tgtEl>
                                        <p:attrNameLst>
                                          <p:attrName>style.visibility</p:attrName>
                                        </p:attrNameLst>
                                      </p:cBhvr>
                                      <p:to>
                                        <p:strVal val="visible"/>
                                      </p:to>
                                    </p:set>
                                    <p:anim calcmode="lin" valueType="num">
                                      <p:cBhvr>
                                        <p:cTn id="14" dur="500" fill="hold"/>
                                        <p:tgtEl>
                                          <p:spTgt spid="78"/>
                                        </p:tgtEl>
                                        <p:attrNameLst>
                                          <p:attrName>ppt_w</p:attrName>
                                        </p:attrNameLst>
                                      </p:cBhvr>
                                      <p:tavLst>
                                        <p:tav tm="0">
                                          <p:val>
                                            <p:fltVal val="0"/>
                                          </p:val>
                                        </p:tav>
                                        <p:tav tm="100000">
                                          <p:val>
                                            <p:strVal val="#ppt_w"/>
                                          </p:val>
                                        </p:tav>
                                      </p:tavLst>
                                    </p:anim>
                                    <p:anim calcmode="lin" valueType="num">
                                      <p:cBhvr>
                                        <p:cTn id="15" dur="500" fill="hold"/>
                                        <p:tgtEl>
                                          <p:spTgt spid="78"/>
                                        </p:tgtEl>
                                        <p:attrNameLst>
                                          <p:attrName>ppt_h</p:attrName>
                                        </p:attrNameLst>
                                      </p:cBhvr>
                                      <p:tavLst>
                                        <p:tav tm="0">
                                          <p:val>
                                            <p:fltVal val="0"/>
                                          </p:val>
                                        </p:tav>
                                        <p:tav tm="100000">
                                          <p:val>
                                            <p:strVal val="#ppt_h"/>
                                          </p:val>
                                        </p:tav>
                                      </p:tavLst>
                                    </p:anim>
                                    <p:animEffect transition="in" filter="fade">
                                      <p:cBhvr>
                                        <p:cTn id="16" dur="500"/>
                                        <p:tgtEl>
                                          <p:spTgt spid="7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8"/>
                                        </p:tgtEl>
                                        <p:attrNameLst>
                                          <p:attrName>style.visibility</p:attrName>
                                        </p:attrNameLst>
                                      </p:cBhvr>
                                      <p:to>
                                        <p:strVal val="visible"/>
                                      </p:to>
                                    </p:set>
                                    <p:animEffect transition="in" filter="wipe(up)">
                                      <p:cBhvr>
                                        <p:cTn id="21" dur="500"/>
                                        <p:tgtEl>
                                          <p:spTgt spid="88"/>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anim calcmode="lin" valueType="num">
                                      <p:cBhvr>
                                        <p:cTn id="26" dur="500" fill="hold"/>
                                        <p:tgtEl>
                                          <p:spTgt spid="36"/>
                                        </p:tgtEl>
                                        <p:attrNameLst>
                                          <p:attrName>ppt_w</p:attrName>
                                        </p:attrNameLst>
                                      </p:cBhvr>
                                      <p:tavLst>
                                        <p:tav tm="0">
                                          <p:val>
                                            <p:fltVal val="0"/>
                                          </p:val>
                                        </p:tav>
                                        <p:tav tm="100000">
                                          <p:val>
                                            <p:strVal val="#ppt_w"/>
                                          </p:val>
                                        </p:tav>
                                      </p:tavLst>
                                    </p:anim>
                                    <p:anim calcmode="lin" valueType="num">
                                      <p:cBhvr>
                                        <p:cTn id="27" dur="500" fill="hold"/>
                                        <p:tgtEl>
                                          <p:spTgt spid="36"/>
                                        </p:tgtEl>
                                        <p:attrNameLst>
                                          <p:attrName>ppt_h</p:attrName>
                                        </p:attrNameLst>
                                      </p:cBhvr>
                                      <p:tavLst>
                                        <p:tav tm="0">
                                          <p:val>
                                            <p:fltVal val="0"/>
                                          </p:val>
                                        </p:tav>
                                        <p:tav tm="100000">
                                          <p:val>
                                            <p:strVal val="#ppt_h"/>
                                          </p:val>
                                        </p:tav>
                                      </p:tavLst>
                                    </p:anim>
                                    <p:animEffect transition="in" filter="fade">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anim calcmode="lin" valueType="num">
                                      <p:cBhvr>
                                        <p:cTn id="33" dur="500" fill="hold"/>
                                        <p:tgtEl>
                                          <p:spTgt spid="37"/>
                                        </p:tgtEl>
                                        <p:attrNameLst>
                                          <p:attrName>ppt_w</p:attrName>
                                        </p:attrNameLst>
                                      </p:cBhvr>
                                      <p:tavLst>
                                        <p:tav tm="0">
                                          <p:val>
                                            <p:fltVal val="0"/>
                                          </p:val>
                                        </p:tav>
                                        <p:tav tm="100000">
                                          <p:val>
                                            <p:strVal val="#ppt_w"/>
                                          </p:val>
                                        </p:tav>
                                      </p:tavLst>
                                    </p:anim>
                                    <p:anim calcmode="lin" valueType="num">
                                      <p:cBhvr>
                                        <p:cTn id="34" dur="500" fill="hold"/>
                                        <p:tgtEl>
                                          <p:spTgt spid="37"/>
                                        </p:tgtEl>
                                        <p:attrNameLst>
                                          <p:attrName>ppt_h</p:attrName>
                                        </p:attrNameLst>
                                      </p:cBhvr>
                                      <p:tavLst>
                                        <p:tav tm="0">
                                          <p:val>
                                            <p:fltVal val="0"/>
                                          </p:val>
                                        </p:tav>
                                        <p:tav tm="100000">
                                          <p:val>
                                            <p:strVal val="#ppt_h"/>
                                          </p:val>
                                        </p:tav>
                                      </p:tavLst>
                                    </p:anim>
                                    <p:animEffect transition="in" filter="fade">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68"/>
                                        </p:tgtEl>
                                        <p:attrNameLst>
                                          <p:attrName>style.visibility</p:attrName>
                                        </p:attrNameLst>
                                      </p:cBhvr>
                                      <p:to>
                                        <p:strVal val="visible"/>
                                      </p:to>
                                    </p:set>
                                    <p:anim calcmode="lin" valueType="num">
                                      <p:cBhvr>
                                        <p:cTn id="45" dur="500" fill="hold"/>
                                        <p:tgtEl>
                                          <p:spTgt spid="68"/>
                                        </p:tgtEl>
                                        <p:attrNameLst>
                                          <p:attrName>ppt_w</p:attrName>
                                        </p:attrNameLst>
                                      </p:cBhvr>
                                      <p:tavLst>
                                        <p:tav tm="0">
                                          <p:val>
                                            <p:fltVal val="0"/>
                                          </p:val>
                                        </p:tav>
                                        <p:tav tm="100000">
                                          <p:val>
                                            <p:strVal val="#ppt_w"/>
                                          </p:val>
                                        </p:tav>
                                      </p:tavLst>
                                    </p:anim>
                                    <p:anim calcmode="lin" valueType="num">
                                      <p:cBhvr>
                                        <p:cTn id="46" dur="500" fill="hold"/>
                                        <p:tgtEl>
                                          <p:spTgt spid="68"/>
                                        </p:tgtEl>
                                        <p:attrNameLst>
                                          <p:attrName>ppt_h</p:attrName>
                                        </p:attrNameLst>
                                      </p:cBhvr>
                                      <p:tavLst>
                                        <p:tav tm="0">
                                          <p:val>
                                            <p:fltVal val="0"/>
                                          </p:val>
                                        </p:tav>
                                        <p:tav tm="100000">
                                          <p:val>
                                            <p:strVal val="#ppt_h"/>
                                          </p:val>
                                        </p:tav>
                                      </p:tavLst>
                                    </p:anim>
                                    <p:animEffect transition="in" filter="fade">
                                      <p:cBhvr>
                                        <p:cTn id="47" dur="500"/>
                                        <p:tgtEl>
                                          <p:spTgt spid="6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2"/>
                                        </p:tgtEl>
                                        <p:attrNameLst>
                                          <p:attrName>style.visibility</p:attrName>
                                        </p:attrNameLst>
                                      </p:cBhvr>
                                      <p:to>
                                        <p:strVal val="visible"/>
                                      </p:to>
                                    </p:set>
                                    <p:animEffect transition="in" filter="wipe(left)">
                                      <p:cBhvr>
                                        <p:cTn id="52" dur="500"/>
                                        <p:tgtEl>
                                          <p:spTgt spid="6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68"/>
                                        </p:tgtEl>
                                      </p:cBhvr>
                                    </p:animEffect>
                                    <p:set>
                                      <p:cBhvr>
                                        <p:cTn id="57" dur="1" fill="hold">
                                          <p:stCondLst>
                                            <p:cond delay="499"/>
                                          </p:stCondLst>
                                        </p:cTn>
                                        <p:tgtEl>
                                          <p:spTgt spid="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68" grpId="0"/>
      <p:bldP spid="68" grpId="1"/>
      <p:bldP spid="88" grpId="0" animBg="1"/>
      <p:bldP spid="36" grpId="0"/>
      <p:bldP spid="3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76 Grupo"/>
          <p:cNvGrpSpPr/>
          <p:nvPr/>
        </p:nvGrpSpPr>
        <p:grpSpPr>
          <a:xfrm>
            <a:off x="971600" y="1555768"/>
            <a:ext cx="7488832" cy="4393512"/>
            <a:chOff x="971600" y="1928918"/>
            <a:chExt cx="7488832" cy="2419905"/>
          </a:xfrm>
        </p:grpSpPr>
        <p:sp>
          <p:nvSpPr>
            <p:cNvPr id="32" name="31 Rectángulo"/>
            <p:cNvSpPr/>
            <p:nvPr/>
          </p:nvSpPr>
          <p:spPr bwMode="auto">
            <a:xfrm>
              <a:off x="971600" y="1928918"/>
              <a:ext cx="7488832" cy="2419905"/>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1" name="20 Rectángulo"/>
            <p:cNvSpPr/>
            <p:nvPr/>
          </p:nvSpPr>
          <p:spPr>
            <a:xfrm>
              <a:off x="1043608" y="1943541"/>
              <a:ext cx="7292286" cy="2405282"/>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a:t>Bienvenido</a:t>
              </a:r>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r>
                <a:rPr lang="es-ES" sz="1600" dirty="0"/>
                <a:t>}</a:t>
              </a:r>
            </a:p>
          </p:txBody>
        </p:sp>
      </p:grpSp>
      <p:sp>
        <p:nvSpPr>
          <p:cNvPr id="2" name="1 Título"/>
          <p:cNvSpPr>
            <a:spLocks noGrp="1"/>
          </p:cNvSpPr>
          <p:nvPr>
            <p:ph type="title"/>
          </p:nvPr>
        </p:nvSpPr>
        <p:spPr>
          <a:xfrm>
            <a:off x="851420" y="53975"/>
            <a:ext cx="7392988" cy="563563"/>
          </a:xfrm>
        </p:spPr>
        <p:txBody>
          <a:bodyPr/>
          <a:lstStyle/>
          <a:p>
            <a:r>
              <a:rPr lang="es-ES" dirty="0"/>
              <a:t>Variables locales de método</a:t>
            </a:r>
          </a:p>
        </p:txBody>
      </p:sp>
      <p:sp>
        <p:nvSpPr>
          <p:cNvPr id="16" name="15 Rectángulo"/>
          <p:cNvSpPr/>
          <p:nvPr/>
        </p:nvSpPr>
        <p:spPr>
          <a:xfrm>
            <a:off x="1043608" y="2462719"/>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81" name="80 Grupo"/>
          <p:cNvGrpSpPr/>
          <p:nvPr/>
        </p:nvGrpSpPr>
        <p:grpSpPr>
          <a:xfrm>
            <a:off x="1798186" y="2204864"/>
            <a:ext cx="6197383" cy="1723549"/>
            <a:chOff x="2147033" y="2796529"/>
            <a:chExt cx="6197383" cy="1723549"/>
          </a:xfrm>
        </p:grpSpPr>
        <p:sp>
          <p:nvSpPr>
            <p:cNvPr id="3" name="2 Rectángulo"/>
            <p:cNvSpPr/>
            <p:nvPr/>
          </p:nvSpPr>
          <p:spPr bwMode="auto">
            <a:xfrm>
              <a:off x="2147033" y="2827535"/>
              <a:ext cx="6188862" cy="1692543"/>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9" name="68 Rectángulo"/>
            <p:cNvSpPr/>
            <p:nvPr/>
          </p:nvSpPr>
          <p:spPr>
            <a:xfrm>
              <a:off x="2204258" y="2796529"/>
              <a:ext cx="6140158" cy="1723549"/>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p>
            <a:p>
              <a:r>
                <a:rPr lang="es-ES" sz="1600" dirty="0"/>
                <a:t>     </a:t>
              </a:r>
            </a:p>
            <a:p>
              <a:pPr>
                <a:spcAft>
                  <a:spcPts val="600"/>
                </a:spcAft>
              </a:pPr>
              <a:endParaRPr lang="es-ES" sz="1600" dirty="0"/>
            </a:p>
            <a:p>
              <a:pPr>
                <a:spcAft>
                  <a:spcPts val="600"/>
                </a:spcAft>
              </a:pPr>
              <a:endParaRPr lang="es-ES" sz="1600" dirty="0"/>
            </a:p>
            <a:p>
              <a:pPr>
                <a:spcAft>
                  <a:spcPts val="600"/>
                </a:spcAft>
              </a:pPr>
              <a:r>
                <a:rPr lang="es-ES" sz="1600" dirty="0"/>
                <a:t>}</a:t>
              </a:r>
            </a:p>
          </p:txBody>
        </p:sp>
      </p:grpSp>
      <p:sp>
        <p:nvSpPr>
          <p:cNvPr id="40" name="39 Rectángulo"/>
          <p:cNvSpPr/>
          <p:nvPr/>
        </p:nvSpPr>
        <p:spPr bwMode="auto">
          <a:xfrm>
            <a:off x="2161144" y="2761010"/>
            <a:ext cx="5181658" cy="88389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8" name="77 Rectángulo"/>
          <p:cNvSpPr/>
          <p:nvPr/>
        </p:nvSpPr>
        <p:spPr>
          <a:xfrm>
            <a:off x="2230233" y="2731696"/>
            <a:ext cx="2695257" cy="338554"/>
          </a:xfrm>
          <a:prstGeom prst="rect">
            <a:avLst/>
          </a:prstGeom>
        </p:spPr>
        <p:txBody>
          <a:bodyPr wrap="square">
            <a:spAutoFit/>
          </a:bodyPr>
          <a:lstStyle/>
          <a:p>
            <a:r>
              <a:rPr lang="es-ES" sz="1600" dirty="0" err="1">
                <a:solidFill>
                  <a:schemeClr val="tx1">
                    <a:lumMod val="40000"/>
                    <a:lumOff val="60000"/>
                  </a:schemeClr>
                </a:solidFill>
              </a:rPr>
              <a:t>int</a:t>
            </a:r>
            <a:r>
              <a:rPr lang="es-ES" sz="1600" dirty="0">
                <a:solidFill>
                  <a:srgbClr val="FF0000"/>
                </a:solidFill>
              </a:rPr>
              <a:t> </a:t>
            </a:r>
            <a:r>
              <a:rPr lang="es-ES" sz="1600" b="1" dirty="0"/>
              <a:t>a</a:t>
            </a:r>
            <a:r>
              <a:rPr lang="es-ES" sz="1600" dirty="0">
                <a:solidFill>
                  <a:srgbClr val="FF0000"/>
                </a:solidFill>
              </a:rPr>
              <a:t> </a:t>
            </a:r>
            <a:r>
              <a:rPr lang="es-ES" sz="1600" dirty="0"/>
              <a:t>= 5;</a:t>
            </a:r>
          </a:p>
        </p:txBody>
      </p:sp>
      <p:grpSp>
        <p:nvGrpSpPr>
          <p:cNvPr id="7" name="6 Grupo"/>
          <p:cNvGrpSpPr/>
          <p:nvPr/>
        </p:nvGrpSpPr>
        <p:grpSpPr>
          <a:xfrm>
            <a:off x="1798186" y="4080971"/>
            <a:ext cx="6197383" cy="1338828"/>
            <a:chOff x="1979712" y="3758033"/>
            <a:chExt cx="6197383" cy="946982"/>
          </a:xfrm>
        </p:grpSpPr>
        <p:grpSp>
          <p:nvGrpSpPr>
            <p:cNvPr id="55" name="54 Grupo"/>
            <p:cNvGrpSpPr/>
            <p:nvPr/>
          </p:nvGrpSpPr>
          <p:grpSpPr>
            <a:xfrm>
              <a:off x="1979712" y="3758033"/>
              <a:ext cx="6197383" cy="946982"/>
              <a:chOff x="2147033" y="2796529"/>
              <a:chExt cx="6197383" cy="946982"/>
            </a:xfrm>
          </p:grpSpPr>
          <p:sp>
            <p:nvSpPr>
              <p:cNvPr id="56" name="55 Rectángulo"/>
              <p:cNvSpPr/>
              <p:nvPr/>
            </p:nvSpPr>
            <p:spPr bwMode="auto">
              <a:xfrm>
                <a:off x="2147033" y="2827536"/>
                <a:ext cx="6188862" cy="915975"/>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7" name="56 Rectángulo"/>
              <p:cNvSpPr/>
              <p:nvPr/>
            </p:nvSpPr>
            <p:spPr>
              <a:xfrm>
                <a:off x="2204258" y="2796529"/>
                <a:ext cx="6140158" cy="946982"/>
              </a:xfrm>
              <a:prstGeom prst="rect">
                <a:avLst/>
              </a:prstGeom>
            </p:spPr>
            <p:txBody>
              <a:bodyPr wrap="square">
                <a:spAutoFit/>
              </a:bodyPr>
              <a:lstStyle/>
              <a:p>
                <a:r>
                  <a:rPr lang="en-US" sz="1600" dirty="0">
                    <a:solidFill>
                      <a:srgbClr val="0070C0"/>
                    </a:solidFill>
                  </a:rPr>
                  <a:t>public  static  void  </a:t>
                </a:r>
                <a:r>
                  <a:rPr lang="en-US" sz="1600" b="1" dirty="0"/>
                  <a:t>metodo2 </a:t>
                </a:r>
                <a:r>
                  <a:rPr lang="en-US" sz="1600" dirty="0"/>
                  <a:t>()</a:t>
                </a:r>
              </a:p>
              <a:p>
                <a:r>
                  <a:rPr lang="es-ES" sz="1600" dirty="0"/>
                  <a:t>{</a:t>
                </a:r>
              </a:p>
              <a:p>
                <a:r>
                  <a:rPr lang="es-ES" sz="1400" dirty="0"/>
                  <a:t>     </a:t>
                </a:r>
              </a:p>
              <a:p>
                <a:pPr>
                  <a:spcAft>
                    <a:spcPts val="600"/>
                  </a:spcAft>
                </a:pPr>
                <a:endParaRPr lang="es-ES" sz="1400" dirty="0"/>
              </a:p>
              <a:p>
                <a:pPr>
                  <a:spcAft>
                    <a:spcPts val="600"/>
                  </a:spcAft>
                </a:pPr>
                <a:r>
                  <a:rPr lang="es-ES" sz="1600" dirty="0"/>
                  <a:t>}</a:t>
                </a:r>
              </a:p>
            </p:txBody>
          </p:sp>
        </p:grpSp>
        <p:sp>
          <p:nvSpPr>
            <p:cNvPr id="60" name="59 Rectángulo"/>
            <p:cNvSpPr/>
            <p:nvPr/>
          </p:nvSpPr>
          <p:spPr bwMode="auto">
            <a:xfrm>
              <a:off x="2304128" y="4156100"/>
              <a:ext cx="5800959" cy="285752"/>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34" name="33 CuadroTexto"/>
          <p:cNvSpPr txBox="1"/>
          <p:nvPr/>
        </p:nvSpPr>
        <p:spPr>
          <a:xfrm>
            <a:off x="4385105" y="4615011"/>
            <a:ext cx="1015021" cy="461665"/>
          </a:xfrm>
          <a:prstGeom prst="rect">
            <a:avLst/>
          </a:prstGeom>
          <a:noFill/>
        </p:spPr>
        <p:txBody>
          <a:bodyPr wrap="none" rtlCol="0">
            <a:spAutoFit/>
          </a:bodyPr>
          <a:lstStyle/>
          <a:p>
            <a:pPr algn="ctr"/>
            <a:r>
              <a:rPr lang="es-ES" sz="2400" b="1" dirty="0">
                <a:solidFill>
                  <a:srgbClr val="FF0000"/>
                </a:solidFill>
                <a:latin typeface="Script MT Bold" pitchFamily="66" charset="0"/>
              </a:rPr>
              <a:t>¡Error!</a:t>
            </a:r>
            <a:endParaRPr lang="es-ES" sz="2400" b="1" dirty="0">
              <a:latin typeface="Script MT Bold" pitchFamily="66" charset="0"/>
            </a:endParaRPr>
          </a:p>
        </p:txBody>
      </p:sp>
      <p:grpSp>
        <p:nvGrpSpPr>
          <p:cNvPr id="20" name="19 Grupo"/>
          <p:cNvGrpSpPr/>
          <p:nvPr/>
        </p:nvGrpSpPr>
        <p:grpSpPr>
          <a:xfrm>
            <a:off x="3419872" y="2686922"/>
            <a:ext cx="3382993" cy="430887"/>
            <a:chOff x="6245418" y="3720129"/>
            <a:chExt cx="3382993" cy="430887"/>
          </a:xfrm>
        </p:grpSpPr>
        <p:sp>
          <p:nvSpPr>
            <p:cNvPr id="22" name="21 CuadroTexto"/>
            <p:cNvSpPr txBox="1"/>
            <p:nvPr/>
          </p:nvSpPr>
          <p:spPr>
            <a:xfrm>
              <a:off x="6595080" y="3720129"/>
              <a:ext cx="3033331" cy="430887"/>
            </a:xfrm>
            <a:prstGeom prst="rect">
              <a:avLst/>
            </a:prstGeom>
            <a:noFill/>
          </p:spPr>
          <p:txBody>
            <a:bodyPr wrap="none" rtlCol="0">
              <a:spAutoFit/>
            </a:bodyPr>
            <a:lstStyle/>
            <a:p>
              <a:r>
                <a:rPr lang="es-ES" sz="2200" b="1" dirty="0">
                  <a:solidFill>
                    <a:srgbClr val="009900"/>
                  </a:solidFill>
                  <a:latin typeface="Script MT Bold" pitchFamily="66" charset="0"/>
                </a:rPr>
                <a:t>Variable local del método</a:t>
              </a:r>
            </a:p>
          </p:txBody>
        </p:sp>
        <p:sp>
          <p:nvSpPr>
            <p:cNvPr id="23" name="22 Flecha arriba"/>
            <p:cNvSpPr/>
            <p:nvPr/>
          </p:nvSpPr>
          <p:spPr bwMode="auto">
            <a:xfrm rot="5400000">
              <a:off x="6278235" y="3794018"/>
              <a:ext cx="229531" cy="295165"/>
            </a:xfrm>
            <a:prstGeom prst="up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24" name="23 Grupo"/>
          <p:cNvGrpSpPr/>
          <p:nvPr/>
        </p:nvGrpSpPr>
        <p:grpSpPr>
          <a:xfrm>
            <a:off x="2579896" y="4986143"/>
            <a:ext cx="3033203" cy="819121"/>
            <a:chOff x="6595080" y="3501917"/>
            <a:chExt cx="3033203" cy="819121"/>
          </a:xfrm>
        </p:grpSpPr>
        <p:sp>
          <p:nvSpPr>
            <p:cNvPr id="25" name="24 CuadroTexto"/>
            <p:cNvSpPr txBox="1"/>
            <p:nvPr/>
          </p:nvSpPr>
          <p:spPr>
            <a:xfrm>
              <a:off x="6595080" y="3859373"/>
              <a:ext cx="3033203" cy="461665"/>
            </a:xfrm>
            <a:prstGeom prst="rect">
              <a:avLst/>
            </a:prstGeom>
            <a:noFill/>
          </p:spPr>
          <p:txBody>
            <a:bodyPr wrap="none" rtlCol="0">
              <a:spAutoFit/>
            </a:bodyPr>
            <a:lstStyle/>
            <a:p>
              <a:r>
                <a:rPr lang="es-ES" sz="2200" b="1" dirty="0"/>
                <a:t>a</a:t>
              </a:r>
              <a:r>
                <a:rPr lang="es-ES" sz="2400" b="1" dirty="0"/>
                <a:t> </a:t>
              </a:r>
              <a:r>
                <a:rPr lang="es-ES" sz="2200" b="1" dirty="0">
                  <a:solidFill>
                    <a:srgbClr val="009900"/>
                  </a:solidFill>
                  <a:latin typeface="Script MT Bold" pitchFamily="66" charset="0"/>
                </a:rPr>
                <a:t>no existe en el metodo2</a:t>
              </a:r>
            </a:p>
          </p:txBody>
        </p:sp>
        <p:sp>
          <p:nvSpPr>
            <p:cNvPr id="26" name="25 Flecha arriba"/>
            <p:cNvSpPr/>
            <p:nvPr/>
          </p:nvSpPr>
          <p:spPr bwMode="auto">
            <a:xfrm rot="10800000">
              <a:off x="7954634" y="3501917"/>
              <a:ext cx="229531" cy="433655"/>
            </a:xfrm>
            <a:prstGeom prst="up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27" name="26 Grupo"/>
          <p:cNvGrpSpPr/>
          <p:nvPr/>
        </p:nvGrpSpPr>
        <p:grpSpPr>
          <a:xfrm>
            <a:off x="4515002" y="2931719"/>
            <a:ext cx="957503" cy="461665"/>
            <a:chOff x="4680469" y="5266351"/>
            <a:chExt cx="957503" cy="461665"/>
          </a:xfrm>
        </p:grpSpPr>
        <p:cxnSp>
          <p:nvCxnSpPr>
            <p:cNvPr id="28" name="27 Conector recto de flecha"/>
            <p:cNvCxnSpPr/>
            <p:nvPr/>
          </p:nvCxnSpPr>
          <p:spPr bwMode="auto">
            <a:xfrm>
              <a:off x="4680469" y="5502773"/>
              <a:ext cx="611611"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29" name="28 CuadroTexto"/>
            <p:cNvSpPr txBox="1"/>
            <p:nvPr/>
          </p:nvSpPr>
          <p:spPr>
            <a:xfrm>
              <a:off x="5293006" y="5266351"/>
              <a:ext cx="344966" cy="461665"/>
            </a:xfrm>
            <a:prstGeom prst="rect">
              <a:avLst/>
            </a:prstGeom>
            <a:noFill/>
          </p:spPr>
          <p:txBody>
            <a:bodyPr wrap="none" rtlCol="0">
              <a:spAutoFit/>
            </a:bodyPr>
            <a:lstStyle/>
            <a:p>
              <a:pPr algn="ctr"/>
              <a:r>
                <a:rPr lang="es-ES" sz="2400" b="1" dirty="0">
                  <a:solidFill>
                    <a:srgbClr val="FF0000"/>
                  </a:solidFill>
                  <a:latin typeface="Script MT Bold" pitchFamily="66" charset="0"/>
                </a:rPr>
                <a:t>5</a:t>
              </a:r>
              <a:endParaRPr lang="es-ES" sz="2400" b="1" dirty="0">
                <a:latin typeface="Script MT Bold" pitchFamily="66" charset="0"/>
              </a:endParaRPr>
            </a:p>
          </p:txBody>
        </p:sp>
      </p:grpSp>
      <p:sp>
        <p:nvSpPr>
          <p:cNvPr id="30" name="29 Rectángulo"/>
          <p:cNvSpPr/>
          <p:nvPr/>
        </p:nvSpPr>
        <p:spPr>
          <a:xfrm>
            <a:off x="2229644" y="2986164"/>
            <a:ext cx="2695257" cy="338554"/>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b="1" dirty="0"/>
              <a:t>a</a:t>
            </a:r>
            <a:r>
              <a:rPr lang="es-ES" sz="1600" dirty="0">
                <a:solidFill>
                  <a:srgbClr val="009900"/>
                </a:solidFill>
              </a:rPr>
              <a:t> </a:t>
            </a:r>
            <a:r>
              <a:rPr lang="es-ES" sz="1600" dirty="0">
                <a:solidFill>
                  <a:srgbClr val="FF0000"/>
                </a:solidFill>
              </a:rPr>
              <a:t>)</a:t>
            </a:r>
            <a:r>
              <a:rPr lang="es-ES" sz="1600" dirty="0"/>
              <a:t>;</a:t>
            </a:r>
          </a:p>
        </p:txBody>
      </p:sp>
      <p:sp>
        <p:nvSpPr>
          <p:cNvPr id="31" name="30 Rectángulo"/>
          <p:cNvSpPr/>
          <p:nvPr/>
        </p:nvSpPr>
        <p:spPr>
          <a:xfrm>
            <a:off x="2228269" y="3260904"/>
            <a:ext cx="1512168" cy="338554"/>
          </a:xfrm>
          <a:prstGeom prst="rect">
            <a:avLst/>
          </a:prstGeom>
        </p:spPr>
        <p:txBody>
          <a:bodyPr wrap="square">
            <a:spAutoFit/>
          </a:bodyPr>
          <a:lstStyle/>
          <a:p>
            <a:r>
              <a:rPr lang="es-ES" sz="1600" dirty="0">
                <a:solidFill>
                  <a:srgbClr val="FF0000"/>
                </a:solidFill>
              </a:rPr>
              <a:t>metodo2()</a:t>
            </a:r>
            <a:r>
              <a:rPr lang="es-ES" sz="1600" dirty="0"/>
              <a:t>;</a:t>
            </a:r>
          </a:p>
        </p:txBody>
      </p:sp>
      <p:sp>
        <p:nvSpPr>
          <p:cNvPr id="33" name="32 Flecha derecha"/>
          <p:cNvSpPr/>
          <p:nvPr/>
        </p:nvSpPr>
        <p:spPr bwMode="auto">
          <a:xfrm rot="2957693">
            <a:off x="3198798" y="3672854"/>
            <a:ext cx="639596" cy="290688"/>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5" name="34 Rectángulo"/>
          <p:cNvSpPr/>
          <p:nvPr/>
        </p:nvSpPr>
        <p:spPr>
          <a:xfrm>
            <a:off x="2156276" y="4669152"/>
            <a:ext cx="2358726" cy="338555"/>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b="1" dirty="0"/>
              <a:t>a</a:t>
            </a:r>
            <a:r>
              <a:rPr lang="es-ES" sz="1600" dirty="0">
                <a:solidFill>
                  <a:srgbClr val="009900"/>
                </a:solidFill>
              </a:rPr>
              <a:t> </a:t>
            </a:r>
            <a:r>
              <a:rPr lang="es-ES" sz="1600" dirty="0">
                <a:solidFill>
                  <a:srgbClr val="FF0000"/>
                </a:solidFill>
              </a:rPr>
              <a:t>)</a:t>
            </a:r>
            <a:r>
              <a:rPr lang="es-ES" sz="1600" dirty="0"/>
              <a:t>;</a:t>
            </a:r>
          </a:p>
        </p:txBody>
      </p:sp>
    </p:spTree>
    <p:extLst>
      <p:ext uri="{BB962C8B-B14F-4D97-AF65-F5344CB8AC3E}">
        <p14:creationId xmlns:p14="http://schemas.microsoft.com/office/powerpoint/2010/main" val="59328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p:cTn id="7" dur="500" fill="hold"/>
                                        <p:tgtEl>
                                          <p:spTgt spid="78"/>
                                        </p:tgtEl>
                                        <p:attrNameLst>
                                          <p:attrName>ppt_w</p:attrName>
                                        </p:attrNameLst>
                                      </p:cBhvr>
                                      <p:tavLst>
                                        <p:tav tm="0">
                                          <p:val>
                                            <p:fltVal val="0"/>
                                          </p:val>
                                        </p:tav>
                                        <p:tav tm="100000">
                                          <p:val>
                                            <p:strVal val="#ppt_w"/>
                                          </p:val>
                                        </p:tav>
                                      </p:tavLst>
                                    </p:anim>
                                    <p:anim calcmode="lin" valueType="num">
                                      <p:cBhvr>
                                        <p:cTn id="8" dur="500" fill="hold"/>
                                        <p:tgtEl>
                                          <p:spTgt spid="78"/>
                                        </p:tgtEl>
                                        <p:attrNameLst>
                                          <p:attrName>ppt_h</p:attrName>
                                        </p:attrNameLst>
                                      </p:cBhvr>
                                      <p:tavLst>
                                        <p:tav tm="0">
                                          <p:val>
                                            <p:fltVal val="0"/>
                                          </p:val>
                                        </p:tav>
                                        <p:tav tm="100000">
                                          <p:val>
                                            <p:strVal val="#ppt_h"/>
                                          </p:val>
                                        </p:tav>
                                      </p:tavLst>
                                    </p:anim>
                                    <p:animEffect transition="in" filter="fade">
                                      <p:cBhvr>
                                        <p:cTn id="9" dur="500"/>
                                        <p:tgtEl>
                                          <p:spTgt spid="7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left)">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100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left)">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left)">
                                      <p:cBhvr>
                                        <p:cTn id="29" dur="5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up)">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1000"/>
                                  </p:stCondLst>
                                  <p:childTnLst>
                                    <p:set>
                                      <p:cBhvr>
                                        <p:cTn id="38" dur="1" fill="hold">
                                          <p:stCondLst>
                                            <p:cond delay="0"/>
                                          </p:stCondLst>
                                        </p:cTn>
                                        <p:tgtEl>
                                          <p:spTgt spid="35"/>
                                        </p:tgtEl>
                                        <p:attrNameLst>
                                          <p:attrName>style.visibility</p:attrName>
                                        </p:attrNameLst>
                                      </p:cBhvr>
                                      <p:to>
                                        <p:strVal val="visible"/>
                                      </p:to>
                                    </p:set>
                                    <p:animEffect transition="in" filter="wipe(left)">
                                      <p:cBhvr>
                                        <p:cTn id="39" dur="500"/>
                                        <p:tgtEl>
                                          <p:spTgt spid="35"/>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down)">
                                      <p:cBhvr>
                                        <p:cTn id="5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34" grpId="0"/>
      <p:bldP spid="30" grpId="0"/>
      <p:bldP spid="31" grpId="0"/>
      <p:bldP spid="33" grpId="0" animBg="1"/>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76 Grupo"/>
          <p:cNvGrpSpPr/>
          <p:nvPr/>
        </p:nvGrpSpPr>
        <p:grpSpPr>
          <a:xfrm>
            <a:off x="1090151" y="1196750"/>
            <a:ext cx="7010241" cy="5215115"/>
            <a:chOff x="971600" y="1928917"/>
            <a:chExt cx="7488832" cy="2622686"/>
          </a:xfrm>
        </p:grpSpPr>
        <p:sp>
          <p:nvSpPr>
            <p:cNvPr id="32" name="31 Rectángulo"/>
            <p:cNvSpPr/>
            <p:nvPr/>
          </p:nvSpPr>
          <p:spPr bwMode="auto">
            <a:xfrm>
              <a:off x="971600" y="1928917"/>
              <a:ext cx="7488832" cy="2622685"/>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1" name="20 Rectángulo"/>
            <p:cNvSpPr/>
            <p:nvPr/>
          </p:nvSpPr>
          <p:spPr>
            <a:xfrm>
              <a:off x="1043608" y="1943541"/>
              <a:ext cx="7292286" cy="2608062"/>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a:t>Bienvenido</a:t>
              </a:r>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r>
                <a:rPr lang="es-ES" sz="1600" dirty="0"/>
                <a:t>}</a:t>
              </a:r>
            </a:p>
          </p:txBody>
        </p:sp>
      </p:grpSp>
      <p:sp>
        <p:nvSpPr>
          <p:cNvPr id="2" name="1 Título"/>
          <p:cNvSpPr>
            <a:spLocks noGrp="1"/>
          </p:cNvSpPr>
          <p:nvPr>
            <p:ph type="title"/>
          </p:nvPr>
        </p:nvSpPr>
        <p:spPr>
          <a:xfrm>
            <a:off x="851420" y="92075"/>
            <a:ext cx="7392988" cy="998761"/>
          </a:xfrm>
        </p:spPr>
        <p:txBody>
          <a:bodyPr/>
          <a:lstStyle/>
          <a:p>
            <a:r>
              <a:rPr lang="es-ES" dirty="0"/>
              <a:t>Variables locales del método</a:t>
            </a:r>
            <a:br>
              <a:rPr lang="es-ES" dirty="0"/>
            </a:br>
            <a:r>
              <a:rPr lang="es-ES" dirty="0">
                <a:solidFill>
                  <a:schemeClr val="accent4">
                    <a:lumMod val="90000"/>
                    <a:lumOff val="10000"/>
                  </a:schemeClr>
                </a:solidFill>
              </a:rPr>
              <a:t>vs Atributos</a:t>
            </a:r>
          </a:p>
        </p:txBody>
      </p:sp>
      <p:sp>
        <p:nvSpPr>
          <p:cNvPr id="16" name="15 Rectángulo"/>
          <p:cNvSpPr/>
          <p:nvPr/>
        </p:nvSpPr>
        <p:spPr>
          <a:xfrm>
            <a:off x="1162159" y="2575307"/>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81" name="80 Grupo"/>
          <p:cNvGrpSpPr/>
          <p:nvPr/>
        </p:nvGrpSpPr>
        <p:grpSpPr>
          <a:xfrm>
            <a:off x="1916738" y="2294912"/>
            <a:ext cx="5582125" cy="2369880"/>
            <a:chOff x="2147033" y="2796530"/>
            <a:chExt cx="6188862" cy="2369880"/>
          </a:xfrm>
        </p:grpSpPr>
        <p:sp>
          <p:nvSpPr>
            <p:cNvPr id="3" name="2 Rectángulo"/>
            <p:cNvSpPr/>
            <p:nvPr/>
          </p:nvSpPr>
          <p:spPr bwMode="auto">
            <a:xfrm>
              <a:off x="2147033" y="2827534"/>
              <a:ext cx="6188862" cy="2338876"/>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9" name="68 Rectángulo"/>
            <p:cNvSpPr/>
            <p:nvPr/>
          </p:nvSpPr>
          <p:spPr>
            <a:xfrm>
              <a:off x="2204258" y="2796530"/>
              <a:ext cx="5750486" cy="2369880"/>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p>
            <a:p>
              <a:r>
                <a:rPr lang="es-ES" sz="1600" dirty="0"/>
                <a:t>     </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r>
                <a:rPr lang="es-ES" sz="1600" dirty="0"/>
                <a:t>}</a:t>
              </a:r>
            </a:p>
          </p:txBody>
        </p:sp>
      </p:grpSp>
      <p:sp>
        <p:nvSpPr>
          <p:cNvPr id="40" name="39 Rectángulo"/>
          <p:cNvSpPr/>
          <p:nvPr/>
        </p:nvSpPr>
        <p:spPr bwMode="auto">
          <a:xfrm>
            <a:off x="2279695" y="2899527"/>
            <a:ext cx="4801548" cy="139356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8" name="77 Rectángulo"/>
          <p:cNvSpPr/>
          <p:nvPr/>
        </p:nvSpPr>
        <p:spPr>
          <a:xfrm>
            <a:off x="2348785" y="3224107"/>
            <a:ext cx="2871287" cy="338556"/>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b="1" dirty="0"/>
              <a:t>a</a:t>
            </a:r>
            <a:r>
              <a:rPr lang="es-ES" sz="1600" dirty="0">
                <a:solidFill>
                  <a:srgbClr val="009900"/>
                </a:solidFill>
              </a:rPr>
              <a:t> </a:t>
            </a:r>
            <a:r>
              <a:rPr lang="es-ES" sz="1600" dirty="0">
                <a:solidFill>
                  <a:srgbClr val="FF0000"/>
                </a:solidFill>
              </a:rPr>
              <a:t>)</a:t>
            </a:r>
            <a:r>
              <a:rPr lang="es-ES" sz="1600" dirty="0"/>
              <a:t>;</a:t>
            </a:r>
          </a:p>
        </p:txBody>
      </p:sp>
      <p:grpSp>
        <p:nvGrpSpPr>
          <p:cNvPr id="7" name="6 Grupo"/>
          <p:cNvGrpSpPr/>
          <p:nvPr/>
        </p:nvGrpSpPr>
        <p:grpSpPr>
          <a:xfrm>
            <a:off x="1916737" y="4802088"/>
            <a:ext cx="5623159" cy="1219200"/>
            <a:chOff x="1979712" y="3901437"/>
            <a:chExt cx="6197383" cy="862367"/>
          </a:xfrm>
        </p:grpSpPr>
        <p:grpSp>
          <p:nvGrpSpPr>
            <p:cNvPr id="55" name="54 Grupo"/>
            <p:cNvGrpSpPr/>
            <p:nvPr/>
          </p:nvGrpSpPr>
          <p:grpSpPr>
            <a:xfrm>
              <a:off x="1979712" y="3901437"/>
              <a:ext cx="6197383" cy="862367"/>
              <a:chOff x="2147033" y="2939933"/>
              <a:chExt cx="6197383" cy="862367"/>
            </a:xfrm>
          </p:grpSpPr>
          <p:sp>
            <p:nvSpPr>
              <p:cNvPr id="56" name="55 Rectángulo"/>
              <p:cNvSpPr/>
              <p:nvPr/>
            </p:nvSpPr>
            <p:spPr bwMode="auto">
              <a:xfrm>
                <a:off x="2147033" y="2939933"/>
                <a:ext cx="6188862" cy="862367"/>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7" name="56 Rectángulo"/>
              <p:cNvSpPr/>
              <p:nvPr/>
            </p:nvSpPr>
            <p:spPr>
              <a:xfrm>
                <a:off x="2204258" y="2979416"/>
                <a:ext cx="6140158" cy="816364"/>
              </a:xfrm>
              <a:prstGeom prst="rect">
                <a:avLst/>
              </a:prstGeom>
            </p:spPr>
            <p:txBody>
              <a:bodyPr wrap="square">
                <a:spAutoFit/>
              </a:bodyPr>
              <a:lstStyle/>
              <a:p>
                <a:r>
                  <a:rPr lang="en-US" sz="1600" dirty="0">
                    <a:solidFill>
                      <a:srgbClr val="0070C0"/>
                    </a:solidFill>
                  </a:rPr>
                  <a:t>public  static  void  </a:t>
                </a:r>
                <a:r>
                  <a:rPr lang="en-US" sz="1600" b="1" dirty="0"/>
                  <a:t>metodo2 </a:t>
                </a:r>
                <a:r>
                  <a:rPr lang="en-US" sz="1600" dirty="0"/>
                  <a:t>()</a:t>
                </a:r>
              </a:p>
              <a:p>
                <a:r>
                  <a:rPr lang="es-ES" sz="1600" dirty="0"/>
                  <a:t>{     </a:t>
                </a:r>
              </a:p>
              <a:p>
                <a:pPr>
                  <a:spcAft>
                    <a:spcPts val="600"/>
                  </a:spcAft>
                </a:pPr>
                <a:endParaRPr lang="es-ES" sz="1600" dirty="0"/>
              </a:p>
              <a:p>
                <a:pPr>
                  <a:spcAft>
                    <a:spcPts val="600"/>
                  </a:spcAft>
                </a:pPr>
                <a:r>
                  <a:rPr lang="es-ES" sz="1600" dirty="0"/>
                  <a:t>}</a:t>
                </a:r>
              </a:p>
            </p:txBody>
          </p:sp>
        </p:grpSp>
        <p:sp>
          <p:nvSpPr>
            <p:cNvPr id="60" name="59 Rectángulo"/>
            <p:cNvSpPr/>
            <p:nvPr/>
          </p:nvSpPr>
          <p:spPr bwMode="auto">
            <a:xfrm>
              <a:off x="2304129" y="4304380"/>
              <a:ext cx="5220200" cy="285752"/>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4" name="3 Grupo"/>
          <p:cNvGrpSpPr/>
          <p:nvPr/>
        </p:nvGrpSpPr>
        <p:grpSpPr>
          <a:xfrm>
            <a:off x="1916738" y="1773840"/>
            <a:ext cx="5582125" cy="410562"/>
            <a:chOff x="1916738" y="1989864"/>
            <a:chExt cx="5582125" cy="410562"/>
          </a:xfrm>
        </p:grpSpPr>
        <p:sp>
          <p:nvSpPr>
            <p:cNvPr id="23" name="22 Rectángulo"/>
            <p:cNvSpPr/>
            <p:nvPr/>
          </p:nvSpPr>
          <p:spPr bwMode="auto">
            <a:xfrm>
              <a:off x="1916738" y="1990330"/>
              <a:ext cx="5582125" cy="410096"/>
            </a:xfrm>
            <a:prstGeom prst="rect">
              <a:avLst/>
            </a:prstGeom>
            <a:solidFill>
              <a:srgbClr val="FFFFCC"/>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2" name="21 Rectángulo"/>
            <p:cNvSpPr/>
            <p:nvPr/>
          </p:nvSpPr>
          <p:spPr>
            <a:xfrm>
              <a:off x="1954247" y="1989864"/>
              <a:ext cx="1832198" cy="369332"/>
            </a:xfrm>
            <a:prstGeom prst="rect">
              <a:avLst/>
            </a:prstGeom>
          </p:spPr>
          <p:txBody>
            <a:bodyPr wrap="square">
              <a:spAutoFit/>
            </a:bodyPr>
            <a:lstStyle/>
            <a:p>
              <a:r>
                <a:rPr lang="es-ES" sz="1800" b="1" dirty="0">
                  <a:solidFill>
                    <a:schemeClr val="tx1">
                      <a:lumMod val="40000"/>
                      <a:lumOff val="60000"/>
                    </a:schemeClr>
                  </a:solidFill>
                </a:rPr>
                <a:t>          </a:t>
              </a:r>
              <a:r>
                <a:rPr lang="es-ES" sz="1800" b="1" dirty="0" err="1">
                  <a:solidFill>
                    <a:schemeClr val="tx1">
                      <a:lumMod val="40000"/>
                      <a:lumOff val="60000"/>
                    </a:schemeClr>
                  </a:solidFill>
                </a:rPr>
                <a:t>int</a:t>
              </a:r>
              <a:r>
                <a:rPr lang="es-ES" sz="1800" b="1" dirty="0">
                  <a:solidFill>
                    <a:schemeClr val="accent4">
                      <a:lumMod val="90000"/>
                      <a:lumOff val="10000"/>
                    </a:schemeClr>
                  </a:solidFill>
                </a:rPr>
                <a:t> </a:t>
              </a:r>
              <a:r>
                <a:rPr lang="es-ES" sz="1800" b="1" dirty="0"/>
                <a:t>a</a:t>
              </a:r>
              <a:r>
                <a:rPr lang="es-ES" sz="1800" b="1" dirty="0">
                  <a:solidFill>
                    <a:schemeClr val="accent4">
                      <a:lumMod val="90000"/>
                      <a:lumOff val="10000"/>
                    </a:schemeClr>
                  </a:solidFill>
                </a:rPr>
                <a:t> </a:t>
              </a:r>
              <a:r>
                <a:rPr lang="es-ES" sz="1800" dirty="0"/>
                <a:t>= 8;</a:t>
              </a:r>
            </a:p>
          </p:txBody>
        </p:sp>
      </p:grpSp>
      <p:sp>
        <p:nvSpPr>
          <p:cNvPr id="24" name="23 Rectángulo"/>
          <p:cNvSpPr/>
          <p:nvPr/>
        </p:nvSpPr>
        <p:spPr>
          <a:xfrm>
            <a:off x="2352819" y="3544306"/>
            <a:ext cx="2867253" cy="338554"/>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b="1" dirty="0" err="1">
                <a:solidFill>
                  <a:schemeClr val="tx1">
                    <a:lumMod val="40000"/>
                    <a:lumOff val="60000"/>
                  </a:schemeClr>
                </a:solidFill>
              </a:rPr>
              <a:t>this.</a:t>
            </a:r>
            <a:r>
              <a:rPr lang="es-ES" sz="1600" b="1" dirty="0" err="1"/>
              <a:t>a</a:t>
            </a:r>
            <a:r>
              <a:rPr lang="es-ES" sz="1600" dirty="0">
                <a:solidFill>
                  <a:srgbClr val="009900"/>
                </a:solidFill>
              </a:rPr>
              <a:t> </a:t>
            </a:r>
            <a:r>
              <a:rPr lang="es-ES" sz="1600" dirty="0">
                <a:solidFill>
                  <a:srgbClr val="FF0000"/>
                </a:solidFill>
              </a:rPr>
              <a:t>)</a:t>
            </a:r>
            <a:r>
              <a:rPr lang="es-ES" sz="1600" dirty="0"/>
              <a:t>;</a:t>
            </a:r>
          </a:p>
        </p:txBody>
      </p:sp>
      <p:sp>
        <p:nvSpPr>
          <p:cNvPr id="25" name="24 Rectángulo"/>
          <p:cNvSpPr/>
          <p:nvPr/>
        </p:nvSpPr>
        <p:spPr>
          <a:xfrm>
            <a:off x="2357293" y="2915269"/>
            <a:ext cx="4141966" cy="338554"/>
          </a:xfrm>
          <a:prstGeom prst="rect">
            <a:avLst/>
          </a:prstGeom>
        </p:spPr>
        <p:txBody>
          <a:bodyPr wrap="square">
            <a:spAutoFit/>
          </a:bodyPr>
          <a:lstStyle/>
          <a:p>
            <a:r>
              <a:rPr lang="es-ES" sz="1600" dirty="0" err="1">
                <a:solidFill>
                  <a:schemeClr val="tx1">
                    <a:lumMod val="60000"/>
                    <a:lumOff val="40000"/>
                  </a:schemeClr>
                </a:solidFill>
              </a:rPr>
              <a:t>int</a:t>
            </a:r>
            <a:r>
              <a:rPr lang="es-ES" sz="1600" dirty="0">
                <a:solidFill>
                  <a:schemeClr val="accent4">
                    <a:lumMod val="90000"/>
                    <a:lumOff val="10000"/>
                  </a:schemeClr>
                </a:solidFill>
              </a:rPr>
              <a:t> </a:t>
            </a:r>
            <a:r>
              <a:rPr lang="es-ES" sz="1600" b="1" dirty="0">
                <a:solidFill>
                  <a:schemeClr val="accent4">
                    <a:lumMod val="90000"/>
                    <a:lumOff val="10000"/>
                  </a:schemeClr>
                </a:solidFill>
              </a:rPr>
              <a:t>a</a:t>
            </a:r>
            <a:r>
              <a:rPr lang="es-ES" sz="1600" dirty="0">
                <a:solidFill>
                  <a:schemeClr val="accent4">
                    <a:lumMod val="90000"/>
                    <a:lumOff val="10000"/>
                  </a:schemeClr>
                </a:solidFill>
              </a:rPr>
              <a:t> </a:t>
            </a:r>
            <a:r>
              <a:rPr lang="es-ES" sz="1600" dirty="0"/>
              <a:t>= 5;</a:t>
            </a:r>
          </a:p>
        </p:txBody>
      </p:sp>
      <p:sp>
        <p:nvSpPr>
          <p:cNvPr id="26" name="25 Rectángulo"/>
          <p:cNvSpPr/>
          <p:nvPr/>
        </p:nvSpPr>
        <p:spPr>
          <a:xfrm>
            <a:off x="2352387" y="3874026"/>
            <a:ext cx="4141966" cy="338554"/>
          </a:xfrm>
          <a:prstGeom prst="rect">
            <a:avLst/>
          </a:prstGeom>
        </p:spPr>
        <p:txBody>
          <a:bodyPr wrap="square">
            <a:spAutoFit/>
          </a:bodyPr>
          <a:lstStyle/>
          <a:p>
            <a:r>
              <a:rPr lang="es-ES" sz="1600" dirty="0">
                <a:solidFill>
                  <a:srgbClr val="FF0000"/>
                </a:solidFill>
              </a:rPr>
              <a:t>metodo2()</a:t>
            </a:r>
            <a:r>
              <a:rPr lang="es-ES" sz="1600" dirty="0"/>
              <a:t>;</a:t>
            </a:r>
          </a:p>
        </p:txBody>
      </p:sp>
      <p:grpSp>
        <p:nvGrpSpPr>
          <p:cNvPr id="8" name="7 Grupo"/>
          <p:cNvGrpSpPr/>
          <p:nvPr/>
        </p:nvGrpSpPr>
        <p:grpSpPr>
          <a:xfrm>
            <a:off x="5080057" y="5337335"/>
            <a:ext cx="957503" cy="461665"/>
            <a:chOff x="4680469" y="5266351"/>
            <a:chExt cx="957503" cy="461665"/>
          </a:xfrm>
        </p:grpSpPr>
        <p:cxnSp>
          <p:nvCxnSpPr>
            <p:cNvPr id="6" name="5 Conector recto de flecha"/>
            <p:cNvCxnSpPr/>
            <p:nvPr/>
          </p:nvCxnSpPr>
          <p:spPr bwMode="auto">
            <a:xfrm>
              <a:off x="4680469" y="5502773"/>
              <a:ext cx="611611"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29" name="28 CuadroTexto"/>
            <p:cNvSpPr txBox="1"/>
            <p:nvPr/>
          </p:nvSpPr>
          <p:spPr>
            <a:xfrm>
              <a:off x="5293006" y="5266351"/>
              <a:ext cx="344966" cy="461665"/>
            </a:xfrm>
            <a:prstGeom prst="rect">
              <a:avLst/>
            </a:prstGeom>
            <a:noFill/>
          </p:spPr>
          <p:txBody>
            <a:bodyPr wrap="none" rtlCol="0">
              <a:spAutoFit/>
            </a:bodyPr>
            <a:lstStyle/>
            <a:p>
              <a:pPr algn="ctr"/>
              <a:r>
                <a:rPr lang="es-ES" sz="2400" b="1" dirty="0">
                  <a:solidFill>
                    <a:srgbClr val="FF0000"/>
                  </a:solidFill>
                  <a:latin typeface="Script MT Bold" pitchFamily="66" charset="0"/>
                </a:rPr>
                <a:t>8</a:t>
              </a:r>
              <a:endParaRPr lang="es-ES" sz="2400" b="1" dirty="0">
                <a:latin typeface="Script MT Bold" pitchFamily="66" charset="0"/>
              </a:endParaRPr>
            </a:p>
          </p:txBody>
        </p:sp>
      </p:grpSp>
      <p:grpSp>
        <p:nvGrpSpPr>
          <p:cNvPr id="31" name="30 Grupo"/>
          <p:cNvGrpSpPr/>
          <p:nvPr/>
        </p:nvGrpSpPr>
        <p:grpSpPr>
          <a:xfrm>
            <a:off x="5138674" y="3162552"/>
            <a:ext cx="957503" cy="461665"/>
            <a:chOff x="4680469" y="5266351"/>
            <a:chExt cx="957503" cy="461665"/>
          </a:xfrm>
        </p:grpSpPr>
        <p:cxnSp>
          <p:nvCxnSpPr>
            <p:cNvPr id="33" name="32 Conector recto de flecha"/>
            <p:cNvCxnSpPr/>
            <p:nvPr/>
          </p:nvCxnSpPr>
          <p:spPr bwMode="auto">
            <a:xfrm>
              <a:off x="4680469" y="5502773"/>
              <a:ext cx="611611"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5" name="34 CuadroTexto"/>
            <p:cNvSpPr txBox="1"/>
            <p:nvPr/>
          </p:nvSpPr>
          <p:spPr>
            <a:xfrm>
              <a:off x="5293006" y="5266351"/>
              <a:ext cx="344966" cy="461665"/>
            </a:xfrm>
            <a:prstGeom prst="rect">
              <a:avLst/>
            </a:prstGeom>
            <a:noFill/>
          </p:spPr>
          <p:txBody>
            <a:bodyPr wrap="none" rtlCol="0">
              <a:spAutoFit/>
            </a:bodyPr>
            <a:lstStyle/>
            <a:p>
              <a:pPr algn="ctr"/>
              <a:r>
                <a:rPr lang="es-ES" sz="2400" b="1" dirty="0">
                  <a:solidFill>
                    <a:srgbClr val="FF0000"/>
                  </a:solidFill>
                  <a:latin typeface="Script MT Bold" pitchFamily="66" charset="0"/>
                </a:rPr>
                <a:t>5</a:t>
              </a:r>
              <a:endParaRPr lang="es-ES" sz="2400" b="1" dirty="0">
                <a:latin typeface="Script MT Bold" pitchFamily="66" charset="0"/>
              </a:endParaRPr>
            </a:p>
          </p:txBody>
        </p:sp>
      </p:grpSp>
      <p:grpSp>
        <p:nvGrpSpPr>
          <p:cNvPr id="36" name="35 Grupo"/>
          <p:cNvGrpSpPr/>
          <p:nvPr/>
        </p:nvGrpSpPr>
        <p:grpSpPr>
          <a:xfrm>
            <a:off x="5154635" y="3497565"/>
            <a:ext cx="957503" cy="461665"/>
            <a:chOff x="4680469" y="5266351"/>
            <a:chExt cx="957503" cy="461665"/>
          </a:xfrm>
        </p:grpSpPr>
        <p:cxnSp>
          <p:nvCxnSpPr>
            <p:cNvPr id="37" name="36 Conector recto de flecha"/>
            <p:cNvCxnSpPr/>
            <p:nvPr/>
          </p:nvCxnSpPr>
          <p:spPr bwMode="auto">
            <a:xfrm>
              <a:off x="4680469" y="5502773"/>
              <a:ext cx="611611"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8" name="37 CuadroTexto"/>
            <p:cNvSpPr txBox="1"/>
            <p:nvPr/>
          </p:nvSpPr>
          <p:spPr>
            <a:xfrm>
              <a:off x="5293006" y="5266351"/>
              <a:ext cx="344966" cy="461665"/>
            </a:xfrm>
            <a:prstGeom prst="rect">
              <a:avLst/>
            </a:prstGeom>
            <a:noFill/>
          </p:spPr>
          <p:txBody>
            <a:bodyPr wrap="none" rtlCol="0">
              <a:spAutoFit/>
            </a:bodyPr>
            <a:lstStyle/>
            <a:p>
              <a:pPr algn="ctr"/>
              <a:r>
                <a:rPr lang="es-ES" sz="2400" b="1" dirty="0">
                  <a:solidFill>
                    <a:srgbClr val="FF0000"/>
                  </a:solidFill>
                  <a:latin typeface="Script MT Bold" pitchFamily="66" charset="0"/>
                </a:rPr>
                <a:t>8</a:t>
              </a:r>
              <a:endParaRPr lang="es-ES" sz="2400" b="1" dirty="0">
                <a:latin typeface="Script MT Bold" pitchFamily="66" charset="0"/>
              </a:endParaRPr>
            </a:p>
          </p:txBody>
        </p:sp>
      </p:grpSp>
      <p:sp>
        <p:nvSpPr>
          <p:cNvPr id="34" name="33 Rectángulo"/>
          <p:cNvSpPr/>
          <p:nvPr/>
        </p:nvSpPr>
        <p:spPr>
          <a:xfrm>
            <a:off x="2241648" y="5384462"/>
            <a:ext cx="5393359" cy="338554"/>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b="1" dirty="0"/>
              <a:t>a</a:t>
            </a:r>
            <a:r>
              <a:rPr lang="es-ES" sz="1600" dirty="0">
                <a:solidFill>
                  <a:srgbClr val="009900"/>
                </a:solidFill>
              </a:rPr>
              <a:t> </a:t>
            </a:r>
            <a:r>
              <a:rPr lang="es-ES" sz="1600" dirty="0">
                <a:solidFill>
                  <a:srgbClr val="FF0000"/>
                </a:solidFill>
              </a:rPr>
              <a:t>)</a:t>
            </a:r>
            <a:r>
              <a:rPr lang="es-ES" sz="1600" dirty="0"/>
              <a:t>;</a:t>
            </a:r>
          </a:p>
        </p:txBody>
      </p:sp>
      <p:grpSp>
        <p:nvGrpSpPr>
          <p:cNvPr id="39" name="38 Grupo"/>
          <p:cNvGrpSpPr/>
          <p:nvPr/>
        </p:nvGrpSpPr>
        <p:grpSpPr>
          <a:xfrm>
            <a:off x="3349247" y="2879497"/>
            <a:ext cx="3382993" cy="430887"/>
            <a:chOff x="6245418" y="3720129"/>
            <a:chExt cx="3382993" cy="430887"/>
          </a:xfrm>
        </p:grpSpPr>
        <p:sp>
          <p:nvSpPr>
            <p:cNvPr id="41" name="40 CuadroTexto"/>
            <p:cNvSpPr txBox="1"/>
            <p:nvPr/>
          </p:nvSpPr>
          <p:spPr>
            <a:xfrm>
              <a:off x="6595080" y="3720129"/>
              <a:ext cx="3033331" cy="430887"/>
            </a:xfrm>
            <a:prstGeom prst="rect">
              <a:avLst/>
            </a:prstGeom>
            <a:noFill/>
          </p:spPr>
          <p:txBody>
            <a:bodyPr wrap="none" rtlCol="0">
              <a:spAutoFit/>
            </a:bodyPr>
            <a:lstStyle/>
            <a:p>
              <a:r>
                <a:rPr lang="es-ES" sz="2200" b="1" dirty="0">
                  <a:solidFill>
                    <a:srgbClr val="009900"/>
                  </a:solidFill>
                  <a:latin typeface="Script MT Bold" pitchFamily="66" charset="0"/>
                </a:rPr>
                <a:t>Variable local del método</a:t>
              </a:r>
            </a:p>
          </p:txBody>
        </p:sp>
        <p:sp>
          <p:nvSpPr>
            <p:cNvPr id="42" name="41 Flecha arriba"/>
            <p:cNvSpPr/>
            <p:nvPr/>
          </p:nvSpPr>
          <p:spPr bwMode="auto">
            <a:xfrm rot="5400000">
              <a:off x="6278235" y="3794018"/>
              <a:ext cx="229531" cy="295165"/>
            </a:xfrm>
            <a:prstGeom prst="up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43" name="42 Grupo"/>
          <p:cNvGrpSpPr/>
          <p:nvPr/>
        </p:nvGrpSpPr>
        <p:grpSpPr>
          <a:xfrm>
            <a:off x="3733799" y="1743062"/>
            <a:ext cx="1446437" cy="430887"/>
            <a:chOff x="6245418" y="3720129"/>
            <a:chExt cx="1446437" cy="430887"/>
          </a:xfrm>
        </p:grpSpPr>
        <p:sp>
          <p:nvSpPr>
            <p:cNvPr id="44" name="43 CuadroTexto"/>
            <p:cNvSpPr txBox="1"/>
            <p:nvPr/>
          </p:nvSpPr>
          <p:spPr>
            <a:xfrm>
              <a:off x="6595080" y="3720129"/>
              <a:ext cx="1096775" cy="430887"/>
            </a:xfrm>
            <a:prstGeom prst="rect">
              <a:avLst/>
            </a:prstGeom>
            <a:noFill/>
          </p:spPr>
          <p:txBody>
            <a:bodyPr wrap="none" rtlCol="0">
              <a:spAutoFit/>
            </a:bodyPr>
            <a:lstStyle/>
            <a:p>
              <a:r>
                <a:rPr lang="es-ES" sz="2200" b="1" dirty="0">
                  <a:solidFill>
                    <a:srgbClr val="009900"/>
                  </a:solidFill>
                  <a:latin typeface="Script MT Bold" pitchFamily="66" charset="0"/>
                </a:rPr>
                <a:t>Atributo</a:t>
              </a:r>
            </a:p>
          </p:txBody>
        </p:sp>
        <p:sp>
          <p:nvSpPr>
            <p:cNvPr id="45" name="44 Flecha arriba"/>
            <p:cNvSpPr/>
            <p:nvPr/>
          </p:nvSpPr>
          <p:spPr bwMode="auto">
            <a:xfrm rot="5400000">
              <a:off x="6278235" y="3794018"/>
              <a:ext cx="229531" cy="295165"/>
            </a:xfrm>
            <a:prstGeom prst="up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46" name="45 Rectángulo"/>
          <p:cNvSpPr/>
          <p:nvPr/>
        </p:nvSpPr>
        <p:spPr>
          <a:xfrm>
            <a:off x="1915244" y="1772816"/>
            <a:ext cx="856556" cy="369332"/>
          </a:xfrm>
          <a:prstGeom prst="rect">
            <a:avLst/>
          </a:prstGeom>
        </p:spPr>
        <p:txBody>
          <a:bodyPr wrap="square">
            <a:spAutoFit/>
          </a:bodyPr>
          <a:lstStyle/>
          <a:p>
            <a:r>
              <a:rPr lang="es-ES" sz="1800" b="1" dirty="0" err="1">
                <a:solidFill>
                  <a:schemeClr val="tx1">
                    <a:lumMod val="40000"/>
                    <a:lumOff val="60000"/>
                  </a:schemeClr>
                </a:solidFill>
              </a:rPr>
              <a:t>static</a:t>
            </a:r>
            <a:endParaRPr lang="es-ES" sz="1800" dirty="0"/>
          </a:p>
        </p:txBody>
      </p:sp>
      <p:grpSp>
        <p:nvGrpSpPr>
          <p:cNvPr id="47" name="46 Grupo"/>
          <p:cNvGrpSpPr/>
          <p:nvPr/>
        </p:nvGrpSpPr>
        <p:grpSpPr>
          <a:xfrm>
            <a:off x="406403" y="1748918"/>
            <a:ext cx="1516000" cy="1446550"/>
            <a:chOff x="6336538" y="2984665"/>
            <a:chExt cx="1516000" cy="1446550"/>
          </a:xfrm>
        </p:grpSpPr>
        <p:sp>
          <p:nvSpPr>
            <p:cNvPr id="48" name="47 CuadroTexto"/>
            <p:cNvSpPr txBox="1"/>
            <p:nvPr/>
          </p:nvSpPr>
          <p:spPr>
            <a:xfrm>
              <a:off x="6336538" y="2984665"/>
              <a:ext cx="1218603" cy="1446550"/>
            </a:xfrm>
            <a:prstGeom prst="rect">
              <a:avLst/>
            </a:prstGeom>
            <a:noFill/>
          </p:spPr>
          <p:txBody>
            <a:bodyPr wrap="none" rtlCol="0">
              <a:spAutoFit/>
            </a:bodyPr>
            <a:lstStyle/>
            <a:p>
              <a:r>
                <a:rPr lang="es-ES" sz="2200" b="1" dirty="0">
                  <a:solidFill>
                    <a:srgbClr val="009900"/>
                  </a:solidFill>
                  <a:latin typeface="Script MT Bold" pitchFamily="66" charset="0"/>
                </a:rPr>
                <a:t>Es usado</a:t>
              </a:r>
            </a:p>
            <a:p>
              <a:r>
                <a:rPr lang="es-ES" sz="2200" b="1" dirty="0">
                  <a:solidFill>
                    <a:srgbClr val="009900"/>
                  </a:solidFill>
                  <a:latin typeface="Script MT Bold" pitchFamily="66" charset="0"/>
                </a:rPr>
                <a:t>desde un</a:t>
              </a:r>
            </a:p>
            <a:p>
              <a:r>
                <a:rPr lang="es-ES" sz="2200" b="1" dirty="0">
                  <a:solidFill>
                    <a:srgbClr val="009900"/>
                  </a:solidFill>
                  <a:latin typeface="Script MT Bold" pitchFamily="66" charset="0"/>
                </a:rPr>
                <a:t>método</a:t>
              </a:r>
            </a:p>
            <a:p>
              <a:r>
                <a:rPr lang="es-ES" sz="2200" b="1" dirty="0">
                  <a:solidFill>
                    <a:srgbClr val="009900"/>
                  </a:solidFill>
                  <a:latin typeface="Script MT Bold" pitchFamily="66" charset="0"/>
                </a:rPr>
                <a:t>estático</a:t>
              </a:r>
            </a:p>
          </p:txBody>
        </p:sp>
        <p:sp>
          <p:nvSpPr>
            <p:cNvPr id="49" name="48 Flecha arriba"/>
            <p:cNvSpPr/>
            <p:nvPr/>
          </p:nvSpPr>
          <p:spPr bwMode="auto">
            <a:xfrm rot="16200000" flipH="1">
              <a:off x="7590190" y="3052698"/>
              <a:ext cx="229531" cy="295165"/>
            </a:xfrm>
            <a:prstGeom prst="up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5" name="4 Grupo"/>
          <p:cNvGrpSpPr/>
          <p:nvPr/>
        </p:nvGrpSpPr>
        <p:grpSpPr>
          <a:xfrm>
            <a:off x="3661526" y="3890392"/>
            <a:ext cx="4705134" cy="983560"/>
            <a:chOff x="3661526" y="3890392"/>
            <a:chExt cx="4705134" cy="983560"/>
          </a:xfrm>
        </p:grpSpPr>
        <p:sp>
          <p:nvSpPr>
            <p:cNvPr id="51" name="50 CuadroTexto"/>
            <p:cNvSpPr txBox="1"/>
            <p:nvPr/>
          </p:nvSpPr>
          <p:spPr>
            <a:xfrm>
              <a:off x="3661526" y="4104511"/>
              <a:ext cx="4705134" cy="769441"/>
            </a:xfrm>
            <a:prstGeom prst="rect">
              <a:avLst/>
            </a:prstGeom>
            <a:noFill/>
          </p:spPr>
          <p:txBody>
            <a:bodyPr wrap="none" rtlCol="0">
              <a:spAutoFit/>
            </a:bodyPr>
            <a:lstStyle/>
            <a:p>
              <a:r>
                <a:rPr lang="es-ES" sz="2200" b="1" dirty="0" err="1">
                  <a:solidFill>
                    <a:srgbClr val="009900"/>
                  </a:solidFill>
                  <a:latin typeface="Script MT Bold" pitchFamily="66" charset="0"/>
                </a:rPr>
                <a:t>This</a:t>
              </a:r>
              <a:r>
                <a:rPr lang="es-ES" sz="2200" b="1" dirty="0">
                  <a:solidFill>
                    <a:srgbClr val="009900"/>
                  </a:solidFill>
                  <a:latin typeface="Script MT Bold" pitchFamily="66" charset="0"/>
                </a:rPr>
                <a:t> no puede usarse en</a:t>
              </a:r>
            </a:p>
            <a:p>
              <a:r>
                <a:rPr lang="es-ES" sz="2200" b="1" dirty="0">
                  <a:solidFill>
                    <a:srgbClr val="009900"/>
                  </a:solidFill>
                  <a:latin typeface="Script MT Bold" pitchFamily="66" charset="0"/>
                </a:rPr>
                <a:t>Métodos estáticos. Sería </a:t>
              </a:r>
              <a:r>
                <a:rPr lang="es-ES" sz="2200" b="1" dirty="0" err="1">
                  <a:solidFill>
                    <a:srgbClr val="009900"/>
                  </a:solidFill>
                  <a:latin typeface="Script MT Bold" pitchFamily="66" charset="0"/>
                </a:rPr>
                <a:t>Bienvenido.a</a:t>
              </a:r>
              <a:endParaRPr lang="es-ES" sz="2200" b="1" dirty="0">
                <a:solidFill>
                  <a:srgbClr val="009900"/>
                </a:solidFill>
                <a:latin typeface="Script MT Bold" pitchFamily="66" charset="0"/>
              </a:endParaRPr>
            </a:p>
          </p:txBody>
        </p:sp>
        <p:sp>
          <p:nvSpPr>
            <p:cNvPr id="53" name="52 Flecha arriba"/>
            <p:cNvSpPr/>
            <p:nvPr/>
          </p:nvSpPr>
          <p:spPr bwMode="auto">
            <a:xfrm rot="10800000" flipH="1">
              <a:off x="4262608" y="3890392"/>
              <a:ext cx="229531" cy="295165"/>
            </a:xfrm>
            <a:prstGeom prst="up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569884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4"/>
                                        </p:tgtEl>
                                        <p:attrNameLst>
                                          <p:attrName>style.visibility</p:attrName>
                                        </p:attrNameLst>
                                      </p:cBhvr>
                                      <p:to>
                                        <p:strVal val="visible"/>
                                      </p:to>
                                    </p:set>
                                    <p:anim calcmode="lin" valueType="num">
                                      <p:cBhvr>
                                        <p:cTn id="14" dur="500" fill="hold"/>
                                        <p:tgtEl>
                                          <p:spTgt spid="34"/>
                                        </p:tgtEl>
                                        <p:attrNameLst>
                                          <p:attrName>ppt_w</p:attrName>
                                        </p:attrNameLst>
                                      </p:cBhvr>
                                      <p:tavLst>
                                        <p:tav tm="0">
                                          <p:val>
                                            <p:fltVal val="0"/>
                                          </p:val>
                                        </p:tav>
                                        <p:tav tm="100000">
                                          <p:val>
                                            <p:strVal val="#ppt_w"/>
                                          </p:val>
                                        </p:tav>
                                      </p:tavLst>
                                    </p:anim>
                                    <p:anim calcmode="lin" valueType="num">
                                      <p:cBhvr>
                                        <p:cTn id="15" dur="500" fill="hold"/>
                                        <p:tgtEl>
                                          <p:spTgt spid="34"/>
                                        </p:tgtEl>
                                        <p:attrNameLst>
                                          <p:attrName>ppt_h</p:attrName>
                                        </p:attrNameLst>
                                      </p:cBhvr>
                                      <p:tavLst>
                                        <p:tav tm="0">
                                          <p:val>
                                            <p:fltVal val="0"/>
                                          </p:val>
                                        </p:tav>
                                        <p:tav tm="100000">
                                          <p:val>
                                            <p:strVal val="#ppt_h"/>
                                          </p:val>
                                        </p:tav>
                                      </p:tavLst>
                                    </p:anim>
                                    <p:animEffect transition="in" filter="fad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wipe(left)">
                                      <p:cBhvr>
                                        <p:cTn id="26" dur="500"/>
                                        <p:tgtEl>
                                          <p:spTgt spid="43"/>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p:cTn id="31" dur="500" fill="hold"/>
                                        <p:tgtEl>
                                          <p:spTgt spid="25"/>
                                        </p:tgtEl>
                                        <p:attrNameLst>
                                          <p:attrName>ppt_w</p:attrName>
                                        </p:attrNameLst>
                                      </p:cBhvr>
                                      <p:tavLst>
                                        <p:tav tm="0">
                                          <p:val>
                                            <p:fltVal val="0"/>
                                          </p:val>
                                        </p:tav>
                                        <p:tav tm="100000">
                                          <p:val>
                                            <p:strVal val="#ppt_w"/>
                                          </p:val>
                                        </p:tav>
                                      </p:tavLst>
                                    </p:anim>
                                    <p:anim calcmode="lin" valueType="num">
                                      <p:cBhvr>
                                        <p:cTn id="32" dur="500" fill="hold"/>
                                        <p:tgtEl>
                                          <p:spTgt spid="25"/>
                                        </p:tgtEl>
                                        <p:attrNameLst>
                                          <p:attrName>ppt_h</p:attrName>
                                        </p:attrNameLst>
                                      </p:cBhvr>
                                      <p:tavLst>
                                        <p:tav tm="0">
                                          <p:val>
                                            <p:fltVal val="0"/>
                                          </p:val>
                                        </p:tav>
                                        <p:tav tm="100000">
                                          <p:val>
                                            <p:strVal val="#ppt_h"/>
                                          </p:val>
                                        </p:tav>
                                      </p:tavLst>
                                    </p:anim>
                                    <p:animEffect transition="in" filter="fade">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wipe(left)">
                                      <p:cBhvr>
                                        <p:cTn id="38" dur="50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78"/>
                                        </p:tgtEl>
                                        <p:attrNameLst>
                                          <p:attrName>style.visibility</p:attrName>
                                        </p:attrNameLst>
                                      </p:cBhvr>
                                      <p:to>
                                        <p:strVal val="visible"/>
                                      </p:to>
                                    </p:set>
                                    <p:anim calcmode="lin" valueType="num">
                                      <p:cBhvr>
                                        <p:cTn id="43" dur="500" fill="hold"/>
                                        <p:tgtEl>
                                          <p:spTgt spid="78"/>
                                        </p:tgtEl>
                                        <p:attrNameLst>
                                          <p:attrName>ppt_w</p:attrName>
                                        </p:attrNameLst>
                                      </p:cBhvr>
                                      <p:tavLst>
                                        <p:tav tm="0">
                                          <p:val>
                                            <p:fltVal val="0"/>
                                          </p:val>
                                        </p:tav>
                                        <p:tav tm="100000">
                                          <p:val>
                                            <p:strVal val="#ppt_w"/>
                                          </p:val>
                                        </p:tav>
                                      </p:tavLst>
                                    </p:anim>
                                    <p:anim calcmode="lin" valueType="num">
                                      <p:cBhvr>
                                        <p:cTn id="44" dur="500" fill="hold"/>
                                        <p:tgtEl>
                                          <p:spTgt spid="78"/>
                                        </p:tgtEl>
                                        <p:attrNameLst>
                                          <p:attrName>ppt_h</p:attrName>
                                        </p:attrNameLst>
                                      </p:cBhvr>
                                      <p:tavLst>
                                        <p:tav tm="0">
                                          <p:val>
                                            <p:fltVal val="0"/>
                                          </p:val>
                                        </p:tav>
                                        <p:tav tm="100000">
                                          <p:val>
                                            <p:strVal val="#ppt_h"/>
                                          </p:val>
                                        </p:tav>
                                      </p:tavLst>
                                    </p:anim>
                                    <p:animEffect transition="in" filter="fade">
                                      <p:cBhvr>
                                        <p:cTn id="45" dur="500"/>
                                        <p:tgtEl>
                                          <p:spTgt spid="7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wipe(left)">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p:cTn id="55" dur="500" fill="hold"/>
                                        <p:tgtEl>
                                          <p:spTgt spid="24"/>
                                        </p:tgtEl>
                                        <p:attrNameLst>
                                          <p:attrName>ppt_w</p:attrName>
                                        </p:attrNameLst>
                                      </p:cBhvr>
                                      <p:tavLst>
                                        <p:tav tm="0">
                                          <p:val>
                                            <p:fltVal val="0"/>
                                          </p:val>
                                        </p:tav>
                                        <p:tav tm="100000">
                                          <p:val>
                                            <p:strVal val="#ppt_w"/>
                                          </p:val>
                                        </p:tav>
                                      </p:tavLst>
                                    </p:anim>
                                    <p:anim calcmode="lin" valueType="num">
                                      <p:cBhvr>
                                        <p:cTn id="56" dur="500" fill="hold"/>
                                        <p:tgtEl>
                                          <p:spTgt spid="24"/>
                                        </p:tgtEl>
                                        <p:attrNameLst>
                                          <p:attrName>ppt_h</p:attrName>
                                        </p:attrNameLst>
                                      </p:cBhvr>
                                      <p:tavLst>
                                        <p:tav tm="0">
                                          <p:val>
                                            <p:fltVal val="0"/>
                                          </p:val>
                                        </p:tav>
                                        <p:tav tm="100000">
                                          <p:val>
                                            <p:strVal val="#ppt_h"/>
                                          </p:val>
                                        </p:tav>
                                      </p:tavLst>
                                    </p:anim>
                                    <p:animEffect transition="in" filter="fade">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left)">
                                      <p:cBhvr>
                                        <p:cTn id="62" dur="500"/>
                                        <p:tgtEl>
                                          <p:spTgt spid="36"/>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46"/>
                                        </p:tgtEl>
                                        <p:attrNameLst>
                                          <p:attrName>style.visibility</p:attrName>
                                        </p:attrNameLst>
                                      </p:cBhvr>
                                      <p:to>
                                        <p:strVal val="visible"/>
                                      </p:to>
                                    </p:set>
                                    <p:anim calcmode="lin" valueType="num">
                                      <p:cBhvr>
                                        <p:cTn id="67" dur="500" fill="hold"/>
                                        <p:tgtEl>
                                          <p:spTgt spid="46"/>
                                        </p:tgtEl>
                                        <p:attrNameLst>
                                          <p:attrName>ppt_w</p:attrName>
                                        </p:attrNameLst>
                                      </p:cBhvr>
                                      <p:tavLst>
                                        <p:tav tm="0">
                                          <p:val>
                                            <p:fltVal val="0"/>
                                          </p:val>
                                        </p:tav>
                                        <p:tav tm="100000">
                                          <p:val>
                                            <p:strVal val="#ppt_w"/>
                                          </p:val>
                                        </p:tav>
                                      </p:tavLst>
                                    </p:anim>
                                    <p:anim calcmode="lin" valueType="num">
                                      <p:cBhvr>
                                        <p:cTn id="68" dur="500" fill="hold"/>
                                        <p:tgtEl>
                                          <p:spTgt spid="46"/>
                                        </p:tgtEl>
                                        <p:attrNameLst>
                                          <p:attrName>ppt_h</p:attrName>
                                        </p:attrNameLst>
                                      </p:cBhvr>
                                      <p:tavLst>
                                        <p:tav tm="0">
                                          <p:val>
                                            <p:fltVal val="0"/>
                                          </p:val>
                                        </p:tav>
                                        <p:tav tm="100000">
                                          <p:val>
                                            <p:strVal val="#ppt_h"/>
                                          </p:val>
                                        </p:tav>
                                      </p:tavLst>
                                    </p:anim>
                                    <p:animEffect transition="in" filter="fade">
                                      <p:cBhvr>
                                        <p:cTn id="69" dur="500"/>
                                        <p:tgtEl>
                                          <p:spTgt spid="46"/>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2" fill="hold" nodeType="click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wipe(right)">
                                      <p:cBhvr>
                                        <p:cTn id="74" dur="500"/>
                                        <p:tgtEl>
                                          <p:spTgt spid="47"/>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wipe(up)">
                                      <p:cBhvr>
                                        <p:cTn id="7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24" grpId="0"/>
      <p:bldP spid="25" grpId="0"/>
      <p:bldP spid="34" grpId="0"/>
      <p:bldP spid="4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1420" y="92075"/>
            <a:ext cx="7392988" cy="528613"/>
          </a:xfrm>
        </p:spPr>
        <p:txBody>
          <a:bodyPr/>
          <a:lstStyle/>
          <a:p>
            <a:r>
              <a:rPr lang="es-ES" dirty="0"/>
              <a:t>Parámetro Entradas y Argumento</a:t>
            </a:r>
            <a:endParaRPr lang="es-ES" dirty="0">
              <a:solidFill>
                <a:schemeClr val="accent4">
                  <a:lumMod val="90000"/>
                  <a:lumOff val="10000"/>
                </a:schemeClr>
              </a:solidFill>
            </a:endParaRPr>
          </a:p>
        </p:txBody>
      </p:sp>
      <p:grpSp>
        <p:nvGrpSpPr>
          <p:cNvPr id="34" name="33 Grupo"/>
          <p:cNvGrpSpPr/>
          <p:nvPr/>
        </p:nvGrpSpPr>
        <p:grpSpPr>
          <a:xfrm>
            <a:off x="971600" y="1555768"/>
            <a:ext cx="7488832" cy="3917044"/>
            <a:chOff x="971600" y="1928918"/>
            <a:chExt cx="7488832" cy="2419905"/>
          </a:xfrm>
        </p:grpSpPr>
        <p:sp>
          <p:nvSpPr>
            <p:cNvPr id="39" name="38 Rectángulo"/>
            <p:cNvSpPr/>
            <p:nvPr/>
          </p:nvSpPr>
          <p:spPr bwMode="auto">
            <a:xfrm>
              <a:off x="971600" y="1928918"/>
              <a:ext cx="7488832" cy="2419905"/>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1" name="40 Rectángulo"/>
            <p:cNvSpPr/>
            <p:nvPr/>
          </p:nvSpPr>
          <p:spPr>
            <a:xfrm>
              <a:off x="1043608" y="1943541"/>
              <a:ext cx="7292286" cy="2405282"/>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err="1"/>
                <a:t>MiPrograma</a:t>
              </a:r>
              <a:endParaRPr lang="es-ES" sz="1600" b="1" dirty="0"/>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r>
                <a:rPr lang="es-ES" sz="1600" dirty="0"/>
                <a:t>}</a:t>
              </a:r>
            </a:p>
          </p:txBody>
        </p:sp>
      </p:grpSp>
      <p:sp>
        <p:nvSpPr>
          <p:cNvPr id="42" name="41 Rectángulo"/>
          <p:cNvSpPr/>
          <p:nvPr/>
        </p:nvSpPr>
        <p:spPr>
          <a:xfrm>
            <a:off x="1043608" y="2462719"/>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43" name="42 Grupo"/>
          <p:cNvGrpSpPr/>
          <p:nvPr/>
        </p:nvGrpSpPr>
        <p:grpSpPr>
          <a:xfrm>
            <a:off x="1798186" y="2204864"/>
            <a:ext cx="6197383" cy="1200329"/>
            <a:chOff x="2147033" y="2796529"/>
            <a:chExt cx="6197383" cy="1200329"/>
          </a:xfrm>
        </p:grpSpPr>
        <p:sp>
          <p:nvSpPr>
            <p:cNvPr id="44" name="43 Rectángulo"/>
            <p:cNvSpPr/>
            <p:nvPr/>
          </p:nvSpPr>
          <p:spPr bwMode="auto">
            <a:xfrm>
              <a:off x="2147033" y="2827535"/>
              <a:ext cx="6188862" cy="1169323"/>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5" name="44 Rectángulo"/>
            <p:cNvSpPr/>
            <p:nvPr/>
          </p:nvSpPr>
          <p:spPr>
            <a:xfrm>
              <a:off x="2204258" y="2796529"/>
              <a:ext cx="6140158" cy="1200329"/>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endParaRPr lang="es-ES" sz="2400" dirty="0"/>
            </a:p>
            <a:p>
              <a:r>
                <a:rPr lang="es-ES" sz="2400" dirty="0"/>
                <a:t>  </a:t>
              </a:r>
              <a:r>
                <a:rPr lang="es-ES" sz="1600" dirty="0"/>
                <a:t>   </a:t>
              </a:r>
            </a:p>
            <a:p>
              <a:pPr>
                <a:spcAft>
                  <a:spcPts val="600"/>
                </a:spcAft>
              </a:pPr>
              <a:r>
                <a:rPr lang="es-ES" sz="1600" dirty="0"/>
                <a:t>}</a:t>
              </a:r>
            </a:p>
          </p:txBody>
        </p:sp>
      </p:grpSp>
      <p:sp>
        <p:nvSpPr>
          <p:cNvPr id="46" name="45 Rectángulo"/>
          <p:cNvSpPr/>
          <p:nvPr/>
        </p:nvSpPr>
        <p:spPr bwMode="auto">
          <a:xfrm>
            <a:off x="2161144" y="2761011"/>
            <a:ext cx="5181658" cy="30924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7" name="46 Rectángulo"/>
          <p:cNvSpPr/>
          <p:nvPr/>
        </p:nvSpPr>
        <p:spPr>
          <a:xfrm>
            <a:off x="2230233" y="2731696"/>
            <a:ext cx="2792847" cy="338554"/>
          </a:xfrm>
          <a:prstGeom prst="rect">
            <a:avLst/>
          </a:prstGeom>
        </p:spPr>
        <p:txBody>
          <a:bodyPr wrap="square">
            <a:spAutoFit/>
          </a:bodyPr>
          <a:lstStyle/>
          <a:p>
            <a:r>
              <a:rPr lang="es-ES" sz="1600" dirty="0">
                <a:solidFill>
                  <a:srgbClr val="FF0000"/>
                </a:solidFill>
              </a:rPr>
              <a:t>          saluda(                  )</a:t>
            </a:r>
            <a:r>
              <a:rPr lang="es-ES" sz="1600" dirty="0"/>
              <a:t>;</a:t>
            </a:r>
          </a:p>
        </p:txBody>
      </p:sp>
      <p:grpSp>
        <p:nvGrpSpPr>
          <p:cNvPr id="48" name="47 Grupo"/>
          <p:cNvGrpSpPr/>
          <p:nvPr/>
        </p:nvGrpSpPr>
        <p:grpSpPr>
          <a:xfrm>
            <a:off x="1798186" y="3750548"/>
            <a:ext cx="6197383" cy="1338828"/>
            <a:chOff x="1979712" y="3758033"/>
            <a:chExt cx="6197383" cy="946982"/>
          </a:xfrm>
        </p:grpSpPr>
        <p:grpSp>
          <p:nvGrpSpPr>
            <p:cNvPr id="49" name="48 Grupo"/>
            <p:cNvGrpSpPr/>
            <p:nvPr/>
          </p:nvGrpSpPr>
          <p:grpSpPr>
            <a:xfrm>
              <a:off x="1979712" y="3758033"/>
              <a:ext cx="6197383" cy="946982"/>
              <a:chOff x="2147033" y="2796529"/>
              <a:chExt cx="6197383" cy="946982"/>
            </a:xfrm>
          </p:grpSpPr>
          <p:sp>
            <p:nvSpPr>
              <p:cNvPr id="53" name="52 Rectángulo"/>
              <p:cNvSpPr/>
              <p:nvPr/>
            </p:nvSpPr>
            <p:spPr bwMode="auto">
              <a:xfrm>
                <a:off x="2147033" y="2827536"/>
                <a:ext cx="6188862" cy="915975"/>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53 Rectángulo"/>
              <p:cNvSpPr/>
              <p:nvPr/>
            </p:nvSpPr>
            <p:spPr>
              <a:xfrm>
                <a:off x="2204258" y="2796529"/>
                <a:ext cx="6140158" cy="946982"/>
              </a:xfrm>
              <a:prstGeom prst="rect">
                <a:avLst/>
              </a:prstGeom>
            </p:spPr>
            <p:txBody>
              <a:bodyPr wrap="square">
                <a:spAutoFit/>
              </a:bodyPr>
              <a:lstStyle/>
              <a:p>
                <a:r>
                  <a:rPr lang="en-US" sz="1600" dirty="0">
                    <a:solidFill>
                      <a:srgbClr val="0070C0"/>
                    </a:solidFill>
                  </a:rPr>
                  <a:t>public  static  void  </a:t>
                </a:r>
                <a:r>
                  <a:rPr lang="en-US" sz="1600" b="1" dirty="0" err="1">
                    <a:solidFill>
                      <a:srgbClr val="FF3300"/>
                    </a:solidFill>
                  </a:rPr>
                  <a:t>saluda</a:t>
                </a:r>
                <a:r>
                  <a:rPr lang="en-US" sz="1600" b="1" dirty="0">
                    <a:solidFill>
                      <a:srgbClr val="FF3300"/>
                    </a:solidFill>
                  </a:rPr>
                  <a:t> </a:t>
                </a:r>
                <a:r>
                  <a:rPr lang="en-US" sz="1600" dirty="0"/>
                  <a:t>(                        )</a:t>
                </a:r>
              </a:p>
              <a:p>
                <a:r>
                  <a:rPr lang="es-ES" sz="1600" dirty="0"/>
                  <a:t>{</a:t>
                </a:r>
              </a:p>
              <a:p>
                <a:r>
                  <a:rPr lang="es-ES" sz="1400" dirty="0"/>
                  <a:t>     </a:t>
                </a:r>
              </a:p>
              <a:p>
                <a:pPr>
                  <a:spcAft>
                    <a:spcPts val="600"/>
                  </a:spcAft>
                </a:pPr>
                <a:endParaRPr lang="es-ES" sz="1400" dirty="0"/>
              </a:p>
              <a:p>
                <a:pPr>
                  <a:spcAft>
                    <a:spcPts val="600"/>
                  </a:spcAft>
                </a:pPr>
                <a:r>
                  <a:rPr lang="es-ES" sz="1600" dirty="0"/>
                  <a:t>}</a:t>
                </a:r>
              </a:p>
            </p:txBody>
          </p:sp>
        </p:grpSp>
        <p:sp>
          <p:nvSpPr>
            <p:cNvPr id="51" name="50 Rectángulo"/>
            <p:cNvSpPr/>
            <p:nvPr/>
          </p:nvSpPr>
          <p:spPr bwMode="auto">
            <a:xfrm>
              <a:off x="2304128" y="4156100"/>
              <a:ext cx="5800959" cy="285752"/>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cxnSp>
        <p:nvCxnSpPr>
          <p:cNvPr id="9" name="8 Conector angular"/>
          <p:cNvCxnSpPr/>
          <p:nvPr/>
        </p:nvCxnSpPr>
        <p:spPr bwMode="auto">
          <a:xfrm rot="16200000" flipH="1">
            <a:off x="4544829" y="3194776"/>
            <a:ext cx="893412" cy="305805"/>
          </a:xfrm>
          <a:prstGeom prst="bentConnector3">
            <a:avLst>
              <a:gd name="adj1" fmla="val 1668"/>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nvGrpSpPr>
          <p:cNvPr id="62" name="61 Grupo"/>
          <p:cNvGrpSpPr/>
          <p:nvPr/>
        </p:nvGrpSpPr>
        <p:grpSpPr>
          <a:xfrm>
            <a:off x="6134777" y="4252928"/>
            <a:ext cx="2267024" cy="461665"/>
            <a:chOff x="4680469" y="5242107"/>
            <a:chExt cx="2267024" cy="461665"/>
          </a:xfrm>
        </p:grpSpPr>
        <p:cxnSp>
          <p:nvCxnSpPr>
            <p:cNvPr id="63" name="62 Conector recto de flecha"/>
            <p:cNvCxnSpPr/>
            <p:nvPr/>
          </p:nvCxnSpPr>
          <p:spPr bwMode="auto">
            <a:xfrm>
              <a:off x="4680469" y="5502773"/>
              <a:ext cx="611611"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64" name="63 CuadroTexto"/>
            <p:cNvSpPr txBox="1"/>
            <p:nvPr/>
          </p:nvSpPr>
          <p:spPr>
            <a:xfrm>
              <a:off x="5277932" y="5242107"/>
              <a:ext cx="1669561" cy="461665"/>
            </a:xfrm>
            <a:prstGeom prst="rect">
              <a:avLst/>
            </a:prstGeom>
            <a:noFill/>
          </p:spPr>
          <p:txBody>
            <a:bodyPr wrap="none" rtlCol="0">
              <a:spAutoFit/>
            </a:bodyPr>
            <a:lstStyle/>
            <a:p>
              <a:pPr algn="ctr"/>
              <a:r>
                <a:rPr lang="es-ES" sz="2400" b="1" dirty="0">
                  <a:solidFill>
                    <a:srgbClr val="FF0000"/>
                  </a:solidFill>
                  <a:latin typeface="Script MT Bold" pitchFamily="66" charset="0"/>
                </a:rPr>
                <a:t>Hola Sergio</a:t>
              </a:r>
              <a:endParaRPr lang="es-ES" sz="2400" b="1" dirty="0">
                <a:latin typeface="Script MT Bold" pitchFamily="66" charset="0"/>
              </a:endParaRPr>
            </a:p>
          </p:txBody>
        </p:sp>
      </p:grpSp>
      <p:sp>
        <p:nvSpPr>
          <p:cNvPr id="66" name="65 Rectángulo"/>
          <p:cNvSpPr/>
          <p:nvPr/>
        </p:nvSpPr>
        <p:spPr>
          <a:xfrm>
            <a:off x="3518597" y="2744397"/>
            <a:ext cx="1053403" cy="338554"/>
          </a:xfrm>
          <a:prstGeom prst="rect">
            <a:avLst/>
          </a:prstGeom>
        </p:spPr>
        <p:txBody>
          <a:bodyPr wrap="square">
            <a:spAutoFit/>
          </a:bodyPr>
          <a:lstStyle/>
          <a:p>
            <a:pPr algn="ctr"/>
            <a:r>
              <a:rPr lang="es-ES" sz="1600" b="1" dirty="0"/>
              <a:t>“Sergio”</a:t>
            </a:r>
          </a:p>
        </p:txBody>
      </p:sp>
      <p:sp>
        <p:nvSpPr>
          <p:cNvPr id="68" name="67 Rectángulo"/>
          <p:cNvSpPr/>
          <p:nvPr/>
        </p:nvSpPr>
        <p:spPr>
          <a:xfrm>
            <a:off x="4352161" y="3756285"/>
            <a:ext cx="1552525" cy="338554"/>
          </a:xfrm>
          <a:prstGeom prst="rect">
            <a:avLst/>
          </a:prstGeom>
        </p:spPr>
        <p:txBody>
          <a:bodyPr wrap="square">
            <a:spAutoFit/>
          </a:bodyPr>
          <a:lstStyle/>
          <a:p>
            <a:r>
              <a:rPr lang="en-US" sz="1600" dirty="0">
                <a:solidFill>
                  <a:schemeClr val="accent4">
                    <a:lumMod val="50000"/>
                    <a:lumOff val="50000"/>
                  </a:schemeClr>
                </a:solidFill>
              </a:rPr>
              <a:t>String</a:t>
            </a:r>
            <a:r>
              <a:rPr lang="en-US" sz="1600" dirty="0"/>
              <a:t> </a:t>
            </a:r>
            <a:r>
              <a:rPr lang="en-US" sz="1600" b="1" dirty="0" err="1"/>
              <a:t>nombre</a:t>
            </a:r>
            <a:endParaRPr lang="es-ES" sz="1600" dirty="0"/>
          </a:p>
        </p:txBody>
      </p:sp>
      <p:sp>
        <p:nvSpPr>
          <p:cNvPr id="70" name="69 Rectángulo"/>
          <p:cNvSpPr/>
          <p:nvPr/>
        </p:nvSpPr>
        <p:spPr>
          <a:xfrm>
            <a:off x="2156275" y="4338728"/>
            <a:ext cx="3837311" cy="338554"/>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dirty="0">
                <a:solidFill>
                  <a:srgbClr val="00B050"/>
                </a:solidFill>
              </a:rPr>
              <a:t>“Hola “ + </a:t>
            </a:r>
            <a:r>
              <a:rPr lang="es-ES" sz="1600" b="1" dirty="0"/>
              <a:t>nombre</a:t>
            </a:r>
            <a:r>
              <a:rPr lang="es-ES" sz="1600" dirty="0">
                <a:solidFill>
                  <a:srgbClr val="009900"/>
                </a:solidFill>
              </a:rPr>
              <a:t> </a:t>
            </a:r>
            <a:r>
              <a:rPr lang="es-ES" sz="1600" dirty="0">
                <a:solidFill>
                  <a:srgbClr val="FF0000"/>
                </a:solidFill>
              </a:rPr>
              <a:t>)</a:t>
            </a:r>
            <a:r>
              <a:rPr lang="es-ES" sz="1600" dirty="0"/>
              <a:t>;</a:t>
            </a:r>
          </a:p>
        </p:txBody>
      </p:sp>
      <p:grpSp>
        <p:nvGrpSpPr>
          <p:cNvPr id="5" name="4 Grupo"/>
          <p:cNvGrpSpPr/>
          <p:nvPr/>
        </p:nvGrpSpPr>
        <p:grpSpPr>
          <a:xfrm>
            <a:off x="3174593" y="3070250"/>
            <a:ext cx="1515158" cy="653782"/>
            <a:chOff x="3174593" y="3070250"/>
            <a:chExt cx="1515158" cy="653782"/>
          </a:xfrm>
        </p:grpSpPr>
        <p:sp>
          <p:nvSpPr>
            <p:cNvPr id="25" name="24 CuadroTexto"/>
            <p:cNvSpPr txBox="1"/>
            <p:nvPr/>
          </p:nvSpPr>
          <p:spPr>
            <a:xfrm>
              <a:off x="3174593" y="3262367"/>
              <a:ext cx="1515158" cy="461665"/>
            </a:xfrm>
            <a:prstGeom prst="rect">
              <a:avLst/>
            </a:prstGeom>
            <a:noFill/>
          </p:spPr>
          <p:txBody>
            <a:bodyPr wrap="none" rtlCol="0">
              <a:spAutoFit/>
            </a:bodyPr>
            <a:lstStyle/>
            <a:p>
              <a:pPr algn="ctr"/>
              <a:r>
                <a:rPr lang="es-ES" sz="2400" b="1" dirty="0">
                  <a:solidFill>
                    <a:srgbClr val="009900"/>
                  </a:solidFill>
                  <a:latin typeface="Script MT Bold" pitchFamily="66" charset="0"/>
                </a:rPr>
                <a:t>Argumento</a:t>
              </a:r>
            </a:p>
          </p:txBody>
        </p:sp>
        <p:sp>
          <p:nvSpPr>
            <p:cNvPr id="4" name="3 Flecha arriba"/>
            <p:cNvSpPr/>
            <p:nvPr/>
          </p:nvSpPr>
          <p:spPr bwMode="auto">
            <a:xfrm>
              <a:off x="3746004" y="3070250"/>
              <a:ext cx="288032" cy="334943"/>
            </a:xfrm>
            <a:prstGeom prst="up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6" name="5 Grupo"/>
          <p:cNvGrpSpPr/>
          <p:nvPr/>
        </p:nvGrpSpPr>
        <p:grpSpPr>
          <a:xfrm>
            <a:off x="5918944" y="3683124"/>
            <a:ext cx="2952328" cy="461665"/>
            <a:chOff x="6141154" y="3707429"/>
            <a:chExt cx="2952328" cy="461665"/>
          </a:xfrm>
        </p:grpSpPr>
        <p:sp>
          <p:nvSpPr>
            <p:cNvPr id="24" name="23 CuadroTexto"/>
            <p:cNvSpPr txBox="1"/>
            <p:nvPr/>
          </p:nvSpPr>
          <p:spPr>
            <a:xfrm>
              <a:off x="6490260" y="3707429"/>
              <a:ext cx="2603222" cy="461665"/>
            </a:xfrm>
            <a:prstGeom prst="rect">
              <a:avLst/>
            </a:prstGeom>
            <a:noFill/>
          </p:spPr>
          <p:txBody>
            <a:bodyPr wrap="square" rtlCol="0">
              <a:spAutoFit/>
            </a:bodyPr>
            <a:lstStyle/>
            <a:p>
              <a:pPr algn="ctr"/>
              <a:r>
                <a:rPr lang="es-ES" sz="2400" b="1" dirty="0">
                  <a:solidFill>
                    <a:srgbClr val="009900"/>
                  </a:solidFill>
                  <a:latin typeface="Script MT Bold" pitchFamily="66" charset="0"/>
                </a:rPr>
                <a:t>Parámetro Entrada</a:t>
              </a:r>
            </a:p>
          </p:txBody>
        </p:sp>
        <p:sp>
          <p:nvSpPr>
            <p:cNvPr id="29" name="28 Flecha arriba"/>
            <p:cNvSpPr/>
            <p:nvPr/>
          </p:nvSpPr>
          <p:spPr bwMode="auto">
            <a:xfrm rot="5400000">
              <a:off x="6178458" y="3757083"/>
              <a:ext cx="300454" cy="375061"/>
            </a:xfrm>
            <a:prstGeom prst="up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264818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66"/>
                                        </p:tgtEl>
                                        <p:attrNameLst>
                                          <p:attrName>style.visibility</p:attrName>
                                        </p:attrNameLst>
                                      </p:cBhvr>
                                      <p:to>
                                        <p:strVal val="visible"/>
                                      </p:to>
                                    </p:set>
                                    <p:anim calcmode="lin" valueType="num">
                                      <p:cBhvr>
                                        <p:cTn id="15" dur="500" fill="hold"/>
                                        <p:tgtEl>
                                          <p:spTgt spid="66"/>
                                        </p:tgtEl>
                                        <p:attrNameLst>
                                          <p:attrName>ppt_w</p:attrName>
                                        </p:attrNameLst>
                                      </p:cBhvr>
                                      <p:tavLst>
                                        <p:tav tm="0">
                                          <p:val>
                                            <p:fltVal val="0"/>
                                          </p:val>
                                        </p:tav>
                                        <p:tav tm="100000">
                                          <p:val>
                                            <p:strVal val="#ppt_w"/>
                                          </p:val>
                                        </p:tav>
                                      </p:tavLst>
                                    </p:anim>
                                    <p:anim calcmode="lin" valueType="num">
                                      <p:cBhvr>
                                        <p:cTn id="16" dur="500" fill="hold"/>
                                        <p:tgtEl>
                                          <p:spTgt spid="66"/>
                                        </p:tgtEl>
                                        <p:attrNameLst>
                                          <p:attrName>ppt_h</p:attrName>
                                        </p:attrNameLst>
                                      </p:cBhvr>
                                      <p:tavLst>
                                        <p:tav tm="0">
                                          <p:val>
                                            <p:fltVal val="0"/>
                                          </p:val>
                                        </p:tav>
                                        <p:tav tm="100000">
                                          <p:val>
                                            <p:strVal val="#ppt_h"/>
                                          </p:val>
                                        </p:tav>
                                      </p:tavLst>
                                    </p:anim>
                                    <p:animEffect transition="in" filter="fade">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500"/>
                                        <p:tgtEl>
                                          <p:spTgt spid="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fade">
                                      <p:cBhvr>
                                        <p:cTn id="42" dur="500"/>
                                        <p:tgtEl>
                                          <p:spTgt spid="7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wipe(left)">
                                      <p:cBhvr>
                                        <p:cTn id="4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66" grpId="0"/>
      <p:bldP spid="68" grpId="0"/>
      <p:bldP spid="7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1420" y="92075"/>
            <a:ext cx="7392988" cy="528613"/>
          </a:xfrm>
        </p:spPr>
        <p:txBody>
          <a:bodyPr/>
          <a:lstStyle/>
          <a:p>
            <a:r>
              <a:rPr lang="es-ES" dirty="0"/>
              <a:t>Varios Parámetros - Argumentos</a:t>
            </a:r>
            <a:endParaRPr lang="es-ES" dirty="0">
              <a:solidFill>
                <a:schemeClr val="accent4">
                  <a:lumMod val="90000"/>
                  <a:lumOff val="10000"/>
                </a:schemeClr>
              </a:solidFill>
            </a:endParaRPr>
          </a:p>
        </p:txBody>
      </p:sp>
      <p:grpSp>
        <p:nvGrpSpPr>
          <p:cNvPr id="34" name="33 Grupo"/>
          <p:cNvGrpSpPr/>
          <p:nvPr/>
        </p:nvGrpSpPr>
        <p:grpSpPr>
          <a:xfrm>
            <a:off x="971600" y="1555768"/>
            <a:ext cx="7488832" cy="4321504"/>
            <a:chOff x="971600" y="1928918"/>
            <a:chExt cx="7488832" cy="2419905"/>
          </a:xfrm>
        </p:grpSpPr>
        <p:sp>
          <p:nvSpPr>
            <p:cNvPr id="39" name="38 Rectángulo"/>
            <p:cNvSpPr/>
            <p:nvPr/>
          </p:nvSpPr>
          <p:spPr bwMode="auto">
            <a:xfrm>
              <a:off x="971600" y="1928918"/>
              <a:ext cx="7488832" cy="2419905"/>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1" name="40 Rectángulo"/>
            <p:cNvSpPr/>
            <p:nvPr/>
          </p:nvSpPr>
          <p:spPr>
            <a:xfrm>
              <a:off x="1043608" y="1943541"/>
              <a:ext cx="7292286" cy="2405282"/>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err="1"/>
                <a:t>MiPrograma</a:t>
              </a:r>
              <a:endParaRPr lang="es-ES" sz="1600" b="1" dirty="0"/>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r>
                <a:rPr lang="es-ES" sz="1600" dirty="0"/>
                <a:t>}</a:t>
              </a:r>
            </a:p>
          </p:txBody>
        </p:sp>
      </p:grpSp>
      <p:sp>
        <p:nvSpPr>
          <p:cNvPr id="42" name="41 Rectángulo"/>
          <p:cNvSpPr/>
          <p:nvPr/>
        </p:nvSpPr>
        <p:spPr>
          <a:xfrm>
            <a:off x="1043608" y="2462719"/>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43" name="42 Grupo"/>
          <p:cNvGrpSpPr/>
          <p:nvPr/>
        </p:nvGrpSpPr>
        <p:grpSpPr>
          <a:xfrm>
            <a:off x="1798186" y="2204864"/>
            <a:ext cx="6197383" cy="1200329"/>
            <a:chOff x="2147033" y="2796529"/>
            <a:chExt cx="6197383" cy="1200329"/>
          </a:xfrm>
        </p:grpSpPr>
        <p:sp>
          <p:nvSpPr>
            <p:cNvPr id="44" name="43 Rectángulo"/>
            <p:cNvSpPr/>
            <p:nvPr/>
          </p:nvSpPr>
          <p:spPr bwMode="auto">
            <a:xfrm>
              <a:off x="2147033" y="2827535"/>
              <a:ext cx="6188862" cy="1169323"/>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5" name="44 Rectángulo"/>
            <p:cNvSpPr/>
            <p:nvPr/>
          </p:nvSpPr>
          <p:spPr>
            <a:xfrm>
              <a:off x="2204258" y="2796529"/>
              <a:ext cx="6140158" cy="1200329"/>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endParaRPr lang="es-ES" sz="2400" dirty="0"/>
            </a:p>
            <a:p>
              <a:r>
                <a:rPr lang="es-ES" sz="2400" dirty="0"/>
                <a:t>  </a:t>
              </a:r>
              <a:r>
                <a:rPr lang="es-ES" sz="1600" dirty="0"/>
                <a:t>   </a:t>
              </a:r>
            </a:p>
            <a:p>
              <a:pPr>
                <a:spcAft>
                  <a:spcPts val="600"/>
                </a:spcAft>
              </a:pPr>
              <a:r>
                <a:rPr lang="es-ES" sz="1600" dirty="0"/>
                <a:t>}</a:t>
              </a:r>
            </a:p>
          </p:txBody>
        </p:sp>
      </p:grpSp>
      <p:sp>
        <p:nvSpPr>
          <p:cNvPr id="46" name="45 Rectángulo"/>
          <p:cNvSpPr/>
          <p:nvPr/>
        </p:nvSpPr>
        <p:spPr bwMode="auto">
          <a:xfrm>
            <a:off x="2161144" y="2761011"/>
            <a:ext cx="5181658" cy="30924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7" name="46 Rectángulo"/>
          <p:cNvSpPr/>
          <p:nvPr/>
        </p:nvSpPr>
        <p:spPr>
          <a:xfrm>
            <a:off x="2643249" y="2731696"/>
            <a:ext cx="2792847" cy="338554"/>
          </a:xfrm>
          <a:prstGeom prst="rect">
            <a:avLst/>
          </a:prstGeom>
        </p:spPr>
        <p:txBody>
          <a:bodyPr wrap="square">
            <a:spAutoFit/>
          </a:bodyPr>
          <a:lstStyle/>
          <a:p>
            <a:r>
              <a:rPr lang="es-ES" sz="1600" dirty="0">
                <a:solidFill>
                  <a:srgbClr val="FF0000"/>
                </a:solidFill>
              </a:rPr>
              <a:t>multiplicar(            )</a:t>
            </a:r>
            <a:r>
              <a:rPr lang="es-ES" sz="1600" dirty="0"/>
              <a:t>;</a:t>
            </a:r>
          </a:p>
        </p:txBody>
      </p:sp>
      <p:grpSp>
        <p:nvGrpSpPr>
          <p:cNvPr id="48" name="47 Grupo"/>
          <p:cNvGrpSpPr/>
          <p:nvPr/>
        </p:nvGrpSpPr>
        <p:grpSpPr>
          <a:xfrm>
            <a:off x="1798186" y="3750549"/>
            <a:ext cx="6197383" cy="1659652"/>
            <a:chOff x="1979712" y="3758034"/>
            <a:chExt cx="6197383" cy="1173908"/>
          </a:xfrm>
        </p:grpSpPr>
        <p:grpSp>
          <p:nvGrpSpPr>
            <p:cNvPr id="49" name="48 Grupo"/>
            <p:cNvGrpSpPr/>
            <p:nvPr/>
          </p:nvGrpSpPr>
          <p:grpSpPr>
            <a:xfrm>
              <a:off x="1979712" y="3758034"/>
              <a:ext cx="6197383" cy="1173908"/>
              <a:chOff x="2147033" y="2796530"/>
              <a:chExt cx="6197383" cy="1173908"/>
            </a:xfrm>
          </p:grpSpPr>
          <p:sp>
            <p:nvSpPr>
              <p:cNvPr id="53" name="52 Rectángulo"/>
              <p:cNvSpPr/>
              <p:nvPr/>
            </p:nvSpPr>
            <p:spPr bwMode="auto">
              <a:xfrm>
                <a:off x="2147033" y="2827536"/>
                <a:ext cx="6188862" cy="1142902"/>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53 Rectángulo"/>
              <p:cNvSpPr/>
              <p:nvPr/>
            </p:nvSpPr>
            <p:spPr>
              <a:xfrm>
                <a:off x="2204258" y="2796530"/>
                <a:ext cx="6140158" cy="1153794"/>
              </a:xfrm>
              <a:prstGeom prst="rect">
                <a:avLst/>
              </a:prstGeom>
            </p:spPr>
            <p:txBody>
              <a:bodyPr wrap="square">
                <a:spAutoFit/>
              </a:bodyPr>
              <a:lstStyle/>
              <a:p>
                <a:r>
                  <a:rPr lang="en-US" sz="1600" dirty="0">
                    <a:solidFill>
                      <a:srgbClr val="0070C0"/>
                    </a:solidFill>
                  </a:rPr>
                  <a:t>public  static  void  </a:t>
                </a:r>
                <a:r>
                  <a:rPr lang="en-US" sz="1600" b="1" dirty="0" err="1">
                    <a:solidFill>
                      <a:srgbClr val="FF3300"/>
                    </a:solidFill>
                  </a:rPr>
                  <a:t>multiplicar</a:t>
                </a:r>
                <a:r>
                  <a:rPr lang="en-US" sz="1600" dirty="0"/>
                  <a:t>(                      )</a:t>
                </a:r>
              </a:p>
              <a:p>
                <a:r>
                  <a:rPr lang="es-ES" sz="1600" dirty="0"/>
                  <a:t>{</a:t>
                </a:r>
              </a:p>
              <a:p>
                <a:r>
                  <a:rPr lang="es-ES" sz="1400" dirty="0"/>
                  <a:t>     </a:t>
                </a:r>
              </a:p>
              <a:p>
                <a:pPr>
                  <a:spcAft>
                    <a:spcPts val="600"/>
                  </a:spcAft>
                </a:pPr>
                <a:endParaRPr lang="es-ES" sz="1400" dirty="0"/>
              </a:p>
              <a:p>
                <a:pPr>
                  <a:spcAft>
                    <a:spcPts val="600"/>
                  </a:spcAft>
                </a:pPr>
                <a:endParaRPr lang="es-ES" sz="1400" dirty="0"/>
              </a:p>
              <a:p>
                <a:pPr>
                  <a:spcAft>
                    <a:spcPts val="600"/>
                  </a:spcAft>
                </a:pPr>
                <a:r>
                  <a:rPr lang="es-ES" sz="1600" dirty="0"/>
                  <a:t>}</a:t>
                </a:r>
              </a:p>
            </p:txBody>
          </p:sp>
        </p:grpSp>
        <p:sp>
          <p:nvSpPr>
            <p:cNvPr id="51" name="50 Rectángulo"/>
            <p:cNvSpPr/>
            <p:nvPr/>
          </p:nvSpPr>
          <p:spPr bwMode="auto">
            <a:xfrm>
              <a:off x="2304128" y="4189067"/>
              <a:ext cx="5800959" cy="375186"/>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62" name="61 Grupo"/>
          <p:cNvGrpSpPr/>
          <p:nvPr/>
        </p:nvGrpSpPr>
        <p:grpSpPr>
          <a:xfrm>
            <a:off x="5317384" y="4382095"/>
            <a:ext cx="1126824" cy="461665"/>
            <a:chOff x="4680469" y="5266351"/>
            <a:chExt cx="1126824" cy="461665"/>
          </a:xfrm>
        </p:grpSpPr>
        <p:cxnSp>
          <p:nvCxnSpPr>
            <p:cNvPr id="63" name="62 Conector recto de flecha"/>
            <p:cNvCxnSpPr/>
            <p:nvPr/>
          </p:nvCxnSpPr>
          <p:spPr bwMode="auto">
            <a:xfrm>
              <a:off x="4680469" y="5502773"/>
              <a:ext cx="611611"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64" name="63 CuadroTexto"/>
            <p:cNvSpPr txBox="1"/>
            <p:nvPr/>
          </p:nvSpPr>
          <p:spPr>
            <a:xfrm>
              <a:off x="5302025" y="5266351"/>
              <a:ext cx="505268" cy="461665"/>
            </a:xfrm>
            <a:prstGeom prst="rect">
              <a:avLst/>
            </a:prstGeom>
            <a:noFill/>
          </p:spPr>
          <p:txBody>
            <a:bodyPr wrap="none" rtlCol="0">
              <a:spAutoFit/>
            </a:bodyPr>
            <a:lstStyle/>
            <a:p>
              <a:pPr algn="ctr"/>
              <a:r>
                <a:rPr lang="es-ES" sz="2400" b="1" dirty="0">
                  <a:solidFill>
                    <a:srgbClr val="FF0000"/>
                  </a:solidFill>
                  <a:latin typeface="Script MT Bold" pitchFamily="66" charset="0"/>
                </a:rPr>
                <a:t>40</a:t>
              </a:r>
              <a:endParaRPr lang="es-ES" sz="2400" b="1" dirty="0">
                <a:latin typeface="Script MT Bold" pitchFamily="66" charset="0"/>
              </a:endParaRPr>
            </a:p>
          </p:txBody>
        </p:sp>
      </p:grpSp>
      <p:sp>
        <p:nvSpPr>
          <p:cNvPr id="66" name="65 Rectángulo"/>
          <p:cNvSpPr/>
          <p:nvPr/>
        </p:nvSpPr>
        <p:spPr>
          <a:xfrm>
            <a:off x="3694654" y="2744397"/>
            <a:ext cx="661322" cy="338554"/>
          </a:xfrm>
          <a:prstGeom prst="rect">
            <a:avLst/>
          </a:prstGeom>
        </p:spPr>
        <p:txBody>
          <a:bodyPr wrap="square">
            <a:spAutoFit/>
          </a:bodyPr>
          <a:lstStyle/>
          <a:p>
            <a:pPr algn="ctr"/>
            <a:r>
              <a:rPr lang="es-ES" sz="1600" b="1" dirty="0"/>
              <a:t>5 ,  8</a:t>
            </a:r>
          </a:p>
        </p:txBody>
      </p:sp>
      <p:sp>
        <p:nvSpPr>
          <p:cNvPr id="68" name="67 Rectángulo"/>
          <p:cNvSpPr/>
          <p:nvPr/>
        </p:nvSpPr>
        <p:spPr>
          <a:xfrm>
            <a:off x="4716016" y="3756285"/>
            <a:ext cx="1512168" cy="584775"/>
          </a:xfrm>
          <a:prstGeom prst="rect">
            <a:avLst/>
          </a:prstGeom>
        </p:spPr>
        <p:txBody>
          <a:bodyPr wrap="square">
            <a:spAutoFit/>
          </a:bodyPr>
          <a:lstStyle/>
          <a:p>
            <a:r>
              <a:rPr lang="en-US" sz="1600" dirty="0" err="1">
                <a:solidFill>
                  <a:schemeClr val="accent4">
                    <a:lumMod val="50000"/>
                    <a:lumOff val="50000"/>
                  </a:schemeClr>
                </a:solidFill>
              </a:rPr>
              <a:t>int</a:t>
            </a:r>
            <a:r>
              <a:rPr lang="en-US" sz="1600" dirty="0"/>
              <a:t> </a:t>
            </a:r>
            <a:r>
              <a:rPr lang="en-US" sz="1600" b="1" dirty="0"/>
              <a:t>n1, </a:t>
            </a:r>
            <a:r>
              <a:rPr lang="en-US" sz="1600" dirty="0" err="1">
                <a:solidFill>
                  <a:schemeClr val="accent4">
                    <a:lumMod val="50000"/>
                    <a:lumOff val="50000"/>
                  </a:schemeClr>
                </a:solidFill>
              </a:rPr>
              <a:t>int</a:t>
            </a:r>
            <a:r>
              <a:rPr lang="en-US" sz="1600" dirty="0"/>
              <a:t> </a:t>
            </a:r>
            <a:r>
              <a:rPr lang="en-US" sz="1600" b="1" dirty="0"/>
              <a:t>n2 </a:t>
            </a:r>
            <a:endParaRPr lang="es-ES" sz="1600" dirty="0"/>
          </a:p>
          <a:p>
            <a:r>
              <a:rPr lang="en-US" sz="1600" b="1" dirty="0"/>
              <a:t> </a:t>
            </a:r>
            <a:endParaRPr lang="es-ES" sz="1600" dirty="0"/>
          </a:p>
        </p:txBody>
      </p:sp>
      <p:sp>
        <p:nvSpPr>
          <p:cNvPr id="70" name="69 Rectángulo"/>
          <p:cNvSpPr/>
          <p:nvPr/>
        </p:nvSpPr>
        <p:spPr>
          <a:xfrm>
            <a:off x="2156276" y="4438062"/>
            <a:ext cx="2974524" cy="338554"/>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b="1" dirty="0"/>
              <a:t>n1 * n2</a:t>
            </a:r>
            <a:r>
              <a:rPr lang="es-ES" sz="1600" dirty="0">
                <a:solidFill>
                  <a:srgbClr val="009900"/>
                </a:solidFill>
              </a:rPr>
              <a:t>  </a:t>
            </a:r>
            <a:r>
              <a:rPr lang="es-ES" sz="1600" dirty="0">
                <a:solidFill>
                  <a:srgbClr val="FF0000"/>
                </a:solidFill>
              </a:rPr>
              <a:t>)</a:t>
            </a:r>
            <a:r>
              <a:rPr lang="es-ES" sz="1600" dirty="0"/>
              <a:t>;</a:t>
            </a:r>
          </a:p>
        </p:txBody>
      </p:sp>
      <p:cxnSp>
        <p:nvCxnSpPr>
          <p:cNvPr id="36" name="35 Conector recto de flecha"/>
          <p:cNvCxnSpPr/>
          <p:nvPr/>
        </p:nvCxnSpPr>
        <p:spPr bwMode="auto">
          <a:xfrm>
            <a:off x="3911600" y="3009900"/>
            <a:ext cx="1219200" cy="82550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38" name="37 Conector recto de flecha"/>
          <p:cNvCxnSpPr/>
          <p:nvPr/>
        </p:nvCxnSpPr>
        <p:spPr bwMode="auto">
          <a:xfrm>
            <a:off x="4254500" y="3009900"/>
            <a:ext cx="1498600" cy="81280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1342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anim calcmode="lin" valueType="num">
                                      <p:cBhvr>
                                        <p:cTn id="11" dur="500" fill="hold"/>
                                        <p:tgtEl>
                                          <p:spTgt spid="66"/>
                                        </p:tgtEl>
                                        <p:attrNameLst>
                                          <p:attrName>ppt_w</p:attrName>
                                        </p:attrNameLst>
                                      </p:cBhvr>
                                      <p:tavLst>
                                        <p:tav tm="0">
                                          <p:val>
                                            <p:fltVal val="0"/>
                                          </p:val>
                                        </p:tav>
                                        <p:tav tm="100000">
                                          <p:val>
                                            <p:strVal val="#ppt_w"/>
                                          </p:val>
                                        </p:tav>
                                      </p:tavLst>
                                    </p:anim>
                                    <p:anim calcmode="lin" valueType="num">
                                      <p:cBhvr>
                                        <p:cTn id="12" dur="500" fill="hold"/>
                                        <p:tgtEl>
                                          <p:spTgt spid="66"/>
                                        </p:tgtEl>
                                        <p:attrNameLst>
                                          <p:attrName>ppt_h</p:attrName>
                                        </p:attrNameLst>
                                      </p:cBhvr>
                                      <p:tavLst>
                                        <p:tav tm="0">
                                          <p:val>
                                            <p:fltVal val="0"/>
                                          </p:val>
                                        </p:tav>
                                        <p:tav tm="100000">
                                          <p:val>
                                            <p:strVal val="#ppt_h"/>
                                          </p:val>
                                        </p:tav>
                                      </p:tavLst>
                                    </p:anim>
                                    <p:animEffect transition="in" filter="fade">
                                      <p:cBhvr>
                                        <p:cTn id="13" dur="500"/>
                                        <p:tgtEl>
                                          <p:spTgt spid="6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up)">
                                      <p:cBhvr>
                                        <p:cTn id="18" dur="500"/>
                                        <p:tgtEl>
                                          <p:spTgt spid="36"/>
                                        </p:tgtEl>
                                      </p:cBhvr>
                                    </p:animEffect>
                                  </p:childTnLst>
                                </p:cTn>
                              </p:par>
                              <p:par>
                                <p:cTn id="19" presetID="22" presetClass="entr" presetSubtype="1"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500"/>
                                        <p:tgtEl>
                                          <p:spTgt spid="3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wipe(left)">
                                      <p:cBhvr>
                                        <p:cTn id="34"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66" grpId="0"/>
      <p:bldP spid="68" grpId="0"/>
      <p:bldP spid="7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1420" y="92075"/>
            <a:ext cx="7392988" cy="528613"/>
          </a:xfrm>
        </p:spPr>
        <p:txBody>
          <a:bodyPr/>
          <a:lstStyle/>
          <a:p>
            <a:r>
              <a:rPr lang="es-ES" dirty="0"/>
              <a:t>Métodos que devuelven un valor</a:t>
            </a:r>
            <a:endParaRPr lang="es-ES" dirty="0">
              <a:solidFill>
                <a:schemeClr val="accent4">
                  <a:lumMod val="90000"/>
                  <a:lumOff val="10000"/>
                </a:schemeClr>
              </a:solidFill>
            </a:endParaRPr>
          </a:p>
        </p:txBody>
      </p:sp>
      <p:grpSp>
        <p:nvGrpSpPr>
          <p:cNvPr id="34" name="33 Grupo"/>
          <p:cNvGrpSpPr/>
          <p:nvPr/>
        </p:nvGrpSpPr>
        <p:grpSpPr>
          <a:xfrm>
            <a:off x="971600" y="1555768"/>
            <a:ext cx="7488832" cy="4240210"/>
            <a:chOff x="971600" y="1928918"/>
            <a:chExt cx="7488832" cy="2619553"/>
          </a:xfrm>
        </p:grpSpPr>
        <p:sp>
          <p:nvSpPr>
            <p:cNvPr id="39" name="38 Rectángulo"/>
            <p:cNvSpPr/>
            <p:nvPr/>
          </p:nvSpPr>
          <p:spPr bwMode="auto">
            <a:xfrm>
              <a:off x="971600" y="1928918"/>
              <a:ext cx="7488832" cy="2619553"/>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1" name="40 Rectángulo"/>
            <p:cNvSpPr/>
            <p:nvPr/>
          </p:nvSpPr>
          <p:spPr>
            <a:xfrm>
              <a:off x="1043608" y="1943541"/>
              <a:ext cx="7292286" cy="2604930"/>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err="1"/>
                <a:t>MiPrograma</a:t>
              </a:r>
              <a:endParaRPr lang="es-ES" sz="1600" b="1" dirty="0"/>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r>
                <a:rPr lang="es-ES" sz="1600" dirty="0"/>
                <a:t>}</a:t>
              </a:r>
            </a:p>
          </p:txBody>
        </p:sp>
      </p:grpSp>
      <p:sp>
        <p:nvSpPr>
          <p:cNvPr id="42" name="41 Rectángulo"/>
          <p:cNvSpPr/>
          <p:nvPr/>
        </p:nvSpPr>
        <p:spPr>
          <a:xfrm>
            <a:off x="1043608" y="2462719"/>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43" name="42 Grupo"/>
          <p:cNvGrpSpPr/>
          <p:nvPr/>
        </p:nvGrpSpPr>
        <p:grpSpPr>
          <a:xfrm>
            <a:off x="1798186" y="2204864"/>
            <a:ext cx="6197383" cy="1630536"/>
            <a:chOff x="2147033" y="2796529"/>
            <a:chExt cx="6197383" cy="1630536"/>
          </a:xfrm>
        </p:grpSpPr>
        <p:sp>
          <p:nvSpPr>
            <p:cNvPr id="44" name="43 Rectángulo"/>
            <p:cNvSpPr/>
            <p:nvPr/>
          </p:nvSpPr>
          <p:spPr bwMode="auto">
            <a:xfrm>
              <a:off x="2147033" y="2827535"/>
              <a:ext cx="6188862" cy="1599530"/>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5" name="44 Rectángulo"/>
            <p:cNvSpPr/>
            <p:nvPr/>
          </p:nvSpPr>
          <p:spPr>
            <a:xfrm>
              <a:off x="2204258" y="2796529"/>
              <a:ext cx="6140158" cy="1569660"/>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endParaRPr lang="es-ES" sz="2400" dirty="0"/>
            </a:p>
            <a:p>
              <a:endParaRPr lang="es-ES" sz="2400" dirty="0"/>
            </a:p>
            <a:p>
              <a:r>
                <a:rPr lang="es-ES" sz="2400" dirty="0"/>
                <a:t>  </a:t>
              </a:r>
              <a:r>
                <a:rPr lang="es-ES" sz="1600" dirty="0"/>
                <a:t>   </a:t>
              </a:r>
            </a:p>
            <a:p>
              <a:pPr>
                <a:spcAft>
                  <a:spcPts val="600"/>
                </a:spcAft>
              </a:pPr>
              <a:r>
                <a:rPr lang="es-ES" sz="1600" dirty="0"/>
                <a:t>}</a:t>
              </a:r>
            </a:p>
          </p:txBody>
        </p:sp>
      </p:grpSp>
      <p:sp>
        <p:nvSpPr>
          <p:cNvPr id="46" name="45 Rectángulo"/>
          <p:cNvSpPr/>
          <p:nvPr/>
        </p:nvSpPr>
        <p:spPr bwMode="auto">
          <a:xfrm>
            <a:off x="2161144" y="2761010"/>
            <a:ext cx="5181658" cy="75327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7" name="46 Rectángulo"/>
          <p:cNvSpPr/>
          <p:nvPr/>
        </p:nvSpPr>
        <p:spPr>
          <a:xfrm>
            <a:off x="3783253" y="3051089"/>
            <a:ext cx="328658" cy="461665"/>
          </a:xfrm>
          <a:prstGeom prst="rect">
            <a:avLst/>
          </a:prstGeom>
        </p:spPr>
        <p:txBody>
          <a:bodyPr wrap="square">
            <a:spAutoFit/>
          </a:bodyPr>
          <a:lstStyle/>
          <a:p>
            <a:pPr>
              <a:lnSpc>
                <a:spcPct val="150000"/>
              </a:lnSpc>
            </a:pPr>
            <a:r>
              <a:rPr lang="es-ES" sz="1600" dirty="0">
                <a:solidFill>
                  <a:schemeClr val="tx2"/>
                </a:solidFill>
              </a:rPr>
              <a:t>2</a:t>
            </a:r>
            <a:endParaRPr lang="es-ES" sz="1600" dirty="0"/>
          </a:p>
        </p:txBody>
      </p:sp>
      <p:grpSp>
        <p:nvGrpSpPr>
          <p:cNvPr id="48" name="47 Grupo"/>
          <p:cNvGrpSpPr/>
          <p:nvPr/>
        </p:nvGrpSpPr>
        <p:grpSpPr>
          <a:xfrm>
            <a:off x="1798186" y="4178404"/>
            <a:ext cx="6197383" cy="1338828"/>
            <a:chOff x="1979712" y="3758033"/>
            <a:chExt cx="6197383" cy="946982"/>
          </a:xfrm>
        </p:grpSpPr>
        <p:grpSp>
          <p:nvGrpSpPr>
            <p:cNvPr id="49" name="48 Grupo"/>
            <p:cNvGrpSpPr/>
            <p:nvPr/>
          </p:nvGrpSpPr>
          <p:grpSpPr>
            <a:xfrm>
              <a:off x="1979712" y="3758033"/>
              <a:ext cx="6197383" cy="946982"/>
              <a:chOff x="2147033" y="2796529"/>
              <a:chExt cx="6197383" cy="946982"/>
            </a:xfrm>
          </p:grpSpPr>
          <p:sp>
            <p:nvSpPr>
              <p:cNvPr id="53" name="52 Rectángulo"/>
              <p:cNvSpPr/>
              <p:nvPr/>
            </p:nvSpPr>
            <p:spPr bwMode="auto">
              <a:xfrm>
                <a:off x="2147033" y="2827536"/>
                <a:ext cx="6188862" cy="915975"/>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53 Rectángulo"/>
              <p:cNvSpPr/>
              <p:nvPr/>
            </p:nvSpPr>
            <p:spPr>
              <a:xfrm>
                <a:off x="2204258" y="2796529"/>
                <a:ext cx="6140158" cy="946982"/>
              </a:xfrm>
              <a:prstGeom prst="rect">
                <a:avLst/>
              </a:prstGeom>
            </p:spPr>
            <p:txBody>
              <a:bodyPr wrap="square">
                <a:spAutoFit/>
              </a:bodyPr>
              <a:lstStyle/>
              <a:p>
                <a:r>
                  <a:rPr lang="en-US" sz="1600" dirty="0">
                    <a:solidFill>
                      <a:srgbClr val="0070C0"/>
                    </a:solidFill>
                  </a:rPr>
                  <a:t>public  </a:t>
                </a:r>
                <a:r>
                  <a:rPr lang="en-US" sz="1600">
                    <a:solidFill>
                      <a:srgbClr val="0070C0"/>
                    </a:solidFill>
                  </a:rPr>
                  <a:t>static  </a:t>
                </a:r>
                <a:r>
                  <a:rPr lang="en-US" sz="1600" b="1">
                    <a:solidFill>
                      <a:srgbClr val="0070C0"/>
                    </a:solidFill>
                  </a:rPr>
                  <a:t>float</a:t>
                </a:r>
                <a:r>
                  <a:rPr lang="en-US" sz="1600">
                    <a:solidFill>
                      <a:srgbClr val="0070C0"/>
                    </a:solidFill>
                  </a:rPr>
                  <a:t>  </a:t>
                </a:r>
                <a:r>
                  <a:rPr lang="en-US" sz="1600" b="1" dirty="0">
                    <a:solidFill>
                      <a:srgbClr val="FF0000"/>
                    </a:solidFill>
                  </a:rPr>
                  <a:t>pi</a:t>
                </a:r>
                <a:r>
                  <a:rPr lang="en-US" sz="1600" dirty="0">
                    <a:solidFill>
                      <a:srgbClr val="FF0000"/>
                    </a:solidFill>
                  </a:rPr>
                  <a:t>( )</a:t>
                </a:r>
              </a:p>
              <a:p>
                <a:r>
                  <a:rPr lang="es-ES" sz="1600" dirty="0"/>
                  <a:t>{</a:t>
                </a:r>
              </a:p>
              <a:p>
                <a:r>
                  <a:rPr lang="es-ES" sz="1400" dirty="0"/>
                  <a:t>     </a:t>
                </a:r>
              </a:p>
              <a:p>
                <a:pPr>
                  <a:spcAft>
                    <a:spcPts val="600"/>
                  </a:spcAft>
                </a:pPr>
                <a:endParaRPr lang="es-ES" sz="1400" dirty="0"/>
              </a:p>
              <a:p>
                <a:pPr>
                  <a:spcAft>
                    <a:spcPts val="600"/>
                  </a:spcAft>
                </a:pPr>
                <a:r>
                  <a:rPr lang="es-ES" sz="1600" dirty="0"/>
                  <a:t>}</a:t>
                </a:r>
              </a:p>
            </p:txBody>
          </p:sp>
        </p:grpSp>
        <p:sp>
          <p:nvSpPr>
            <p:cNvPr id="51" name="50 Rectángulo"/>
            <p:cNvSpPr/>
            <p:nvPr/>
          </p:nvSpPr>
          <p:spPr bwMode="auto">
            <a:xfrm>
              <a:off x="2304128" y="4156100"/>
              <a:ext cx="5800959" cy="285752"/>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cxnSp>
        <p:nvCxnSpPr>
          <p:cNvPr id="4" name="3 Conector recto de flecha"/>
          <p:cNvCxnSpPr/>
          <p:nvPr/>
        </p:nvCxnSpPr>
        <p:spPr bwMode="auto">
          <a:xfrm flipH="1">
            <a:off x="3849526" y="3455108"/>
            <a:ext cx="1278808" cy="722129"/>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6" name="5 Conector angular"/>
          <p:cNvCxnSpPr/>
          <p:nvPr/>
        </p:nvCxnSpPr>
        <p:spPr bwMode="auto">
          <a:xfrm flipV="1">
            <a:off x="3518596" y="3476812"/>
            <a:ext cx="1804592" cy="1480274"/>
          </a:xfrm>
          <a:prstGeom prst="bentConnector3">
            <a:avLst>
              <a:gd name="adj1" fmla="val 99967"/>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8" name="7 Rectángulo"/>
          <p:cNvSpPr/>
          <p:nvPr/>
        </p:nvSpPr>
        <p:spPr>
          <a:xfrm>
            <a:off x="5101456" y="3129254"/>
            <a:ext cx="596638" cy="338554"/>
          </a:xfrm>
          <a:prstGeom prst="rect">
            <a:avLst/>
          </a:prstGeom>
        </p:spPr>
        <p:txBody>
          <a:bodyPr wrap="none">
            <a:spAutoFit/>
          </a:bodyPr>
          <a:lstStyle/>
          <a:p>
            <a:r>
              <a:rPr lang="es-ES" sz="1600" dirty="0">
                <a:solidFill>
                  <a:srgbClr val="FF0000"/>
                </a:solidFill>
              </a:rPr>
              <a:t>pi( ) </a:t>
            </a:r>
            <a:endParaRPr lang="es-ES" sz="1600" dirty="0"/>
          </a:p>
        </p:txBody>
      </p:sp>
      <p:sp>
        <p:nvSpPr>
          <p:cNvPr id="30" name="29 Rectángulo"/>
          <p:cNvSpPr/>
          <p:nvPr/>
        </p:nvSpPr>
        <p:spPr>
          <a:xfrm>
            <a:off x="4909633" y="3128546"/>
            <a:ext cx="981587" cy="338554"/>
          </a:xfrm>
          <a:prstGeom prst="rect">
            <a:avLst/>
          </a:prstGeom>
        </p:spPr>
        <p:txBody>
          <a:bodyPr wrap="square">
            <a:spAutoFit/>
          </a:bodyPr>
          <a:lstStyle/>
          <a:p>
            <a:pPr algn="ctr"/>
            <a:r>
              <a:rPr lang="es-ES" sz="1600" dirty="0">
                <a:solidFill>
                  <a:srgbClr val="00B050"/>
                </a:solidFill>
              </a:rPr>
              <a:t>3.14F</a:t>
            </a:r>
            <a:endParaRPr lang="es-ES" sz="1600" dirty="0"/>
          </a:p>
        </p:txBody>
      </p:sp>
      <p:sp>
        <p:nvSpPr>
          <p:cNvPr id="10" name="9 Rectángulo"/>
          <p:cNvSpPr/>
          <p:nvPr/>
        </p:nvSpPr>
        <p:spPr>
          <a:xfrm>
            <a:off x="4174954" y="3115846"/>
            <a:ext cx="639919" cy="338554"/>
          </a:xfrm>
          <a:prstGeom prst="rect">
            <a:avLst/>
          </a:prstGeom>
        </p:spPr>
        <p:txBody>
          <a:bodyPr wrap="none">
            <a:spAutoFit/>
          </a:bodyPr>
          <a:lstStyle/>
          <a:p>
            <a:r>
              <a:rPr lang="es-ES" sz="1600" dirty="0"/>
              <a:t>radio</a:t>
            </a:r>
          </a:p>
        </p:txBody>
      </p:sp>
      <p:grpSp>
        <p:nvGrpSpPr>
          <p:cNvPr id="35" name="34 Grupo"/>
          <p:cNvGrpSpPr/>
          <p:nvPr/>
        </p:nvGrpSpPr>
        <p:grpSpPr>
          <a:xfrm>
            <a:off x="3518596" y="2970302"/>
            <a:ext cx="1188912" cy="505901"/>
            <a:chOff x="3518596" y="2970302"/>
            <a:chExt cx="1188912" cy="505901"/>
          </a:xfrm>
        </p:grpSpPr>
        <p:cxnSp>
          <p:nvCxnSpPr>
            <p:cNvPr id="17" name="16 Conector angular"/>
            <p:cNvCxnSpPr/>
            <p:nvPr/>
          </p:nvCxnSpPr>
          <p:spPr bwMode="auto">
            <a:xfrm>
              <a:off x="3518596" y="2970302"/>
              <a:ext cx="1016633" cy="208766"/>
            </a:xfrm>
            <a:prstGeom prst="bentConnector3">
              <a:avLst>
                <a:gd name="adj1" fmla="val 99969"/>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55" name="54 Rectángulo"/>
            <p:cNvSpPr/>
            <p:nvPr/>
          </p:nvSpPr>
          <p:spPr>
            <a:xfrm>
              <a:off x="4372145" y="3137649"/>
              <a:ext cx="335363" cy="338554"/>
            </a:xfrm>
            <a:prstGeom prst="rect">
              <a:avLst/>
            </a:prstGeom>
          </p:spPr>
          <p:txBody>
            <a:bodyPr wrap="square">
              <a:spAutoFit/>
            </a:bodyPr>
            <a:lstStyle/>
            <a:p>
              <a:pPr algn="ctr"/>
              <a:r>
                <a:rPr lang="es-ES" sz="1600" dirty="0">
                  <a:solidFill>
                    <a:srgbClr val="00B050"/>
                  </a:solidFill>
                </a:rPr>
                <a:t>5</a:t>
              </a:r>
              <a:endParaRPr lang="es-ES" sz="1600" dirty="0"/>
            </a:p>
          </p:txBody>
        </p:sp>
      </p:grpSp>
      <p:sp>
        <p:nvSpPr>
          <p:cNvPr id="56" name="55 Rectángulo"/>
          <p:cNvSpPr/>
          <p:nvPr/>
        </p:nvSpPr>
        <p:spPr>
          <a:xfrm>
            <a:off x="2249154" y="2729806"/>
            <a:ext cx="1350564" cy="461665"/>
          </a:xfrm>
          <a:prstGeom prst="rect">
            <a:avLst/>
          </a:prstGeom>
        </p:spPr>
        <p:txBody>
          <a:bodyPr wrap="square">
            <a:spAutoFit/>
          </a:bodyPr>
          <a:lstStyle/>
          <a:p>
            <a:pPr>
              <a:lnSpc>
                <a:spcPct val="150000"/>
              </a:lnSpc>
            </a:pPr>
            <a:r>
              <a:rPr lang="es-ES" sz="1600" dirty="0" err="1">
                <a:solidFill>
                  <a:schemeClr val="accent4">
                    <a:lumMod val="50000"/>
                    <a:lumOff val="50000"/>
                  </a:schemeClr>
                </a:solidFill>
              </a:rPr>
              <a:t>int</a:t>
            </a:r>
            <a:r>
              <a:rPr lang="es-ES" sz="1600" dirty="0">
                <a:solidFill>
                  <a:schemeClr val="accent4">
                    <a:lumMod val="50000"/>
                    <a:lumOff val="50000"/>
                  </a:schemeClr>
                </a:solidFill>
              </a:rPr>
              <a:t> </a:t>
            </a:r>
            <a:r>
              <a:rPr lang="es-ES" sz="1600" dirty="0"/>
              <a:t>radio = </a:t>
            </a:r>
            <a:r>
              <a:rPr lang="es-ES" sz="1600" dirty="0">
                <a:solidFill>
                  <a:schemeClr val="tx2"/>
                </a:solidFill>
              </a:rPr>
              <a:t>5</a:t>
            </a:r>
            <a:r>
              <a:rPr lang="es-ES" sz="1600" dirty="0"/>
              <a:t>;</a:t>
            </a:r>
          </a:p>
        </p:txBody>
      </p:sp>
      <p:sp>
        <p:nvSpPr>
          <p:cNvPr id="57" name="56 Rectángulo"/>
          <p:cNvSpPr/>
          <p:nvPr/>
        </p:nvSpPr>
        <p:spPr>
          <a:xfrm>
            <a:off x="2242344" y="3055355"/>
            <a:ext cx="1711396" cy="461665"/>
          </a:xfrm>
          <a:prstGeom prst="rect">
            <a:avLst/>
          </a:prstGeom>
        </p:spPr>
        <p:txBody>
          <a:bodyPr wrap="square">
            <a:spAutoFit/>
          </a:bodyPr>
          <a:lstStyle/>
          <a:p>
            <a:pPr>
              <a:lnSpc>
                <a:spcPct val="150000"/>
              </a:lnSpc>
            </a:pPr>
            <a:r>
              <a:rPr lang="es-ES" sz="1600" dirty="0" err="1">
                <a:solidFill>
                  <a:schemeClr val="accent4">
                    <a:lumMod val="50000"/>
                    <a:lumOff val="50000"/>
                  </a:schemeClr>
                </a:solidFill>
              </a:rPr>
              <a:t>float</a:t>
            </a:r>
            <a:r>
              <a:rPr lang="es-ES" sz="1600" dirty="0">
                <a:solidFill>
                  <a:schemeClr val="accent4">
                    <a:lumMod val="50000"/>
                    <a:lumOff val="50000"/>
                  </a:schemeClr>
                </a:solidFill>
              </a:rPr>
              <a:t> </a:t>
            </a:r>
            <a:r>
              <a:rPr lang="es-ES" sz="1600" dirty="0" err="1"/>
              <a:t>perimetro</a:t>
            </a:r>
            <a:r>
              <a:rPr lang="es-ES" sz="1600" dirty="0">
                <a:solidFill>
                  <a:schemeClr val="accent4">
                    <a:lumMod val="50000"/>
                    <a:lumOff val="50000"/>
                  </a:schemeClr>
                </a:solidFill>
              </a:rPr>
              <a:t> </a:t>
            </a:r>
            <a:r>
              <a:rPr lang="es-ES" sz="1600" dirty="0"/>
              <a:t>=</a:t>
            </a:r>
          </a:p>
        </p:txBody>
      </p:sp>
      <p:sp>
        <p:nvSpPr>
          <p:cNvPr id="58" name="57 Rectángulo"/>
          <p:cNvSpPr/>
          <p:nvPr/>
        </p:nvSpPr>
        <p:spPr>
          <a:xfrm>
            <a:off x="4814873" y="3079061"/>
            <a:ext cx="261183" cy="461665"/>
          </a:xfrm>
          <a:prstGeom prst="rect">
            <a:avLst/>
          </a:prstGeom>
        </p:spPr>
        <p:txBody>
          <a:bodyPr wrap="square">
            <a:spAutoFit/>
          </a:bodyPr>
          <a:lstStyle/>
          <a:p>
            <a:pPr>
              <a:lnSpc>
                <a:spcPct val="150000"/>
              </a:lnSpc>
            </a:pPr>
            <a:r>
              <a:rPr lang="es-ES" sz="1600" dirty="0"/>
              <a:t>*</a:t>
            </a:r>
          </a:p>
        </p:txBody>
      </p:sp>
      <p:sp>
        <p:nvSpPr>
          <p:cNvPr id="59" name="58 Rectángulo"/>
          <p:cNvSpPr/>
          <p:nvPr/>
        </p:nvSpPr>
        <p:spPr>
          <a:xfrm>
            <a:off x="5614020" y="3039343"/>
            <a:ext cx="261183" cy="461665"/>
          </a:xfrm>
          <a:prstGeom prst="rect">
            <a:avLst/>
          </a:prstGeom>
        </p:spPr>
        <p:txBody>
          <a:bodyPr wrap="square">
            <a:spAutoFit/>
          </a:bodyPr>
          <a:lstStyle/>
          <a:p>
            <a:pPr>
              <a:lnSpc>
                <a:spcPct val="150000"/>
              </a:lnSpc>
            </a:pPr>
            <a:r>
              <a:rPr lang="es-ES" sz="1600" dirty="0"/>
              <a:t>;</a:t>
            </a:r>
          </a:p>
        </p:txBody>
      </p:sp>
      <p:sp>
        <p:nvSpPr>
          <p:cNvPr id="60" name="59 Rectángulo"/>
          <p:cNvSpPr/>
          <p:nvPr/>
        </p:nvSpPr>
        <p:spPr>
          <a:xfrm>
            <a:off x="3995936" y="3079061"/>
            <a:ext cx="261183" cy="461665"/>
          </a:xfrm>
          <a:prstGeom prst="rect">
            <a:avLst/>
          </a:prstGeom>
        </p:spPr>
        <p:txBody>
          <a:bodyPr wrap="square">
            <a:spAutoFit/>
          </a:bodyPr>
          <a:lstStyle/>
          <a:p>
            <a:pPr>
              <a:lnSpc>
                <a:spcPct val="150000"/>
              </a:lnSpc>
            </a:pPr>
            <a:r>
              <a:rPr lang="es-ES" sz="1600" dirty="0"/>
              <a:t>*</a:t>
            </a:r>
          </a:p>
        </p:txBody>
      </p:sp>
      <p:sp>
        <p:nvSpPr>
          <p:cNvPr id="61" name="60 Rectángulo"/>
          <p:cNvSpPr/>
          <p:nvPr/>
        </p:nvSpPr>
        <p:spPr>
          <a:xfrm>
            <a:off x="2156276" y="4766584"/>
            <a:ext cx="1626977" cy="338555"/>
          </a:xfrm>
          <a:prstGeom prst="rect">
            <a:avLst/>
          </a:prstGeom>
        </p:spPr>
        <p:txBody>
          <a:bodyPr wrap="square">
            <a:spAutoFit/>
          </a:bodyPr>
          <a:lstStyle/>
          <a:p>
            <a:r>
              <a:rPr lang="es-ES" sz="1600" dirty="0" err="1">
                <a:solidFill>
                  <a:srgbClr val="080808"/>
                </a:solidFill>
              </a:rPr>
              <a:t>return</a:t>
            </a:r>
            <a:r>
              <a:rPr lang="es-ES" sz="1600" dirty="0">
                <a:solidFill>
                  <a:srgbClr val="080808"/>
                </a:solidFill>
              </a:rPr>
              <a:t> </a:t>
            </a:r>
            <a:r>
              <a:rPr lang="es-ES" sz="1500" dirty="0">
                <a:solidFill>
                  <a:srgbClr val="00B050"/>
                </a:solidFill>
              </a:rPr>
              <a:t>3.14F</a:t>
            </a:r>
            <a:r>
              <a:rPr lang="es-ES" sz="1600" dirty="0">
                <a:solidFill>
                  <a:srgbClr val="080808"/>
                </a:solidFill>
              </a:rPr>
              <a:t>;</a:t>
            </a:r>
            <a:endParaRPr lang="es-ES" sz="1600" dirty="0"/>
          </a:p>
        </p:txBody>
      </p:sp>
      <p:grpSp>
        <p:nvGrpSpPr>
          <p:cNvPr id="31" name="30 Grupo"/>
          <p:cNvGrpSpPr/>
          <p:nvPr/>
        </p:nvGrpSpPr>
        <p:grpSpPr>
          <a:xfrm>
            <a:off x="2393779" y="3476812"/>
            <a:ext cx="1837940" cy="723836"/>
            <a:chOff x="3013205" y="3262367"/>
            <a:chExt cx="1837940" cy="723836"/>
          </a:xfrm>
        </p:grpSpPr>
        <p:sp>
          <p:nvSpPr>
            <p:cNvPr id="32" name="31 CuadroTexto"/>
            <p:cNvSpPr txBox="1"/>
            <p:nvPr/>
          </p:nvSpPr>
          <p:spPr>
            <a:xfrm>
              <a:off x="3013205" y="3262367"/>
              <a:ext cx="1837940" cy="461665"/>
            </a:xfrm>
            <a:prstGeom prst="rect">
              <a:avLst/>
            </a:prstGeom>
            <a:noFill/>
          </p:spPr>
          <p:txBody>
            <a:bodyPr wrap="none" rtlCol="0">
              <a:spAutoFit/>
            </a:bodyPr>
            <a:lstStyle/>
            <a:p>
              <a:pPr algn="ctr"/>
              <a:r>
                <a:rPr lang="es-ES" sz="2400" b="1" dirty="0">
                  <a:solidFill>
                    <a:srgbClr val="009900"/>
                  </a:solidFill>
                  <a:latin typeface="Script MT Bold" pitchFamily="66" charset="0"/>
                </a:rPr>
                <a:t>Tipo devuelto</a:t>
              </a:r>
            </a:p>
          </p:txBody>
        </p:sp>
        <p:sp>
          <p:nvSpPr>
            <p:cNvPr id="33" name="32 Flecha arriba"/>
            <p:cNvSpPr/>
            <p:nvPr/>
          </p:nvSpPr>
          <p:spPr bwMode="auto">
            <a:xfrm flipV="1">
              <a:off x="3779067" y="3651260"/>
              <a:ext cx="288032" cy="334943"/>
            </a:xfrm>
            <a:prstGeom prst="up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1466018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p:cTn id="7" dur="500" fill="hold"/>
                                        <p:tgtEl>
                                          <p:spTgt spid="56"/>
                                        </p:tgtEl>
                                        <p:attrNameLst>
                                          <p:attrName>ppt_w</p:attrName>
                                        </p:attrNameLst>
                                      </p:cBhvr>
                                      <p:tavLst>
                                        <p:tav tm="0">
                                          <p:val>
                                            <p:fltVal val="0"/>
                                          </p:val>
                                        </p:tav>
                                        <p:tav tm="100000">
                                          <p:val>
                                            <p:strVal val="#ppt_w"/>
                                          </p:val>
                                        </p:tav>
                                      </p:tavLst>
                                    </p:anim>
                                    <p:anim calcmode="lin" valueType="num">
                                      <p:cBhvr>
                                        <p:cTn id="8" dur="500" fill="hold"/>
                                        <p:tgtEl>
                                          <p:spTgt spid="56"/>
                                        </p:tgtEl>
                                        <p:attrNameLst>
                                          <p:attrName>ppt_h</p:attrName>
                                        </p:attrNameLst>
                                      </p:cBhvr>
                                      <p:tavLst>
                                        <p:tav tm="0">
                                          <p:val>
                                            <p:fltVal val="0"/>
                                          </p:val>
                                        </p:tav>
                                        <p:tav tm="100000">
                                          <p:val>
                                            <p:strVal val="#ppt_h"/>
                                          </p:val>
                                        </p:tav>
                                      </p:tavLst>
                                    </p:anim>
                                    <p:animEffect transition="in" filter="fade">
                                      <p:cBhvr>
                                        <p:cTn id="9" dur="500"/>
                                        <p:tgtEl>
                                          <p:spTgt spid="5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7"/>
                                        </p:tgtEl>
                                        <p:attrNameLst>
                                          <p:attrName>style.visibility</p:attrName>
                                        </p:attrNameLst>
                                      </p:cBhvr>
                                      <p:to>
                                        <p:strVal val="visible"/>
                                      </p:to>
                                    </p:set>
                                    <p:anim calcmode="lin" valueType="num">
                                      <p:cBhvr>
                                        <p:cTn id="14" dur="500" fill="hold"/>
                                        <p:tgtEl>
                                          <p:spTgt spid="57"/>
                                        </p:tgtEl>
                                        <p:attrNameLst>
                                          <p:attrName>ppt_w</p:attrName>
                                        </p:attrNameLst>
                                      </p:cBhvr>
                                      <p:tavLst>
                                        <p:tav tm="0">
                                          <p:val>
                                            <p:fltVal val="0"/>
                                          </p:val>
                                        </p:tav>
                                        <p:tav tm="100000">
                                          <p:val>
                                            <p:strVal val="#ppt_w"/>
                                          </p:val>
                                        </p:tav>
                                      </p:tavLst>
                                    </p:anim>
                                    <p:anim calcmode="lin" valueType="num">
                                      <p:cBhvr>
                                        <p:cTn id="15" dur="500" fill="hold"/>
                                        <p:tgtEl>
                                          <p:spTgt spid="57"/>
                                        </p:tgtEl>
                                        <p:attrNameLst>
                                          <p:attrName>ppt_h</p:attrName>
                                        </p:attrNameLst>
                                      </p:cBhvr>
                                      <p:tavLst>
                                        <p:tav tm="0">
                                          <p:val>
                                            <p:fltVal val="0"/>
                                          </p:val>
                                        </p:tav>
                                        <p:tav tm="100000">
                                          <p:val>
                                            <p:strVal val="#ppt_h"/>
                                          </p:val>
                                        </p:tav>
                                      </p:tavLst>
                                    </p:anim>
                                    <p:animEffect transition="in" filter="fade">
                                      <p:cBhvr>
                                        <p:cTn id="16" dur="500"/>
                                        <p:tgtEl>
                                          <p:spTgt spid="5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10"/>
                                        </p:tgtEl>
                                        <p:attrNameLst>
                                          <p:attrName>style.visibility</p:attrName>
                                        </p:attrNameLst>
                                      </p:cBhvr>
                                      <p:to>
                                        <p:strVal val="hidden"/>
                                      </p:to>
                                    </p:set>
                                  </p:childTnLst>
                                </p:cTn>
                              </p:par>
                              <p:par>
                                <p:cTn id="43" presetID="22" presetClass="entr" presetSubtype="1"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wipe(up)">
                                      <p:cBhvr>
                                        <p:cTn id="45" dur="500"/>
                                        <p:tgtEl>
                                          <p:spTgt spid="3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up)">
                                      <p:cBhvr>
                                        <p:cTn id="54" dur="500"/>
                                        <p:tgtEl>
                                          <p:spTgt spid="4"/>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down)">
                                      <p:cBhvr>
                                        <p:cTn id="63" dur="500"/>
                                        <p:tgtEl>
                                          <p:spTgt spid="6"/>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1" nodeType="clickEffect">
                                  <p:stCondLst>
                                    <p:cond delay="0"/>
                                  </p:stCondLst>
                                  <p:childTnLst>
                                    <p:set>
                                      <p:cBhvr>
                                        <p:cTn id="67" dur="1" fill="hold">
                                          <p:stCondLst>
                                            <p:cond delay="0"/>
                                          </p:stCondLst>
                                        </p:cTn>
                                        <p:tgtEl>
                                          <p:spTgt spid="8"/>
                                        </p:tgtEl>
                                        <p:attrNameLst>
                                          <p:attrName>style.visibility</p:attrName>
                                        </p:attrNameLst>
                                      </p:cBhvr>
                                      <p:to>
                                        <p:strVal val="hidden"/>
                                      </p:to>
                                    </p:set>
                                  </p:childTnLst>
                                </p:cTn>
                              </p:par>
                              <p:par>
                                <p:cTn id="68" presetID="1"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down)">
                                      <p:cBhvr>
                                        <p:cTn id="7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8" grpId="0"/>
      <p:bldP spid="8" grpId="1"/>
      <p:bldP spid="30" grpId="0"/>
      <p:bldP spid="10" grpId="0"/>
      <p:bldP spid="10" grpId="1"/>
      <p:bldP spid="56" grpId="0"/>
      <p:bldP spid="57" grpId="0"/>
      <p:bldP spid="58" grpId="0"/>
      <p:bldP spid="59" grpId="0"/>
      <p:bldP spid="60" grpId="0"/>
      <p:bldP spid="6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1420" y="92075"/>
            <a:ext cx="7392988" cy="528613"/>
          </a:xfrm>
        </p:spPr>
        <p:txBody>
          <a:bodyPr/>
          <a:lstStyle/>
          <a:p>
            <a:r>
              <a:rPr lang="es-ES" dirty="0"/>
              <a:t>Parámetros y devolución de valores</a:t>
            </a:r>
            <a:endParaRPr lang="es-ES" dirty="0">
              <a:solidFill>
                <a:schemeClr val="accent4">
                  <a:lumMod val="90000"/>
                  <a:lumOff val="10000"/>
                </a:schemeClr>
              </a:solidFill>
            </a:endParaRPr>
          </a:p>
        </p:txBody>
      </p:sp>
      <p:grpSp>
        <p:nvGrpSpPr>
          <p:cNvPr id="34" name="33 Grupo"/>
          <p:cNvGrpSpPr/>
          <p:nvPr/>
        </p:nvGrpSpPr>
        <p:grpSpPr>
          <a:xfrm>
            <a:off x="971600" y="1555768"/>
            <a:ext cx="7488832" cy="4681544"/>
            <a:chOff x="971600" y="1928918"/>
            <a:chExt cx="7488832" cy="2419905"/>
          </a:xfrm>
        </p:grpSpPr>
        <p:sp>
          <p:nvSpPr>
            <p:cNvPr id="39" name="38 Rectángulo"/>
            <p:cNvSpPr/>
            <p:nvPr/>
          </p:nvSpPr>
          <p:spPr bwMode="auto">
            <a:xfrm>
              <a:off x="971600" y="1928918"/>
              <a:ext cx="7488832" cy="2419905"/>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1" name="40 Rectángulo"/>
            <p:cNvSpPr/>
            <p:nvPr/>
          </p:nvSpPr>
          <p:spPr>
            <a:xfrm>
              <a:off x="1043608" y="1943541"/>
              <a:ext cx="7292286" cy="2405282"/>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a:t>Rectángulo</a:t>
              </a:r>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r>
                <a:rPr lang="es-ES" sz="1600" dirty="0"/>
                <a:t>}</a:t>
              </a:r>
            </a:p>
          </p:txBody>
        </p:sp>
      </p:grpSp>
      <p:sp>
        <p:nvSpPr>
          <p:cNvPr id="42" name="41 Rectángulo"/>
          <p:cNvSpPr/>
          <p:nvPr/>
        </p:nvSpPr>
        <p:spPr>
          <a:xfrm>
            <a:off x="1043608" y="2462719"/>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43" name="42 Grupo"/>
          <p:cNvGrpSpPr/>
          <p:nvPr/>
        </p:nvGrpSpPr>
        <p:grpSpPr>
          <a:xfrm>
            <a:off x="1798186" y="2204864"/>
            <a:ext cx="6197383" cy="1617836"/>
            <a:chOff x="2147033" y="2796529"/>
            <a:chExt cx="6197383" cy="1617836"/>
          </a:xfrm>
        </p:grpSpPr>
        <p:sp>
          <p:nvSpPr>
            <p:cNvPr id="44" name="43 Rectángulo"/>
            <p:cNvSpPr/>
            <p:nvPr/>
          </p:nvSpPr>
          <p:spPr bwMode="auto">
            <a:xfrm>
              <a:off x="2147033" y="2827535"/>
              <a:ext cx="6188862" cy="1586830"/>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5" name="44 Rectángulo"/>
            <p:cNvSpPr/>
            <p:nvPr/>
          </p:nvSpPr>
          <p:spPr>
            <a:xfrm>
              <a:off x="2204258" y="2796529"/>
              <a:ext cx="6140158" cy="1523494"/>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endParaRPr lang="es-ES" sz="2400" dirty="0"/>
            </a:p>
            <a:p>
              <a:r>
                <a:rPr lang="es-ES" sz="2400" dirty="0"/>
                <a:t>  </a:t>
              </a:r>
              <a:r>
                <a:rPr lang="es-ES" sz="1600" dirty="0"/>
                <a:t>   </a:t>
              </a:r>
            </a:p>
            <a:p>
              <a:pPr>
                <a:spcAft>
                  <a:spcPts val="600"/>
                </a:spcAft>
              </a:pPr>
              <a:endParaRPr lang="es-ES" sz="1600" dirty="0"/>
            </a:p>
            <a:p>
              <a:pPr>
                <a:spcAft>
                  <a:spcPts val="600"/>
                </a:spcAft>
              </a:pPr>
              <a:r>
                <a:rPr lang="es-ES" sz="1600" dirty="0"/>
                <a:t>}</a:t>
              </a:r>
            </a:p>
          </p:txBody>
        </p:sp>
      </p:grpSp>
      <p:sp>
        <p:nvSpPr>
          <p:cNvPr id="46" name="45 Rectángulo"/>
          <p:cNvSpPr/>
          <p:nvPr/>
        </p:nvSpPr>
        <p:spPr bwMode="auto">
          <a:xfrm>
            <a:off x="2161144" y="2761010"/>
            <a:ext cx="5181658" cy="65528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48" name="47 Grupo"/>
          <p:cNvGrpSpPr/>
          <p:nvPr/>
        </p:nvGrpSpPr>
        <p:grpSpPr>
          <a:xfrm>
            <a:off x="1798186" y="4001596"/>
            <a:ext cx="6197383" cy="1659652"/>
            <a:chOff x="1979712" y="3758034"/>
            <a:chExt cx="6197383" cy="1173908"/>
          </a:xfrm>
        </p:grpSpPr>
        <p:grpSp>
          <p:nvGrpSpPr>
            <p:cNvPr id="49" name="48 Grupo"/>
            <p:cNvGrpSpPr/>
            <p:nvPr/>
          </p:nvGrpSpPr>
          <p:grpSpPr>
            <a:xfrm>
              <a:off x="1979712" y="3758034"/>
              <a:ext cx="6197383" cy="1173908"/>
              <a:chOff x="2147033" y="2796530"/>
              <a:chExt cx="6197383" cy="1173908"/>
            </a:xfrm>
          </p:grpSpPr>
          <p:sp>
            <p:nvSpPr>
              <p:cNvPr id="53" name="52 Rectángulo"/>
              <p:cNvSpPr/>
              <p:nvPr/>
            </p:nvSpPr>
            <p:spPr bwMode="auto">
              <a:xfrm>
                <a:off x="2147033" y="2827536"/>
                <a:ext cx="6188862" cy="1142902"/>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53 Rectángulo"/>
              <p:cNvSpPr/>
              <p:nvPr/>
            </p:nvSpPr>
            <p:spPr>
              <a:xfrm>
                <a:off x="2204258" y="2796530"/>
                <a:ext cx="6140158" cy="1153794"/>
              </a:xfrm>
              <a:prstGeom prst="rect">
                <a:avLst/>
              </a:prstGeom>
            </p:spPr>
            <p:txBody>
              <a:bodyPr wrap="square">
                <a:spAutoFit/>
              </a:bodyPr>
              <a:lstStyle/>
              <a:p>
                <a:r>
                  <a:rPr lang="en-US" sz="1600" dirty="0">
                    <a:solidFill>
                      <a:srgbClr val="0070C0"/>
                    </a:solidFill>
                  </a:rPr>
                  <a:t>public  static  </a:t>
                </a:r>
                <a:r>
                  <a:rPr lang="en-US" sz="1600" dirty="0" err="1">
                    <a:solidFill>
                      <a:srgbClr val="0070C0"/>
                    </a:solidFill>
                  </a:rPr>
                  <a:t>int</a:t>
                </a:r>
                <a:r>
                  <a:rPr lang="en-US" sz="1600" dirty="0">
                    <a:solidFill>
                      <a:srgbClr val="0070C0"/>
                    </a:solidFill>
                  </a:rPr>
                  <a:t>           </a:t>
                </a:r>
                <a:r>
                  <a:rPr lang="es-ES" sz="1600" dirty="0">
                    <a:solidFill>
                      <a:srgbClr val="FF0000"/>
                    </a:solidFill>
                  </a:rPr>
                  <a:t>área</a:t>
                </a:r>
                <a:r>
                  <a:rPr lang="en-US" sz="1600" dirty="0"/>
                  <a:t>(                                )</a:t>
                </a:r>
              </a:p>
              <a:p>
                <a:r>
                  <a:rPr lang="es-ES" sz="1600" dirty="0"/>
                  <a:t>{</a:t>
                </a:r>
              </a:p>
              <a:p>
                <a:r>
                  <a:rPr lang="es-ES" sz="1400" dirty="0"/>
                  <a:t>     </a:t>
                </a:r>
              </a:p>
              <a:p>
                <a:pPr>
                  <a:spcAft>
                    <a:spcPts val="600"/>
                  </a:spcAft>
                </a:pPr>
                <a:endParaRPr lang="es-ES" sz="1400" dirty="0"/>
              </a:p>
              <a:p>
                <a:pPr>
                  <a:spcAft>
                    <a:spcPts val="600"/>
                  </a:spcAft>
                </a:pPr>
                <a:endParaRPr lang="es-ES" sz="1400" dirty="0"/>
              </a:p>
              <a:p>
                <a:pPr>
                  <a:spcAft>
                    <a:spcPts val="600"/>
                  </a:spcAft>
                </a:pPr>
                <a:r>
                  <a:rPr lang="es-ES" sz="1600" dirty="0"/>
                  <a:t>}</a:t>
                </a:r>
              </a:p>
            </p:txBody>
          </p:sp>
        </p:grpSp>
        <p:sp>
          <p:nvSpPr>
            <p:cNvPr id="51" name="50 Rectángulo"/>
            <p:cNvSpPr/>
            <p:nvPr/>
          </p:nvSpPr>
          <p:spPr bwMode="auto">
            <a:xfrm>
              <a:off x="2304128" y="4156100"/>
              <a:ext cx="5800959" cy="524318"/>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3" name="2 Grupo"/>
          <p:cNvGrpSpPr/>
          <p:nvPr/>
        </p:nvGrpSpPr>
        <p:grpSpPr>
          <a:xfrm>
            <a:off x="2267744" y="2731696"/>
            <a:ext cx="2792847" cy="351255"/>
            <a:chOff x="2267744" y="2731696"/>
            <a:chExt cx="2792847" cy="351255"/>
          </a:xfrm>
        </p:grpSpPr>
        <p:sp>
          <p:nvSpPr>
            <p:cNvPr id="47" name="46 Rectángulo"/>
            <p:cNvSpPr/>
            <p:nvPr/>
          </p:nvSpPr>
          <p:spPr>
            <a:xfrm>
              <a:off x="2267744" y="2731696"/>
              <a:ext cx="2792847" cy="338554"/>
            </a:xfrm>
            <a:prstGeom prst="rect">
              <a:avLst/>
            </a:prstGeom>
          </p:spPr>
          <p:txBody>
            <a:bodyPr wrap="square">
              <a:spAutoFit/>
            </a:bodyPr>
            <a:lstStyle/>
            <a:p>
              <a:r>
                <a:rPr lang="es-ES" sz="1600" dirty="0" err="1">
                  <a:solidFill>
                    <a:srgbClr val="00B0F0"/>
                  </a:solidFill>
                </a:rPr>
                <a:t>int</a:t>
              </a:r>
              <a:r>
                <a:rPr lang="es-ES" sz="1600" dirty="0">
                  <a:solidFill>
                    <a:srgbClr val="FF0000"/>
                  </a:solidFill>
                </a:rPr>
                <a:t> </a:t>
              </a:r>
              <a:r>
                <a:rPr lang="es-ES" sz="1600" b="1" dirty="0"/>
                <a:t>a</a:t>
              </a:r>
              <a:r>
                <a:rPr lang="es-ES" sz="1600" dirty="0">
                  <a:solidFill>
                    <a:srgbClr val="FF0000"/>
                  </a:solidFill>
                </a:rPr>
                <a:t> = 	 área (            )</a:t>
              </a:r>
              <a:r>
                <a:rPr lang="es-ES" sz="1600" dirty="0"/>
                <a:t>;</a:t>
              </a:r>
            </a:p>
          </p:txBody>
        </p:sp>
        <p:sp>
          <p:nvSpPr>
            <p:cNvPr id="66" name="65 Rectángulo"/>
            <p:cNvSpPr/>
            <p:nvPr/>
          </p:nvSpPr>
          <p:spPr>
            <a:xfrm>
              <a:off x="3936078" y="2744397"/>
              <a:ext cx="661322" cy="338554"/>
            </a:xfrm>
            <a:prstGeom prst="rect">
              <a:avLst/>
            </a:prstGeom>
          </p:spPr>
          <p:txBody>
            <a:bodyPr wrap="square">
              <a:spAutoFit/>
            </a:bodyPr>
            <a:lstStyle/>
            <a:p>
              <a:pPr algn="ctr"/>
              <a:r>
                <a:rPr lang="es-ES" sz="1600" b="1" dirty="0"/>
                <a:t>5 ,  8</a:t>
              </a:r>
            </a:p>
          </p:txBody>
        </p:sp>
      </p:grpSp>
      <p:sp>
        <p:nvSpPr>
          <p:cNvPr id="68" name="67 Rectángulo"/>
          <p:cNvSpPr/>
          <p:nvPr/>
        </p:nvSpPr>
        <p:spPr>
          <a:xfrm>
            <a:off x="4521177" y="4007332"/>
            <a:ext cx="1851023" cy="338554"/>
          </a:xfrm>
          <a:prstGeom prst="rect">
            <a:avLst/>
          </a:prstGeom>
        </p:spPr>
        <p:txBody>
          <a:bodyPr wrap="square">
            <a:spAutoFit/>
          </a:bodyPr>
          <a:lstStyle/>
          <a:p>
            <a:r>
              <a:rPr lang="en-US" sz="1600" dirty="0" err="1">
                <a:solidFill>
                  <a:schemeClr val="accent4">
                    <a:lumMod val="50000"/>
                    <a:lumOff val="50000"/>
                  </a:schemeClr>
                </a:solidFill>
              </a:rPr>
              <a:t>int</a:t>
            </a:r>
            <a:r>
              <a:rPr lang="en-US" sz="1600" dirty="0"/>
              <a:t> </a:t>
            </a:r>
            <a:r>
              <a:rPr lang="en-US" sz="1600" b="1" dirty="0" err="1"/>
              <a:t>ancho</a:t>
            </a:r>
            <a:r>
              <a:rPr lang="en-US" sz="1600" b="1" dirty="0"/>
              <a:t>, </a:t>
            </a:r>
            <a:r>
              <a:rPr lang="en-US" sz="1600" dirty="0" err="1">
                <a:solidFill>
                  <a:schemeClr val="accent4">
                    <a:lumMod val="50000"/>
                    <a:lumOff val="50000"/>
                  </a:schemeClr>
                </a:solidFill>
              </a:rPr>
              <a:t>int</a:t>
            </a:r>
            <a:r>
              <a:rPr lang="en-US" sz="1600" dirty="0"/>
              <a:t> </a:t>
            </a:r>
            <a:r>
              <a:rPr lang="en-US" sz="1600" b="1" dirty="0"/>
              <a:t>alto </a:t>
            </a:r>
            <a:endParaRPr lang="es-ES" sz="1600" dirty="0"/>
          </a:p>
        </p:txBody>
      </p:sp>
      <p:sp>
        <p:nvSpPr>
          <p:cNvPr id="70" name="69 Rectángulo"/>
          <p:cNvSpPr/>
          <p:nvPr/>
        </p:nvSpPr>
        <p:spPr>
          <a:xfrm>
            <a:off x="2156276" y="4605699"/>
            <a:ext cx="5440060" cy="338554"/>
          </a:xfrm>
          <a:prstGeom prst="rect">
            <a:avLst/>
          </a:prstGeom>
        </p:spPr>
        <p:txBody>
          <a:bodyPr wrap="square">
            <a:spAutoFit/>
          </a:bodyPr>
          <a:lstStyle/>
          <a:p>
            <a:r>
              <a:rPr lang="es-ES" sz="1600" dirty="0" err="1">
                <a:solidFill>
                  <a:schemeClr val="accent1">
                    <a:lumMod val="60000"/>
                    <a:lumOff val="40000"/>
                  </a:schemeClr>
                </a:solidFill>
              </a:rPr>
              <a:t>int</a:t>
            </a:r>
            <a:r>
              <a:rPr lang="es-ES" sz="1600" dirty="0">
                <a:solidFill>
                  <a:srgbClr val="080808"/>
                </a:solidFill>
              </a:rPr>
              <a:t> </a:t>
            </a:r>
            <a:r>
              <a:rPr lang="es-ES" sz="1600" b="1" dirty="0" err="1">
                <a:solidFill>
                  <a:srgbClr val="080808"/>
                </a:solidFill>
              </a:rPr>
              <a:t>ar</a:t>
            </a:r>
            <a:r>
              <a:rPr lang="es-ES" sz="1600" dirty="0">
                <a:solidFill>
                  <a:srgbClr val="080808"/>
                </a:solidFill>
              </a:rPr>
              <a:t> = </a:t>
            </a:r>
            <a:r>
              <a:rPr lang="es-ES" sz="1600" b="1" dirty="0">
                <a:solidFill>
                  <a:srgbClr val="080808"/>
                </a:solidFill>
              </a:rPr>
              <a:t>ancho</a:t>
            </a:r>
            <a:r>
              <a:rPr lang="es-ES" sz="1600" dirty="0">
                <a:solidFill>
                  <a:srgbClr val="080808"/>
                </a:solidFill>
              </a:rPr>
              <a:t> * </a:t>
            </a:r>
            <a:r>
              <a:rPr lang="es-ES" sz="1600" b="1" dirty="0">
                <a:solidFill>
                  <a:srgbClr val="080808"/>
                </a:solidFill>
              </a:rPr>
              <a:t>alto</a:t>
            </a:r>
            <a:r>
              <a:rPr lang="es-ES" sz="1600" dirty="0">
                <a:solidFill>
                  <a:srgbClr val="080808"/>
                </a:solidFill>
              </a:rPr>
              <a:t>;</a:t>
            </a:r>
          </a:p>
        </p:txBody>
      </p:sp>
      <p:sp>
        <p:nvSpPr>
          <p:cNvPr id="29" name="28 Rectángulo"/>
          <p:cNvSpPr/>
          <p:nvPr/>
        </p:nvSpPr>
        <p:spPr>
          <a:xfrm>
            <a:off x="2153444" y="4872399"/>
            <a:ext cx="5440060" cy="338554"/>
          </a:xfrm>
          <a:prstGeom prst="rect">
            <a:avLst/>
          </a:prstGeom>
        </p:spPr>
        <p:txBody>
          <a:bodyPr wrap="square">
            <a:spAutoFit/>
          </a:bodyPr>
          <a:lstStyle/>
          <a:p>
            <a:r>
              <a:rPr lang="es-ES" sz="1600" dirty="0" err="1">
                <a:solidFill>
                  <a:schemeClr val="accent1">
                    <a:lumMod val="60000"/>
                    <a:lumOff val="40000"/>
                  </a:schemeClr>
                </a:solidFill>
              </a:rPr>
              <a:t>return</a:t>
            </a:r>
            <a:r>
              <a:rPr lang="es-ES" sz="1600" dirty="0">
                <a:solidFill>
                  <a:srgbClr val="080808"/>
                </a:solidFill>
              </a:rPr>
              <a:t> </a:t>
            </a:r>
            <a:r>
              <a:rPr lang="es-ES" sz="1600" b="1" dirty="0" err="1">
                <a:solidFill>
                  <a:srgbClr val="080808"/>
                </a:solidFill>
              </a:rPr>
              <a:t>ar</a:t>
            </a:r>
            <a:r>
              <a:rPr lang="es-ES" sz="1600" b="1" dirty="0">
                <a:solidFill>
                  <a:srgbClr val="080808"/>
                </a:solidFill>
              </a:rPr>
              <a:t>;</a:t>
            </a:r>
            <a:endParaRPr lang="es-ES" sz="1600" dirty="0">
              <a:solidFill>
                <a:srgbClr val="080808"/>
              </a:solidFill>
            </a:endParaRPr>
          </a:p>
        </p:txBody>
      </p:sp>
      <p:sp>
        <p:nvSpPr>
          <p:cNvPr id="37" name="36 Rectángulo"/>
          <p:cNvSpPr/>
          <p:nvPr/>
        </p:nvSpPr>
        <p:spPr>
          <a:xfrm>
            <a:off x="2275601" y="3016584"/>
            <a:ext cx="5393359" cy="338554"/>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b="1" dirty="0"/>
              <a:t>a</a:t>
            </a:r>
            <a:r>
              <a:rPr lang="es-ES" sz="1600" dirty="0">
                <a:solidFill>
                  <a:srgbClr val="009900"/>
                </a:solidFill>
              </a:rPr>
              <a:t> </a:t>
            </a:r>
            <a:r>
              <a:rPr lang="es-ES" sz="1600" dirty="0">
                <a:solidFill>
                  <a:srgbClr val="FF0000"/>
                </a:solidFill>
              </a:rPr>
              <a:t>)</a:t>
            </a:r>
            <a:r>
              <a:rPr lang="es-ES" sz="1600" dirty="0"/>
              <a:t>;</a:t>
            </a:r>
          </a:p>
        </p:txBody>
      </p:sp>
    </p:spTree>
    <p:extLst>
      <p:ext uri="{BB962C8B-B14F-4D97-AF65-F5344CB8AC3E}">
        <p14:creationId xmlns:p14="http://schemas.microsoft.com/office/powerpoint/2010/main" val="1290475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29" grpId="0"/>
      <p:bldP spid="3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1420" y="92075"/>
            <a:ext cx="7392988" cy="528613"/>
          </a:xfrm>
        </p:spPr>
        <p:txBody>
          <a:bodyPr/>
          <a:lstStyle/>
          <a:p>
            <a:r>
              <a:rPr lang="es-ES" dirty="0"/>
              <a:t>Variables como argumentos</a:t>
            </a:r>
            <a:endParaRPr lang="es-ES" dirty="0">
              <a:solidFill>
                <a:schemeClr val="accent4">
                  <a:lumMod val="90000"/>
                  <a:lumOff val="10000"/>
                </a:schemeClr>
              </a:solidFill>
            </a:endParaRPr>
          </a:p>
        </p:txBody>
      </p:sp>
      <p:grpSp>
        <p:nvGrpSpPr>
          <p:cNvPr id="34" name="33 Grupo"/>
          <p:cNvGrpSpPr/>
          <p:nvPr/>
        </p:nvGrpSpPr>
        <p:grpSpPr>
          <a:xfrm>
            <a:off x="971600" y="1555768"/>
            <a:ext cx="7488832" cy="4609536"/>
            <a:chOff x="971600" y="1928918"/>
            <a:chExt cx="7488832" cy="2419905"/>
          </a:xfrm>
        </p:grpSpPr>
        <p:sp>
          <p:nvSpPr>
            <p:cNvPr id="39" name="38 Rectángulo"/>
            <p:cNvSpPr/>
            <p:nvPr/>
          </p:nvSpPr>
          <p:spPr bwMode="auto">
            <a:xfrm>
              <a:off x="971600" y="1928918"/>
              <a:ext cx="7488832" cy="2419905"/>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1" name="40 Rectángulo"/>
            <p:cNvSpPr/>
            <p:nvPr/>
          </p:nvSpPr>
          <p:spPr>
            <a:xfrm>
              <a:off x="1043608" y="1943541"/>
              <a:ext cx="7292286" cy="2213590"/>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err="1"/>
                <a:t>MiPrograma</a:t>
              </a:r>
              <a:endParaRPr lang="es-ES" sz="1600" b="1" dirty="0"/>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r>
                <a:rPr lang="es-ES" sz="1600" dirty="0"/>
                <a:t>}</a:t>
              </a:r>
            </a:p>
          </p:txBody>
        </p:sp>
      </p:grpSp>
      <p:sp>
        <p:nvSpPr>
          <p:cNvPr id="42" name="41 Rectángulo"/>
          <p:cNvSpPr/>
          <p:nvPr/>
        </p:nvSpPr>
        <p:spPr>
          <a:xfrm>
            <a:off x="1043608" y="2462719"/>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43" name="42 Grupo"/>
          <p:cNvGrpSpPr/>
          <p:nvPr/>
        </p:nvGrpSpPr>
        <p:grpSpPr>
          <a:xfrm>
            <a:off x="1798186" y="2204864"/>
            <a:ext cx="6197383" cy="1655672"/>
            <a:chOff x="2147033" y="2796529"/>
            <a:chExt cx="6197383" cy="1655672"/>
          </a:xfrm>
        </p:grpSpPr>
        <p:sp>
          <p:nvSpPr>
            <p:cNvPr id="44" name="43 Rectángulo"/>
            <p:cNvSpPr/>
            <p:nvPr/>
          </p:nvSpPr>
          <p:spPr bwMode="auto">
            <a:xfrm>
              <a:off x="2147033" y="2827535"/>
              <a:ext cx="6188862" cy="1624666"/>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5" name="44 Rectángulo"/>
            <p:cNvSpPr/>
            <p:nvPr/>
          </p:nvSpPr>
          <p:spPr>
            <a:xfrm>
              <a:off x="2204258" y="2796529"/>
              <a:ext cx="6140158" cy="1569660"/>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endParaRPr lang="es-ES" sz="2400" dirty="0"/>
            </a:p>
            <a:p>
              <a:r>
                <a:rPr lang="es-ES" sz="2400" dirty="0"/>
                <a:t> </a:t>
              </a:r>
            </a:p>
            <a:p>
              <a:r>
                <a:rPr lang="es-ES" sz="2400" dirty="0"/>
                <a:t> </a:t>
              </a:r>
              <a:r>
                <a:rPr lang="es-ES" sz="1600" dirty="0"/>
                <a:t>   </a:t>
              </a:r>
            </a:p>
            <a:p>
              <a:pPr>
                <a:spcAft>
                  <a:spcPts val="600"/>
                </a:spcAft>
              </a:pPr>
              <a:r>
                <a:rPr lang="es-ES" sz="1600" dirty="0"/>
                <a:t>}</a:t>
              </a:r>
            </a:p>
          </p:txBody>
        </p:sp>
      </p:grpSp>
      <p:sp>
        <p:nvSpPr>
          <p:cNvPr id="46" name="45 Rectángulo"/>
          <p:cNvSpPr/>
          <p:nvPr/>
        </p:nvSpPr>
        <p:spPr bwMode="auto">
          <a:xfrm>
            <a:off x="2161144" y="2799111"/>
            <a:ext cx="5181658" cy="64259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7" name="46 Rectángulo"/>
          <p:cNvSpPr/>
          <p:nvPr/>
        </p:nvSpPr>
        <p:spPr>
          <a:xfrm>
            <a:off x="2230233" y="3068960"/>
            <a:ext cx="2792847" cy="338554"/>
          </a:xfrm>
          <a:prstGeom prst="rect">
            <a:avLst/>
          </a:prstGeom>
        </p:spPr>
        <p:txBody>
          <a:bodyPr wrap="square">
            <a:spAutoFit/>
          </a:bodyPr>
          <a:lstStyle/>
          <a:p>
            <a:r>
              <a:rPr lang="es-ES" sz="1600" dirty="0">
                <a:solidFill>
                  <a:srgbClr val="FF0000"/>
                </a:solidFill>
              </a:rPr>
              <a:t>saluda(                )</a:t>
            </a:r>
            <a:r>
              <a:rPr lang="es-ES" sz="1600" dirty="0"/>
              <a:t>;</a:t>
            </a:r>
          </a:p>
        </p:txBody>
      </p:sp>
      <p:grpSp>
        <p:nvGrpSpPr>
          <p:cNvPr id="48" name="47 Grupo"/>
          <p:cNvGrpSpPr/>
          <p:nvPr/>
        </p:nvGrpSpPr>
        <p:grpSpPr>
          <a:xfrm>
            <a:off x="1798186" y="4059788"/>
            <a:ext cx="6197383" cy="1338828"/>
            <a:chOff x="1979712" y="3758033"/>
            <a:chExt cx="6197383" cy="946982"/>
          </a:xfrm>
        </p:grpSpPr>
        <p:grpSp>
          <p:nvGrpSpPr>
            <p:cNvPr id="49" name="48 Grupo"/>
            <p:cNvGrpSpPr/>
            <p:nvPr/>
          </p:nvGrpSpPr>
          <p:grpSpPr>
            <a:xfrm>
              <a:off x="1979712" y="3758033"/>
              <a:ext cx="6197383" cy="946982"/>
              <a:chOff x="2147033" y="2796529"/>
              <a:chExt cx="6197383" cy="946982"/>
            </a:xfrm>
          </p:grpSpPr>
          <p:sp>
            <p:nvSpPr>
              <p:cNvPr id="53" name="52 Rectángulo"/>
              <p:cNvSpPr/>
              <p:nvPr/>
            </p:nvSpPr>
            <p:spPr bwMode="auto">
              <a:xfrm>
                <a:off x="2147033" y="2827536"/>
                <a:ext cx="6188862" cy="915975"/>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53 Rectángulo"/>
              <p:cNvSpPr/>
              <p:nvPr/>
            </p:nvSpPr>
            <p:spPr>
              <a:xfrm>
                <a:off x="2204258" y="2796529"/>
                <a:ext cx="6140158" cy="946982"/>
              </a:xfrm>
              <a:prstGeom prst="rect">
                <a:avLst/>
              </a:prstGeom>
            </p:spPr>
            <p:txBody>
              <a:bodyPr wrap="square">
                <a:spAutoFit/>
              </a:bodyPr>
              <a:lstStyle/>
              <a:p>
                <a:r>
                  <a:rPr lang="en-US" sz="1600" dirty="0">
                    <a:solidFill>
                      <a:srgbClr val="0070C0"/>
                    </a:solidFill>
                  </a:rPr>
                  <a:t>public  static  void  </a:t>
                </a:r>
                <a:r>
                  <a:rPr lang="en-US" sz="1600" b="1" dirty="0" err="1">
                    <a:solidFill>
                      <a:srgbClr val="FF3300"/>
                    </a:solidFill>
                  </a:rPr>
                  <a:t>saluda</a:t>
                </a:r>
                <a:r>
                  <a:rPr lang="en-US" sz="1600" b="1" dirty="0">
                    <a:solidFill>
                      <a:srgbClr val="FF3300"/>
                    </a:solidFill>
                  </a:rPr>
                  <a:t> </a:t>
                </a:r>
                <a:r>
                  <a:rPr lang="en-US" sz="1600" dirty="0"/>
                  <a:t>(                          )</a:t>
                </a:r>
              </a:p>
              <a:p>
                <a:r>
                  <a:rPr lang="es-ES" sz="1600" dirty="0"/>
                  <a:t>{</a:t>
                </a:r>
              </a:p>
              <a:p>
                <a:r>
                  <a:rPr lang="es-ES" sz="1400" dirty="0"/>
                  <a:t>     </a:t>
                </a:r>
              </a:p>
              <a:p>
                <a:pPr>
                  <a:spcAft>
                    <a:spcPts val="600"/>
                  </a:spcAft>
                </a:pPr>
                <a:endParaRPr lang="es-ES" sz="1400" dirty="0"/>
              </a:p>
              <a:p>
                <a:pPr>
                  <a:spcAft>
                    <a:spcPts val="600"/>
                  </a:spcAft>
                </a:pPr>
                <a:r>
                  <a:rPr lang="es-ES" sz="1600" dirty="0"/>
                  <a:t>}</a:t>
                </a:r>
              </a:p>
            </p:txBody>
          </p:sp>
        </p:grpSp>
        <p:sp>
          <p:nvSpPr>
            <p:cNvPr id="51" name="50 Rectángulo"/>
            <p:cNvSpPr/>
            <p:nvPr/>
          </p:nvSpPr>
          <p:spPr bwMode="auto">
            <a:xfrm>
              <a:off x="2304128" y="4156100"/>
              <a:ext cx="5800959" cy="285752"/>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cxnSp>
        <p:nvCxnSpPr>
          <p:cNvPr id="9" name="8 Conector angular"/>
          <p:cNvCxnSpPr/>
          <p:nvPr/>
        </p:nvCxnSpPr>
        <p:spPr bwMode="auto">
          <a:xfrm>
            <a:off x="4067944" y="3238376"/>
            <a:ext cx="1728192" cy="893412"/>
          </a:xfrm>
          <a:prstGeom prst="bentConnector3">
            <a:avLst>
              <a:gd name="adj1" fmla="val 9997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nvGrpSpPr>
          <p:cNvPr id="62" name="61 Grupo"/>
          <p:cNvGrpSpPr/>
          <p:nvPr/>
        </p:nvGrpSpPr>
        <p:grpSpPr>
          <a:xfrm>
            <a:off x="5868144" y="4586412"/>
            <a:ext cx="2267875" cy="461665"/>
            <a:chOff x="4680469" y="5266351"/>
            <a:chExt cx="2267875" cy="461665"/>
          </a:xfrm>
        </p:grpSpPr>
        <p:cxnSp>
          <p:nvCxnSpPr>
            <p:cNvPr id="63" name="62 Conector recto de flecha"/>
            <p:cNvCxnSpPr/>
            <p:nvPr/>
          </p:nvCxnSpPr>
          <p:spPr bwMode="auto">
            <a:xfrm>
              <a:off x="4680469" y="5502773"/>
              <a:ext cx="611611"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64" name="63 CuadroTexto"/>
            <p:cNvSpPr txBox="1"/>
            <p:nvPr/>
          </p:nvSpPr>
          <p:spPr>
            <a:xfrm>
              <a:off x="5278783" y="5266351"/>
              <a:ext cx="1669561" cy="461665"/>
            </a:xfrm>
            <a:prstGeom prst="rect">
              <a:avLst/>
            </a:prstGeom>
            <a:noFill/>
          </p:spPr>
          <p:txBody>
            <a:bodyPr wrap="none" rtlCol="0">
              <a:spAutoFit/>
            </a:bodyPr>
            <a:lstStyle/>
            <a:p>
              <a:pPr algn="ctr"/>
              <a:r>
                <a:rPr lang="es-ES" sz="2400" b="1" dirty="0">
                  <a:solidFill>
                    <a:srgbClr val="FF0000"/>
                  </a:solidFill>
                  <a:latin typeface="Script MT Bold" pitchFamily="66" charset="0"/>
                </a:rPr>
                <a:t>Hola Sergio</a:t>
              </a:r>
              <a:endParaRPr lang="es-ES" sz="2400" b="1" dirty="0">
                <a:latin typeface="Script MT Bold" pitchFamily="66" charset="0"/>
              </a:endParaRPr>
            </a:p>
          </p:txBody>
        </p:sp>
      </p:grpSp>
      <p:sp>
        <p:nvSpPr>
          <p:cNvPr id="66" name="65 Rectángulo"/>
          <p:cNvSpPr/>
          <p:nvPr/>
        </p:nvSpPr>
        <p:spPr>
          <a:xfrm>
            <a:off x="2899621" y="3052346"/>
            <a:ext cx="1027162" cy="338554"/>
          </a:xfrm>
          <a:prstGeom prst="rect">
            <a:avLst/>
          </a:prstGeom>
        </p:spPr>
        <p:txBody>
          <a:bodyPr wrap="square">
            <a:spAutoFit/>
          </a:bodyPr>
          <a:lstStyle/>
          <a:p>
            <a:pPr algn="ctr"/>
            <a:r>
              <a:rPr lang="es-ES" sz="1600" dirty="0"/>
              <a:t>“Sergio”</a:t>
            </a:r>
          </a:p>
        </p:txBody>
      </p:sp>
      <p:sp>
        <p:nvSpPr>
          <p:cNvPr id="68" name="67 Rectángulo"/>
          <p:cNvSpPr/>
          <p:nvPr/>
        </p:nvSpPr>
        <p:spPr>
          <a:xfrm>
            <a:off x="4394076" y="4065525"/>
            <a:ext cx="2016224" cy="338554"/>
          </a:xfrm>
          <a:prstGeom prst="rect">
            <a:avLst/>
          </a:prstGeom>
        </p:spPr>
        <p:txBody>
          <a:bodyPr wrap="square">
            <a:spAutoFit/>
          </a:bodyPr>
          <a:lstStyle/>
          <a:p>
            <a:r>
              <a:rPr lang="en-US" sz="1600" dirty="0">
                <a:solidFill>
                  <a:schemeClr val="accent4">
                    <a:lumMod val="50000"/>
                    <a:lumOff val="50000"/>
                  </a:schemeClr>
                </a:solidFill>
              </a:rPr>
              <a:t>String</a:t>
            </a:r>
            <a:r>
              <a:rPr lang="en-US" sz="1600" dirty="0"/>
              <a:t> </a:t>
            </a:r>
            <a:r>
              <a:rPr lang="en-US" sz="1600" b="1" dirty="0" err="1"/>
              <a:t>nombre</a:t>
            </a:r>
            <a:endParaRPr lang="es-ES" sz="1600" dirty="0"/>
          </a:p>
        </p:txBody>
      </p:sp>
      <p:sp>
        <p:nvSpPr>
          <p:cNvPr id="70" name="69 Rectángulo"/>
          <p:cNvSpPr/>
          <p:nvPr/>
        </p:nvSpPr>
        <p:spPr>
          <a:xfrm>
            <a:off x="2156276" y="4647968"/>
            <a:ext cx="3780250" cy="338554"/>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dirty="0">
                <a:solidFill>
                  <a:srgbClr val="00B050"/>
                </a:solidFill>
              </a:rPr>
              <a:t>“Hola “ </a:t>
            </a:r>
            <a:r>
              <a:rPr lang="es-ES" sz="1600" dirty="0">
                <a:solidFill>
                  <a:schemeClr val="accent4"/>
                </a:solidFill>
              </a:rPr>
              <a:t>+</a:t>
            </a:r>
            <a:r>
              <a:rPr lang="es-ES" sz="1600" dirty="0">
                <a:solidFill>
                  <a:srgbClr val="00B050"/>
                </a:solidFill>
              </a:rPr>
              <a:t> </a:t>
            </a:r>
            <a:r>
              <a:rPr lang="es-ES" sz="1600" b="1" dirty="0"/>
              <a:t>nombre</a:t>
            </a:r>
            <a:r>
              <a:rPr lang="es-ES" sz="1600" dirty="0">
                <a:solidFill>
                  <a:srgbClr val="009900"/>
                </a:solidFill>
              </a:rPr>
              <a:t> </a:t>
            </a:r>
            <a:r>
              <a:rPr lang="es-ES" sz="1600" dirty="0">
                <a:solidFill>
                  <a:srgbClr val="FF0000"/>
                </a:solidFill>
              </a:rPr>
              <a:t>)</a:t>
            </a:r>
            <a:r>
              <a:rPr lang="es-ES" sz="1600" dirty="0"/>
              <a:t>;</a:t>
            </a:r>
          </a:p>
        </p:txBody>
      </p:sp>
      <p:sp>
        <p:nvSpPr>
          <p:cNvPr id="30" name="29 Rectángulo"/>
          <p:cNvSpPr/>
          <p:nvPr/>
        </p:nvSpPr>
        <p:spPr>
          <a:xfrm>
            <a:off x="2242344" y="2795196"/>
            <a:ext cx="2792847" cy="338554"/>
          </a:xfrm>
          <a:prstGeom prst="rect">
            <a:avLst/>
          </a:prstGeom>
        </p:spPr>
        <p:txBody>
          <a:bodyPr wrap="square">
            <a:spAutoFit/>
          </a:bodyPr>
          <a:lstStyle/>
          <a:p>
            <a:r>
              <a:rPr lang="es-ES" sz="1600" dirty="0" err="1">
                <a:solidFill>
                  <a:srgbClr val="00B0F0"/>
                </a:solidFill>
              </a:rPr>
              <a:t>String</a:t>
            </a:r>
            <a:r>
              <a:rPr lang="es-ES" sz="1600" dirty="0">
                <a:solidFill>
                  <a:srgbClr val="FF0000"/>
                </a:solidFill>
              </a:rPr>
              <a:t> </a:t>
            </a:r>
            <a:r>
              <a:rPr lang="es-ES" sz="1600" b="1" dirty="0"/>
              <a:t>n</a:t>
            </a:r>
            <a:r>
              <a:rPr lang="es-ES" sz="1600" dirty="0">
                <a:solidFill>
                  <a:srgbClr val="FF0000"/>
                </a:solidFill>
              </a:rPr>
              <a:t> </a:t>
            </a:r>
            <a:r>
              <a:rPr lang="es-ES" sz="1600" dirty="0"/>
              <a:t>= “Sergio”;</a:t>
            </a:r>
          </a:p>
        </p:txBody>
      </p:sp>
      <p:sp>
        <p:nvSpPr>
          <p:cNvPr id="32" name="31 Rectángulo"/>
          <p:cNvSpPr/>
          <p:nvPr/>
        </p:nvSpPr>
        <p:spPr>
          <a:xfrm>
            <a:off x="3254648" y="3067671"/>
            <a:ext cx="409647" cy="338554"/>
          </a:xfrm>
          <a:prstGeom prst="rect">
            <a:avLst/>
          </a:prstGeom>
        </p:spPr>
        <p:txBody>
          <a:bodyPr wrap="square">
            <a:spAutoFit/>
          </a:bodyPr>
          <a:lstStyle/>
          <a:p>
            <a:r>
              <a:rPr lang="es-ES" sz="1600" b="1" dirty="0"/>
              <a:t>n</a:t>
            </a:r>
            <a:r>
              <a:rPr lang="es-ES" sz="1600" dirty="0">
                <a:solidFill>
                  <a:srgbClr val="FF0000"/>
                </a:solidFill>
              </a:rPr>
              <a:t> </a:t>
            </a:r>
            <a:endParaRPr lang="es-ES" sz="1600" dirty="0"/>
          </a:p>
        </p:txBody>
      </p:sp>
    </p:spTree>
    <p:extLst>
      <p:ext uri="{BB962C8B-B14F-4D97-AF65-F5344CB8AC3E}">
        <p14:creationId xmlns:p14="http://schemas.microsoft.com/office/powerpoint/2010/main" val="159274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wipe(left)">
                                      <p:cBhvr>
                                        <p:cTn id="22" dur="500"/>
                                        <p:tgtEl>
                                          <p:spTgt spid="6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66"/>
                                        </p:tgtEl>
                                      </p:cBhvr>
                                    </p:animEffect>
                                    <p:set>
                                      <p:cBhvr>
                                        <p:cTn id="27" dur="1" fill="hold">
                                          <p:stCondLst>
                                            <p:cond delay="499"/>
                                          </p:stCondLst>
                                        </p:cTn>
                                        <p:tgtEl>
                                          <p:spTgt spid="6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 calcmode="lin" valueType="num">
                                      <p:cBhvr>
                                        <p:cTn id="32" dur="500" fill="hold"/>
                                        <p:tgtEl>
                                          <p:spTgt spid="30"/>
                                        </p:tgtEl>
                                        <p:attrNameLst>
                                          <p:attrName>ppt_w</p:attrName>
                                        </p:attrNameLst>
                                      </p:cBhvr>
                                      <p:tavLst>
                                        <p:tav tm="0">
                                          <p:val>
                                            <p:fltVal val="0"/>
                                          </p:val>
                                        </p:tav>
                                        <p:tav tm="100000">
                                          <p:val>
                                            <p:strVal val="#ppt_w"/>
                                          </p:val>
                                        </p:tav>
                                      </p:tavLst>
                                    </p:anim>
                                    <p:anim calcmode="lin" valueType="num">
                                      <p:cBhvr>
                                        <p:cTn id="33" dur="500" fill="hold"/>
                                        <p:tgtEl>
                                          <p:spTgt spid="30"/>
                                        </p:tgtEl>
                                        <p:attrNameLst>
                                          <p:attrName>ppt_h</p:attrName>
                                        </p:attrNameLst>
                                      </p:cBhvr>
                                      <p:tavLst>
                                        <p:tav tm="0">
                                          <p:val>
                                            <p:fltVal val="0"/>
                                          </p:val>
                                        </p:tav>
                                        <p:tav tm="100000">
                                          <p:val>
                                            <p:strVal val="#ppt_h"/>
                                          </p:val>
                                        </p:tav>
                                      </p:tavLst>
                                    </p:anim>
                                    <p:animEffect transition="in" filter="fade">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66" grpId="0"/>
      <p:bldP spid="66" grpId="1"/>
      <p:bldP spid="70" grpId="0"/>
      <p:bldP spid="30" grpId="0"/>
      <p:bldP spid="3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1420" y="92075"/>
            <a:ext cx="7392988" cy="528613"/>
          </a:xfrm>
        </p:spPr>
        <p:txBody>
          <a:bodyPr/>
          <a:lstStyle/>
          <a:p>
            <a:r>
              <a:rPr lang="es-ES" dirty="0"/>
              <a:t>Uso directo de resultados</a:t>
            </a:r>
            <a:endParaRPr lang="es-ES" dirty="0">
              <a:solidFill>
                <a:schemeClr val="accent4">
                  <a:lumMod val="90000"/>
                  <a:lumOff val="10000"/>
                </a:schemeClr>
              </a:solidFill>
            </a:endParaRPr>
          </a:p>
        </p:txBody>
      </p:sp>
      <p:grpSp>
        <p:nvGrpSpPr>
          <p:cNvPr id="34" name="33 Grupo"/>
          <p:cNvGrpSpPr/>
          <p:nvPr/>
        </p:nvGrpSpPr>
        <p:grpSpPr>
          <a:xfrm>
            <a:off x="971600" y="1555768"/>
            <a:ext cx="7488832" cy="4681544"/>
            <a:chOff x="971600" y="1928918"/>
            <a:chExt cx="7488832" cy="2419905"/>
          </a:xfrm>
        </p:grpSpPr>
        <p:sp>
          <p:nvSpPr>
            <p:cNvPr id="39" name="38 Rectángulo"/>
            <p:cNvSpPr/>
            <p:nvPr/>
          </p:nvSpPr>
          <p:spPr bwMode="auto">
            <a:xfrm>
              <a:off x="971600" y="1928918"/>
              <a:ext cx="7488832" cy="2419905"/>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1" name="40 Rectángulo"/>
            <p:cNvSpPr/>
            <p:nvPr/>
          </p:nvSpPr>
          <p:spPr>
            <a:xfrm>
              <a:off x="1043608" y="1943541"/>
              <a:ext cx="7292286" cy="2405282"/>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a:t>Rectángulo</a:t>
              </a:r>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endParaRPr lang="es-ES" sz="1600" dirty="0"/>
            </a:p>
            <a:p>
              <a:pPr>
                <a:spcBef>
                  <a:spcPts val="600"/>
                </a:spcBef>
              </a:pPr>
              <a:r>
                <a:rPr lang="es-ES" sz="1600" dirty="0"/>
                <a:t>}</a:t>
              </a:r>
            </a:p>
          </p:txBody>
        </p:sp>
      </p:grpSp>
      <p:sp>
        <p:nvSpPr>
          <p:cNvPr id="42" name="41 Rectángulo"/>
          <p:cNvSpPr/>
          <p:nvPr/>
        </p:nvSpPr>
        <p:spPr>
          <a:xfrm>
            <a:off x="1043608" y="2462719"/>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43" name="42 Grupo"/>
          <p:cNvGrpSpPr/>
          <p:nvPr/>
        </p:nvGrpSpPr>
        <p:grpSpPr>
          <a:xfrm>
            <a:off x="1798186" y="2204864"/>
            <a:ext cx="6197383" cy="1617836"/>
            <a:chOff x="2147033" y="2796529"/>
            <a:chExt cx="6197383" cy="1617836"/>
          </a:xfrm>
        </p:grpSpPr>
        <p:sp>
          <p:nvSpPr>
            <p:cNvPr id="44" name="43 Rectángulo"/>
            <p:cNvSpPr/>
            <p:nvPr/>
          </p:nvSpPr>
          <p:spPr bwMode="auto">
            <a:xfrm>
              <a:off x="2147033" y="2827535"/>
              <a:ext cx="6188862" cy="1586830"/>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5" name="44 Rectángulo"/>
            <p:cNvSpPr/>
            <p:nvPr/>
          </p:nvSpPr>
          <p:spPr>
            <a:xfrm>
              <a:off x="2204258" y="2796529"/>
              <a:ext cx="6140158" cy="1523494"/>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endParaRPr lang="es-ES" sz="2400" dirty="0"/>
            </a:p>
            <a:p>
              <a:r>
                <a:rPr lang="es-ES" sz="2400" dirty="0"/>
                <a:t>  </a:t>
              </a:r>
              <a:r>
                <a:rPr lang="es-ES" sz="1600" dirty="0"/>
                <a:t>   </a:t>
              </a:r>
            </a:p>
            <a:p>
              <a:pPr>
                <a:spcAft>
                  <a:spcPts val="600"/>
                </a:spcAft>
              </a:pPr>
              <a:endParaRPr lang="es-ES" sz="1600" dirty="0"/>
            </a:p>
            <a:p>
              <a:pPr>
                <a:spcAft>
                  <a:spcPts val="600"/>
                </a:spcAft>
              </a:pPr>
              <a:r>
                <a:rPr lang="es-ES" sz="1600" dirty="0"/>
                <a:t>}</a:t>
              </a:r>
            </a:p>
          </p:txBody>
        </p:sp>
      </p:grpSp>
      <p:sp>
        <p:nvSpPr>
          <p:cNvPr id="46" name="45 Rectángulo"/>
          <p:cNvSpPr/>
          <p:nvPr/>
        </p:nvSpPr>
        <p:spPr bwMode="auto">
          <a:xfrm>
            <a:off x="2161144" y="2761010"/>
            <a:ext cx="5181658" cy="65528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48" name="47 Grupo"/>
          <p:cNvGrpSpPr/>
          <p:nvPr/>
        </p:nvGrpSpPr>
        <p:grpSpPr>
          <a:xfrm>
            <a:off x="1798186" y="4001596"/>
            <a:ext cx="6197383" cy="1659652"/>
            <a:chOff x="1979712" y="3758034"/>
            <a:chExt cx="6197383" cy="1173908"/>
          </a:xfrm>
        </p:grpSpPr>
        <p:grpSp>
          <p:nvGrpSpPr>
            <p:cNvPr id="49" name="48 Grupo"/>
            <p:cNvGrpSpPr/>
            <p:nvPr/>
          </p:nvGrpSpPr>
          <p:grpSpPr>
            <a:xfrm>
              <a:off x="1979712" y="3758034"/>
              <a:ext cx="6197383" cy="1173908"/>
              <a:chOff x="2147033" y="2796530"/>
              <a:chExt cx="6197383" cy="1173908"/>
            </a:xfrm>
          </p:grpSpPr>
          <p:sp>
            <p:nvSpPr>
              <p:cNvPr id="53" name="52 Rectángulo"/>
              <p:cNvSpPr/>
              <p:nvPr/>
            </p:nvSpPr>
            <p:spPr bwMode="auto">
              <a:xfrm>
                <a:off x="2147033" y="2827536"/>
                <a:ext cx="6188862" cy="1142902"/>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53 Rectángulo"/>
              <p:cNvSpPr/>
              <p:nvPr/>
            </p:nvSpPr>
            <p:spPr>
              <a:xfrm>
                <a:off x="2204258" y="2796530"/>
                <a:ext cx="6140158" cy="1153794"/>
              </a:xfrm>
              <a:prstGeom prst="rect">
                <a:avLst/>
              </a:prstGeom>
            </p:spPr>
            <p:txBody>
              <a:bodyPr wrap="square">
                <a:spAutoFit/>
              </a:bodyPr>
              <a:lstStyle/>
              <a:p>
                <a:r>
                  <a:rPr lang="en-US" sz="1600" dirty="0">
                    <a:solidFill>
                      <a:srgbClr val="0070C0"/>
                    </a:solidFill>
                  </a:rPr>
                  <a:t>public  static  </a:t>
                </a:r>
                <a:r>
                  <a:rPr lang="en-US" sz="1600" dirty="0" err="1">
                    <a:solidFill>
                      <a:srgbClr val="0070C0"/>
                    </a:solidFill>
                  </a:rPr>
                  <a:t>int</a:t>
                </a:r>
                <a:r>
                  <a:rPr lang="en-US" sz="1600" dirty="0">
                    <a:solidFill>
                      <a:srgbClr val="0070C0"/>
                    </a:solidFill>
                  </a:rPr>
                  <a:t>         </a:t>
                </a:r>
                <a:r>
                  <a:rPr lang="es-ES" sz="1600" b="1" dirty="0">
                    <a:solidFill>
                      <a:srgbClr val="FF0000"/>
                    </a:solidFill>
                  </a:rPr>
                  <a:t>área</a:t>
                </a:r>
                <a:r>
                  <a:rPr lang="es-ES" sz="1600" dirty="0">
                    <a:solidFill>
                      <a:srgbClr val="FF0000"/>
                    </a:solidFill>
                  </a:rPr>
                  <a:t> </a:t>
                </a:r>
                <a:r>
                  <a:rPr lang="en-US" sz="1600" dirty="0"/>
                  <a:t>(                                )</a:t>
                </a:r>
              </a:p>
              <a:p>
                <a:r>
                  <a:rPr lang="es-ES" sz="1600" dirty="0"/>
                  <a:t>{</a:t>
                </a:r>
              </a:p>
              <a:p>
                <a:r>
                  <a:rPr lang="es-ES" sz="1400" dirty="0"/>
                  <a:t>     </a:t>
                </a:r>
              </a:p>
              <a:p>
                <a:pPr>
                  <a:spcAft>
                    <a:spcPts val="600"/>
                  </a:spcAft>
                </a:pPr>
                <a:endParaRPr lang="es-ES" sz="1400" dirty="0"/>
              </a:p>
              <a:p>
                <a:pPr>
                  <a:spcAft>
                    <a:spcPts val="600"/>
                  </a:spcAft>
                </a:pPr>
                <a:endParaRPr lang="es-ES" sz="1400" dirty="0"/>
              </a:p>
              <a:p>
                <a:pPr>
                  <a:spcAft>
                    <a:spcPts val="600"/>
                  </a:spcAft>
                </a:pPr>
                <a:r>
                  <a:rPr lang="es-ES" sz="1600" dirty="0"/>
                  <a:t>}</a:t>
                </a:r>
              </a:p>
            </p:txBody>
          </p:sp>
        </p:grpSp>
        <p:sp>
          <p:nvSpPr>
            <p:cNvPr id="51" name="50 Rectángulo"/>
            <p:cNvSpPr/>
            <p:nvPr/>
          </p:nvSpPr>
          <p:spPr bwMode="auto">
            <a:xfrm>
              <a:off x="2304128" y="4156100"/>
              <a:ext cx="5800959" cy="524318"/>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68" name="67 Rectángulo"/>
          <p:cNvSpPr/>
          <p:nvPr/>
        </p:nvSpPr>
        <p:spPr>
          <a:xfrm>
            <a:off x="4521177" y="4007332"/>
            <a:ext cx="1851023" cy="338554"/>
          </a:xfrm>
          <a:prstGeom prst="rect">
            <a:avLst/>
          </a:prstGeom>
        </p:spPr>
        <p:txBody>
          <a:bodyPr wrap="square">
            <a:spAutoFit/>
          </a:bodyPr>
          <a:lstStyle/>
          <a:p>
            <a:r>
              <a:rPr lang="en-US" sz="1600" dirty="0" err="1">
                <a:solidFill>
                  <a:schemeClr val="accent4">
                    <a:lumMod val="50000"/>
                    <a:lumOff val="50000"/>
                  </a:schemeClr>
                </a:solidFill>
              </a:rPr>
              <a:t>int</a:t>
            </a:r>
            <a:r>
              <a:rPr lang="en-US" sz="1600" dirty="0"/>
              <a:t> </a:t>
            </a:r>
            <a:r>
              <a:rPr lang="en-US" sz="1600" b="1" dirty="0" err="1"/>
              <a:t>ancho</a:t>
            </a:r>
            <a:r>
              <a:rPr lang="en-US" sz="1600" b="1" dirty="0"/>
              <a:t>, </a:t>
            </a:r>
            <a:r>
              <a:rPr lang="en-US" sz="1600" dirty="0" err="1">
                <a:solidFill>
                  <a:schemeClr val="accent4">
                    <a:lumMod val="50000"/>
                    <a:lumOff val="50000"/>
                  </a:schemeClr>
                </a:solidFill>
              </a:rPr>
              <a:t>int</a:t>
            </a:r>
            <a:r>
              <a:rPr lang="en-US" sz="1600" dirty="0"/>
              <a:t> </a:t>
            </a:r>
            <a:r>
              <a:rPr lang="en-US" sz="1600" b="1" dirty="0"/>
              <a:t>alto </a:t>
            </a:r>
            <a:endParaRPr lang="es-ES" sz="1600" dirty="0"/>
          </a:p>
        </p:txBody>
      </p:sp>
      <p:sp>
        <p:nvSpPr>
          <p:cNvPr id="70" name="69 Rectángulo"/>
          <p:cNvSpPr/>
          <p:nvPr/>
        </p:nvSpPr>
        <p:spPr>
          <a:xfrm>
            <a:off x="2156276" y="4605699"/>
            <a:ext cx="5440060" cy="338554"/>
          </a:xfrm>
          <a:prstGeom prst="rect">
            <a:avLst/>
          </a:prstGeom>
        </p:spPr>
        <p:txBody>
          <a:bodyPr wrap="square">
            <a:spAutoFit/>
          </a:bodyPr>
          <a:lstStyle/>
          <a:p>
            <a:r>
              <a:rPr lang="es-ES" sz="1600" dirty="0" err="1">
                <a:solidFill>
                  <a:schemeClr val="accent1">
                    <a:lumMod val="60000"/>
                    <a:lumOff val="40000"/>
                  </a:schemeClr>
                </a:solidFill>
              </a:rPr>
              <a:t>int</a:t>
            </a:r>
            <a:r>
              <a:rPr lang="es-ES" sz="1600" dirty="0">
                <a:solidFill>
                  <a:srgbClr val="080808"/>
                </a:solidFill>
              </a:rPr>
              <a:t> </a:t>
            </a:r>
            <a:r>
              <a:rPr lang="es-ES" sz="1600" b="1" dirty="0" err="1">
                <a:solidFill>
                  <a:srgbClr val="080808"/>
                </a:solidFill>
              </a:rPr>
              <a:t>ar</a:t>
            </a:r>
            <a:r>
              <a:rPr lang="es-ES" sz="1600" dirty="0">
                <a:solidFill>
                  <a:srgbClr val="080808"/>
                </a:solidFill>
              </a:rPr>
              <a:t> = </a:t>
            </a:r>
            <a:r>
              <a:rPr lang="es-ES" sz="1600" b="1" dirty="0">
                <a:solidFill>
                  <a:srgbClr val="080808"/>
                </a:solidFill>
              </a:rPr>
              <a:t>ancho</a:t>
            </a:r>
            <a:r>
              <a:rPr lang="es-ES" sz="1600" dirty="0">
                <a:solidFill>
                  <a:srgbClr val="080808"/>
                </a:solidFill>
              </a:rPr>
              <a:t> * </a:t>
            </a:r>
            <a:r>
              <a:rPr lang="es-ES" sz="1600" b="1" dirty="0">
                <a:solidFill>
                  <a:srgbClr val="080808"/>
                </a:solidFill>
              </a:rPr>
              <a:t>alto</a:t>
            </a:r>
            <a:r>
              <a:rPr lang="es-ES" sz="1600" dirty="0">
                <a:solidFill>
                  <a:srgbClr val="080808"/>
                </a:solidFill>
              </a:rPr>
              <a:t>;</a:t>
            </a:r>
          </a:p>
        </p:txBody>
      </p:sp>
      <p:sp>
        <p:nvSpPr>
          <p:cNvPr id="29" name="28 Rectángulo"/>
          <p:cNvSpPr/>
          <p:nvPr/>
        </p:nvSpPr>
        <p:spPr>
          <a:xfrm>
            <a:off x="2153444" y="4872399"/>
            <a:ext cx="5440060" cy="338554"/>
          </a:xfrm>
          <a:prstGeom prst="rect">
            <a:avLst/>
          </a:prstGeom>
        </p:spPr>
        <p:txBody>
          <a:bodyPr wrap="square">
            <a:spAutoFit/>
          </a:bodyPr>
          <a:lstStyle/>
          <a:p>
            <a:r>
              <a:rPr lang="es-ES" sz="1600" dirty="0" err="1">
                <a:solidFill>
                  <a:schemeClr val="accent1">
                    <a:lumMod val="60000"/>
                    <a:lumOff val="40000"/>
                  </a:schemeClr>
                </a:solidFill>
              </a:rPr>
              <a:t>return</a:t>
            </a:r>
            <a:r>
              <a:rPr lang="es-ES" sz="1600" dirty="0">
                <a:solidFill>
                  <a:srgbClr val="080808"/>
                </a:solidFill>
              </a:rPr>
              <a:t> </a:t>
            </a:r>
            <a:r>
              <a:rPr lang="es-ES" sz="1600" dirty="0" err="1">
                <a:solidFill>
                  <a:srgbClr val="080808"/>
                </a:solidFill>
              </a:rPr>
              <a:t>ar</a:t>
            </a:r>
            <a:r>
              <a:rPr lang="es-ES" sz="1600" b="1" dirty="0">
                <a:solidFill>
                  <a:srgbClr val="080808"/>
                </a:solidFill>
              </a:rPr>
              <a:t>;</a:t>
            </a:r>
            <a:endParaRPr lang="es-ES" sz="1600" dirty="0">
              <a:solidFill>
                <a:srgbClr val="080808"/>
              </a:solidFill>
            </a:endParaRPr>
          </a:p>
        </p:txBody>
      </p:sp>
      <p:sp>
        <p:nvSpPr>
          <p:cNvPr id="47" name="46 Rectángulo"/>
          <p:cNvSpPr/>
          <p:nvPr/>
        </p:nvSpPr>
        <p:spPr>
          <a:xfrm>
            <a:off x="2291358" y="2764233"/>
            <a:ext cx="3240361" cy="338554"/>
          </a:xfrm>
          <a:prstGeom prst="rect">
            <a:avLst/>
          </a:prstGeom>
        </p:spPr>
        <p:txBody>
          <a:bodyPr wrap="square">
            <a:spAutoFit/>
          </a:bodyPr>
          <a:lstStyle/>
          <a:p>
            <a:r>
              <a:rPr lang="es-ES" sz="1600" dirty="0" err="1">
                <a:solidFill>
                  <a:srgbClr val="00B0F0"/>
                </a:solidFill>
              </a:rPr>
              <a:t>int</a:t>
            </a:r>
            <a:r>
              <a:rPr lang="es-ES" sz="1600" dirty="0">
                <a:solidFill>
                  <a:srgbClr val="FF0000"/>
                </a:solidFill>
              </a:rPr>
              <a:t> </a:t>
            </a:r>
            <a:r>
              <a:rPr lang="es-ES" sz="1600" b="1" dirty="0"/>
              <a:t>a</a:t>
            </a:r>
            <a:r>
              <a:rPr lang="es-ES" sz="1600" dirty="0">
                <a:solidFill>
                  <a:srgbClr val="FF0000"/>
                </a:solidFill>
              </a:rPr>
              <a:t> = área( </a:t>
            </a:r>
            <a:r>
              <a:rPr lang="es-ES" sz="1600" dirty="0"/>
              <a:t>5, 8 </a:t>
            </a:r>
            <a:r>
              <a:rPr lang="es-ES" sz="1600" dirty="0">
                <a:solidFill>
                  <a:srgbClr val="FF0000"/>
                </a:solidFill>
              </a:rPr>
              <a:t>)</a:t>
            </a:r>
            <a:r>
              <a:rPr lang="es-ES" sz="1600" dirty="0"/>
              <a:t>;</a:t>
            </a:r>
          </a:p>
        </p:txBody>
      </p:sp>
      <p:sp>
        <p:nvSpPr>
          <p:cNvPr id="37" name="36 Rectángulo"/>
          <p:cNvSpPr/>
          <p:nvPr/>
        </p:nvSpPr>
        <p:spPr>
          <a:xfrm>
            <a:off x="2297329" y="3049121"/>
            <a:ext cx="4098485" cy="338554"/>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 </a:t>
            </a:r>
            <a:r>
              <a:rPr lang="es-ES" sz="1600" b="1" dirty="0"/>
              <a:t>a</a:t>
            </a:r>
            <a:r>
              <a:rPr lang="es-ES" sz="1600" dirty="0">
                <a:solidFill>
                  <a:srgbClr val="009900"/>
                </a:solidFill>
              </a:rPr>
              <a:t> </a:t>
            </a:r>
            <a:r>
              <a:rPr lang="es-ES" sz="1600" dirty="0">
                <a:solidFill>
                  <a:srgbClr val="FF0000"/>
                </a:solidFill>
              </a:rPr>
              <a:t>)</a:t>
            </a:r>
            <a:r>
              <a:rPr lang="es-ES" sz="1600" dirty="0"/>
              <a:t>;</a:t>
            </a:r>
          </a:p>
        </p:txBody>
      </p:sp>
      <p:sp>
        <p:nvSpPr>
          <p:cNvPr id="23" name="22 Rectángulo"/>
          <p:cNvSpPr/>
          <p:nvPr/>
        </p:nvSpPr>
        <p:spPr>
          <a:xfrm>
            <a:off x="2299052" y="2908330"/>
            <a:ext cx="4098486" cy="338554"/>
          </a:xfrm>
          <a:prstGeom prst="rect">
            <a:avLst/>
          </a:prstGeom>
        </p:spPr>
        <p:txBody>
          <a:bodyPr wrap="square">
            <a:spAutoFit/>
          </a:bodyPr>
          <a:lstStyle/>
          <a:p>
            <a:r>
              <a:rPr lang="es-ES" sz="1600" dirty="0" err="1">
                <a:solidFill>
                  <a:srgbClr val="080808"/>
                </a:solidFill>
              </a:rPr>
              <a:t>System.out</a:t>
            </a:r>
            <a:r>
              <a:rPr lang="es-ES" sz="1600" dirty="0" err="1"/>
              <a:t>.</a:t>
            </a:r>
            <a:r>
              <a:rPr lang="es-ES" sz="1600" dirty="0" err="1">
                <a:solidFill>
                  <a:srgbClr val="FF0000"/>
                </a:solidFill>
              </a:rPr>
              <a:t>println</a:t>
            </a:r>
            <a:r>
              <a:rPr lang="es-ES" sz="1600" dirty="0">
                <a:solidFill>
                  <a:srgbClr val="FF0000"/>
                </a:solidFill>
              </a:rPr>
              <a:t>(área( </a:t>
            </a:r>
            <a:r>
              <a:rPr lang="es-ES" sz="1600" dirty="0"/>
              <a:t>5, 8 </a:t>
            </a:r>
            <a:r>
              <a:rPr lang="es-ES" sz="1600" dirty="0">
                <a:solidFill>
                  <a:srgbClr val="FF0000"/>
                </a:solidFill>
              </a:rPr>
              <a:t>)</a:t>
            </a:r>
            <a:r>
              <a:rPr lang="es-ES" sz="1600" dirty="0">
                <a:solidFill>
                  <a:srgbClr val="009900"/>
                </a:solidFill>
              </a:rPr>
              <a:t> </a:t>
            </a:r>
            <a:r>
              <a:rPr lang="es-ES" sz="1600" dirty="0">
                <a:solidFill>
                  <a:srgbClr val="FF0000"/>
                </a:solidFill>
              </a:rPr>
              <a:t>)</a:t>
            </a:r>
            <a:r>
              <a:rPr lang="es-ES" sz="1600" dirty="0"/>
              <a:t>;</a:t>
            </a:r>
          </a:p>
        </p:txBody>
      </p:sp>
      <p:sp>
        <p:nvSpPr>
          <p:cNvPr id="24" name="23 Rectángulo"/>
          <p:cNvSpPr/>
          <p:nvPr/>
        </p:nvSpPr>
        <p:spPr>
          <a:xfrm>
            <a:off x="2161144" y="4729623"/>
            <a:ext cx="2942604" cy="307776"/>
          </a:xfrm>
          <a:prstGeom prst="rect">
            <a:avLst/>
          </a:prstGeom>
        </p:spPr>
        <p:txBody>
          <a:bodyPr wrap="square">
            <a:spAutoFit/>
          </a:bodyPr>
          <a:lstStyle/>
          <a:p>
            <a:r>
              <a:rPr lang="es-ES" sz="1600" dirty="0" err="1">
                <a:solidFill>
                  <a:schemeClr val="accent1">
                    <a:lumMod val="60000"/>
                    <a:lumOff val="40000"/>
                  </a:schemeClr>
                </a:solidFill>
              </a:rPr>
              <a:t>return</a:t>
            </a:r>
            <a:r>
              <a:rPr lang="es-ES" sz="1600" dirty="0">
                <a:solidFill>
                  <a:srgbClr val="080808"/>
                </a:solidFill>
              </a:rPr>
              <a:t> </a:t>
            </a:r>
            <a:r>
              <a:rPr lang="es-ES" sz="1600" b="1" dirty="0">
                <a:solidFill>
                  <a:srgbClr val="080808"/>
                </a:solidFill>
              </a:rPr>
              <a:t>ancho</a:t>
            </a:r>
            <a:r>
              <a:rPr lang="es-ES" sz="1600" dirty="0">
                <a:solidFill>
                  <a:srgbClr val="080808"/>
                </a:solidFill>
              </a:rPr>
              <a:t> * </a:t>
            </a:r>
            <a:r>
              <a:rPr lang="es-ES" sz="1600" b="1" dirty="0">
                <a:solidFill>
                  <a:srgbClr val="080808"/>
                </a:solidFill>
              </a:rPr>
              <a:t>alto;</a:t>
            </a:r>
            <a:endParaRPr lang="es-ES" sz="1600" dirty="0">
              <a:solidFill>
                <a:srgbClr val="080808"/>
              </a:solidFill>
            </a:endParaRPr>
          </a:p>
        </p:txBody>
      </p:sp>
    </p:spTree>
    <p:extLst>
      <p:ext uri="{BB962C8B-B14F-4D97-AF65-F5344CB8AC3E}">
        <p14:creationId xmlns:p14="http://schemas.microsoft.com/office/powerpoint/2010/main" val="92076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47"/>
                                        </p:tgtEl>
                                      </p:cBhvr>
                                    </p:animEffect>
                                    <p:set>
                                      <p:cBhvr>
                                        <p:cTn id="15" dur="1" fill="hold">
                                          <p:stCondLst>
                                            <p:cond delay="499"/>
                                          </p:stCondLst>
                                        </p:cTn>
                                        <p:tgtEl>
                                          <p:spTgt spid="47"/>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500"/>
                                        <p:tgtEl>
                                          <p:spTgt spid="37"/>
                                        </p:tgtEl>
                                      </p:cBhvr>
                                    </p:animEffect>
                                    <p:set>
                                      <p:cBhvr>
                                        <p:cTn id="18" dur="1" fill="hold">
                                          <p:stCondLst>
                                            <p:cond delay="499"/>
                                          </p:stCondLst>
                                        </p:cTn>
                                        <p:tgtEl>
                                          <p:spTgt spid="3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p:cTn id="23" dur="500" fill="hold"/>
                                        <p:tgtEl>
                                          <p:spTgt spid="23"/>
                                        </p:tgtEl>
                                        <p:attrNameLst>
                                          <p:attrName>ppt_w</p:attrName>
                                        </p:attrNameLst>
                                      </p:cBhvr>
                                      <p:tavLst>
                                        <p:tav tm="0">
                                          <p:val>
                                            <p:fltVal val="0"/>
                                          </p:val>
                                        </p:tav>
                                        <p:tav tm="100000">
                                          <p:val>
                                            <p:strVal val="#ppt_w"/>
                                          </p:val>
                                        </p:tav>
                                      </p:tavLst>
                                    </p:anim>
                                    <p:anim calcmode="lin" valueType="num">
                                      <p:cBhvr>
                                        <p:cTn id="24" dur="500" fill="hold"/>
                                        <p:tgtEl>
                                          <p:spTgt spid="23"/>
                                        </p:tgtEl>
                                        <p:attrNameLst>
                                          <p:attrName>ppt_h</p:attrName>
                                        </p:attrNameLst>
                                      </p:cBhvr>
                                      <p:tavLst>
                                        <p:tav tm="0">
                                          <p:val>
                                            <p:fltVal val="0"/>
                                          </p:val>
                                        </p:tav>
                                        <p:tav tm="100000">
                                          <p:val>
                                            <p:strVal val="#ppt_h"/>
                                          </p:val>
                                        </p:tav>
                                      </p:tavLst>
                                    </p:anim>
                                    <p:animEffect transition="in" filter="fade">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1" nodeType="clickEffect">
                                  <p:stCondLst>
                                    <p:cond delay="0"/>
                                  </p:stCondLst>
                                  <p:childTnLst>
                                    <p:animEffect transition="out" filter="fade">
                                      <p:cBhvr>
                                        <p:cTn id="37" dur="500"/>
                                        <p:tgtEl>
                                          <p:spTgt spid="70"/>
                                        </p:tgtEl>
                                      </p:cBhvr>
                                    </p:animEffect>
                                    <p:set>
                                      <p:cBhvr>
                                        <p:cTn id="38" dur="1" fill="hold">
                                          <p:stCondLst>
                                            <p:cond delay="499"/>
                                          </p:stCondLst>
                                        </p:cTn>
                                        <p:tgtEl>
                                          <p:spTgt spid="70"/>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29"/>
                                        </p:tgtEl>
                                      </p:cBhvr>
                                    </p:animEffect>
                                    <p:set>
                                      <p:cBhvr>
                                        <p:cTn id="41" dur="1" fill="hold">
                                          <p:stCondLst>
                                            <p:cond delay="499"/>
                                          </p:stCondLst>
                                        </p:cTn>
                                        <p:tgtEl>
                                          <p:spTgt spid="29"/>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p:cTn id="46" dur="500" fill="hold"/>
                                        <p:tgtEl>
                                          <p:spTgt spid="24"/>
                                        </p:tgtEl>
                                        <p:attrNameLst>
                                          <p:attrName>ppt_w</p:attrName>
                                        </p:attrNameLst>
                                      </p:cBhvr>
                                      <p:tavLst>
                                        <p:tav tm="0">
                                          <p:val>
                                            <p:fltVal val="0"/>
                                          </p:val>
                                        </p:tav>
                                        <p:tav tm="100000">
                                          <p:val>
                                            <p:strVal val="#ppt_w"/>
                                          </p:val>
                                        </p:tav>
                                      </p:tavLst>
                                    </p:anim>
                                    <p:anim calcmode="lin" valueType="num">
                                      <p:cBhvr>
                                        <p:cTn id="47" dur="500" fill="hold"/>
                                        <p:tgtEl>
                                          <p:spTgt spid="24"/>
                                        </p:tgtEl>
                                        <p:attrNameLst>
                                          <p:attrName>ppt_h</p:attrName>
                                        </p:attrNameLst>
                                      </p:cBhvr>
                                      <p:tavLst>
                                        <p:tav tm="0">
                                          <p:val>
                                            <p:fltVal val="0"/>
                                          </p:val>
                                        </p:tav>
                                        <p:tav tm="100000">
                                          <p:val>
                                            <p:strVal val="#ppt_h"/>
                                          </p:val>
                                        </p:tav>
                                      </p:tavLst>
                                    </p:anim>
                                    <p:animEffect transition="in" filter="fade">
                                      <p:cBhvr>
                                        <p:cTn id="4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0" grpId="1"/>
      <p:bldP spid="29" grpId="0"/>
      <p:bldP spid="29" grpId="1"/>
      <p:bldP spid="47" grpId="0"/>
      <p:bldP spid="47" grpId="1"/>
      <p:bldP spid="37" grpId="0"/>
      <p:bldP spid="37" grpId="1"/>
      <p:bldP spid="23" grpId="0"/>
      <p:bldP spid="2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err="1"/>
              <a:t>Librer</a:t>
            </a:r>
            <a:r>
              <a:rPr lang="es-ES" dirty="0" err="1"/>
              <a:t>ías</a:t>
            </a:r>
            <a:r>
              <a:rPr lang="es-ES" dirty="0"/>
              <a:t> de objetos</a:t>
            </a:r>
            <a:endParaRPr lang="es-ES_tradnl" dirty="0"/>
          </a:p>
        </p:txBody>
      </p:sp>
      <p:sp>
        <p:nvSpPr>
          <p:cNvPr id="3" name="Marcador de contenido 2"/>
          <p:cNvSpPr>
            <a:spLocks noGrp="1"/>
          </p:cNvSpPr>
          <p:nvPr>
            <p:ph idx="1"/>
          </p:nvPr>
        </p:nvSpPr>
        <p:spPr>
          <a:xfrm>
            <a:off x="457200" y="1340768"/>
            <a:ext cx="8229600" cy="4983832"/>
          </a:xfrm>
        </p:spPr>
        <p:txBody>
          <a:bodyPr/>
          <a:lstStyle/>
          <a:p>
            <a:r>
              <a:rPr lang="es-ES_tradnl" sz="1600" b="0" dirty="0"/>
              <a:t>Un </a:t>
            </a:r>
            <a:r>
              <a:rPr lang="es-ES_tradnl" sz="1600" b="0" dirty="0" err="1"/>
              <a:t>package</a:t>
            </a:r>
            <a:r>
              <a:rPr lang="es-ES_tradnl" sz="1600" b="0" dirty="0"/>
              <a:t> (paquete) es un conjunto de clases relacionadas entre s</a:t>
            </a:r>
            <a:r>
              <a:rPr lang="es-ES" sz="1600" b="0" dirty="0"/>
              <a:t>í, las</a:t>
            </a:r>
            <a:r>
              <a:rPr lang="es-ES_tradnl" sz="1600" b="0" dirty="0"/>
              <a:t> </a:t>
            </a:r>
            <a:r>
              <a:rPr lang="es-ES" sz="1600" b="0" dirty="0"/>
              <a:t>cuales están ordenadas de forma arbitraria.</a:t>
            </a:r>
          </a:p>
          <a:p>
            <a:r>
              <a:rPr lang="es-ES" sz="1600" b="0" dirty="0"/>
              <a:t>El paquete </a:t>
            </a:r>
            <a:r>
              <a:rPr lang="es-ES" sz="1600" dirty="0" err="1"/>
              <a:t>java.io</a:t>
            </a:r>
            <a:r>
              <a:rPr lang="es-ES" sz="1600" b="0" dirty="0"/>
              <a:t> agrupa las clases que permiten a un programa realizar la entrada y salida de la información.</a:t>
            </a:r>
          </a:p>
          <a:p>
            <a:r>
              <a:rPr lang="es-ES" sz="1600" dirty="0"/>
              <a:t>IMPORT</a:t>
            </a:r>
          </a:p>
          <a:p>
            <a:r>
              <a:rPr lang="es-ES" sz="1600" b="0" dirty="0"/>
              <a:t>Si queremos utilizar alguna clase contenida en un paquete utilizamos la sentencia </a:t>
            </a:r>
            <a:r>
              <a:rPr lang="es-ES" sz="1600" b="0" dirty="0" err="1"/>
              <a:t>import</a:t>
            </a:r>
            <a:r>
              <a:rPr lang="es-ES" sz="1600" b="0" dirty="0"/>
              <a:t>.</a:t>
            </a:r>
          </a:p>
          <a:p>
            <a:r>
              <a:rPr lang="es-ES" sz="1600" b="0" dirty="0" err="1"/>
              <a:t>import</a:t>
            </a:r>
            <a:r>
              <a:rPr lang="es-ES" sz="1600" b="0" dirty="0"/>
              <a:t> </a:t>
            </a:r>
            <a:r>
              <a:rPr lang="es-ES" sz="1600" b="0" dirty="0" err="1"/>
              <a:t>java.awt</a:t>
            </a:r>
            <a:r>
              <a:rPr lang="es-ES" sz="1600" b="0" dirty="0"/>
              <a:t>.*;</a:t>
            </a:r>
          </a:p>
          <a:p>
            <a:r>
              <a:rPr lang="es-ES" sz="1600" b="0" dirty="0" err="1"/>
              <a:t>import</a:t>
            </a:r>
            <a:r>
              <a:rPr lang="es-ES" sz="1600" b="0" dirty="0"/>
              <a:t> </a:t>
            </a:r>
            <a:r>
              <a:rPr lang="es-ES" sz="1600" b="0" dirty="0" err="1"/>
              <a:t>java.lang.system</a:t>
            </a:r>
            <a:r>
              <a:rPr lang="es-ES" sz="1600" b="0" dirty="0"/>
              <a:t>;</a:t>
            </a:r>
          </a:p>
          <a:p>
            <a:endParaRPr lang="es-ES_tradnl"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236" t="11325" r="38450" b="56284"/>
          <a:stretch/>
        </p:blipFill>
        <p:spPr bwMode="auto">
          <a:xfrm>
            <a:off x="2771800" y="4149080"/>
            <a:ext cx="4173254" cy="2285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30986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printf</a:t>
            </a:r>
            <a:endParaRPr lang="es-ES" dirty="0"/>
          </a:p>
        </p:txBody>
      </p:sp>
      <p:sp>
        <p:nvSpPr>
          <p:cNvPr id="5" name="4 Rectángulo"/>
          <p:cNvSpPr/>
          <p:nvPr/>
        </p:nvSpPr>
        <p:spPr>
          <a:xfrm>
            <a:off x="1187624" y="1340768"/>
            <a:ext cx="6624736" cy="369332"/>
          </a:xfrm>
          <a:prstGeom prst="rect">
            <a:avLst/>
          </a:prstGeom>
        </p:spPr>
        <p:txBody>
          <a:bodyPr wrap="square">
            <a:spAutoFit/>
          </a:bodyPr>
          <a:lstStyle/>
          <a:p>
            <a:r>
              <a:rPr lang="en-US" sz="1800" dirty="0" err="1">
                <a:solidFill>
                  <a:srgbClr val="0070C0"/>
                </a:solidFill>
              </a:rPr>
              <a:t>System.out</a:t>
            </a:r>
            <a:r>
              <a:rPr lang="en-US" sz="1800" dirty="0">
                <a:solidFill>
                  <a:srgbClr val="0070C0"/>
                </a:solidFill>
              </a:rPr>
              <a:t>.</a:t>
            </a:r>
            <a:r>
              <a:rPr lang="es-ES" sz="1800" b="1" dirty="0" err="1">
                <a:solidFill>
                  <a:srgbClr val="FF0000"/>
                </a:solidFill>
              </a:rPr>
              <a:t>printf</a:t>
            </a:r>
            <a:r>
              <a:rPr lang="es-ES" sz="1800" dirty="0">
                <a:solidFill>
                  <a:srgbClr val="FF0000"/>
                </a:solidFill>
              </a:rPr>
              <a:t> </a:t>
            </a:r>
            <a:r>
              <a:rPr lang="en-US" sz="1800" dirty="0"/>
              <a:t>( </a:t>
            </a:r>
            <a:r>
              <a:rPr lang="en-US" sz="1800" dirty="0">
                <a:solidFill>
                  <a:srgbClr val="FF6600"/>
                </a:solidFill>
              </a:rPr>
              <a:t>“</a:t>
            </a:r>
            <a:r>
              <a:rPr lang="en-US" sz="1800" dirty="0" err="1">
                <a:solidFill>
                  <a:srgbClr val="FF6600"/>
                </a:solidFill>
              </a:rPr>
              <a:t>Hola</a:t>
            </a:r>
            <a:r>
              <a:rPr lang="en-US" sz="1800" dirty="0">
                <a:solidFill>
                  <a:srgbClr val="FF6600"/>
                </a:solidFill>
              </a:rPr>
              <a:t> </a:t>
            </a:r>
            <a:r>
              <a:rPr lang="en-US" sz="1800" b="1" dirty="0">
                <a:solidFill>
                  <a:srgbClr val="009900"/>
                </a:solidFill>
              </a:rPr>
              <a:t>%s</a:t>
            </a:r>
            <a:r>
              <a:rPr lang="en-US" sz="1800" dirty="0">
                <a:solidFill>
                  <a:srgbClr val="FF6600"/>
                </a:solidFill>
              </a:rPr>
              <a:t>, </a:t>
            </a:r>
            <a:r>
              <a:rPr lang="en-US" sz="1800" dirty="0" err="1">
                <a:solidFill>
                  <a:srgbClr val="FF6600"/>
                </a:solidFill>
              </a:rPr>
              <a:t>te</a:t>
            </a:r>
            <a:r>
              <a:rPr lang="en-US" sz="1800" dirty="0">
                <a:solidFill>
                  <a:srgbClr val="FF6600"/>
                </a:solidFill>
              </a:rPr>
              <a:t> </a:t>
            </a:r>
            <a:r>
              <a:rPr lang="en-US" sz="1800" dirty="0" err="1">
                <a:solidFill>
                  <a:srgbClr val="FF6600"/>
                </a:solidFill>
              </a:rPr>
              <a:t>invito</a:t>
            </a:r>
            <a:r>
              <a:rPr lang="en-US" sz="1800" dirty="0">
                <a:solidFill>
                  <a:srgbClr val="FF6600"/>
                </a:solidFill>
              </a:rPr>
              <a:t> a mi fiesta”</a:t>
            </a:r>
            <a:r>
              <a:rPr lang="en-US" sz="1800" dirty="0"/>
              <a:t>, </a:t>
            </a:r>
            <a:r>
              <a:rPr lang="en-US" sz="1800" b="1" dirty="0">
                <a:solidFill>
                  <a:srgbClr val="009900"/>
                </a:solidFill>
              </a:rPr>
              <a:t>“Antonio”</a:t>
            </a:r>
            <a:r>
              <a:rPr lang="en-US" sz="1800" dirty="0"/>
              <a:t>)</a:t>
            </a:r>
          </a:p>
        </p:txBody>
      </p:sp>
      <p:grpSp>
        <p:nvGrpSpPr>
          <p:cNvPr id="18" name="17 Grupo"/>
          <p:cNvGrpSpPr/>
          <p:nvPr/>
        </p:nvGrpSpPr>
        <p:grpSpPr>
          <a:xfrm>
            <a:off x="3995936" y="1173892"/>
            <a:ext cx="2880320" cy="216024"/>
            <a:chOff x="3995936" y="1196752"/>
            <a:chExt cx="2880320" cy="216024"/>
          </a:xfrm>
        </p:grpSpPr>
        <p:cxnSp>
          <p:nvCxnSpPr>
            <p:cNvPr id="9" name="8 Conector recto"/>
            <p:cNvCxnSpPr/>
            <p:nvPr/>
          </p:nvCxnSpPr>
          <p:spPr bwMode="auto">
            <a:xfrm flipV="1">
              <a:off x="6876256" y="1196752"/>
              <a:ext cx="0" cy="216024"/>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3" name="12 Conector recto"/>
            <p:cNvCxnSpPr/>
            <p:nvPr/>
          </p:nvCxnSpPr>
          <p:spPr bwMode="auto">
            <a:xfrm flipH="1">
              <a:off x="3995936" y="1196752"/>
              <a:ext cx="2880320"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6" name="15 Conector recto de flecha"/>
            <p:cNvCxnSpPr/>
            <p:nvPr/>
          </p:nvCxnSpPr>
          <p:spPr bwMode="auto">
            <a:xfrm>
              <a:off x="3995936" y="1196752"/>
              <a:ext cx="0" cy="21602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sp>
        <p:nvSpPr>
          <p:cNvPr id="19" name="18 Rectángulo"/>
          <p:cNvSpPr/>
          <p:nvPr/>
        </p:nvSpPr>
        <p:spPr>
          <a:xfrm>
            <a:off x="2699792" y="2276872"/>
            <a:ext cx="3808040" cy="369332"/>
          </a:xfrm>
          <a:prstGeom prst="rect">
            <a:avLst/>
          </a:prstGeom>
        </p:spPr>
        <p:txBody>
          <a:bodyPr wrap="square">
            <a:spAutoFit/>
          </a:bodyPr>
          <a:lstStyle/>
          <a:p>
            <a:r>
              <a:rPr lang="en-US" sz="1800" dirty="0" err="1">
                <a:solidFill>
                  <a:srgbClr val="FF6600"/>
                </a:solidFill>
              </a:rPr>
              <a:t>Hola</a:t>
            </a:r>
            <a:r>
              <a:rPr lang="en-US" sz="1800" dirty="0">
                <a:solidFill>
                  <a:srgbClr val="FF6600"/>
                </a:solidFill>
              </a:rPr>
              <a:t> </a:t>
            </a:r>
            <a:r>
              <a:rPr lang="en-US" sz="1800" b="1" dirty="0">
                <a:solidFill>
                  <a:srgbClr val="009900"/>
                </a:solidFill>
              </a:rPr>
              <a:t>Antonio</a:t>
            </a:r>
            <a:r>
              <a:rPr lang="en-US" sz="1800" dirty="0">
                <a:solidFill>
                  <a:srgbClr val="FF6600"/>
                </a:solidFill>
              </a:rPr>
              <a:t>, </a:t>
            </a:r>
            <a:r>
              <a:rPr lang="en-US" sz="1800" dirty="0" err="1">
                <a:solidFill>
                  <a:srgbClr val="FF6600"/>
                </a:solidFill>
              </a:rPr>
              <a:t>te</a:t>
            </a:r>
            <a:r>
              <a:rPr lang="en-US" sz="1800" dirty="0">
                <a:solidFill>
                  <a:srgbClr val="FF6600"/>
                </a:solidFill>
              </a:rPr>
              <a:t> </a:t>
            </a:r>
            <a:r>
              <a:rPr lang="en-US" sz="1800" dirty="0" err="1">
                <a:solidFill>
                  <a:srgbClr val="FF6600"/>
                </a:solidFill>
              </a:rPr>
              <a:t>invito</a:t>
            </a:r>
            <a:r>
              <a:rPr lang="en-US" sz="1800" dirty="0">
                <a:solidFill>
                  <a:srgbClr val="FF6600"/>
                </a:solidFill>
              </a:rPr>
              <a:t> a mi fiesta</a:t>
            </a:r>
            <a:endParaRPr lang="en-US" sz="1800" dirty="0"/>
          </a:p>
        </p:txBody>
      </p:sp>
      <p:sp>
        <p:nvSpPr>
          <p:cNvPr id="20" name="19 Cerrar llave"/>
          <p:cNvSpPr/>
          <p:nvPr/>
        </p:nvSpPr>
        <p:spPr bwMode="auto">
          <a:xfrm rot="5400000">
            <a:off x="4679134" y="337302"/>
            <a:ext cx="206732" cy="2952328"/>
          </a:xfrm>
          <a:prstGeom prst="rightBrace">
            <a:avLst>
              <a:gd name="adj1" fmla="val 70994"/>
              <a:gd name="adj2" fmla="val 50000"/>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1" name="20 CuadroTexto"/>
          <p:cNvSpPr txBox="1"/>
          <p:nvPr/>
        </p:nvSpPr>
        <p:spPr>
          <a:xfrm>
            <a:off x="3716016" y="1882924"/>
            <a:ext cx="2152128" cy="400110"/>
          </a:xfrm>
          <a:prstGeom prst="rect">
            <a:avLst/>
          </a:prstGeom>
          <a:noFill/>
        </p:spPr>
        <p:txBody>
          <a:bodyPr wrap="none" rtlCol="0">
            <a:spAutoFit/>
          </a:bodyPr>
          <a:lstStyle/>
          <a:p>
            <a:pPr algn="ctr"/>
            <a:r>
              <a:rPr lang="es-ES" sz="2000" b="1" dirty="0">
                <a:solidFill>
                  <a:srgbClr val="0070C0"/>
                </a:solidFill>
                <a:latin typeface="Script MT Bold" pitchFamily="66" charset="0"/>
              </a:rPr>
              <a:t>Cadena de Formato</a:t>
            </a:r>
          </a:p>
        </p:txBody>
      </p:sp>
      <p:grpSp>
        <p:nvGrpSpPr>
          <p:cNvPr id="54" name="53 Grupo"/>
          <p:cNvGrpSpPr/>
          <p:nvPr/>
        </p:nvGrpSpPr>
        <p:grpSpPr>
          <a:xfrm>
            <a:off x="4292352" y="797426"/>
            <a:ext cx="1863824" cy="550867"/>
            <a:chOff x="4292352" y="797426"/>
            <a:chExt cx="1863824" cy="550867"/>
          </a:xfrm>
        </p:grpSpPr>
        <p:sp>
          <p:nvSpPr>
            <p:cNvPr id="22" name="21 Cerrar llave"/>
            <p:cNvSpPr/>
            <p:nvPr/>
          </p:nvSpPr>
          <p:spPr bwMode="auto">
            <a:xfrm rot="16200000" flipV="1">
              <a:off x="5120898" y="313015"/>
              <a:ext cx="206732" cy="1863824"/>
            </a:xfrm>
            <a:prstGeom prst="rightBrace">
              <a:avLst>
                <a:gd name="adj1" fmla="val 70994"/>
                <a:gd name="adj2" fmla="val 50000"/>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3" name="22 CuadroTexto"/>
            <p:cNvSpPr txBox="1"/>
            <p:nvPr/>
          </p:nvSpPr>
          <p:spPr>
            <a:xfrm>
              <a:off x="4717600" y="797426"/>
              <a:ext cx="1133900" cy="369332"/>
            </a:xfrm>
            <a:prstGeom prst="rect">
              <a:avLst/>
            </a:prstGeom>
            <a:noFill/>
          </p:spPr>
          <p:txBody>
            <a:bodyPr wrap="none" rtlCol="0">
              <a:spAutoFit/>
            </a:bodyPr>
            <a:lstStyle/>
            <a:p>
              <a:pPr algn="ctr"/>
              <a:r>
                <a:rPr lang="es-ES" sz="1800" b="1" dirty="0">
                  <a:solidFill>
                    <a:srgbClr val="0070C0"/>
                  </a:solidFill>
                  <a:latin typeface="Script MT Bold" pitchFamily="66" charset="0"/>
                </a:rPr>
                <a:t>Texto Fijo</a:t>
              </a:r>
            </a:p>
          </p:txBody>
        </p:sp>
      </p:grpSp>
      <p:grpSp>
        <p:nvGrpSpPr>
          <p:cNvPr id="55" name="54 Grupo"/>
          <p:cNvGrpSpPr/>
          <p:nvPr/>
        </p:nvGrpSpPr>
        <p:grpSpPr>
          <a:xfrm>
            <a:off x="2058998" y="779944"/>
            <a:ext cx="2462277" cy="609972"/>
            <a:chOff x="2058998" y="779944"/>
            <a:chExt cx="2462277" cy="609972"/>
          </a:xfrm>
        </p:grpSpPr>
        <p:cxnSp>
          <p:nvCxnSpPr>
            <p:cNvPr id="25" name="24 Conector recto de flecha"/>
            <p:cNvCxnSpPr/>
            <p:nvPr/>
          </p:nvCxnSpPr>
          <p:spPr bwMode="auto">
            <a:xfrm rot="10800000">
              <a:off x="3563888" y="1141561"/>
              <a:ext cx="432048" cy="248355"/>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26" name="25 CuadroTexto"/>
            <p:cNvSpPr txBox="1"/>
            <p:nvPr/>
          </p:nvSpPr>
          <p:spPr>
            <a:xfrm>
              <a:off x="2058998" y="779944"/>
              <a:ext cx="2462277" cy="400110"/>
            </a:xfrm>
            <a:prstGeom prst="rect">
              <a:avLst/>
            </a:prstGeom>
            <a:noFill/>
          </p:spPr>
          <p:txBody>
            <a:bodyPr wrap="none" rtlCol="0">
              <a:spAutoFit/>
            </a:bodyPr>
            <a:lstStyle/>
            <a:p>
              <a:pPr algn="ctr"/>
              <a:r>
                <a:rPr lang="es-ES" sz="1800" b="1" dirty="0">
                  <a:solidFill>
                    <a:srgbClr val="0070C0"/>
                  </a:solidFill>
                  <a:latin typeface="Script MT Bold" pitchFamily="66" charset="0"/>
                </a:rPr>
                <a:t>Especificador de format</a:t>
              </a:r>
              <a:r>
                <a:rPr lang="es-ES" sz="2000" b="1" dirty="0">
                  <a:solidFill>
                    <a:srgbClr val="0070C0"/>
                  </a:solidFill>
                  <a:latin typeface="Script MT Bold" pitchFamily="66" charset="0"/>
                </a:rPr>
                <a:t>o</a:t>
              </a:r>
            </a:p>
          </p:txBody>
        </p:sp>
      </p:grpSp>
      <p:sp>
        <p:nvSpPr>
          <p:cNvPr id="27" name="26 Rectángulo"/>
          <p:cNvSpPr/>
          <p:nvPr/>
        </p:nvSpPr>
        <p:spPr bwMode="auto">
          <a:xfrm>
            <a:off x="808472" y="2924944"/>
            <a:ext cx="7560840" cy="72008"/>
          </a:xfrm>
          <a:prstGeom prst="rect">
            <a:avLst/>
          </a:prstGeom>
          <a:solidFill>
            <a:srgbClr val="7030A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8" name="27 Rectángulo"/>
          <p:cNvSpPr/>
          <p:nvPr/>
        </p:nvSpPr>
        <p:spPr>
          <a:xfrm>
            <a:off x="1002080" y="3480286"/>
            <a:ext cx="7278332" cy="369332"/>
          </a:xfrm>
          <a:prstGeom prst="rect">
            <a:avLst/>
          </a:prstGeom>
        </p:spPr>
        <p:txBody>
          <a:bodyPr wrap="square">
            <a:spAutoFit/>
          </a:bodyPr>
          <a:lstStyle/>
          <a:p>
            <a:r>
              <a:rPr lang="en-US" sz="1800" dirty="0" err="1">
                <a:solidFill>
                  <a:srgbClr val="0070C0"/>
                </a:solidFill>
              </a:rPr>
              <a:t>System.out</a:t>
            </a:r>
            <a:r>
              <a:rPr lang="en-US" sz="1800" dirty="0">
                <a:solidFill>
                  <a:srgbClr val="0070C0"/>
                </a:solidFill>
              </a:rPr>
              <a:t>.</a:t>
            </a:r>
            <a:r>
              <a:rPr lang="es-ES" sz="1800" b="1" dirty="0" err="1">
                <a:solidFill>
                  <a:srgbClr val="FF0000"/>
                </a:solidFill>
              </a:rPr>
              <a:t>printf</a:t>
            </a:r>
            <a:r>
              <a:rPr lang="es-ES" sz="1800" dirty="0">
                <a:solidFill>
                  <a:srgbClr val="FF0000"/>
                </a:solidFill>
              </a:rPr>
              <a:t> </a:t>
            </a:r>
            <a:r>
              <a:rPr lang="en-US" sz="1800" dirty="0"/>
              <a:t>( </a:t>
            </a:r>
            <a:r>
              <a:rPr lang="en-US" sz="1800" dirty="0">
                <a:solidFill>
                  <a:srgbClr val="FF6600"/>
                </a:solidFill>
              </a:rPr>
              <a:t>“</a:t>
            </a:r>
            <a:r>
              <a:rPr lang="en-US" sz="1800" dirty="0" err="1">
                <a:solidFill>
                  <a:srgbClr val="FF6600"/>
                </a:solidFill>
              </a:rPr>
              <a:t>Nombre</a:t>
            </a:r>
            <a:r>
              <a:rPr lang="en-US" sz="1800" dirty="0">
                <a:solidFill>
                  <a:srgbClr val="FF6600"/>
                </a:solidFill>
              </a:rPr>
              <a:t>: </a:t>
            </a:r>
            <a:r>
              <a:rPr lang="en-US" sz="1800" b="1" dirty="0">
                <a:solidFill>
                  <a:srgbClr val="009900"/>
                </a:solidFill>
              </a:rPr>
              <a:t>%s</a:t>
            </a:r>
            <a:r>
              <a:rPr lang="en-US" sz="1800" dirty="0">
                <a:solidFill>
                  <a:srgbClr val="FF6600"/>
                </a:solidFill>
              </a:rPr>
              <a:t>, </a:t>
            </a:r>
            <a:r>
              <a:rPr lang="en-US" sz="1800" dirty="0" err="1">
                <a:solidFill>
                  <a:srgbClr val="FF6600"/>
                </a:solidFill>
              </a:rPr>
              <a:t>Apellido</a:t>
            </a:r>
            <a:r>
              <a:rPr lang="en-US" sz="1800" dirty="0">
                <a:solidFill>
                  <a:srgbClr val="FF6600"/>
                </a:solidFill>
              </a:rPr>
              <a:t>: </a:t>
            </a:r>
            <a:r>
              <a:rPr lang="en-US" sz="1800" b="1" dirty="0">
                <a:solidFill>
                  <a:srgbClr val="009900"/>
                </a:solidFill>
              </a:rPr>
              <a:t>%s</a:t>
            </a:r>
            <a:r>
              <a:rPr lang="en-US" sz="1800" dirty="0">
                <a:solidFill>
                  <a:srgbClr val="FF6600"/>
                </a:solidFill>
              </a:rPr>
              <a:t>”</a:t>
            </a:r>
            <a:r>
              <a:rPr lang="en-US" sz="1800" dirty="0"/>
              <a:t>,                   , </a:t>
            </a:r>
            <a:r>
              <a:rPr lang="en-US" sz="1800" b="1" dirty="0">
                <a:solidFill>
                  <a:srgbClr val="009900"/>
                </a:solidFill>
              </a:rPr>
              <a:t>“Ruiz”</a:t>
            </a:r>
            <a:r>
              <a:rPr lang="en-US" sz="1800" dirty="0"/>
              <a:t>)</a:t>
            </a:r>
          </a:p>
        </p:txBody>
      </p:sp>
      <p:sp>
        <p:nvSpPr>
          <p:cNvPr id="29" name="28 Flecha abajo"/>
          <p:cNvSpPr/>
          <p:nvPr/>
        </p:nvSpPr>
        <p:spPr bwMode="auto">
          <a:xfrm>
            <a:off x="4139952" y="1813466"/>
            <a:ext cx="642548" cy="469568"/>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0" name="29 Rectángulo"/>
          <p:cNvSpPr/>
          <p:nvPr/>
        </p:nvSpPr>
        <p:spPr>
          <a:xfrm>
            <a:off x="2798852" y="4355812"/>
            <a:ext cx="3609920" cy="369332"/>
          </a:xfrm>
          <a:prstGeom prst="rect">
            <a:avLst/>
          </a:prstGeom>
        </p:spPr>
        <p:txBody>
          <a:bodyPr wrap="square">
            <a:spAutoFit/>
          </a:bodyPr>
          <a:lstStyle/>
          <a:p>
            <a:r>
              <a:rPr lang="en-US" sz="1800" dirty="0" err="1">
                <a:solidFill>
                  <a:srgbClr val="FF6600"/>
                </a:solidFill>
              </a:rPr>
              <a:t>Nombre</a:t>
            </a:r>
            <a:r>
              <a:rPr lang="en-US" sz="1800" dirty="0">
                <a:solidFill>
                  <a:srgbClr val="FF6600"/>
                </a:solidFill>
              </a:rPr>
              <a:t>: </a:t>
            </a:r>
            <a:r>
              <a:rPr lang="en-US" sz="1800" b="1" dirty="0">
                <a:solidFill>
                  <a:srgbClr val="009900"/>
                </a:solidFill>
              </a:rPr>
              <a:t>Antonio</a:t>
            </a:r>
            <a:r>
              <a:rPr lang="en-US" sz="1800" dirty="0">
                <a:solidFill>
                  <a:srgbClr val="FF6600"/>
                </a:solidFill>
              </a:rPr>
              <a:t>, </a:t>
            </a:r>
            <a:r>
              <a:rPr lang="en-US" sz="1800" dirty="0" err="1">
                <a:solidFill>
                  <a:srgbClr val="FF6600"/>
                </a:solidFill>
              </a:rPr>
              <a:t>Apellido</a:t>
            </a:r>
            <a:r>
              <a:rPr lang="en-US" sz="1800" dirty="0">
                <a:solidFill>
                  <a:srgbClr val="FF6600"/>
                </a:solidFill>
              </a:rPr>
              <a:t>: </a:t>
            </a:r>
            <a:r>
              <a:rPr lang="en-US" sz="1800" b="1" dirty="0">
                <a:solidFill>
                  <a:srgbClr val="009900"/>
                </a:solidFill>
              </a:rPr>
              <a:t>Ruiz</a:t>
            </a:r>
            <a:r>
              <a:rPr lang="en-US" sz="1800" dirty="0">
                <a:solidFill>
                  <a:srgbClr val="FF6600"/>
                </a:solidFill>
              </a:rPr>
              <a:t> </a:t>
            </a:r>
            <a:endParaRPr lang="en-US" sz="1800" dirty="0"/>
          </a:p>
        </p:txBody>
      </p:sp>
      <p:grpSp>
        <p:nvGrpSpPr>
          <p:cNvPr id="31" name="30 Grupo"/>
          <p:cNvGrpSpPr/>
          <p:nvPr/>
        </p:nvGrpSpPr>
        <p:grpSpPr>
          <a:xfrm>
            <a:off x="4292352" y="3264262"/>
            <a:ext cx="2295872" cy="216024"/>
            <a:chOff x="3995936" y="1196752"/>
            <a:chExt cx="2880320" cy="216024"/>
          </a:xfrm>
        </p:grpSpPr>
        <p:cxnSp>
          <p:nvCxnSpPr>
            <p:cNvPr id="32" name="31 Conector recto"/>
            <p:cNvCxnSpPr/>
            <p:nvPr/>
          </p:nvCxnSpPr>
          <p:spPr bwMode="auto">
            <a:xfrm flipV="1">
              <a:off x="6876256" y="1196752"/>
              <a:ext cx="0" cy="216024"/>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33" name="32 Conector recto"/>
            <p:cNvCxnSpPr/>
            <p:nvPr/>
          </p:nvCxnSpPr>
          <p:spPr bwMode="auto">
            <a:xfrm flipH="1">
              <a:off x="3995936" y="1196752"/>
              <a:ext cx="2880320"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34" name="33 Conector recto de flecha"/>
            <p:cNvCxnSpPr/>
            <p:nvPr/>
          </p:nvCxnSpPr>
          <p:spPr bwMode="auto">
            <a:xfrm>
              <a:off x="3995936" y="1196752"/>
              <a:ext cx="0" cy="21602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grpSp>
        <p:nvGrpSpPr>
          <p:cNvPr id="36" name="35 Grupo"/>
          <p:cNvGrpSpPr/>
          <p:nvPr/>
        </p:nvGrpSpPr>
        <p:grpSpPr>
          <a:xfrm>
            <a:off x="5618336" y="3140968"/>
            <a:ext cx="1978000" cy="369396"/>
            <a:chOff x="3995936" y="1196752"/>
            <a:chExt cx="2880320" cy="216024"/>
          </a:xfrm>
        </p:grpSpPr>
        <p:cxnSp>
          <p:nvCxnSpPr>
            <p:cNvPr id="37" name="36 Conector recto"/>
            <p:cNvCxnSpPr/>
            <p:nvPr/>
          </p:nvCxnSpPr>
          <p:spPr bwMode="auto">
            <a:xfrm flipV="1">
              <a:off x="6876256" y="1196752"/>
              <a:ext cx="0" cy="216024"/>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38" name="37 Conector recto"/>
            <p:cNvCxnSpPr/>
            <p:nvPr/>
          </p:nvCxnSpPr>
          <p:spPr bwMode="auto">
            <a:xfrm flipH="1">
              <a:off x="3995936" y="1196752"/>
              <a:ext cx="2880320"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39" name="38 Conector recto de flecha"/>
            <p:cNvCxnSpPr/>
            <p:nvPr/>
          </p:nvCxnSpPr>
          <p:spPr bwMode="auto">
            <a:xfrm>
              <a:off x="3995936" y="1196752"/>
              <a:ext cx="0" cy="21602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sp>
        <p:nvSpPr>
          <p:cNvPr id="40" name="39 Flecha abajo"/>
          <p:cNvSpPr/>
          <p:nvPr/>
        </p:nvSpPr>
        <p:spPr bwMode="auto">
          <a:xfrm>
            <a:off x="4169356" y="3870340"/>
            <a:ext cx="642548" cy="494764"/>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1" name="40 Rectángulo"/>
          <p:cNvSpPr/>
          <p:nvPr/>
        </p:nvSpPr>
        <p:spPr bwMode="auto">
          <a:xfrm>
            <a:off x="803666" y="4805536"/>
            <a:ext cx="7560840" cy="72008"/>
          </a:xfrm>
          <a:prstGeom prst="rect">
            <a:avLst/>
          </a:prstGeom>
          <a:solidFill>
            <a:srgbClr val="7030A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2" name="41 Rectángulo"/>
          <p:cNvSpPr/>
          <p:nvPr/>
        </p:nvSpPr>
        <p:spPr>
          <a:xfrm>
            <a:off x="1518222" y="5157192"/>
            <a:ext cx="6006106" cy="369332"/>
          </a:xfrm>
          <a:prstGeom prst="rect">
            <a:avLst/>
          </a:prstGeom>
        </p:spPr>
        <p:txBody>
          <a:bodyPr wrap="square">
            <a:spAutoFit/>
          </a:bodyPr>
          <a:lstStyle/>
          <a:p>
            <a:r>
              <a:rPr lang="en-US" sz="1800" dirty="0" err="1">
                <a:solidFill>
                  <a:srgbClr val="0070C0"/>
                </a:solidFill>
              </a:rPr>
              <a:t>System.out</a:t>
            </a:r>
            <a:r>
              <a:rPr lang="en-US" sz="1800" dirty="0">
                <a:solidFill>
                  <a:srgbClr val="0070C0"/>
                </a:solidFill>
              </a:rPr>
              <a:t>.</a:t>
            </a:r>
            <a:r>
              <a:rPr lang="es-ES" sz="1800" b="1" dirty="0" err="1">
                <a:solidFill>
                  <a:srgbClr val="FF0000"/>
                </a:solidFill>
              </a:rPr>
              <a:t>printf</a:t>
            </a:r>
            <a:r>
              <a:rPr lang="es-ES" sz="1800" dirty="0">
                <a:solidFill>
                  <a:srgbClr val="FF0000"/>
                </a:solidFill>
              </a:rPr>
              <a:t> </a:t>
            </a:r>
            <a:r>
              <a:rPr lang="en-US" sz="1800" dirty="0"/>
              <a:t>( </a:t>
            </a:r>
            <a:r>
              <a:rPr lang="en-US" sz="1800" dirty="0">
                <a:solidFill>
                  <a:srgbClr val="FF6600"/>
                </a:solidFill>
              </a:rPr>
              <a:t>“</a:t>
            </a:r>
            <a:r>
              <a:rPr lang="en-US" sz="1800" b="1" dirty="0">
                <a:solidFill>
                  <a:srgbClr val="009900"/>
                </a:solidFill>
              </a:rPr>
              <a:t>%s</a:t>
            </a:r>
            <a:r>
              <a:rPr lang="en-US" sz="1800" dirty="0">
                <a:solidFill>
                  <a:srgbClr val="FF6600"/>
                </a:solidFill>
              </a:rPr>
              <a:t> </a:t>
            </a:r>
            <a:r>
              <a:rPr lang="en-US" sz="1800" dirty="0" err="1">
                <a:solidFill>
                  <a:srgbClr val="FF6600"/>
                </a:solidFill>
              </a:rPr>
              <a:t>tiene</a:t>
            </a:r>
            <a:r>
              <a:rPr lang="en-US" sz="1800" dirty="0">
                <a:solidFill>
                  <a:srgbClr val="FF6600"/>
                </a:solidFill>
              </a:rPr>
              <a:t> </a:t>
            </a:r>
            <a:r>
              <a:rPr lang="en-US" sz="1800" b="1" dirty="0">
                <a:solidFill>
                  <a:srgbClr val="009900"/>
                </a:solidFill>
              </a:rPr>
              <a:t>%d</a:t>
            </a:r>
            <a:r>
              <a:rPr lang="en-US" sz="1800" dirty="0">
                <a:solidFill>
                  <a:srgbClr val="FF6600"/>
                </a:solidFill>
              </a:rPr>
              <a:t> </a:t>
            </a:r>
            <a:r>
              <a:rPr lang="en-US" sz="1800" dirty="0" err="1">
                <a:solidFill>
                  <a:srgbClr val="FF6600"/>
                </a:solidFill>
              </a:rPr>
              <a:t>años</a:t>
            </a:r>
            <a:r>
              <a:rPr lang="en-US" sz="1800" dirty="0">
                <a:solidFill>
                  <a:srgbClr val="FF6600"/>
                </a:solidFill>
              </a:rPr>
              <a:t>”</a:t>
            </a:r>
            <a:r>
              <a:rPr lang="en-US" sz="1800" dirty="0"/>
              <a:t>, </a:t>
            </a:r>
            <a:r>
              <a:rPr lang="en-US" sz="1800" b="1" dirty="0">
                <a:solidFill>
                  <a:srgbClr val="009900"/>
                </a:solidFill>
              </a:rPr>
              <a:t>“Antonio”</a:t>
            </a:r>
            <a:r>
              <a:rPr lang="en-US" sz="1800" dirty="0"/>
              <a:t> , </a:t>
            </a:r>
            <a:r>
              <a:rPr lang="en-US" sz="1800" b="1" dirty="0">
                <a:solidFill>
                  <a:srgbClr val="009900"/>
                </a:solidFill>
              </a:rPr>
              <a:t>11</a:t>
            </a:r>
            <a:r>
              <a:rPr lang="en-US" sz="1800" dirty="0"/>
              <a:t>)</a:t>
            </a:r>
          </a:p>
        </p:txBody>
      </p:sp>
      <p:sp>
        <p:nvSpPr>
          <p:cNvPr id="43" name="42 Rectángulo"/>
          <p:cNvSpPr/>
          <p:nvPr/>
        </p:nvSpPr>
        <p:spPr>
          <a:xfrm>
            <a:off x="3159127" y="6042010"/>
            <a:ext cx="2649709" cy="369332"/>
          </a:xfrm>
          <a:prstGeom prst="rect">
            <a:avLst/>
          </a:prstGeom>
        </p:spPr>
        <p:txBody>
          <a:bodyPr wrap="square">
            <a:spAutoFit/>
          </a:bodyPr>
          <a:lstStyle/>
          <a:p>
            <a:r>
              <a:rPr lang="en-US" sz="1800" b="1" dirty="0">
                <a:solidFill>
                  <a:srgbClr val="009900"/>
                </a:solidFill>
              </a:rPr>
              <a:t>Antonio</a:t>
            </a:r>
            <a:r>
              <a:rPr lang="en-US" sz="1800" dirty="0">
                <a:solidFill>
                  <a:srgbClr val="FF6600"/>
                </a:solidFill>
              </a:rPr>
              <a:t> </a:t>
            </a:r>
            <a:r>
              <a:rPr lang="en-US" sz="1800" dirty="0" err="1">
                <a:solidFill>
                  <a:srgbClr val="FF6600"/>
                </a:solidFill>
              </a:rPr>
              <a:t>tiene</a:t>
            </a:r>
            <a:r>
              <a:rPr lang="en-US" sz="1800" dirty="0">
                <a:solidFill>
                  <a:srgbClr val="FF6600"/>
                </a:solidFill>
              </a:rPr>
              <a:t> </a:t>
            </a:r>
            <a:r>
              <a:rPr lang="en-US" sz="1800" b="1" dirty="0">
                <a:solidFill>
                  <a:srgbClr val="009900"/>
                </a:solidFill>
              </a:rPr>
              <a:t>11 </a:t>
            </a:r>
            <a:r>
              <a:rPr lang="en-US" sz="1800" dirty="0" err="1">
                <a:solidFill>
                  <a:srgbClr val="FF6600"/>
                </a:solidFill>
              </a:rPr>
              <a:t>años</a:t>
            </a:r>
            <a:r>
              <a:rPr lang="en-US" sz="1800" dirty="0">
                <a:solidFill>
                  <a:srgbClr val="FF6600"/>
                </a:solidFill>
              </a:rPr>
              <a:t> </a:t>
            </a:r>
            <a:endParaRPr lang="en-US" sz="1800" dirty="0"/>
          </a:p>
        </p:txBody>
      </p:sp>
      <p:sp>
        <p:nvSpPr>
          <p:cNvPr id="52" name="51 Flecha abajo"/>
          <p:cNvSpPr/>
          <p:nvPr/>
        </p:nvSpPr>
        <p:spPr bwMode="auto">
          <a:xfrm>
            <a:off x="4139952" y="5547246"/>
            <a:ext cx="642548" cy="494764"/>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3" name="52 Cerrar llave"/>
          <p:cNvSpPr/>
          <p:nvPr/>
        </p:nvSpPr>
        <p:spPr bwMode="auto">
          <a:xfrm rot="5400000">
            <a:off x="6925845" y="1275848"/>
            <a:ext cx="162466" cy="1034501"/>
          </a:xfrm>
          <a:prstGeom prst="rightBrace">
            <a:avLst>
              <a:gd name="adj1" fmla="val 70994"/>
              <a:gd name="adj2" fmla="val 50000"/>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6" name="55 Rectángulo"/>
          <p:cNvSpPr/>
          <p:nvPr/>
        </p:nvSpPr>
        <p:spPr>
          <a:xfrm>
            <a:off x="6258664" y="6453014"/>
            <a:ext cx="2777832" cy="369332"/>
          </a:xfrm>
          <a:prstGeom prst="rect">
            <a:avLst/>
          </a:prstGeom>
        </p:spPr>
        <p:txBody>
          <a:bodyPr wrap="square">
            <a:spAutoFit/>
          </a:bodyPr>
          <a:lstStyle/>
          <a:p>
            <a:r>
              <a:rPr lang="en-US" sz="1800" dirty="0" err="1">
                <a:solidFill>
                  <a:srgbClr val="7030A0"/>
                </a:solidFill>
              </a:rPr>
              <a:t>Ver</a:t>
            </a:r>
            <a:r>
              <a:rPr lang="en-US" sz="1800" dirty="0">
                <a:solidFill>
                  <a:srgbClr val="7030A0"/>
                </a:solidFill>
              </a:rPr>
              <a:t> </a:t>
            </a:r>
            <a:r>
              <a:rPr lang="en-US" sz="1800" dirty="0" err="1">
                <a:solidFill>
                  <a:srgbClr val="7030A0"/>
                </a:solidFill>
              </a:rPr>
              <a:t>documento</a:t>
            </a:r>
            <a:r>
              <a:rPr lang="en-US" sz="1800" dirty="0">
                <a:solidFill>
                  <a:srgbClr val="7030A0"/>
                </a:solidFill>
              </a:rPr>
              <a:t> Moodle</a:t>
            </a:r>
          </a:p>
        </p:txBody>
      </p:sp>
      <p:sp>
        <p:nvSpPr>
          <p:cNvPr id="57" name="56 Rectángulo"/>
          <p:cNvSpPr/>
          <p:nvPr/>
        </p:nvSpPr>
        <p:spPr>
          <a:xfrm>
            <a:off x="5906244" y="3473638"/>
            <a:ext cx="1481496" cy="400110"/>
          </a:xfrm>
          <a:prstGeom prst="rect">
            <a:avLst/>
          </a:prstGeom>
        </p:spPr>
        <p:txBody>
          <a:bodyPr wrap="none">
            <a:spAutoFit/>
          </a:bodyPr>
          <a:lstStyle/>
          <a:p>
            <a:r>
              <a:rPr lang="en-US" sz="2000" b="1" dirty="0">
                <a:solidFill>
                  <a:srgbClr val="009900"/>
                </a:solidFill>
              </a:rPr>
              <a:t>“Antonio”</a:t>
            </a:r>
            <a:r>
              <a:rPr lang="en-US" sz="2000" dirty="0"/>
              <a:t> </a:t>
            </a:r>
            <a:endParaRPr lang="es-ES" dirty="0"/>
          </a:p>
        </p:txBody>
      </p:sp>
      <p:sp>
        <p:nvSpPr>
          <p:cNvPr id="58" name="57 Rectángulo"/>
          <p:cNvSpPr/>
          <p:nvPr/>
        </p:nvSpPr>
        <p:spPr>
          <a:xfrm>
            <a:off x="1002080" y="3202661"/>
            <a:ext cx="2961067" cy="369332"/>
          </a:xfrm>
          <a:prstGeom prst="rect">
            <a:avLst/>
          </a:prstGeom>
        </p:spPr>
        <p:txBody>
          <a:bodyPr wrap="none">
            <a:spAutoFit/>
          </a:bodyPr>
          <a:lstStyle/>
          <a:p>
            <a:r>
              <a:rPr lang="en-US" sz="1800" dirty="0">
                <a:solidFill>
                  <a:srgbClr val="0070C0"/>
                </a:solidFill>
              </a:rPr>
              <a:t>String</a:t>
            </a:r>
            <a:r>
              <a:rPr lang="en-US" sz="1800" dirty="0">
                <a:solidFill>
                  <a:srgbClr val="009900"/>
                </a:solidFill>
              </a:rPr>
              <a:t> </a:t>
            </a:r>
            <a:r>
              <a:rPr lang="en-US" sz="1800" dirty="0" err="1">
                <a:solidFill>
                  <a:srgbClr val="002060"/>
                </a:solidFill>
              </a:rPr>
              <a:t>nombre</a:t>
            </a:r>
            <a:r>
              <a:rPr lang="en-US" sz="1800" dirty="0">
                <a:solidFill>
                  <a:srgbClr val="009900"/>
                </a:solidFill>
              </a:rPr>
              <a:t> </a:t>
            </a:r>
            <a:r>
              <a:rPr lang="en-US" sz="1800" dirty="0">
                <a:solidFill>
                  <a:srgbClr val="002060"/>
                </a:solidFill>
              </a:rPr>
              <a:t>= </a:t>
            </a:r>
            <a:r>
              <a:rPr lang="en-US" sz="1800" dirty="0">
                <a:solidFill>
                  <a:srgbClr val="009900"/>
                </a:solidFill>
              </a:rPr>
              <a:t>“Antonio”</a:t>
            </a:r>
            <a:r>
              <a:rPr lang="en-US" sz="1800" dirty="0">
                <a:solidFill>
                  <a:srgbClr val="002060"/>
                </a:solidFill>
              </a:rPr>
              <a:t>;</a:t>
            </a:r>
            <a:r>
              <a:rPr lang="en-US" sz="1800" dirty="0"/>
              <a:t> </a:t>
            </a:r>
            <a:endParaRPr lang="es-ES" sz="1800" dirty="0"/>
          </a:p>
        </p:txBody>
      </p:sp>
      <p:sp>
        <p:nvSpPr>
          <p:cNvPr id="59" name="58 Rectángulo"/>
          <p:cNvSpPr/>
          <p:nvPr/>
        </p:nvSpPr>
        <p:spPr>
          <a:xfrm>
            <a:off x="6000559" y="3478078"/>
            <a:ext cx="1138329" cy="400110"/>
          </a:xfrm>
          <a:prstGeom prst="rect">
            <a:avLst/>
          </a:prstGeom>
        </p:spPr>
        <p:txBody>
          <a:bodyPr wrap="square">
            <a:spAutoFit/>
          </a:bodyPr>
          <a:lstStyle/>
          <a:p>
            <a:r>
              <a:rPr lang="en-US" sz="2000" b="1" dirty="0" err="1">
                <a:solidFill>
                  <a:srgbClr val="002060"/>
                </a:solidFill>
              </a:rPr>
              <a:t>nombre</a:t>
            </a:r>
            <a:endParaRPr lang="es-ES" b="1" dirty="0"/>
          </a:p>
        </p:txBody>
      </p:sp>
    </p:spTree>
    <p:extLst>
      <p:ext uri="{BB962C8B-B14F-4D97-AF65-F5344CB8AC3E}">
        <p14:creationId xmlns:p14="http://schemas.microsoft.com/office/powerpoint/2010/main" val="38355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righ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up)">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fltVal val="0"/>
                                          </p:val>
                                        </p:tav>
                                        <p:tav tm="100000">
                                          <p:val>
                                            <p:strVal val="#ppt_h"/>
                                          </p:val>
                                        </p:tav>
                                      </p:tavLst>
                                    </p:anim>
                                    <p:animEffect transition="in" filter="fade">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500"/>
                                        <p:tgtEl>
                                          <p:spTgt spid="29"/>
                                        </p:tgtEl>
                                      </p:cBhvr>
                                    </p:animEffect>
                                    <p:set>
                                      <p:cBhvr>
                                        <p:cTn id="36" dur="1" fill="hold">
                                          <p:stCondLst>
                                            <p:cond delay="499"/>
                                          </p:stCondLst>
                                        </p:cTn>
                                        <p:tgtEl>
                                          <p:spTgt spid="2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p:cTn id="41" dur="500" fill="hold"/>
                                        <p:tgtEl>
                                          <p:spTgt spid="21"/>
                                        </p:tgtEl>
                                        <p:attrNameLst>
                                          <p:attrName>ppt_w</p:attrName>
                                        </p:attrNameLst>
                                      </p:cBhvr>
                                      <p:tavLst>
                                        <p:tav tm="0">
                                          <p:val>
                                            <p:fltVal val="0"/>
                                          </p:val>
                                        </p:tav>
                                        <p:tav tm="100000">
                                          <p:val>
                                            <p:strVal val="#ppt_w"/>
                                          </p:val>
                                        </p:tav>
                                      </p:tavLst>
                                    </p:anim>
                                    <p:anim calcmode="lin" valueType="num">
                                      <p:cBhvr>
                                        <p:cTn id="42" dur="500" fill="hold"/>
                                        <p:tgtEl>
                                          <p:spTgt spid="21"/>
                                        </p:tgtEl>
                                        <p:attrNameLst>
                                          <p:attrName>ppt_h</p:attrName>
                                        </p:attrNameLst>
                                      </p:cBhvr>
                                      <p:tavLst>
                                        <p:tav tm="0">
                                          <p:val>
                                            <p:fltVal val="0"/>
                                          </p:val>
                                        </p:tav>
                                        <p:tav tm="100000">
                                          <p:val>
                                            <p:strVal val="#ppt_h"/>
                                          </p:val>
                                        </p:tav>
                                      </p:tavLst>
                                    </p:anim>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500"/>
                                        <p:tgtEl>
                                          <p:spTgt spid="18"/>
                                        </p:tgtEl>
                                      </p:cBhvr>
                                    </p:animEffect>
                                    <p:set>
                                      <p:cBhvr>
                                        <p:cTn id="48" dur="1" fill="hold">
                                          <p:stCondLst>
                                            <p:cond delay="499"/>
                                          </p:stCondLst>
                                        </p:cTn>
                                        <p:tgtEl>
                                          <p:spTgt spid="18"/>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54"/>
                                        </p:tgtEl>
                                        <p:attrNameLst>
                                          <p:attrName>style.visibility</p:attrName>
                                        </p:attrNameLst>
                                      </p:cBhvr>
                                      <p:to>
                                        <p:strVal val="visible"/>
                                      </p:to>
                                    </p:set>
                                    <p:animEffect transition="in" filter="wipe(down)">
                                      <p:cBhvr>
                                        <p:cTn id="53" dur="500"/>
                                        <p:tgtEl>
                                          <p:spTgt spid="5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55"/>
                                        </p:tgtEl>
                                        <p:attrNameLst>
                                          <p:attrName>style.visibility</p:attrName>
                                        </p:attrNameLst>
                                      </p:cBhvr>
                                      <p:to>
                                        <p:strVal val="visible"/>
                                      </p:to>
                                    </p:set>
                                    <p:animEffect transition="in" filter="wipe(down)">
                                      <p:cBhvr>
                                        <p:cTn id="58" dur="500"/>
                                        <p:tgtEl>
                                          <p:spTgt spid="55"/>
                                        </p:tgtEl>
                                      </p:cBhvr>
                                    </p:animEffec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circle(in)">
                                      <p:cBhvr>
                                        <p:cTn id="63" dur="2000"/>
                                        <p:tgtEl>
                                          <p:spTgt spid="27"/>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7"/>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2"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right)">
                                      <p:cBhvr>
                                        <p:cTn id="74" dur="500"/>
                                        <p:tgtEl>
                                          <p:spTgt spid="3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2" fill="hold" nodeType="click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right)">
                                      <p:cBhvr>
                                        <p:cTn id="79" dur="500"/>
                                        <p:tgtEl>
                                          <p:spTgt spid="3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40"/>
                                        </p:tgtEl>
                                        <p:attrNameLst>
                                          <p:attrName>style.visibility</p:attrName>
                                        </p:attrNameLst>
                                      </p:cBhvr>
                                      <p:to>
                                        <p:strVal val="visible"/>
                                      </p:to>
                                    </p:set>
                                    <p:animEffect transition="in" filter="wipe(up)">
                                      <p:cBhvr>
                                        <p:cTn id="84" dur="500"/>
                                        <p:tgtEl>
                                          <p:spTgt spid="40"/>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grpId="0" nodeType="clickEffect">
                                  <p:stCondLst>
                                    <p:cond delay="0"/>
                                  </p:stCondLst>
                                  <p:childTnLst>
                                    <p:set>
                                      <p:cBhvr>
                                        <p:cTn id="88" dur="1" fill="hold">
                                          <p:stCondLst>
                                            <p:cond delay="0"/>
                                          </p:stCondLst>
                                        </p:cTn>
                                        <p:tgtEl>
                                          <p:spTgt spid="30"/>
                                        </p:tgtEl>
                                        <p:attrNameLst>
                                          <p:attrName>style.visibility</p:attrName>
                                        </p:attrNameLst>
                                      </p:cBhvr>
                                      <p:to>
                                        <p:strVal val="visible"/>
                                      </p:to>
                                    </p:set>
                                    <p:anim calcmode="lin" valueType="num">
                                      <p:cBhvr>
                                        <p:cTn id="89" dur="500" fill="hold"/>
                                        <p:tgtEl>
                                          <p:spTgt spid="30"/>
                                        </p:tgtEl>
                                        <p:attrNameLst>
                                          <p:attrName>ppt_w</p:attrName>
                                        </p:attrNameLst>
                                      </p:cBhvr>
                                      <p:tavLst>
                                        <p:tav tm="0">
                                          <p:val>
                                            <p:fltVal val="0"/>
                                          </p:val>
                                        </p:tav>
                                        <p:tav tm="100000">
                                          <p:val>
                                            <p:strVal val="#ppt_w"/>
                                          </p:val>
                                        </p:tav>
                                      </p:tavLst>
                                    </p:anim>
                                    <p:anim calcmode="lin" valueType="num">
                                      <p:cBhvr>
                                        <p:cTn id="90" dur="500" fill="hold"/>
                                        <p:tgtEl>
                                          <p:spTgt spid="30"/>
                                        </p:tgtEl>
                                        <p:attrNameLst>
                                          <p:attrName>ppt_h</p:attrName>
                                        </p:attrNameLst>
                                      </p:cBhvr>
                                      <p:tavLst>
                                        <p:tav tm="0">
                                          <p:val>
                                            <p:fltVal val="0"/>
                                          </p:val>
                                        </p:tav>
                                        <p:tav tm="100000">
                                          <p:val>
                                            <p:strVal val="#ppt_h"/>
                                          </p:val>
                                        </p:tav>
                                      </p:tavLst>
                                    </p:anim>
                                    <p:animEffect transition="in" filter="fade">
                                      <p:cBhvr>
                                        <p:cTn id="91" dur="500"/>
                                        <p:tgtEl>
                                          <p:spTgt spid="30"/>
                                        </p:tgtEl>
                                      </p:cBhvr>
                                    </p:animEffect>
                                  </p:childTnLst>
                                </p:cTn>
                              </p:par>
                            </p:childTnLst>
                          </p:cTn>
                        </p:par>
                      </p:childTnLst>
                    </p:cTn>
                  </p:par>
                  <p:par>
                    <p:cTn id="92" fill="hold">
                      <p:stCondLst>
                        <p:cond delay="indefinite"/>
                      </p:stCondLst>
                      <p:childTnLst>
                        <p:par>
                          <p:cTn id="93" fill="hold">
                            <p:stCondLst>
                              <p:cond delay="0"/>
                            </p:stCondLst>
                            <p:childTnLst>
                              <p:par>
                                <p:cTn id="94" presetID="53" presetClass="entr" presetSubtype="16" fill="hold" grpId="0" nodeType="clickEffect">
                                  <p:stCondLst>
                                    <p:cond delay="0"/>
                                  </p:stCondLst>
                                  <p:childTnLst>
                                    <p:set>
                                      <p:cBhvr>
                                        <p:cTn id="95" dur="1" fill="hold">
                                          <p:stCondLst>
                                            <p:cond delay="0"/>
                                          </p:stCondLst>
                                        </p:cTn>
                                        <p:tgtEl>
                                          <p:spTgt spid="58"/>
                                        </p:tgtEl>
                                        <p:attrNameLst>
                                          <p:attrName>style.visibility</p:attrName>
                                        </p:attrNameLst>
                                      </p:cBhvr>
                                      <p:to>
                                        <p:strVal val="visible"/>
                                      </p:to>
                                    </p:set>
                                    <p:anim calcmode="lin" valueType="num">
                                      <p:cBhvr>
                                        <p:cTn id="96" dur="500" fill="hold"/>
                                        <p:tgtEl>
                                          <p:spTgt spid="58"/>
                                        </p:tgtEl>
                                        <p:attrNameLst>
                                          <p:attrName>ppt_w</p:attrName>
                                        </p:attrNameLst>
                                      </p:cBhvr>
                                      <p:tavLst>
                                        <p:tav tm="0">
                                          <p:val>
                                            <p:fltVal val="0"/>
                                          </p:val>
                                        </p:tav>
                                        <p:tav tm="100000">
                                          <p:val>
                                            <p:strVal val="#ppt_w"/>
                                          </p:val>
                                        </p:tav>
                                      </p:tavLst>
                                    </p:anim>
                                    <p:anim calcmode="lin" valueType="num">
                                      <p:cBhvr>
                                        <p:cTn id="97" dur="500" fill="hold"/>
                                        <p:tgtEl>
                                          <p:spTgt spid="58"/>
                                        </p:tgtEl>
                                        <p:attrNameLst>
                                          <p:attrName>ppt_h</p:attrName>
                                        </p:attrNameLst>
                                      </p:cBhvr>
                                      <p:tavLst>
                                        <p:tav tm="0">
                                          <p:val>
                                            <p:fltVal val="0"/>
                                          </p:val>
                                        </p:tav>
                                        <p:tav tm="100000">
                                          <p:val>
                                            <p:strVal val="#ppt_h"/>
                                          </p:val>
                                        </p:tav>
                                      </p:tavLst>
                                    </p:anim>
                                    <p:animEffect transition="in" filter="fade">
                                      <p:cBhvr>
                                        <p:cTn id="98" dur="500"/>
                                        <p:tgtEl>
                                          <p:spTgt spid="58"/>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grpId="1" nodeType="clickEffect">
                                  <p:stCondLst>
                                    <p:cond delay="0"/>
                                  </p:stCondLst>
                                  <p:childTnLst>
                                    <p:animEffect transition="out" filter="fade">
                                      <p:cBhvr>
                                        <p:cTn id="102" dur="500"/>
                                        <p:tgtEl>
                                          <p:spTgt spid="57"/>
                                        </p:tgtEl>
                                      </p:cBhvr>
                                    </p:animEffect>
                                    <p:set>
                                      <p:cBhvr>
                                        <p:cTn id="103" dur="1" fill="hold">
                                          <p:stCondLst>
                                            <p:cond delay="499"/>
                                          </p:stCondLst>
                                        </p:cTn>
                                        <p:tgtEl>
                                          <p:spTgt spid="57"/>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53" presetClass="entr" presetSubtype="16" fill="hold" grpId="0" nodeType="clickEffect">
                                  <p:stCondLst>
                                    <p:cond delay="0"/>
                                  </p:stCondLst>
                                  <p:childTnLst>
                                    <p:set>
                                      <p:cBhvr>
                                        <p:cTn id="107" dur="1" fill="hold">
                                          <p:stCondLst>
                                            <p:cond delay="0"/>
                                          </p:stCondLst>
                                        </p:cTn>
                                        <p:tgtEl>
                                          <p:spTgt spid="59"/>
                                        </p:tgtEl>
                                        <p:attrNameLst>
                                          <p:attrName>style.visibility</p:attrName>
                                        </p:attrNameLst>
                                      </p:cBhvr>
                                      <p:to>
                                        <p:strVal val="visible"/>
                                      </p:to>
                                    </p:set>
                                    <p:anim calcmode="lin" valueType="num">
                                      <p:cBhvr>
                                        <p:cTn id="108" dur="500" fill="hold"/>
                                        <p:tgtEl>
                                          <p:spTgt spid="59"/>
                                        </p:tgtEl>
                                        <p:attrNameLst>
                                          <p:attrName>ppt_w</p:attrName>
                                        </p:attrNameLst>
                                      </p:cBhvr>
                                      <p:tavLst>
                                        <p:tav tm="0">
                                          <p:val>
                                            <p:fltVal val="0"/>
                                          </p:val>
                                        </p:tav>
                                        <p:tav tm="100000">
                                          <p:val>
                                            <p:strVal val="#ppt_w"/>
                                          </p:val>
                                        </p:tav>
                                      </p:tavLst>
                                    </p:anim>
                                    <p:anim calcmode="lin" valueType="num">
                                      <p:cBhvr>
                                        <p:cTn id="109" dur="500" fill="hold"/>
                                        <p:tgtEl>
                                          <p:spTgt spid="59"/>
                                        </p:tgtEl>
                                        <p:attrNameLst>
                                          <p:attrName>ppt_h</p:attrName>
                                        </p:attrNameLst>
                                      </p:cBhvr>
                                      <p:tavLst>
                                        <p:tav tm="0">
                                          <p:val>
                                            <p:fltVal val="0"/>
                                          </p:val>
                                        </p:tav>
                                        <p:tav tm="100000">
                                          <p:val>
                                            <p:strVal val="#ppt_h"/>
                                          </p:val>
                                        </p:tav>
                                      </p:tavLst>
                                    </p:anim>
                                    <p:animEffect transition="in" filter="fade">
                                      <p:cBhvr>
                                        <p:cTn id="110" dur="500"/>
                                        <p:tgtEl>
                                          <p:spTgt spid="59"/>
                                        </p:tgtEl>
                                      </p:cBhvr>
                                    </p:animEffect>
                                  </p:childTnLst>
                                </p:cTn>
                              </p:par>
                            </p:childTnLst>
                          </p:cTn>
                        </p:par>
                      </p:childTnLst>
                    </p:cTn>
                  </p:par>
                  <p:par>
                    <p:cTn id="111" fill="hold">
                      <p:stCondLst>
                        <p:cond delay="indefinite"/>
                      </p:stCondLst>
                      <p:childTnLst>
                        <p:par>
                          <p:cTn id="112" fill="hold">
                            <p:stCondLst>
                              <p:cond delay="0"/>
                            </p:stCondLst>
                            <p:childTnLst>
                              <p:par>
                                <p:cTn id="113" presetID="6" presetClass="entr" presetSubtype="16" fill="hold" grpId="0" nodeType="click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circle(in)">
                                      <p:cBhvr>
                                        <p:cTn id="115" dur="2000"/>
                                        <p:tgtEl>
                                          <p:spTgt spid="41"/>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42"/>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grpId="0" nodeType="clickEffect">
                                  <p:stCondLst>
                                    <p:cond delay="0"/>
                                  </p:stCondLst>
                                  <p:childTnLst>
                                    <p:set>
                                      <p:cBhvr>
                                        <p:cTn id="123" dur="1" fill="hold">
                                          <p:stCondLst>
                                            <p:cond delay="0"/>
                                          </p:stCondLst>
                                        </p:cTn>
                                        <p:tgtEl>
                                          <p:spTgt spid="52"/>
                                        </p:tgtEl>
                                        <p:attrNameLst>
                                          <p:attrName>style.visibility</p:attrName>
                                        </p:attrNameLst>
                                      </p:cBhvr>
                                      <p:to>
                                        <p:strVal val="visible"/>
                                      </p:to>
                                    </p:set>
                                    <p:animEffect transition="in" filter="wipe(up)">
                                      <p:cBhvr>
                                        <p:cTn id="124" dur="500"/>
                                        <p:tgtEl>
                                          <p:spTgt spid="52"/>
                                        </p:tgtEl>
                                      </p:cBhvr>
                                    </p:animEffect>
                                  </p:childTnLst>
                                </p:cTn>
                              </p:par>
                            </p:childTnLst>
                          </p:cTn>
                        </p:par>
                      </p:childTnLst>
                    </p:cTn>
                  </p:par>
                  <p:par>
                    <p:cTn id="125" fill="hold">
                      <p:stCondLst>
                        <p:cond delay="indefinite"/>
                      </p:stCondLst>
                      <p:childTnLst>
                        <p:par>
                          <p:cTn id="126" fill="hold">
                            <p:stCondLst>
                              <p:cond delay="0"/>
                            </p:stCondLst>
                            <p:childTnLst>
                              <p:par>
                                <p:cTn id="127" presetID="53" presetClass="entr" presetSubtype="16" fill="hold" grpId="0" nodeType="clickEffect">
                                  <p:stCondLst>
                                    <p:cond delay="0"/>
                                  </p:stCondLst>
                                  <p:childTnLst>
                                    <p:set>
                                      <p:cBhvr>
                                        <p:cTn id="128" dur="1" fill="hold">
                                          <p:stCondLst>
                                            <p:cond delay="0"/>
                                          </p:stCondLst>
                                        </p:cTn>
                                        <p:tgtEl>
                                          <p:spTgt spid="43"/>
                                        </p:tgtEl>
                                        <p:attrNameLst>
                                          <p:attrName>style.visibility</p:attrName>
                                        </p:attrNameLst>
                                      </p:cBhvr>
                                      <p:to>
                                        <p:strVal val="visible"/>
                                      </p:to>
                                    </p:set>
                                    <p:anim calcmode="lin" valueType="num">
                                      <p:cBhvr>
                                        <p:cTn id="129" dur="500" fill="hold"/>
                                        <p:tgtEl>
                                          <p:spTgt spid="43"/>
                                        </p:tgtEl>
                                        <p:attrNameLst>
                                          <p:attrName>ppt_w</p:attrName>
                                        </p:attrNameLst>
                                      </p:cBhvr>
                                      <p:tavLst>
                                        <p:tav tm="0">
                                          <p:val>
                                            <p:fltVal val="0"/>
                                          </p:val>
                                        </p:tav>
                                        <p:tav tm="100000">
                                          <p:val>
                                            <p:strVal val="#ppt_w"/>
                                          </p:val>
                                        </p:tav>
                                      </p:tavLst>
                                    </p:anim>
                                    <p:anim calcmode="lin" valueType="num">
                                      <p:cBhvr>
                                        <p:cTn id="130" dur="500" fill="hold"/>
                                        <p:tgtEl>
                                          <p:spTgt spid="43"/>
                                        </p:tgtEl>
                                        <p:attrNameLst>
                                          <p:attrName>ppt_h</p:attrName>
                                        </p:attrNameLst>
                                      </p:cBhvr>
                                      <p:tavLst>
                                        <p:tav tm="0">
                                          <p:val>
                                            <p:fltVal val="0"/>
                                          </p:val>
                                        </p:tav>
                                        <p:tav tm="100000">
                                          <p:val>
                                            <p:strVal val="#ppt_h"/>
                                          </p:val>
                                        </p:tav>
                                      </p:tavLst>
                                    </p:anim>
                                    <p:animEffect transition="in" filter="fade">
                                      <p:cBhvr>
                                        <p:cTn id="131" dur="500"/>
                                        <p:tgtEl>
                                          <p:spTgt spid="43"/>
                                        </p:tgtEl>
                                      </p:cBhvr>
                                    </p:animEffect>
                                  </p:childTnLst>
                                </p:cTn>
                              </p:par>
                            </p:childTnLst>
                          </p:cTn>
                        </p:par>
                      </p:childTnLst>
                    </p:cTn>
                  </p:par>
                  <p:par>
                    <p:cTn id="132" fill="hold">
                      <p:stCondLst>
                        <p:cond delay="indefinite"/>
                      </p:stCondLst>
                      <p:childTnLst>
                        <p:par>
                          <p:cTn id="133" fill="hold">
                            <p:stCondLst>
                              <p:cond delay="0"/>
                            </p:stCondLst>
                            <p:childTnLst>
                              <p:par>
                                <p:cTn id="134" presetID="31" presetClass="entr" presetSubtype="0" fill="hold" grpId="0" nodeType="clickEffect">
                                  <p:stCondLst>
                                    <p:cond delay="0"/>
                                  </p:stCondLst>
                                  <p:childTnLst>
                                    <p:set>
                                      <p:cBhvr>
                                        <p:cTn id="135" dur="1" fill="hold">
                                          <p:stCondLst>
                                            <p:cond delay="0"/>
                                          </p:stCondLst>
                                        </p:cTn>
                                        <p:tgtEl>
                                          <p:spTgt spid="56"/>
                                        </p:tgtEl>
                                        <p:attrNameLst>
                                          <p:attrName>style.visibility</p:attrName>
                                        </p:attrNameLst>
                                      </p:cBhvr>
                                      <p:to>
                                        <p:strVal val="visible"/>
                                      </p:to>
                                    </p:set>
                                    <p:anim calcmode="lin" valueType="num">
                                      <p:cBhvr>
                                        <p:cTn id="136" dur="1000" fill="hold"/>
                                        <p:tgtEl>
                                          <p:spTgt spid="56"/>
                                        </p:tgtEl>
                                        <p:attrNameLst>
                                          <p:attrName>ppt_w</p:attrName>
                                        </p:attrNameLst>
                                      </p:cBhvr>
                                      <p:tavLst>
                                        <p:tav tm="0">
                                          <p:val>
                                            <p:fltVal val="0"/>
                                          </p:val>
                                        </p:tav>
                                        <p:tav tm="100000">
                                          <p:val>
                                            <p:strVal val="#ppt_w"/>
                                          </p:val>
                                        </p:tav>
                                      </p:tavLst>
                                    </p:anim>
                                    <p:anim calcmode="lin" valueType="num">
                                      <p:cBhvr>
                                        <p:cTn id="137" dur="1000" fill="hold"/>
                                        <p:tgtEl>
                                          <p:spTgt spid="56"/>
                                        </p:tgtEl>
                                        <p:attrNameLst>
                                          <p:attrName>ppt_h</p:attrName>
                                        </p:attrNameLst>
                                      </p:cBhvr>
                                      <p:tavLst>
                                        <p:tav tm="0">
                                          <p:val>
                                            <p:fltVal val="0"/>
                                          </p:val>
                                        </p:tav>
                                        <p:tav tm="100000">
                                          <p:val>
                                            <p:strVal val="#ppt_h"/>
                                          </p:val>
                                        </p:tav>
                                      </p:tavLst>
                                    </p:anim>
                                    <p:anim calcmode="lin" valueType="num">
                                      <p:cBhvr>
                                        <p:cTn id="138" dur="1000" fill="hold"/>
                                        <p:tgtEl>
                                          <p:spTgt spid="56"/>
                                        </p:tgtEl>
                                        <p:attrNameLst>
                                          <p:attrName>style.rotation</p:attrName>
                                        </p:attrNameLst>
                                      </p:cBhvr>
                                      <p:tavLst>
                                        <p:tav tm="0">
                                          <p:val>
                                            <p:fltVal val="90"/>
                                          </p:val>
                                        </p:tav>
                                        <p:tav tm="100000">
                                          <p:val>
                                            <p:fltVal val="0"/>
                                          </p:val>
                                        </p:tav>
                                      </p:tavLst>
                                    </p:anim>
                                    <p:animEffect transition="in" filter="fade">
                                      <p:cBhvr>
                                        <p:cTn id="139" dur="1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9" grpId="0"/>
      <p:bldP spid="20" grpId="0" animBg="1"/>
      <p:bldP spid="21" grpId="0"/>
      <p:bldP spid="27" grpId="0" animBg="1"/>
      <p:bldP spid="28" grpId="0"/>
      <p:bldP spid="29" grpId="0" animBg="1"/>
      <p:bldP spid="29" grpId="1" animBg="1"/>
      <p:bldP spid="30" grpId="0"/>
      <p:bldP spid="40" grpId="0" animBg="1"/>
      <p:bldP spid="41" grpId="0" animBg="1"/>
      <p:bldP spid="42" grpId="0"/>
      <p:bldP spid="43" grpId="0"/>
      <p:bldP spid="52" grpId="0" animBg="1"/>
      <p:bldP spid="53" grpId="0" animBg="1"/>
      <p:bldP spid="56" grpId="0"/>
      <p:bldP spid="57" grpId="0"/>
      <p:bldP spid="57" grpId="1"/>
      <p:bldP spid="58" grpId="0"/>
      <p:bldP spid="5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Generar un </a:t>
            </a:r>
            <a:r>
              <a:rPr lang="es-ES_tradnl" dirty="0" err="1"/>
              <a:t>jar</a:t>
            </a:r>
            <a:r>
              <a:rPr lang="es-ES_tradnl" dirty="0"/>
              <a:t> en Eclipse</a:t>
            </a:r>
          </a:p>
        </p:txBody>
      </p:sp>
      <p:pic>
        <p:nvPicPr>
          <p:cNvPr id="5" name="Marcador de contenido 4"/>
          <p:cNvPicPr>
            <a:picLocks noGrp="1" noChangeAspect="1"/>
          </p:cNvPicPr>
          <p:nvPr>
            <p:ph idx="1"/>
          </p:nvPr>
        </p:nvPicPr>
        <p:blipFill rotWithShape="1">
          <a:blip r:embed="rId2">
            <a:extLst>
              <a:ext uri="{28A0092B-C50C-407E-A947-70E740481C1C}">
                <a14:useLocalDpi xmlns:a14="http://schemas.microsoft.com/office/drawing/2010/main" val="0"/>
              </a:ext>
            </a:extLst>
          </a:blip>
          <a:srcRect l="19086"/>
          <a:stretch/>
        </p:blipFill>
        <p:spPr>
          <a:xfrm>
            <a:off x="1115616" y="1052736"/>
            <a:ext cx="3015571" cy="5248275"/>
          </a:xfrm>
        </p:spPr>
      </p:pic>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6056" y="1854361"/>
            <a:ext cx="3492039" cy="3645024"/>
          </a:xfrm>
          <a:prstGeom prst="rect">
            <a:avLst/>
          </a:prstGeom>
        </p:spPr>
      </p:pic>
      <p:sp>
        <p:nvSpPr>
          <p:cNvPr id="7" name="Flecha derecha 6"/>
          <p:cNvSpPr/>
          <p:nvPr/>
        </p:nvSpPr>
        <p:spPr bwMode="auto">
          <a:xfrm>
            <a:off x="4239419" y="3068960"/>
            <a:ext cx="836637" cy="607913"/>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24780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46942" y="44624"/>
            <a:ext cx="7392988" cy="563563"/>
          </a:xfrm>
        </p:spPr>
        <p:txBody>
          <a:bodyPr/>
          <a:lstStyle/>
          <a:p>
            <a:r>
              <a:rPr lang="en-US" dirty="0" err="1"/>
              <a:t>Uso</a:t>
            </a:r>
            <a:r>
              <a:rPr lang="en-US" dirty="0"/>
              <a:t> de </a:t>
            </a:r>
            <a:r>
              <a:rPr lang="en-US" dirty="0" err="1"/>
              <a:t>Clases</a:t>
            </a:r>
            <a:r>
              <a:rPr lang="en-US" dirty="0"/>
              <a:t> </a:t>
            </a:r>
            <a:r>
              <a:rPr lang="en-US"/>
              <a:t>Propias</a:t>
            </a:r>
            <a:endParaRPr lang="en-US" dirty="0">
              <a:solidFill>
                <a:schemeClr val="accent1"/>
              </a:solidFill>
            </a:endParaRPr>
          </a:p>
        </p:txBody>
      </p:sp>
      <p:sp>
        <p:nvSpPr>
          <p:cNvPr id="21" name="20 CuadroTexto"/>
          <p:cNvSpPr txBox="1"/>
          <p:nvPr/>
        </p:nvSpPr>
        <p:spPr>
          <a:xfrm>
            <a:off x="875616" y="955382"/>
            <a:ext cx="7344816" cy="384721"/>
          </a:xfrm>
          <a:prstGeom prst="rect">
            <a:avLst/>
          </a:prstGeom>
          <a:noFill/>
        </p:spPr>
        <p:txBody>
          <a:bodyPr wrap="square" rtlCol="0">
            <a:spAutoFit/>
          </a:bodyPr>
          <a:lstStyle/>
          <a:p>
            <a:pPr algn="ctr"/>
            <a:r>
              <a:rPr lang="es-ES" b="1" dirty="0"/>
              <a:t>Hasta ahora hemos creado varias clases.</a:t>
            </a:r>
          </a:p>
        </p:txBody>
      </p:sp>
      <p:sp>
        <p:nvSpPr>
          <p:cNvPr id="22" name="21 CuadroTexto"/>
          <p:cNvSpPr txBox="1"/>
          <p:nvPr/>
        </p:nvSpPr>
        <p:spPr>
          <a:xfrm>
            <a:off x="838452" y="3548335"/>
            <a:ext cx="7596844" cy="677108"/>
          </a:xfrm>
          <a:prstGeom prst="rect">
            <a:avLst/>
          </a:prstGeom>
          <a:noFill/>
        </p:spPr>
        <p:txBody>
          <a:bodyPr wrap="square" rtlCol="0">
            <a:spAutoFit/>
          </a:bodyPr>
          <a:lstStyle/>
          <a:p>
            <a:pPr algn="ctr"/>
            <a:r>
              <a:rPr lang="es-ES" b="1" dirty="0"/>
              <a:t>Sin embargo, también hemos visto alguna clase con métodos </a:t>
            </a:r>
            <a:r>
              <a:rPr lang="es-ES" b="1" u="sng" dirty="0">
                <a:solidFill>
                  <a:srgbClr val="0070C0"/>
                </a:solidFill>
              </a:rPr>
              <a:t>estáticos</a:t>
            </a:r>
            <a:r>
              <a:rPr lang="es-ES" b="1" dirty="0"/>
              <a:t>, que pueden ser llamados sin tener que crear objetos:</a:t>
            </a:r>
          </a:p>
        </p:txBody>
      </p:sp>
      <p:sp>
        <p:nvSpPr>
          <p:cNvPr id="27" name="26 CuadroTexto"/>
          <p:cNvSpPr txBox="1"/>
          <p:nvPr/>
        </p:nvSpPr>
        <p:spPr>
          <a:xfrm>
            <a:off x="586424" y="1700808"/>
            <a:ext cx="7848872" cy="677108"/>
          </a:xfrm>
          <a:prstGeom prst="rect">
            <a:avLst/>
          </a:prstGeom>
          <a:noFill/>
        </p:spPr>
        <p:txBody>
          <a:bodyPr wrap="square" rtlCol="0">
            <a:spAutoFit/>
          </a:bodyPr>
          <a:lstStyle/>
          <a:p>
            <a:pPr algn="ctr"/>
            <a:r>
              <a:rPr lang="es-ES" b="1" dirty="0"/>
              <a:t>En la mayoría de estas clases, los métodos eran </a:t>
            </a:r>
            <a:r>
              <a:rPr lang="es-ES" b="1" u="sng" dirty="0">
                <a:solidFill>
                  <a:srgbClr val="0070C0"/>
                </a:solidFill>
              </a:rPr>
              <a:t>no estáticos</a:t>
            </a:r>
            <a:r>
              <a:rPr lang="es-ES" b="1" dirty="0"/>
              <a:t>, así que para llamarlos teníamos que crear previamente un objeto:</a:t>
            </a:r>
          </a:p>
        </p:txBody>
      </p:sp>
      <p:grpSp>
        <p:nvGrpSpPr>
          <p:cNvPr id="3" name="3 Grupo"/>
          <p:cNvGrpSpPr/>
          <p:nvPr/>
        </p:nvGrpSpPr>
        <p:grpSpPr>
          <a:xfrm>
            <a:off x="2337173" y="2473568"/>
            <a:ext cx="4798627" cy="739408"/>
            <a:chOff x="2337173" y="2473568"/>
            <a:chExt cx="4798627" cy="739408"/>
          </a:xfrm>
        </p:grpSpPr>
        <p:sp>
          <p:nvSpPr>
            <p:cNvPr id="40" name="39 Rectángulo"/>
            <p:cNvSpPr/>
            <p:nvPr/>
          </p:nvSpPr>
          <p:spPr bwMode="auto">
            <a:xfrm>
              <a:off x="2337173" y="2473568"/>
              <a:ext cx="4597644" cy="739407"/>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 name="1 Rectángulo"/>
            <p:cNvSpPr/>
            <p:nvPr/>
          </p:nvSpPr>
          <p:spPr>
            <a:xfrm>
              <a:off x="2563800" y="2505090"/>
              <a:ext cx="4572000" cy="707886"/>
            </a:xfrm>
            <a:prstGeom prst="rect">
              <a:avLst/>
            </a:prstGeom>
          </p:spPr>
          <p:txBody>
            <a:bodyPr>
              <a:spAutoFit/>
            </a:bodyPr>
            <a:lstStyle/>
            <a:p>
              <a:r>
                <a:rPr lang="es-ES" sz="2000" dirty="0" err="1">
                  <a:solidFill>
                    <a:schemeClr val="tx1">
                      <a:lumMod val="60000"/>
                      <a:lumOff val="40000"/>
                    </a:schemeClr>
                  </a:solidFill>
                </a:rPr>
                <a:t>Semaforo</a:t>
              </a:r>
              <a:r>
                <a:rPr lang="es-ES" sz="2000" dirty="0">
                  <a:solidFill>
                    <a:schemeClr val="tx1">
                      <a:lumMod val="60000"/>
                      <a:lumOff val="40000"/>
                    </a:schemeClr>
                  </a:solidFill>
                </a:rPr>
                <a:t> </a:t>
              </a:r>
              <a:r>
                <a:rPr lang="es-ES" sz="2000" b="1" dirty="0"/>
                <a:t>sem1</a:t>
              </a:r>
              <a:r>
                <a:rPr lang="es-ES" sz="2000" dirty="0"/>
                <a:t> = new </a:t>
              </a:r>
              <a:r>
                <a:rPr lang="es-ES" sz="2000" dirty="0" err="1"/>
                <a:t>Semaforo</a:t>
              </a:r>
              <a:r>
                <a:rPr lang="es-ES" sz="2000" dirty="0"/>
                <a:t>();      </a:t>
              </a:r>
            </a:p>
            <a:p>
              <a:r>
                <a:rPr lang="es-ES" sz="2000" b="1" dirty="0"/>
                <a:t>sem1</a:t>
              </a:r>
              <a:r>
                <a:rPr lang="es-ES" sz="2000" dirty="0"/>
                <a:t>.</a:t>
              </a:r>
              <a:r>
                <a:rPr lang="es-ES" sz="2000" dirty="0">
                  <a:solidFill>
                    <a:srgbClr val="FF0000"/>
                  </a:solidFill>
                </a:rPr>
                <a:t>ponerRojo()</a:t>
              </a:r>
              <a:r>
                <a:rPr lang="es-ES" sz="2000" dirty="0"/>
                <a:t>;</a:t>
              </a:r>
            </a:p>
          </p:txBody>
        </p:sp>
      </p:grpSp>
      <p:grpSp>
        <p:nvGrpSpPr>
          <p:cNvPr id="4" name="2 Grupo"/>
          <p:cNvGrpSpPr/>
          <p:nvPr/>
        </p:nvGrpSpPr>
        <p:grpSpPr>
          <a:xfrm>
            <a:off x="1979712" y="4371409"/>
            <a:ext cx="5256584" cy="739407"/>
            <a:chOff x="1979712" y="4371409"/>
            <a:chExt cx="5256584" cy="739407"/>
          </a:xfrm>
        </p:grpSpPr>
        <p:sp>
          <p:nvSpPr>
            <p:cNvPr id="42" name="41 Rectángulo"/>
            <p:cNvSpPr/>
            <p:nvPr/>
          </p:nvSpPr>
          <p:spPr bwMode="auto">
            <a:xfrm>
              <a:off x="1979712" y="4371409"/>
              <a:ext cx="5256584" cy="739407"/>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8" name="37 Rectángulo"/>
            <p:cNvSpPr/>
            <p:nvPr/>
          </p:nvSpPr>
          <p:spPr>
            <a:xfrm>
              <a:off x="2123728" y="4541058"/>
              <a:ext cx="5028088" cy="400110"/>
            </a:xfrm>
            <a:prstGeom prst="rect">
              <a:avLst/>
            </a:prstGeom>
          </p:spPr>
          <p:txBody>
            <a:bodyPr wrap="square">
              <a:spAutoFit/>
            </a:bodyPr>
            <a:lstStyle/>
            <a:p>
              <a:pPr algn="ctr"/>
              <a:r>
                <a:rPr lang="es-ES" sz="2000" dirty="0" err="1">
                  <a:solidFill>
                    <a:schemeClr val="tx1">
                      <a:lumMod val="60000"/>
                      <a:lumOff val="40000"/>
                    </a:schemeClr>
                  </a:solidFill>
                </a:rPr>
                <a:t>int</a:t>
              </a:r>
              <a:r>
                <a:rPr lang="es-ES" sz="2000" dirty="0">
                  <a:solidFill>
                    <a:schemeClr val="tx1">
                      <a:lumMod val="60000"/>
                      <a:lumOff val="40000"/>
                    </a:schemeClr>
                  </a:solidFill>
                </a:rPr>
                <a:t> </a:t>
              </a:r>
              <a:r>
                <a:rPr lang="es-ES" sz="2000" b="1" dirty="0"/>
                <a:t>resultado</a:t>
              </a:r>
              <a:r>
                <a:rPr lang="es-ES" sz="2000" dirty="0"/>
                <a:t> = </a:t>
              </a:r>
              <a:r>
                <a:rPr lang="es-ES" sz="2000" dirty="0" err="1"/>
                <a:t>Matematicas.</a:t>
              </a:r>
              <a:r>
                <a:rPr lang="es-ES" sz="2000" dirty="0" err="1">
                  <a:solidFill>
                    <a:srgbClr val="FF0000"/>
                  </a:solidFill>
                </a:rPr>
                <a:t>sumar</a:t>
              </a:r>
              <a:r>
                <a:rPr lang="es-ES" sz="2000" dirty="0">
                  <a:solidFill>
                    <a:srgbClr val="FF0000"/>
                  </a:solidFill>
                </a:rPr>
                <a:t>( </a:t>
              </a:r>
              <a:r>
                <a:rPr lang="es-ES" sz="2000" dirty="0">
                  <a:solidFill>
                    <a:srgbClr val="00B050"/>
                  </a:solidFill>
                </a:rPr>
                <a:t>5</a:t>
              </a:r>
              <a:r>
                <a:rPr lang="es-ES" sz="2000" dirty="0"/>
                <a:t>, </a:t>
              </a:r>
              <a:r>
                <a:rPr lang="es-ES" sz="2000" dirty="0">
                  <a:solidFill>
                    <a:srgbClr val="00B050"/>
                  </a:solidFill>
                </a:rPr>
                <a:t>8</a:t>
              </a:r>
              <a:r>
                <a:rPr lang="es-ES" sz="2000" dirty="0"/>
                <a:t> </a:t>
              </a:r>
              <a:r>
                <a:rPr lang="es-ES" sz="2000" dirty="0">
                  <a:solidFill>
                    <a:srgbClr val="FF0000"/>
                  </a:solidFill>
                </a:rPr>
                <a:t>)</a:t>
              </a:r>
              <a:r>
                <a:rPr lang="es-ES" sz="2000" dirty="0"/>
                <a:t>;      </a:t>
              </a:r>
            </a:p>
          </p:txBody>
        </p:sp>
      </p:grpSp>
    </p:spTree>
    <p:extLst>
      <p:ext uri="{BB962C8B-B14F-4D97-AF65-F5344CB8AC3E}">
        <p14:creationId xmlns:p14="http://schemas.microsoft.com/office/powerpoint/2010/main" val="196904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fltVal val="0"/>
                                          </p:val>
                                        </p:tav>
                                        <p:tav tm="100000">
                                          <p:val>
                                            <p:strVal val="#ppt_w"/>
                                          </p:val>
                                        </p:tav>
                                      </p:tavLst>
                                    </p:anim>
                                    <p:anim calcmode="lin" valueType="num">
                                      <p:cBhvr>
                                        <p:cTn id="20" dur="500" fill="hold"/>
                                        <p:tgtEl>
                                          <p:spTgt spid="22"/>
                                        </p:tgtEl>
                                        <p:attrNameLst>
                                          <p:attrName>ppt_h</p:attrName>
                                        </p:attrNameLst>
                                      </p:cBhvr>
                                      <p:tavLst>
                                        <p:tav tm="0">
                                          <p:val>
                                            <p:fltVal val="0"/>
                                          </p:val>
                                        </p:tav>
                                        <p:tav tm="100000">
                                          <p:val>
                                            <p:strVal val="#ppt_h"/>
                                          </p:val>
                                        </p:tav>
                                      </p:tavLst>
                                    </p:anim>
                                    <p:animEffect transition="in" filter="fad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51 Rectángulo"/>
          <p:cNvSpPr/>
          <p:nvPr/>
        </p:nvSpPr>
        <p:spPr bwMode="auto">
          <a:xfrm>
            <a:off x="1434385" y="3557237"/>
            <a:ext cx="6718812" cy="278375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098" name="Rectangle 2"/>
          <p:cNvSpPr>
            <a:spLocks noGrp="1" noChangeArrowheads="1"/>
          </p:cNvSpPr>
          <p:nvPr>
            <p:ph type="title"/>
          </p:nvPr>
        </p:nvSpPr>
        <p:spPr>
          <a:xfrm>
            <a:off x="946942" y="44624"/>
            <a:ext cx="7392988" cy="563563"/>
          </a:xfrm>
        </p:spPr>
        <p:txBody>
          <a:bodyPr/>
          <a:lstStyle/>
          <a:p>
            <a:r>
              <a:rPr lang="en-US" dirty="0" err="1"/>
              <a:t>Uso</a:t>
            </a:r>
            <a:r>
              <a:rPr lang="en-US" dirty="0"/>
              <a:t> de </a:t>
            </a:r>
            <a:r>
              <a:rPr lang="en-US" dirty="0" err="1"/>
              <a:t>Clases</a:t>
            </a:r>
            <a:r>
              <a:rPr lang="en-US" dirty="0"/>
              <a:t> </a:t>
            </a:r>
            <a:r>
              <a:rPr lang="en-US" dirty="0" err="1"/>
              <a:t>Predefinidas</a:t>
            </a:r>
            <a:endParaRPr lang="en-US" dirty="0">
              <a:solidFill>
                <a:schemeClr val="accent1"/>
              </a:solidFill>
            </a:endParaRPr>
          </a:p>
        </p:txBody>
      </p:sp>
      <p:sp>
        <p:nvSpPr>
          <p:cNvPr id="21" name="20 CuadroTexto"/>
          <p:cNvSpPr txBox="1"/>
          <p:nvPr/>
        </p:nvSpPr>
        <p:spPr>
          <a:xfrm>
            <a:off x="875616" y="1167716"/>
            <a:ext cx="7344816" cy="677108"/>
          </a:xfrm>
          <a:prstGeom prst="rect">
            <a:avLst/>
          </a:prstGeom>
          <a:noFill/>
        </p:spPr>
        <p:txBody>
          <a:bodyPr wrap="square" rtlCol="0">
            <a:spAutoFit/>
          </a:bodyPr>
          <a:lstStyle/>
          <a:p>
            <a:pPr algn="ctr"/>
            <a:r>
              <a:rPr lang="es-ES" b="1" dirty="0"/>
              <a:t>Sin embargo, también hemos empleado alguna clase que </a:t>
            </a:r>
          </a:p>
          <a:p>
            <a:pPr algn="ctr"/>
            <a:r>
              <a:rPr lang="es-ES" b="1" dirty="0"/>
              <a:t>no hicimos nosotros, sino que estaba predefinida en Java</a:t>
            </a:r>
          </a:p>
        </p:txBody>
      </p:sp>
      <p:sp>
        <p:nvSpPr>
          <p:cNvPr id="22" name="21 CuadroTexto"/>
          <p:cNvSpPr txBox="1"/>
          <p:nvPr/>
        </p:nvSpPr>
        <p:spPr>
          <a:xfrm>
            <a:off x="761908" y="1988840"/>
            <a:ext cx="7751728" cy="384721"/>
          </a:xfrm>
          <a:prstGeom prst="rect">
            <a:avLst/>
          </a:prstGeom>
          <a:noFill/>
        </p:spPr>
        <p:txBody>
          <a:bodyPr wrap="square" rtlCol="0">
            <a:spAutoFit/>
          </a:bodyPr>
          <a:lstStyle/>
          <a:p>
            <a:pPr algn="ctr"/>
            <a:r>
              <a:rPr lang="es-ES" b="1" dirty="0" err="1">
                <a:solidFill>
                  <a:schemeClr val="accent1"/>
                </a:solidFill>
              </a:rPr>
              <a:t>System</a:t>
            </a:r>
            <a:r>
              <a:rPr lang="es-ES" b="1" dirty="0"/>
              <a:t> es una clase predefinida, que podemos emplear sin más.</a:t>
            </a:r>
          </a:p>
        </p:txBody>
      </p:sp>
      <p:grpSp>
        <p:nvGrpSpPr>
          <p:cNvPr id="3" name="8 Grupo"/>
          <p:cNvGrpSpPr/>
          <p:nvPr/>
        </p:nvGrpSpPr>
        <p:grpSpPr>
          <a:xfrm>
            <a:off x="2305860" y="2425932"/>
            <a:ext cx="4845956" cy="498290"/>
            <a:chOff x="2305860" y="2425932"/>
            <a:chExt cx="4845956" cy="498290"/>
          </a:xfrm>
        </p:grpSpPr>
        <p:sp>
          <p:nvSpPr>
            <p:cNvPr id="50" name="49 Rectángulo"/>
            <p:cNvSpPr/>
            <p:nvPr/>
          </p:nvSpPr>
          <p:spPr bwMode="auto">
            <a:xfrm>
              <a:off x="2305860" y="2425932"/>
              <a:ext cx="4597644" cy="49829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 name="1 Rectángulo"/>
            <p:cNvSpPr/>
            <p:nvPr/>
          </p:nvSpPr>
          <p:spPr>
            <a:xfrm>
              <a:off x="2579816" y="2452826"/>
              <a:ext cx="4572000" cy="400110"/>
            </a:xfrm>
            <a:prstGeom prst="rect">
              <a:avLst/>
            </a:prstGeom>
          </p:spPr>
          <p:txBody>
            <a:bodyPr>
              <a:spAutoFit/>
            </a:bodyPr>
            <a:lstStyle/>
            <a:p>
              <a:r>
                <a:rPr lang="es-ES" sz="2000" dirty="0" err="1">
                  <a:solidFill>
                    <a:schemeClr val="tx1">
                      <a:lumMod val="60000"/>
                      <a:lumOff val="40000"/>
                    </a:schemeClr>
                  </a:solidFill>
                </a:rPr>
                <a:t>System.</a:t>
              </a:r>
              <a:r>
                <a:rPr lang="es-ES" sz="2000" dirty="0" err="1"/>
                <a:t>out</a:t>
              </a:r>
              <a:r>
                <a:rPr lang="es-ES" sz="2000" dirty="0" err="1">
                  <a:solidFill>
                    <a:schemeClr val="tx1">
                      <a:lumMod val="60000"/>
                      <a:lumOff val="40000"/>
                    </a:schemeClr>
                  </a:solidFill>
                </a:rPr>
                <a:t>.</a:t>
              </a:r>
              <a:r>
                <a:rPr lang="es-ES" sz="2000" dirty="0" err="1">
                  <a:solidFill>
                    <a:srgbClr val="FF0000"/>
                  </a:solidFill>
                </a:rPr>
                <a:t>println</a:t>
              </a:r>
              <a:r>
                <a:rPr lang="es-ES" sz="2000" dirty="0">
                  <a:solidFill>
                    <a:srgbClr val="FF0000"/>
                  </a:solidFill>
                </a:rPr>
                <a:t>(</a:t>
              </a:r>
              <a:r>
                <a:rPr lang="es-ES" sz="2000" dirty="0">
                  <a:solidFill>
                    <a:srgbClr val="00B050"/>
                  </a:solidFill>
                </a:rPr>
                <a:t>“Bienvenidos”</a:t>
              </a:r>
              <a:r>
                <a:rPr lang="es-ES" sz="2000" dirty="0">
                  <a:solidFill>
                    <a:srgbClr val="FF0000"/>
                  </a:solidFill>
                </a:rPr>
                <a:t>)</a:t>
              </a:r>
            </a:p>
          </p:txBody>
        </p:sp>
      </p:grpSp>
      <p:sp>
        <p:nvSpPr>
          <p:cNvPr id="8" name="7 CuadroTexto"/>
          <p:cNvSpPr txBox="1"/>
          <p:nvPr/>
        </p:nvSpPr>
        <p:spPr>
          <a:xfrm>
            <a:off x="900800" y="3045296"/>
            <a:ext cx="7751728" cy="384721"/>
          </a:xfrm>
          <a:prstGeom prst="rect">
            <a:avLst/>
          </a:prstGeom>
          <a:noFill/>
        </p:spPr>
        <p:txBody>
          <a:bodyPr wrap="square" rtlCol="0">
            <a:spAutoFit/>
          </a:bodyPr>
          <a:lstStyle/>
          <a:p>
            <a:pPr algn="ctr"/>
            <a:r>
              <a:rPr lang="es-ES" b="1" dirty="0" err="1">
                <a:solidFill>
                  <a:schemeClr val="accent1"/>
                </a:solidFill>
              </a:rPr>
              <a:t>Math</a:t>
            </a:r>
            <a:r>
              <a:rPr lang="es-ES" b="1" dirty="0"/>
              <a:t> es otra clase predefinida:</a:t>
            </a:r>
          </a:p>
        </p:txBody>
      </p:sp>
      <p:sp>
        <p:nvSpPr>
          <p:cNvPr id="11" name="10 Rectángulo"/>
          <p:cNvSpPr/>
          <p:nvPr/>
        </p:nvSpPr>
        <p:spPr>
          <a:xfrm>
            <a:off x="1571172" y="3699863"/>
            <a:ext cx="2087024" cy="400110"/>
          </a:xfrm>
          <a:prstGeom prst="rect">
            <a:avLst/>
          </a:prstGeom>
        </p:spPr>
        <p:txBody>
          <a:bodyPr wrap="square">
            <a:spAutoFit/>
          </a:bodyPr>
          <a:lstStyle/>
          <a:p>
            <a:r>
              <a:rPr lang="es-ES" sz="2000" dirty="0" err="1">
                <a:solidFill>
                  <a:schemeClr val="tx1">
                    <a:lumMod val="60000"/>
                    <a:lumOff val="40000"/>
                  </a:schemeClr>
                </a:solidFill>
              </a:rPr>
              <a:t>Math.</a:t>
            </a:r>
            <a:r>
              <a:rPr lang="es-ES" sz="2000" dirty="0" err="1">
                <a:solidFill>
                  <a:srgbClr val="FF0000"/>
                </a:solidFill>
              </a:rPr>
              <a:t>pow</a:t>
            </a:r>
            <a:r>
              <a:rPr lang="es-ES" sz="2000" dirty="0">
                <a:solidFill>
                  <a:srgbClr val="FF0000"/>
                </a:solidFill>
              </a:rPr>
              <a:t>( </a:t>
            </a:r>
            <a:r>
              <a:rPr lang="es-ES" sz="2000" dirty="0">
                <a:solidFill>
                  <a:srgbClr val="00B050"/>
                </a:solidFill>
              </a:rPr>
              <a:t>2</a:t>
            </a:r>
            <a:r>
              <a:rPr lang="es-ES" sz="2000" dirty="0"/>
              <a:t>, </a:t>
            </a:r>
            <a:r>
              <a:rPr lang="es-ES" sz="2000" dirty="0">
                <a:solidFill>
                  <a:srgbClr val="00B050"/>
                </a:solidFill>
              </a:rPr>
              <a:t>7</a:t>
            </a:r>
            <a:r>
              <a:rPr lang="es-ES" sz="2000" dirty="0"/>
              <a:t> </a:t>
            </a:r>
            <a:r>
              <a:rPr lang="es-ES" sz="2000" dirty="0">
                <a:solidFill>
                  <a:srgbClr val="FF0000"/>
                </a:solidFill>
              </a:rPr>
              <a:t>)</a:t>
            </a:r>
            <a:r>
              <a:rPr lang="es-ES" sz="2000" dirty="0"/>
              <a:t>;      </a:t>
            </a:r>
          </a:p>
        </p:txBody>
      </p:sp>
      <p:sp>
        <p:nvSpPr>
          <p:cNvPr id="12" name="11 Rectángulo"/>
          <p:cNvSpPr/>
          <p:nvPr/>
        </p:nvSpPr>
        <p:spPr>
          <a:xfrm>
            <a:off x="1571172" y="4123650"/>
            <a:ext cx="2225884" cy="400110"/>
          </a:xfrm>
          <a:prstGeom prst="rect">
            <a:avLst/>
          </a:prstGeom>
        </p:spPr>
        <p:txBody>
          <a:bodyPr wrap="square">
            <a:spAutoFit/>
          </a:bodyPr>
          <a:lstStyle/>
          <a:p>
            <a:r>
              <a:rPr lang="es-ES" sz="2000" dirty="0" err="1">
                <a:solidFill>
                  <a:schemeClr val="tx1">
                    <a:lumMod val="60000"/>
                    <a:lumOff val="40000"/>
                  </a:schemeClr>
                </a:solidFill>
              </a:rPr>
              <a:t>Math.</a:t>
            </a:r>
            <a:r>
              <a:rPr lang="es-ES" sz="2000" dirty="0" err="1">
                <a:solidFill>
                  <a:srgbClr val="FF0000"/>
                </a:solidFill>
              </a:rPr>
              <a:t>max</a:t>
            </a:r>
            <a:r>
              <a:rPr lang="es-ES" sz="2000" dirty="0">
                <a:solidFill>
                  <a:srgbClr val="FF0000"/>
                </a:solidFill>
              </a:rPr>
              <a:t>( </a:t>
            </a:r>
            <a:r>
              <a:rPr lang="es-ES" sz="2000" dirty="0">
                <a:solidFill>
                  <a:srgbClr val="00B050"/>
                </a:solidFill>
              </a:rPr>
              <a:t>2</a:t>
            </a:r>
            <a:r>
              <a:rPr lang="es-ES" sz="2000" dirty="0"/>
              <a:t>, </a:t>
            </a:r>
            <a:r>
              <a:rPr lang="es-ES" sz="2000" dirty="0">
                <a:solidFill>
                  <a:srgbClr val="00B050"/>
                </a:solidFill>
              </a:rPr>
              <a:t>7</a:t>
            </a:r>
            <a:r>
              <a:rPr lang="es-ES" sz="2000" dirty="0"/>
              <a:t> </a:t>
            </a:r>
            <a:r>
              <a:rPr lang="es-ES" sz="2000" dirty="0">
                <a:solidFill>
                  <a:srgbClr val="FF0000"/>
                </a:solidFill>
              </a:rPr>
              <a:t>)</a:t>
            </a:r>
            <a:r>
              <a:rPr lang="es-ES" sz="2000" dirty="0"/>
              <a:t>;      </a:t>
            </a:r>
          </a:p>
        </p:txBody>
      </p:sp>
      <p:sp>
        <p:nvSpPr>
          <p:cNvPr id="13" name="12 Rectángulo"/>
          <p:cNvSpPr/>
          <p:nvPr/>
        </p:nvSpPr>
        <p:spPr>
          <a:xfrm>
            <a:off x="1571172" y="4547437"/>
            <a:ext cx="2225884" cy="400110"/>
          </a:xfrm>
          <a:prstGeom prst="rect">
            <a:avLst/>
          </a:prstGeom>
        </p:spPr>
        <p:txBody>
          <a:bodyPr wrap="square">
            <a:spAutoFit/>
          </a:bodyPr>
          <a:lstStyle/>
          <a:p>
            <a:r>
              <a:rPr lang="es-ES" sz="2000" dirty="0" err="1">
                <a:solidFill>
                  <a:schemeClr val="tx1">
                    <a:lumMod val="60000"/>
                    <a:lumOff val="40000"/>
                  </a:schemeClr>
                </a:solidFill>
              </a:rPr>
              <a:t>Math.</a:t>
            </a:r>
            <a:r>
              <a:rPr lang="es-ES" sz="2000" dirty="0" err="1">
                <a:solidFill>
                  <a:srgbClr val="FF0000"/>
                </a:solidFill>
              </a:rPr>
              <a:t>sqrt</a:t>
            </a:r>
            <a:r>
              <a:rPr lang="es-ES" sz="2000" dirty="0">
                <a:solidFill>
                  <a:srgbClr val="FF0000"/>
                </a:solidFill>
              </a:rPr>
              <a:t>( </a:t>
            </a:r>
            <a:r>
              <a:rPr lang="es-ES" sz="2000" dirty="0">
                <a:solidFill>
                  <a:srgbClr val="00B050"/>
                </a:solidFill>
              </a:rPr>
              <a:t>9</a:t>
            </a:r>
            <a:r>
              <a:rPr lang="es-ES" sz="2000" dirty="0"/>
              <a:t> </a:t>
            </a:r>
            <a:r>
              <a:rPr lang="es-ES" sz="2000" dirty="0">
                <a:solidFill>
                  <a:srgbClr val="FF0000"/>
                </a:solidFill>
              </a:rPr>
              <a:t>)</a:t>
            </a:r>
            <a:r>
              <a:rPr lang="es-ES" sz="2000" dirty="0"/>
              <a:t>;      </a:t>
            </a:r>
          </a:p>
        </p:txBody>
      </p:sp>
      <p:sp>
        <p:nvSpPr>
          <p:cNvPr id="14" name="13 Rectángulo"/>
          <p:cNvSpPr/>
          <p:nvPr/>
        </p:nvSpPr>
        <p:spPr>
          <a:xfrm>
            <a:off x="1571172" y="4971224"/>
            <a:ext cx="2225884" cy="400110"/>
          </a:xfrm>
          <a:prstGeom prst="rect">
            <a:avLst/>
          </a:prstGeom>
        </p:spPr>
        <p:txBody>
          <a:bodyPr wrap="square">
            <a:spAutoFit/>
          </a:bodyPr>
          <a:lstStyle/>
          <a:p>
            <a:r>
              <a:rPr lang="es-ES" sz="2000" dirty="0" err="1">
                <a:solidFill>
                  <a:schemeClr val="tx1">
                    <a:lumMod val="60000"/>
                    <a:lumOff val="40000"/>
                  </a:schemeClr>
                </a:solidFill>
              </a:rPr>
              <a:t>Math.</a:t>
            </a:r>
            <a:r>
              <a:rPr lang="es-ES" sz="2000" dirty="0" err="1">
                <a:solidFill>
                  <a:srgbClr val="FF0000"/>
                </a:solidFill>
              </a:rPr>
              <a:t>abs</a:t>
            </a:r>
            <a:r>
              <a:rPr lang="es-ES" sz="2000" dirty="0">
                <a:solidFill>
                  <a:srgbClr val="FF0000"/>
                </a:solidFill>
              </a:rPr>
              <a:t>( </a:t>
            </a:r>
            <a:r>
              <a:rPr lang="es-ES" sz="2000" dirty="0">
                <a:solidFill>
                  <a:srgbClr val="00B050"/>
                </a:solidFill>
              </a:rPr>
              <a:t>-9</a:t>
            </a:r>
            <a:r>
              <a:rPr lang="es-ES" sz="2000" dirty="0"/>
              <a:t> </a:t>
            </a:r>
            <a:r>
              <a:rPr lang="es-ES" sz="2000" dirty="0">
                <a:solidFill>
                  <a:srgbClr val="FF0000"/>
                </a:solidFill>
              </a:rPr>
              <a:t>)</a:t>
            </a:r>
            <a:r>
              <a:rPr lang="es-ES" sz="2000" dirty="0"/>
              <a:t>;      </a:t>
            </a:r>
          </a:p>
        </p:txBody>
      </p:sp>
      <p:sp>
        <p:nvSpPr>
          <p:cNvPr id="15" name="14 Rectángulo"/>
          <p:cNvSpPr/>
          <p:nvPr/>
        </p:nvSpPr>
        <p:spPr>
          <a:xfrm>
            <a:off x="1571172" y="5395012"/>
            <a:ext cx="2225884" cy="400110"/>
          </a:xfrm>
          <a:prstGeom prst="rect">
            <a:avLst/>
          </a:prstGeom>
        </p:spPr>
        <p:txBody>
          <a:bodyPr wrap="square">
            <a:spAutoFit/>
          </a:bodyPr>
          <a:lstStyle/>
          <a:p>
            <a:r>
              <a:rPr lang="es-ES" sz="2000" dirty="0" err="1">
                <a:solidFill>
                  <a:schemeClr val="tx1">
                    <a:lumMod val="60000"/>
                    <a:lumOff val="40000"/>
                  </a:schemeClr>
                </a:solidFill>
              </a:rPr>
              <a:t>Math.</a:t>
            </a:r>
            <a:r>
              <a:rPr lang="es-ES" sz="2000" dirty="0" err="1">
                <a:solidFill>
                  <a:srgbClr val="FF0000"/>
                </a:solidFill>
              </a:rPr>
              <a:t>sin</a:t>
            </a:r>
            <a:r>
              <a:rPr lang="es-ES" sz="2000" dirty="0">
                <a:solidFill>
                  <a:srgbClr val="FF0000"/>
                </a:solidFill>
              </a:rPr>
              <a:t>( </a:t>
            </a:r>
            <a:r>
              <a:rPr lang="es-ES" sz="2000" dirty="0">
                <a:solidFill>
                  <a:srgbClr val="00B050"/>
                </a:solidFill>
              </a:rPr>
              <a:t>0</a:t>
            </a:r>
            <a:r>
              <a:rPr lang="es-ES" sz="2000" dirty="0"/>
              <a:t> </a:t>
            </a:r>
            <a:r>
              <a:rPr lang="es-ES" sz="2000" dirty="0">
                <a:solidFill>
                  <a:srgbClr val="FF0000"/>
                </a:solidFill>
              </a:rPr>
              <a:t>)</a:t>
            </a:r>
            <a:r>
              <a:rPr lang="es-ES" sz="2000" dirty="0"/>
              <a:t>;      </a:t>
            </a:r>
          </a:p>
        </p:txBody>
      </p:sp>
      <p:grpSp>
        <p:nvGrpSpPr>
          <p:cNvPr id="4" name="6 Grupo"/>
          <p:cNvGrpSpPr/>
          <p:nvPr/>
        </p:nvGrpSpPr>
        <p:grpSpPr>
          <a:xfrm>
            <a:off x="3725048" y="3699863"/>
            <a:ext cx="1279000" cy="400110"/>
            <a:chOff x="2932960" y="3755888"/>
            <a:chExt cx="1279000" cy="400110"/>
          </a:xfrm>
        </p:grpSpPr>
        <p:cxnSp>
          <p:nvCxnSpPr>
            <p:cNvPr id="6" name="5 Conector recto de flecha"/>
            <p:cNvCxnSpPr/>
            <p:nvPr/>
          </p:nvCxnSpPr>
          <p:spPr bwMode="auto">
            <a:xfrm>
              <a:off x="2932960" y="3955943"/>
              <a:ext cx="41490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19" name="18 Rectángulo"/>
            <p:cNvSpPr/>
            <p:nvPr/>
          </p:nvSpPr>
          <p:spPr>
            <a:xfrm>
              <a:off x="3491880" y="3755888"/>
              <a:ext cx="720080" cy="400110"/>
            </a:xfrm>
            <a:prstGeom prst="rect">
              <a:avLst/>
            </a:prstGeom>
          </p:spPr>
          <p:txBody>
            <a:bodyPr wrap="square">
              <a:spAutoFit/>
            </a:bodyPr>
            <a:lstStyle/>
            <a:p>
              <a:pPr algn="r"/>
              <a:r>
                <a:rPr lang="es-ES" sz="2000" dirty="0">
                  <a:solidFill>
                    <a:schemeClr val="tx1">
                      <a:lumMod val="60000"/>
                      <a:lumOff val="40000"/>
                    </a:schemeClr>
                  </a:solidFill>
                </a:rPr>
                <a:t>128</a:t>
              </a:r>
              <a:endParaRPr lang="es-ES" sz="2000" dirty="0"/>
            </a:p>
          </p:txBody>
        </p:sp>
      </p:grpSp>
      <p:grpSp>
        <p:nvGrpSpPr>
          <p:cNvPr id="5" name="22 Grupo"/>
          <p:cNvGrpSpPr/>
          <p:nvPr/>
        </p:nvGrpSpPr>
        <p:grpSpPr>
          <a:xfrm>
            <a:off x="3725048" y="4983191"/>
            <a:ext cx="1279000" cy="400110"/>
            <a:chOff x="2932960" y="3755888"/>
            <a:chExt cx="1279000" cy="400110"/>
          </a:xfrm>
        </p:grpSpPr>
        <p:cxnSp>
          <p:nvCxnSpPr>
            <p:cNvPr id="24" name="23 Conector recto de flecha"/>
            <p:cNvCxnSpPr/>
            <p:nvPr/>
          </p:nvCxnSpPr>
          <p:spPr bwMode="auto">
            <a:xfrm>
              <a:off x="2932960" y="3955943"/>
              <a:ext cx="41490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25" name="24 Rectángulo"/>
            <p:cNvSpPr/>
            <p:nvPr/>
          </p:nvSpPr>
          <p:spPr>
            <a:xfrm>
              <a:off x="3491880" y="3755888"/>
              <a:ext cx="720080" cy="400110"/>
            </a:xfrm>
            <a:prstGeom prst="rect">
              <a:avLst/>
            </a:prstGeom>
          </p:spPr>
          <p:txBody>
            <a:bodyPr wrap="square">
              <a:spAutoFit/>
            </a:bodyPr>
            <a:lstStyle/>
            <a:p>
              <a:pPr algn="r"/>
              <a:r>
                <a:rPr lang="es-ES" sz="2000" dirty="0">
                  <a:solidFill>
                    <a:schemeClr val="tx1">
                      <a:lumMod val="60000"/>
                      <a:lumOff val="40000"/>
                    </a:schemeClr>
                  </a:solidFill>
                </a:rPr>
                <a:t>9</a:t>
              </a:r>
              <a:endParaRPr lang="es-ES" sz="2000" dirty="0"/>
            </a:p>
          </p:txBody>
        </p:sp>
      </p:grpSp>
      <p:grpSp>
        <p:nvGrpSpPr>
          <p:cNvPr id="7" name="25 Grupo"/>
          <p:cNvGrpSpPr/>
          <p:nvPr/>
        </p:nvGrpSpPr>
        <p:grpSpPr>
          <a:xfrm>
            <a:off x="3725048" y="4127639"/>
            <a:ext cx="1279000" cy="400110"/>
            <a:chOff x="2932960" y="3755888"/>
            <a:chExt cx="1279000" cy="400110"/>
          </a:xfrm>
        </p:grpSpPr>
        <p:cxnSp>
          <p:nvCxnSpPr>
            <p:cNvPr id="28" name="27 Conector recto de flecha"/>
            <p:cNvCxnSpPr/>
            <p:nvPr/>
          </p:nvCxnSpPr>
          <p:spPr bwMode="auto">
            <a:xfrm>
              <a:off x="2932960" y="3955943"/>
              <a:ext cx="41490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29" name="28 Rectángulo"/>
            <p:cNvSpPr/>
            <p:nvPr/>
          </p:nvSpPr>
          <p:spPr>
            <a:xfrm>
              <a:off x="3491880" y="3755888"/>
              <a:ext cx="720080" cy="400110"/>
            </a:xfrm>
            <a:prstGeom prst="rect">
              <a:avLst/>
            </a:prstGeom>
          </p:spPr>
          <p:txBody>
            <a:bodyPr wrap="square">
              <a:spAutoFit/>
            </a:bodyPr>
            <a:lstStyle/>
            <a:p>
              <a:pPr algn="r"/>
              <a:r>
                <a:rPr lang="es-ES" sz="2000" dirty="0">
                  <a:solidFill>
                    <a:schemeClr val="tx1">
                      <a:lumMod val="60000"/>
                      <a:lumOff val="40000"/>
                    </a:schemeClr>
                  </a:solidFill>
                </a:rPr>
                <a:t>7</a:t>
              </a:r>
              <a:endParaRPr lang="es-ES" sz="2000" dirty="0"/>
            </a:p>
          </p:txBody>
        </p:sp>
      </p:grpSp>
      <p:grpSp>
        <p:nvGrpSpPr>
          <p:cNvPr id="9" name="29 Grupo"/>
          <p:cNvGrpSpPr/>
          <p:nvPr/>
        </p:nvGrpSpPr>
        <p:grpSpPr>
          <a:xfrm>
            <a:off x="3725048" y="4555415"/>
            <a:ext cx="1279000" cy="400110"/>
            <a:chOff x="2932960" y="3755888"/>
            <a:chExt cx="1279000" cy="400110"/>
          </a:xfrm>
        </p:grpSpPr>
        <p:cxnSp>
          <p:nvCxnSpPr>
            <p:cNvPr id="31" name="30 Conector recto de flecha"/>
            <p:cNvCxnSpPr/>
            <p:nvPr/>
          </p:nvCxnSpPr>
          <p:spPr bwMode="auto">
            <a:xfrm>
              <a:off x="2932960" y="3955943"/>
              <a:ext cx="41490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2" name="31 Rectángulo"/>
            <p:cNvSpPr/>
            <p:nvPr/>
          </p:nvSpPr>
          <p:spPr>
            <a:xfrm>
              <a:off x="3491880" y="3755888"/>
              <a:ext cx="720080" cy="400110"/>
            </a:xfrm>
            <a:prstGeom prst="rect">
              <a:avLst/>
            </a:prstGeom>
          </p:spPr>
          <p:txBody>
            <a:bodyPr wrap="square">
              <a:spAutoFit/>
            </a:bodyPr>
            <a:lstStyle/>
            <a:p>
              <a:pPr algn="r"/>
              <a:r>
                <a:rPr lang="es-ES" sz="2000" dirty="0">
                  <a:solidFill>
                    <a:schemeClr val="tx1">
                      <a:lumMod val="60000"/>
                      <a:lumOff val="40000"/>
                    </a:schemeClr>
                  </a:solidFill>
                </a:rPr>
                <a:t>3</a:t>
              </a:r>
              <a:endParaRPr lang="es-ES" sz="2000" dirty="0"/>
            </a:p>
          </p:txBody>
        </p:sp>
      </p:grpSp>
      <p:grpSp>
        <p:nvGrpSpPr>
          <p:cNvPr id="10" name="32 Grupo"/>
          <p:cNvGrpSpPr/>
          <p:nvPr/>
        </p:nvGrpSpPr>
        <p:grpSpPr>
          <a:xfrm>
            <a:off x="3725048" y="5410967"/>
            <a:ext cx="1279000" cy="400110"/>
            <a:chOff x="2932960" y="3755888"/>
            <a:chExt cx="1279000" cy="400110"/>
          </a:xfrm>
        </p:grpSpPr>
        <p:cxnSp>
          <p:nvCxnSpPr>
            <p:cNvPr id="34" name="33 Conector recto de flecha"/>
            <p:cNvCxnSpPr/>
            <p:nvPr/>
          </p:nvCxnSpPr>
          <p:spPr bwMode="auto">
            <a:xfrm>
              <a:off x="2932960" y="3955943"/>
              <a:ext cx="41490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5" name="34 Rectángulo"/>
            <p:cNvSpPr/>
            <p:nvPr/>
          </p:nvSpPr>
          <p:spPr>
            <a:xfrm>
              <a:off x="3491880" y="3755888"/>
              <a:ext cx="720080" cy="400110"/>
            </a:xfrm>
            <a:prstGeom prst="rect">
              <a:avLst/>
            </a:prstGeom>
          </p:spPr>
          <p:txBody>
            <a:bodyPr wrap="square">
              <a:spAutoFit/>
            </a:bodyPr>
            <a:lstStyle/>
            <a:p>
              <a:pPr algn="r"/>
              <a:r>
                <a:rPr lang="es-ES" sz="2000" dirty="0">
                  <a:solidFill>
                    <a:schemeClr val="tx1">
                      <a:lumMod val="60000"/>
                      <a:lumOff val="40000"/>
                    </a:schemeClr>
                  </a:solidFill>
                </a:rPr>
                <a:t>0</a:t>
              </a:r>
              <a:endParaRPr lang="es-ES" sz="2000" dirty="0"/>
            </a:p>
          </p:txBody>
        </p:sp>
      </p:grpSp>
      <p:sp>
        <p:nvSpPr>
          <p:cNvPr id="39" name="38 Rectángulo"/>
          <p:cNvSpPr/>
          <p:nvPr/>
        </p:nvSpPr>
        <p:spPr>
          <a:xfrm>
            <a:off x="5292080" y="3699863"/>
            <a:ext cx="3672408" cy="400110"/>
          </a:xfrm>
          <a:prstGeom prst="rect">
            <a:avLst/>
          </a:prstGeom>
        </p:spPr>
        <p:txBody>
          <a:bodyPr wrap="square">
            <a:spAutoFit/>
          </a:bodyPr>
          <a:lstStyle/>
          <a:p>
            <a:r>
              <a:rPr lang="es-ES" sz="2000" dirty="0"/>
              <a:t>2 elevado a 7</a:t>
            </a:r>
          </a:p>
        </p:txBody>
      </p:sp>
      <p:sp>
        <p:nvSpPr>
          <p:cNvPr id="40" name="39 Rectángulo"/>
          <p:cNvSpPr/>
          <p:nvPr/>
        </p:nvSpPr>
        <p:spPr>
          <a:xfrm>
            <a:off x="5292080" y="4127639"/>
            <a:ext cx="3672408" cy="400110"/>
          </a:xfrm>
          <a:prstGeom prst="rect">
            <a:avLst/>
          </a:prstGeom>
        </p:spPr>
        <p:txBody>
          <a:bodyPr wrap="square">
            <a:spAutoFit/>
          </a:bodyPr>
          <a:lstStyle/>
          <a:p>
            <a:r>
              <a:rPr lang="es-ES" sz="2000" dirty="0"/>
              <a:t>el mayor de 2 y 7</a:t>
            </a:r>
          </a:p>
        </p:txBody>
      </p:sp>
      <p:sp>
        <p:nvSpPr>
          <p:cNvPr id="41" name="40 Rectángulo"/>
          <p:cNvSpPr/>
          <p:nvPr/>
        </p:nvSpPr>
        <p:spPr>
          <a:xfrm>
            <a:off x="5292080" y="4555415"/>
            <a:ext cx="3672408" cy="400110"/>
          </a:xfrm>
          <a:prstGeom prst="rect">
            <a:avLst/>
          </a:prstGeom>
        </p:spPr>
        <p:txBody>
          <a:bodyPr wrap="square">
            <a:spAutoFit/>
          </a:bodyPr>
          <a:lstStyle/>
          <a:p>
            <a:r>
              <a:rPr lang="es-ES" sz="2000" dirty="0"/>
              <a:t>raíz cuadrada de 9</a:t>
            </a:r>
          </a:p>
        </p:txBody>
      </p:sp>
      <p:sp>
        <p:nvSpPr>
          <p:cNvPr id="42" name="41 Rectángulo"/>
          <p:cNvSpPr/>
          <p:nvPr/>
        </p:nvSpPr>
        <p:spPr>
          <a:xfrm>
            <a:off x="5292080" y="4983191"/>
            <a:ext cx="3672408" cy="400110"/>
          </a:xfrm>
          <a:prstGeom prst="rect">
            <a:avLst/>
          </a:prstGeom>
        </p:spPr>
        <p:txBody>
          <a:bodyPr wrap="square">
            <a:spAutoFit/>
          </a:bodyPr>
          <a:lstStyle/>
          <a:p>
            <a:r>
              <a:rPr lang="es-ES" sz="2000" dirty="0"/>
              <a:t>valor absoluto de -9</a:t>
            </a:r>
          </a:p>
        </p:txBody>
      </p:sp>
      <p:sp>
        <p:nvSpPr>
          <p:cNvPr id="43" name="42 Rectángulo"/>
          <p:cNvSpPr/>
          <p:nvPr/>
        </p:nvSpPr>
        <p:spPr>
          <a:xfrm>
            <a:off x="5292080" y="5410967"/>
            <a:ext cx="3672408" cy="400110"/>
          </a:xfrm>
          <a:prstGeom prst="rect">
            <a:avLst/>
          </a:prstGeom>
        </p:spPr>
        <p:txBody>
          <a:bodyPr wrap="square">
            <a:spAutoFit/>
          </a:bodyPr>
          <a:lstStyle/>
          <a:p>
            <a:r>
              <a:rPr lang="es-ES" sz="2000" dirty="0"/>
              <a:t>seno de 0 radianes</a:t>
            </a:r>
          </a:p>
        </p:txBody>
      </p:sp>
      <p:sp>
        <p:nvSpPr>
          <p:cNvPr id="45" name="44 Rectángulo"/>
          <p:cNvSpPr/>
          <p:nvPr/>
        </p:nvSpPr>
        <p:spPr>
          <a:xfrm>
            <a:off x="1574558" y="5821247"/>
            <a:ext cx="2225884" cy="400110"/>
          </a:xfrm>
          <a:prstGeom prst="rect">
            <a:avLst/>
          </a:prstGeom>
        </p:spPr>
        <p:txBody>
          <a:bodyPr wrap="square">
            <a:spAutoFit/>
          </a:bodyPr>
          <a:lstStyle/>
          <a:p>
            <a:r>
              <a:rPr lang="es-ES" sz="2000" dirty="0" err="1">
                <a:solidFill>
                  <a:schemeClr val="tx1">
                    <a:lumMod val="60000"/>
                    <a:lumOff val="40000"/>
                  </a:schemeClr>
                </a:solidFill>
              </a:rPr>
              <a:t>Math.</a:t>
            </a:r>
            <a:r>
              <a:rPr lang="es-ES" sz="2000" dirty="0" err="1">
                <a:solidFill>
                  <a:srgbClr val="FF0000"/>
                </a:solidFill>
              </a:rPr>
              <a:t>random</a:t>
            </a:r>
            <a:r>
              <a:rPr lang="es-ES" sz="2000" dirty="0">
                <a:solidFill>
                  <a:srgbClr val="FF0000"/>
                </a:solidFill>
              </a:rPr>
              <a:t>()</a:t>
            </a:r>
            <a:r>
              <a:rPr lang="es-ES" sz="2000" dirty="0"/>
              <a:t>;      </a:t>
            </a:r>
          </a:p>
        </p:txBody>
      </p:sp>
      <p:grpSp>
        <p:nvGrpSpPr>
          <p:cNvPr id="16" name="45 Grupo"/>
          <p:cNvGrpSpPr/>
          <p:nvPr/>
        </p:nvGrpSpPr>
        <p:grpSpPr>
          <a:xfrm>
            <a:off x="3728434" y="5837202"/>
            <a:ext cx="1279000" cy="400110"/>
            <a:chOff x="2932960" y="3755888"/>
            <a:chExt cx="1279000" cy="400110"/>
          </a:xfrm>
        </p:grpSpPr>
        <p:cxnSp>
          <p:nvCxnSpPr>
            <p:cNvPr id="47" name="46 Conector recto de flecha"/>
            <p:cNvCxnSpPr/>
            <p:nvPr/>
          </p:nvCxnSpPr>
          <p:spPr bwMode="auto">
            <a:xfrm>
              <a:off x="2932960" y="3955943"/>
              <a:ext cx="41490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48" name="47 Rectángulo"/>
            <p:cNvSpPr/>
            <p:nvPr/>
          </p:nvSpPr>
          <p:spPr>
            <a:xfrm>
              <a:off x="3347864" y="3755888"/>
              <a:ext cx="864096" cy="400110"/>
            </a:xfrm>
            <a:prstGeom prst="rect">
              <a:avLst/>
            </a:prstGeom>
          </p:spPr>
          <p:txBody>
            <a:bodyPr wrap="square">
              <a:spAutoFit/>
            </a:bodyPr>
            <a:lstStyle/>
            <a:p>
              <a:pPr algn="r"/>
              <a:r>
                <a:rPr lang="es-ES" sz="2000" dirty="0">
                  <a:solidFill>
                    <a:schemeClr val="tx1">
                      <a:lumMod val="60000"/>
                      <a:lumOff val="40000"/>
                    </a:schemeClr>
                  </a:solidFill>
                </a:rPr>
                <a:t>0.034</a:t>
              </a:r>
              <a:endParaRPr lang="es-ES" sz="2000" dirty="0"/>
            </a:p>
          </p:txBody>
        </p:sp>
      </p:grpSp>
      <p:sp>
        <p:nvSpPr>
          <p:cNvPr id="49" name="48 Rectángulo"/>
          <p:cNvSpPr/>
          <p:nvPr/>
        </p:nvSpPr>
        <p:spPr>
          <a:xfrm>
            <a:off x="5295466" y="5837202"/>
            <a:ext cx="3672408" cy="400110"/>
          </a:xfrm>
          <a:prstGeom prst="rect">
            <a:avLst/>
          </a:prstGeom>
        </p:spPr>
        <p:txBody>
          <a:bodyPr wrap="square">
            <a:spAutoFit/>
          </a:bodyPr>
          <a:lstStyle/>
          <a:p>
            <a:r>
              <a:rPr lang="es-ES" sz="2000" dirty="0"/>
              <a:t>nº aleatorio entre 0 y 1</a:t>
            </a:r>
          </a:p>
        </p:txBody>
      </p:sp>
    </p:spTree>
    <p:extLst>
      <p:ext uri="{BB962C8B-B14F-4D97-AF65-F5344CB8AC3E}">
        <p14:creationId xmlns:p14="http://schemas.microsoft.com/office/powerpoint/2010/main" val="94970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500"/>
                                        <p:tgtEl>
                                          <p:spTgt spid="5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barn(inVertical)">
                                      <p:cBhvr>
                                        <p:cTn id="41" dur="500"/>
                                        <p:tgtEl>
                                          <p:spTgt spid="3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left)">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barn(inVertical)">
                                      <p:cBhvr>
                                        <p:cTn id="56" dur="500"/>
                                        <p:tgtEl>
                                          <p:spTgt spid="4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left)">
                                      <p:cBhvr>
                                        <p:cTn id="66" dur="500"/>
                                        <p:tgtEl>
                                          <p:spTgt spid="9"/>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barn(inVertical)">
                                      <p:cBhvr>
                                        <p:cTn id="71" dur="500"/>
                                        <p:tgtEl>
                                          <p:spTgt spid="4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5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wipe(down)">
                                      <p:cBhvr>
                                        <p:cTn id="81" dur="500"/>
                                        <p:tgtEl>
                                          <p:spTgt spid="5"/>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barn(inVertical)">
                                      <p:cBhvr>
                                        <p:cTn id="86" dur="500"/>
                                        <p:tgtEl>
                                          <p:spTgt spid="42"/>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15"/>
                                        </p:tgtEl>
                                        <p:attrNameLst>
                                          <p:attrName>style.visibility</p:attrName>
                                        </p:attrNameLst>
                                      </p:cBhvr>
                                      <p:to>
                                        <p:strVal val="visible"/>
                                      </p:to>
                                    </p:set>
                                    <p:animEffect transition="in" filter="fade">
                                      <p:cBhvr>
                                        <p:cTn id="91" dur="500"/>
                                        <p:tgtEl>
                                          <p:spTgt spid="1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10"/>
                                        </p:tgtEl>
                                        <p:attrNameLst>
                                          <p:attrName>style.visibility</p:attrName>
                                        </p:attrNameLst>
                                      </p:cBhvr>
                                      <p:to>
                                        <p:strVal val="visible"/>
                                      </p:to>
                                    </p:set>
                                    <p:animEffect transition="in" filter="wipe(left)">
                                      <p:cBhvr>
                                        <p:cTn id="96" dur="500"/>
                                        <p:tgtEl>
                                          <p:spTgt spid="10"/>
                                        </p:tgtEl>
                                      </p:cBhvr>
                                    </p:animEffect>
                                  </p:childTnLst>
                                </p:cTn>
                              </p:par>
                            </p:childTnLst>
                          </p:cTn>
                        </p:par>
                      </p:childTnLst>
                    </p:cTn>
                  </p:par>
                  <p:par>
                    <p:cTn id="97" fill="hold">
                      <p:stCondLst>
                        <p:cond delay="indefinite"/>
                      </p:stCondLst>
                      <p:childTnLst>
                        <p:par>
                          <p:cTn id="98" fill="hold">
                            <p:stCondLst>
                              <p:cond delay="0"/>
                            </p:stCondLst>
                            <p:childTnLst>
                              <p:par>
                                <p:cTn id="99" presetID="16" presetClass="entr" presetSubtype="21" fill="hold" grpId="0" nodeType="click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barn(inVertical)">
                                      <p:cBhvr>
                                        <p:cTn id="101" dur="500"/>
                                        <p:tgtEl>
                                          <p:spTgt spid="43"/>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500"/>
                                        <p:tgtEl>
                                          <p:spTgt spid="45"/>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6"/>
                                        </p:tgtEl>
                                        <p:attrNameLst>
                                          <p:attrName>style.visibility</p:attrName>
                                        </p:attrNameLst>
                                      </p:cBhvr>
                                      <p:to>
                                        <p:strVal val="visible"/>
                                      </p:to>
                                    </p:set>
                                    <p:animEffect transition="in" filter="wipe(left)">
                                      <p:cBhvr>
                                        <p:cTn id="111" dur="500"/>
                                        <p:tgtEl>
                                          <p:spTgt spid="16"/>
                                        </p:tgtEl>
                                      </p:cBhvr>
                                    </p:animEffect>
                                  </p:childTnLst>
                                </p:cTn>
                              </p:par>
                            </p:childTnLst>
                          </p:cTn>
                        </p:par>
                      </p:childTnLst>
                    </p:cTn>
                  </p:par>
                  <p:par>
                    <p:cTn id="112" fill="hold">
                      <p:stCondLst>
                        <p:cond delay="indefinite"/>
                      </p:stCondLst>
                      <p:childTnLst>
                        <p:par>
                          <p:cTn id="113" fill="hold">
                            <p:stCondLst>
                              <p:cond delay="0"/>
                            </p:stCondLst>
                            <p:childTnLst>
                              <p:par>
                                <p:cTn id="114" presetID="16" presetClass="entr" presetSubtype="21" fill="hold" grpId="0" nodeType="clickEffect">
                                  <p:stCondLst>
                                    <p:cond delay="0"/>
                                  </p:stCondLst>
                                  <p:childTnLst>
                                    <p:set>
                                      <p:cBhvr>
                                        <p:cTn id="115" dur="1" fill="hold">
                                          <p:stCondLst>
                                            <p:cond delay="0"/>
                                          </p:stCondLst>
                                        </p:cTn>
                                        <p:tgtEl>
                                          <p:spTgt spid="49"/>
                                        </p:tgtEl>
                                        <p:attrNameLst>
                                          <p:attrName>style.visibility</p:attrName>
                                        </p:attrNameLst>
                                      </p:cBhvr>
                                      <p:to>
                                        <p:strVal val="visible"/>
                                      </p:to>
                                    </p:set>
                                    <p:animEffect transition="in" filter="barn(inVertical)">
                                      <p:cBhvr>
                                        <p:cTn id="11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22" grpId="0"/>
      <p:bldP spid="8" grpId="0"/>
      <p:bldP spid="11" grpId="0"/>
      <p:bldP spid="12" grpId="0"/>
      <p:bldP spid="13" grpId="0"/>
      <p:bldP spid="14" grpId="0"/>
      <p:bldP spid="15" grpId="0"/>
      <p:bldP spid="39" grpId="0"/>
      <p:bldP spid="40" grpId="0"/>
      <p:bldP spid="41" grpId="0"/>
      <p:bldP spid="42" grpId="0"/>
      <p:bldP spid="43" grpId="0"/>
      <p:bldP spid="45" grpId="0"/>
      <p:bldP spid="4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16 Elipse"/>
          <p:cNvSpPr/>
          <p:nvPr/>
        </p:nvSpPr>
        <p:spPr bwMode="auto">
          <a:xfrm>
            <a:off x="1201071" y="1898921"/>
            <a:ext cx="6840760" cy="2178151"/>
          </a:xfrm>
          <a:prstGeom prst="ellipse">
            <a:avLst/>
          </a:prstGeom>
          <a:noFill/>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0" name="49 CuadroTexto"/>
          <p:cNvSpPr txBox="1"/>
          <p:nvPr/>
        </p:nvSpPr>
        <p:spPr>
          <a:xfrm>
            <a:off x="896458" y="4149080"/>
            <a:ext cx="7344816" cy="646331"/>
          </a:xfrm>
          <a:prstGeom prst="rect">
            <a:avLst/>
          </a:prstGeom>
          <a:noFill/>
        </p:spPr>
        <p:txBody>
          <a:bodyPr wrap="square" rtlCol="0">
            <a:spAutoFit/>
          </a:bodyPr>
          <a:lstStyle/>
          <a:p>
            <a:pPr algn="ctr"/>
            <a:r>
              <a:rPr lang="es-ES" sz="1800" b="1" dirty="0"/>
              <a:t>Al conjunto formado por todas ellas se le denomina</a:t>
            </a:r>
          </a:p>
          <a:p>
            <a:pPr algn="ctr"/>
            <a:r>
              <a:rPr lang="es-ES" sz="1800" b="1" dirty="0">
                <a:solidFill>
                  <a:srgbClr val="FF0000"/>
                </a:solidFill>
              </a:rPr>
              <a:t>I</a:t>
            </a:r>
            <a:r>
              <a:rPr lang="es-ES" sz="1800" b="1" dirty="0"/>
              <a:t>nterface de </a:t>
            </a:r>
            <a:r>
              <a:rPr lang="es-ES" sz="1800" b="1" dirty="0">
                <a:solidFill>
                  <a:srgbClr val="FF0000"/>
                </a:solidFill>
              </a:rPr>
              <a:t>P</a:t>
            </a:r>
            <a:r>
              <a:rPr lang="es-ES" sz="1800" b="1" dirty="0"/>
              <a:t>rogramación de </a:t>
            </a:r>
            <a:r>
              <a:rPr lang="es-ES" sz="1800" b="1" dirty="0">
                <a:solidFill>
                  <a:srgbClr val="FF0000"/>
                </a:solidFill>
              </a:rPr>
              <a:t>A</a:t>
            </a:r>
            <a:r>
              <a:rPr lang="es-ES" sz="1800" b="1" dirty="0"/>
              <a:t>plicaciones </a:t>
            </a:r>
            <a:r>
              <a:rPr lang="es-ES" sz="1800" b="1" dirty="0">
                <a:solidFill>
                  <a:srgbClr val="FF0000"/>
                </a:solidFill>
              </a:rPr>
              <a:t>(API)</a:t>
            </a:r>
          </a:p>
        </p:txBody>
      </p:sp>
      <p:sp>
        <p:nvSpPr>
          <p:cNvPr id="16" name="15 Rectángulo"/>
          <p:cNvSpPr/>
          <p:nvPr/>
        </p:nvSpPr>
        <p:spPr>
          <a:xfrm>
            <a:off x="584588" y="2807931"/>
            <a:ext cx="590225" cy="384721"/>
          </a:xfrm>
          <a:prstGeom prst="rect">
            <a:avLst/>
          </a:prstGeom>
        </p:spPr>
        <p:txBody>
          <a:bodyPr wrap="none">
            <a:spAutoFit/>
          </a:bodyPr>
          <a:lstStyle/>
          <a:p>
            <a:pPr algn="ctr"/>
            <a:r>
              <a:rPr lang="es-ES" b="1" dirty="0">
                <a:solidFill>
                  <a:srgbClr val="FF0000"/>
                </a:solidFill>
              </a:rPr>
              <a:t>API</a:t>
            </a:r>
          </a:p>
        </p:txBody>
      </p:sp>
      <p:sp>
        <p:nvSpPr>
          <p:cNvPr id="5" name="4 Rectángulo redondeado"/>
          <p:cNvSpPr/>
          <p:nvPr/>
        </p:nvSpPr>
        <p:spPr bwMode="auto">
          <a:xfrm>
            <a:off x="1619672" y="1660467"/>
            <a:ext cx="5904656" cy="2376264"/>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0" name="99 Rectángulo"/>
          <p:cNvSpPr/>
          <p:nvPr/>
        </p:nvSpPr>
        <p:spPr>
          <a:xfrm>
            <a:off x="3902462" y="1313112"/>
            <a:ext cx="1484439" cy="369332"/>
          </a:xfrm>
          <a:prstGeom prst="rect">
            <a:avLst/>
          </a:prstGeom>
        </p:spPr>
        <p:txBody>
          <a:bodyPr wrap="square">
            <a:spAutoFit/>
          </a:bodyPr>
          <a:lstStyle/>
          <a:p>
            <a:pPr algn="ctr"/>
            <a:r>
              <a:rPr lang="es-ES" sz="1800" dirty="0">
                <a:solidFill>
                  <a:srgbClr val="009900"/>
                </a:solidFill>
              </a:rPr>
              <a:t>java</a:t>
            </a:r>
          </a:p>
        </p:txBody>
      </p:sp>
      <p:sp>
        <p:nvSpPr>
          <p:cNvPr id="10" name="9 Rectángulo redondeado"/>
          <p:cNvSpPr/>
          <p:nvPr/>
        </p:nvSpPr>
        <p:spPr bwMode="auto">
          <a:xfrm>
            <a:off x="1907704" y="2008384"/>
            <a:ext cx="3672408" cy="1870884"/>
          </a:xfrm>
          <a:prstGeom prst="round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1" name="90 Rectángulo"/>
          <p:cNvSpPr/>
          <p:nvPr/>
        </p:nvSpPr>
        <p:spPr>
          <a:xfrm>
            <a:off x="2956992" y="1673914"/>
            <a:ext cx="1484439" cy="369332"/>
          </a:xfrm>
          <a:prstGeom prst="rect">
            <a:avLst/>
          </a:prstGeom>
        </p:spPr>
        <p:txBody>
          <a:bodyPr wrap="square">
            <a:spAutoFit/>
          </a:bodyPr>
          <a:lstStyle/>
          <a:p>
            <a:pPr algn="ctr"/>
            <a:r>
              <a:rPr lang="es-ES" sz="1800" dirty="0">
                <a:solidFill>
                  <a:srgbClr val="009900"/>
                </a:solidFill>
              </a:rPr>
              <a:t>paquete</a:t>
            </a:r>
          </a:p>
        </p:txBody>
      </p:sp>
      <p:sp>
        <p:nvSpPr>
          <p:cNvPr id="87" name="86 Rectángulo redondeado"/>
          <p:cNvSpPr/>
          <p:nvPr/>
        </p:nvSpPr>
        <p:spPr bwMode="auto">
          <a:xfrm>
            <a:off x="5751857" y="2321986"/>
            <a:ext cx="1484439" cy="1384440"/>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6" name="85 Rectángulo redondeado"/>
          <p:cNvSpPr/>
          <p:nvPr/>
        </p:nvSpPr>
        <p:spPr bwMode="auto">
          <a:xfrm>
            <a:off x="3879649" y="2321986"/>
            <a:ext cx="1484439" cy="1384440"/>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 name="8 Rectángulo redondeado"/>
          <p:cNvSpPr/>
          <p:nvPr/>
        </p:nvSpPr>
        <p:spPr bwMode="auto">
          <a:xfrm>
            <a:off x="2051720" y="2318134"/>
            <a:ext cx="1484439" cy="1384440"/>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8" name="37 CuadroTexto"/>
          <p:cNvSpPr txBox="1"/>
          <p:nvPr/>
        </p:nvSpPr>
        <p:spPr>
          <a:xfrm>
            <a:off x="896458" y="5374957"/>
            <a:ext cx="7344816" cy="646331"/>
          </a:xfrm>
          <a:prstGeom prst="rect">
            <a:avLst/>
          </a:prstGeom>
          <a:noFill/>
        </p:spPr>
        <p:txBody>
          <a:bodyPr wrap="square" rtlCol="0">
            <a:spAutoFit/>
          </a:bodyPr>
          <a:lstStyle/>
          <a:p>
            <a:pPr algn="ctr"/>
            <a:r>
              <a:rPr lang="es-ES" sz="1800" b="1" dirty="0"/>
              <a:t>Estas clases predefinidas se agrupan en conjuntos llamados </a:t>
            </a:r>
            <a:r>
              <a:rPr lang="es-ES" sz="1800" b="1" dirty="0">
                <a:solidFill>
                  <a:srgbClr val="009900"/>
                </a:solidFill>
              </a:rPr>
              <a:t>paquetes</a:t>
            </a:r>
            <a:r>
              <a:rPr lang="es-ES" sz="1800" b="1" dirty="0"/>
              <a:t>, según su función.</a:t>
            </a:r>
          </a:p>
        </p:txBody>
      </p:sp>
      <p:sp>
        <p:nvSpPr>
          <p:cNvPr id="88" name="87 Rectángulo"/>
          <p:cNvSpPr/>
          <p:nvPr/>
        </p:nvSpPr>
        <p:spPr>
          <a:xfrm>
            <a:off x="5751857" y="1948499"/>
            <a:ext cx="1484439" cy="369332"/>
          </a:xfrm>
          <a:prstGeom prst="rect">
            <a:avLst/>
          </a:prstGeom>
        </p:spPr>
        <p:txBody>
          <a:bodyPr wrap="square">
            <a:spAutoFit/>
          </a:bodyPr>
          <a:lstStyle/>
          <a:p>
            <a:pPr algn="ctr"/>
            <a:r>
              <a:rPr lang="es-ES" sz="1800" dirty="0">
                <a:solidFill>
                  <a:srgbClr val="009900"/>
                </a:solidFill>
              </a:rPr>
              <a:t>paquete</a:t>
            </a:r>
          </a:p>
        </p:txBody>
      </p:sp>
      <p:sp>
        <p:nvSpPr>
          <p:cNvPr id="89" name="88 Rectángulo"/>
          <p:cNvSpPr/>
          <p:nvPr/>
        </p:nvSpPr>
        <p:spPr>
          <a:xfrm>
            <a:off x="2051720" y="1966719"/>
            <a:ext cx="1484439" cy="369332"/>
          </a:xfrm>
          <a:prstGeom prst="rect">
            <a:avLst/>
          </a:prstGeom>
        </p:spPr>
        <p:txBody>
          <a:bodyPr wrap="square">
            <a:spAutoFit/>
          </a:bodyPr>
          <a:lstStyle/>
          <a:p>
            <a:pPr algn="ctr"/>
            <a:r>
              <a:rPr lang="es-ES" sz="1800" dirty="0">
                <a:solidFill>
                  <a:srgbClr val="009900"/>
                </a:solidFill>
              </a:rPr>
              <a:t>paquete</a:t>
            </a:r>
          </a:p>
        </p:txBody>
      </p:sp>
      <p:sp>
        <p:nvSpPr>
          <p:cNvPr id="90" name="89 Rectángulo"/>
          <p:cNvSpPr/>
          <p:nvPr/>
        </p:nvSpPr>
        <p:spPr>
          <a:xfrm>
            <a:off x="3879649" y="1961946"/>
            <a:ext cx="1484439" cy="369332"/>
          </a:xfrm>
          <a:prstGeom prst="rect">
            <a:avLst/>
          </a:prstGeom>
        </p:spPr>
        <p:txBody>
          <a:bodyPr wrap="square">
            <a:spAutoFit/>
          </a:bodyPr>
          <a:lstStyle/>
          <a:p>
            <a:pPr algn="ctr"/>
            <a:r>
              <a:rPr lang="es-ES" sz="1800" dirty="0">
                <a:solidFill>
                  <a:srgbClr val="009900"/>
                </a:solidFill>
              </a:rPr>
              <a:t>paquete</a:t>
            </a:r>
          </a:p>
        </p:txBody>
      </p:sp>
      <p:sp>
        <p:nvSpPr>
          <p:cNvPr id="4098" name="Rectangle 2"/>
          <p:cNvSpPr>
            <a:spLocks noGrp="1" noChangeArrowheads="1"/>
          </p:cNvSpPr>
          <p:nvPr>
            <p:ph type="title"/>
          </p:nvPr>
        </p:nvSpPr>
        <p:spPr>
          <a:xfrm>
            <a:off x="911279" y="44624"/>
            <a:ext cx="7392988" cy="563563"/>
          </a:xfrm>
        </p:spPr>
        <p:txBody>
          <a:bodyPr/>
          <a:lstStyle/>
          <a:p>
            <a:r>
              <a:rPr lang="en-US" dirty="0"/>
              <a:t>API de Java</a:t>
            </a:r>
            <a:endParaRPr lang="en-US" dirty="0">
              <a:solidFill>
                <a:schemeClr val="accent1"/>
              </a:solidFill>
            </a:endParaRPr>
          </a:p>
        </p:txBody>
      </p:sp>
      <p:sp>
        <p:nvSpPr>
          <p:cNvPr id="21" name="20 CuadroTexto"/>
          <p:cNvSpPr txBox="1"/>
          <p:nvPr/>
        </p:nvSpPr>
        <p:spPr>
          <a:xfrm>
            <a:off x="935365" y="908720"/>
            <a:ext cx="7344816" cy="384721"/>
          </a:xfrm>
          <a:prstGeom prst="rect">
            <a:avLst/>
          </a:prstGeom>
          <a:noFill/>
        </p:spPr>
        <p:txBody>
          <a:bodyPr wrap="square" rtlCol="0">
            <a:spAutoFit/>
          </a:bodyPr>
          <a:lstStyle/>
          <a:p>
            <a:pPr algn="ctr"/>
            <a:r>
              <a:rPr lang="es-ES" b="1" dirty="0"/>
              <a:t>Java incorpora muchas más Clases predefinidas.</a:t>
            </a:r>
          </a:p>
        </p:txBody>
      </p:sp>
      <p:sp>
        <p:nvSpPr>
          <p:cNvPr id="4" name="3 Elipse"/>
          <p:cNvSpPr/>
          <p:nvPr/>
        </p:nvSpPr>
        <p:spPr bwMode="auto">
          <a:xfrm>
            <a:off x="2252230" y="2452555"/>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5" name="64 Elipse"/>
          <p:cNvSpPr/>
          <p:nvPr/>
        </p:nvSpPr>
        <p:spPr bwMode="auto">
          <a:xfrm>
            <a:off x="3116326" y="2515816"/>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6" name="65 Elipse"/>
          <p:cNvSpPr/>
          <p:nvPr/>
        </p:nvSpPr>
        <p:spPr bwMode="auto">
          <a:xfrm>
            <a:off x="2726704" y="2587688"/>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7" name="66 Elipse"/>
          <p:cNvSpPr/>
          <p:nvPr/>
        </p:nvSpPr>
        <p:spPr bwMode="auto">
          <a:xfrm>
            <a:off x="2376919" y="2926360"/>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8" name="67 Elipse"/>
          <p:cNvSpPr/>
          <p:nvPr/>
        </p:nvSpPr>
        <p:spPr bwMode="auto">
          <a:xfrm>
            <a:off x="2776175" y="2875221"/>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9" name="68 Elipse"/>
          <p:cNvSpPr/>
          <p:nvPr/>
        </p:nvSpPr>
        <p:spPr bwMode="auto">
          <a:xfrm>
            <a:off x="2322639" y="3263199"/>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0" name="69 Elipse"/>
          <p:cNvSpPr/>
          <p:nvPr/>
        </p:nvSpPr>
        <p:spPr bwMode="auto">
          <a:xfrm>
            <a:off x="2726705" y="3275984"/>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1" name="70 Elipse"/>
          <p:cNvSpPr/>
          <p:nvPr/>
        </p:nvSpPr>
        <p:spPr bwMode="auto">
          <a:xfrm>
            <a:off x="3116326" y="3128066"/>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2" name="71 Elipse"/>
          <p:cNvSpPr/>
          <p:nvPr/>
        </p:nvSpPr>
        <p:spPr bwMode="auto">
          <a:xfrm>
            <a:off x="4238513" y="2425661"/>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3" name="72 Elipse"/>
          <p:cNvSpPr/>
          <p:nvPr/>
        </p:nvSpPr>
        <p:spPr bwMode="auto">
          <a:xfrm>
            <a:off x="4696719" y="2560794"/>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4" name="73 Elipse"/>
          <p:cNvSpPr/>
          <p:nvPr/>
        </p:nvSpPr>
        <p:spPr bwMode="auto">
          <a:xfrm>
            <a:off x="4108361" y="2922386"/>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5" name="74 Elipse"/>
          <p:cNvSpPr/>
          <p:nvPr/>
        </p:nvSpPr>
        <p:spPr bwMode="auto">
          <a:xfrm>
            <a:off x="4368664" y="2945306"/>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6" name="75 Elipse"/>
          <p:cNvSpPr/>
          <p:nvPr/>
        </p:nvSpPr>
        <p:spPr bwMode="auto">
          <a:xfrm>
            <a:off x="4887761" y="3192652"/>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7" name="76 Elipse"/>
          <p:cNvSpPr/>
          <p:nvPr/>
        </p:nvSpPr>
        <p:spPr bwMode="auto">
          <a:xfrm>
            <a:off x="4339319" y="3323811"/>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8" name="77 Elipse"/>
          <p:cNvSpPr/>
          <p:nvPr/>
        </p:nvSpPr>
        <p:spPr bwMode="auto">
          <a:xfrm>
            <a:off x="4628967" y="3192652"/>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9" name="78 Elipse"/>
          <p:cNvSpPr/>
          <p:nvPr/>
        </p:nvSpPr>
        <p:spPr bwMode="auto">
          <a:xfrm>
            <a:off x="5906381" y="2570139"/>
            <a:ext cx="260303" cy="270266"/>
          </a:xfrm>
          <a:prstGeom prst="ellipse">
            <a:avLst/>
          </a:prstGeom>
          <a:solidFill>
            <a:srgbClr val="FFC00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0" name="79 Elipse"/>
          <p:cNvSpPr/>
          <p:nvPr/>
        </p:nvSpPr>
        <p:spPr bwMode="auto">
          <a:xfrm>
            <a:off x="6075258" y="2899184"/>
            <a:ext cx="260303" cy="270266"/>
          </a:xfrm>
          <a:prstGeom prst="ellipse">
            <a:avLst/>
          </a:prstGeom>
          <a:solidFill>
            <a:srgbClr val="FFC00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1" name="80 Elipse"/>
          <p:cNvSpPr/>
          <p:nvPr/>
        </p:nvSpPr>
        <p:spPr bwMode="auto">
          <a:xfrm>
            <a:off x="6416406" y="2616133"/>
            <a:ext cx="260303" cy="270266"/>
          </a:xfrm>
          <a:prstGeom prst="ellipse">
            <a:avLst/>
          </a:prstGeom>
          <a:solidFill>
            <a:srgbClr val="FFC00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2" name="81 Elipse"/>
          <p:cNvSpPr/>
          <p:nvPr/>
        </p:nvSpPr>
        <p:spPr bwMode="auto">
          <a:xfrm>
            <a:off x="6363581" y="3027339"/>
            <a:ext cx="260303" cy="270266"/>
          </a:xfrm>
          <a:prstGeom prst="ellipse">
            <a:avLst/>
          </a:prstGeom>
          <a:solidFill>
            <a:srgbClr val="FFC00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3" name="82 Elipse"/>
          <p:cNvSpPr/>
          <p:nvPr/>
        </p:nvSpPr>
        <p:spPr bwMode="auto">
          <a:xfrm>
            <a:off x="6044208" y="3262409"/>
            <a:ext cx="260303" cy="270266"/>
          </a:xfrm>
          <a:prstGeom prst="ellipse">
            <a:avLst/>
          </a:prstGeom>
          <a:solidFill>
            <a:srgbClr val="FFC00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4" name="83 Elipse"/>
          <p:cNvSpPr/>
          <p:nvPr/>
        </p:nvSpPr>
        <p:spPr bwMode="auto">
          <a:xfrm>
            <a:off x="6831977" y="3210808"/>
            <a:ext cx="260303" cy="270266"/>
          </a:xfrm>
          <a:prstGeom prst="ellipse">
            <a:avLst/>
          </a:prstGeom>
          <a:solidFill>
            <a:srgbClr val="FFC00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5" name="84 Elipse"/>
          <p:cNvSpPr/>
          <p:nvPr/>
        </p:nvSpPr>
        <p:spPr bwMode="auto">
          <a:xfrm>
            <a:off x="6828620" y="2722539"/>
            <a:ext cx="260303" cy="270266"/>
          </a:xfrm>
          <a:prstGeom prst="ellipse">
            <a:avLst/>
          </a:prstGeom>
          <a:solidFill>
            <a:srgbClr val="FFC00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4" name="93 Rectángulo"/>
          <p:cNvSpPr/>
          <p:nvPr/>
        </p:nvSpPr>
        <p:spPr>
          <a:xfrm>
            <a:off x="2967010" y="1687361"/>
            <a:ext cx="1484439" cy="369332"/>
          </a:xfrm>
          <a:prstGeom prst="rect">
            <a:avLst/>
          </a:prstGeom>
        </p:spPr>
        <p:txBody>
          <a:bodyPr wrap="square">
            <a:spAutoFit/>
          </a:bodyPr>
          <a:lstStyle/>
          <a:p>
            <a:pPr algn="ctr"/>
            <a:r>
              <a:rPr lang="es-ES" sz="1800" dirty="0" err="1">
                <a:solidFill>
                  <a:srgbClr val="009900"/>
                </a:solidFill>
              </a:rPr>
              <a:t>awt</a:t>
            </a:r>
            <a:endParaRPr lang="es-ES" sz="1800" dirty="0">
              <a:solidFill>
                <a:srgbClr val="009900"/>
              </a:solidFill>
            </a:endParaRPr>
          </a:p>
        </p:txBody>
      </p:sp>
      <p:sp>
        <p:nvSpPr>
          <p:cNvPr id="95" name="94 Rectángulo"/>
          <p:cNvSpPr/>
          <p:nvPr/>
        </p:nvSpPr>
        <p:spPr>
          <a:xfrm>
            <a:off x="2051720" y="1968043"/>
            <a:ext cx="1484439" cy="369332"/>
          </a:xfrm>
          <a:prstGeom prst="rect">
            <a:avLst/>
          </a:prstGeom>
        </p:spPr>
        <p:txBody>
          <a:bodyPr wrap="square">
            <a:spAutoFit/>
          </a:bodyPr>
          <a:lstStyle/>
          <a:p>
            <a:pPr algn="ctr"/>
            <a:r>
              <a:rPr lang="es-ES" sz="1800" dirty="0" err="1">
                <a:solidFill>
                  <a:srgbClr val="009900"/>
                </a:solidFill>
              </a:rPr>
              <a:t>event</a:t>
            </a:r>
            <a:endParaRPr lang="es-ES" sz="1800" dirty="0">
              <a:solidFill>
                <a:srgbClr val="009900"/>
              </a:solidFill>
            </a:endParaRPr>
          </a:p>
        </p:txBody>
      </p:sp>
      <p:sp>
        <p:nvSpPr>
          <p:cNvPr id="96" name="95 Rectángulo"/>
          <p:cNvSpPr/>
          <p:nvPr/>
        </p:nvSpPr>
        <p:spPr>
          <a:xfrm>
            <a:off x="3900711" y="1961946"/>
            <a:ext cx="1484439" cy="369332"/>
          </a:xfrm>
          <a:prstGeom prst="rect">
            <a:avLst/>
          </a:prstGeom>
        </p:spPr>
        <p:txBody>
          <a:bodyPr wrap="square">
            <a:spAutoFit/>
          </a:bodyPr>
          <a:lstStyle/>
          <a:p>
            <a:pPr algn="ctr"/>
            <a:r>
              <a:rPr lang="es-ES" sz="1800" dirty="0" err="1">
                <a:solidFill>
                  <a:srgbClr val="009900"/>
                </a:solidFill>
              </a:rPr>
              <a:t>geom</a:t>
            </a:r>
            <a:endParaRPr lang="es-ES" sz="1800" dirty="0">
              <a:solidFill>
                <a:srgbClr val="009900"/>
              </a:solidFill>
            </a:endParaRPr>
          </a:p>
        </p:txBody>
      </p:sp>
      <p:sp>
        <p:nvSpPr>
          <p:cNvPr id="97" name="96 Rectángulo"/>
          <p:cNvSpPr/>
          <p:nvPr/>
        </p:nvSpPr>
        <p:spPr>
          <a:xfrm>
            <a:off x="5759788" y="1948499"/>
            <a:ext cx="1484439" cy="369332"/>
          </a:xfrm>
          <a:prstGeom prst="rect">
            <a:avLst/>
          </a:prstGeom>
        </p:spPr>
        <p:txBody>
          <a:bodyPr wrap="square">
            <a:spAutoFit/>
          </a:bodyPr>
          <a:lstStyle/>
          <a:p>
            <a:pPr algn="ctr"/>
            <a:r>
              <a:rPr lang="es-ES" sz="1800" dirty="0" err="1">
                <a:solidFill>
                  <a:srgbClr val="009900"/>
                </a:solidFill>
              </a:rPr>
              <a:t>lang</a:t>
            </a:r>
            <a:endParaRPr lang="es-ES" sz="1800" dirty="0">
              <a:solidFill>
                <a:srgbClr val="009900"/>
              </a:solidFill>
            </a:endParaRPr>
          </a:p>
        </p:txBody>
      </p:sp>
      <p:sp>
        <p:nvSpPr>
          <p:cNvPr id="98" name="97 Rectángulo"/>
          <p:cNvSpPr/>
          <p:nvPr/>
        </p:nvSpPr>
        <p:spPr>
          <a:xfrm>
            <a:off x="6112694" y="2336051"/>
            <a:ext cx="894131" cy="307777"/>
          </a:xfrm>
          <a:prstGeom prst="rect">
            <a:avLst/>
          </a:prstGeom>
        </p:spPr>
        <p:txBody>
          <a:bodyPr wrap="square">
            <a:spAutoFit/>
          </a:bodyPr>
          <a:lstStyle/>
          <a:p>
            <a:pPr algn="ctr"/>
            <a:r>
              <a:rPr lang="es-ES" sz="1400" dirty="0" err="1">
                <a:solidFill>
                  <a:srgbClr val="0070C0"/>
                </a:solidFill>
              </a:rPr>
              <a:t>Math</a:t>
            </a:r>
            <a:endParaRPr lang="es-ES" sz="1400" dirty="0">
              <a:solidFill>
                <a:srgbClr val="0070C0"/>
              </a:solidFill>
            </a:endParaRPr>
          </a:p>
        </p:txBody>
      </p:sp>
      <p:sp>
        <p:nvSpPr>
          <p:cNvPr id="99" name="98 CuadroTexto"/>
          <p:cNvSpPr txBox="1"/>
          <p:nvPr/>
        </p:nvSpPr>
        <p:spPr>
          <a:xfrm>
            <a:off x="896458" y="6068615"/>
            <a:ext cx="7344816" cy="369332"/>
          </a:xfrm>
          <a:prstGeom prst="rect">
            <a:avLst/>
          </a:prstGeom>
          <a:noFill/>
        </p:spPr>
        <p:txBody>
          <a:bodyPr wrap="square" rtlCol="0">
            <a:spAutoFit/>
          </a:bodyPr>
          <a:lstStyle/>
          <a:p>
            <a:pPr algn="ctr"/>
            <a:r>
              <a:rPr lang="es-ES" sz="1800" b="1" dirty="0" err="1">
                <a:solidFill>
                  <a:srgbClr val="009900"/>
                </a:solidFill>
              </a:rPr>
              <a:t>java.lang.</a:t>
            </a:r>
            <a:r>
              <a:rPr lang="es-ES" sz="1800" b="1" dirty="0" err="1"/>
              <a:t>Math</a:t>
            </a:r>
            <a:endParaRPr lang="es-ES" sz="1800" b="1" dirty="0"/>
          </a:p>
        </p:txBody>
      </p:sp>
      <p:sp>
        <p:nvSpPr>
          <p:cNvPr id="101" name="100 Rectángulo"/>
          <p:cNvSpPr/>
          <p:nvPr/>
        </p:nvSpPr>
        <p:spPr>
          <a:xfrm>
            <a:off x="3889220" y="1313112"/>
            <a:ext cx="1484439" cy="369332"/>
          </a:xfrm>
          <a:prstGeom prst="rect">
            <a:avLst/>
          </a:prstGeom>
        </p:spPr>
        <p:txBody>
          <a:bodyPr wrap="square">
            <a:spAutoFit/>
          </a:bodyPr>
          <a:lstStyle/>
          <a:p>
            <a:pPr algn="ctr"/>
            <a:r>
              <a:rPr lang="es-ES" sz="1800" dirty="0">
                <a:solidFill>
                  <a:srgbClr val="009900"/>
                </a:solidFill>
              </a:rPr>
              <a:t>paquete</a:t>
            </a:r>
          </a:p>
        </p:txBody>
      </p:sp>
      <p:sp>
        <p:nvSpPr>
          <p:cNvPr id="48" name="47 CuadroTexto"/>
          <p:cNvSpPr txBox="1"/>
          <p:nvPr/>
        </p:nvSpPr>
        <p:spPr>
          <a:xfrm>
            <a:off x="826408" y="4797152"/>
            <a:ext cx="7344816" cy="369332"/>
          </a:xfrm>
          <a:prstGeom prst="rect">
            <a:avLst/>
          </a:prstGeom>
          <a:noFill/>
        </p:spPr>
        <p:txBody>
          <a:bodyPr wrap="square" rtlCol="0">
            <a:spAutoFit/>
          </a:bodyPr>
          <a:lstStyle/>
          <a:p>
            <a:pPr algn="ctr"/>
            <a:r>
              <a:rPr lang="es-ES" sz="1800" b="1" dirty="0"/>
              <a:t>También se le conoce como Biblioteca de Clases</a:t>
            </a:r>
            <a:endParaRPr lang="es-ES" sz="1800" b="1" dirty="0">
              <a:solidFill>
                <a:srgbClr val="FF0000"/>
              </a:solidFill>
            </a:endParaRPr>
          </a:p>
        </p:txBody>
      </p:sp>
    </p:spTree>
    <p:extLst>
      <p:ext uri="{BB962C8B-B14F-4D97-AF65-F5344CB8AC3E}">
        <p14:creationId xmlns:p14="http://schemas.microsoft.com/office/powerpoint/2010/main" val="1653790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9"/>
                                        </p:tgtEl>
                                        <p:attrNameLst>
                                          <p:attrName>style.visibility</p:attrName>
                                        </p:attrNameLst>
                                      </p:cBhvr>
                                      <p:to>
                                        <p:strVal val="visible"/>
                                      </p:to>
                                    </p:set>
                                    <p:animEffect transition="in" filter="fade">
                                      <p:cBhvr>
                                        <p:cTn id="23" dur="500"/>
                                        <p:tgtEl>
                                          <p:spTgt spid="8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0"/>
                                        </p:tgtEl>
                                        <p:attrNameLst>
                                          <p:attrName>style.visibility</p:attrName>
                                        </p:attrNameLst>
                                      </p:cBhvr>
                                      <p:to>
                                        <p:strVal val="visible"/>
                                      </p:to>
                                    </p:set>
                                    <p:animEffect transition="in" filter="fade">
                                      <p:cBhvr>
                                        <p:cTn id="29" dur="500"/>
                                        <p:tgtEl>
                                          <p:spTgt spid="9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6"/>
                                        </p:tgtEl>
                                        <p:attrNameLst>
                                          <p:attrName>style.visibility</p:attrName>
                                        </p:attrNameLst>
                                      </p:cBhvr>
                                      <p:to>
                                        <p:strVal val="visible"/>
                                      </p:to>
                                    </p:set>
                                    <p:animEffect transition="in" filter="fade">
                                      <p:cBhvr>
                                        <p:cTn id="32" dur="500"/>
                                        <p:tgtEl>
                                          <p:spTgt spid="8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8"/>
                                        </p:tgtEl>
                                        <p:attrNameLst>
                                          <p:attrName>style.visibility</p:attrName>
                                        </p:attrNameLst>
                                      </p:cBhvr>
                                      <p:to>
                                        <p:strVal val="visible"/>
                                      </p:to>
                                    </p:set>
                                    <p:animEffect transition="in" filter="fade">
                                      <p:cBhvr>
                                        <p:cTn id="35" dur="500"/>
                                        <p:tgtEl>
                                          <p:spTgt spid="8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7"/>
                                        </p:tgtEl>
                                        <p:attrNameLst>
                                          <p:attrName>style.visibility</p:attrName>
                                        </p:attrNameLst>
                                      </p:cBhvr>
                                      <p:to>
                                        <p:strVal val="visible"/>
                                      </p:to>
                                    </p:set>
                                    <p:animEffect transition="in" filter="fade">
                                      <p:cBhvr>
                                        <p:cTn id="38" dur="500"/>
                                        <p:tgtEl>
                                          <p:spTgt spid="87"/>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p:cTn id="41" dur="500" fill="hold"/>
                                        <p:tgtEl>
                                          <p:spTgt spid="38"/>
                                        </p:tgtEl>
                                        <p:attrNameLst>
                                          <p:attrName>ppt_w</p:attrName>
                                        </p:attrNameLst>
                                      </p:cBhvr>
                                      <p:tavLst>
                                        <p:tav tm="0">
                                          <p:val>
                                            <p:fltVal val="0"/>
                                          </p:val>
                                        </p:tav>
                                        <p:tav tm="100000">
                                          <p:val>
                                            <p:strVal val="#ppt_w"/>
                                          </p:val>
                                        </p:tav>
                                      </p:tavLst>
                                    </p:anim>
                                    <p:anim calcmode="lin" valueType="num">
                                      <p:cBhvr>
                                        <p:cTn id="42" dur="500" fill="hold"/>
                                        <p:tgtEl>
                                          <p:spTgt spid="38"/>
                                        </p:tgtEl>
                                        <p:attrNameLst>
                                          <p:attrName>ppt_h</p:attrName>
                                        </p:attrNameLst>
                                      </p:cBhvr>
                                      <p:tavLst>
                                        <p:tav tm="0">
                                          <p:val>
                                            <p:fltVal val="0"/>
                                          </p:val>
                                        </p:tav>
                                        <p:tav tm="100000">
                                          <p:val>
                                            <p:strVal val="#ppt_h"/>
                                          </p:val>
                                        </p:tav>
                                      </p:tavLst>
                                    </p:anim>
                                    <p:animEffect transition="in" filter="fade">
                                      <p:cBhvr>
                                        <p:cTn id="43" dur="500"/>
                                        <p:tgtEl>
                                          <p:spTgt spid="38"/>
                                        </p:tgtEl>
                                      </p:cBhvr>
                                    </p:animEffect>
                                  </p:childTnLst>
                                </p:cTn>
                              </p:par>
                              <p:par>
                                <p:cTn id="44" presetID="10" presetClass="exit" presetSubtype="0" fill="hold" grpId="1" nodeType="withEffect">
                                  <p:stCondLst>
                                    <p:cond delay="0"/>
                                  </p:stCondLst>
                                  <p:childTnLst>
                                    <p:animEffect transition="out" filter="fade">
                                      <p:cBhvr>
                                        <p:cTn id="45" dur="500"/>
                                        <p:tgtEl>
                                          <p:spTgt spid="17"/>
                                        </p:tgtEl>
                                      </p:cBhvr>
                                    </p:animEffect>
                                    <p:set>
                                      <p:cBhvr>
                                        <p:cTn id="46" dur="1" fill="hold">
                                          <p:stCondLst>
                                            <p:cond delay="499"/>
                                          </p:stCondLst>
                                        </p:cTn>
                                        <p:tgtEl>
                                          <p:spTgt spid="17"/>
                                        </p:tgtEl>
                                        <p:attrNameLst>
                                          <p:attrName>style.visibility</p:attrName>
                                        </p:attrNameLst>
                                      </p:cBhvr>
                                      <p:to>
                                        <p:strVal val="hidden"/>
                                      </p:to>
                                    </p:set>
                                  </p:childTnLst>
                                </p:cTn>
                              </p:par>
                              <p:par>
                                <p:cTn id="47" presetID="9" presetClass="emph" presetSubtype="0" grpId="1" nodeType="withEffect">
                                  <p:stCondLst>
                                    <p:cond delay="0"/>
                                  </p:stCondLst>
                                  <p:childTnLst>
                                    <p:set>
                                      <p:cBhvr rctx="PPT">
                                        <p:cTn id="48" dur="indefinite"/>
                                        <p:tgtEl>
                                          <p:spTgt spid="48"/>
                                        </p:tgtEl>
                                        <p:attrNameLst>
                                          <p:attrName>style.opacity</p:attrName>
                                        </p:attrNameLst>
                                      </p:cBhvr>
                                      <p:to>
                                        <p:strVal val="0.5"/>
                                      </p:to>
                                    </p:set>
                                    <p:animEffect filter="image" prLst="opacity: 0.5">
                                      <p:cBhvr rctx="IE">
                                        <p:cTn id="49" dur="indefinite"/>
                                        <p:tgtEl>
                                          <p:spTgt spid="48"/>
                                        </p:tgtEl>
                                      </p:cBhvr>
                                    </p:animEffect>
                                  </p:childTnLst>
                                </p:cTn>
                              </p:par>
                              <p:par>
                                <p:cTn id="50" presetID="9" presetClass="emph" presetSubtype="0" grpId="1" nodeType="withEffect">
                                  <p:stCondLst>
                                    <p:cond delay="0"/>
                                  </p:stCondLst>
                                  <p:childTnLst>
                                    <p:set>
                                      <p:cBhvr rctx="PPT">
                                        <p:cTn id="51" dur="indefinite"/>
                                        <p:tgtEl>
                                          <p:spTgt spid="50"/>
                                        </p:tgtEl>
                                        <p:attrNameLst>
                                          <p:attrName>style.opacity</p:attrName>
                                        </p:attrNameLst>
                                      </p:cBhvr>
                                      <p:to>
                                        <p:strVal val="0.5"/>
                                      </p:to>
                                    </p:set>
                                    <p:animEffect filter="image" prLst="opacity: 0.5">
                                      <p:cBhvr rctx="IE">
                                        <p:cTn id="52" dur="indefinite"/>
                                        <p:tgtEl>
                                          <p:spTgt spid="5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91"/>
                                        </p:tgtEl>
                                        <p:attrNameLst>
                                          <p:attrName>style.visibility</p:attrName>
                                        </p:attrNameLst>
                                      </p:cBhvr>
                                      <p:to>
                                        <p:strVal val="visible"/>
                                      </p:to>
                                    </p:set>
                                    <p:animEffect transition="in" filter="fade">
                                      <p:cBhvr>
                                        <p:cTn id="57" dur="500"/>
                                        <p:tgtEl>
                                          <p:spTgt spid="9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01"/>
                                        </p:tgtEl>
                                        <p:attrNameLst>
                                          <p:attrName>style.visibility</p:attrName>
                                        </p:attrNameLst>
                                      </p:cBhvr>
                                      <p:to>
                                        <p:strVal val="visible"/>
                                      </p:to>
                                    </p:set>
                                    <p:animEffect transition="in" filter="fade">
                                      <p:cBhvr>
                                        <p:cTn id="65" dur="500"/>
                                        <p:tgtEl>
                                          <p:spTgt spid="10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
                                        </p:tgtEl>
                                        <p:attrNameLst>
                                          <p:attrName>style.visibility</p:attrName>
                                        </p:attrNameLst>
                                      </p:cBhvr>
                                      <p:to>
                                        <p:strVal val="visible"/>
                                      </p:to>
                                    </p:set>
                                    <p:animEffect transition="in" filter="fade">
                                      <p:cBhvr>
                                        <p:cTn id="68" dur="500"/>
                                        <p:tgtEl>
                                          <p:spTgt spid="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grpId="1" nodeType="clickEffect">
                                  <p:stCondLst>
                                    <p:cond delay="0"/>
                                  </p:stCondLst>
                                  <p:childTnLst>
                                    <p:animEffect transition="out" filter="fade">
                                      <p:cBhvr>
                                        <p:cTn id="72" dur="500"/>
                                        <p:tgtEl>
                                          <p:spTgt spid="101"/>
                                        </p:tgtEl>
                                      </p:cBhvr>
                                    </p:animEffect>
                                    <p:set>
                                      <p:cBhvr>
                                        <p:cTn id="73" dur="1" fill="hold">
                                          <p:stCondLst>
                                            <p:cond delay="499"/>
                                          </p:stCondLst>
                                        </p:cTn>
                                        <p:tgtEl>
                                          <p:spTgt spid="101"/>
                                        </p:tgtEl>
                                        <p:attrNameLst>
                                          <p:attrName>style.visibility</p:attrName>
                                        </p:attrNameLst>
                                      </p:cBhvr>
                                      <p:to>
                                        <p:strVal val="hidden"/>
                                      </p:to>
                                    </p:set>
                                  </p:childTnLst>
                                </p:cTn>
                              </p:par>
                              <p:par>
                                <p:cTn id="74" presetID="45" presetClass="entr" presetSubtype="0" fill="hold" grpId="0" nodeType="withEffect">
                                  <p:stCondLst>
                                    <p:cond delay="0"/>
                                  </p:stCondLst>
                                  <p:childTnLst>
                                    <p:set>
                                      <p:cBhvr>
                                        <p:cTn id="75" dur="1" fill="hold">
                                          <p:stCondLst>
                                            <p:cond delay="0"/>
                                          </p:stCondLst>
                                        </p:cTn>
                                        <p:tgtEl>
                                          <p:spTgt spid="100"/>
                                        </p:tgtEl>
                                        <p:attrNameLst>
                                          <p:attrName>style.visibility</p:attrName>
                                        </p:attrNameLst>
                                      </p:cBhvr>
                                      <p:to>
                                        <p:strVal val="visible"/>
                                      </p:to>
                                    </p:set>
                                    <p:animEffect transition="in" filter="fade">
                                      <p:cBhvr>
                                        <p:cTn id="76" dur="2000"/>
                                        <p:tgtEl>
                                          <p:spTgt spid="100"/>
                                        </p:tgtEl>
                                      </p:cBhvr>
                                    </p:animEffect>
                                    <p:anim calcmode="lin" valueType="num">
                                      <p:cBhvr>
                                        <p:cTn id="77" dur="2000" fill="hold"/>
                                        <p:tgtEl>
                                          <p:spTgt spid="100"/>
                                        </p:tgtEl>
                                        <p:attrNameLst>
                                          <p:attrName>ppt_w</p:attrName>
                                        </p:attrNameLst>
                                      </p:cBhvr>
                                      <p:tavLst>
                                        <p:tav tm="0" fmla="#ppt_w*sin(2.5*pi*$)">
                                          <p:val>
                                            <p:fltVal val="0"/>
                                          </p:val>
                                        </p:tav>
                                        <p:tav tm="100000">
                                          <p:val>
                                            <p:fltVal val="1"/>
                                          </p:val>
                                        </p:tav>
                                      </p:tavLst>
                                    </p:anim>
                                    <p:anim calcmode="lin" valueType="num">
                                      <p:cBhvr>
                                        <p:cTn id="78" dur="2000" fill="hold"/>
                                        <p:tgtEl>
                                          <p:spTgt spid="100"/>
                                        </p:tgtEl>
                                        <p:attrNameLst>
                                          <p:attrName>ppt_h</p:attrName>
                                        </p:attrNameLst>
                                      </p:cBhvr>
                                      <p:tavLst>
                                        <p:tav tm="0">
                                          <p:val>
                                            <p:strVal val="#ppt_h"/>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10" presetClass="exit" presetSubtype="0" fill="hold" grpId="1" nodeType="clickEffect">
                                  <p:stCondLst>
                                    <p:cond delay="0"/>
                                  </p:stCondLst>
                                  <p:childTnLst>
                                    <p:animEffect transition="out" filter="fade">
                                      <p:cBhvr>
                                        <p:cTn id="82" dur="500"/>
                                        <p:tgtEl>
                                          <p:spTgt spid="91"/>
                                        </p:tgtEl>
                                      </p:cBhvr>
                                    </p:animEffect>
                                    <p:set>
                                      <p:cBhvr>
                                        <p:cTn id="83" dur="1" fill="hold">
                                          <p:stCondLst>
                                            <p:cond delay="499"/>
                                          </p:stCondLst>
                                        </p:cTn>
                                        <p:tgtEl>
                                          <p:spTgt spid="91"/>
                                        </p:tgtEl>
                                        <p:attrNameLst>
                                          <p:attrName>style.visibility</p:attrName>
                                        </p:attrNameLst>
                                      </p:cBhvr>
                                      <p:to>
                                        <p:strVal val="hidden"/>
                                      </p:to>
                                    </p:set>
                                  </p:childTnLst>
                                </p:cTn>
                              </p:par>
                              <p:par>
                                <p:cTn id="84" presetID="45" presetClass="entr" presetSubtype="0" fill="hold" grpId="0" nodeType="withEffect">
                                  <p:stCondLst>
                                    <p:cond delay="0"/>
                                  </p:stCondLst>
                                  <p:childTnLst>
                                    <p:set>
                                      <p:cBhvr>
                                        <p:cTn id="85" dur="1" fill="hold">
                                          <p:stCondLst>
                                            <p:cond delay="0"/>
                                          </p:stCondLst>
                                        </p:cTn>
                                        <p:tgtEl>
                                          <p:spTgt spid="94"/>
                                        </p:tgtEl>
                                        <p:attrNameLst>
                                          <p:attrName>style.visibility</p:attrName>
                                        </p:attrNameLst>
                                      </p:cBhvr>
                                      <p:to>
                                        <p:strVal val="visible"/>
                                      </p:to>
                                    </p:set>
                                    <p:animEffect transition="in" filter="fade">
                                      <p:cBhvr>
                                        <p:cTn id="86" dur="2000"/>
                                        <p:tgtEl>
                                          <p:spTgt spid="94"/>
                                        </p:tgtEl>
                                      </p:cBhvr>
                                    </p:animEffect>
                                    <p:anim calcmode="lin" valueType="num">
                                      <p:cBhvr>
                                        <p:cTn id="87" dur="2000" fill="hold"/>
                                        <p:tgtEl>
                                          <p:spTgt spid="94"/>
                                        </p:tgtEl>
                                        <p:attrNameLst>
                                          <p:attrName>ppt_w</p:attrName>
                                        </p:attrNameLst>
                                      </p:cBhvr>
                                      <p:tavLst>
                                        <p:tav tm="0" fmla="#ppt_w*sin(2.5*pi*$)">
                                          <p:val>
                                            <p:fltVal val="0"/>
                                          </p:val>
                                        </p:tav>
                                        <p:tav tm="100000">
                                          <p:val>
                                            <p:fltVal val="1"/>
                                          </p:val>
                                        </p:tav>
                                      </p:tavLst>
                                    </p:anim>
                                    <p:anim calcmode="lin" valueType="num">
                                      <p:cBhvr>
                                        <p:cTn id="88" dur="2000" fill="hold"/>
                                        <p:tgtEl>
                                          <p:spTgt spid="94"/>
                                        </p:tgtEl>
                                        <p:attrNameLst>
                                          <p:attrName>ppt_h</p:attrName>
                                        </p:attrNameLst>
                                      </p:cBhvr>
                                      <p:tavLst>
                                        <p:tav tm="0">
                                          <p:val>
                                            <p:strVal val="#ppt_h"/>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10" presetClass="exit" presetSubtype="0" fill="hold" grpId="1" nodeType="clickEffect">
                                  <p:stCondLst>
                                    <p:cond delay="0"/>
                                  </p:stCondLst>
                                  <p:childTnLst>
                                    <p:animEffect transition="out" filter="fade">
                                      <p:cBhvr>
                                        <p:cTn id="92" dur="500"/>
                                        <p:tgtEl>
                                          <p:spTgt spid="89"/>
                                        </p:tgtEl>
                                      </p:cBhvr>
                                    </p:animEffect>
                                    <p:set>
                                      <p:cBhvr>
                                        <p:cTn id="93" dur="1" fill="hold">
                                          <p:stCondLst>
                                            <p:cond delay="499"/>
                                          </p:stCondLst>
                                        </p:cTn>
                                        <p:tgtEl>
                                          <p:spTgt spid="89"/>
                                        </p:tgtEl>
                                        <p:attrNameLst>
                                          <p:attrName>style.visibility</p:attrName>
                                        </p:attrNameLst>
                                      </p:cBhvr>
                                      <p:to>
                                        <p:strVal val="hidden"/>
                                      </p:to>
                                    </p:set>
                                  </p:childTnLst>
                                </p:cTn>
                              </p:par>
                              <p:par>
                                <p:cTn id="94" presetID="45" presetClass="entr" presetSubtype="0" fill="hold" grpId="0" nodeType="withEffect">
                                  <p:stCondLst>
                                    <p:cond delay="0"/>
                                  </p:stCondLst>
                                  <p:childTnLst>
                                    <p:set>
                                      <p:cBhvr>
                                        <p:cTn id="95" dur="1" fill="hold">
                                          <p:stCondLst>
                                            <p:cond delay="0"/>
                                          </p:stCondLst>
                                        </p:cTn>
                                        <p:tgtEl>
                                          <p:spTgt spid="95"/>
                                        </p:tgtEl>
                                        <p:attrNameLst>
                                          <p:attrName>style.visibility</p:attrName>
                                        </p:attrNameLst>
                                      </p:cBhvr>
                                      <p:to>
                                        <p:strVal val="visible"/>
                                      </p:to>
                                    </p:set>
                                    <p:animEffect transition="in" filter="fade">
                                      <p:cBhvr>
                                        <p:cTn id="96" dur="2000"/>
                                        <p:tgtEl>
                                          <p:spTgt spid="95"/>
                                        </p:tgtEl>
                                      </p:cBhvr>
                                    </p:animEffect>
                                    <p:anim calcmode="lin" valueType="num">
                                      <p:cBhvr>
                                        <p:cTn id="97" dur="2000" fill="hold"/>
                                        <p:tgtEl>
                                          <p:spTgt spid="95"/>
                                        </p:tgtEl>
                                        <p:attrNameLst>
                                          <p:attrName>ppt_w</p:attrName>
                                        </p:attrNameLst>
                                      </p:cBhvr>
                                      <p:tavLst>
                                        <p:tav tm="0" fmla="#ppt_w*sin(2.5*pi*$)">
                                          <p:val>
                                            <p:fltVal val="0"/>
                                          </p:val>
                                        </p:tav>
                                        <p:tav tm="100000">
                                          <p:val>
                                            <p:fltVal val="1"/>
                                          </p:val>
                                        </p:tav>
                                      </p:tavLst>
                                    </p:anim>
                                    <p:anim calcmode="lin" valueType="num">
                                      <p:cBhvr>
                                        <p:cTn id="98" dur="2000" fill="hold"/>
                                        <p:tgtEl>
                                          <p:spTgt spid="95"/>
                                        </p:tgtEl>
                                        <p:attrNameLst>
                                          <p:attrName>ppt_h</p:attrName>
                                        </p:attrNameLst>
                                      </p:cBhvr>
                                      <p:tavLst>
                                        <p:tav tm="0">
                                          <p:val>
                                            <p:strVal val="#ppt_h"/>
                                          </p:val>
                                        </p:tav>
                                        <p:tav tm="100000">
                                          <p:val>
                                            <p:strVal val="#ppt_h"/>
                                          </p:val>
                                        </p:tav>
                                      </p:tavLst>
                                    </p:anim>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grpId="1" nodeType="clickEffect">
                                  <p:stCondLst>
                                    <p:cond delay="0"/>
                                  </p:stCondLst>
                                  <p:childTnLst>
                                    <p:animEffect transition="out" filter="fade">
                                      <p:cBhvr>
                                        <p:cTn id="102" dur="500"/>
                                        <p:tgtEl>
                                          <p:spTgt spid="90"/>
                                        </p:tgtEl>
                                      </p:cBhvr>
                                    </p:animEffect>
                                    <p:set>
                                      <p:cBhvr>
                                        <p:cTn id="103" dur="1" fill="hold">
                                          <p:stCondLst>
                                            <p:cond delay="499"/>
                                          </p:stCondLst>
                                        </p:cTn>
                                        <p:tgtEl>
                                          <p:spTgt spid="90"/>
                                        </p:tgtEl>
                                        <p:attrNameLst>
                                          <p:attrName>style.visibility</p:attrName>
                                        </p:attrNameLst>
                                      </p:cBhvr>
                                      <p:to>
                                        <p:strVal val="hidden"/>
                                      </p:to>
                                    </p:set>
                                  </p:childTnLst>
                                </p:cTn>
                              </p:par>
                              <p:par>
                                <p:cTn id="104" presetID="45" presetClass="entr" presetSubtype="0" fill="hold" grpId="0" nodeType="withEffect">
                                  <p:stCondLst>
                                    <p:cond delay="0"/>
                                  </p:stCondLst>
                                  <p:childTnLst>
                                    <p:set>
                                      <p:cBhvr>
                                        <p:cTn id="105" dur="1" fill="hold">
                                          <p:stCondLst>
                                            <p:cond delay="0"/>
                                          </p:stCondLst>
                                        </p:cTn>
                                        <p:tgtEl>
                                          <p:spTgt spid="96"/>
                                        </p:tgtEl>
                                        <p:attrNameLst>
                                          <p:attrName>style.visibility</p:attrName>
                                        </p:attrNameLst>
                                      </p:cBhvr>
                                      <p:to>
                                        <p:strVal val="visible"/>
                                      </p:to>
                                    </p:set>
                                    <p:animEffect transition="in" filter="fade">
                                      <p:cBhvr>
                                        <p:cTn id="106" dur="2000"/>
                                        <p:tgtEl>
                                          <p:spTgt spid="96"/>
                                        </p:tgtEl>
                                      </p:cBhvr>
                                    </p:animEffect>
                                    <p:anim calcmode="lin" valueType="num">
                                      <p:cBhvr>
                                        <p:cTn id="107" dur="2000" fill="hold"/>
                                        <p:tgtEl>
                                          <p:spTgt spid="96"/>
                                        </p:tgtEl>
                                        <p:attrNameLst>
                                          <p:attrName>ppt_w</p:attrName>
                                        </p:attrNameLst>
                                      </p:cBhvr>
                                      <p:tavLst>
                                        <p:tav tm="0" fmla="#ppt_w*sin(2.5*pi*$)">
                                          <p:val>
                                            <p:fltVal val="0"/>
                                          </p:val>
                                        </p:tav>
                                        <p:tav tm="100000">
                                          <p:val>
                                            <p:fltVal val="1"/>
                                          </p:val>
                                        </p:tav>
                                      </p:tavLst>
                                    </p:anim>
                                    <p:anim calcmode="lin" valueType="num">
                                      <p:cBhvr>
                                        <p:cTn id="108" dur="2000" fill="hold"/>
                                        <p:tgtEl>
                                          <p:spTgt spid="96"/>
                                        </p:tgtEl>
                                        <p:attrNameLst>
                                          <p:attrName>ppt_h</p:attrName>
                                        </p:attrNameLst>
                                      </p:cBhvr>
                                      <p:tavLst>
                                        <p:tav tm="0">
                                          <p:val>
                                            <p:strVal val="#ppt_h"/>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10" presetClass="exit" presetSubtype="0" fill="hold" grpId="1" nodeType="clickEffect">
                                  <p:stCondLst>
                                    <p:cond delay="0"/>
                                  </p:stCondLst>
                                  <p:childTnLst>
                                    <p:animEffect transition="out" filter="fade">
                                      <p:cBhvr>
                                        <p:cTn id="112" dur="500"/>
                                        <p:tgtEl>
                                          <p:spTgt spid="88"/>
                                        </p:tgtEl>
                                      </p:cBhvr>
                                    </p:animEffect>
                                    <p:set>
                                      <p:cBhvr>
                                        <p:cTn id="113" dur="1" fill="hold">
                                          <p:stCondLst>
                                            <p:cond delay="499"/>
                                          </p:stCondLst>
                                        </p:cTn>
                                        <p:tgtEl>
                                          <p:spTgt spid="88"/>
                                        </p:tgtEl>
                                        <p:attrNameLst>
                                          <p:attrName>style.visibility</p:attrName>
                                        </p:attrNameLst>
                                      </p:cBhvr>
                                      <p:to>
                                        <p:strVal val="hidden"/>
                                      </p:to>
                                    </p:set>
                                  </p:childTnLst>
                                </p:cTn>
                              </p:par>
                              <p:par>
                                <p:cTn id="114" presetID="45" presetClass="entr" presetSubtype="0" fill="hold" grpId="0" nodeType="withEffect">
                                  <p:stCondLst>
                                    <p:cond delay="0"/>
                                  </p:stCondLst>
                                  <p:childTnLst>
                                    <p:set>
                                      <p:cBhvr>
                                        <p:cTn id="115" dur="1" fill="hold">
                                          <p:stCondLst>
                                            <p:cond delay="0"/>
                                          </p:stCondLst>
                                        </p:cTn>
                                        <p:tgtEl>
                                          <p:spTgt spid="97"/>
                                        </p:tgtEl>
                                        <p:attrNameLst>
                                          <p:attrName>style.visibility</p:attrName>
                                        </p:attrNameLst>
                                      </p:cBhvr>
                                      <p:to>
                                        <p:strVal val="visible"/>
                                      </p:to>
                                    </p:set>
                                    <p:animEffect transition="in" filter="fade">
                                      <p:cBhvr>
                                        <p:cTn id="116" dur="2000"/>
                                        <p:tgtEl>
                                          <p:spTgt spid="97"/>
                                        </p:tgtEl>
                                      </p:cBhvr>
                                    </p:animEffect>
                                    <p:anim calcmode="lin" valueType="num">
                                      <p:cBhvr>
                                        <p:cTn id="117" dur="2000" fill="hold"/>
                                        <p:tgtEl>
                                          <p:spTgt spid="97"/>
                                        </p:tgtEl>
                                        <p:attrNameLst>
                                          <p:attrName>ppt_w</p:attrName>
                                        </p:attrNameLst>
                                      </p:cBhvr>
                                      <p:tavLst>
                                        <p:tav tm="0" fmla="#ppt_w*sin(2.5*pi*$)">
                                          <p:val>
                                            <p:fltVal val="0"/>
                                          </p:val>
                                        </p:tav>
                                        <p:tav tm="100000">
                                          <p:val>
                                            <p:fltVal val="1"/>
                                          </p:val>
                                        </p:tav>
                                      </p:tavLst>
                                    </p:anim>
                                    <p:anim calcmode="lin" valueType="num">
                                      <p:cBhvr>
                                        <p:cTn id="118" dur="2000" fill="hold"/>
                                        <p:tgtEl>
                                          <p:spTgt spid="97"/>
                                        </p:tgtEl>
                                        <p:attrNameLst>
                                          <p:attrName>ppt_h</p:attrName>
                                        </p:attrNameLst>
                                      </p:cBhvr>
                                      <p:tavLst>
                                        <p:tav tm="0">
                                          <p:val>
                                            <p:strVal val="#ppt_h"/>
                                          </p:val>
                                        </p:tav>
                                        <p:tav tm="100000">
                                          <p:val>
                                            <p:strVal val="#ppt_h"/>
                                          </p:val>
                                        </p:tav>
                                      </p:tavLst>
                                    </p:anim>
                                  </p:childTnLst>
                                </p:cTn>
                              </p:par>
                            </p:childTnLst>
                          </p:cTn>
                        </p:par>
                      </p:childTnLst>
                    </p:cTn>
                  </p:par>
                  <p:par>
                    <p:cTn id="119" fill="hold">
                      <p:stCondLst>
                        <p:cond delay="indefinite"/>
                      </p:stCondLst>
                      <p:childTnLst>
                        <p:par>
                          <p:cTn id="120" fill="hold">
                            <p:stCondLst>
                              <p:cond delay="0"/>
                            </p:stCondLst>
                            <p:childTnLst>
                              <p:par>
                                <p:cTn id="121" presetID="53" presetClass="entr" presetSubtype="16" fill="hold" grpId="0" nodeType="clickEffect">
                                  <p:stCondLst>
                                    <p:cond delay="0"/>
                                  </p:stCondLst>
                                  <p:childTnLst>
                                    <p:set>
                                      <p:cBhvr>
                                        <p:cTn id="122" dur="1" fill="hold">
                                          <p:stCondLst>
                                            <p:cond delay="0"/>
                                          </p:stCondLst>
                                        </p:cTn>
                                        <p:tgtEl>
                                          <p:spTgt spid="98"/>
                                        </p:tgtEl>
                                        <p:attrNameLst>
                                          <p:attrName>style.visibility</p:attrName>
                                        </p:attrNameLst>
                                      </p:cBhvr>
                                      <p:to>
                                        <p:strVal val="visible"/>
                                      </p:to>
                                    </p:set>
                                    <p:anim calcmode="lin" valueType="num">
                                      <p:cBhvr>
                                        <p:cTn id="123" dur="500" fill="hold"/>
                                        <p:tgtEl>
                                          <p:spTgt spid="98"/>
                                        </p:tgtEl>
                                        <p:attrNameLst>
                                          <p:attrName>ppt_w</p:attrName>
                                        </p:attrNameLst>
                                      </p:cBhvr>
                                      <p:tavLst>
                                        <p:tav tm="0">
                                          <p:val>
                                            <p:fltVal val="0"/>
                                          </p:val>
                                        </p:tav>
                                        <p:tav tm="100000">
                                          <p:val>
                                            <p:strVal val="#ppt_w"/>
                                          </p:val>
                                        </p:tav>
                                      </p:tavLst>
                                    </p:anim>
                                    <p:anim calcmode="lin" valueType="num">
                                      <p:cBhvr>
                                        <p:cTn id="124" dur="500" fill="hold"/>
                                        <p:tgtEl>
                                          <p:spTgt spid="98"/>
                                        </p:tgtEl>
                                        <p:attrNameLst>
                                          <p:attrName>ppt_h</p:attrName>
                                        </p:attrNameLst>
                                      </p:cBhvr>
                                      <p:tavLst>
                                        <p:tav tm="0">
                                          <p:val>
                                            <p:fltVal val="0"/>
                                          </p:val>
                                        </p:tav>
                                        <p:tav tm="100000">
                                          <p:val>
                                            <p:strVal val="#ppt_h"/>
                                          </p:val>
                                        </p:tav>
                                      </p:tavLst>
                                    </p:anim>
                                    <p:animEffect transition="in" filter="fade">
                                      <p:cBhvr>
                                        <p:cTn id="125" dur="500"/>
                                        <p:tgtEl>
                                          <p:spTgt spid="98"/>
                                        </p:tgtEl>
                                      </p:cBhvr>
                                    </p:animEffect>
                                  </p:childTnLst>
                                </p:cTn>
                              </p:par>
                              <p:par>
                                <p:cTn id="126" presetID="1" presetClass="emph" presetSubtype="2" fill="hold" nodeType="withEffect">
                                  <p:stCondLst>
                                    <p:cond delay="0"/>
                                  </p:stCondLst>
                                  <p:childTnLst>
                                    <p:animClr clrSpc="rgb" dir="cw">
                                      <p:cBhvr>
                                        <p:cTn id="127" dur="2000" fill="hold"/>
                                        <p:tgtEl>
                                          <p:spTgt spid="81"/>
                                        </p:tgtEl>
                                        <p:attrNameLst>
                                          <p:attrName>fillcolor</p:attrName>
                                        </p:attrNameLst>
                                      </p:cBhvr>
                                      <p:to>
                                        <a:srgbClr val="FF0000"/>
                                      </p:to>
                                    </p:animClr>
                                    <p:set>
                                      <p:cBhvr>
                                        <p:cTn id="128" dur="2000" fill="hold"/>
                                        <p:tgtEl>
                                          <p:spTgt spid="81"/>
                                        </p:tgtEl>
                                        <p:attrNameLst>
                                          <p:attrName>fill.type</p:attrName>
                                        </p:attrNameLst>
                                      </p:cBhvr>
                                      <p:to>
                                        <p:strVal val="solid"/>
                                      </p:to>
                                    </p:set>
                                    <p:set>
                                      <p:cBhvr>
                                        <p:cTn id="129" dur="2000" fill="hold"/>
                                        <p:tgtEl>
                                          <p:spTgt spid="81"/>
                                        </p:tgtEl>
                                        <p:attrNameLst>
                                          <p:attrName>fill.on</p:attrName>
                                        </p:attrNameLst>
                                      </p:cBhvr>
                                      <p:to>
                                        <p:strVal val="true"/>
                                      </p:to>
                                    </p:set>
                                  </p:childTnLst>
                                </p:cTn>
                              </p:par>
                            </p:childTnLst>
                          </p:cTn>
                        </p:par>
                      </p:childTnLst>
                    </p:cTn>
                  </p:par>
                  <p:par>
                    <p:cTn id="130" fill="hold">
                      <p:stCondLst>
                        <p:cond delay="indefinite"/>
                      </p:stCondLst>
                      <p:childTnLst>
                        <p:par>
                          <p:cTn id="131" fill="hold">
                            <p:stCondLst>
                              <p:cond delay="0"/>
                            </p:stCondLst>
                            <p:childTnLst>
                              <p:par>
                                <p:cTn id="132" presetID="53" presetClass="entr" presetSubtype="16" fill="hold" grpId="0" nodeType="clickEffect">
                                  <p:stCondLst>
                                    <p:cond delay="0"/>
                                  </p:stCondLst>
                                  <p:childTnLst>
                                    <p:set>
                                      <p:cBhvr>
                                        <p:cTn id="133" dur="1" fill="hold">
                                          <p:stCondLst>
                                            <p:cond delay="0"/>
                                          </p:stCondLst>
                                        </p:cTn>
                                        <p:tgtEl>
                                          <p:spTgt spid="99"/>
                                        </p:tgtEl>
                                        <p:attrNameLst>
                                          <p:attrName>style.visibility</p:attrName>
                                        </p:attrNameLst>
                                      </p:cBhvr>
                                      <p:to>
                                        <p:strVal val="visible"/>
                                      </p:to>
                                    </p:set>
                                    <p:anim calcmode="lin" valueType="num">
                                      <p:cBhvr>
                                        <p:cTn id="134" dur="500" fill="hold"/>
                                        <p:tgtEl>
                                          <p:spTgt spid="99"/>
                                        </p:tgtEl>
                                        <p:attrNameLst>
                                          <p:attrName>ppt_w</p:attrName>
                                        </p:attrNameLst>
                                      </p:cBhvr>
                                      <p:tavLst>
                                        <p:tav tm="0">
                                          <p:val>
                                            <p:fltVal val="0"/>
                                          </p:val>
                                        </p:tav>
                                        <p:tav tm="100000">
                                          <p:val>
                                            <p:strVal val="#ppt_w"/>
                                          </p:val>
                                        </p:tav>
                                      </p:tavLst>
                                    </p:anim>
                                    <p:anim calcmode="lin" valueType="num">
                                      <p:cBhvr>
                                        <p:cTn id="135" dur="500" fill="hold"/>
                                        <p:tgtEl>
                                          <p:spTgt spid="99"/>
                                        </p:tgtEl>
                                        <p:attrNameLst>
                                          <p:attrName>ppt_h</p:attrName>
                                        </p:attrNameLst>
                                      </p:cBhvr>
                                      <p:tavLst>
                                        <p:tav tm="0">
                                          <p:val>
                                            <p:fltVal val="0"/>
                                          </p:val>
                                        </p:tav>
                                        <p:tav tm="100000">
                                          <p:val>
                                            <p:strVal val="#ppt_h"/>
                                          </p:val>
                                        </p:tav>
                                      </p:tavLst>
                                    </p:anim>
                                    <p:animEffect transition="in" filter="fade">
                                      <p:cBhvr>
                                        <p:cTn id="136"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50" grpId="0"/>
      <p:bldP spid="50" grpId="1"/>
      <p:bldP spid="16" grpId="0"/>
      <p:bldP spid="5" grpId="0" animBg="1"/>
      <p:bldP spid="100" grpId="0"/>
      <p:bldP spid="10" grpId="0" animBg="1"/>
      <p:bldP spid="91" grpId="0"/>
      <p:bldP spid="91" grpId="1"/>
      <p:bldP spid="87" grpId="0" animBg="1"/>
      <p:bldP spid="86" grpId="0" animBg="1"/>
      <p:bldP spid="9" grpId="0" animBg="1"/>
      <p:bldP spid="38" grpId="0"/>
      <p:bldP spid="88" grpId="0"/>
      <p:bldP spid="88" grpId="1"/>
      <p:bldP spid="89" grpId="0"/>
      <p:bldP spid="89" grpId="1"/>
      <p:bldP spid="90" grpId="0"/>
      <p:bldP spid="90" grpId="1"/>
      <p:bldP spid="94" grpId="0"/>
      <p:bldP spid="95" grpId="0"/>
      <p:bldP spid="96" grpId="0"/>
      <p:bldP spid="97" grpId="0"/>
      <p:bldP spid="98" grpId="0"/>
      <p:bldP spid="99" grpId="0"/>
      <p:bldP spid="101" grpId="0"/>
      <p:bldP spid="101" grpId="1"/>
      <p:bldP spid="48" grpId="0"/>
      <p:bldP spid="48"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1420" y="53975"/>
            <a:ext cx="7392988" cy="563563"/>
          </a:xfrm>
        </p:spPr>
        <p:txBody>
          <a:bodyPr/>
          <a:lstStyle/>
          <a:p>
            <a:r>
              <a:rPr lang="es-ES" dirty="0"/>
              <a:t>Cómo referirnos a una clase de la API</a:t>
            </a:r>
          </a:p>
        </p:txBody>
      </p:sp>
      <p:sp>
        <p:nvSpPr>
          <p:cNvPr id="5" name="4 CuadroTexto"/>
          <p:cNvSpPr txBox="1"/>
          <p:nvPr/>
        </p:nvSpPr>
        <p:spPr>
          <a:xfrm>
            <a:off x="755576" y="1196752"/>
            <a:ext cx="7344816" cy="677108"/>
          </a:xfrm>
          <a:prstGeom prst="rect">
            <a:avLst/>
          </a:prstGeom>
          <a:noFill/>
        </p:spPr>
        <p:txBody>
          <a:bodyPr wrap="square" rtlCol="0">
            <a:spAutoFit/>
          </a:bodyPr>
          <a:lstStyle/>
          <a:p>
            <a:pPr algn="ctr"/>
            <a:r>
              <a:rPr lang="es-ES" b="1" dirty="0"/>
              <a:t>Para usar una clase del API de Java, tenemos que poner su nombre completo…</a:t>
            </a:r>
          </a:p>
        </p:txBody>
      </p:sp>
      <p:grpSp>
        <p:nvGrpSpPr>
          <p:cNvPr id="3" name="16 Grupo"/>
          <p:cNvGrpSpPr/>
          <p:nvPr/>
        </p:nvGrpSpPr>
        <p:grpSpPr>
          <a:xfrm>
            <a:off x="2411760" y="1948499"/>
            <a:ext cx="4320480" cy="504056"/>
            <a:chOff x="2411760" y="1948499"/>
            <a:chExt cx="4320480" cy="504056"/>
          </a:xfrm>
        </p:grpSpPr>
        <p:sp>
          <p:nvSpPr>
            <p:cNvPr id="10" name="9 Rectángulo"/>
            <p:cNvSpPr/>
            <p:nvPr/>
          </p:nvSpPr>
          <p:spPr bwMode="auto">
            <a:xfrm>
              <a:off x="2411760" y="1948499"/>
              <a:ext cx="4320480" cy="50405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 name="6 Rectángulo"/>
            <p:cNvSpPr/>
            <p:nvPr/>
          </p:nvSpPr>
          <p:spPr>
            <a:xfrm>
              <a:off x="2771800" y="1988840"/>
              <a:ext cx="3960440" cy="400110"/>
            </a:xfrm>
            <a:prstGeom prst="rect">
              <a:avLst/>
            </a:prstGeom>
          </p:spPr>
          <p:txBody>
            <a:bodyPr wrap="square">
              <a:spAutoFit/>
            </a:bodyPr>
            <a:lstStyle/>
            <a:p>
              <a:r>
                <a:rPr lang="es-ES" sz="2000" dirty="0"/>
                <a:t>x = </a:t>
              </a:r>
              <a:r>
                <a:rPr lang="es-ES" sz="2000" dirty="0" err="1">
                  <a:solidFill>
                    <a:srgbClr val="009900"/>
                  </a:solidFill>
                </a:rPr>
                <a:t>java.lang.</a:t>
              </a:r>
              <a:r>
                <a:rPr lang="es-ES" sz="2000" dirty="0" err="1"/>
                <a:t>Math</a:t>
              </a:r>
              <a:r>
                <a:rPr lang="es-ES" sz="2000" dirty="0" err="1">
                  <a:solidFill>
                    <a:schemeClr val="tx1">
                      <a:lumMod val="60000"/>
                      <a:lumOff val="40000"/>
                    </a:schemeClr>
                  </a:solidFill>
                </a:rPr>
                <a:t>.</a:t>
              </a:r>
              <a:r>
                <a:rPr lang="es-ES" sz="2000" dirty="0" err="1">
                  <a:solidFill>
                    <a:srgbClr val="FF0000"/>
                  </a:solidFill>
                </a:rPr>
                <a:t>pow</a:t>
              </a:r>
              <a:r>
                <a:rPr lang="es-ES" sz="2000" dirty="0">
                  <a:solidFill>
                    <a:srgbClr val="FF0000"/>
                  </a:solidFill>
                </a:rPr>
                <a:t>( </a:t>
              </a:r>
              <a:r>
                <a:rPr lang="es-ES" sz="2000" dirty="0">
                  <a:solidFill>
                    <a:srgbClr val="00B050"/>
                  </a:solidFill>
                </a:rPr>
                <a:t>2</a:t>
              </a:r>
              <a:r>
                <a:rPr lang="es-ES" sz="2000" dirty="0"/>
                <a:t>, </a:t>
              </a:r>
              <a:r>
                <a:rPr lang="es-ES" sz="2000" dirty="0">
                  <a:solidFill>
                    <a:srgbClr val="00B050"/>
                  </a:solidFill>
                </a:rPr>
                <a:t>7</a:t>
              </a:r>
              <a:r>
                <a:rPr lang="es-ES" sz="2000" dirty="0"/>
                <a:t> </a:t>
              </a:r>
              <a:r>
                <a:rPr lang="es-ES" sz="2000" dirty="0">
                  <a:solidFill>
                    <a:srgbClr val="FF0000"/>
                  </a:solidFill>
                </a:rPr>
                <a:t>)</a:t>
              </a:r>
              <a:r>
                <a:rPr lang="es-ES" sz="2000" dirty="0"/>
                <a:t>;      </a:t>
              </a:r>
            </a:p>
          </p:txBody>
        </p:sp>
      </p:grpSp>
      <p:sp>
        <p:nvSpPr>
          <p:cNvPr id="8" name="7 CuadroTexto"/>
          <p:cNvSpPr txBox="1"/>
          <p:nvPr/>
        </p:nvSpPr>
        <p:spPr>
          <a:xfrm>
            <a:off x="907976" y="2612231"/>
            <a:ext cx="7344816" cy="384721"/>
          </a:xfrm>
          <a:prstGeom prst="rect">
            <a:avLst/>
          </a:prstGeom>
          <a:noFill/>
        </p:spPr>
        <p:txBody>
          <a:bodyPr wrap="square" rtlCol="0">
            <a:spAutoFit/>
          </a:bodyPr>
          <a:lstStyle/>
          <a:p>
            <a:pPr algn="ctr"/>
            <a:r>
              <a:rPr lang="es-ES" b="1" dirty="0"/>
              <a:t>O bien importar la clase antes de usarla…</a:t>
            </a:r>
          </a:p>
        </p:txBody>
      </p:sp>
      <p:grpSp>
        <p:nvGrpSpPr>
          <p:cNvPr id="4" name="17 Grupo"/>
          <p:cNvGrpSpPr/>
          <p:nvPr/>
        </p:nvGrpSpPr>
        <p:grpSpPr>
          <a:xfrm>
            <a:off x="2411760" y="3068960"/>
            <a:ext cx="4333927" cy="1152128"/>
            <a:chOff x="2411760" y="3068960"/>
            <a:chExt cx="4333927" cy="1152128"/>
          </a:xfrm>
        </p:grpSpPr>
        <p:sp>
          <p:nvSpPr>
            <p:cNvPr id="11" name="10 Rectángulo"/>
            <p:cNvSpPr/>
            <p:nvPr/>
          </p:nvSpPr>
          <p:spPr bwMode="auto">
            <a:xfrm>
              <a:off x="2411760" y="3068960"/>
              <a:ext cx="4320480" cy="1152128"/>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 name="8 Rectángulo"/>
            <p:cNvSpPr/>
            <p:nvPr/>
          </p:nvSpPr>
          <p:spPr>
            <a:xfrm>
              <a:off x="2785247" y="3113673"/>
              <a:ext cx="3960440" cy="1015663"/>
            </a:xfrm>
            <a:prstGeom prst="rect">
              <a:avLst/>
            </a:prstGeom>
          </p:spPr>
          <p:txBody>
            <a:bodyPr wrap="square">
              <a:spAutoFit/>
            </a:bodyPr>
            <a:lstStyle/>
            <a:p>
              <a:r>
                <a:rPr lang="es-ES" sz="2000" dirty="0" err="1"/>
                <a:t>import</a:t>
              </a:r>
              <a:r>
                <a:rPr lang="es-ES" sz="2000" dirty="0"/>
                <a:t> </a:t>
              </a:r>
              <a:r>
                <a:rPr lang="es-ES" sz="2000" dirty="0" err="1">
                  <a:solidFill>
                    <a:srgbClr val="009900"/>
                  </a:solidFill>
                </a:rPr>
                <a:t>java.lang.</a:t>
              </a:r>
              <a:r>
                <a:rPr lang="es-ES" sz="2000" dirty="0" err="1"/>
                <a:t>Math</a:t>
              </a:r>
              <a:r>
                <a:rPr lang="es-ES" sz="2000" dirty="0"/>
                <a:t>;</a:t>
              </a:r>
            </a:p>
            <a:p>
              <a:r>
                <a:rPr lang="es-ES" sz="2000" dirty="0"/>
                <a:t>…</a:t>
              </a:r>
            </a:p>
            <a:p>
              <a:r>
                <a:rPr lang="es-ES" sz="2000" dirty="0"/>
                <a:t>x = </a:t>
              </a:r>
              <a:r>
                <a:rPr lang="es-ES" sz="2000" dirty="0" err="1"/>
                <a:t>Math</a:t>
              </a:r>
              <a:r>
                <a:rPr lang="es-ES" sz="2000" dirty="0" err="1">
                  <a:solidFill>
                    <a:schemeClr val="tx1">
                      <a:lumMod val="60000"/>
                      <a:lumOff val="40000"/>
                    </a:schemeClr>
                  </a:solidFill>
                </a:rPr>
                <a:t>.</a:t>
              </a:r>
              <a:r>
                <a:rPr lang="es-ES" sz="2000" dirty="0" err="1">
                  <a:solidFill>
                    <a:srgbClr val="FF0000"/>
                  </a:solidFill>
                </a:rPr>
                <a:t>pow</a:t>
              </a:r>
              <a:r>
                <a:rPr lang="es-ES" sz="2000" dirty="0">
                  <a:solidFill>
                    <a:srgbClr val="FF0000"/>
                  </a:solidFill>
                </a:rPr>
                <a:t>( </a:t>
              </a:r>
              <a:r>
                <a:rPr lang="es-ES" sz="2000" dirty="0">
                  <a:solidFill>
                    <a:srgbClr val="00B050"/>
                  </a:solidFill>
                </a:rPr>
                <a:t>2</a:t>
              </a:r>
              <a:r>
                <a:rPr lang="es-ES" sz="2000" dirty="0"/>
                <a:t>, </a:t>
              </a:r>
              <a:r>
                <a:rPr lang="es-ES" sz="2000" dirty="0">
                  <a:solidFill>
                    <a:srgbClr val="00B050"/>
                  </a:solidFill>
                </a:rPr>
                <a:t>7</a:t>
              </a:r>
              <a:r>
                <a:rPr lang="es-ES" sz="2000" dirty="0"/>
                <a:t> </a:t>
              </a:r>
              <a:r>
                <a:rPr lang="es-ES" sz="2000" dirty="0">
                  <a:solidFill>
                    <a:srgbClr val="FF0000"/>
                  </a:solidFill>
                </a:rPr>
                <a:t>)</a:t>
              </a:r>
              <a:r>
                <a:rPr lang="es-ES" sz="2000" dirty="0"/>
                <a:t>;</a:t>
              </a:r>
            </a:p>
          </p:txBody>
        </p:sp>
      </p:grpSp>
      <p:sp>
        <p:nvSpPr>
          <p:cNvPr id="14" name="13 CuadroTexto"/>
          <p:cNvSpPr txBox="1"/>
          <p:nvPr/>
        </p:nvSpPr>
        <p:spPr>
          <a:xfrm>
            <a:off x="755576" y="4377062"/>
            <a:ext cx="7632848" cy="384721"/>
          </a:xfrm>
          <a:prstGeom prst="rect">
            <a:avLst/>
          </a:prstGeom>
          <a:noFill/>
        </p:spPr>
        <p:txBody>
          <a:bodyPr wrap="square" rtlCol="0">
            <a:spAutoFit/>
          </a:bodyPr>
          <a:lstStyle/>
          <a:p>
            <a:pPr algn="ctr"/>
            <a:r>
              <a:rPr lang="es-ES" b="1" dirty="0"/>
              <a:t>Pueden importarse todas las clase de un paquete de una vez…</a:t>
            </a:r>
          </a:p>
        </p:txBody>
      </p:sp>
      <p:grpSp>
        <p:nvGrpSpPr>
          <p:cNvPr id="6" name="18 Grupo"/>
          <p:cNvGrpSpPr/>
          <p:nvPr/>
        </p:nvGrpSpPr>
        <p:grpSpPr>
          <a:xfrm>
            <a:off x="2425752" y="4833791"/>
            <a:ext cx="4378496" cy="464350"/>
            <a:chOff x="2425752" y="4833791"/>
            <a:chExt cx="4378496" cy="464350"/>
          </a:xfrm>
        </p:grpSpPr>
        <p:sp>
          <p:nvSpPr>
            <p:cNvPr id="13" name="12 Rectángulo"/>
            <p:cNvSpPr/>
            <p:nvPr/>
          </p:nvSpPr>
          <p:spPr bwMode="auto">
            <a:xfrm>
              <a:off x="2425752" y="4833791"/>
              <a:ext cx="4320480" cy="46435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5" name="14 Rectángulo"/>
            <p:cNvSpPr/>
            <p:nvPr/>
          </p:nvSpPr>
          <p:spPr>
            <a:xfrm>
              <a:off x="2843808" y="4845676"/>
              <a:ext cx="3960440" cy="400110"/>
            </a:xfrm>
            <a:prstGeom prst="rect">
              <a:avLst/>
            </a:prstGeom>
          </p:spPr>
          <p:txBody>
            <a:bodyPr wrap="square">
              <a:spAutoFit/>
            </a:bodyPr>
            <a:lstStyle/>
            <a:p>
              <a:r>
                <a:rPr lang="es-ES" sz="2000" dirty="0" err="1"/>
                <a:t>import</a:t>
              </a:r>
              <a:r>
                <a:rPr lang="es-ES" sz="2000" dirty="0"/>
                <a:t> </a:t>
              </a:r>
              <a:r>
                <a:rPr lang="es-ES" sz="2000" dirty="0" err="1">
                  <a:solidFill>
                    <a:srgbClr val="009900"/>
                  </a:solidFill>
                </a:rPr>
                <a:t>java.lang</a:t>
              </a:r>
              <a:r>
                <a:rPr lang="es-ES" sz="2000" dirty="0">
                  <a:solidFill>
                    <a:srgbClr val="009900"/>
                  </a:solidFill>
                </a:rPr>
                <a:t>.</a:t>
              </a:r>
              <a:r>
                <a:rPr lang="es-ES" sz="2000" dirty="0"/>
                <a:t>*;</a:t>
              </a:r>
            </a:p>
          </p:txBody>
        </p:sp>
      </p:grpSp>
      <p:sp>
        <p:nvSpPr>
          <p:cNvPr id="16" name="15 CuadroTexto"/>
          <p:cNvSpPr txBox="1"/>
          <p:nvPr/>
        </p:nvSpPr>
        <p:spPr>
          <a:xfrm>
            <a:off x="789366" y="5525906"/>
            <a:ext cx="7632848" cy="677108"/>
          </a:xfrm>
          <a:prstGeom prst="rect">
            <a:avLst/>
          </a:prstGeom>
          <a:noFill/>
        </p:spPr>
        <p:txBody>
          <a:bodyPr wrap="square" rtlCol="0">
            <a:spAutoFit/>
          </a:bodyPr>
          <a:lstStyle/>
          <a:p>
            <a:pPr algn="ctr"/>
            <a:r>
              <a:rPr lang="es-ES" b="1" dirty="0"/>
              <a:t>Sin embargo, las clases del paquete </a:t>
            </a:r>
            <a:r>
              <a:rPr lang="es-ES" b="1" dirty="0" err="1"/>
              <a:t>lang</a:t>
            </a:r>
            <a:r>
              <a:rPr lang="es-ES" b="1" dirty="0"/>
              <a:t> son tan utilizadas que se importan automáticamente </a:t>
            </a:r>
            <a:r>
              <a:rPr lang="es-ES" sz="1600" b="1" dirty="0"/>
              <a:t>( no es necesario </a:t>
            </a:r>
            <a:r>
              <a:rPr lang="es-ES" sz="1600" dirty="0" err="1"/>
              <a:t>import</a:t>
            </a:r>
            <a:r>
              <a:rPr lang="es-ES" sz="1600" dirty="0"/>
              <a:t> </a:t>
            </a:r>
            <a:r>
              <a:rPr lang="es-ES" sz="1600" dirty="0">
                <a:solidFill>
                  <a:srgbClr val="009900"/>
                </a:solidFill>
              </a:rPr>
              <a:t>java.lang.</a:t>
            </a:r>
            <a:r>
              <a:rPr lang="es-ES" sz="1600" dirty="0"/>
              <a:t>* </a:t>
            </a:r>
            <a:r>
              <a:rPr lang="es-ES" sz="1600" b="1" dirty="0"/>
              <a:t>)</a:t>
            </a:r>
          </a:p>
        </p:txBody>
      </p:sp>
    </p:spTree>
    <p:extLst>
      <p:ext uri="{BB962C8B-B14F-4D97-AF65-F5344CB8AC3E}">
        <p14:creationId xmlns:p14="http://schemas.microsoft.com/office/powerpoint/2010/main" val="38145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500" fill="hold"/>
                                        <p:tgtEl>
                                          <p:spTgt spid="14"/>
                                        </p:tgtEl>
                                        <p:attrNameLst>
                                          <p:attrName>ppt_w</p:attrName>
                                        </p:attrNameLst>
                                      </p:cBhvr>
                                      <p:tavLst>
                                        <p:tav tm="0">
                                          <p:val>
                                            <p:fltVal val="0"/>
                                          </p:val>
                                        </p:tav>
                                        <p:tav tm="100000">
                                          <p:val>
                                            <p:strVal val="#ppt_w"/>
                                          </p:val>
                                        </p:tav>
                                      </p:tavLst>
                                    </p:anim>
                                    <p:anim calcmode="lin" valueType="num">
                                      <p:cBhvr>
                                        <p:cTn id="25" dur="500" fill="hold"/>
                                        <p:tgtEl>
                                          <p:spTgt spid="14"/>
                                        </p:tgtEl>
                                        <p:attrNameLst>
                                          <p:attrName>ppt_h</p:attrName>
                                        </p:attrNameLst>
                                      </p:cBhvr>
                                      <p:tavLst>
                                        <p:tav tm="0">
                                          <p:val>
                                            <p:fltVal val="0"/>
                                          </p:val>
                                        </p:tav>
                                        <p:tav tm="100000">
                                          <p:val>
                                            <p:strVal val="#ppt_h"/>
                                          </p:val>
                                        </p:tav>
                                      </p:tavLst>
                                    </p:anim>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500" fill="hold"/>
                                        <p:tgtEl>
                                          <p:spTgt spid="16"/>
                                        </p:tgtEl>
                                        <p:attrNameLst>
                                          <p:attrName>ppt_w</p:attrName>
                                        </p:attrNameLst>
                                      </p:cBhvr>
                                      <p:tavLst>
                                        <p:tav tm="0">
                                          <p:val>
                                            <p:fltVal val="0"/>
                                          </p:val>
                                        </p:tav>
                                        <p:tav tm="100000">
                                          <p:val>
                                            <p:strVal val="#ppt_w"/>
                                          </p:val>
                                        </p:tav>
                                      </p:tavLst>
                                    </p:anim>
                                    <p:anim calcmode="lin" valueType="num">
                                      <p:cBhvr>
                                        <p:cTn id="37" dur="500" fill="hold"/>
                                        <p:tgtEl>
                                          <p:spTgt spid="16"/>
                                        </p:tgtEl>
                                        <p:attrNameLst>
                                          <p:attrName>ppt_h</p:attrName>
                                        </p:attrNameLst>
                                      </p:cBhvr>
                                      <p:tavLst>
                                        <p:tav tm="0">
                                          <p:val>
                                            <p:fltVal val="0"/>
                                          </p:val>
                                        </p:tav>
                                        <p:tav tm="100000">
                                          <p:val>
                                            <p:strVal val="#ppt_h"/>
                                          </p:val>
                                        </p:tav>
                                      </p:tavLst>
                                    </p:anim>
                                    <p:animEffect transition="in" filter="fade">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1420" y="53975"/>
            <a:ext cx="7392988" cy="563563"/>
          </a:xfrm>
        </p:spPr>
        <p:txBody>
          <a:bodyPr/>
          <a:lstStyle/>
          <a:p>
            <a:r>
              <a:rPr lang="es-ES" dirty="0"/>
              <a:t>La clase Scanner</a:t>
            </a:r>
          </a:p>
        </p:txBody>
      </p:sp>
      <p:sp>
        <p:nvSpPr>
          <p:cNvPr id="4" name="3 Esquina doblada"/>
          <p:cNvSpPr/>
          <p:nvPr/>
        </p:nvSpPr>
        <p:spPr bwMode="auto">
          <a:xfrm>
            <a:off x="1291126" y="4149080"/>
            <a:ext cx="6449048" cy="1872209"/>
          </a:xfrm>
          <a:prstGeom prst="foldedCorner">
            <a:avLst/>
          </a:prstGeom>
          <a:solidFill>
            <a:srgbClr val="FFFFCC"/>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dirty="0">
              <a:ln>
                <a:noFill/>
              </a:ln>
              <a:solidFill>
                <a:schemeClr val="tx1"/>
              </a:solidFill>
              <a:effectLst/>
              <a:latin typeface="Arial" charset="0"/>
            </a:endParaRPr>
          </a:p>
        </p:txBody>
      </p:sp>
      <p:sp>
        <p:nvSpPr>
          <p:cNvPr id="10" name="9 CuadroTexto"/>
          <p:cNvSpPr txBox="1"/>
          <p:nvPr/>
        </p:nvSpPr>
        <p:spPr>
          <a:xfrm>
            <a:off x="2207969" y="2189321"/>
            <a:ext cx="1577028" cy="307777"/>
          </a:xfrm>
          <a:prstGeom prst="rect">
            <a:avLst/>
          </a:prstGeom>
          <a:noFill/>
        </p:spPr>
        <p:txBody>
          <a:bodyPr wrap="square" rtlCol="0">
            <a:spAutoFit/>
          </a:bodyPr>
          <a:lstStyle/>
          <a:p>
            <a:pPr algn="ctr"/>
            <a:r>
              <a:rPr lang="es-ES_tradnl" sz="1400" i="1" dirty="0">
                <a:solidFill>
                  <a:srgbClr val="002060"/>
                </a:solidFill>
              </a:rPr>
              <a:t>Flujo de entrada</a:t>
            </a:r>
          </a:p>
        </p:txBody>
      </p:sp>
      <p:sp>
        <p:nvSpPr>
          <p:cNvPr id="15" name="14 CuadroTexto"/>
          <p:cNvSpPr txBox="1"/>
          <p:nvPr/>
        </p:nvSpPr>
        <p:spPr>
          <a:xfrm>
            <a:off x="4863371" y="2165825"/>
            <a:ext cx="1577028" cy="307777"/>
          </a:xfrm>
          <a:prstGeom prst="rect">
            <a:avLst/>
          </a:prstGeom>
          <a:noFill/>
        </p:spPr>
        <p:txBody>
          <a:bodyPr wrap="square" rtlCol="0">
            <a:spAutoFit/>
          </a:bodyPr>
          <a:lstStyle/>
          <a:p>
            <a:pPr algn="ctr"/>
            <a:r>
              <a:rPr lang="es-ES_tradnl" sz="1400" i="1" dirty="0">
                <a:solidFill>
                  <a:srgbClr val="002060"/>
                </a:solidFill>
              </a:rPr>
              <a:t>Flujo de salida</a:t>
            </a:r>
          </a:p>
        </p:txBody>
      </p:sp>
      <p:pic>
        <p:nvPicPr>
          <p:cNvPr id="23" name="Picture 2" descr="D:\monitor.png"/>
          <p:cNvPicPr>
            <a:picLocks noChangeAspect="1" noChangeArrowheads="1"/>
          </p:cNvPicPr>
          <p:nvPr/>
        </p:nvPicPr>
        <p:blipFill>
          <a:blip r:embed="rId2" cstate="print"/>
          <a:srcRect/>
          <a:stretch>
            <a:fillRect/>
          </a:stretch>
        </p:blipFill>
        <p:spPr bwMode="auto">
          <a:xfrm>
            <a:off x="6884065" y="1390758"/>
            <a:ext cx="1246154" cy="1246154"/>
          </a:xfrm>
          <a:prstGeom prst="rect">
            <a:avLst/>
          </a:prstGeom>
          <a:noFill/>
        </p:spPr>
      </p:pic>
      <p:grpSp>
        <p:nvGrpSpPr>
          <p:cNvPr id="5" name="70 Grupo"/>
          <p:cNvGrpSpPr/>
          <p:nvPr/>
        </p:nvGrpSpPr>
        <p:grpSpPr>
          <a:xfrm>
            <a:off x="2123728" y="1859947"/>
            <a:ext cx="1857388" cy="307777"/>
            <a:chOff x="2129789" y="1844943"/>
            <a:chExt cx="1857388" cy="307777"/>
          </a:xfrm>
        </p:grpSpPr>
        <p:sp>
          <p:nvSpPr>
            <p:cNvPr id="7" name="6 Flecha a la derecha con muesca"/>
            <p:cNvSpPr/>
            <p:nvPr/>
          </p:nvSpPr>
          <p:spPr bwMode="auto">
            <a:xfrm>
              <a:off x="2129789" y="1850056"/>
              <a:ext cx="1857388" cy="280361"/>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9" name="8 Rectángulo redondeado"/>
            <p:cNvSpPr/>
            <p:nvPr/>
          </p:nvSpPr>
          <p:spPr bwMode="auto">
            <a:xfrm>
              <a:off x="2424300" y="1858912"/>
              <a:ext cx="1226577" cy="280361"/>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24" name="23 CuadroTexto"/>
            <p:cNvSpPr txBox="1"/>
            <p:nvPr/>
          </p:nvSpPr>
          <p:spPr>
            <a:xfrm>
              <a:off x="2460655" y="1844943"/>
              <a:ext cx="1159927" cy="307777"/>
            </a:xfrm>
            <a:prstGeom prst="rect">
              <a:avLst/>
            </a:prstGeom>
            <a:noFill/>
          </p:spPr>
          <p:txBody>
            <a:bodyPr wrap="square" rtlCol="0">
              <a:spAutoFit/>
            </a:bodyPr>
            <a:lstStyle/>
            <a:p>
              <a:pPr algn="ctr"/>
              <a:r>
                <a:rPr lang="es-ES_tradnl" sz="1400" b="1" dirty="0">
                  <a:solidFill>
                    <a:schemeClr val="accent1"/>
                  </a:solidFill>
                </a:rPr>
                <a:t>System</a:t>
              </a:r>
              <a:r>
                <a:rPr lang="es-ES_tradnl" sz="1400" b="1" dirty="0">
                  <a:solidFill>
                    <a:srgbClr val="000000"/>
                  </a:solidFill>
                </a:rPr>
                <a:t>.in</a:t>
              </a:r>
            </a:p>
          </p:txBody>
        </p:sp>
      </p:grpSp>
      <p:sp>
        <p:nvSpPr>
          <p:cNvPr id="25" name="24 CuadroTexto"/>
          <p:cNvSpPr txBox="1"/>
          <p:nvPr/>
        </p:nvSpPr>
        <p:spPr>
          <a:xfrm>
            <a:off x="5073641" y="1512160"/>
            <a:ext cx="1226577" cy="307777"/>
          </a:xfrm>
          <a:prstGeom prst="rect">
            <a:avLst/>
          </a:prstGeom>
          <a:noFill/>
        </p:spPr>
        <p:txBody>
          <a:bodyPr wrap="square" rtlCol="0">
            <a:spAutoFit/>
          </a:bodyPr>
          <a:lstStyle/>
          <a:p>
            <a:pPr algn="ctr"/>
            <a:r>
              <a:rPr lang="es-ES_tradnl" sz="1400" b="1" dirty="0">
                <a:solidFill>
                  <a:srgbClr val="FF0000"/>
                </a:solidFill>
              </a:rPr>
              <a:t>.</a:t>
            </a:r>
            <a:r>
              <a:rPr lang="es-ES_tradnl" sz="1400" b="1" dirty="0" err="1">
                <a:solidFill>
                  <a:srgbClr val="FF0000"/>
                </a:solidFill>
              </a:rPr>
              <a:t>print</a:t>
            </a:r>
            <a:r>
              <a:rPr lang="es-ES_tradnl" sz="1400" b="1" dirty="0">
                <a:solidFill>
                  <a:srgbClr val="FF0000"/>
                </a:solidFill>
              </a:rPr>
              <a:t>( </a:t>
            </a:r>
            <a:r>
              <a:rPr lang="es-ES_tradnl" sz="1400" b="1" dirty="0">
                <a:solidFill>
                  <a:srgbClr val="009900"/>
                </a:solidFill>
              </a:rPr>
              <a:t>b</a:t>
            </a:r>
            <a:r>
              <a:rPr lang="es-ES_tradnl" sz="1400" b="1" dirty="0">
                <a:solidFill>
                  <a:srgbClr val="FF0000"/>
                </a:solidFill>
              </a:rPr>
              <a:t> )</a:t>
            </a:r>
          </a:p>
        </p:txBody>
      </p:sp>
      <p:grpSp>
        <p:nvGrpSpPr>
          <p:cNvPr id="6" name="76 Grupo"/>
          <p:cNvGrpSpPr/>
          <p:nvPr/>
        </p:nvGrpSpPr>
        <p:grpSpPr>
          <a:xfrm>
            <a:off x="4053353" y="1671245"/>
            <a:ext cx="642942" cy="642942"/>
            <a:chOff x="2844800" y="1828800"/>
            <a:chExt cx="2235200" cy="2235200"/>
          </a:xfrm>
        </p:grpSpPr>
        <p:sp>
          <p:nvSpPr>
            <p:cNvPr id="27" name=" 3"/>
            <p:cNvSpPr/>
            <p:nvPr/>
          </p:nvSpPr>
          <p:spPr>
            <a:xfrm>
              <a:off x="2844800" y="1828800"/>
              <a:ext cx="2235200" cy="2235200"/>
            </a:xfrm>
            <a:prstGeom prst="gear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8" name=" 4"/>
            <p:cNvSpPr/>
            <p:nvPr/>
          </p:nvSpPr>
          <p:spPr>
            <a:xfrm>
              <a:off x="3294173" y="2352387"/>
              <a:ext cx="1336454" cy="114893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34290" rIns="34290" bIns="34290" numCol="1" spcCol="1270" anchor="ctr" anchorCtr="0">
              <a:noAutofit/>
            </a:bodyPr>
            <a:lstStyle/>
            <a:p>
              <a:pPr lvl="0" algn="ctr" defTabSz="1200150">
                <a:lnSpc>
                  <a:spcPct val="90000"/>
                </a:lnSpc>
                <a:spcBef>
                  <a:spcPct val="0"/>
                </a:spcBef>
                <a:spcAft>
                  <a:spcPct val="35000"/>
                </a:spcAft>
              </a:pPr>
              <a:endParaRPr lang="es-ES_tradnl" sz="2700" kern="1200"/>
            </a:p>
          </p:txBody>
        </p:sp>
      </p:grpSp>
      <p:grpSp>
        <p:nvGrpSpPr>
          <p:cNvPr id="8" name="67 Grupo"/>
          <p:cNvGrpSpPr/>
          <p:nvPr/>
        </p:nvGrpSpPr>
        <p:grpSpPr>
          <a:xfrm>
            <a:off x="4780943" y="1819937"/>
            <a:ext cx="1857388" cy="328555"/>
            <a:chOff x="5364088" y="1819574"/>
            <a:chExt cx="1857388" cy="328555"/>
          </a:xfrm>
        </p:grpSpPr>
        <p:sp>
          <p:nvSpPr>
            <p:cNvPr id="12" name="11 Flecha a la derecha con muesca"/>
            <p:cNvSpPr/>
            <p:nvPr/>
          </p:nvSpPr>
          <p:spPr bwMode="auto">
            <a:xfrm>
              <a:off x="5364088" y="1867768"/>
              <a:ext cx="1857388" cy="280361"/>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4" name="13 Rectángulo redondeado"/>
            <p:cNvSpPr/>
            <p:nvPr/>
          </p:nvSpPr>
          <p:spPr bwMode="auto">
            <a:xfrm>
              <a:off x="5656786" y="1850057"/>
              <a:ext cx="1226577" cy="280361"/>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29" name="28 CuadroTexto"/>
            <p:cNvSpPr txBox="1"/>
            <p:nvPr/>
          </p:nvSpPr>
          <p:spPr>
            <a:xfrm>
              <a:off x="5516946" y="1819574"/>
              <a:ext cx="1535543" cy="307777"/>
            </a:xfrm>
            <a:prstGeom prst="rect">
              <a:avLst/>
            </a:prstGeom>
            <a:noFill/>
          </p:spPr>
          <p:txBody>
            <a:bodyPr wrap="square" rtlCol="0">
              <a:spAutoFit/>
            </a:bodyPr>
            <a:lstStyle/>
            <a:p>
              <a:pPr algn="ctr"/>
              <a:r>
                <a:rPr lang="es-ES_tradnl" sz="1400" b="1" dirty="0" err="1">
                  <a:solidFill>
                    <a:schemeClr val="accent1"/>
                  </a:solidFill>
                </a:rPr>
                <a:t>System</a:t>
              </a:r>
              <a:r>
                <a:rPr lang="es-ES_tradnl" sz="1400" b="1" dirty="0" err="1">
                  <a:solidFill>
                    <a:srgbClr val="000000"/>
                  </a:solidFill>
                </a:rPr>
                <a:t>.out</a:t>
              </a:r>
              <a:endParaRPr lang="es-ES_tradnl" sz="1400" b="1" dirty="0">
                <a:solidFill>
                  <a:srgbClr val="000000"/>
                </a:solidFill>
              </a:endParaRPr>
            </a:p>
          </p:txBody>
        </p:sp>
      </p:grpSp>
      <p:sp>
        <p:nvSpPr>
          <p:cNvPr id="30" name="29 CuadroTexto"/>
          <p:cNvSpPr txBox="1"/>
          <p:nvPr/>
        </p:nvSpPr>
        <p:spPr>
          <a:xfrm>
            <a:off x="2418239" y="1543097"/>
            <a:ext cx="1226577" cy="307777"/>
          </a:xfrm>
          <a:prstGeom prst="rect">
            <a:avLst/>
          </a:prstGeom>
          <a:noFill/>
        </p:spPr>
        <p:txBody>
          <a:bodyPr wrap="square" rtlCol="0">
            <a:spAutoFit/>
          </a:bodyPr>
          <a:lstStyle/>
          <a:p>
            <a:pPr algn="ctr"/>
            <a:r>
              <a:rPr lang="es-ES_tradnl" sz="1400" b="1" dirty="0">
                <a:solidFill>
                  <a:srgbClr val="FF0000"/>
                </a:solidFill>
              </a:rPr>
              <a:t>.</a:t>
            </a:r>
            <a:r>
              <a:rPr lang="es-ES_tradnl" sz="1400" b="1" dirty="0" err="1">
                <a:solidFill>
                  <a:srgbClr val="FF0000"/>
                </a:solidFill>
              </a:rPr>
              <a:t>read</a:t>
            </a:r>
            <a:r>
              <a:rPr lang="es-ES_tradnl" sz="1400" b="1" dirty="0">
                <a:solidFill>
                  <a:srgbClr val="FF0000"/>
                </a:solidFill>
              </a:rPr>
              <a:t>( )</a:t>
            </a:r>
          </a:p>
        </p:txBody>
      </p:sp>
      <p:pic>
        <p:nvPicPr>
          <p:cNvPr id="31" name="Picture 2" descr="C:\Documents and Settings\Raul Gil\Escritorio\teclado.png"/>
          <p:cNvPicPr>
            <a:picLocks noChangeAspect="1" noChangeArrowheads="1"/>
          </p:cNvPicPr>
          <p:nvPr/>
        </p:nvPicPr>
        <p:blipFill>
          <a:blip r:embed="rId3" cstate="print"/>
          <a:srcRect/>
          <a:stretch>
            <a:fillRect/>
          </a:stretch>
        </p:blipFill>
        <p:spPr bwMode="auto">
          <a:xfrm>
            <a:off x="395536" y="1542774"/>
            <a:ext cx="1643074" cy="902316"/>
          </a:xfrm>
          <a:prstGeom prst="rect">
            <a:avLst/>
          </a:prstGeom>
          <a:noFill/>
        </p:spPr>
      </p:pic>
      <p:grpSp>
        <p:nvGrpSpPr>
          <p:cNvPr id="11" name="71 Grupo"/>
          <p:cNvGrpSpPr/>
          <p:nvPr/>
        </p:nvGrpSpPr>
        <p:grpSpPr>
          <a:xfrm>
            <a:off x="4802844" y="1825530"/>
            <a:ext cx="1857388" cy="311782"/>
            <a:chOff x="4526814" y="3279708"/>
            <a:chExt cx="1857388" cy="311782"/>
          </a:xfrm>
        </p:grpSpPr>
        <p:sp>
          <p:nvSpPr>
            <p:cNvPr id="32" name="31 Flecha a la derecha con muesca"/>
            <p:cNvSpPr/>
            <p:nvPr/>
          </p:nvSpPr>
          <p:spPr bwMode="auto">
            <a:xfrm>
              <a:off x="4526814" y="3311129"/>
              <a:ext cx="1857388" cy="280361"/>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34" name="33 Rectángulo redondeado"/>
            <p:cNvSpPr/>
            <p:nvPr/>
          </p:nvSpPr>
          <p:spPr bwMode="auto">
            <a:xfrm>
              <a:off x="4812566" y="3302273"/>
              <a:ext cx="1226577" cy="280361"/>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36" name="35 CuadroTexto"/>
            <p:cNvSpPr txBox="1"/>
            <p:nvPr/>
          </p:nvSpPr>
          <p:spPr>
            <a:xfrm>
              <a:off x="4845890" y="3279708"/>
              <a:ext cx="1159927" cy="307777"/>
            </a:xfrm>
            <a:prstGeom prst="rect">
              <a:avLst/>
            </a:prstGeom>
            <a:noFill/>
          </p:spPr>
          <p:txBody>
            <a:bodyPr wrap="square" rtlCol="0">
              <a:spAutoFit/>
            </a:bodyPr>
            <a:lstStyle/>
            <a:p>
              <a:pPr algn="ctr"/>
              <a:r>
                <a:rPr lang="es-ES_tradnl" sz="1400" b="1" dirty="0">
                  <a:solidFill>
                    <a:schemeClr val="accent1"/>
                  </a:solidFill>
                </a:rPr>
                <a:t>Scanner</a:t>
              </a:r>
              <a:endParaRPr lang="es-ES_tradnl" sz="1400" b="1" dirty="0">
                <a:solidFill>
                  <a:srgbClr val="000000"/>
                </a:solidFill>
              </a:endParaRPr>
            </a:p>
          </p:txBody>
        </p:sp>
      </p:grpSp>
      <p:sp>
        <p:nvSpPr>
          <p:cNvPr id="41" name="40 CuadroTexto"/>
          <p:cNvSpPr txBox="1"/>
          <p:nvPr/>
        </p:nvSpPr>
        <p:spPr>
          <a:xfrm>
            <a:off x="4067944" y="1853751"/>
            <a:ext cx="596127" cy="307777"/>
          </a:xfrm>
          <a:prstGeom prst="rect">
            <a:avLst/>
          </a:prstGeom>
          <a:noFill/>
        </p:spPr>
        <p:txBody>
          <a:bodyPr wrap="square" rtlCol="0">
            <a:spAutoFit/>
          </a:bodyPr>
          <a:lstStyle/>
          <a:p>
            <a:pPr algn="ctr"/>
            <a:r>
              <a:rPr lang="es-ES_tradnl" sz="1400" b="1" dirty="0">
                <a:solidFill>
                  <a:srgbClr val="009900"/>
                </a:solidFill>
              </a:rPr>
              <a:t>byte</a:t>
            </a:r>
          </a:p>
        </p:txBody>
      </p:sp>
      <p:grpSp>
        <p:nvGrpSpPr>
          <p:cNvPr id="13" name="62 Grupo"/>
          <p:cNvGrpSpPr/>
          <p:nvPr/>
        </p:nvGrpSpPr>
        <p:grpSpPr>
          <a:xfrm>
            <a:off x="6732240" y="1505764"/>
            <a:ext cx="2088232" cy="307777"/>
            <a:chOff x="6444208" y="2959942"/>
            <a:chExt cx="2088232" cy="307777"/>
          </a:xfrm>
        </p:grpSpPr>
        <p:sp>
          <p:nvSpPr>
            <p:cNvPr id="40" name="39 CuadroTexto"/>
            <p:cNvSpPr txBox="1"/>
            <p:nvPr/>
          </p:nvSpPr>
          <p:spPr>
            <a:xfrm>
              <a:off x="6444208" y="2959942"/>
              <a:ext cx="1226577" cy="307777"/>
            </a:xfrm>
            <a:prstGeom prst="rect">
              <a:avLst/>
            </a:prstGeom>
            <a:noFill/>
          </p:spPr>
          <p:txBody>
            <a:bodyPr wrap="square" rtlCol="0">
              <a:spAutoFit/>
            </a:bodyPr>
            <a:lstStyle/>
            <a:p>
              <a:r>
                <a:rPr lang="es-ES_tradnl" sz="1400" b="1" dirty="0">
                  <a:solidFill>
                    <a:srgbClr val="FF0000"/>
                  </a:solidFill>
                </a:rPr>
                <a:t>.</a:t>
              </a:r>
              <a:r>
                <a:rPr lang="es-ES_tradnl" sz="1400" b="1" dirty="0" err="1">
                  <a:solidFill>
                    <a:srgbClr val="FF0000"/>
                  </a:solidFill>
                </a:rPr>
                <a:t>nextByte</a:t>
              </a:r>
              <a:r>
                <a:rPr lang="es-ES_tradnl" sz="1400" b="1" dirty="0">
                  <a:solidFill>
                    <a:srgbClr val="FF0000"/>
                  </a:solidFill>
                </a:rPr>
                <a:t>( )</a:t>
              </a:r>
            </a:p>
          </p:txBody>
        </p:sp>
        <p:sp>
          <p:nvSpPr>
            <p:cNvPr id="48" name="47 CuadroTexto"/>
            <p:cNvSpPr txBox="1"/>
            <p:nvPr/>
          </p:nvSpPr>
          <p:spPr>
            <a:xfrm>
              <a:off x="7936313" y="2959942"/>
              <a:ext cx="596127" cy="307777"/>
            </a:xfrm>
            <a:prstGeom prst="rect">
              <a:avLst/>
            </a:prstGeom>
            <a:noFill/>
          </p:spPr>
          <p:txBody>
            <a:bodyPr wrap="square" rtlCol="0">
              <a:spAutoFit/>
            </a:bodyPr>
            <a:lstStyle/>
            <a:p>
              <a:pPr algn="ctr"/>
              <a:r>
                <a:rPr lang="es-ES_tradnl" sz="1400" b="1" dirty="0">
                  <a:solidFill>
                    <a:srgbClr val="009900"/>
                  </a:solidFill>
                </a:rPr>
                <a:t>byte</a:t>
              </a:r>
            </a:p>
          </p:txBody>
        </p:sp>
        <p:cxnSp>
          <p:nvCxnSpPr>
            <p:cNvPr id="50" name="49 Conector recto de flecha"/>
            <p:cNvCxnSpPr/>
            <p:nvPr/>
          </p:nvCxnSpPr>
          <p:spPr bwMode="auto">
            <a:xfrm>
              <a:off x="7553073" y="3113830"/>
              <a:ext cx="374203" cy="0"/>
            </a:xfrm>
            <a:prstGeom prst="straightConnector1">
              <a:avLst/>
            </a:prstGeom>
            <a:ln>
              <a:headEnd type="none" w="med" len="med"/>
              <a:tailEnd type="arrow"/>
            </a:ln>
          </p:spPr>
          <p:style>
            <a:lnRef idx="2">
              <a:schemeClr val="accent2"/>
            </a:lnRef>
            <a:fillRef idx="0">
              <a:schemeClr val="accent2"/>
            </a:fillRef>
            <a:effectRef idx="1">
              <a:schemeClr val="accent2"/>
            </a:effectRef>
            <a:fontRef idx="minor">
              <a:schemeClr val="tx1"/>
            </a:fontRef>
          </p:style>
        </p:cxnSp>
      </p:grpSp>
      <p:grpSp>
        <p:nvGrpSpPr>
          <p:cNvPr id="16" name="63 Grupo"/>
          <p:cNvGrpSpPr/>
          <p:nvPr/>
        </p:nvGrpSpPr>
        <p:grpSpPr>
          <a:xfrm>
            <a:off x="6732240" y="1739052"/>
            <a:ext cx="2088232" cy="307778"/>
            <a:chOff x="6444208" y="3193230"/>
            <a:chExt cx="2088232" cy="307778"/>
          </a:xfrm>
        </p:grpSpPr>
        <p:sp>
          <p:nvSpPr>
            <p:cNvPr id="51" name="50 CuadroTexto"/>
            <p:cNvSpPr txBox="1"/>
            <p:nvPr/>
          </p:nvSpPr>
          <p:spPr>
            <a:xfrm>
              <a:off x="6444208" y="3193231"/>
              <a:ext cx="1226577" cy="307777"/>
            </a:xfrm>
            <a:prstGeom prst="rect">
              <a:avLst/>
            </a:prstGeom>
            <a:noFill/>
          </p:spPr>
          <p:txBody>
            <a:bodyPr wrap="square" rtlCol="0">
              <a:spAutoFit/>
            </a:bodyPr>
            <a:lstStyle/>
            <a:p>
              <a:r>
                <a:rPr lang="es-ES_tradnl" sz="1400" b="1" dirty="0">
                  <a:solidFill>
                    <a:srgbClr val="FF0000"/>
                  </a:solidFill>
                </a:rPr>
                <a:t>.</a:t>
              </a:r>
              <a:r>
                <a:rPr lang="es-ES_tradnl" sz="1400" b="1" dirty="0" err="1">
                  <a:solidFill>
                    <a:srgbClr val="FF0000"/>
                  </a:solidFill>
                </a:rPr>
                <a:t>nextInt</a:t>
              </a:r>
              <a:r>
                <a:rPr lang="es-ES_tradnl" sz="1400" b="1" dirty="0">
                  <a:solidFill>
                    <a:srgbClr val="FF0000"/>
                  </a:solidFill>
                </a:rPr>
                <a:t>( )</a:t>
              </a:r>
            </a:p>
          </p:txBody>
        </p:sp>
        <p:sp>
          <p:nvSpPr>
            <p:cNvPr id="52" name="51 CuadroTexto"/>
            <p:cNvSpPr txBox="1"/>
            <p:nvPr/>
          </p:nvSpPr>
          <p:spPr>
            <a:xfrm>
              <a:off x="7936313" y="3193230"/>
              <a:ext cx="596127" cy="307777"/>
            </a:xfrm>
            <a:prstGeom prst="rect">
              <a:avLst/>
            </a:prstGeom>
            <a:noFill/>
          </p:spPr>
          <p:txBody>
            <a:bodyPr wrap="square" rtlCol="0">
              <a:spAutoFit/>
            </a:bodyPr>
            <a:lstStyle/>
            <a:p>
              <a:pPr algn="ctr"/>
              <a:r>
                <a:rPr lang="es-ES_tradnl" sz="1400" b="1" dirty="0" err="1">
                  <a:solidFill>
                    <a:srgbClr val="009900"/>
                  </a:solidFill>
                </a:rPr>
                <a:t>int</a:t>
              </a:r>
              <a:endParaRPr lang="es-ES_tradnl" sz="1400" b="1" dirty="0">
                <a:solidFill>
                  <a:srgbClr val="009900"/>
                </a:solidFill>
              </a:endParaRPr>
            </a:p>
          </p:txBody>
        </p:sp>
        <p:cxnSp>
          <p:nvCxnSpPr>
            <p:cNvPr id="53" name="52 Conector recto de flecha"/>
            <p:cNvCxnSpPr/>
            <p:nvPr/>
          </p:nvCxnSpPr>
          <p:spPr bwMode="auto">
            <a:xfrm>
              <a:off x="7553073" y="3347119"/>
              <a:ext cx="374203" cy="0"/>
            </a:xfrm>
            <a:prstGeom prst="straightConnector1">
              <a:avLst/>
            </a:prstGeom>
            <a:ln>
              <a:headEnd type="none" w="med" len="med"/>
              <a:tailEnd type="arrow"/>
            </a:ln>
          </p:spPr>
          <p:style>
            <a:lnRef idx="2">
              <a:schemeClr val="accent2"/>
            </a:lnRef>
            <a:fillRef idx="0">
              <a:schemeClr val="accent2"/>
            </a:fillRef>
            <a:effectRef idx="1">
              <a:schemeClr val="accent2"/>
            </a:effectRef>
            <a:fontRef idx="minor">
              <a:schemeClr val="tx1"/>
            </a:fontRef>
          </p:style>
        </p:cxnSp>
      </p:grpSp>
      <p:grpSp>
        <p:nvGrpSpPr>
          <p:cNvPr id="17" name="64 Grupo"/>
          <p:cNvGrpSpPr/>
          <p:nvPr/>
        </p:nvGrpSpPr>
        <p:grpSpPr>
          <a:xfrm>
            <a:off x="6732240" y="1955077"/>
            <a:ext cx="2160240" cy="307777"/>
            <a:chOff x="6444208" y="3409255"/>
            <a:chExt cx="2160240" cy="307777"/>
          </a:xfrm>
        </p:grpSpPr>
        <p:sp>
          <p:nvSpPr>
            <p:cNvPr id="54" name="53 CuadroTexto"/>
            <p:cNvSpPr txBox="1"/>
            <p:nvPr/>
          </p:nvSpPr>
          <p:spPr>
            <a:xfrm>
              <a:off x="6444208" y="3409255"/>
              <a:ext cx="1226577" cy="307777"/>
            </a:xfrm>
            <a:prstGeom prst="rect">
              <a:avLst/>
            </a:prstGeom>
            <a:noFill/>
          </p:spPr>
          <p:txBody>
            <a:bodyPr wrap="square" rtlCol="0">
              <a:spAutoFit/>
            </a:bodyPr>
            <a:lstStyle/>
            <a:p>
              <a:r>
                <a:rPr lang="es-ES_tradnl" sz="1400" b="1" dirty="0">
                  <a:solidFill>
                    <a:srgbClr val="FF0000"/>
                  </a:solidFill>
                </a:rPr>
                <a:t>.</a:t>
              </a:r>
              <a:r>
                <a:rPr lang="es-ES_tradnl" sz="1400" b="1" dirty="0" err="1">
                  <a:solidFill>
                    <a:srgbClr val="FF0000"/>
                  </a:solidFill>
                </a:rPr>
                <a:t>nextFloat</a:t>
              </a:r>
              <a:r>
                <a:rPr lang="es-ES_tradnl" sz="1400" b="1" dirty="0">
                  <a:solidFill>
                    <a:srgbClr val="FF0000"/>
                  </a:solidFill>
                </a:rPr>
                <a:t>( )</a:t>
              </a:r>
            </a:p>
          </p:txBody>
        </p:sp>
        <p:sp>
          <p:nvSpPr>
            <p:cNvPr id="55" name="54 CuadroTexto"/>
            <p:cNvSpPr txBox="1"/>
            <p:nvPr/>
          </p:nvSpPr>
          <p:spPr>
            <a:xfrm>
              <a:off x="7864305" y="3409255"/>
              <a:ext cx="740143" cy="307777"/>
            </a:xfrm>
            <a:prstGeom prst="rect">
              <a:avLst/>
            </a:prstGeom>
            <a:noFill/>
          </p:spPr>
          <p:txBody>
            <a:bodyPr wrap="square" rtlCol="0">
              <a:spAutoFit/>
            </a:bodyPr>
            <a:lstStyle/>
            <a:p>
              <a:pPr algn="ctr"/>
              <a:r>
                <a:rPr lang="es-ES_tradnl" sz="1400" b="1" dirty="0" err="1">
                  <a:solidFill>
                    <a:srgbClr val="009900"/>
                  </a:solidFill>
                </a:rPr>
                <a:t>float</a:t>
              </a:r>
              <a:endParaRPr lang="es-ES_tradnl" sz="1400" b="1" dirty="0">
                <a:solidFill>
                  <a:srgbClr val="009900"/>
                </a:solidFill>
              </a:endParaRPr>
            </a:p>
          </p:txBody>
        </p:sp>
        <p:cxnSp>
          <p:nvCxnSpPr>
            <p:cNvPr id="56" name="55 Conector recto de flecha"/>
            <p:cNvCxnSpPr/>
            <p:nvPr/>
          </p:nvCxnSpPr>
          <p:spPr bwMode="auto">
            <a:xfrm>
              <a:off x="7553073" y="3563143"/>
              <a:ext cx="374203" cy="0"/>
            </a:xfrm>
            <a:prstGeom prst="straightConnector1">
              <a:avLst/>
            </a:prstGeom>
            <a:ln>
              <a:headEnd type="none" w="med" len="med"/>
              <a:tailEnd type="arrow"/>
            </a:ln>
          </p:spPr>
          <p:style>
            <a:lnRef idx="2">
              <a:schemeClr val="accent2"/>
            </a:lnRef>
            <a:fillRef idx="0">
              <a:schemeClr val="accent2"/>
            </a:fillRef>
            <a:effectRef idx="1">
              <a:schemeClr val="accent2"/>
            </a:effectRef>
            <a:fontRef idx="minor">
              <a:schemeClr val="tx1"/>
            </a:fontRef>
          </p:style>
        </p:cxnSp>
      </p:grpSp>
      <p:grpSp>
        <p:nvGrpSpPr>
          <p:cNvPr id="18" name="65 Grupo"/>
          <p:cNvGrpSpPr/>
          <p:nvPr/>
        </p:nvGrpSpPr>
        <p:grpSpPr>
          <a:xfrm>
            <a:off x="6732240" y="2171101"/>
            <a:ext cx="2160240" cy="307777"/>
            <a:chOff x="6444208" y="3625279"/>
            <a:chExt cx="2160240" cy="307777"/>
          </a:xfrm>
        </p:grpSpPr>
        <p:sp>
          <p:nvSpPr>
            <p:cNvPr id="57" name="56 CuadroTexto"/>
            <p:cNvSpPr txBox="1"/>
            <p:nvPr/>
          </p:nvSpPr>
          <p:spPr>
            <a:xfrm>
              <a:off x="6444208" y="3625279"/>
              <a:ext cx="1226577" cy="307777"/>
            </a:xfrm>
            <a:prstGeom prst="rect">
              <a:avLst/>
            </a:prstGeom>
            <a:noFill/>
          </p:spPr>
          <p:txBody>
            <a:bodyPr wrap="square" rtlCol="0">
              <a:spAutoFit/>
            </a:bodyPr>
            <a:lstStyle/>
            <a:p>
              <a:r>
                <a:rPr lang="es-ES_tradnl" sz="1400" b="1" dirty="0">
                  <a:solidFill>
                    <a:srgbClr val="FF0000"/>
                  </a:solidFill>
                </a:rPr>
                <a:t>.</a:t>
              </a:r>
              <a:r>
                <a:rPr lang="es-ES_tradnl" sz="1400" b="1" dirty="0" err="1">
                  <a:solidFill>
                    <a:srgbClr val="FF0000"/>
                  </a:solidFill>
                </a:rPr>
                <a:t>nextLine</a:t>
              </a:r>
              <a:r>
                <a:rPr lang="es-ES_tradnl" sz="1400" b="1" dirty="0">
                  <a:solidFill>
                    <a:srgbClr val="FF0000"/>
                  </a:solidFill>
                </a:rPr>
                <a:t>( )</a:t>
              </a:r>
            </a:p>
          </p:txBody>
        </p:sp>
        <p:sp>
          <p:nvSpPr>
            <p:cNvPr id="58" name="57 CuadroTexto"/>
            <p:cNvSpPr txBox="1"/>
            <p:nvPr/>
          </p:nvSpPr>
          <p:spPr>
            <a:xfrm>
              <a:off x="7864305" y="3625279"/>
              <a:ext cx="740143" cy="307777"/>
            </a:xfrm>
            <a:prstGeom prst="rect">
              <a:avLst/>
            </a:prstGeom>
            <a:noFill/>
          </p:spPr>
          <p:txBody>
            <a:bodyPr wrap="square" rtlCol="0">
              <a:spAutoFit/>
            </a:bodyPr>
            <a:lstStyle/>
            <a:p>
              <a:pPr algn="ctr"/>
              <a:r>
                <a:rPr lang="es-ES_tradnl" sz="1400" b="1" dirty="0">
                  <a:solidFill>
                    <a:srgbClr val="009900"/>
                  </a:solidFill>
                </a:rPr>
                <a:t>línea</a:t>
              </a:r>
            </a:p>
          </p:txBody>
        </p:sp>
        <p:cxnSp>
          <p:nvCxnSpPr>
            <p:cNvPr id="59" name="58 Conector recto de flecha"/>
            <p:cNvCxnSpPr/>
            <p:nvPr/>
          </p:nvCxnSpPr>
          <p:spPr bwMode="auto">
            <a:xfrm>
              <a:off x="7553073" y="3779167"/>
              <a:ext cx="374203" cy="0"/>
            </a:xfrm>
            <a:prstGeom prst="straightConnector1">
              <a:avLst/>
            </a:prstGeom>
            <a:ln>
              <a:headEnd type="none" w="med" len="med"/>
              <a:tailEnd type="arrow"/>
            </a:ln>
          </p:spPr>
          <p:style>
            <a:lnRef idx="2">
              <a:schemeClr val="accent2"/>
            </a:lnRef>
            <a:fillRef idx="0">
              <a:schemeClr val="accent2"/>
            </a:fillRef>
            <a:effectRef idx="1">
              <a:schemeClr val="accent2"/>
            </a:effectRef>
            <a:fontRef idx="minor">
              <a:schemeClr val="tx1"/>
            </a:fontRef>
          </p:style>
        </p:cxnSp>
      </p:grpSp>
      <p:sp>
        <p:nvSpPr>
          <p:cNvPr id="60" name="59 Rectángulo"/>
          <p:cNvSpPr/>
          <p:nvPr/>
        </p:nvSpPr>
        <p:spPr>
          <a:xfrm>
            <a:off x="1656112" y="4909501"/>
            <a:ext cx="2382484" cy="384721"/>
          </a:xfrm>
          <a:prstGeom prst="rect">
            <a:avLst/>
          </a:prstGeom>
        </p:spPr>
        <p:txBody>
          <a:bodyPr wrap="square">
            <a:spAutoFit/>
          </a:bodyPr>
          <a:lstStyle/>
          <a:p>
            <a:r>
              <a:rPr lang="es-ES" dirty="0">
                <a:solidFill>
                  <a:srgbClr val="0070C0"/>
                </a:solidFill>
              </a:rPr>
              <a:t>Scanner</a:t>
            </a:r>
            <a:r>
              <a:rPr lang="es-ES" dirty="0"/>
              <a:t> </a:t>
            </a:r>
            <a:r>
              <a:rPr lang="es-ES" b="1" dirty="0">
                <a:solidFill>
                  <a:srgbClr val="000000"/>
                </a:solidFill>
              </a:rPr>
              <a:t>entrada</a:t>
            </a:r>
            <a:r>
              <a:rPr lang="es-ES" dirty="0">
                <a:solidFill>
                  <a:srgbClr val="000000"/>
                </a:solidFill>
              </a:rPr>
              <a:t> = </a:t>
            </a:r>
            <a:endParaRPr lang="es-ES" dirty="0"/>
          </a:p>
        </p:txBody>
      </p:sp>
      <p:grpSp>
        <p:nvGrpSpPr>
          <p:cNvPr id="19" name="106 Grupo"/>
          <p:cNvGrpSpPr/>
          <p:nvPr/>
        </p:nvGrpSpPr>
        <p:grpSpPr>
          <a:xfrm>
            <a:off x="2408347" y="3242117"/>
            <a:ext cx="1857388" cy="307777"/>
            <a:chOff x="2129789" y="1844943"/>
            <a:chExt cx="1857388" cy="307777"/>
          </a:xfrm>
        </p:grpSpPr>
        <p:sp>
          <p:nvSpPr>
            <p:cNvPr id="108" name="107 Flecha a la derecha con muesca"/>
            <p:cNvSpPr/>
            <p:nvPr/>
          </p:nvSpPr>
          <p:spPr bwMode="auto">
            <a:xfrm>
              <a:off x="2129789" y="1850056"/>
              <a:ext cx="1857388" cy="280361"/>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09" name="108 Rectángulo redondeado"/>
            <p:cNvSpPr/>
            <p:nvPr/>
          </p:nvSpPr>
          <p:spPr bwMode="auto">
            <a:xfrm>
              <a:off x="2424300" y="1858912"/>
              <a:ext cx="1226577" cy="280361"/>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10" name="109 CuadroTexto"/>
            <p:cNvSpPr txBox="1"/>
            <p:nvPr/>
          </p:nvSpPr>
          <p:spPr>
            <a:xfrm>
              <a:off x="2460655" y="1844943"/>
              <a:ext cx="1159927" cy="307777"/>
            </a:xfrm>
            <a:prstGeom prst="rect">
              <a:avLst/>
            </a:prstGeom>
            <a:noFill/>
          </p:spPr>
          <p:txBody>
            <a:bodyPr wrap="square" rtlCol="0">
              <a:spAutoFit/>
            </a:bodyPr>
            <a:lstStyle/>
            <a:p>
              <a:pPr algn="ctr"/>
              <a:r>
                <a:rPr lang="es-ES_tradnl" sz="1400" b="1" dirty="0">
                  <a:solidFill>
                    <a:schemeClr val="accent1"/>
                  </a:solidFill>
                </a:rPr>
                <a:t>System</a:t>
              </a:r>
              <a:r>
                <a:rPr lang="es-ES_tradnl" sz="1400" b="1" dirty="0">
                  <a:solidFill>
                    <a:srgbClr val="000000"/>
                  </a:solidFill>
                </a:rPr>
                <a:t>.in</a:t>
              </a:r>
            </a:p>
          </p:txBody>
        </p:sp>
      </p:grpSp>
      <p:pic>
        <p:nvPicPr>
          <p:cNvPr id="115" name="Picture 2" descr="C:\Documents and Settings\Raul Gil\Escritorio\teclado.png"/>
          <p:cNvPicPr>
            <a:picLocks noChangeAspect="1" noChangeArrowheads="1"/>
          </p:cNvPicPr>
          <p:nvPr/>
        </p:nvPicPr>
        <p:blipFill>
          <a:blip r:embed="rId3" cstate="print"/>
          <a:srcRect/>
          <a:stretch>
            <a:fillRect/>
          </a:stretch>
        </p:blipFill>
        <p:spPr bwMode="auto">
          <a:xfrm>
            <a:off x="680155" y="2924944"/>
            <a:ext cx="1643074" cy="902316"/>
          </a:xfrm>
          <a:prstGeom prst="rect">
            <a:avLst/>
          </a:prstGeom>
          <a:noFill/>
        </p:spPr>
      </p:pic>
      <p:grpSp>
        <p:nvGrpSpPr>
          <p:cNvPr id="20" name="115 Grupo"/>
          <p:cNvGrpSpPr/>
          <p:nvPr/>
        </p:nvGrpSpPr>
        <p:grpSpPr>
          <a:xfrm>
            <a:off x="4314078" y="3207700"/>
            <a:ext cx="1857388" cy="311782"/>
            <a:chOff x="4526814" y="3279708"/>
            <a:chExt cx="1857388" cy="311782"/>
          </a:xfrm>
        </p:grpSpPr>
        <p:sp>
          <p:nvSpPr>
            <p:cNvPr id="117" name="116 Flecha a la derecha con muesca"/>
            <p:cNvSpPr/>
            <p:nvPr/>
          </p:nvSpPr>
          <p:spPr bwMode="auto">
            <a:xfrm>
              <a:off x="4526814" y="3311129"/>
              <a:ext cx="1857388" cy="280361"/>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18" name="117 Rectángulo redondeado"/>
            <p:cNvSpPr/>
            <p:nvPr/>
          </p:nvSpPr>
          <p:spPr bwMode="auto">
            <a:xfrm>
              <a:off x="4812566" y="3302273"/>
              <a:ext cx="1226577" cy="280361"/>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19" name="118 CuadroTexto"/>
            <p:cNvSpPr txBox="1"/>
            <p:nvPr/>
          </p:nvSpPr>
          <p:spPr>
            <a:xfrm>
              <a:off x="4845890" y="3279708"/>
              <a:ext cx="1159927" cy="307777"/>
            </a:xfrm>
            <a:prstGeom prst="rect">
              <a:avLst/>
            </a:prstGeom>
            <a:noFill/>
          </p:spPr>
          <p:txBody>
            <a:bodyPr wrap="square" rtlCol="0">
              <a:spAutoFit/>
            </a:bodyPr>
            <a:lstStyle/>
            <a:p>
              <a:pPr algn="ctr"/>
              <a:r>
                <a:rPr lang="es-ES_tradnl" sz="1400" b="1" dirty="0">
                  <a:solidFill>
                    <a:schemeClr val="accent1"/>
                  </a:solidFill>
                </a:rPr>
                <a:t>Scanner</a:t>
              </a:r>
              <a:endParaRPr lang="es-ES_tradnl" sz="1400" b="1" dirty="0">
                <a:solidFill>
                  <a:srgbClr val="000000"/>
                </a:solidFill>
              </a:endParaRPr>
            </a:p>
          </p:txBody>
        </p:sp>
      </p:grpSp>
      <p:sp>
        <p:nvSpPr>
          <p:cNvPr id="137" name="136 Rectángulo"/>
          <p:cNvSpPr/>
          <p:nvPr/>
        </p:nvSpPr>
        <p:spPr>
          <a:xfrm>
            <a:off x="3751297" y="4909501"/>
            <a:ext cx="3196967" cy="384721"/>
          </a:xfrm>
          <a:prstGeom prst="rect">
            <a:avLst/>
          </a:prstGeom>
        </p:spPr>
        <p:txBody>
          <a:bodyPr wrap="square">
            <a:spAutoFit/>
          </a:bodyPr>
          <a:lstStyle/>
          <a:p>
            <a:r>
              <a:rPr lang="es-ES" dirty="0">
                <a:solidFill>
                  <a:schemeClr val="bg1">
                    <a:lumMod val="50000"/>
                  </a:schemeClr>
                </a:solidFill>
              </a:rPr>
              <a:t>new</a:t>
            </a:r>
            <a:r>
              <a:rPr lang="es-ES" dirty="0"/>
              <a:t> </a:t>
            </a:r>
            <a:r>
              <a:rPr lang="es-ES" dirty="0">
                <a:solidFill>
                  <a:schemeClr val="accent1"/>
                </a:solidFill>
              </a:rPr>
              <a:t>Scanner</a:t>
            </a:r>
            <a:r>
              <a:rPr lang="es-ES" dirty="0"/>
              <a:t>( </a:t>
            </a:r>
            <a:r>
              <a:rPr lang="es-ES" dirty="0">
                <a:solidFill>
                  <a:srgbClr val="0070C0"/>
                </a:solidFill>
              </a:rPr>
              <a:t>                </a:t>
            </a:r>
            <a:r>
              <a:rPr lang="es-ES" dirty="0"/>
              <a:t> );</a:t>
            </a:r>
          </a:p>
        </p:txBody>
      </p:sp>
      <p:sp>
        <p:nvSpPr>
          <p:cNvPr id="138" name="137 Rectángulo"/>
          <p:cNvSpPr/>
          <p:nvPr/>
        </p:nvSpPr>
        <p:spPr>
          <a:xfrm>
            <a:off x="5325365" y="4909501"/>
            <a:ext cx="1249412" cy="384721"/>
          </a:xfrm>
          <a:prstGeom prst="rect">
            <a:avLst/>
          </a:prstGeom>
        </p:spPr>
        <p:txBody>
          <a:bodyPr wrap="square">
            <a:spAutoFit/>
          </a:bodyPr>
          <a:lstStyle/>
          <a:p>
            <a:r>
              <a:rPr lang="es-ES" dirty="0">
                <a:solidFill>
                  <a:srgbClr val="0070C0"/>
                </a:solidFill>
              </a:rPr>
              <a:t>System</a:t>
            </a:r>
            <a:r>
              <a:rPr lang="es-ES" dirty="0">
                <a:solidFill>
                  <a:srgbClr val="000000"/>
                </a:solidFill>
              </a:rPr>
              <a:t>.in</a:t>
            </a:r>
            <a:endParaRPr lang="es-ES" dirty="0"/>
          </a:p>
        </p:txBody>
      </p:sp>
      <p:sp>
        <p:nvSpPr>
          <p:cNvPr id="139" name="138 CuadroTexto"/>
          <p:cNvSpPr txBox="1"/>
          <p:nvPr/>
        </p:nvSpPr>
        <p:spPr>
          <a:xfrm>
            <a:off x="4613433" y="3527591"/>
            <a:ext cx="1226577" cy="307777"/>
          </a:xfrm>
          <a:prstGeom prst="rect">
            <a:avLst/>
          </a:prstGeom>
          <a:noFill/>
        </p:spPr>
        <p:txBody>
          <a:bodyPr wrap="square" rtlCol="0">
            <a:spAutoFit/>
          </a:bodyPr>
          <a:lstStyle/>
          <a:p>
            <a:pPr algn="ctr"/>
            <a:r>
              <a:rPr lang="es-ES_tradnl" sz="1400" b="1" dirty="0">
                <a:solidFill>
                  <a:srgbClr val="000000"/>
                </a:solidFill>
              </a:rPr>
              <a:t>entrada</a:t>
            </a:r>
          </a:p>
        </p:txBody>
      </p:sp>
      <p:grpSp>
        <p:nvGrpSpPr>
          <p:cNvPr id="21" name="139 Grupo"/>
          <p:cNvGrpSpPr/>
          <p:nvPr/>
        </p:nvGrpSpPr>
        <p:grpSpPr>
          <a:xfrm>
            <a:off x="6228184" y="3207700"/>
            <a:ext cx="2160240" cy="307777"/>
            <a:chOff x="6444208" y="3625279"/>
            <a:chExt cx="2160240" cy="307777"/>
          </a:xfrm>
        </p:grpSpPr>
        <p:sp>
          <p:nvSpPr>
            <p:cNvPr id="141" name="140 CuadroTexto"/>
            <p:cNvSpPr txBox="1"/>
            <p:nvPr/>
          </p:nvSpPr>
          <p:spPr>
            <a:xfrm>
              <a:off x="6444208" y="3625279"/>
              <a:ext cx="1226577" cy="307777"/>
            </a:xfrm>
            <a:prstGeom prst="rect">
              <a:avLst/>
            </a:prstGeom>
            <a:noFill/>
          </p:spPr>
          <p:txBody>
            <a:bodyPr wrap="square" rtlCol="0">
              <a:spAutoFit/>
            </a:bodyPr>
            <a:lstStyle/>
            <a:p>
              <a:r>
                <a:rPr lang="es-ES_tradnl" sz="1400" b="1" dirty="0">
                  <a:solidFill>
                    <a:srgbClr val="FF0000"/>
                  </a:solidFill>
                </a:rPr>
                <a:t>.</a:t>
              </a:r>
              <a:r>
                <a:rPr lang="es-ES_tradnl" sz="1400" b="1" dirty="0" err="1">
                  <a:solidFill>
                    <a:srgbClr val="FF0000"/>
                  </a:solidFill>
                </a:rPr>
                <a:t>nextLine</a:t>
              </a:r>
              <a:r>
                <a:rPr lang="es-ES_tradnl" sz="1400" b="1" dirty="0">
                  <a:solidFill>
                    <a:srgbClr val="FF0000"/>
                  </a:solidFill>
                </a:rPr>
                <a:t>( )</a:t>
              </a:r>
            </a:p>
          </p:txBody>
        </p:sp>
        <p:sp>
          <p:nvSpPr>
            <p:cNvPr id="142" name="141 CuadroTexto"/>
            <p:cNvSpPr txBox="1"/>
            <p:nvPr/>
          </p:nvSpPr>
          <p:spPr>
            <a:xfrm>
              <a:off x="7864305" y="3625279"/>
              <a:ext cx="740143" cy="307777"/>
            </a:xfrm>
            <a:prstGeom prst="rect">
              <a:avLst/>
            </a:prstGeom>
            <a:noFill/>
          </p:spPr>
          <p:txBody>
            <a:bodyPr wrap="square" rtlCol="0">
              <a:spAutoFit/>
            </a:bodyPr>
            <a:lstStyle/>
            <a:p>
              <a:pPr algn="ctr"/>
              <a:r>
                <a:rPr lang="es-ES_tradnl" sz="1400" b="1" dirty="0">
                  <a:solidFill>
                    <a:srgbClr val="009900"/>
                  </a:solidFill>
                </a:rPr>
                <a:t>línea</a:t>
              </a:r>
            </a:p>
          </p:txBody>
        </p:sp>
        <p:cxnSp>
          <p:nvCxnSpPr>
            <p:cNvPr id="143" name="142 Conector recto de flecha"/>
            <p:cNvCxnSpPr/>
            <p:nvPr/>
          </p:nvCxnSpPr>
          <p:spPr bwMode="auto">
            <a:xfrm>
              <a:off x="7553073" y="3779167"/>
              <a:ext cx="374203" cy="0"/>
            </a:xfrm>
            <a:prstGeom prst="straightConnector1">
              <a:avLst/>
            </a:prstGeom>
            <a:ln>
              <a:headEnd type="none" w="med" len="med"/>
              <a:tailEnd type="arrow"/>
            </a:ln>
          </p:spPr>
          <p:style>
            <a:lnRef idx="2">
              <a:schemeClr val="accent2"/>
            </a:lnRef>
            <a:fillRef idx="0">
              <a:schemeClr val="accent2"/>
            </a:fillRef>
            <a:effectRef idx="1">
              <a:schemeClr val="accent2"/>
            </a:effectRef>
            <a:fontRef idx="minor">
              <a:schemeClr val="tx1"/>
            </a:fontRef>
          </p:style>
        </p:cxnSp>
      </p:grpSp>
      <p:sp>
        <p:nvSpPr>
          <p:cNvPr id="144" name="143 Rectángulo"/>
          <p:cNvSpPr/>
          <p:nvPr/>
        </p:nvSpPr>
        <p:spPr>
          <a:xfrm>
            <a:off x="1656226" y="5206280"/>
            <a:ext cx="5185245" cy="384721"/>
          </a:xfrm>
          <a:prstGeom prst="rect">
            <a:avLst/>
          </a:prstGeom>
        </p:spPr>
        <p:txBody>
          <a:bodyPr wrap="square">
            <a:spAutoFit/>
          </a:bodyPr>
          <a:lstStyle/>
          <a:p>
            <a:r>
              <a:rPr lang="es-ES" dirty="0" err="1">
                <a:solidFill>
                  <a:srgbClr val="0070C0"/>
                </a:solidFill>
              </a:rPr>
              <a:t>String</a:t>
            </a:r>
            <a:r>
              <a:rPr lang="es-ES" dirty="0">
                <a:solidFill>
                  <a:srgbClr val="0070C0"/>
                </a:solidFill>
              </a:rPr>
              <a:t> </a:t>
            </a:r>
            <a:r>
              <a:rPr lang="es-ES" b="1" dirty="0">
                <a:solidFill>
                  <a:srgbClr val="000000"/>
                </a:solidFill>
              </a:rPr>
              <a:t>nombre </a:t>
            </a:r>
            <a:r>
              <a:rPr lang="es-ES" dirty="0">
                <a:solidFill>
                  <a:srgbClr val="000000"/>
                </a:solidFill>
              </a:rPr>
              <a:t>=</a:t>
            </a:r>
            <a:r>
              <a:rPr lang="es-ES" dirty="0">
                <a:solidFill>
                  <a:srgbClr val="0070C0"/>
                </a:solidFill>
              </a:rPr>
              <a:t> </a:t>
            </a:r>
            <a:r>
              <a:rPr lang="es-ES" b="1" dirty="0" err="1">
                <a:solidFill>
                  <a:srgbClr val="000000"/>
                </a:solidFill>
              </a:rPr>
              <a:t>entrada</a:t>
            </a:r>
            <a:r>
              <a:rPr lang="es-ES" dirty="0" err="1">
                <a:solidFill>
                  <a:srgbClr val="FF0000"/>
                </a:solidFill>
              </a:rPr>
              <a:t>.nextLine</a:t>
            </a:r>
            <a:r>
              <a:rPr lang="es-ES" dirty="0">
                <a:solidFill>
                  <a:srgbClr val="FF0000"/>
                </a:solidFill>
              </a:rPr>
              <a:t>();</a:t>
            </a:r>
            <a:r>
              <a:rPr lang="es-ES" dirty="0">
                <a:solidFill>
                  <a:srgbClr val="000000"/>
                </a:solidFill>
              </a:rPr>
              <a:t> </a:t>
            </a:r>
            <a:endParaRPr lang="es-ES" dirty="0"/>
          </a:p>
        </p:txBody>
      </p:sp>
      <p:sp>
        <p:nvSpPr>
          <p:cNvPr id="62" name="61 Rectángulo"/>
          <p:cNvSpPr/>
          <p:nvPr/>
        </p:nvSpPr>
        <p:spPr>
          <a:xfrm>
            <a:off x="1660014" y="5519445"/>
            <a:ext cx="5181458" cy="384721"/>
          </a:xfrm>
          <a:prstGeom prst="rect">
            <a:avLst/>
          </a:prstGeom>
        </p:spPr>
        <p:txBody>
          <a:bodyPr wrap="square">
            <a:spAutoFit/>
          </a:bodyPr>
          <a:lstStyle/>
          <a:p>
            <a:r>
              <a:rPr lang="es-ES" dirty="0" err="1">
                <a:solidFill>
                  <a:srgbClr val="0070C0"/>
                </a:solidFill>
              </a:rPr>
              <a:t>System.out.</a:t>
            </a:r>
            <a:r>
              <a:rPr lang="es-ES" dirty="0" err="1">
                <a:solidFill>
                  <a:srgbClr val="FF0000"/>
                </a:solidFill>
              </a:rPr>
              <a:t>printf</a:t>
            </a:r>
            <a:r>
              <a:rPr lang="es-ES" dirty="0">
                <a:solidFill>
                  <a:srgbClr val="FF0000"/>
                </a:solidFill>
              </a:rPr>
              <a:t>(</a:t>
            </a:r>
            <a:r>
              <a:rPr lang="es-ES" dirty="0">
                <a:solidFill>
                  <a:srgbClr val="009900"/>
                </a:solidFill>
              </a:rPr>
              <a:t>“Hola </a:t>
            </a:r>
            <a:r>
              <a:rPr lang="es-ES" dirty="0">
                <a:solidFill>
                  <a:srgbClr val="000000"/>
                </a:solidFill>
              </a:rPr>
              <a:t>%s</a:t>
            </a:r>
            <a:r>
              <a:rPr lang="es-ES" dirty="0">
                <a:solidFill>
                  <a:srgbClr val="009900"/>
                </a:solidFill>
              </a:rPr>
              <a:t>”</a:t>
            </a:r>
            <a:r>
              <a:rPr lang="es-ES" dirty="0">
                <a:solidFill>
                  <a:srgbClr val="0070C0"/>
                </a:solidFill>
              </a:rPr>
              <a:t>, </a:t>
            </a:r>
            <a:r>
              <a:rPr lang="es-ES" b="1" dirty="0">
                <a:solidFill>
                  <a:srgbClr val="000000"/>
                </a:solidFill>
              </a:rPr>
              <a:t>nombre</a:t>
            </a:r>
            <a:r>
              <a:rPr lang="es-ES" dirty="0">
                <a:solidFill>
                  <a:srgbClr val="FF0000"/>
                </a:solidFill>
              </a:rPr>
              <a:t>)</a:t>
            </a:r>
            <a:r>
              <a:rPr lang="es-ES" dirty="0">
                <a:solidFill>
                  <a:srgbClr val="000000"/>
                </a:solidFill>
              </a:rPr>
              <a:t>;</a:t>
            </a:r>
          </a:p>
        </p:txBody>
      </p:sp>
      <p:sp>
        <p:nvSpPr>
          <p:cNvPr id="3" name="2 Rectángulo"/>
          <p:cNvSpPr/>
          <p:nvPr/>
        </p:nvSpPr>
        <p:spPr>
          <a:xfrm>
            <a:off x="1666123" y="4266202"/>
            <a:ext cx="2805576" cy="677108"/>
          </a:xfrm>
          <a:prstGeom prst="rect">
            <a:avLst/>
          </a:prstGeom>
        </p:spPr>
        <p:txBody>
          <a:bodyPr wrap="none">
            <a:spAutoFit/>
          </a:bodyPr>
          <a:lstStyle/>
          <a:p>
            <a:r>
              <a:rPr lang="es-ES" dirty="0" err="1"/>
              <a:t>import</a:t>
            </a:r>
            <a:r>
              <a:rPr lang="es-ES" dirty="0"/>
              <a:t> </a:t>
            </a:r>
            <a:r>
              <a:rPr lang="es-ES" dirty="0" err="1"/>
              <a:t>java.util.Scanner</a:t>
            </a:r>
            <a:r>
              <a:rPr lang="es-ES" dirty="0"/>
              <a:t>;</a:t>
            </a:r>
          </a:p>
          <a:p>
            <a:r>
              <a:rPr lang="es-ES" dirty="0"/>
              <a:t>…</a:t>
            </a:r>
          </a:p>
        </p:txBody>
      </p:sp>
    </p:spTree>
    <p:extLst>
      <p:ext uri="{BB962C8B-B14F-4D97-AF65-F5344CB8AC3E}">
        <p14:creationId xmlns:p14="http://schemas.microsoft.com/office/powerpoint/2010/main" val="82191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500" fill="hold"/>
                                        <p:tgtEl>
                                          <p:spTgt spid="25"/>
                                        </p:tgtEl>
                                        <p:attrNameLst>
                                          <p:attrName>ppt_w</p:attrName>
                                        </p:attrNameLst>
                                      </p:cBhvr>
                                      <p:tavLst>
                                        <p:tav tm="0">
                                          <p:val>
                                            <p:fltVal val="0"/>
                                          </p:val>
                                        </p:tav>
                                        <p:tav tm="100000">
                                          <p:val>
                                            <p:strVal val="#ppt_w"/>
                                          </p:val>
                                        </p:tav>
                                      </p:tavLst>
                                    </p:anim>
                                    <p:anim calcmode="lin" valueType="num">
                                      <p:cBhvr>
                                        <p:cTn id="13" dur="500" fill="hold"/>
                                        <p:tgtEl>
                                          <p:spTgt spid="25"/>
                                        </p:tgtEl>
                                        <p:attrNameLst>
                                          <p:attrName>ppt_h</p:attrName>
                                        </p:attrNameLst>
                                      </p:cBhvr>
                                      <p:tavLst>
                                        <p:tav tm="0">
                                          <p:val>
                                            <p:fltVal val="0"/>
                                          </p:val>
                                        </p:tav>
                                        <p:tav tm="100000">
                                          <p:val>
                                            <p:strVal val="#ppt_h"/>
                                          </p:val>
                                        </p:tav>
                                      </p:tavLst>
                                    </p:anim>
                                    <p:animEffect transition="in" filter="fade">
                                      <p:cBhvr>
                                        <p:cTn id="14" dur="500"/>
                                        <p:tgtEl>
                                          <p:spTgt spid="25"/>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500" fill="hold"/>
                                        <p:tgtEl>
                                          <p:spTgt spid="30"/>
                                        </p:tgtEl>
                                        <p:attrNameLst>
                                          <p:attrName>ppt_w</p:attrName>
                                        </p:attrNameLst>
                                      </p:cBhvr>
                                      <p:tavLst>
                                        <p:tav tm="0">
                                          <p:val>
                                            <p:fltVal val="0"/>
                                          </p:val>
                                        </p:tav>
                                        <p:tav tm="100000">
                                          <p:val>
                                            <p:strVal val="#ppt_w"/>
                                          </p:val>
                                        </p:tav>
                                      </p:tavLst>
                                    </p:anim>
                                    <p:anim calcmode="lin" valueType="num">
                                      <p:cBhvr>
                                        <p:cTn id="32" dur="500" fill="hold"/>
                                        <p:tgtEl>
                                          <p:spTgt spid="30"/>
                                        </p:tgtEl>
                                        <p:attrNameLst>
                                          <p:attrName>ppt_h</p:attrName>
                                        </p:attrNameLst>
                                      </p:cBhvr>
                                      <p:tavLst>
                                        <p:tav tm="0">
                                          <p:val>
                                            <p:fltVal val="0"/>
                                          </p:val>
                                        </p:tav>
                                        <p:tav tm="100000">
                                          <p:val>
                                            <p:strVal val="#ppt_h"/>
                                          </p:val>
                                        </p:tav>
                                      </p:tavLst>
                                    </p:anim>
                                    <p:animEffect transition="in" filter="fade">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500"/>
                                        <p:tgtEl>
                                          <p:spTgt spid="8"/>
                                        </p:tgtEl>
                                      </p:cBhvr>
                                    </p:animEffect>
                                    <p:set>
                                      <p:cBhvr>
                                        <p:cTn id="45" dur="1" fill="hold">
                                          <p:stCondLst>
                                            <p:cond delay="499"/>
                                          </p:stCondLst>
                                        </p:cTn>
                                        <p:tgtEl>
                                          <p:spTgt spid="8"/>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25"/>
                                        </p:tgtEl>
                                      </p:cBhvr>
                                    </p:animEffect>
                                    <p:set>
                                      <p:cBhvr>
                                        <p:cTn id="48" dur="1" fill="hold">
                                          <p:stCondLst>
                                            <p:cond delay="499"/>
                                          </p:stCondLst>
                                        </p:cTn>
                                        <p:tgtEl>
                                          <p:spTgt spid="25"/>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15"/>
                                        </p:tgtEl>
                                      </p:cBhvr>
                                    </p:animEffect>
                                    <p:set>
                                      <p:cBhvr>
                                        <p:cTn id="51" dur="1" fill="hold">
                                          <p:stCondLst>
                                            <p:cond delay="499"/>
                                          </p:stCondLst>
                                        </p:cTn>
                                        <p:tgtEl>
                                          <p:spTgt spid="15"/>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500"/>
                                        <p:tgtEl>
                                          <p:spTgt spid="6"/>
                                        </p:tgtEl>
                                      </p:cBhvr>
                                    </p:animEffect>
                                    <p:set>
                                      <p:cBhvr>
                                        <p:cTn id="54" dur="1" fill="hold">
                                          <p:stCondLst>
                                            <p:cond delay="499"/>
                                          </p:stCondLst>
                                        </p:cTn>
                                        <p:tgtEl>
                                          <p:spTgt spid="6"/>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23"/>
                                        </p:tgtEl>
                                      </p:cBhvr>
                                    </p:animEffect>
                                    <p:set>
                                      <p:cBhvr>
                                        <p:cTn id="57" dur="1" fill="hold">
                                          <p:stCondLst>
                                            <p:cond delay="499"/>
                                          </p:stCondLst>
                                        </p:cTn>
                                        <p:tgtEl>
                                          <p:spTgt spid="23"/>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30"/>
                                        </p:tgtEl>
                                      </p:cBhvr>
                                    </p:animEffect>
                                    <p:set>
                                      <p:cBhvr>
                                        <p:cTn id="60" dur="1" fill="hold">
                                          <p:stCondLst>
                                            <p:cond delay="499"/>
                                          </p:stCondLst>
                                        </p:cTn>
                                        <p:tgtEl>
                                          <p:spTgt spid="3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41"/>
                                        </p:tgtEl>
                                        <p:attrNameLst>
                                          <p:attrName>style.visibility</p:attrName>
                                        </p:attrNameLst>
                                      </p:cBhvr>
                                      <p:to>
                                        <p:strVal val="visible"/>
                                      </p:to>
                                    </p:set>
                                    <p:anim calcmode="lin" valueType="num">
                                      <p:cBhvr>
                                        <p:cTn id="65" dur="500" fill="hold"/>
                                        <p:tgtEl>
                                          <p:spTgt spid="41"/>
                                        </p:tgtEl>
                                        <p:attrNameLst>
                                          <p:attrName>ppt_w</p:attrName>
                                        </p:attrNameLst>
                                      </p:cBhvr>
                                      <p:tavLst>
                                        <p:tav tm="0">
                                          <p:val>
                                            <p:fltVal val="0"/>
                                          </p:val>
                                        </p:tav>
                                        <p:tav tm="100000">
                                          <p:val>
                                            <p:strVal val="#ppt_w"/>
                                          </p:val>
                                        </p:tav>
                                      </p:tavLst>
                                    </p:anim>
                                    <p:anim calcmode="lin" valueType="num">
                                      <p:cBhvr>
                                        <p:cTn id="66" dur="500" fill="hold"/>
                                        <p:tgtEl>
                                          <p:spTgt spid="41"/>
                                        </p:tgtEl>
                                        <p:attrNameLst>
                                          <p:attrName>ppt_h</p:attrName>
                                        </p:attrNameLst>
                                      </p:cBhvr>
                                      <p:tavLst>
                                        <p:tav tm="0">
                                          <p:val>
                                            <p:fltVal val="0"/>
                                          </p:val>
                                        </p:tav>
                                        <p:tav tm="100000">
                                          <p:val>
                                            <p:strVal val="#ppt_h"/>
                                          </p:val>
                                        </p:tav>
                                      </p:tavLst>
                                    </p:anim>
                                    <p:animEffect transition="in" filter="fade">
                                      <p:cBhvr>
                                        <p:cTn id="67" dur="500"/>
                                        <p:tgtEl>
                                          <p:spTgt spid="4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wipe(left)">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wipe(left)">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ipe(left)">
                                      <p:cBhvr>
                                        <p:cTn id="82" dur="500"/>
                                        <p:tgtEl>
                                          <p:spTgt spid="1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left)">
                                      <p:cBhvr>
                                        <p:cTn id="87" dur="500"/>
                                        <p:tgtEl>
                                          <p:spTgt spid="1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wipe(left)">
                                      <p:cBhvr>
                                        <p:cTn id="92" dur="500"/>
                                        <p:tgtEl>
                                          <p:spTgt spid="18"/>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1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4"/>
                                        </p:tgtEl>
                                        <p:attrNameLst>
                                          <p:attrName>style.visibility</p:attrName>
                                        </p:attrNameLst>
                                      </p:cBhvr>
                                      <p:to>
                                        <p:strVal val="visible"/>
                                      </p:to>
                                    </p:set>
                                    <p:animEffect transition="in" filter="fade">
                                      <p:cBhvr>
                                        <p:cTn id="101" dur="500"/>
                                        <p:tgtEl>
                                          <p:spTgt spid="4"/>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137"/>
                                        </p:tgtEl>
                                        <p:attrNameLst>
                                          <p:attrName>style.visibility</p:attrName>
                                        </p:attrNameLst>
                                      </p:cBhvr>
                                      <p:to>
                                        <p:strVal val="visible"/>
                                      </p:to>
                                    </p:set>
                                    <p:animEffect transition="in" filter="fade">
                                      <p:cBhvr>
                                        <p:cTn id="106" dur="500"/>
                                        <p:tgtEl>
                                          <p:spTgt spid="137"/>
                                        </p:tgtEl>
                                      </p:cBhvr>
                                    </p:animEffect>
                                  </p:childTnLst>
                                </p:cTn>
                              </p:par>
                              <p:par>
                                <p:cTn id="107" presetID="10" presetClass="entr" presetSubtype="0" fill="hold" nodeType="withEffect">
                                  <p:stCondLst>
                                    <p:cond delay="0"/>
                                  </p:stCondLst>
                                  <p:childTnLst>
                                    <p:set>
                                      <p:cBhvr>
                                        <p:cTn id="108" dur="1" fill="hold">
                                          <p:stCondLst>
                                            <p:cond delay="0"/>
                                          </p:stCondLst>
                                        </p:cTn>
                                        <p:tgtEl>
                                          <p:spTgt spid="20"/>
                                        </p:tgtEl>
                                        <p:attrNameLst>
                                          <p:attrName>style.visibility</p:attrName>
                                        </p:attrNameLst>
                                      </p:cBhvr>
                                      <p:to>
                                        <p:strVal val="visible"/>
                                      </p:to>
                                    </p:set>
                                    <p:animEffect transition="in" filter="fade">
                                      <p:cBhvr>
                                        <p:cTn id="109" dur="500"/>
                                        <p:tgtEl>
                                          <p:spTgt spid="2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38"/>
                                        </p:tgtEl>
                                        <p:attrNameLst>
                                          <p:attrName>style.visibility</p:attrName>
                                        </p:attrNameLst>
                                      </p:cBhvr>
                                      <p:to>
                                        <p:strVal val="visible"/>
                                      </p:to>
                                    </p:set>
                                    <p:animEffect transition="in" filter="fade">
                                      <p:cBhvr>
                                        <p:cTn id="114" dur="500"/>
                                        <p:tgtEl>
                                          <p:spTgt spid="138"/>
                                        </p:tgtEl>
                                      </p:cBhvr>
                                    </p:animEffect>
                                  </p:childTnLst>
                                </p:cTn>
                              </p:par>
                              <p:par>
                                <p:cTn id="115" presetID="10" presetClass="entr" presetSubtype="0" fill="hold" nodeType="withEffect">
                                  <p:stCondLst>
                                    <p:cond delay="0"/>
                                  </p:stCondLst>
                                  <p:childTnLst>
                                    <p:set>
                                      <p:cBhvr>
                                        <p:cTn id="116" dur="1" fill="hold">
                                          <p:stCondLst>
                                            <p:cond delay="0"/>
                                          </p:stCondLst>
                                        </p:cTn>
                                        <p:tgtEl>
                                          <p:spTgt spid="19"/>
                                        </p:tgtEl>
                                        <p:attrNameLst>
                                          <p:attrName>style.visibility</p:attrName>
                                        </p:attrNameLst>
                                      </p:cBhvr>
                                      <p:to>
                                        <p:strVal val="visible"/>
                                      </p:to>
                                    </p:set>
                                    <p:animEffect transition="in" filter="fade">
                                      <p:cBhvr>
                                        <p:cTn id="117" dur="500"/>
                                        <p:tgtEl>
                                          <p:spTgt spid="19"/>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60"/>
                                        </p:tgtEl>
                                        <p:attrNameLst>
                                          <p:attrName>style.visibility</p:attrName>
                                        </p:attrNameLst>
                                      </p:cBhvr>
                                      <p:to>
                                        <p:strVal val="visible"/>
                                      </p:to>
                                    </p:set>
                                    <p:animEffect transition="in" filter="fade">
                                      <p:cBhvr>
                                        <p:cTn id="122" dur="500"/>
                                        <p:tgtEl>
                                          <p:spTgt spid="60"/>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139"/>
                                        </p:tgtEl>
                                        <p:attrNameLst>
                                          <p:attrName>style.visibility</p:attrName>
                                        </p:attrNameLst>
                                      </p:cBhvr>
                                      <p:to>
                                        <p:strVal val="visible"/>
                                      </p:to>
                                    </p:set>
                                    <p:animEffect transition="in" filter="fade">
                                      <p:cBhvr>
                                        <p:cTn id="125" dur="500"/>
                                        <p:tgtEl>
                                          <p:spTgt spid="139"/>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144"/>
                                        </p:tgtEl>
                                        <p:attrNameLst>
                                          <p:attrName>style.visibility</p:attrName>
                                        </p:attrNameLst>
                                      </p:cBhvr>
                                      <p:to>
                                        <p:strVal val="visible"/>
                                      </p:to>
                                    </p:set>
                                    <p:animEffect transition="in" filter="fade">
                                      <p:cBhvr>
                                        <p:cTn id="130" dur="500"/>
                                        <p:tgtEl>
                                          <p:spTgt spid="144"/>
                                        </p:tgtEl>
                                      </p:cBhvr>
                                    </p:animEffect>
                                  </p:childTnLst>
                                </p:cTn>
                              </p:par>
                              <p:par>
                                <p:cTn id="131" presetID="22" presetClass="entr" presetSubtype="8" fill="hold" nodeType="withEffect">
                                  <p:stCondLst>
                                    <p:cond delay="0"/>
                                  </p:stCondLst>
                                  <p:childTnLst>
                                    <p:set>
                                      <p:cBhvr>
                                        <p:cTn id="132" dur="1" fill="hold">
                                          <p:stCondLst>
                                            <p:cond delay="0"/>
                                          </p:stCondLst>
                                        </p:cTn>
                                        <p:tgtEl>
                                          <p:spTgt spid="21"/>
                                        </p:tgtEl>
                                        <p:attrNameLst>
                                          <p:attrName>style.visibility</p:attrName>
                                        </p:attrNameLst>
                                      </p:cBhvr>
                                      <p:to>
                                        <p:strVal val="visible"/>
                                      </p:to>
                                    </p:set>
                                    <p:animEffect transition="in" filter="wipe(left)">
                                      <p:cBhvr>
                                        <p:cTn id="133" dur="500"/>
                                        <p:tgtEl>
                                          <p:spTgt spid="21"/>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62"/>
                                        </p:tgtEl>
                                        <p:attrNameLst>
                                          <p:attrName>style.visibility</p:attrName>
                                        </p:attrNameLst>
                                      </p:cBhvr>
                                      <p:to>
                                        <p:strVal val="visible"/>
                                      </p:to>
                                    </p:set>
                                    <p:animEffect transition="in" filter="fade">
                                      <p:cBhvr>
                                        <p:cTn id="138" dur="500"/>
                                        <p:tgtEl>
                                          <p:spTgt spid="62"/>
                                        </p:tgtEl>
                                      </p:cBhvr>
                                    </p:animEffec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15" grpId="0"/>
      <p:bldP spid="15" grpId="1"/>
      <p:bldP spid="25" grpId="0"/>
      <p:bldP spid="25" grpId="1"/>
      <p:bldP spid="30" grpId="0"/>
      <p:bldP spid="30" grpId="1"/>
      <p:bldP spid="41" grpId="0"/>
      <p:bldP spid="60" grpId="0"/>
      <p:bldP spid="137" grpId="0"/>
      <p:bldP spid="138" grpId="0"/>
      <p:bldP spid="139" grpId="0"/>
      <p:bldP spid="144" grpId="0"/>
      <p:bldP spid="62"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La clase </a:t>
            </a:r>
            <a:r>
              <a:rPr lang="es-ES" dirty="0" err="1"/>
              <a:t>Random</a:t>
            </a:r>
            <a:endParaRPr lang="es-ES" dirty="0"/>
          </a:p>
        </p:txBody>
      </p:sp>
      <p:sp>
        <p:nvSpPr>
          <p:cNvPr id="3" name="2 Marcador de contenido"/>
          <p:cNvSpPr>
            <a:spLocks noGrp="1"/>
          </p:cNvSpPr>
          <p:nvPr>
            <p:ph idx="1"/>
          </p:nvPr>
        </p:nvSpPr>
        <p:spPr/>
        <p:txBody>
          <a:bodyPr/>
          <a:lstStyle/>
          <a:p>
            <a:r>
              <a:rPr lang="es-ES" dirty="0" err="1"/>
              <a:t>Math.random</a:t>
            </a:r>
            <a:endParaRPr lang="es-ES" dirty="0"/>
          </a:p>
          <a:p>
            <a:pPr lvl="1"/>
            <a:r>
              <a:rPr lang="es-ES" dirty="0"/>
              <a:t>La llamada a </a:t>
            </a:r>
            <a:r>
              <a:rPr lang="es-ES" dirty="0" err="1"/>
              <a:t>Math.random</a:t>
            </a:r>
            <a:r>
              <a:rPr lang="es-ES" dirty="0"/>
              <a:t>() nos devuelve un número aleatorio entre 0.0 y 1.0. Esto nos vale en muchas aplicaciones (Por ejemplo, la tirada de un dado). Para simular la tirada de un dado haríamos lo siguiente:</a:t>
            </a:r>
          </a:p>
          <a:p>
            <a:endParaRPr lang="es-ES" dirty="0"/>
          </a:p>
          <a:p>
            <a:endParaRPr lang="es-ES" dirty="0"/>
          </a:p>
          <a:p>
            <a:r>
              <a:rPr lang="es-ES" dirty="0"/>
              <a:t>Clase </a:t>
            </a:r>
            <a:r>
              <a:rPr lang="es-ES" dirty="0" err="1"/>
              <a:t>java.util.Random</a:t>
            </a:r>
            <a:endParaRPr lang="es-ES" dirty="0"/>
          </a:p>
          <a:p>
            <a:pPr lvl="1"/>
            <a:r>
              <a:rPr lang="es-ES" dirty="0"/>
              <a:t>En este caso debemos instanciar la clase, pero en el ejemplo del dado será mucho más sencillo obtener la tirada:</a:t>
            </a:r>
          </a:p>
        </p:txBody>
      </p:sp>
      <p:pic>
        <p:nvPicPr>
          <p:cNvPr id="1027" name="Picture 3"/>
          <p:cNvPicPr>
            <a:picLocks noChangeAspect="1" noChangeArrowheads="1"/>
          </p:cNvPicPr>
          <p:nvPr/>
        </p:nvPicPr>
        <p:blipFill>
          <a:blip r:embed="rId2" cstate="print"/>
          <a:srcRect l="34504" t="63781" r="41145" b="29328"/>
          <a:stretch>
            <a:fillRect/>
          </a:stretch>
        </p:blipFill>
        <p:spPr bwMode="auto">
          <a:xfrm>
            <a:off x="881633" y="5153517"/>
            <a:ext cx="3481958" cy="553948"/>
          </a:xfrm>
          <a:prstGeom prst="rect">
            <a:avLst/>
          </a:prstGeom>
          <a:noFill/>
          <a:ln w="9525">
            <a:noFill/>
            <a:miter lim="800000"/>
            <a:headEnd/>
            <a:tailEnd/>
          </a:ln>
        </p:spPr>
      </p:pic>
      <p:pic>
        <p:nvPicPr>
          <p:cNvPr id="4" name="Imagen 3"/>
          <p:cNvPicPr>
            <a:picLocks noChangeAspect="1"/>
          </p:cNvPicPr>
          <p:nvPr/>
        </p:nvPicPr>
        <p:blipFill rotWithShape="1">
          <a:blip r:embed="rId3"/>
          <a:srcRect l="27556" t="28301" r="43700" b="68899"/>
          <a:stretch/>
        </p:blipFill>
        <p:spPr>
          <a:xfrm>
            <a:off x="1835696" y="3089730"/>
            <a:ext cx="5256584" cy="288032"/>
          </a:xfrm>
          <a:prstGeom prst="rect">
            <a:avLst/>
          </a:prstGeom>
        </p:spPr>
      </p:pic>
      <p:pic>
        <p:nvPicPr>
          <p:cNvPr id="5" name="Imagen 4"/>
          <p:cNvPicPr>
            <a:picLocks noChangeAspect="1"/>
          </p:cNvPicPr>
          <p:nvPr/>
        </p:nvPicPr>
        <p:blipFill rotWithShape="1">
          <a:blip r:embed="rId4"/>
          <a:srcRect b="35201"/>
          <a:stretch/>
        </p:blipFill>
        <p:spPr>
          <a:xfrm>
            <a:off x="4788024" y="5153500"/>
            <a:ext cx="3500145" cy="552009"/>
          </a:xfrm>
          <a:prstGeom prst="rect">
            <a:avLst/>
          </a:prstGeom>
        </p:spPr>
      </p:pic>
    </p:spTree>
    <p:extLst>
      <p:ext uri="{BB962C8B-B14F-4D97-AF65-F5344CB8AC3E}">
        <p14:creationId xmlns:p14="http://schemas.microsoft.com/office/powerpoint/2010/main" val="136082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ox(in)">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ox(in)">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027"/>
                                        </p:tgtEl>
                                        <p:attrNameLst>
                                          <p:attrName>style.visibility</p:attrName>
                                        </p:attrNameLst>
                                      </p:cBhvr>
                                      <p:to>
                                        <p:strVal val="visible"/>
                                      </p:to>
                                    </p:set>
                                    <p:animEffect transition="in" filter="box(in)">
                                      <p:cBhvr>
                                        <p:cTn id="22"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 Grupo"/>
          <p:cNvGrpSpPr/>
          <p:nvPr/>
        </p:nvGrpSpPr>
        <p:grpSpPr>
          <a:xfrm>
            <a:off x="2267744" y="1196752"/>
            <a:ext cx="4680520" cy="2240216"/>
            <a:chOff x="1907704" y="1639052"/>
            <a:chExt cx="4680520" cy="2240216"/>
          </a:xfrm>
        </p:grpSpPr>
        <p:sp>
          <p:nvSpPr>
            <p:cNvPr id="10" name="9 Rectángulo redondeado"/>
            <p:cNvSpPr/>
            <p:nvPr/>
          </p:nvSpPr>
          <p:spPr bwMode="auto">
            <a:xfrm>
              <a:off x="1907704" y="2008384"/>
              <a:ext cx="4680520" cy="1870884"/>
            </a:xfrm>
            <a:prstGeom prst="round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4" name="43 Rectángulo"/>
            <p:cNvSpPr/>
            <p:nvPr/>
          </p:nvSpPr>
          <p:spPr>
            <a:xfrm>
              <a:off x="3505744" y="1639052"/>
              <a:ext cx="1484439" cy="369332"/>
            </a:xfrm>
            <a:prstGeom prst="rect">
              <a:avLst/>
            </a:prstGeom>
          </p:spPr>
          <p:txBody>
            <a:bodyPr wrap="square">
              <a:spAutoFit/>
            </a:bodyPr>
            <a:lstStyle/>
            <a:p>
              <a:pPr algn="ctr"/>
              <a:r>
                <a:rPr lang="es-ES" sz="1800" dirty="0" err="1">
                  <a:solidFill>
                    <a:srgbClr val="009900"/>
                  </a:solidFill>
                </a:rPr>
                <a:t>matematicas</a:t>
              </a:r>
              <a:endParaRPr lang="es-ES" sz="1800" dirty="0">
                <a:solidFill>
                  <a:srgbClr val="009900"/>
                </a:solidFill>
              </a:endParaRPr>
            </a:p>
          </p:txBody>
        </p:sp>
      </p:grpSp>
      <p:grpSp>
        <p:nvGrpSpPr>
          <p:cNvPr id="3" name="2 Grupo"/>
          <p:cNvGrpSpPr/>
          <p:nvPr/>
        </p:nvGrpSpPr>
        <p:grpSpPr>
          <a:xfrm>
            <a:off x="2411760" y="1522032"/>
            <a:ext cx="4320480" cy="1742094"/>
            <a:chOff x="2051720" y="1964332"/>
            <a:chExt cx="4320480" cy="1742094"/>
          </a:xfrm>
        </p:grpSpPr>
        <p:sp>
          <p:nvSpPr>
            <p:cNvPr id="13" name="12 Rectángulo redondeado"/>
            <p:cNvSpPr/>
            <p:nvPr/>
          </p:nvSpPr>
          <p:spPr bwMode="auto">
            <a:xfrm>
              <a:off x="4383705" y="2321986"/>
              <a:ext cx="1988495" cy="1384440"/>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dirty="0">
                <a:ln>
                  <a:noFill/>
                </a:ln>
                <a:solidFill>
                  <a:schemeClr val="tx1"/>
                </a:solidFill>
                <a:effectLst/>
                <a:latin typeface="Arial" charset="0"/>
              </a:endParaRPr>
            </a:p>
          </p:txBody>
        </p:sp>
        <p:sp>
          <p:nvSpPr>
            <p:cNvPr id="14" name="13 Rectángulo redondeado"/>
            <p:cNvSpPr/>
            <p:nvPr/>
          </p:nvSpPr>
          <p:spPr bwMode="auto">
            <a:xfrm>
              <a:off x="2051720" y="2318134"/>
              <a:ext cx="1988495" cy="1384440"/>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dirty="0">
                <a:ln>
                  <a:noFill/>
                </a:ln>
                <a:solidFill>
                  <a:schemeClr val="tx1"/>
                </a:solidFill>
                <a:effectLst/>
                <a:latin typeface="Arial" charset="0"/>
              </a:endParaRPr>
            </a:p>
          </p:txBody>
        </p:sp>
        <p:sp>
          <p:nvSpPr>
            <p:cNvPr id="17" name="16 Rectángulo"/>
            <p:cNvSpPr/>
            <p:nvPr/>
          </p:nvSpPr>
          <p:spPr>
            <a:xfrm>
              <a:off x="2303748" y="1964332"/>
              <a:ext cx="1484439" cy="369332"/>
            </a:xfrm>
            <a:prstGeom prst="rect">
              <a:avLst/>
            </a:prstGeom>
          </p:spPr>
          <p:txBody>
            <a:bodyPr wrap="square">
              <a:spAutoFit/>
            </a:bodyPr>
            <a:lstStyle/>
            <a:p>
              <a:pPr algn="ctr"/>
              <a:r>
                <a:rPr lang="es-ES" sz="1800" dirty="0" err="1">
                  <a:solidFill>
                    <a:srgbClr val="009900"/>
                  </a:solidFill>
                </a:rPr>
                <a:t>geometria</a:t>
              </a:r>
              <a:endParaRPr lang="es-ES" sz="1800" dirty="0">
                <a:solidFill>
                  <a:srgbClr val="009900"/>
                </a:solidFill>
              </a:endParaRPr>
            </a:p>
          </p:txBody>
        </p:sp>
        <p:sp>
          <p:nvSpPr>
            <p:cNvPr id="18" name="17 Rectángulo"/>
            <p:cNvSpPr/>
            <p:nvPr/>
          </p:nvSpPr>
          <p:spPr>
            <a:xfrm>
              <a:off x="4635733" y="1964332"/>
              <a:ext cx="1484439" cy="369332"/>
            </a:xfrm>
            <a:prstGeom prst="rect">
              <a:avLst/>
            </a:prstGeom>
          </p:spPr>
          <p:txBody>
            <a:bodyPr wrap="square">
              <a:spAutoFit/>
            </a:bodyPr>
            <a:lstStyle/>
            <a:p>
              <a:pPr algn="ctr"/>
              <a:r>
                <a:rPr lang="es-ES" sz="1800" dirty="0">
                  <a:solidFill>
                    <a:srgbClr val="009900"/>
                  </a:solidFill>
                </a:rPr>
                <a:t>calculo</a:t>
              </a:r>
            </a:p>
          </p:txBody>
        </p:sp>
      </p:grpSp>
      <p:sp>
        <p:nvSpPr>
          <p:cNvPr id="19" name="Rectangle 2"/>
          <p:cNvSpPr>
            <a:spLocks noGrp="1" noChangeArrowheads="1"/>
          </p:cNvSpPr>
          <p:nvPr>
            <p:ph type="title"/>
          </p:nvPr>
        </p:nvSpPr>
        <p:spPr>
          <a:xfrm>
            <a:off x="911279" y="44624"/>
            <a:ext cx="7392988" cy="563563"/>
          </a:xfrm>
        </p:spPr>
        <p:txBody>
          <a:bodyPr/>
          <a:lstStyle/>
          <a:p>
            <a:r>
              <a:rPr lang="en-US" dirty="0" err="1"/>
              <a:t>Paquetes</a:t>
            </a:r>
            <a:r>
              <a:rPr lang="en-US" dirty="0"/>
              <a:t> </a:t>
            </a:r>
            <a:r>
              <a:rPr lang="en-US" dirty="0" err="1"/>
              <a:t>propios</a:t>
            </a:r>
            <a:endParaRPr lang="en-US" dirty="0"/>
          </a:p>
        </p:txBody>
      </p:sp>
      <p:sp>
        <p:nvSpPr>
          <p:cNvPr id="20" name="19 CuadroTexto"/>
          <p:cNvSpPr txBox="1"/>
          <p:nvPr/>
        </p:nvSpPr>
        <p:spPr>
          <a:xfrm>
            <a:off x="935365" y="836712"/>
            <a:ext cx="7344816" cy="384721"/>
          </a:xfrm>
          <a:prstGeom prst="rect">
            <a:avLst/>
          </a:prstGeom>
          <a:noFill/>
        </p:spPr>
        <p:txBody>
          <a:bodyPr wrap="square" rtlCol="0">
            <a:spAutoFit/>
          </a:bodyPr>
          <a:lstStyle/>
          <a:p>
            <a:pPr algn="ctr"/>
            <a:r>
              <a:rPr lang="es-ES" b="1" dirty="0"/>
              <a:t>Podemos agrupar nuestras propias clases en Paquetes.</a:t>
            </a:r>
          </a:p>
        </p:txBody>
      </p:sp>
      <p:grpSp>
        <p:nvGrpSpPr>
          <p:cNvPr id="4" name="1 Grupo"/>
          <p:cNvGrpSpPr/>
          <p:nvPr/>
        </p:nvGrpSpPr>
        <p:grpSpPr>
          <a:xfrm>
            <a:off x="2342075" y="1891364"/>
            <a:ext cx="4246149" cy="1239352"/>
            <a:chOff x="1982035" y="2333664"/>
            <a:chExt cx="4246149" cy="1239352"/>
          </a:xfrm>
        </p:grpSpPr>
        <p:sp>
          <p:nvSpPr>
            <p:cNvPr id="24" name="23 Elipse"/>
            <p:cNvSpPr/>
            <p:nvPr/>
          </p:nvSpPr>
          <p:spPr bwMode="auto">
            <a:xfrm>
              <a:off x="3242331" y="2665881"/>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7" name="26 Elipse"/>
            <p:cNvSpPr/>
            <p:nvPr/>
          </p:nvSpPr>
          <p:spPr bwMode="auto">
            <a:xfrm>
              <a:off x="2322639" y="3263199"/>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9" name="28 Elipse"/>
            <p:cNvSpPr/>
            <p:nvPr/>
          </p:nvSpPr>
          <p:spPr bwMode="auto">
            <a:xfrm>
              <a:off x="3229768" y="3215572"/>
              <a:ext cx="260303" cy="270266"/>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0" name="29 Elipse"/>
            <p:cNvSpPr/>
            <p:nvPr/>
          </p:nvSpPr>
          <p:spPr bwMode="auto">
            <a:xfrm>
              <a:off x="5521968" y="2613021"/>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2" name="31 Elipse"/>
            <p:cNvSpPr/>
            <p:nvPr/>
          </p:nvSpPr>
          <p:spPr bwMode="auto">
            <a:xfrm>
              <a:off x="4766396" y="2922386"/>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4" name="33 Elipse"/>
            <p:cNvSpPr/>
            <p:nvPr/>
          </p:nvSpPr>
          <p:spPr bwMode="auto">
            <a:xfrm>
              <a:off x="5459489" y="3302750"/>
              <a:ext cx="260303" cy="270266"/>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2" name="51 Rectángulo"/>
            <p:cNvSpPr/>
            <p:nvPr/>
          </p:nvSpPr>
          <p:spPr>
            <a:xfrm>
              <a:off x="2836618" y="2385534"/>
              <a:ext cx="1015302" cy="307777"/>
            </a:xfrm>
            <a:prstGeom prst="rect">
              <a:avLst/>
            </a:prstGeom>
          </p:spPr>
          <p:txBody>
            <a:bodyPr wrap="square">
              <a:spAutoFit/>
            </a:bodyPr>
            <a:lstStyle/>
            <a:p>
              <a:pPr algn="ctr"/>
              <a:r>
                <a:rPr lang="es-ES" sz="1400" dirty="0">
                  <a:solidFill>
                    <a:srgbClr val="0070C0"/>
                  </a:solidFill>
                </a:rPr>
                <a:t>Cuadrado</a:t>
              </a:r>
            </a:p>
          </p:txBody>
        </p:sp>
        <p:sp>
          <p:nvSpPr>
            <p:cNvPr id="53" name="52 Rectángulo"/>
            <p:cNvSpPr/>
            <p:nvPr/>
          </p:nvSpPr>
          <p:spPr>
            <a:xfrm>
              <a:off x="1982035" y="2922386"/>
              <a:ext cx="1015302" cy="307777"/>
            </a:xfrm>
            <a:prstGeom prst="rect">
              <a:avLst/>
            </a:prstGeom>
          </p:spPr>
          <p:txBody>
            <a:bodyPr wrap="square">
              <a:spAutoFit/>
            </a:bodyPr>
            <a:lstStyle/>
            <a:p>
              <a:pPr algn="ctr"/>
              <a:r>
                <a:rPr lang="es-ES" sz="1400" dirty="0">
                  <a:solidFill>
                    <a:srgbClr val="0070C0"/>
                  </a:solidFill>
                </a:rPr>
                <a:t>Circulo</a:t>
              </a:r>
            </a:p>
          </p:txBody>
        </p:sp>
        <p:sp>
          <p:nvSpPr>
            <p:cNvPr id="54" name="53 Rectángulo"/>
            <p:cNvSpPr/>
            <p:nvPr/>
          </p:nvSpPr>
          <p:spPr>
            <a:xfrm>
              <a:off x="2864831" y="2922385"/>
              <a:ext cx="1015302" cy="307777"/>
            </a:xfrm>
            <a:prstGeom prst="rect">
              <a:avLst/>
            </a:prstGeom>
          </p:spPr>
          <p:txBody>
            <a:bodyPr wrap="square">
              <a:spAutoFit/>
            </a:bodyPr>
            <a:lstStyle/>
            <a:p>
              <a:pPr algn="ctr"/>
              <a:r>
                <a:rPr lang="es-ES" sz="1400" dirty="0">
                  <a:solidFill>
                    <a:srgbClr val="0070C0"/>
                  </a:solidFill>
                </a:rPr>
                <a:t>Triangulo</a:t>
              </a:r>
            </a:p>
          </p:txBody>
        </p:sp>
        <p:sp>
          <p:nvSpPr>
            <p:cNvPr id="55" name="54 Rectángulo"/>
            <p:cNvSpPr/>
            <p:nvPr/>
          </p:nvSpPr>
          <p:spPr>
            <a:xfrm>
              <a:off x="5095112" y="2333664"/>
              <a:ext cx="1133072" cy="307777"/>
            </a:xfrm>
            <a:prstGeom prst="rect">
              <a:avLst/>
            </a:prstGeom>
          </p:spPr>
          <p:txBody>
            <a:bodyPr wrap="square">
              <a:spAutoFit/>
            </a:bodyPr>
            <a:lstStyle/>
            <a:p>
              <a:pPr algn="ctr"/>
              <a:r>
                <a:rPr lang="es-ES" sz="1400" dirty="0">
                  <a:solidFill>
                    <a:srgbClr val="0070C0"/>
                  </a:solidFill>
                </a:rPr>
                <a:t>Racional</a:t>
              </a:r>
            </a:p>
          </p:txBody>
        </p:sp>
        <p:sp>
          <p:nvSpPr>
            <p:cNvPr id="56" name="55 Rectángulo"/>
            <p:cNvSpPr/>
            <p:nvPr/>
          </p:nvSpPr>
          <p:spPr>
            <a:xfrm>
              <a:off x="5023104" y="2993226"/>
              <a:ext cx="1133072" cy="307777"/>
            </a:xfrm>
            <a:prstGeom prst="rect">
              <a:avLst/>
            </a:prstGeom>
          </p:spPr>
          <p:txBody>
            <a:bodyPr wrap="square">
              <a:spAutoFit/>
            </a:bodyPr>
            <a:lstStyle/>
            <a:p>
              <a:pPr algn="ctr"/>
              <a:r>
                <a:rPr lang="es-ES" sz="1400" dirty="0" err="1">
                  <a:solidFill>
                    <a:srgbClr val="0070C0"/>
                  </a:solidFill>
                </a:rPr>
                <a:t>Ecuacion</a:t>
              </a:r>
              <a:endParaRPr lang="es-ES" sz="1400" dirty="0">
                <a:solidFill>
                  <a:srgbClr val="0070C0"/>
                </a:solidFill>
              </a:endParaRPr>
            </a:p>
          </p:txBody>
        </p:sp>
        <p:sp>
          <p:nvSpPr>
            <p:cNvPr id="57" name="56 Rectángulo"/>
            <p:cNvSpPr/>
            <p:nvPr/>
          </p:nvSpPr>
          <p:spPr>
            <a:xfrm>
              <a:off x="4325768" y="2614609"/>
              <a:ext cx="1133072" cy="307777"/>
            </a:xfrm>
            <a:prstGeom prst="rect">
              <a:avLst/>
            </a:prstGeom>
          </p:spPr>
          <p:txBody>
            <a:bodyPr wrap="square">
              <a:spAutoFit/>
            </a:bodyPr>
            <a:lstStyle/>
            <a:p>
              <a:pPr algn="ctr"/>
              <a:r>
                <a:rPr lang="es-ES" sz="1400" dirty="0">
                  <a:solidFill>
                    <a:srgbClr val="0070C0"/>
                  </a:solidFill>
                </a:rPr>
                <a:t>Integral</a:t>
              </a:r>
            </a:p>
          </p:txBody>
        </p:sp>
      </p:grpSp>
      <p:grpSp>
        <p:nvGrpSpPr>
          <p:cNvPr id="5" name="6 Grupo"/>
          <p:cNvGrpSpPr/>
          <p:nvPr/>
        </p:nvGrpSpPr>
        <p:grpSpPr>
          <a:xfrm>
            <a:off x="1464468" y="3573016"/>
            <a:ext cx="2747492" cy="2791562"/>
            <a:chOff x="1464468" y="3573016"/>
            <a:chExt cx="2747492" cy="2791562"/>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491741" y="4005064"/>
              <a:ext cx="2650554" cy="23595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1" name="30 Rectángulo"/>
            <p:cNvSpPr/>
            <p:nvPr/>
          </p:nvSpPr>
          <p:spPr>
            <a:xfrm>
              <a:off x="1464468" y="3573016"/>
              <a:ext cx="2747492" cy="369332"/>
            </a:xfrm>
            <a:prstGeom prst="rect">
              <a:avLst/>
            </a:prstGeom>
          </p:spPr>
          <p:txBody>
            <a:bodyPr wrap="square">
              <a:spAutoFit/>
            </a:bodyPr>
            <a:lstStyle/>
            <a:p>
              <a:pPr algn="ctr"/>
              <a:endParaRPr lang="es-ES" sz="1800" dirty="0"/>
            </a:p>
          </p:txBody>
        </p:sp>
      </p:grpSp>
      <p:grpSp>
        <p:nvGrpSpPr>
          <p:cNvPr id="6" name="7 Grupo"/>
          <p:cNvGrpSpPr/>
          <p:nvPr/>
        </p:nvGrpSpPr>
        <p:grpSpPr>
          <a:xfrm>
            <a:off x="5148149" y="4007614"/>
            <a:ext cx="2747492" cy="2110128"/>
            <a:chOff x="5148149" y="4007614"/>
            <a:chExt cx="2747492" cy="2110128"/>
          </a:xfrm>
        </p:grpSpPr>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541223" y="4492810"/>
              <a:ext cx="1961344" cy="16249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32 Rectángulo"/>
            <p:cNvSpPr/>
            <p:nvPr/>
          </p:nvSpPr>
          <p:spPr>
            <a:xfrm>
              <a:off x="5148149" y="4007614"/>
              <a:ext cx="2747492" cy="369332"/>
            </a:xfrm>
            <a:prstGeom prst="rect">
              <a:avLst/>
            </a:prstGeom>
          </p:spPr>
          <p:txBody>
            <a:bodyPr wrap="square">
              <a:spAutoFit/>
            </a:bodyPr>
            <a:lstStyle/>
            <a:p>
              <a:pPr algn="ctr"/>
              <a:r>
                <a:rPr lang="es-ES" sz="1800" dirty="0"/>
                <a:t>Estructura carpetas</a:t>
              </a:r>
            </a:p>
          </p:txBody>
        </p:sp>
      </p:grpSp>
    </p:spTree>
    <p:extLst>
      <p:ext uri="{BB962C8B-B14F-4D97-AF65-F5344CB8AC3E}">
        <p14:creationId xmlns:p14="http://schemas.microsoft.com/office/powerpoint/2010/main" val="66172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9382B7-4030-B649-BAF7-E6F9990E1840}"/>
              </a:ext>
            </a:extLst>
          </p:cNvPr>
          <p:cNvSpPr>
            <a:spLocks noGrp="1"/>
          </p:cNvSpPr>
          <p:nvPr>
            <p:ph type="title"/>
          </p:nvPr>
        </p:nvSpPr>
        <p:spPr/>
        <p:txBody>
          <a:bodyPr/>
          <a:lstStyle/>
          <a:p>
            <a:r>
              <a:rPr lang="es-ES" dirty="0" err="1"/>
              <a:t>Best</a:t>
            </a:r>
            <a:r>
              <a:rPr lang="es-ES" dirty="0"/>
              <a:t> </a:t>
            </a:r>
            <a:r>
              <a:rPr lang="es-ES" dirty="0" err="1"/>
              <a:t>Practices</a:t>
            </a:r>
            <a:endParaRPr lang="es-ES" dirty="0"/>
          </a:p>
        </p:txBody>
      </p:sp>
      <p:sp>
        <p:nvSpPr>
          <p:cNvPr id="3" name="Marcador de contenido 2">
            <a:extLst>
              <a:ext uri="{FF2B5EF4-FFF2-40B4-BE49-F238E27FC236}">
                <a16:creationId xmlns:a16="http://schemas.microsoft.com/office/drawing/2014/main" id="{738FB46B-F841-8F43-91BD-4F3CA5516533}"/>
              </a:ext>
            </a:extLst>
          </p:cNvPr>
          <p:cNvSpPr>
            <a:spLocks noGrp="1"/>
          </p:cNvSpPr>
          <p:nvPr>
            <p:ph idx="1"/>
          </p:nvPr>
        </p:nvSpPr>
        <p:spPr/>
        <p:txBody>
          <a:bodyPr/>
          <a:lstStyle/>
          <a:p>
            <a:r>
              <a:rPr lang="es-ES" dirty="0"/>
              <a:t>La mayoría de las clases que se crean son públicas. </a:t>
            </a:r>
          </a:p>
          <a:p>
            <a:r>
              <a:rPr lang="es-ES" dirty="0"/>
              <a:t>Cada fichero .java tendrá́ solamente una clase pública, con el mismo nombre del fichero. </a:t>
            </a:r>
          </a:p>
          <a:p>
            <a:endParaRPr lang="es-ES" dirty="0"/>
          </a:p>
        </p:txBody>
      </p:sp>
      <p:pic>
        <p:nvPicPr>
          <p:cNvPr id="6" name="Imagen 5">
            <a:extLst>
              <a:ext uri="{FF2B5EF4-FFF2-40B4-BE49-F238E27FC236}">
                <a16:creationId xmlns:a16="http://schemas.microsoft.com/office/drawing/2014/main" id="{0E6EA6A0-A42C-C74A-8981-70AA0EAA7D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9562" y="3700462"/>
            <a:ext cx="5417839" cy="1966590"/>
          </a:xfrm>
          <a:prstGeom prst="rect">
            <a:avLst/>
          </a:prstGeom>
        </p:spPr>
      </p:pic>
    </p:spTree>
    <p:extLst>
      <p:ext uri="{BB962C8B-B14F-4D97-AF65-F5344CB8AC3E}">
        <p14:creationId xmlns:p14="http://schemas.microsoft.com/office/powerpoint/2010/main" val="14843023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9382B7-4030-B649-BAF7-E6F9990E1840}"/>
              </a:ext>
            </a:extLst>
          </p:cNvPr>
          <p:cNvSpPr>
            <a:spLocks noGrp="1"/>
          </p:cNvSpPr>
          <p:nvPr>
            <p:ph type="title"/>
          </p:nvPr>
        </p:nvSpPr>
        <p:spPr/>
        <p:txBody>
          <a:bodyPr/>
          <a:lstStyle/>
          <a:p>
            <a:r>
              <a:rPr lang="es-ES" dirty="0" err="1"/>
              <a:t>Best</a:t>
            </a:r>
            <a:r>
              <a:rPr lang="es-ES" dirty="0"/>
              <a:t> </a:t>
            </a:r>
            <a:r>
              <a:rPr lang="es-ES" dirty="0" err="1"/>
              <a:t>Practices</a:t>
            </a:r>
            <a:r>
              <a:rPr lang="es-ES" dirty="0"/>
              <a:t> (II)</a:t>
            </a:r>
          </a:p>
        </p:txBody>
      </p:sp>
      <p:sp>
        <p:nvSpPr>
          <p:cNvPr id="3" name="Marcador de contenido 2">
            <a:extLst>
              <a:ext uri="{FF2B5EF4-FFF2-40B4-BE49-F238E27FC236}">
                <a16:creationId xmlns:a16="http://schemas.microsoft.com/office/drawing/2014/main" id="{738FB46B-F841-8F43-91BD-4F3CA5516533}"/>
              </a:ext>
            </a:extLst>
          </p:cNvPr>
          <p:cNvSpPr>
            <a:spLocks noGrp="1"/>
          </p:cNvSpPr>
          <p:nvPr>
            <p:ph idx="1"/>
          </p:nvPr>
        </p:nvSpPr>
        <p:spPr/>
        <p:txBody>
          <a:bodyPr/>
          <a:lstStyle/>
          <a:p>
            <a:r>
              <a:rPr lang="es-ES" dirty="0"/>
              <a:t>La mayoría de los atributos de una clase serán privados. </a:t>
            </a:r>
          </a:p>
          <a:p>
            <a:r>
              <a:rPr lang="es-ES" dirty="0"/>
              <a:t>Solamente algunas constantes, o casos muy particulares, tendrán otra modificador de acceso. </a:t>
            </a:r>
          </a:p>
          <a:p>
            <a:endParaRPr lang="es-ES" dirty="0"/>
          </a:p>
        </p:txBody>
      </p:sp>
      <p:pic>
        <p:nvPicPr>
          <p:cNvPr id="7" name="Imagen 6">
            <a:extLst>
              <a:ext uri="{FF2B5EF4-FFF2-40B4-BE49-F238E27FC236}">
                <a16:creationId xmlns:a16="http://schemas.microsoft.com/office/drawing/2014/main" id="{995A2533-0D81-4848-A846-A358C6BAF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364" y="3002711"/>
            <a:ext cx="6399271" cy="2269608"/>
          </a:xfrm>
          <a:prstGeom prst="rect">
            <a:avLst/>
          </a:prstGeom>
        </p:spPr>
      </p:pic>
    </p:spTree>
    <p:extLst>
      <p:ext uri="{BB962C8B-B14F-4D97-AF65-F5344CB8AC3E}">
        <p14:creationId xmlns:p14="http://schemas.microsoft.com/office/powerpoint/2010/main" val="17004826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9382B7-4030-B649-BAF7-E6F9990E1840}"/>
              </a:ext>
            </a:extLst>
          </p:cNvPr>
          <p:cNvSpPr>
            <a:spLocks noGrp="1"/>
          </p:cNvSpPr>
          <p:nvPr>
            <p:ph type="title"/>
          </p:nvPr>
        </p:nvSpPr>
        <p:spPr/>
        <p:txBody>
          <a:bodyPr/>
          <a:lstStyle/>
          <a:p>
            <a:r>
              <a:rPr lang="es-ES" dirty="0" err="1"/>
              <a:t>Best</a:t>
            </a:r>
            <a:r>
              <a:rPr lang="es-ES" dirty="0"/>
              <a:t> </a:t>
            </a:r>
            <a:r>
              <a:rPr lang="es-ES" dirty="0" err="1"/>
              <a:t>Practices</a:t>
            </a:r>
            <a:r>
              <a:rPr lang="es-ES" dirty="0"/>
              <a:t> (III)</a:t>
            </a:r>
          </a:p>
        </p:txBody>
      </p:sp>
      <p:sp>
        <p:nvSpPr>
          <p:cNvPr id="3" name="Marcador de contenido 2">
            <a:extLst>
              <a:ext uri="{FF2B5EF4-FFF2-40B4-BE49-F238E27FC236}">
                <a16:creationId xmlns:a16="http://schemas.microsoft.com/office/drawing/2014/main" id="{738FB46B-F841-8F43-91BD-4F3CA5516533}"/>
              </a:ext>
            </a:extLst>
          </p:cNvPr>
          <p:cNvSpPr>
            <a:spLocks noGrp="1"/>
          </p:cNvSpPr>
          <p:nvPr>
            <p:ph idx="1"/>
          </p:nvPr>
        </p:nvSpPr>
        <p:spPr/>
        <p:txBody>
          <a:bodyPr/>
          <a:lstStyle/>
          <a:p>
            <a:r>
              <a:rPr lang="es-ES" dirty="0"/>
              <a:t>Si una clase tiene atributos, seguramente tenga métodos públicos. </a:t>
            </a:r>
          </a:p>
          <a:p>
            <a:r>
              <a:rPr lang="es-ES" dirty="0"/>
              <a:t>Los métodos privados son interesantes </a:t>
            </a:r>
            <a:r>
              <a:rPr lang="es-ES"/>
              <a:t>para cálculos </a:t>
            </a:r>
            <a:r>
              <a:rPr lang="es-ES" dirty="0"/>
              <a:t>auxiliares o parciales (solo se pueden invocar desde la propia clase). </a:t>
            </a:r>
          </a:p>
          <a:p>
            <a:endParaRPr lang="es-ES" dirty="0"/>
          </a:p>
        </p:txBody>
      </p:sp>
      <p:pic>
        <p:nvPicPr>
          <p:cNvPr id="6" name="Imagen 5">
            <a:extLst>
              <a:ext uri="{FF2B5EF4-FFF2-40B4-BE49-F238E27FC236}">
                <a16:creationId xmlns:a16="http://schemas.microsoft.com/office/drawing/2014/main" id="{D83B1784-1587-7C41-BFAE-B31358F5F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939" y="3284984"/>
            <a:ext cx="6580310" cy="2123433"/>
          </a:xfrm>
          <a:prstGeom prst="rect">
            <a:avLst/>
          </a:prstGeom>
        </p:spPr>
      </p:pic>
    </p:spTree>
    <p:extLst>
      <p:ext uri="{BB962C8B-B14F-4D97-AF65-F5344CB8AC3E}">
        <p14:creationId xmlns:p14="http://schemas.microsoft.com/office/powerpoint/2010/main" val="59014835"/>
      </p:ext>
    </p:extLst>
  </p:cSld>
  <p:clrMapOvr>
    <a:masterClrMapping/>
  </p:clrMapOvr>
</p:sld>
</file>

<file path=ppt/theme/theme1.xml><?xml version="1.0" encoding="utf-8"?>
<a:theme xmlns:a="http://schemas.openxmlformats.org/drawingml/2006/main" name="cdb2004c019l">
  <a:themeElements>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000066"/>
        </a:dk1>
        <a:lt1>
          <a:srgbClr val="FFFFFF"/>
        </a:lt1>
        <a:dk2>
          <a:srgbClr val="58A252"/>
        </a:dk2>
        <a:lt2>
          <a:srgbClr val="B2B2B2"/>
        </a:lt2>
        <a:accent1>
          <a:srgbClr val="33CCCC"/>
        </a:accent1>
        <a:accent2>
          <a:srgbClr val="0099CC"/>
        </a:accent2>
        <a:accent3>
          <a:srgbClr val="FFFFFF"/>
        </a:accent3>
        <a:accent4>
          <a:srgbClr val="000056"/>
        </a:accent4>
        <a:accent5>
          <a:srgbClr val="ADE2E2"/>
        </a:accent5>
        <a:accent6>
          <a:srgbClr val="008AB9"/>
        </a:accent6>
        <a:hlink>
          <a:srgbClr val="6A9EB0"/>
        </a:hlink>
        <a:folHlink>
          <a:srgbClr val="6666FF"/>
        </a:folHlink>
      </a:clrScheme>
      <a:clrMap bg1="lt1" tx1="dk1" bg2="lt2" tx2="dk2" accent1="accent1" accent2="accent2" accent3="accent3" accent4="accent4" accent5="accent5" accent6="accent6" hlink="hlink" folHlink="folHlink"/>
    </a:extraClrScheme>
    <a:extraClrScheme>
      <a:clrScheme name="sample 2">
        <a:dk1>
          <a:srgbClr val="000066"/>
        </a:dk1>
        <a:lt1>
          <a:srgbClr val="FFFFFF"/>
        </a:lt1>
        <a:dk2>
          <a:srgbClr val="415CB3"/>
        </a:dk2>
        <a:lt2>
          <a:srgbClr val="B2B2B2"/>
        </a:lt2>
        <a:accent1>
          <a:srgbClr val="55AEEB"/>
        </a:accent1>
        <a:accent2>
          <a:srgbClr val="FF9933"/>
        </a:accent2>
        <a:accent3>
          <a:srgbClr val="FFFFFF"/>
        </a:accent3>
        <a:accent4>
          <a:srgbClr val="000056"/>
        </a:accent4>
        <a:accent5>
          <a:srgbClr val="B4D3F3"/>
        </a:accent5>
        <a:accent6>
          <a:srgbClr val="E78A2D"/>
        </a:accent6>
        <a:hlink>
          <a:srgbClr val="4D7AB5"/>
        </a:hlink>
        <a:folHlink>
          <a:srgbClr val="9964A2"/>
        </a:folHlink>
      </a:clrScheme>
      <a:clrMap bg1="lt1" tx1="dk1" bg2="lt2" tx2="dk2" accent1="accent1" accent2="accent2" accent3="accent3" accent4="accent4" accent5="accent5" accent6="accent6" hlink="hlink" folHlink="folHlink"/>
    </a:extraClrScheme>
    <a:extraClrScheme>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cdb2004c019l</Template>
  <TotalTime>2320</TotalTime>
  <Words>2142</Words>
  <Application>Microsoft Office PowerPoint</Application>
  <PresentationFormat>Presentación en pantalla (4:3)</PresentationFormat>
  <Paragraphs>682</Paragraphs>
  <Slides>43</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43</vt:i4>
      </vt:variant>
    </vt:vector>
  </HeadingPairs>
  <TitlesOfParts>
    <vt:vector size="52" baseType="lpstr">
      <vt:lpstr>Arial</vt:lpstr>
      <vt:lpstr>Calibri</vt:lpstr>
      <vt:lpstr>NewsGotT-Regu</vt:lpstr>
      <vt:lpstr>Script MT Bold</vt:lpstr>
      <vt:lpstr>Symbol</vt:lpstr>
      <vt:lpstr>Times New Roman</vt:lpstr>
      <vt:lpstr>Verdana</vt:lpstr>
      <vt:lpstr>Wingdings</vt:lpstr>
      <vt:lpstr>cdb2004c019l</vt:lpstr>
      <vt:lpstr>Utilización de Objetos</vt:lpstr>
      <vt:lpstr>Contenido</vt:lpstr>
      <vt:lpstr>Objetos</vt:lpstr>
      <vt:lpstr>Objetos</vt:lpstr>
      <vt:lpstr>Estructura y Comportamiento</vt:lpstr>
      <vt:lpstr>Clase</vt:lpstr>
      <vt:lpstr>Clase</vt:lpstr>
      <vt:lpstr>Clase vs Objetos</vt:lpstr>
      <vt:lpstr>Paradigma</vt:lpstr>
      <vt:lpstr>Programación Orientada a Objetos</vt:lpstr>
      <vt:lpstr>Resumen de un Objeto</vt:lpstr>
      <vt:lpstr>Métodos Constructores</vt:lpstr>
      <vt:lpstr>Destrucción de objetos y liberación de memoria. </vt:lpstr>
      <vt:lpstr>Métodos estáticos VS no-estáticos</vt:lpstr>
      <vt:lpstr>Ejemplo: TV simple</vt:lpstr>
      <vt:lpstr>Ejemplo: Ascensor</vt:lpstr>
      <vt:lpstr>Enviar un valor a un método</vt:lpstr>
      <vt:lpstr>Método que devuelve un valor</vt:lpstr>
      <vt:lpstr>Clases y Objetos</vt:lpstr>
      <vt:lpstr>Clases y Objetos</vt:lpstr>
      <vt:lpstr>Método main</vt:lpstr>
      <vt:lpstr>Método Simple</vt:lpstr>
      <vt:lpstr>Variables locales de método</vt:lpstr>
      <vt:lpstr>Variables locales del método vs Atributos</vt:lpstr>
      <vt:lpstr>Parámetro Entradas y Argumento</vt:lpstr>
      <vt:lpstr>Varios Parámetros - Argumentos</vt:lpstr>
      <vt:lpstr>Métodos que devuelven un valor</vt:lpstr>
      <vt:lpstr>Parámetros y devolución de valores</vt:lpstr>
      <vt:lpstr>Variables como argumentos</vt:lpstr>
      <vt:lpstr>Uso directo de resultados</vt:lpstr>
      <vt:lpstr>Librerías de objetos</vt:lpstr>
      <vt:lpstr>printf</vt:lpstr>
      <vt:lpstr>Generar un jar en Eclipse</vt:lpstr>
      <vt:lpstr>Uso de Clases Propias</vt:lpstr>
      <vt:lpstr>Uso de Clases Predefinidas</vt:lpstr>
      <vt:lpstr>API de Java</vt:lpstr>
      <vt:lpstr>Cómo referirnos a una clase de la API</vt:lpstr>
      <vt:lpstr>La clase Scanner</vt:lpstr>
      <vt:lpstr>La clase Random</vt:lpstr>
      <vt:lpstr>Paquetes propios</vt:lpstr>
      <vt:lpstr>Best Practices</vt:lpstr>
      <vt:lpstr>Best Practices (II)</vt:lpstr>
      <vt:lpstr>Best Practices (III)</vt:lpstr>
    </vt:vector>
  </TitlesOfParts>
  <Company>RevolucionUnattended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UsuarioAdministrador</dc:creator>
  <cp:lastModifiedBy>Usuario</cp:lastModifiedBy>
  <cp:revision>158</cp:revision>
  <dcterms:created xsi:type="dcterms:W3CDTF">2008-09-25T01:23:28Z</dcterms:created>
  <dcterms:modified xsi:type="dcterms:W3CDTF">2024-09-25T11:58:36Z</dcterms:modified>
</cp:coreProperties>
</file>