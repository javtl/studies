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41"/>
  </p:notesMasterIdLst>
  <p:sldIdLst>
    <p:sldId id="256" r:id="rId2"/>
    <p:sldId id="315" r:id="rId3"/>
    <p:sldId id="356" r:id="rId4"/>
    <p:sldId id="317" r:id="rId5"/>
    <p:sldId id="318" r:id="rId6"/>
    <p:sldId id="319" r:id="rId7"/>
    <p:sldId id="320" r:id="rId8"/>
    <p:sldId id="321" r:id="rId9"/>
    <p:sldId id="322" r:id="rId10"/>
    <p:sldId id="354" r:id="rId11"/>
    <p:sldId id="355" r:id="rId12"/>
    <p:sldId id="353" r:id="rId13"/>
    <p:sldId id="323" r:id="rId14"/>
    <p:sldId id="336" r:id="rId15"/>
    <p:sldId id="346" r:id="rId16"/>
    <p:sldId id="349" r:id="rId17"/>
    <p:sldId id="350" r:id="rId18"/>
    <p:sldId id="351" r:id="rId19"/>
    <p:sldId id="337" r:id="rId20"/>
    <p:sldId id="338" r:id="rId21"/>
    <p:sldId id="324" r:id="rId22"/>
    <p:sldId id="311" r:id="rId23"/>
    <p:sldId id="335" r:id="rId24"/>
    <p:sldId id="325" r:id="rId25"/>
    <p:sldId id="309" r:id="rId26"/>
    <p:sldId id="326" r:id="rId27"/>
    <p:sldId id="327" r:id="rId28"/>
    <p:sldId id="329" r:id="rId29"/>
    <p:sldId id="340" r:id="rId30"/>
    <p:sldId id="303" r:id="rId31"/>
    <p:sldId id="343" r:id="rId32"/>
    <p:sldId id="310" r:id="rId33"/>
    <p:sldId id="331" r:id="rId34"/>
    <p:sldId id="332" r:id="rId35"/>
    <p:sldId id="312" r:id="rId36"/>
    <p:sldId id="313" r:id="rId37"/>
    <p:sldId id="308" r:id="rId38"/>
    <p:sldId id="339" r:id="rId39"/>
    <p:sldId id="334" r:id="rId40"/>
  </p:sldIdLst>
  <p:sldSz cx="9144000" cy="6858000" type="screen4x3"/>
  <p:notesSz cx="6858000" cy="9144000"/>
  <p:custShowLst>
    <p:custShow name="Presentación personalizada 1" id="0">
      <p:sldLst>
        <p:sld r:id="rId2"/>
        <p:sld r:id="rId31"/>
        <p:sld r:id="rId23"/>
      </p:sldLst>
    </p:custShow>
  </p:custShowLst>
  <p:defaultTextStyle>
    <a:defPPr>
      <a:defRPr lang="en-US"/>
    </a:defPPr>
    <a:lvl1pPr algn="l" rtl="0" fontAlgn="base">
      <a:spcBef>
        <a:spcPct val="0"/>
      </a:spcBef>
      <a:spcAft>
        <a:spcPct val="0"/>
      </a:spcAft>
      <a:defRPr sz="1900" kern="1200">
        <a:solidFill>
          <a:schemeClr val="tx1"/>
        </a:solidFill>
        <a:latin typeface="Arial" charset="0"/>
        <a:ea typeface="+mn-ea"/>
        <a:cs typeface="+mn-cs"/>
      </a:defRPr>
    </a:lvl1pPr>
    <a:lvl2pPr marL="457200" algn="l" rtl="0" fontAlgn="base">
      <a:spcBef>
        <a:spcPct val="0"/>
      </a:spcBef>
      <a:spcAft>
        <a:spcPct val="0"/>
      </a:spcAft>
      <a:defRPr sz="1900" kern="1200">
        <a:solidFill>
          <a:schemeClr val="tx1"/>
        </a:solidFill>
        <a:latin typeface="Arial" charset="0"/>
        <a:ea typeface="+mn-ea"/>
        <a:cs typeface="+mn-cs"/>
      </a:defRPr>
    </a:lvl2pPr>
    <a:lvl3pPr marL="914400" algn="l" rtl="0" fontAlgn="base">
      <a:spcBef>
        <a:spcPct val="0"/>
      </a:spcBef>
      <a:spcAft>
        <a:spcPct val="0"/>
      </a:spcAft>
      <a:defRPr sz="1900" kern="1200">
        <a:solidFill>
          <a:schemeClr val="tx1"/>
        </a:solidFill>
        <a:latin typeface="Arial" charset="0"/>
        <a:ea typeface="+mn-ea"/>
        <a:cs typeface="+mn-cs"/>
      </a:defRPr>
    </a:lvl3pPr>
    <a:lvl4pPr marL="1371600" algn="l" rtl="0" fontAlgn="base">
      <a:spcBef>
        <a:spcPct val="0"/>
      </a:spcBef>
      <a:spcAft>
        <a:spcPct val="0"/>
      </a:spcAft>
      <a:defRPr sz="1900" kern="1200">
        <a:solidFill>
          <a:schemeClr val="tx1"/>
        </a:solidFill>
        <a:latin typeface="Arial" charset="0"/>
        <a:ea typeface="+mn-ea"/>
        <a:cs typeface="+mn-cs"/>
      </a:defRPr>
    </a:lvl4pPr>
    <a:lvl5pPr marL="1828800" algn="l" rtl="0" fontAlgn="base">
      <a:spcBef>
        <a:spcPct val="0"/>
      </a:spcBef>
      <a:spcAft>
        <a:spcPct val="0"/>
      </a:spcAft>
      <a:defRPr sz="1900" kern="1200">
        <a:solidFill>
          <a:schemeClr val="tx1"/>
        </a:solidFill>
        <a:latin typeface="Arial" charset="0"/>
        <a:ea typeface="+mn-ea"/>
        <a:cs typeface="+mn-cs"/>
      </a:defRPr>
    </a:lvl5pPr>
    <a:lvl6pPr marL="2286000" algn="l" defTabSz="914400" rtl="0" eaLnBrk="1" latinLnBrk="0" hangingPunct="1">
      <a:defRPr sz="1900" kern="1200">
        <a:solidFill>
          <a:schemeClr val="tx1"/>
        </a:solidFill>
        <a:latin typeface="Arial" charset="0"/>
        <a:ea typeface="+mn-ea"/>
        <a:cs typeface="+mn-cs"/>
      </a:defRPr>
    </a:lvl6pPr>
    <a:lvl7pPr marL="2743200" algn="l" defTabSz="914400" rtl="0" eaLnBrk="1" latinLnBrk="0" hangingPunct="1">
      <a:defRPr sz="1900" kern="1200">
        <a:solidFill>
          <a:schemeClr val="tx1"/>
        </a:solidFill>
        <a:latin typeface="Arial" charset="0"/>
        <a:ea typeface="+mn-ea"/>
        <a:cs typeface="+mn-cs"/>
      </a:defRPr>
    </a:lvl7pPr>
    <a:lvl8pPr marL="3200400" algn="l" defTabSz="914400" rtl="0" eaLnBrk="1" latinLnBrk="0" hangingPunct="1">
      <a:defRPr sz="1900" kern="1200">
        <a:solidFill>
          <a:schemeClr val="tx1"/>
        </a:solidFill>
        <a:latin typeface="Arial" charset="0"/>
        <a:ea typeface="+mn-ea"/>
        <a:cs typeface="+mn-cs"/>
      </a:defRPr>
    </a:lvl8pPr>
    <a:lvl9pPr marL="3657600" algn="l" defTabSz="914400" rtl="0" eaLnBrk="1" latinLnBrk="0" hangingPunct="1">
      <a:defRPr sz="19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6600"/>
    <a:srgbClr val="009900"/>
    <a:srgbClr val="FC9936"/>
    <a:srgbClr val="333333"/>
    <a:srgbClr val="FFFFCC"/>
    <a:srgbClr val="FFFF00"/>
    <a:srgbClr val="FFEDB3"/>
    <a:srgbClr val="FFDC6D"/>
    <a:srgbClr val="FF81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34" autoAdjust="0"/>
    <p:restoredTop sz="94860" autoAdjust="0"/>
  </p:normalViewPr>
  <p:slideViewPr>
    <p:cSldViewPr>
      <p:cViewPr varScale="1">
        <p:scale>
          <a:sx n="82" d="100"/>
          <a:sy n="82" d="100"/>
        </p:scale>
        <p:origin x="1522" y="67"/>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s-ES_tradnl"/>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60469D27-3A80-4AE4-983A-5127F419349B}" type="datetimeFigureOut">
              <a:rPr lang="es-ES_tradnl"/>
              <a:pPr>
                <a:defRPr/>
              </a:pPr>
              <a:t>18/09/2024</a:t>
            </a:fld>
            <a:endParaRPr lang="es-ES_tradnl"/>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ES_tradnl" noProof="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ES_tradnl" noProof="0"/>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s-ES_tradnl"/>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FB2CE7FE-09D1-49CA-91BF-39EACD17411D}" type="slidenum">
              <a:rPr lang="es-ES_tradnl"/>
              <a:pPr>
                <a:defRPr/>
              </a:pPr>
              <a:t>‹Nº›</a:t>
            </a:fld>
            <a:endParaRPr lang="es-ES_tradnl"/>
          </a:p>
        </p:txBody>
      </p:sp>
    </p:spTree>
    <p:extLst>
      <p:ext uri="{BB962C8B-B14F-4D97-AF65-F5344CB8AC3E}">
        <p14:creationId xmlns:p14="http://schemas.microsoft.com/office/powerpoint/2010/main" val="92675530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_tradnl"/>
          </a:p>
        </p:txBody>
      </p:sp>
      <p:sp>
        <p:nvSpPr>
          <p:cNvPr id="13316"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fld id="{D36EE85E-37C0-4958-BA08-E096993B5EBD}" type="slidenum">
              <a:rPr lang="es-ES_tradnl" sz="1200"/>
              <a:pPr eaLnBrk="1" hangingPunct="1"/>
              <a:t>1</a:t>
            </a:fld>
            <a:endParaRPr lang="es-ES_tradnl" sz="1200"/>
          </a:p>
        </p:txBody>
      </p:sp>
    </p:spTree>
    <p:extLst>
      <p:ext uri="{BB962C8B-B14F-4D97-AF65-F5344CB8AC3E}">
        <p14:creationId xmlns:p14="http://schemas.microsoft.com/office/powerpoint/2010/main" val="602963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_tradnl"/>
          </a:p>
        </p:txBody>
      </p:sp>
      <p:sp>
        <p:nvSpPr>
          <p:cNvPr id="14340"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fld id="{5251F6FE-568B-4672-9FC9-1D7818AE2EBA}" type="slidenum">
              <a:rPr lang="es-ES_tradnl" sz="1200" smtClean="0"/>
              <a:pPr eaLnBrk="1" hangingPunct="1"/>
              <a:t>4</a:t>
            </a:fld>
            <a:endParaRPr lang="es-ES_tradnl" sz="1200"/>
          </a:p>
        </p:txBody>
      </p:sp>
    </p:spTree>
    <p:extLst>
      <p:ext uri="{BB962C8B-B14F-4D97-AF65-F5344CB8AC3E}">
        <p14:creationId xmlns:p14="http://schemas.microsoft.com/office/powerpoint/2010/main" val="18784788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_tradnl"/>
          </a:p>
        </p:txBody>
      </p:sp>
      <p:sp>
        <p:nvSpPr>
          <p:cNvPr id="15364"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fld id="{C20380DE-33FC-4C5E-B8CC-854A2193C8F7}" type="slidenum">
              <a:rPr lang="es-ES_tradnl" sz="1200" smtClean="0"/>
              <a:pPr eaLnBrk="1" hangingPunct="1"/>
              <a:t>5</a:t>
            </a:fld>
            <a:endParaRPr lang="es-ES_tradnl" sz="1200"/>
          </a:p>
        </p:txBody>
      </p:sp>
    </p:spTree>
    <p:extLst>
      <p:ext uri="{BB962C8B-B14F-4D97-AF65-F5344CB8AC3E}">
        <p14:creationId xmlns:p14="http://schemas.microsoft.com/office/powerpoint/2010/main" val="5362311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a:defRPr/>
            </a:pPr>
            <a:fld id="{FB2CE7FE-09D1-49CA-91BF-39EACD17411D}" type="slidenum">
              <a:rPr lang="es-ES_tradnl" smtClean="0"/>
              <a:pPr>
                <a:defRPr/>
              </a:pPr>
              <a:t>8</a:t>
            </a:fld>
            <a:endParaRPr lang="es-ES_tradnl"/>
          </a:p>
        </p:txBody>
      </p:sp>
    </p:spTree>
    <p:extLst>
      <p:ext uri="{BB962C8B-B14F-4D97-AF65-F5344CB8AC3E}">
        <p14:creationId xmlns:p14="http://schemas.microsoft.com/office/powerpoint/2010/main" val="10329524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Esto es</a:t>
            </a:r>
            <a:r>
              <a:rPr lang="es-ES" baseline="0" dirty="0"/>
              <a:t> una nota para que el orador la pueda leer mientras realiza </a:t>
            </a:r>
            <a:r>
              <a:rPr lang="es-ES" baseline="0"/>
              <a:t>la presentación</a:t>
            </a:r>
            <a:endParaRPr lang="es-ES" dirty="0"/>
          </a:p>
        </p:txBody>
      </p:sp>
      <p:sp>
        <p:nvSpPr>
          <p:cNvPr id="4" name="Marcador de número de diapositiva 3"/>
          <p:cNvSpPr>
            <a:spLocks noGrp="1"/>
          </p:cNvSpPr>
          <p:nvPr>
            <p:ph type="sldNum" sz="quarter" idx="10"/>
          </p:nvPr>
        </p:nvSpPr>
        <p:spPr/>
        <p:txBody>
          <a:bodyPr/>
          <a:lstStyle/>
          <a:p>
            <a:pPr>
              <a:defRPr/>
            </a:pPr>
            <a:fld id="{FB2CE7FE-09D1-49CA-91BF-39EACD17411D}" type="slidenum">
              <a:rPr lang="es-ES_tradnl" smtClean="0"/>
              <a:pPr>
                <a:defRPr/>
              </a:pPr>
              <a:t>21</a:t>
            </a:fld>
            <a:endParaRPr lang="es-ES_tradnl"/>
          </a:p>
        </p:txBody>
      </p:sp>
    </p:spTree>
    <p:extLst>
      <p:ext uri="{BB962C8B-B14F-4D97-AF65-F5344CB8AC3E}">
        <p14:creationId xmlns:p14="http://schemas.microsoft.com/office/powerpoint/2010/main" val="19516831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bwMode="ltGray">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41"/>
          <p:cNvSpPr>
            <a:spLocks noChangeArrowheads="1"/>
          </p:cNvSpPr>
          <p:nvPr/>
        </p:nvSpPr>
        <p:spPr bwMode="gray">
          <a:xfrm>
            <a:off x="0" y="2708275"/>
            <a:ext cx="9144000" cy="874713"/>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0" scaled="1"/>
          </a:gradFill>
          <a:ln w="28575">
            <a:solidFill>
              <a:schemeClr val="bg1"/>
            </a:solidFill>
            <a:miter lim="800000"/>
            <a:headEnd/>
            <a:tailEnd/>
          </a:ln>
          <a:effectLst/>
        </p:spPr>
        <p:txBody>
          <a:bodyPr wrap="none" anchor="ctr"/>
          <a:lstStyle/>
          <a:p>
            <a:pPr>
              <a:defRPr/>
            </a:pPr>
            <a:endParaRPr lang="es-ES_tradnl"/>
          </a:p>
        </p:txBody>
      </p:sp>
      <p:sp>
        <p:nvSpPr>
          <p:cNvPr id="5" name="Text Box 14"/>
          <p:cNvSpPr txBox="1">
            <a:spLocks noChangeArrowheads="1"/>
          </p:cNvSpPr>
          <p:nvPr/>
        </p:nvSpPr>
        <p:spPr bwMode="black">
          <a:xfrm>
            <a:off x="381000" y="271463"/>
            <a:ext cx="1089025" cy="415925"/>
          </a:xfrm>
          <a:prstGeom prst="rect">
            <a:avLst/>
          </a:prstGeom>
          <a:noFill/>
          <a:ln w="9525">
            <a:noFill/>
            <a:miter lim="800000"/>
            <a:headEnd/>
            <a:tailEnd/>
          </a:ln>
          <a:effectLst/>
        </p:spPr>
        <p:txBody>
          <a:bodyPr lIns="95782" tIns="47891" rIns="95782" bIns="47891">
            <a:spAutoFit/>
          </a:bodyPr>
          <a:lstStyle/>
          <a:p>
            <a:pPr defTabSz="957263">
              <a:defRPr/>
            </a:pPr>
            <a:r>
              <a:rPr lang="en-US" sz="2100" b="1">
                <a:solidFill>
                  <a:schemeClr val="bg1"/>
                </a:solidFill>
                <a:latin typeface="Verdana" pitchFamily="34" charset="0"/>
              </a:rPr>
              <a:t>LOGO</a:t>
            </a:r>
          </a:p>
        </p:txBody>
      </p:sp>
      <p:grpSp>
        <p:nvGrpSpPr>
          <p:cNvPr id="6" name="Group 42"/>
          <p:cNvGrpSpPr>
            <a:grpSpLocks/>
          </p:cNvGrpSpPr>
          <p:nvPr/>
        </p:nvGrpSpPr>
        <p:grpSpPr bwMode="auto">
          <a:xfrm>
            <a:off x="-11113" y="-12700"/>
            <a:ext cx="9175751" cy="6870700"/>
            <a:chOff x="-7" y="-8"/>
            <a:chExt cx="5780" cy="4328"/>
          </a:xfrm>
        </p:grpSpPr>
        <p:sp>
          <p:nvSpPr>
            <p:cNvPr id="7" name="AutoShape 36"/>
            <p:cNvSpPr>
              <a:spLocks noChangeArrowheads="1"/>
            </p:cNvSpPr>
            <p:nvPr/>
          </p:nvSpPr>
          <p:spPr bwMode="gray">
            <a:xfrm>
              <a:off x="17" y="16"/>
              <a:ext cx="5729" cy="4285"/>
            </a:xfrm>
            <a:prstGeom prst="roundRect">
              <a:avLst>
                <a:gd name="adj" fmla="val 6227"/>
              </a:avLst>
            </a:prstGeom>
            <a:noFill/>
            <a:ln w="76200">
              <a:solidFill>
                <a:schemeClr val="bg1"/>
              </a:solidFill>
              <a:round/>
              <a:headEnd/>
              <a:tailEnd/>
            </a:ln>
            <a:effectLst/>
          </p:spPr>
          <p:txBody>
            <a:bodyPr wrap="none" anchor="ctr"/>
            <a:lstStyle/>
            <a:p>
              <a:pPr>
                <a:defRPr/>
              </a:pPr>
              <a:endParaRPr lang="es-ES_tradnl"/>
            </a:p>
          </p:txBody>
        </p:sp>
        <p:sp>
          <p:nvSpPr>
            <p:cNvPr id="8" name="Freeform 37"/>
            <p:cNvSpPr>
              <a:spLocks/>
            </p:cNvSpPr>
            <p:nvPr/>
          </p:nvSpPr>
          <p:spPr bwMode="gray">
            <a:xfrm>
              <a:off x="-3" y="-8"/>
              <a:ext cx="295" cy="289"/>
            </a:xfrm>
            <a:custGeom>
              <a:avLst/>
              <a:gdLst/>
              <a:ahLst/>
              <a:cxnLst>
                <a:cxn ang="0">
                  <a:pos x="3" y="395"/>
                </a:cxn>
                <a:cxn ang="0">
                  <a:pos x="74" y="216"/>
                </a:cxn>
                <a:cxn ang="0">
                  <a:pos x="231" y="50"/>
                </a:cxn>
                <a:cxn ang="0">
                  <a:pos x="403" y="0"/>
                </a:cxn>
                <a:cxn ang="0">
                  <a:pos x="0" y="0"/>
                </a:cxn>
              </a:cxnLst>
              <a:rect l="0" t="0" r="r" b="b"/>
              <a:pathLst>
                <a:path w="403" h="395">
                  <a:moveTo>
                    <a:pt x="3" y="395"/>
                  </a:moveTo>
                  <a:lnTo>
                    <a:pt x="74" y="216"/>
                  </a:lnTo>
                  <a:lnTo>
                    <a:pt x="231" y="50"/>
                  </a:lnTo>
                  <a:lnTo>
                    <a:pt x="403" y="0"/>
                  </a:lnTo>
                  <a:lnTo>
                    <a:pt x="0" y="0"/>
                  </a:lnTo>
                </a:path>
              </a:pathLst>
            </a:custGeom>
            <a:solidFill>
              <a:schemeClr val="bg1"/>
            </a:solidFill>
            <a:ln w="9525">
              <a:noFill/>
              <a:round/>
              <a:headEnd/>
              <a:tailEnd/>
            </a:ln>
            <a:effectLst/>
          </p:spPr>
          <p:txBody>
            <a:bodyPr/>
            <a:lstStyle/>
            <a:p>
              <a:pPr>
                <a:defRPr/>
              </a:pPr>
              <a:endParaRPr lang="es-ES_tradnl"/>
            </a:p>
          </p:txBody>
        </p:sp>
        <p:sp>
          <p:nvSpPr>
            <p:cNvPr id="9" name="Freeform 38"/>
            <p:cNvSpPr>
              <a:spLocks/>
            </p:cNvSpPr>
            <p:nvPr/>
          </p:nvSpPr>
          <p:spPr bwMode="gray">
            <a:xfrm>
              <a:off x="-7" y="3982"/>
              <a:ext cx="287" cy="338"/>
            </a:xfrm>
            <a:custGeom>
              <a:avLst/>
              <a:gdLst/>
              <a:ahLst/>
              <a:cxnLst>
                <a:cxn ang="0">
                  <a:pos x="391" y="473"/>
                </a:cxn>
                <a:cxn ang="0">
                  <a:pos x="151" y="353"/>
                </a:cxn>
                <a:cxn ang="0">
                  <a:pos x="42" y="201"/>
                </a:cxn>
                <a:cxn ang="0">
                  <a:pos x="0" y="0"/>
                </a:cxn>
                <a:cxn ang="0">
                  <a:pos x="1" y="470"/>
                </a:cxn>
              </a:cxnLst>
              <a:rect l="0" t="0" r="r" b="b"/>
              <a:pathLst>
                <a:path w="391" h="473">
                  <a:moveTo>
                    <a:pt x="391" y="473"/>
                  </a:moveTo>
                  <a:lnTo>
                    <a:pt x="151" y="353"/>
                  </a:lnTo>
                  <a:lnTo>
                    <a:pt x="42" y="201"/>
                  </a:lnTo>
                  <a:lnTo>
                    <a:pt x="0" y="0"/>
                  </a:lnTo>
                  <a:lnTo>
                    <a:pt x="1" y="470"/>
                  </a:lnTo>
                </a:path>
              </a:pathLst>
            </a:custGeom>
            <a:solidFill>
              <a:schemeClr val="bg1"/>
            </a:solidFill>
            <a:ln w="9525">
              <a:noFill/>
              <a:round/>
              <a:headEnd/>
              <a:tailEnd/>
            </a:ln>
            <a:effectLst/>
          </p:spPr>
          <p:txBody>
            <a:bodyPr/>
            <a:lstStyle/>
            <a:p>
              <a:pPr>
                <a:defRPr/>
              </a:pPr>
              <a:endParaRPr lang="es-ES_tradnl"/>
            </a:p>
          </p:txBody>
        </p:sp>
        <p:sp>
          <p:nvSpPr>
            <p:cNvPr id="10" name="Freeform 39"/>
            <p:cNvSpPr>
              <a:spLocks/>
            </p:cNvSpPr>
            <p:nvPr/>
          </p:nvSpPr>
          <p:spPr bwMode="gray">
            <a:xfrm>
              <a:off x="5499" y="4026"/>
              <a:ext cx="274" cy="287"/>
            </a:xfrm>
            <a:custGeom>
              <a:avLst/>
              <a:gdLst/>
              <a:ahLst/>
              <a:cxnLst>
                <a:cxn ang="0">
                  <a:pos x="229" y="0"/>
                </a:cxn>
                <a:cxn ang="0">
                  <a:pos x="164" y="144"/>
                </a:cxn>
                <a:cxn ang="0">
                  <a:pos x="98" y="253"/>
                </a:cxn>
                <a:cxn ang="0">
                  <a:pos x="0" y="290"/>
                </a:cxn>
                <a:cxn ang="0">
                  <a:pos x="232" y="287"/>
                </a:cxn>
              </a:cxnLst>
              <a:rect l="0" t="0" r="r" b="b"/>
              <a:pathLst>
                <a:path w="232" h="290">
                  <a:moveTo>
                    <a:pt x="229" y="0"/>
                  </a:moveTo>
                  <a:lnTo>
                    <a:pt x="164" y="144"/>
                  </a:lnTo>
                  <a:lnTo>
                    <a:pt x="98" y="253"/>
                  </a:lnTo>
                  <a:lnTo>
                    <a:pt x="0" y="290"/>
                  </a:lnTo>
                  <a:lnTo>
                    <a:pt x="232" y="287"/>
                  </a:lnTo>
                </a:path>
              </a:pathLst>
            </a:custGeom>
            <a:solidFill>
              <a:schemeClr val="bg1"/>
            </a:solidFill>
            <a:ln w="9525">
              <a:solidFill>
                <a:schemeClr val="bg1"/>
              </a:solidFill>
              <a:round/>
              <a:headEnd/>
              <a:tailEnd/>
            </a:ln>
            <a:effectLst/>
          </p:spPr>
          <p:txBody>
            <a:bodyPr/>
            <a:lstStyle/>
            <a:p>
              <a:pPr>
                <a:defRPr/>
              </a:pPr>
              <a:endParaRPr lang="es-ES_tradnl"/>
            </a:p>
          </p:txBody>
        </p:sp>
        <p:sp>
          <p:nvSpPr>
            <p:cNvPr id="11" name="Freeform 40"/>
            <p:cNvSpPr>
              <a:spLocks/>
            </p:cNvSpPr>
            <p:nvPr/>
          </p:nvSpPr>
          <p:spPr bwMode="gray">
            <a:xfrm>
              <a:off x="5467" y="0"/>
              <a:ext cx="302" cy="288"/>
            </a:xfrm>
            <a:custGeom>
              <a:avLst/>
              <a:gdLst/>
              <a:ahLst/>
              <a:cxnLst>
                <a:cxn ang="0">
                  <a:pos x="0" y="0"/>
                </a:cxn>
                <a:cxn ang="0">
                  <a:pos x="221" y="96"/>
                </a:cxn>
                <a:cxn ang="0">
                  <a:pos x="353" y="231"/>
                </a:cxn>
                <a:cxn ang="0">
                  <a:pos x="403" y="403"/>
                </a:cxn>
                <a:cxn ang="0">
                  <a:pos x="403" y="0"/>
                </a:cxn>
              </a:cxnLst>
              <a:rect l="0" t="0" r="r" b="b"/>
              <a:pathLst>
                <a:path w="403" h="403">
                  <a:moveTo>
                    <a:pt x="0" y="0"/>
                  </a:moveTo>
                  <a:lnTo>
                    <a:pt x="221" y="96"/>
                  </a:lnTo>
                  <a:lnTo>
                    <a:pt x="353" y="231"/>
                  </a:lnTo>
                  <a:lnTo>
                    <a:pt x="403" y="403"/>
                  </a:lnTo>
                  <a:lnTo>
                    <a:pt x="403" y="0"/>
                  </a:lnTo>
                </a:path>
              </a:pathLst>
            </a:custGeom>
            <a:solidFill>
              <a:schemeClr val="bg1"/>
            </a:solidFill>
            <a:ln w="9525">
              <a:noFill/>
              <a:round/>
              <a:headEnd/>
              <a:tailEnd/>
            </a:ln>
            <a:effectLst/>
          </p:spPr>
          <p:txBody>
            <a:bodyPr/>
            <a:lstStyle/>
            <a:p>
              <a:pPr>
                <a:defRPr/>
              </a:pPr>
              <a:endParaRPr lang="es-ES_tradnl"/>
            </a:p>
          </p:txBody>
        </p:sp>
      </p:grpSp>
      <p:sp>
        <p:nvSpPr>
          <p:cNvPr id="3074" name="Rectangle 2"/>
          <p:cNvSpPr>
            <a:spLocks noGrp="1" noChangeArrowheads="1"/>
          </p:cNvSpPr>
          <p:nvPr>
            <p:ph type="ctrTitle"/>
          </p:nvPr>
        </p:nvSpPr>
        <p:spPr bwMode="gray">
          <a:xfrm>
            <a:off x="0" y="2720975"/>
            <a:ext cx="9144000" cy="817563"/>
          </a:xfrm>
        </p:spPr>
        <p:txBody>
          <a:bodyPr/>
          <a:lstStyle>
            <a:lvl1pPr>
              <a:defRPr sz="4600"/>
            </a:lvl1pPr>
          </a:lstStyle>
          <a:p>
            <a:r>
              <a:rPr lang="es-ES"/>
              <a:t>Haga clic para modificar el estilo de título del patrón</a:t>
            </a:r>
            <a:endParaRPr lang="en-US"/>
          </a:p>
        </p:txBody>
      </p:sp>
      <p:sp>
        <p:nvSpPr>
          <p:cNvPr id="3075" name="Rectangle 3"/>
          <p:cNvSpPr>
            <a:spLocks noGrp="1" noChangeArrowheads="1"/>
          </p:cNvSpPr>
          <p:nvPr>
            <p:ph type="subTitle" idx="1"/>
          </p:nvPr>
        </p:nvSpPr>
        <p:spPr bwMode="black">
          <a:xfrm>
            <a:off x="990600" y="2176463"/>
            <a:ext cx="7086600" cy="436562"/>
          </a:xfrm>
        </p:spPr>
        <p:txBody>
          <a:bodyPr/>
          <a:lstStyle>
            <a:lvl1pPr marL="0" indent="0" algn="ctr">
              <a:buFont typeface="Wingdings" pitchFamily="2" charset="2"/>
              <a:buNone/>
              <a:defRPr sz="1900">
                <a:solidFill>
                  <a:schemeClr val="bg1"/>
                </a:solidFill>
                <a:latin typeface="Arial" charset="0"/>
              </a:defRPr>
            </a:lvl1pPr>
          </a:lstStyle>
          <a:p>
            <a:r>
              <a:rPr lang="es-ES"/>
              <a:t>Haga clic para modificar el estilo de subtítulo del patrón</a:t>
            </a:r>
            <a:endParaRPr lang="en-US"/>
          </a:p>
        </p:txBody>
      </p:sp>
    </p:spTree>
    <p:extLst>
      <p:ext uri="{BB962C8B-B14F-4D97-AF65-F5344CB8AC3E}">
        <p14:creationId xmlns:p14="http://schemas.microsoft.com/office/powerpoint/2010/main" val="3937119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9BC10960-1D47-4F31-A178-4215E754AE71}" type="slidenum">
              <a:rPr lang="en-US"/>
              <a:pPr/>
              <a:t>‹Nº›</a:t>
            </a:fld>
            <a:endParaRPr lang="en-US"/>
          </a:p>
        </p:txBody>
      </p:sp>
    </p:spTree>
    <p:extLst>
      <p:ext uri="{BB962C8B-B14F-4D97-AF65-F5344CB8AC3E}">
        <p14:creationId xmlns:p14="http://schemas.microsoft.com/office/powerpoint/2010/main" val="2793804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ES_tradnl"/>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108B1BE4-FB56-497F-AC71-04F364CF33BF}" type="slidenum">
              <a:rPr lang="en-US"/>
              <a:pPr/>
              <a:t>‹Nº›</a:t>
            </a:fld>
            <a:endParaRPr lang="en-US"/>
          </a:p>
        </p:txBody>
      </p:sp>
    </p:spTree>
    <p:extLst>
      <p:ext uri="{BB962C8B-B14F-4D97-AF65-F5344CB8AC3E}">
        <p14:creationId xmlns:p14="http://schemas.microsoft.com/office/powerpoint/2010/main" val="2447416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contenido"/>
          <p:cNvSpPr>
            <a:spLocks noGrp="1"/>
          </p:cNvSpPr>
          <p:nvPr>
            <p:ph sz="half" idx="1"/>
          </p:nvPr>
        </p:nvSpPr>
        <p:spPr>
          <a:xfrm>
            <a:off x="457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contenido"/>
          <p:cNvSpPr>
            <a:spLocks noGrp="1"/>
          </p:cNvSpPr>
          <p:nvPr>
            <p:ph sz="half" idx="2"/>
          </p:nvPr>
        </p:nvSpPr>
        <p:spPr>
          <a:xfrm>
            <a:off x="4648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Rectangle 5"/>
          <p:cNvSpPr>
            <a:spLocks noGrp="1" noChangeArrowheads="1"/>
          </p:cNvSpPr>
          <p:nvPr>
            <p:ph type="ftr" sz="quarter" idx="10"/>
          </p:nvPr>
        </p:nvSpPr>
        <p:spPr>
          <a:ln/>
        </p:spPr>
        <p:txBody>
          <a:bodyPr/>
          <a:lstStyle>
            <a:lvl1pPr>
              <a:defRPr/>
            </a:lvl1pPr>
          </a:lstStyle>
          <a:p>
            <a:r>
              <a:rPr lang="en-US"/>
              <a:t>www.themegallery.com</a:t>
            </a:r>
          </a:p>
        </p:txBody>
      </p:sp>
      <p:sp>
        <p:nvSpPr>
          <p:cNvPr id="6" name="Rectangle 6"/>
          <p:cNvSpPr>
            <a:spLocks noGrp="1" noChangeArrowheads="1"/>
          </p:cNvSpPr>
          <p:nvPr>
            <p:ph type="sldNum" sz="quarter" idx="11"/>
          </p:nvPr>
        </p:nvSpPr>
        <p:spPr>
          <a:ln/>
        </p:spPr>
        <p:txBody>
          <a:bodyPr/>
          <a:lstStyle>
            <a:lvl1pPr>
              <a:defRPr/>
            </a:lvl1pPr>
          </a:lstStyle>
          <a:p>
            <a:fld id="{8AD86F26-C6EC-496E-AD78-D42D5BE6465A}" type="slidenum">
              <a:rPr lang="en-US"/>
              <a:pPr/>
              <a:t>‹Nº›</a:t>
            </a:fld>
            <a:endParaRPr lang="en-US"/>
          </a:p>
        </p:txBody>
      </p:sp>
    </p:spTree>
    <p:extLst>
      <p:ext uri="{BB962C8B-B14F-4D97-AF65-F5344CB8AC3E}">
        <p14:creationId xmlns:p14="http://schemas.microsoft.com/office/powerpoint/2010/main" val="1476666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a:t>Haga clic para modificar el estilo de título del patrón</a:t>
            </a:r>
            <a:endParaRPr lang="es-ES_tradnl"/>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7" name="Rectangle 5"/>
          <p:cNvSpPr>
            <a:spLocks noGrp="1" noChangeArrowheads="1"/>
          </p:cNvSpPr>
          <p:nvPr>
            <p:ph type="ftr" sz="quarter" idx="10"/>
          </p:nvPr>
        </p:nvSpPr>
        <p:spPr>
          <a:ln/>
        </p:spPr>
        <p:txBody>
          <a:bodyPr/>
          <a:lstStyle>
            <a:lvl1pPr>
              <a:defRPr/>
            </a:lvl1pPr>
          </a:lstStyle>
          <a:p>
            <a:r>
              <a:rPr lang="en-US"/>
              <a:t>www.themegallery.com</a:t>
            </a:r>
          </a:p>
        </p:txBody>
      </p:sp>
      <p:sp>
        <p:nvSpPr>
          <p:cNvPr id="8" name="Rectangle 6"/>
          <p:cNvSpPr>
            <a:spLocks noGrp="1" noChangeArrowheads="1"/>
          </p:cNvSpPr>
          <p:nvPr>
            <p:ph type="sldNum" sz="quarter" idx="11"/>
          </p:nvPr>
        </p:nvSpPr>
        <p:spPr>
          <a:ln/>
        </p:spPr>
        <p:txBody>
          <a:bodyPr/>
          <a:lstStyle>
            <a:lvl1pPr>
              <a:defRPr/>
            </a:lvl1pPr>
          </a:lstStyle>
          <a:p>
            <a:fld id="{D8AED370-19CA-4C7C-85E3-1587DE8EE631}" type="slidenum">
              <a:rPr lang="en-US"/>
              <a:pPr/>
              <a:t>‹Nº›</a:t>
            </a:fld>
            <a:endParaRPr lang="en-US"/>
          </a:p>
        </p:txBody>
      </p:sp>
    </p:spTree>
    <p:extLst>
      <p:ext uri="{BB962C8B-B14F-4D97-AF65-F5344CB8AC3E}">
        <p14:creationId xmlns:p14="http://schemas.microsoft.com/office/powerpoint/2010/main" val="3320516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Rectangle 5"/>
          <p:cNvSpPr>
            <a:spLocks noGrp="1" noChangeArrowheads="1"/>
          </p:cNvSpPr>
          <p:nvPr>
            <p:ph type="ftr" sz="quarter" idx="10"/>
          </p:nvPr>
        </p:nvSpPr>
        <p:spPr>
          <a:ln/>
        </p:spPr>
        <p:txBody>
          <a:bodyPr/>
          <a:lstStyle>
            <a:lvl1pPr>
              <a:defRPr/>
            </a:lvl1pPr>
          </a:lstStyle>
          <a:p>
            <a:r>
              <a:rPr lang="en-US"/>
              <a:t>www.themegallery.com</a:t>
            </a:r>
          </a:p>
        </p:txBody>
      </p:sp>
      <p:sp>
        <p:nvSpPr>
          <p:cNvPr id="4" name="Rectangle 6"/>
          <p:cNvSpPr>
            <a:spLocks noGrp="1" noChangeArrowheads="1"/>
          </p:cNvSpPr>
          <p:nvPr>
            <p:ph type="sldNum" sz="quarter" idx="11"/>
          </p:nvPr>
        </p:nvSpPr>
        <p:spPr>
          <a:ln/>
        </p:spPr>
        <p:txBody>
          <a:bodyPr/>
          <a:lstStyle>
            <a:lvl1pPr>
              <a:defRPr/>
            </a:lvl1pPr>
          </a:lstStyle>
          <a:p>
            <a:fld id="{FD14D8DD-9D00-4312-B4C4-A03ADF0178CC}" type="slidenum">
              <a:rPr lang="en-US"/>
              <a:pPr/>
              <a:t>‹Nº›</a:t>
            </a:fld>
            <a:endParaRPr lang="en-US"/>
          </a:p>
        </p:txBody>
      </p:sp>
    </p:spTree>
    <p:extLst>
      <p:ext uri="{BB962C8B-B14F-4D97-AF65-F5344CB8AC3E}">
        <p14:creationId xmlns:p14="http://schemas.microsoft.com/office/powerpoint/2010/main" val="1106196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r>
              <a:rPr lang="en-US"/>
              <a:t>www.themegallery.com</a:t>
            </a:r>
          </a:p>
        </p:txBody>
      </p:sp>
      <p:sp>
        <p:nvSpPr>
          <p:cNvPr id="3" name="Rectangle 6"/>
          <p:cNvSpPr>
            <a:spLocks noGrp="1" noChangeArrowheads="1"/>
          </p:cNvSpPr>
          <p:nvPr>
            <p:ph type="sldNum" sz="quarter" idx="11"/>
          </p:nvPr>
        </p:nvSpPr>
        <p:spPr>
          <a:ln/>
        </p:spPr>
        <p:txBody>
          <a:bodyPr/>
          <a:lstStyle>
            <a:lvl1pPr>
              <a:defRPr/>
            </a:lvl1pPr>
          </a:lstStyle>
          <a:p>
            <a:fld id="{18537A5B-A9CE-4669-BC99-AE9F32CE8D07}" type="slidenum">
              <a:rPr lang="en-US"/>
              <a:pPr/>
              <a:t>‹Nº›</a:t>
            </a:fld>
            <a:endParaRPr lang="en-US"/>
          </a:p>
        </p:txBody>
      </p:sp>
    </p:spTree>
    <p:extLst>
      <p:ext uri="{BB962C8B-B14F-4D97-AF65-F5344CB8AC3E}">
        <p14:creationId xmlns:p14="http://schemas.microsoft.com/office/powerpoint/2010/main" val="459697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ES_tradnl"/>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5"/>
          <p:cNvSpPr>
            <a:spLocks noGrp="1" noChangeArrowheads="1"/>
          </p:cNvSpPr>
          <p:nvPr>
            <p:ph type="ftr" sz="quarter" idx="10"/>
          </p:nvPr>
        </p:nvSpPr>
        <p:spPr>
          <a:ln/>
        </p:spPr>
        <p:txBody>
          <a:bodyPr/>
          <a:lstStyle>
            <a:lvl1pPr>
              <a:defRPr/>
            </a:lvl1pPr>
          </a:lstStyle>
          <a:p>
            <a:r>
              <a:rPr lang="en-US"/>
              <a:t>www.themegallery.com</a:t>
            </a:r>
          </a:p>
        </p:txBody>
      </p:sp>
      <p:sp>
        <p:nvSpPr>
          <p:cNvPr id="6" name="Rectangle 6"/>
          <p:cNvSpPr>
            <a:spLocks noGrp="1" noChangeArrowheads="1"/>
          </p:cNvSpPr>
          <p:nvPr>
            <p:ph type="sldNum" sz="quarter" idx="11"/>
          </p:nvPr>
        </p:nvSpPr>
        <p:spPr>
          <a:ln/>
        </p:spPr>
        <p:txBody>
          <a:bodyPr/>
          <a:lstStyle>
            <a:lvl1pPr>
              <a:defRPr/>
            </a:lvl1pPr>
          </a:lstStyle>
          <a:p>
            <a:fld id="{ECD770F1-8B0E-485D-8FC1-DD5CDADCB470}" type="slidenum">
              <a:rPr lang="en-US"/>
              <a:pPr/>
              <a:t>‹Nº›</a:t>
            </a:fld>
            <a:endParaRPr lang="en-US"/>
          </a:p>
        </p:txBody>
      </p:sp>
    </p:spTree>
    <p:extLst>
      <p:ext uri="{BB962C8B-B14F-4D97-AF65-F5344CB8AC3E}">
        <p14:creationId xmlns:p14="http://schemas.microsoft.com/office/powerpoint/2010/main" val="2508139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ES_tradnl"/>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a:t>Haga clic en el icono para agregar una imagen</a:t>
            </a:r>
            <a:endParaRPr lang="es-ES_tradnl"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5"/>
          <p:cNvSpPr>
            <a:spLocks noGrp="1" noChangeArrowheads="1"/>
          </p:cNvSpPr>
          <p:nvPr>
            <p:ph type="ftr" sz="quarter" idx="10"/>
          </p:nvPr>
        </p:nvSpPr>
        <p:spPr>
          <a:ln/>
        </p:spPr>
        <p:txBody>
          <a:bodyPr/>
          <a:lstStyle>
            <a:lvl1pPr>
              <a:defRPr/>
            </a:lvl1pPr>
          </a:lstStyle>
          <a:p>
            <a:r>
              <a:rPr lang="en-US"/>
              <a:t>www.themegallery.com</a:t>
            </a:r>
          </a:p>
        </p:txBody>
      </p:sp>
      <p:sp>
        <p:nvSpPr>
          <p:cNvPr id="6" name="Rectangle 6"/>
          <p:cNvSpPr>
            <a:spLocks noGrp="1" noChangeArrowheads="1"/>
          </p:cNvSpPr>
          <p:nvPr>
            <p:ph type="sldNum" sz="quarter" idx="11"/>
          </p:nvPr>
        </p:nvSpPr>
        <p:spPr>
          <a:ln/>
        </p:spPr>
        <p:txBody>
          <a:bodyPr/>
          <a:lstStyle>
            <a:lvl1pPr>
              <a:defRPr/>
            </a:lvl1pPr>
          </a:lstStyle>
          <a:p>
            <a:fld id="{C3368E41-874E-4862-AAFD-AC18B393D094}" type="slidenum">
              <a:rPr lang="en-US"/>
              <a:pPr/>
              <a:t>‹Nº›</a:t>
            </a:fld>
            <a:endParaRPr lang="en-US"/>
          </a:p>
        </p:txBody>
      </p:sp>
    </p:spTree>
    <p:extLst>
      <p:ext uri="{BB962C8B-B14F-4D97-AF65-F5344CB8AC3E}">
        <p14:creationId xmlns:p14="http://schemas.microsoft.com/office/powerpoint/2010/main" val="1071725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D801FC98-F929-48AB-9F4D-6385B8877736}" type="slidenum">
              <a:rPr lang="en-US"/>
              <a:pPr/>
              <a:t>‹Nº›</a:t>
            </a:fld>
            <a:endParaRPr lang="en-US"/>
          </a:p>
        </p:txBody>
      </p:sp>
    </p:spTree>
    <p:extLst>
      <p:ext uri="{BB962C8B-B14F-4D97-AF65-F5344CB8AC3E}">
        <p14:creationId xmlns:p14="http://schemas.microsoft.com/office/powerpoint/2010/main" val="4216584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53975"/>
            <a:ext cx="2057400" cy="6270625"/>
          </a:xfrm>
        </p:spPr>
        <p:txBody>
          <a:bodyPr vert="eaVert"/>
          <a:lstStyle/>
          <a:p>
            <a:r>
              <a:rPr lang="es-ES"/>
              <a:t>Haga clic para modificar el estilo de título del patrón</a:t>
            </a:r>
            <a:endParaRPr lang="es-ES_tradnl"/>
          </a:p>
        </p:txBody>
      </p:sp>
      <p:sp>
        <p:nvSpPr>
          <p:cNvPr id="3" name="2 Marcador de texto vertical"/>
          <p:cNvSpPr>
            <a:spLocks noGrp="1"/>
          </p:cNvSpPr>
          <p:nvPr>
            <p:ph type="body" orient="vert" idx="1"/>
          </p:nvPr>
        </p:nvSpPr>
        <p:spPr>
          <a:xfrm>
            <a:off x="457200" y="53975"/>
            <a:ext cx="6019800" cy="62706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F5DFA751-5FBB-4471-AF6F-9D0A8609C3C1}" type="slidenum">
              <a:rPr lang="en-US"/>
              <a:pPr/>
              <a:t>‹Nº›</a:t>
            </a:fld>
            <a:endParaRPr lang="en-US"/>
          </a:p>
        </p:txBody>
      </p:sp>
    </p:spTree>
    <p:extLst>
      <p:ext uri="{BB962C8B-B14F-4D97-AF65-F5344CB8AC3E}">
        <p14:creationId xmlns:p14="http://schemas.microsoft.com/office/powerpoint/2010/main" val="3148600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ítulo y tabla">
    <p:spTree>
      <p:nvGrpSpPr>
        <p:cNvPr id="1" name=""/>
        <p:cNvGrpSpPr/>
        <p:nvPr/>
      </p:nvGrpSpPr>
      <p:grpSpPr>
        <a:xfrm>
          <a:off x="0" y="0"/>
          <a:ext cx="0" cy="0"/>
          <a:chOff x="0" y="0"/>
          <a:chExt cx="0" cy="0"/>
        </a:xfrm>
      </p:grpSpPr>
      <p:sp>
        <p:nvSpPr>
          <p:cNvPr id="2" name="1 Título"/>
          <p:cNvSpPr>
            <a:spLocks noGrp="1"/>
          </p:cNvSpPr>
          <p:nvPr>
            <p:ph type="title"/>
          </p:nvPr>
        </p:nvSpPr>
        <p:spPr>
          <a:xfrm>
            <a:off x="542925" y="53975"/>
            <a:ext cx="7392988" cy="563563"/>
          </a:xfrm>
        </p:spPr>
        <p:txBody>
          <a:bodyPr/>
          <a:lstStyle/>
          <a:p>
            <a:r>
              <a:rPr lang="es-ES"/>
              <a:t>Haga clic para modificar el estilo de título del patrón</a:t>
            </a:r>
            <a:endParaRPr lang="es-ES_tradnl"/>
          </a:p>
        </p:txBody>
      </p:sp>
      <p:sp>
        <p:nvSpPr>
          <p:cNvPr id="3" name="2 Marcador de tabla"/>
          <p:cNvSpPr>
            <a:spLocks noGrp="1"/>
          </p:cNvSpPr>
          <p:nvPr>
            <p:ph type="tbl" idx="1"/>
          </p:nvPr>
        </p:nvSpPr>
        <p:spPr>
          <a:xfrm>
            <a:off x="457200" y="1076325"/>
            <a:ext cx="8229600" cy="5248275"/>
          </a:xfrm>
        </p:spPr>
        <p:txBody>
          <a:bodyPr/>
          <a:lstStyle/>
          <a:p>
            <a:pPr lvl="0"/>
            <a:r>
              <a:rPr lang="es-ES" noProof="0"/>
              <a:t>Haga clic en el icono para agregar una tabla</a:t>
            </a:r>
            <a:endParaRPr lang="es-ES_tradnl" noProof="0"/>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27F47353-9D15-4571-BF0B-64C1267AE8A4}" type="slidenum">
              <a:rPr lang="en-US"/>
              <a:pPr/>
              <a:t>‹Nº›</a:t>
            </a:fld>
            <a:endParaRPr lang="en-US"/>
          </a:p>
        </p:txBody>
      </p:sp>
    </p:spTree>
    <p:extLst>
      <p:ext uri="{BB962C8B-B14F-4D97-AF65-F5344CB8AC3E}">
        <p14:creationId xmlns:p14="http://schemas.microsoft.com/office/powerpoint/2010/main" val="3841788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1039" name="Freeform 15" descr="29641"/>
          <p:cNvSpPr>
            <a:spLocks/>
          </p:cNvSpPr>
          <p:nvPr/>
        </p:nvSpPr>
        <p:spPr bwMode="gray">
          <a:xfrm>
            <a:off x="36513" y="80963"/>
            <a:ext cx="9077325" cy="1595437"/>
          </a:xfrm>
          <a:custGeom>
            <a:avLst/>
            <a:gdLst/>
            <a:ahLst/>
            <a:cxnLst>
              <a:cxn ang="0">
                <a:pos x="0" y="756"/>
              </a:cxn>
              <a:cxn ang="0">
                <a:pos x="576" y="560"/>
              </a:cxn>
              <a:cxn ang="0">
                <a:pos x="1403" y="390"/>
              </a:cxn>
              <a:cxn ang="0">
                <a:pos x="2452" y="314"/>
              </a:cxn>
              <a:cxn ang="0">
                <a:pos x="3102" y="326"/>
              </a:cxn>
              <a:cxn ang="0">
                <a:pos x="4043" y="434"/>
              </a:cxn>
              <a:cxn ang="0">
                <a:pos x="4944" y="668"/>
              </a:cxn>
              <a:cxn ang="0">
                <a:pos x="5691" y="971"/>
              </a:cxn>
              <a:cxn ang="0">
                <a:pos x="5718" y="19"/>
              </a:cxn>
              <a:cxn ang="0">
                <a:pos x="9" y="0"/>
              </a:cxn>
            </a:cxnLst>
            <a:rect l="0" t="0" r="r" b="b"/>
            <a:pathLst>
              <a:path w="5718" h="1005">
                <a:moveTo>
                  <a:pt x="0" y="756"/>
                </a:moveTo>
                <a:cubicBezTo>
                  <a:pt x="96" y="724"/>
                  <a:pt x="297" y="635"/>
                  <a:pt x="576" y="560"/>
                </a:cubicBezTo>
                <a:cubicBezTo>
                  <a:pt x="855" y="485"/>
                  <a:pt x="1037" y="442"/>
                  <a:pt x="1403" y="390"/>
                </a:cubicBezTo>
                <a:cubicBezTo>
                  <a:pt x="1769" y="337"/>
                  <a:pt x="2154" y="320"/>
                  <a:pt x="2452" y="314"/>
                </a:cubicBezTo>
                <a:lnTo>
                  <a:pt x="3102" y="326"/>
                </a:lnTo>
                <a:cubicBezTo>
                  <a:pt x="3367" y="346"/>
                  <a:pt x="3736" y="377"/>
                  <a:pt x="4043" y="434"/>
                </a:cubicBezTo>
                <a:cubicBezTo>
                  <a:pt x="4350" y="490"/>
                  <a:pt x="4669" y="578"/>
                  <a:pt x="4944" y="668"/>
                </a:cubicBezTo>
                <a:cubicBezTo>
                  <a:pt x="5219" y="757"/>
                  <a:pt x="5679" y="1005"/>
                  <a:pt x="5691" y="971"/>
                </a:cubicBezTo>
                <a:cubicBezTo>
                  <a:pt x="5695" y="964"/>
                  <a:pt x="5718" y="25"/>
                  <a:pt x="5718" y="19"/>
                </a:cubicBezTo>
                <a:cubicBezTo>
                  <a:pt x="5718" y="7"/>
                  <a:pt x="1198" y="4"/>
                  <a:pt x="9" y="0"/>
                </a:cubicBezTo>
              </a:path>
            </a:pathLst>
          </a:custGeom>
          <a:blipFill dpi="0" rotWithShape="1">
            <a:blip r:embed="rId15" cstate="print"/>
            <a:srcRect/>
            <a:stretch>
              <a:fillRect/>
            </a:stretch>
          </a:blipFill>
          <a:ln w="9525">
            <a:noFill/>
            <a:round/>
            <a:headEnd/>
            <a:tailEnd/>
          </a:ln>
          <a:effectLst/>
        </p:spPr>
        <p:txBody>
          <a:bodyPr/>
          <a:lstStyle/>
          <a:p>
            <a:pPr>
              <a:defRPr/>
            </a:pPr>
            <a:endParaRPr lang="es-ES_tradnl"/>
          </a:p>
        </p:txBody>
      </p:sp>
      <p:sp>
        <p:nvSpPr>
          <p:cNvPr id="1027" name="Rectangle 3"/>
          <p:cNvSpPr>
            <a:spLocks noGrp="1" noChangeArrowheads="1"/>
          </p:cNvSpPr>
          <p:nvPr>
            <p:ph type="body" idx="1"/>
          </p:nvPr>
        </p:nvSpPr>
        <p:spPr bwMode="auto">
          <a:xfrm>
            <a:off x="457200" y="1076325"/>
            <a:ext cx="8229600" cy="524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1029" name="Rectangle 5"/>
          <p:cNvSpPr>
            <a:spLocks noGrp="1" noChangeArrowheads="1"/>
          </p:cNvSpPr>
          <p:nvPr>
            <p:ph type="ftr" sz="quarter" idx="3"/>
          </p:nvPr>
        </p:nvSpPr>
        <p:spPr bwMode="auto">
          <a:xfrm>
            <a:off x="6084888" y="6450013"/>
            <a:ext cx="2897187" cy="320675"/>
          </a:xfrm>
          <a:prstGeom prst="rect">
            <a:avLst/>
          </a:prstGeom>
          <a:noFill/>
          <a:ln w="9525">
            <a:noFill/>
            <a:miter lim="800000"/>
            <a:headEnd/>
            <a:tailEnd/>
          </a:ln>
          <a:effectLst/>
        </p:spPr>
        <p:txBody>
          <a:bodyPr vert="horz" wrap="square" lIns="95782" tIns="47891" rIns="95782" bIns="47891" numCol="1" anchor="t" anchorCtr="0" compatLnSpc="1">
            <a:prstTxWarp prst="textNoShape">
              <a:avLst/>
            </a:prstTxWarp>
          </a:bodyPr>
          <a:lstStyle>
            <a:lvl1pPr algn="r">
              <a:defRPr sz="1300" b="1">
                <a:latin typeface="Verdana" pitchFamily="34" charset="0"/>
              </a:defRPr>
            </a:lvl1pPr>
          </a:lstStyle>
          <a:p>
            <a:r>
              <a:rPr lang="en-US"/>
              <a:t>www.themegallery.com</a:t>
            </a:r>
          </a:p>
        </p:txBody>
      </p:sp>
      <p:sp>
        <p:nvSpPr>
          <p:cNvPr id="1030" name="Rectangle 6"/>
          <p:cNvSpPr>
            <a:spLocks noGrp="1" noChangeArrowheads="1"/>
          </p:cNvSpPr>
          <p:nvPr>
            <p:ph type="sldNum" sz="quarter" idx="4"/>
          </p:nvPr>
        </p:nvSpPr>
        <p:spPr bwMode="auto">
          <a:xfrm>
            <a:off x="107950" y="6454775"/>
            <a:ext cx="927100" cy="239713"/>
          </a:xfrm>
          <a:prstGeom prst="rect">
            <a:avLst/>
          </a:prstGeom>
          <a:noFill/>
          <a:ln w="9525">
            <a:noFill/>
            <a:miter lim="800000"/>
            <a:headEnd/>
            <a:tailEnd/>
          </a:ln>
          <a:effectLst/>
        </p:spPr>
        <p:txBody>
          <a:bodyPr vert="horz" wrap="square" lIns="95782" tIns="47891" rIns="95782" bIns="47891" numCol="1" anchor="t" anchorCtr="0" compatLnSpc="1">
            <a:prstTxWarp prst="textNoShape">
              <a:avLst/>
            </a:prstTxWarp>
          </a:bodyPr>
          <a:lstStyle>
            <a:lvl1pPr algn="ctr">
              <a:defRPr sz="1300" b="1">
                <a:latin typeface="Verdana" pitchFamily="34" charset="0"/>
              </a:defRPr>
            </a:lvl1pPr>
          </a:lstStyle>
          <a:p>
            <a:fld id="{BD04EC93-4901-40B8-B615-125461DCA23D}" type="slidenum">
              <a:rPr lang="en-US"/>
              <a:pPr/>
              <a:t>‹Nº›</a:t>
            </a:fld>
            <a:endParaRPr lang="en-US"/>
          </a:p>
        </p:txBody>
      </p:sp>
      <p:sp>
        <p:nvSpPr>
          <p:cNvPr id="2" name="Rectangle 2"/>
          <p:cNvSpPr>
            <a:spLocks noGrp="1" noChangeArrowheads="1"/>
          </p:cNvSpPr>
          <p:nvPr>
            <p:ph type="title"/>
          </p:nvPr>
        </p:nvSpPr>
        <p:spPr bwMode="white">
          <a:xfrm>
            <a:off x="542925" y="53975"/>
            <a:ext cx="7392988"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ctr" anchorCtr="0" compatLnSpc="1">
            <a:prstTxWarp prst="textNoShape">
              <a:avLst/>
            </a:prstTxWarp>
          </a:bodyPr>
          <a:lstStyle/>
          <a:p>
            <a:pPr lvl="0"/>
            <a:r>
              <a:rPr lang="es-ES"/>
              <a:t>Haga clic para modificar el estilo de título del patrón</a:t>
            </a:r>
            <a:endParaRPr lang="en-US"/>
          </a:p>
        </p:txBody>
      </p:sp>
      <p:grpSp>
        <p:nvGrpSpPr>
          <p:cNvPr id="1031" name="Group 16"/>
          <p:cNvGrpSpPr>
            <a:grpSpLocks/>
          </p:cNvGrpSpPr>
          <p:nvPr/>
        </p:nvGrpSpPr>
        <p:grpSpPr bwMode="auto">
          <a:xfrm>
            <a:off x="-1588" y="0"/>
            <a:ext cx="9145588" cy="6858000"/>
            <a:chOff x="-1" y="0"/>
            <a:chExt cx="8065" cy="6048"/>
          </a:xfrm>
        </p:grpSpPr>
        <p:sp>
          <p:nvSpPr>
            <p:cNvPr id="1041" name="Freeform 17"/>
            <p:cNvSpPr>
              <a:spLocks/>
            </p:cNvSpPr>
            <p:nvPr/>
          </p:nvSpPr>
          <p:spPr bwMode="gray">
            <a:xfrm>
              <a:off x="-1" y="5629"/>
              <a:ext cx="389" cy="417"/>
            </a:xfrm>
            <a:custGeom>
              <a:avLst/>
              <a:gdLst/>
              <a:ahLst/>
              <a:cxnLst>
                <a:cxn ang="0">
                  <a:pos x="314" y="416"/>
                </a:cxn>
                <a:cxn ang="0">
                  <a:pos x="389" y="417"/>
                </a:cxn>
                <a:cxn ang="0">
                  <a:pos x="158" y="297"/>
                </a:cxn>
                <a:cxn ang="0">
                  <a:pos x="39" y="179"/>
                </a:cxn>
                <a:cxn ang="0">
                  <a:pos x="0" y="0"/>
                </a:cxn>
                <a:cxn ang="0">
                  <a:pos x="1" y="417"/>
                </a:cxn>
              </a:cxnLst>
              <a:rect l="0" t="0" r="r" b="b"/>
              <a:pathLst>
                <a:path w="389" h="417">
                  <a:moveTo>
                    <a:pt x="314" y="416"/>
                  </a:moveTo>
                  <a:lnTo>
                    <a:pt x="389" y="417"/>
                  </a:lnTo>
                  <a:lnTo>
                    <a:pt x="158" y="297"/>
                  </a:lnTo>
                  <a:lnTo>
                    <a:pt x="39" y="179"/>
                  </a:lnTo>
                  <a:lnTo>
                    <a:pt x="0" y="0"/>
                  </a:lnTo>
                  <a:lnTo>
                    <a:pt x="1" y="417"/>
                  </a:lnTo>
                </a:path>
              </a:pathLst>
            </a:custGeom>
            <a:solidFill>
              <a:schemeClr val="bg1"/>
            </a:solidFill>
            <a:ln w="9525">
              <a:noFill/>
              <a:round/>
              <a:headEnd/>
              <a:tailEnd/>
            </a:ln>
            <a:effectLst/>
          </p:spPr>
          <p:txBody>
            <a:bodyPr/>
            <a:lstStyle/>
            <a:p>
              <a:pPr>
                <a:defRPr/>
              </a:pPr>
              <a:endParaRPr lang="es-ES_tradnl"/>
            </a:p>
          </p:txBody>
        </p:sp>
        <p:sp>
          <p:nvSpPr>
            <p:cNvPr id="1042" name="Freeform 18"/>
            <p:cNvSpPr>
              <a:spLocks/>
            </p:cNvSpPr>
            <p:nvPr/>
          </p:nvSpPr>
          <p:spPr bwMode="gray">
            <a:xfrm>
              <a:off x="7701" y="5645"/>
              <a:ext cx="363" cy="403"/>
            </a:xfrm>
            <a:custGeom>
              <a:avLst/>
              <a:gdLst/>
              <a:ahLst/>
              <a:cxnLst>
                <a:cxn ang="0">
                  <a:pos x="229" y="0"/>
                </a:cxn>
                <a:cxn ang="0">
                  <a:pos x="164" y="144"/>
                </a:cxn>
                <a:cxn ang="0">
                  <a:pos x="98" y="253"/>
                </a:cxn>
                <a:cxn ang="0">
                  <a:pos x="0" y="290"/>
                </a:cxn>
                <a:cxn ang="0">
                  <a:pos x="232" y="287"/>
                </a:cxn>
              </a:cxnLst>
              <a:rect l="0" t="0" r="r" b="b"/>
              <a:pathLst>
                <a:path w="232" h="290">
                  <a:moveTo>
                    <a:pt x="229" y="0"/>
                  </a:moveTo>
                  <a:lnTo>
                    <a:pt x="164" y="144"/>
                  </a:lnTo>
                  <a:lnTo>
                    <a:pt x="98" y="253"/>
                  </a:lnTo>
                  <a:lnTo>
                    <a:pt x="0" y="290"/>
                  </a:lnTo>
                  <a:lnTo>
                    <a:pt x="232" y="287"/>
                  </a:lnTo>
                </a:path>
              </a:pathLst>
            </a:custGeom>
            <a:solidFill>
              <a:schemeClr val="bg1"/>
            </a:solidFill>
            <a:ln w="9525">
              <a:solidFill>
                <a:schemeClr val="bg1"/>
              </a:solidFill>
              <a:round/>
              <a:headEnd/>
              <a:tailEnd/>
            </a:ln>
            <a:effectLst/>
          </p:spPr>
          <p:txBody>
            <a:bodyPr/>
            <a:lstStyle/>
            <a:p>
              <a:pPr>
                <a:defRPr/>
              </a:pPr>
              <a:endParaRPr lang="es-ES_tradnl"/>
            </a:p>
          </p:txBody>
        </p:sp>
        <p:sp>
          <p:nvSpPr>
            <p:cNvPr id="1043" name="AutoShape 19"/>
            <p:cNvSpPr>
              <a:spLocks noChangeArrowheads="1"/>
            </p:cNvSpPr>
            <p:nvPr/>
          </p:nvSpPr>
          <p:spPr bwMode="gray">
            <a:xfrm>
              <a:off x="26" y="42"/>
              <a:ext cx="8012" cy="5985"/>
            </a:xfrm>
            <a:prstGeom prst="roundRect">
              <a:avLst>
                <a:gd name="adj" fmla="val 6227"/>
              </a:avLst>
            </a:prstGeom>
            <a:noFill/>
            <a:ln w="76200">
              <a:solidFill>
                <a:schemeClr val="bg1"/>
              </a:solidFill>
              <a:round/>
              <a:headEnd/>
              <a:tailEnd/>
            </a:ln>
            <a:effectLst/>
          </p:spPr>
          <p:txBody>
            <a:bodyPr wrap="none" anchor="ctr"/>
            <a:lstStyle/>
            <a:p>
              <a:pPr>
                <a:defRPr/>
              </a:pPr>
              <a:endParaRPr lang="es-ES_tradnl"/>
            </a:p>
          </p:txBody>
        </p:sp>
        <p:sp>
          <p:nvSpPr>
            <p:cNvPr id="1044" name="Freeform 20"/>
            <p:cNvSpPr>
              <a:spLocks/>
            </p:cNvSpPr>
            <p:nvPr/>
          </p:nvSpPr>
          <p:spPr bwMode="gray">
            <a:xfrm>
              <a:off x="-1" y="13"/>
              <a:ext cx="405" cy="441"/>
            </a:xfrm>
            <a:custGeom>
              <a:avLst/>
              <a:gdLst/>
              <a:ahLst/>
              <a:cxnLst>
                <a:cxn ang="0">
                  <a:pos x="2" y="441"/>
                </a:cxn>
                <a:cxn ang="0">
                  <a:pos x="107" y="175"/>
                </a:cxn>
                <a:cxn ang="0">
                  <a:pos x="387" y="0"/>
                </a:cxn>
                <a:cxn ang="0">
                  <a:pos x="1" y="0"/>
                </a:cxn>
              </a:cxnLst>
              <a:rect l="0" t="0" r="r" b="b"/>
              <a:pathLst>
                <a:path w="405" h="441">
                  <a:moveTo>
                    <a:pt x="2" y="441"/>
                  </a:moveTo>
                  <a:cubicBezTo>
                    <a:pt x="19" y="397"/>
                    <a:pt x="0" y="345"/>
                    <a:pt x="107" y="175"/>
                  </a:cubicBezTo>
                  <a:cubicBezTo>
                    <a:pt x="214" y="6"/>
                    <a:pt x="405" y="16"/>
                    <a:pt x="387" y="0"/>
                  </a:cubicBezTo>
                  <a:lnTo>
                    <a:pt x="1" y="0"/>
                  </a:lnTo>
                </a:path>
              </a:pathLst>
            </a:custGeom>
            <a:solidFill>
              <a:schemeClr val="bg1"/>
            </a:solidFill>
            <a:ln w="9525">
              <a:noFill/>
              <a:round/>
              <a:headEnd/>
              <a:tailEnd/>
            </a:ln>
            <a:effectLst/>
          </p:spPr>
          <p:txBody>
            <a:bodyPr/>
            <a:lstStyle/>
            <a:p>
              <a:pPr>
                <a:defRPr/>
              </a:pPr>
              <a:endParaRPr lang="es-ES_tradnl"/>
            </a:p>
          </p:txBody>
        </p:sp>
        <p:sp>
          <p:nvSpPr>
            <p:cNvPr id="1045" name="Freeform 21"/>
            <p:cNvSpPr>
              <a:spLocks/>
            </p:cNvSpPr>
            <p:nvPr/>
          </p:nvSpPr>
          <p:spPr bwMode="gray">
            <a:xfrm>
              <a:off x="7588" y="0"/>
              <a:ext cx="470" cy="483"/>
            </a:xfrm>
            <a:custGeom>
              <a:avLst/>
              <a:gdLst/>
              <a:ahLst/>
              <a:cxnLst>
                <a:cxn ang="0">
                  <a:pos x="0" y="4"/>
                </a:cxn>
                <a:cxn ang="0">
                  <a:pos x="342" y="150"/>
                </a:cxn>
                <a:cxn ang="0">
                  <a:pos x="470" y="461"/>
                </a:cxn>
                <a:cxn ang="0">
                  <a:pos x="470" y="0"/>
                </a:cxn>
              </a:cxnLst>
              <a:rect l="0" t="0" r="r" b="b"/>
              <a:pathLst>
                <a:path w="470" h="483">
                  <a:moveTo>
                    <a:pt x="0" y="4"/>
                  </a:moveTo>
                  <a:cubicBezTo>
                    <a:pt x="57" y="28"/>
                    <a:pt x="264" y="74"/>
                    <a:pt x="342" y="150"/>
                  </a:cubicBezTo>
                  <a:cubicBezTo>
                    <a:pt x="450" y="275"/>
                    <a:pt x="452" y="483"/>
                    <a:pt x="470" y="461"/>
                  </a:cubicBezTo>
                  <a:lnTo>
                    <a:pt x="470" y="0"/>
                  </a:lnTo>
                </a:path>
              </a:pathLst>
            </a:custGeom>
            <a:solidFill>
              <a:schemeClr val="bg1"/>
            </a:solidFill>
            <a:ln w="9525">
              <a:noFill/>
              <a:round/>
              <a:headEnd/>
              <a:tailEnd/>
            </a:ln>
            <a:effectLst/>
          </p:spPr>
          <p:txBody>
            <a:bodyPr/>
            <a:lstStyle/>
            <a:p>
              <a:pPr>
                <a:defRPr/>
              </a:pPr>
              <a:endParaRPr lang="es-ES_tradnl"/>
            </a:p>
          </p:txBody>
        </p:sp>
      </p:grpSp>
      <p:sp>
        <p:nvSpPr>
          <p:cNvPr id="1046" name="Line 22"/>
          <p:cNvSpPr>
            <a:spLocks noChangeShapeType="1"/>
          </p:cNvSpPr>
          <p:nvPr/>
        </p:nvSpPr>
        <p:spPr bwMode="gray">
          <a:xfrm>
            <a:off x="323850" y="6500813"/>
            <a:ext cx="8569325" cy="0"/>
          </a:xfrm>
          <a:prstGeom prst="line">
            <a:avLst/>
          </a:prstGeom>
          <a:noFill/>
          <a:ln w="9525">
            <a:solidFill>
              <a:schemeClr val="tx1"/>
            </a:solidFill>
            <a:round/>
            <a:headEnd/>
            <a:tailEnd/>
          </a:ln>
          <a:effectLst/>
        </p:spPr>
        <p:txBody>
          <a:bodyPr/>
          <a:lstStyle/>
          <a:p>
            <a:pPr>
              <a:defRPr/>
            </a:pPr>
            <a:endParaRPr lang="es-ES_tradnl"/>
          </a:p>
        </p:txBody>
      </p:sp>
    </p:spTree>
  </p:cSld>
  <p:clrMap bg1="lt1" tx1="dk1" bg2="lt2" tx2="dk2" accent1="accent1" accent2="accent2" accent3="accent3" accent4="accent4" accent5="accent5" accent6="accent6" hlink="hlink" folHlink="folHlink"/>
  <p:sldLayoutIdLst>
    <p:sldLayoutId id="2147483673"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dt="0"/>
  <p:txStyles>
    <p:titleStyle>
      <a:lvl1pPr algn="ctr" defTabSz="957263" rtl="0" fontAlgn="base">
        <a:spcBef>
          <a:spcPct val="0"/>
        </a:spcBef>
        <a:spcAft>
          <a:spcPct val="0"/>
        </a:spcAft>
        <a:defRPr sz="2900" b="1">
          <a:solidFill>
            <a:schemeClr val="bg1"/>
          </a:solidFill>
          <a:latin typeface="+mj-lt"/>
          <a:ea typeface="+mj-ea"/>
          <a:cs typeface="+mj-cs"/>
        </a:defRPr>
      </a:lvl1pPr>
      <a:lvl2pPr algn="ctr" defTabSz="957263" rtl="0" fontAlgn="base">
        <a:spcBef>
          <a:spcPct val="0"/>
        </a:spcBef>
        <a:spcAft>
          <a:spcPct val="0"/>
        </a:spcAft>
        <a:defRPr sz="2900" b="1">
          <a:solidFill>
            <a:schemeClr val="bg1"/>
          </a:solidFill>
          <a:latin typeface="Arial" charset="0"/>
        </a:defRPr>
      </a:lvl2pPr>
      <a:lvl3pPr algn="ctr" defTabSz="957263" rtl="0" fontAlgn="base">
        <a:spcBef>
          <a:spcPct val="0"/>
        </a:spcBef>
        <a:spcAft>
          <a:spcPct val="0"/>
        </a:spcAft>
        <a:defRPr sz="2900" b="1">
          <a:solidFill>
            <a:schemeClr val="bg1"/>
          </a:solidFill>
          <a:latin typeface="Arial" charset="0"/>
        </a:defRPr>
      </a:lvl3pPr>
      <a:lvl4pPr algn="ctr" defTabSz="957263" rtl="0" fontAlgn="base">
        <a:spcBef>
          <a:spcPct val="0"/>
        </a:spcBef>
        <a:spcAft>
          <a:spcPct val="0"/>
        </a:spcAft>
        <a:defRPr sz="2900" b="1">
          <a:solidFill>
            <a:schemeClr val="bg1"/>
          </a:solidFill>
          <a:latin typeface="Arial" charset="0"/>
        </a:defRPr>
      </a:lvl4pPr>
      <a:lvl5pPr algn="ctr" defTabSz="957263" rtl="0" fontAlgn="base">
        <a:spcBef>
          <a:spcPct val="0"/>
        </a:spcBef>
        <a:spcAft>
          <a:spcPct val="0"/>
        </a:spcAft>
        <a:defRPr sz="2900" b="1">
          <a:solidFill>
            <a:schemeClr val="bg1"/>
          </a:solidFill>
          <a:latin typeface="Arial" charset="0"/>
        </a:defRPr>
      </a:lvl5pPr>
      <a:lvl6pPr marL="457200" algn="ctr" defTabSz="957263" rtl="0" eaLnBrk="1" fontAlgn="base" hangingPunct="1">
        <a:spcBef>
          <a:spcPct val="0"/>
        </a:spcBef>
        <a:spcAft>
          <a:spcPct val="0"/>
        </a:spcAft>
        <a:defRPr sz="2900" b="1">
          <a:solidFill>
            <a:schemeClr val="bg1"/>
          </a:solidFill>
          <a:latin typeface="Arial" charset="0"/>
        </a:defRPr>
      </a:lvl6pPr>
      <a:lvl7pPr marL="914400" algn="ctr" defTabSz="957263" rtl="0" eaLnBrk="1" fontAlgn="base" hangingPunct="1">
        <a:spcBef>
          <a:spcPct val="0"/>
        </a:spcBef>
        <a:spcAft>
          <a:spcPct val="0"/>
        </a:spcAft>
        <a:defRPr sz="2900" b="1">
          <a:solidFill>
            <a:schemeClr val="bg1"/>
          </a:solidFill>
          <a:latin typeface="Arial" charset="0"/>
        </a:defRPr>
      </a:lvl7pPr>
      <a:lvl8pPr marL="1371600" algn="ctr" defTabSz="957263" rtl="0" eaLnBrk="1" fontAlgn="base" hangingPunct="1">
        <a:spcBef>
          <a:spcPct val="0"/>
        </a:spcBef>
        <a:spcAft>
          <a:spcPct val="0"/>
        </a:spcAft>
        <a:defRPr sz="2900" b="1">
          <a:solidFill>
            <a:schemeClr val="bg1"/>
          </a:solidFill>
          <a:latin typeface="Arial" charset="0"/>
        </a:defRPr>
      </a:lvl8pPr>
      <a:lvl9pPr marL="1828800" algn="ctr" defTabSz="957263" rtl="0" eaLnBrk="1" fontAlgn="base" hangingPunct="1">
        <a:spcBef>
          <a:spcPct val="0"/>
        </a:spcBef>
        <a:spcAft>
          <a:spcPct val="0"/>
        </a:spcAft>
        <a:defRPr sz="2900" b="1">
          <a:solidFill>
            <a:schemeClr val="bg1"/>
          </a:solidFill>
          <a:latin typeface="Arial" charset="0"/>
        </a:defRPr>
      </a:lvl9pPr>
    </p:titleStyle>
    <p:body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r>
              <a:rPr lang="en-US" sz="3200" dirty="0" err="1"/>
              <a:t>Identificaci</a:t>
            </a:r>
            <a:r>
              <a:rPr lang="es-ES" sz="3200" dirty="0"/>
              <a:t>ón de los elementos de un programa informático</a:t>
            </a:r>
            <a:endParaRPr lang="en-US" sz="3200" dirty="0"/>
          </a:p>
        </p:txBody>
      </p:sp>
      <p:sp>
        <p:nvSpPr>
          <p:cNvPr id="3075" name="Rectangle 3"/>
          <p:cNvSpPr>
            <a:spLocks noGrp="1" noChangeArrowheads="1"/>
          </p:cNvSpPr>
          <p:nvPr>
            <p:ph type="subTitle" idx="1"/>
          </p:nvPr>
        </p:nvSpPr>
        <p:spPr>
          <a:xfrm>
            <a:off x="990600" y="2122488"/>
            <a:ext cx="7086600" cy="434975"/>
          </a:xfrm>
        </p:spPr>
        <p:txBody>
          <a:bodyPr/>
          <a:lstStyle/>
          <a:p>
            <a:r>
              <a:rPr lang="en-US" dirty="0"/>
              <a:t>UD1</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Contenido UD</a:t>
            </a:r>
          </a:p>
        </p:txBody>
      </p:sp>
      <p:sp>
        <p:nvSpPr>
          <p:cNvPr id="6" name="Rectangle 1"/>
          <p:cNvSpPr>
            <a:spLocks noChangeArrowheads="1"/>
          </p:cNvSpPr>
          <p:nvPr/>
        </p:nvSpPr>
        <p:spPr bwMode="auto">
          <a:xfrm>
            <a:off x="373076" y="1340768"/>
            <a:ext cx="853310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_tradnl" altLang="es-ES_tradnl" sz="1800" b="1" i="0" u="none" strike="noStrike" cap="none" normalizeH="0" baseline="0" dirty="0">
                <a:ln>
                  <a:noFill/>
                </a:ln>
                <a:solidFill>
                  <a:schemeClr val="tx1"/>
                </a:solidFill>
                <a:effectLst/>
                <a:latin typeface="Arial" charset="0"/>
              </a:rPr>
              <a:t>R.A.1:Reconoce la estructura de un programa informático, identificando y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_tradnl" altLang="es-ES_tradnl" sz="1800" b="1" i="0" u="none" strike="noStrike" cap="none" normalizeH="0" baseline="0" dirty="0">
                <a:ln>
                  <a:noFill/>
                </a:ln>
                <a:solidFill>
                  <a:schemeClr val="tx1"/>
                </a:solidFill>
                <a:effectLst/>
                <a:latin typeface="Arial" charset="0"/>
              </a:rPr>
              <a:t>relacionando los elementos propios del lenguaje de programación utilizado.</a:t>
            </a:r>
            <a:endParaRPr kumimoji="0" lang="es-ES_tradnl" altLang="es-ES_tradnl" sz="1800"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_tradnl" altLang="es-ES_tradnl" sz="1800" b="0" i="0" u="none" strike="noStrike" cap="none" normalizeH="0" baseline="0" dirty="0">
                <a:ln>
                  <a:noFill/>
                </a:ln>
                <a:solidFill>
                  <a:schemeClr val="tx1"/>
                </a:solidFill>
                <a:effectLst/>
                <a:latin typeface="Arial" charset="0"/>
              </a:rPr>
              <a:t/>
            </a:r>
            <a:br>
              <a:rPr kumimoji="0" lang="es-ES_tradnl" altLang="es-ES_tradnl" sz="1800" b="0" i="0" u="none" strike="noStrike" cap="none" normalizeH="0" baseline="0" dirty="0">
                <a:ln>
                  <a:noFill/>
                </a:ln>
                <a:solidFill>
                  <a:schemeClr val="tx1"/>
                </a:solidFill>
                <a:effectLst/>
                <a:latin typeface="Arial" charset="0"/>
              </a:rPr>
            </a:br>
            <a:endParaRPr kumimoji="0" lang="es-ES_tradnl" altLang="es-ES_tradnl" sz="1800"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_tradnl" altLang="es-ES_tradnl" sz="1800" b="0" i="0" u="none" strike="noStrike" cap="none" normalizeH="0" baseline="0" dirty="0">
              <a:ln>
                <a:noFill/>
              </a:ln>
              <a:solidFill>
                <a:schemeClr val="tx1"/>
              </a:solidFill>
              <a:effectLst/>
              <a:latin typeface="Arial" charset="0"/>
            </a:endParaRPr>
          </a:p>
        </p:txBody>
      </p:sp>
      <p:graphicFrame>
        <p:nvGraphicFramePr>
          <p:cNvPr id="4" name="Tabla 3">
            <a:extLst>
              <a:ext uri="{FF2B5EF4-FFF2-40B4-BE49-F238E27FC236}">
                <a16:creationId xmlns:a16="http://schemas.microsoft.com/office/drawing/2014/main" id="{0ACA9C6D-CCCE-A648-9963-2FE399BA6534}"/>
              </a:ext>
            </a:extLst>
          </p:cNvPr>
          <p:cNvGraphicFramePr>
            <a:graphicFrameLocks noGrp="1"/>
          </p:cNvGraphicFramePr>
          <p:nvPr>
            <p:extLst>
              <p:ext uri="{D42A27DB-BD31-4B8C-83A1-F6EECF244321}">
                <p14:modId xmlns:p14="http://schemas.microsoft.com/office/powerpoint/2010/main" val="2295669815"/>
              </p:ext>
            </p:extLst>
          </p:nvPr>
        </p:nvGraphicFramePr>
        <p:xfrm>
          <a:off x="1296353" y="2020605"/>
          <a:ext cx="6551294" cy="4038600"/>
        </p:xfrm>
        <a:graphic>
          <a:graphicData uri="http://schemas.openxmlformats.org/drawingml/2006/table">
            <a:tbl>
              <a:tblPr firstRow="1" firstCol="1" bandRow="1"/>
              <a:tblGrid>
                <a:gridCol w="1836954">
                  <a:extLst>
                    <a:ext uri="{9D8B030D-6E8A-4147-A177-3AD203B41FA5}">
                      <a16:colId xmlns:a16="http://schemas.microsoft.com/office/drawing/2014/main" val="3456734630"/>
                    </a:ext>
                  </a:extLst>
                </a:gridCol>
                <a:gridCol w="1260206">
                  <a:extLst>
                    <a:ext uri="{9D8B030D-6E8A-4147-A177-3AD203B41FA5}">
                      <a16:colId xmlns:a16="http://schemas.microsoft.com/office/drawing/2014/main" val="1154491238"/>
                    </a:ext>
                  </a:extLst>
                </a:gridCol>
                <a:gridCol w="1438693">
                  <a:extLst>
                    <a:ext uri="{9D8B030D-6E8A-4147-A177-3AD203B41FA5}">
                      <a16:colId xmlns:a16="http://schemas.microsoft.com/office/drawing/2014/main" val="3579438947"/>
                    </a:ext>
                  </a:extLst>
                </a:gridCol>
                <a:gridCol w="2015441">
                  <a:extLst>
                    <a:ext uri="{9D8B030D-6E8A-4147-A177-3AD203B41FA5}">
                      <a16:colId xmlns:a16="http://schemas.microsoft.com/office/drawing/2014/main" val="4261986970"/>
                    </a:ext>
                  </a:extLst>
                </a:gridCol>
              </a:tblGrid>
              <a:tr h="299720">
                <a:tc>
                  <a:txBody>
                    <a:bodyPr/>
                    <a:lstStyle/>
                    <a:p>
                      <a:pPr algn="ctr">
                        <a:spcAft>
                          <a:spcPts val="0"/>
                        </a:spcAft>
                      </a:pPr>
                      <a:r>
                        <a:rPr lang="es-ES_tradnl" sz="1100" b="1">
                          <a:effectLst/>
                          <a:latin typeface="Calibri" panose="020F0502020204030204" pitchFamily="34" charset="0"/>
                          <a:ea typeface="Calibri" panose="020F0502020204030204" pitchFamily="34" charset="0"/>
                          <a:cs typeface="Times New Roman" panose="02020603050405020304" pitchFamily="18" charset="0"/>
                        </a:rPr>
                        <a:t>CRITERIOS DE EVALUACIÓN</a:t>
                      </a:r>
                      <a:endParaRPr lang="es-ES" sz="1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_tradnl" sz="1100" b="1">
                          <a:effectLst/>
                          <a:latin typeface="Calibri" panose="020F0502020204030204" pitchFamily="34" charset="0"/>
                          <a:ea typeface="Calibri" panose="020F0502020204030204" pitchFamily="34" charset="0"/>
                          <a:cs typeface="Times New Roman" panose="02020603050405020304" pitchFamily="18" charset="0"/>
                        </a:rPr>
                        <a:t>PROCEDIMIENTOS ESENCIALES</a:t>
                      </a:r>
                      <a:endParaRPr lang="es-ES" sz="10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_tradnl" sz="1100" b="1">
                          <a:effectLst/>
                          <a:latin typeface="Calibri" panose="020F0502020204030204" pitchFamily="34" charset="0"/>
                          <a:ea typeface="Calibri" panose="020F0502020204030204" pitchFamily="34" charset="0"/>
                          <a:cs typeface="Times New Roman" panose="02020603050405020304" pitchFamily="18" charset="0"/>
                        </a:rPr>
                        <a:t>EVALUACIÓN</a:t>
                      </a:r>
                      <a:endParaRPr lang="es-ES" sz="1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_tradnl" sz="1100" b="1">
                          <a:effectLst/>
                          <a:latin typeface="Calibri" panose="020F0502020204030204" pitchFamily="34" charset="0"/>
                          <a:ea typeface="Calibri" panose="020F0502020204030204" pitchFamily="34" charset="0"/>
                          <a:cs typeface="Times New Roman" panose="02020603050405020304" pitchFamily="18" charset="0"/>
                        </a:rPr>
                        <a:t>CONTENIDOS</a:t>
                      </a:r>
                      <a:endParaRPr lang="es-ES" sz="1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65411931"/>
                  </a:ext>
                </a:extLst>
              </a:tr>
              <a:tr h="198755">
                <a:tc>
                  <a:txBody>
                    <a:bodyPr/>
                    <a:lstStyle/>
                    <a:p>
                      <a:pPr marL="342900" lvl="0" indent="-342900">
                        <a:spcAft>
                          <a:spcPts val="0"/>
                        </a:spcAft>
                        <a:buFont typeface="+mj-lt"/>
                        <a:buAutoNum type="alphaLcParenR"/>
                      </a:pPr>
                      <a:r>
                        <a:rPr lang="es-ES_tradnl" sz="900">
                          <a:effectLst/>
                          <a:latin typeface="Times New Roman" panose="02020603050405020304" pitchFamily="18" charset="0"/>
                          <a:ea typeface="Times New Roman" panose="02020603050405020304" pitchFamily="18" charset="0"/>
                        </a:rPr>
                        <a:t>Se han identificado los bloques que componen la estructura de un programa informático.</a:t>
                      </a:r>
                      <a:endParaRPr lang="es-ES" sz="1000">
                        <a:effectLst/>
                        <a:latin typeface="Times New Roman" panose="02020603050405020304" pitchFamily="18" charset="0"/>
                        <a:ea typeface="Times New Roman" panose="02020603050405020304" pitchFamily="18" charset="0"/>
                      </a:endParaRPr>
                    </a:p>
                    <a:p>
                      <a:pPr marL="342900" lvl="0" indent="-342900">
                        <a:spcAft>
                          <a:spcPts val="0"/>
                        </a:spcAft>
                        <a:buFont typeface="+mj-lt"/>
                        <a:buAutoNum type="alphaLcParenR"/>
                      </a:pPr>
                      <a:r>
                        <a:rPr lang="es-ES_tradnl" sz="900">
                          <a:effectLst/>
                          <a:latin typeface="Times New Roman" panose="02020603050405020304" pitchFamily="18" charset="0"/>
                          <a:ea typeface="Times New Roman" panose="02020603050405020304" pitchFamily="18" charset="0"/>
                        </a:rPr>
                        <a:t>Se han creado proyectos de desarrollo de aplicaciones.</a:t>
                      </a:r>
                      <a:endParaRPr lang="es-ES" sz="1000">
                        <a:effectLst/>
                        <a:latin typeface="Times New Roman" panose="02020603050405020304" pitchFamily="18" charset="0"/>
                        <a:ea typeface="Times New Roman" panose="02020603050405020304" pitchFamily="18" charset="0"/>
                      </a:endParaRPr>
                    </a:p>
                    <a:p>
                      <a:pPr marL="342900" lvl="0" indent="-342900">
                        <a:spcAft>
                          <a:spcPts val="0"/>
                        </a:spcAft>
                        <a:buFont typeface="+mj-lt"/>
                        <a:buAutoNum type="alphaLcParenR"/>
                      </a:pPr>
                      <a:r>
                        <a:rPr lang="es-ES_tradnl" sz="900">
                          <a:effectLst/>
                          <a:latin typeface="Times New Roman" panose="02020603050405020304" pitchFamily="18" charset="0"/>
                          <a:ea typeface="Times New Roman" panose="02020603050405020304" pitchFamily="18" charset="0"/>
                        </a:rPr>
                        <a:t>Se han utilizado entornos integrados de desarrollo.</a:t>
                      </a:r>
                      <a:endParaRPr lang="es-ES" sz="1000">
                        <a:effectLst/>
                        <a:latin typeface="Times New Roman" panose="02020603050405020304" pitchFamily="18" charset="0"/>
                        <a:ea typeface="Times New Roman" panose="02020603050405020304" pitchFamily="18" charset="0"/>
                      </a:endParaRPr>
                    </a:p>
                    <a:p>
                      <a:pPr marL="342900" lvl="0" indent="-342900">
                        <a:spcAft>
                          <a:spcPts val="0"/>
                        </a:spcAft>
                        <a:buFont typeface="+mj-lt"/>
                        <a:buAutoNum type="alphaLcParenR"/>
                      </a:pPr>
                      <a:r>
                        <a:rPr lang="es-ES_tradnl" sz="900">
                          <a:effectLst/>
                          <a:latin typeface="Times New Roman" panose="02020603050405020304" pitchFamily="18" charset="0"/>
                          <a:ea typeface="Times New Roman" panose="02020603050405020304" pitchFamily="18" charset="0"/>
                        </a:rPr>
                        <a:t>Se han identificado los distintos tipos de variables y la utilidad específica de cada uno.</a:t>
                      </a:r>
                      <a:endParaRPr lang="es-ES" sz="1000">
                        <a:effectLst/>
                        <a:latin typeface="Times New Roman" panose="02020603050405020304" pitchFamily="18" charset="0"/>
                        <a:ea typeface="Times New Roman" panose="02020603050405020304" pitchFamily="18" charset="0"/>
                      </a:endParaRPr>
                    </a:p>
                    <a:p>
                      <a:pPr marL="342900" lvl="0" indent="-342900">
                        <a:spcAft>
                          <a:spcPts val="0"/>
                        </a:spcAft>
                        <a:buFont typeface="+mj-lt"/>
                        <a:buAutoNum type="alphaLcParenR"/>
                      </a:pPr>
                      <a:r>
                        <a:rPr lang="es-ES_tradnl" sz="900">
                          <a:effectLst/>
                          <a:latin typeface="Times New Roman" panose="02020603050405020304" pitchFamily="18" charset="0"/>
                          <a:ea typeface="Times New Roman" panose="02020603050405020304" pitchFamily="18" charset="0"/>
                        </a:rPr>
                        <a:t>Se ha modificado el código de un programa para crear y utilizar variables.</a:t>
                      </a:r>
                      <a:endParaRPr lang="es-ES" sz="1000">
                        <a:effectLst/>
                        <a:latin typeface="Times New Roman" panose="02020603050405020304" pitchFamily="18" charset="0"/>
                        <a:ea typeface="Times New Roman" panose="02020603050405020304" pitchFamily="18" charset="0"/>
                      </a:endParaRPr>
                    </a:p>
                    <a:p>
                      <a:pPr marL="342900" lvl="0" indent="-342900">
                        <a:spcAft>
                          <a:spcPts val="0"/>
                        </a:spcAft>
                        <a:buFont typeface="+mj-lt"/>
                        <a:buAutoNum type="alphaLcParenR"/>
                      </a:pPr>
                      <a:r>
                        <a:rPr lang="es-ES_tradnl" sz="900">
                          <a:effectLst/>
                          <a:latin typeface="Times New Roman" panose="02020603050405020304" pitchFamily="18" charset="0"/>
                          <a:ea typeface="Times New Roman" panose="02020603050405020304" pitchFamily="18" charset="0"/>
                        </a:rPr>
                        <a:t>Se han creado y utilizado constantes y literales.</a:t>
                      </a:r>
                      <a:endParaRPr lang="es-ES" sz="1000">
                        <a:effectLst/>
                        <a:latin typeface="Times New Roman" panose="02020603050405020304" pitchFamily="18" charset="0"/>
                        <a:ea typeface="Times New Roman" panose="02020603050405020304" pitchFamily="18" charset="0"/>
                      </a:endParaRPr>
                    </a:p>
                    <a:p>
                      <a:pPr marL="342900" lvl="0" indent="-342900">
                        <a:spcAft>
                          <a:spcPts val="0"/>
                        </a:spcAft>
                        <a:buFont typeface="+mj-lt"/>
                        <a:buAutoNum type="alphaLcParenR"/>
                      </a:pPr>
                      <a:r>
                        <a:rPr lang="es-ES_tradnl" sz="900">
                          <a:effectLst/>
                          <a:latin typeface="Times New Roman" panose="02020603050405020304" pitchFamily="18" charset="0"/>
                          <a:ea typeface="Times New Roman" panose="02020603050405020304" pitchFamily="18" charset="0"/>
                        </a:rPr>
                        <a:t>Se han clasificado, reconocido y utilizado en expresiones los operadores del lenguaje.</a:t>
                      </a:r>
                      <a:endParaRPr lang="es-ES" sz="1000">
                        <a:effectLst/>
                        <a:latin typeface="Times New Roman" panose="02020603050405020304" pitchFamily="18" charset="0"/>
                        <a:ea typeface="Times New Roman" panose="02020603050405020304" pitchFamily="18" charset="0"/>
                      </a:endParaRPr>
                    </a:p>
                    <a:p>
                      <a:pPr marL="342900" lvl="0" indent="-342900">
                        <a:spcAft>
                          <a:spcPts val="0"/>
                        </a:spcAft>
                        <a:buFont typeface="+mj-lt"/>
                        <a:buAutoNum type="alphaLcParenR"/>
                      </a:pPr>
                      <a:r>
                        <a:rPr lang="es-ES_tradnl" sz="900">
                          <a:effectLst/>
                          <a:latin typeface="Times New Roman" panose="02020603050405020304" pitchFamily="18" charset="0"/>
                          <a:ea typeface="Times New Roman" panose="02020603050405020304" pitchFamily="18" charset="0"/>
                        </a:rPr>
                        <a:t>Se ha comprobado el funcionamiento de las conversiones de tipos explícitas e implícitas.</a:t>
                      </a:r>
                      <a:endParaRPr lang="es-ES" sz="1000">
                        <a:effectLst/>
                        <a:latin typeface="Times New Roman" panose="02020603050405020304" pitchFamily="18" charset="0"/>
                        <a:ea typeface="Times New Roman" panose="02020603050405020304" pitchFamily="18" charset="0"/>
                      </a:endParaRPr>
                    </a:p>
                    <a:p>
                      <a:pPr marL="342900" lvl="0" indent="-342900">
                        <a:spcAft>
                          <a:spcPts val="0"/>
                        </a:spcAft>
                        <a:buFont typeface="+mj-lt"/>
                        <a:buAutoNum type="alphaLcParenR"/>
                      </a:pPr>
                      <a:r>
                        <a:rPr lang="es-ES_tradnl" sz="900">
                          <a:effectLst/>
                          <a:latin typeface="Times New Roman" panose="02020603050405020304" pitchFamily="18" charset="0"/>
                          <a:ea typeface="Times New Roman" panose="02020603050405020304" pitchFamily="18" charset="0"/>
                        </a:rPr>
                        <a:t>Se han introducido comentarios en el código.</a:t>
                      </a:r>
                      <a:endParaRPr lang="es-ES" sz="1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_tradnl" sz="900">
                          <a:solidFill>
                            <a:srgbClr val="000000"/>
                          </a:solidFill>
                          <a:effectLst/>
                          <a:latin typeface="Times New Roman" panose="02020603050405020304" pitchFamily="18" charset="0"/>
                          <a:ea typeface="Times New Roman" panose="02020603050405020304" pitchFamily="18" charset="0"/>
                        </a:rPr>
                        <a:t>PE 1. Crear proyectos simples, identificando los distintos bloques del programa, y usando variables, constantes, literales, expresiones, conversiones y comentarios</a:t>
                      </a:r>
                      <a:endParaRPr lang="es-ES" sz="1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DBDB"/>
                    </a:solidFill>
                  </a:tcPr>
                </a:tc>
                <a:tc>
                  <a:txBody>
                    <a:bodyPr/>
                    <a:lstStyle/>
                    <a:p>
                      <a:pPr>
                        <a:spcAft>
                          <a:spcPts val="0"/>
                        </a:spcAft>
                      </a:pPr>
                      <a:r>
                        <a:rPr lang="es-ES_tradnl" sz="900">
                          <a:solidFill>
                            <a:srgbClr val="000000"/>
                          </a:solidFill>
                          <a:effectLst/>
                          <a:latin typeface="Times New Roman" panose="02020603050405020304" pitchFamily="18" charset="0"/>
                          <a:ea typeface="Times New Roman" panose="02020603050405020304" pitchFamily="18" charset="0"/>
                        </a:rPr>
                        <a:t>Prueba </a:t>
                      </a:r>
                      <a:r>
                        <a:rPr lang="es-ES_tradnl" sz="900" smtClean="0">
                          <a:solidFill>
                            <a:srgbClr val="000000"/>
                          </a:solidFill>
                          <a:effectLst/>
                          <a:latin typeface="Times New Roman" panose="02020603050405020304" pitchFamily="18" charset="0"/>
                          <a:ea typeface="Times New Roman" panose="02020603050405020304" pitchFamily="18" charset="0"/>
                        </a:rPr>
                        <a:t>1 Test </a:t>
                      </a:r>
                      <a:r>
                        <a:rPr lang="es-ES_tradnl" sz="900">
                          <a:solidFill>
                            <a:srgbClr val="000000"/>
                          </a:solidFill>
                          <a:effectLst/>
                          <a:latin typeface="Times New Roman" panose="02020603050405020304" pitchFamily="18" charset="0"/>
                          <a:ea typeface="Times New Roman" panose="02020603050405020304" pitchFamily="18" charset="0"/>
                        </a:rPr>
                        <a:t>(100%)</a:t>
                      </a:r>
                      <a:endParaRPr lang="es-ES" sz="1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DBDB"/>
                    </a:solidFill>
                  </a:tcPr>
                </a:tc>
                <a:tc>
                  <a:txBody>
                    <a:bodyPr/>
                    <a:lstStyle/>
                    <a:p>
                      <a:pPr>
                        <a:spcAft>
                          <a:spcPts val="0"/>
                        </a:spcAft>
                      </a:pPr>
                      <a:r>
                        <a:rPr lang="es-ES_tradnl" sz="900" dirty="0">
                          <a:solidFill>
                            <a:srgbClr val="000000"/>
                          </a:solidFill>
                          <a:effectLst/>
                          <a:latin typeface="Times New Roman" panose="02020603050405020304" pitchFamily="18" charset="0"/>
                          <a:ea typeface="Times New Roman" panose="02020603050405020304" pitchFamily="18" charset="0"/>
                        </a:rPr>
                        <a:t>Creación de proyectos. Estructura y componentes.</a:t>
                      </a:r>
                      <a:endParaRPr lang="es-ES" sz="1000" dirty="0">
                        <a:solidFill>
                          <a:srgbClr val="000000"/>
                        </a:solidFill>
                        <a:effectLst/>
                        <a:latin typeface="Times New Roman" panose="02020603050405020304" pitchFamily="18" charset="0"/>
                        <a:ea typeface="Times New Roman" panose="02020603050405020304" pitchFamily="18" charset="0"/>
                      </a:endParaRPr>
                    </a:p>
                    <a:p>
                      <a:pPr>
                        <a:spcAft>
                          <a:spcPts val="0"/>
                        </a:spcAft>
                      </a:pPr>
                      <a:r>
                        <a:rPr lang="es-ES_tradnl" sz="900" dirty="0">
                          <a:solidFill>
                            <a:srgbClr val="000000"/>
                          </a:solidFill>
                          <a:effectLst/>
                          <a:latin typeface="Times New Roman" panose="02020603050405020304" pitchFamily="18" charset="0"/>
                          <a:ea typeface="Times New Roman" panose="02020603050405020304" pitchFamily="18" charset="0"/>
                        </a:rPr>
                        <a:t>Entornos integrados de desarrollo: </a:t>
                      </a:r>
                      <a:endParaRPr lang="es-ES" sz="1000" dirty="0">
                        <a:solidFill>
                          <a:srgbClr val="000000"/>
                        </a:solidFill>
                        <a:effectLst/>
                        <a:latin typeface="Times New Roman" panose="02020603050405020304" pitchFamily="18" charset="0"/>
                        <a:ea typeface="Times New Roman" panose="02020603050405020304" pitchFamily="18" charset="0"/>
                      </a:endParaRPr>
                    </a:p>
                    <a:p>
                      <a:pPr>
                        <a:spcAft>
                          <a:spcPts val="0"/>
                        </a:spcAft>
                      </a:pPr>
                      <a:r>
                        <a:rPr lang="es-ES_tradnl" sz="900" dirty="0">
                          <a:solidFill>
                            <a:srgbClr val="000000"/>
                          </a:solidFill>
                          <a:effectLst/>
                          <a:latin typeface="Times New Roman" panose="02020603050405020304" pitchFamily="18" charset="0"/>
                          <a:ea typeface="Times New Roman" panose="02020603050405020304" pitchFamily="18" charset="0"/>
                        </a:rPr>
                        <a:t>Definición y tipos. Entornos comerciales y de Software libre. Instalación y descripción de entornos integrados de desarrollo.</a:t>
                      </a:r>
                      <a:endParaRPr lang="es-ES" sz="1000" dirty="0">
                        <a:solidFill>
                          <a:srgbClr val="000000"/>
                        </a:solidFill>
                        <a:effectLst/>
                        <a:latin typeface="Times New Roman" panose="02020603050405020304" pitchFamily="18" charset="0"/>
                        <a:ea typeface="Times New Roman" panose="02020603050405020304" pitchFamily="18" charset="0"/>
                      </a:endParaRPr>
                    </a:p>
                    <a:p>
                      <a:pPr>
                        <a:spcAft>
                          <a:spcPts val="0"/>
                        </a:spcAft>
                      </a:pPr>
                      <a:r>
                        <a:rPr lang="es-ES_tradnl" sz="900" dirty="0">
                          <a:solidFill>
                            <a:srgbClr val="000000"/>
                          </a:solidFill>
                          <a:effectLst/>
                          <a:latin typeface="Times New Roman" panose="02020603050405020304" pitchFamily="18" charset="0"/>
                          <a:ea typeface="Times New Roman" panose="02020603050405020304" pitchFamily="18" charset="0"/>
                        </a:rPr>
                        <a:t>Estructura y bloques fundamentales</a:t>
                      </a:r>
                      <a:endParaRPr lang="es-ES" sz="1000" dirty="0">
                        <a:solidFill>
                          <a:srgbClr val="000000"/>
                        </a:solidFill>
                        <a:effectLst/>
                        <a:latin typeface="Times New Roman" panose="02020603050405020304" pitchFamily="18" charset="0"/>
                        <a:ea typeface="Times New Roman" panose="02020603050405020304" pitchFamily="18" charset="0"/>
                      </a:endParaRPr>
                    </a:p>
                    <a:p>
                      <a:pPr>
                        <a:spcAft>
                          <a:spcPts val="0"/>
                        </a:spcAft>
                      </a:pPr>
                      <a:r>
                        <a:rPr lang="es-ES_tradnl" sz="900" dirty="0">
                          <a:solidFill>
                            <a:srgbClr val="000000"/>
                          </a:solidFill>
                          <a:effectLst/>
                          <a:latin typeface="Times New Roman" panose="02020603050405020304" pitchFamily="18" charset="0"/>
                          <a:ea typeface="Times New Roman" panose="02020603050405020304" pitchFamily="18" charset="0"/>
                        </a:rPr>
                        <a:t>Variables. Tipos de datos</a:t>
                      </a:r>
                      <a:endParaRPr lang="es-ES" sz="1000" dirty="0">
                        <a:solidFill>
                          <a:srgbClr val="000000"/>
                        </a:solidFill>
                        <a:effectLst/>
                        <a:latin typeface="Times New Roman" panose="02020603050405020304" pitchFamily="18" charset="0"/>
                        <a:ea typeface="Times New Roman" panose="02020603050405020304" pitchFamily="18" charset="0"/>
                      </a:endParaRPr>
                    </a:p>
                    <a:p>
                      <a:pPr>
                        <a:spcAft>
                          <a:spcPts val="0"/>
                        </a:spcAft>
                      </a:pPr>
                      <a:r>
                        <a:rPr lang="es-ES_tradnl" sz="900" dirty="0">
                          <a:solidFill>
                            <a:srgbClr val="000000"/>
                          </a:solidFill>
                          <a:effectLst/>
                          <a:latin typeface="Times New Roman" panose="02020603050405020304" pitchFamily="18" charset="0"/>
                          <a:ea typeface="Times New Roman" panose="02020603050405020304" pitchFamily="18" charset="0"/>
                        </a:rPr>
                        <a:t>Literales. Constantes.</a:t>
                      </a:r>
                      <a:endParaRPr lang="es-ES" sz="1000" dirty="0">
                        <a:solidFill>
                          <a:srgbClr val="000000"/>
                        </a:solidFill>
                        <a:effectLst/>
                        <a:latin typeface="Times New Roman" panose="02020603050405020304" pitchFamily="18" charset="0"/>
                        <a:ea typeface="Times New Roman" panose="02020603050405020304" pitchFamily="18" charset="0"/>
                      </a:endParaRPr>
                    </a:p>
                    <a:p>
                      <a:pPr>
                        <a:spcAft>
                          <a:spcPts val="0"/>
                        </a:spcAft>
                      </a:pPr>
                      <a:r>
                        <a:rPr lang="es-ES_tradnl" sz="900" dirty="0">
                          <a:solidFill>
                            <a:srgbClr val="000000"/>
                          </a:solidFill>
                          <a:effectLst/>
                          <a:latin typeface="Times New Roman" panose="02020603050405020304" pitchFamily="18" charset="0"/>
                          <a:ea typeface="Times New Roman" panose="02020603050405020304" pitchFamily="18" charset="0"/>
                        </a:rPr>
                        <a:t>Operadores y expresiones</a:t>
                      </a:r>
                      <a:endParaRPr lang="es-ES" sz="1000" dirty="0">
                        <a:solidFill>
                          <a:srgbClr val="000000"/>
                        </a:solidFill>
                        <a:effectLst/>
                        <a:latin typeface="Times New Roman" panose="02020603050405020304" pitchFamily="18" charset="0"/>
                        <a:ea typeface="Times New Roman" panose="02020603050405020304" pitchFamily="18" charset="0"/>
                      </a:endParaRPr>
                    </a:p>
                    <a:p>
                      <a:pPr>
                        <a:spcAft>
                          <a:spcPts val="0"/>
                        </a:spcAft>
                      </a:pPr>
                      <a:r>
                        <a:rPr lang="es-ES_tradnl" sz="900" dirty="0">
                          <a:solidFill>
                            <a:srgbClr val="000000"/>
                          </a:solidFill>
                          <a:effectLst/>
                          <a:latin typeface="Times New Roman" panose="02020603050405020304" pitchFamily="18" charset="0"/>
                          <a:ea typeface="Times New Roman" panose="02020603050405020304" pitchFamily="18" charset="0"/>
                        </a:rPr>
                        <a:t>Conversiones de tipo.</a:t>
                      </a:r>
                      <a:endParaRPr lang="es-ES" sz="1000" dirty="0">
                        <a:solidFill>
                          <a:srgbClr val="000000"/>
                        </a:solidFill>
                        <a:effectLst/>
                        <a:latin typeface="Times New Roman" panose="02020603050405020304" pitchFamily="18" charset="0"/>
                        <a:ea typeface="Times New Roman" panose="02020603050405020304" pitchFamily="18" charset="0"/>
                      </a:endParaRPr>
                    </a:p>
                    <a:p>
                      <a:pPr>
                        <a:spcAft>
                          <a:spcPts val="0"/>
                        </a:spcAft>
                      </a:pPr>
                      <a:r>
                        <a:rPr lang="es-ES_tradnl" sz="900" dirty="0">
                          <a:solidFill>
                            <a:srgbClr val="000000"/>
                          </a:solidFill>
                          <a:effectLst/>
                          <a:latin typeface="Times New Roman" panose="02020603050405020304" pitchFamily="18" charset="0"/>
                          <a:ea typeface="Times New Roman" panose="02020603050405020304" pitchFamily="18" charset="0"/>
                        </a:rPr>
                        <a:t>Comentarios</a:t>
                      </a:r>
                      <a:endParaRPr lang="es-ES" sz="10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0656210"/>
                  </a:ext>
                </a:extLst>
              </a:tr>
            </a:tbl>
          </a:graphicData>
        </a:graphic>
      </p:graphicFrame>
    </p:spTree>
    <p:extLst>
      <p:ext uri="{BB962C8B-B14F-4D97-AF65-F5344CB8AC3E}">
        <p14:creationId xmlns:p14="http://schemas.microsoft.com/office/powerpoint/2010/main" val="4434512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Preguntas iniciales</a:t>
            </a:r>
            <a:endParaRPr lang="es-ES"/>
          </a:p>
        </p:txBody>
      </p:sp>
      <p:sp>
        <p:nvSpPr>
          <p:cNvPr id="3" name="Marcador de contenido 2"/>
          <p:cNvSpPr>
            <a:spLocks noGrp="1"/>
          </p:cNvSpPr>
          <p:nvPr>
            <p:ph idx="1"/>
          </p:nvPr>
        </p:nvSpPr>
        <p:spPr/>
        <p:txBody>
          <a:bodyPr/>
          <a:lstStyle/>
          <a:p>
            <a:r>
              <a:rPr lang="es-ES" sz="2000" smtClean="0"/>
              <a:t>¿Qué es programar?</a:t>
            </a:r>
          </a:p>
          <a:p>
            <a:endParaRPr lang="es-ES" sz="2000"/>
          </a:p>
          <a:p>
            <a:r>
              <a:rPr lang="es-ES" sz="2000" smtClean="0"/>
              <a:t>¿Has programado alguna vez?</a:t>
            </a:r>
          </a:p>
          <a:p>
            <a:endParaRPr lang="es-ES" sz="2000"/>
          </a:p>
          <a:p>
            <a:r>
              <a:rPr lang="es-ES" sz="2000" smtClean="0"/>
              <a:t>¿Qué es un lenguaje de programación?</a:t>
            </a:r>
          </a:p>
          <a:p>
            <a:endParaRPr lang="es-ES" sz="2000"/>
          </a:p>
          <a:p>
            <a:r>
              <a:rPr lang="es-ES" sz="2000" smtClean="0"/>
              <a:t>¿Qué lenguajes de programación conoces?</a:t>
            </a:r>
          </a:p>
          <a:p>
            <a:endParaRPr lang="es-ES"/>
          </a:p>
          <a:p>
            <a:pPr marL="0" indent="0">
              <a:buNone/>
            </a:pPr>
            <a:endParaRPr lang="es-ES" smtClean="0"/>
          </a:p>
          <a:p>
            <a:endParaRPr lang="es-ES" smtClean="0"/>
          </a:p>
          <a:p>
            <a:endParaRPr lang="es-ES"/>
          </a:p>
        </p:txBody>
      </p:sp>
      <p:pic>
        <p:nvPicPr>
          <p:cNvPr id="6" name="Imagen 5"/>
          <p:cNvPicPr>
            <a:picLocks noChangeAspect="1"/>
          </p:cNvPicPr>
          <p:nvPr/>
        </p:nvPicPr>
        <p:blipFill>
          <a:blip r:embed="rId2"/>
          <a:stretch>
            <a:fillRect/>
          </a:stretch>
        </p:blipFill>
        <p:spPr>
          <a:xfrm>
            <a:off x="1331640" y="3861048"/>
            <a:ext cx="1841691" cy="1968996"/>
          </a:xfrm>
          <a:prstGeom prst="rect">
            <a:avLst/>
          </a:prstGeom>
        </p:spPr>
      </p:pic>
      <p:pic>
        <p:nvPicPr>
          <p:cNvPr id="1028" name="Picture 4" descr="Los lenguajes de programación más utilizados en Big Data - PiperLa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7771" y="3872096"/>
            <a:ext cx="4023766" cy="2011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597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78 Redondear rectángulo de esquina diagonal"/>
          <p:cNvSpPr/>
          <p:nvPr/>
        </p:nvSpPr>
        <p:spPr bwMode="auto">
          <a:xfrm>
            <a:off x="1028650" y="1196975"/>
            <a:ext cx="7000875" cy="1098550"/>
          </a:xfrm>
          <a:prstGeom prst="round2DiagRect">
            <a:avLst/>
          </a:prstGeom>
          <a:solidFill>
            <a:schemeClr val="accent1">
              <a:alpha val="9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a:lstStyle/>
          <a:p>
            <a:pPr defTabSz="957263">
              <a:defRPr/>
            </a:pPr>
            <a:endParaRPr lang="es-ES_tradnl"/>
          </a:p>
        </p:txBody>
      </p:sp>
      <p:sp>
        <p:nvSpPr>
          <p:cNvPr id="5123" name="Rectangle 2"/>
          <p:cNvSpPr>
            <a:spLocks noGrp="1" noChangeArrowheads="1"/>
          </p:cNvSpPr>
          <p:nvPr>
            <p:ph type="title"/>
          </p:nvPr>
        </p:nvSpPr>
        <p:spPr/>
        <p:txBody>
          <a:bodyPr/>
          <a:lstStyle/>
          <a:p>
            <a:pPr eaLnBrk="1" hangingPunct="1"/>
            <a:r>
              <a:rPr lang="en-US"/>
              <a:t>QUÉ ES UN PROGRAMA</a:t>
            </a:r>
            <a:endParaRPr lang="en-US">
              <a:solidFill>
                <a:schemeClr val="accent1"/>
              </a:solidFill>
            </a:endParaRPr>
          </a:p>
        </p:txBody>
      </p:sp>
      <p:sp>
        <p:nvSpPr>
          <p:cNvPr id="24" name="Rectangle 3"/>
          <p:cNvSpPr txBox="1">
            <a:spLocks noChangeArrowheads="1"/>
          </p:cNvSpPr>
          <p:nvPr/>
        </p:nvSpPr>
        <p:spPr bwMode="auto">
          <a:xfrm>
            <a:off x="314275" y="1285875"/>
            <a:ext cx="7858125" cy="1000125"/>
          </a:xfrm>
          <a:prstGeom prst="rect">
            <a:avLst/>
          </a:prstGeom>
          <a:noFill/>
          <a:ln w="9525">
            <a:noFill/>
            <a:miter lim="800000"/>
            <a:headEnd/>
            <a:tailEnd/>
          </a:ln>
          <a:effectLst/>
        </p:spPr>
        <p:txBody>
          <a:bodyPr lIns="95782" tIns="47891" rIns="95782" bIns="47891"/>
          <a:lstStyle/>
          <a:p>
            <a:pPr marL="777875" lvl="1" indent="-298450" algn="ctr" defTabSz="957263">
              <a:spcBef>
                <a:spcPct val="20000"/>
              </a:spcBef>
              <a:buClr>
                <a:schemeClr val="accent1"/>
              </a:buClr>
              <a:defRPr/>
            </a:pPr>
            <a:r>
              <a:rPr lang="en-US" sz="2400" kern="0" dirty="0" err="1">
                <a:latin typeface="+mj-lt"/>
              </a:rPr>
              <a:t>Es</a:t>
            </a:r>
            <a:r>
              <a:rPr lang="en-US" sz="2400" kern="0" dirty="0">
                <a:latin typeface="+mj-lt"/>
              </a:rPr>
              <a:t> un </a:t>
            </a:r>
            <a:r>
              <a:rPr lang="en-US" sz="2400" kern="0" dirty="0" err="1">
                <a:latin typeface="+mj-lt"/>
              </a:rPr>
              <a:t>conjunto</a:t>
            </a:r>
            <a:r>
              <a:rPr lang="en-US" sz="2400" kern="0" dirty="0">
                <a:latin typeface="+mj-lt"/>
              </a:rPr>
              <a:t> de </a:t>
            </a:r>
            <a:r>
              <a:rPr lang="en-US" sz="2400" kern="0" dirty="0" err="1">
                <a:latin typeface="+mj-lt"/>
              </a:rPr>
              <a:t>instrucciones</a:t>
            </a:r>
            <a:r>
              <a:rPr lang="en-US" sz="2400" kern="0" dirty="0">
                <a:latin typeface="+mj-lt"/>
              </a:rPr>
              <a:t> </a:t>
            </a:r>
            <a:r>
              <a:rPr lang="en-US" sz="2400" kern="0" dirty="0" err="1">
                <a:latin typeface="+mj-lt"/>
              </a:rPr>
              <a:t>que</a:t>
            </a:r>
            <a:r>
              <a:rPr lang="en-US" sz="2400" kern="0" dirty="0">
                <a:latin typeface="+mj-lt"/>
              </a:rPr>
              <a:t> le dice</a:t>
            </a:r>
          </a:p>
          <a:p>
            <a:pPr marL="777875" lvl="1" indent="-298450" algn="ctr" defTabSz="957263">
              <a:spcBef>
                <a:spcPct val="20000"/>
              </a:spcBef>
              <a:buClr>
                <a:schemeClr val="accent1"/>
              </a:buClr>
              <a:defRPr/>
            </a:pPr>
            <a:r>
              <a:rPr lang="en-US" sz="2400" kern="0" dirty="0">
                <a:latin typeface="+mj-lt"/>
              </a:rPr>
              <a:t> </a:t>
            </a:r>
            <a:r>
              <a:rPr lang="en-US" sz="2400" kern="0" dirty="0" err="1">
                <a:latin typeface="+mj-lt"/>
              </a:rPr>
              <a:t>qué</a:t>
            </a:r>
            <a:r>
              <a:rPr lang="en-US" sz="2400" kern="0" dirty="0">
                <a:latin typeface="+mj-lt"/>
              </a:rPr>
              <a:t> </a:t>
            </a:r>
            <a:r>
              <a:rPr lang="en-US" sz="2400" kern="0" dirty="0" err="1">
                <a:latin typeface="+mj-lt"/>
              </a:rPr>
              <a:t>hacer</a:t>
            </a:r>
            <a:r>
              <a:rPr lang="en-US" sz="2400" kern="0" dirty="0">
                <a:latin typeface="+mj-lt"/>
              </a:rPr>
              <a:t> al </a:t>
            </a:r>
            <a:r>
              <a:rPr lang="en-US" sz="2400" kern="0" dirty="0" err="1">
                <a:latin typeface="+mj-lt"/>
              </a:rPr>
              <a:t>ordenador</a:t>
            </a:r>
            <a:r>
              <a:rPr lang="en-US" sz="2400" kern="0" dirty="0">
                <a:latin typeface="+mj-lt"/>
              </a:rPr>
              <a:t>.</a:t>
            </a:r>
          </a:p>
        </p:txBody>
      </p:sp>
      <p:sp>
        <p:nvSpPr>
          <p:cNvPr id="25" name="24 Esquina doblada"/>
          <p:cNvSpPr/>
          <p:nvPr/>
        </p:nvSpPr>
        <p:spPr bwMode="auto">
          <a:xfrm>
            <a:off x="785813" y="2786063"/>
            <a:ext cx="2643187" cy="3214687"/>
          </a:xfrm>
          <a:prstGeom prst="foldedCorner">
            <a:avLst/>
          </a:prstGeom>
          <a:solidFill>
            <a:srgbClr val="FFFFCC"/>
          </a:solidFill>
          <a:ln w="952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txBody>
          <a:bodyPr/>
          <a:lstStyle/>
          <a:p>
            <a:pPr defTabSz="957263">
              <a:defRPr/>
            </a:pPr>
            <a:endParaRPr lang="es-ES_tradnl"/>
          </a:p>
        </p:txBody>
      </p:sp>
      <p:sp>
        <p:nvSpPr>
          <p:cNvPr id="5126" name="25 CuadroTexto"/>
          <p:cNvSpPr txBox="1">
            <a:spLocks noChangeArrowheads="1"/>
          </p:cNvSpPr>
          <p:nvPr/>
        </p:nvSpPr>
        <p:spPr bwMode="auto">
          <a:xfrm>
            <a:off x="1071563" y="2857500"/>
            <a:ext cx="2143125" cy="301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a:t>DERECHA</a:t>
            </a:r>
          </a:p>
          <a:p>
            <a:pPr eaLnBrk="1" hangingPunct="1"/>
            <a:r>
              <a:rPr lang="es-ES_tradnl"/>
              <a:t>DERECHA</a:t>
            </a:r>
          </a:p>
          <a:p>
            <a:pPr eaLnBrk="1" hangingPunct="1"/>
            <a:r>
              <a:rPr lang="es-ES_tradnl"/>
              <a:t>ARRIBA</a:t>
            </a:r>
          </a:p>
          <a:p>
            <a:pPr eaLnBrk="1" hangingPunct="1"/>
            <a:r>
              <a:rPr lang="es-ES_tradnl"/>
              <a:t>IZQUIERDA</a:t>
            </a:r>
          </a:p>
          <a:p>
            <a:pPr eaLnBrk="1" hangingPunct="1"/>
            <a:r>
              <a:rPr lang="es-ES_tradnl"/>
              <a:t>ARRIBA</a:t>
            </a:r>
          </a:p>
          <a:p>
            <a:pPr eaLnBrk="1" hangingPunct="1"/>
            <a:r>
              <a:rPr lang="es-ES_tradnl"/>
              <a:t>DERECHA</a:t>
            </a:r>
          </a:p>
          <a:p>
            <a:pPr eaLnBrk="1" hangingPunct="1"/>
            <a:r>
              <a:rPr lang="es-ES_tradnl"/>
              <a:t>DERECHA</a:t>
            </a:r>
          </a:p>
          <a:p>
            <a:pPr eaLnBrk="1" hangingPunct="1"/>
            <a:r>
              <a:rPr lang="es-ES_tradnl"/>
              <a:t>DERECHA</a:t>
            </a:r>
          </a:p>
          <a:p>
            <a:pPr eaLnBrk="1" hangingPunct="1"/>
            <a:r>
              <a:rPr lang="es-ES_tradnl"/>
              <a:t>ARRIBA</a:t>
            </a:r>
          </a:p>
          <a:p>
            <a:pPr eaLnBrk="1" hangingPunct="1"/>
            <a:r>
              <a:rPr lang="es-ES_tradnl"/>
              <a:t>…</a:t>
            </a:r>
          </a:p>
        </p:txBody>
      </p:sp>
      <p:grpSp>
        <p:nvGrpSpPr>
          <p:cNvPr id="5127" name="77 Grupo"/>
          <p:cNvGrpSpPr>
            <a:grpSpLocks/>
          </p:cNvGrpSpPr>
          <p:nvPr/>
        </p:nvGrpSpPr>
        <p:grpSpPr bwMode="auto">
          <a:xfrm>
            <a:off x="4071938" y="3357563"/>
            <a:ext cx="4357687" cy="2071687"/>
            <a:chOff x="4429124" y="3786190"/>
            <a:chExt cx="3786214" cy="1287472"/>
          </a:xfrm>
        </p:grpSpPr>
        <p:cxnSp>
          <p:nvCxnSpPr>
            <p:cNvPr id="5129" name="35 Conector recto"/>
            <p:cNvCxnSpPr>
              <a:cxnSpLocks noChangeShapeType="1"/>
            </p:cNvCxnSpPr>
            <p:nvPr/>
          </p:nvCxnSpPr>
          <p:spPr bwMode="auto">
            <a:xfrm>
              <a:off x="4429124" y="5072074"/>
              <a:ext cx="1357322"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130" name="39 Conector recto"/>
            <p:cNvCxnSpPr>
              <a:cxnSpLocks noChangeShapeType="1"/>
            </p:cNvCxnSpPr>
            <p:nvPr/>
          </p:nvCxnSpPr>
          <p:spPr bwMode="auto">
            <a:xfrm flipV="1">
              <a:off x="5786446" y="4643446"/>
              <a:ext cx="500066" cy="42862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131" name="42 Conector recto"/>
            <p:cNvCxnSpPr>
              <a:cxnSpLocks noChangeShapeType="1"/>
            </p:cNvCxnSpPr>
            <p:nvPr/>
          </p:nvCxnSpPr>
          <p:spPr bwMode="auto">
            <a:xfrm rot="10800000">
              <a:off x="5429256" y="4643446"/>
              <a:ext cx="857256"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132" name="47 Conector recto"/>
            <p:cNvCxnSpPr>
              <a:cxnSpLocks noChangeShapeType="1"/>
            </p:cNvCxnSpPr>
            <p:nvPr/>
          </p:nvCxnSpPr>
          <p:spPr bwMode="auto">
            <a:xfrm>
              <a:off x="5929322" y="4214818"/>
              <a:ext cx="178595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133" name="62 Conector recto"/>
            <p:cNvCxnSpPr>
              <a:cxnSpLocks noChangeShapeType="1"/>
            </p:cNvCxnSpPr>
            <p:nvPr/>
          </p:nvCxnSpPr>
          <p:spPr bwMode="auto">
            <a:xfrm flipV="1">
              <a:off x="5429256" y="4214818"/>
              <a:ext cx="500066" cy="42862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134" name="63 Conector recto"/>
            <p:cNvCxnSpPr>
              <a:cxnSpLocks noChangeShapeType="1"/>
            </p:cNvCxnSpPr>
            <p:nvPr/>
          </p:nvCxnSpPr>
          <p:spPr bwMode="auto">
            <a:xfrm flipV="1">
              <a:off x="7715272" y="3786190"/>
              <a:ext cx="500066" cy="42862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135" name="64 Conector recto"/>
            <p:cNvCxnSpPr>
              <a:cxnSpLocks noChangeShapeType="1"/>
            </p:cNvCxnSpPr>
            <p:nvPr/>
          </p:nvCxnSpPr>
          <p:spPr bwMode="auto">
            <a:xfrm>
              <a:off x="6858016" y="3786190"/>
              <a:ext cx="1357322"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pic>
        <p:nvPicPr>
          <p:cNvPr id="66" name="Picture 47" descr="23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00438" y="4500563"/>
            <a:ext cx="1524000" cy="1335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398598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nodeType="clickEffect">
                                  <p:stCondLst>
                                    <p:cond delay="0"/>
                                  </p:stCondLst>
                                  <p:childTnLst>
                                    <p:animMotion origin="layout" path="M 4.16667E-6 4.79186E-6 C 0.07031 0.00208 0.07257 0.00323 0.15902 0.00161 C 0.16024 -0.00926 0.16041 -0.01319 0.16857 -0.01642 C 0.17257 -0.02475 0.17482 -0.03123 0.1809 -0.03655 C 0.18298 -0.04487 0.18784 -0.05181 0.19323 -0.05667 C 0.19409 -0.05852 0.19531 -0.06013 0.196 -0.06222 C 0.1967 -0.06383 0.19635 -0.06615 0.19739 -0.06753 C 0.20225 -0.07401 0.20451 -0.07447 0.20972 -0.07679 C 0.21319 -0.08002 0.21475 -0.08049 0.21649 -0.0858 C 0.2177 -0.08927 0.21927 -0.09691 0.21927 -0.09667 C 0.18645 -0.11148 0.14861 -0.09829 0.11371 -0.10222 C 0.11632 -0.11286 0.11302 -0.10338 0.11927 -0.11148 C 0.1243 -0.11795 0.12569 -0.12628 0.13159 -0.1316 C 0.13628 -0.13969 0.14427 -0.15334 0.14757 -0.15981 C 0.14843 -0.16166 0.15173 -0.17091 0.15173 -0.17068 C 0.15625 -0.18872 0.16475 -0.19751 0.17638 -0.20722 C 0.19461 -0.21693 0.22222 -0.20791 0.25989 -0.20722 C 0.29757 -0.20653 0.37812 -0.2019 0.40277 -0.20259 C 0.4059 -0.21508 0.40156 -0.20144 0.40833 -0.21185 C 0.41406 -0.22063 0.41614 -0.23058 0.42326 -0.23729 C 0.42708 -0.24492 0.43263 -0.25024 0.43698 -0.25741 C 0.44097 -0.26388 0.44236 -0.27221 0.44531 -0.27938 C 0.44757 -0.28493 0.44913 -0.29094 0.45208 -0.2958 C 0.45312 -0.29741 0.45781 -0.29926 0.45625 -0.29926 C 0.3901 -0.30042 0.32378 -0.29926 0.25763 -0.29926 " pathEditMode="relative" rAng="0" ptsTypes="ffffffffffffffffaffffffff">
                                      <p:cBhvr>
                                        <p:cTn id="6" dur="5000" fill="hold"/>
                                        <p:tgtEl>
                                          <p:spTgt spid="66"/>
                                        </p:tgtEl>
                                        <p:attrNameLst>
                                          <p:attrName>ppt_x</p:attrName>
                                          <p:attrName>ppt_y</p:attrName>
                                        </p:attrNameLst>
                                      </p:cBhvr>
                                      <p:rCtr x="22900" y="-149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28 Redondear rectángulo de esquina diagonal"/>
          <p:cNvSpPr/>
          <p:nvPr/>
        </p:nvSpPr>
        <p:spPr bwMode="auto">
          <a:xfrm>
            <a:off x="742330" y="1357313"/>
            <a:ext cx="7358062" cy="1285875"/>
          </a:xfrm>
          <a:prstGeom prst="round2DiagRect">
            <a:avLst/>
          </a:prstGeom>
          <a:solidFill>
            <a:schemeClr val="accent1">
              <a:alpha val="9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a:lstStyle/>
          <a:p>
            <a:pPr defTabSz="957263">
              <a:defRPr/>
            </a:pPr>
            <a:endParaRPr lang="es-ES_tradnl"/>
          </a:p>
        </p:txBody>
      </p:sp>
      <p:sp>
        <p:nvSpPr>
          <p:cNvPr id="6147" name="Rectangle 2"/>
          <p:cNvSpPr>
            <a:spLocks noGrp="1" noChangeArrowheads="1"/>
          </p:cNvSpPr>
          <p:nvPr>
            <p:ph type="title"/>
          </p:nvPr>
        </p:nvSpPr>
        <p:spPr/>
        <p:txBody>
          <a:bodyPr/>
          <a:lstStyle/>
          <a:p>
            <a:pPr eaLnBrk="1" hangingPunct="1"/>
            <a:r>
              <a:rPr lang="en-US"/>
              <a:t>NECESIDAD DE TRADUCCIÓN</a:t>
            </a:r>
            <a:endParaRPr lang="en-US">
              <a:solidFill>
                <a:schemeClr val="accent1"/>
              </a:solidFill>
            </a:endParaRPr>
          </a:p>
        </p:txBody>
      </p:sp>
      <p:sp>
        <p:nvSpPr>
          <p:cNvPr id="24" name="Rectangle 3"/>
          <p:cNvSpPr txBox="1">
            <a:spLocks noChangeArrowheads="1"/>
          </p:cNvSpPr>
          <p:nvPr/>
        </p:nvSpPr>
        <p:spPr bwMode="auto">
          <a:xfrm>
            <a:off x="242267" y="1357313"/>
            <a:ext cx="7643813" cy="1214437"/>
          </a:xfrm>
          <a:prstGeom prst="rect">
            <a:avLst/>
          </a:prstGeom>
          <a:noFill/>
          <a:ln w="9525">
            <a:noFill/>
            <a:miter lim="800000"/>
            <a:headEnd/>
            <a:tailEnd/>
          </a:ln>
          <a:effectLst/>
        </p:spPr>
        <p:txBody>
          <a:bodyPr lIns="95782" tIns="47891" rIns="95782" bIns="47891"/>
          <a:lstStyle/>
          <a:p>
            <a:pPr marL="777875" lvl="1" indent="-298450" algn="ctr" defTabSz="957263">
              <a:spcBef>
                <a:spcPct val="20000"/>
              </a:spcBef>
              <a:buClr>
                <a:schemeClr val="accent1"/>
              </a:buClr>
              <a:defRPr/>
            </a:pPr>
            <a:r>
              <a:rPr lang="en-US" sz="2400" kern="0">
                <a:latin typeface="+mj-lt"/>
              </a:rPr>
              <a:t>Al programador y a la máquina les cuesta hablar el mismo idioma. Por eso se inventaron los programas traductores.</a:t>
            </a:r>
          </a:p>
        </p:txBody>
      </p:sp>
      <p:pic>
        <p:nvPicPr>
          <p:cNvPr id="6149" name="Picture 47" descr="23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72313" y="3071813"/>
            <a:ext cx="1524000" cy="1335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Picture 22" descr="0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75" y="3786188"/>
            <a:ext cx="523875"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21 Rectángulo"/>
          <p:cNvSpPr/>
          <p:nvPr/>
        </p:nvSpPr>
        <p:spPr bwMode="auto">
          <a:xfrm>
            <a:off x="1285875" y="3786188"/>
            <a:ext cx="5857875" cy="214312"/>
          </a:xfrm>
          <a:prstGeom prst="rect">
            <a:avLst/>
          </a:prstGeom>
          <a:solidFill>
            <a:schemeClr val="accent1">
              <a:lumMod val="20000"/>
              <a:lumOff val="80000"/>
            </a:schemeClr>
          </a:solidFill>
          <a:ln w="9525" cap="flat" cmpd="sng" algn="ctr">
            <a:noFill/>
            <a:prstDash val="solid"/>
            <a:round/>
            <a:headEnd type="none" w="med" len="med"/>
            <a:tailEnd type="none" w="med" len="med"/>
          </a:ln>
          <a:effectLst/>
        </p:spPr>
        <p:txBody>
          <a:bodyPr/>
          <a:lstStyle/>
          <a:p>
            <a:pPr defTabSz="957263">
              <a:defRPr/>
            </a:pPr>
            <a:endParaRPr lang="es-ES_tradnl"/>
          </a:p>
        </p:txBody>
      </p:sp>
      <p:sp>
        <p:nvSpPr>
          <p:cNvPr id="18" name="17 Rectángulo redondeado"/>
          <p:cNvSpPr/>
          <p:nvPr/>
        </p:nvSpPr>
        <p:spPr bwMode="auto">
          <a:xfrm>
            <a:off x="3286116" y="3571876"/>
            <a:ext cx="1945070" cy="607322"/>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path path="circle">
              <a:fillToRect l="50000" t="50000" r="50000" b="50000"/>
            </a:path>
            <a:tileRect/>
          </a:gra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19" name="18 CuadroTexto"/>
          <p:cNvSpPr txBox="1">
            <a:spLocks noChangeArrowheads="1"/>
          </p:cNvSpPr>
          <p:nvPr/>
        </p:nvSpPr>
        <p:spPr bwMode="auto">
          <a:xfrm>
            <a:off x="3357563" y="3643313"/>
            <a:ext cx="1857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2000" b="1"/>
              <a:t>TRADUCTOR</a:t>
            </a:r>
          </a:p>
        </p:txBody>
      </p:sp>
      <p:sp>
        <p:nvSpPr>
          <p:cNvPr id="27" name="26 CuadroTexto"/>
          <p:cNvSpPr txBox="1">
            <a:spLocks noChangeArrowheads="1"/>
          </p:cNvSpPr>
          <p:nvPr/>
        </p:nvSpPr>
        <p:spPr bwMode="auto">
          <a:xfrm>
            <a:off x="1285875" y="3714750"/>
            <a:ext cx="19288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600"/>
              <a:t>Bla Bla Bla Bla …</a:t>
            </a:r>
          </a:p>
        </p:txBody>
      </p:sp>
      <p:sp>
        <p:nvSpPr>
          <p:cNvPr id="28" name="27 CuadroTexto"/>
          <p:cNvSpPr txBox="1">
            <a:spLocks noChangeArrowheads="1"/>
          </p:cNvSpPr>
          <p:nvPr/>
        </p:nvSpPr>
        <p:spPr bwMode="auto">
          <a:xfrm>
            <a:off x="5307013" y="3705225"/>
            <a:ext cx="19288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600"/>
              <a:t>01100010111011…</a:t>
            </a:r>
          </a:p>
        </p:txBody>
      </p:sp>
    </p:spTree>
    <p:extLst>
      <p:ext uri="{BB962C8B-B14F-4D97-AF65-F5344CB8AC3E}">
        <p14:creationId xmlns:p14="http://schemas.microsoft.com/office/powerpoint/2010/main" val="1194998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1" nodeType="clickEffect">
                                  <p:stCondLst>
                                    <p:cond delay="0"/>
                                  </p:stCondLst>
                                  <p:iterate type="lt">
                                    <p:tmAbs val="0"/>
                                  </p:iterate>
                                  <p:childTnLst>
                                    <p:set>
                                      <p:cBhvr>
                                        <p:cTn id="6" dur="1" fill="hold">
                                          <p:stCondLst>
                                            <p:cond delay="0"/>
                                          </p:stCondLst>
                                        </p:cTn>
                                        <p:tgtEl>
                                          <p:spTgt spid="27"/>
                                        </p:tgtEl>
                                        <p:attrNameLst>
                                          <p:attrName>style.visibility</p:attrName>
                                        </p:attrNameLst>
                                      </p:cBhvr>
                                      <p:to>
                                        <p:strVal val="visible"/>
                                      </p:to>
                                    </p:set>
                                  </p:childTnLst>
                                </p:cTn>
                              </p:par>
                              <p:par>
                                <p:cTn id="7" presetID="36" presetClass="emph" presetSubtype="0" fill="hold" grpId="0" nodeType="withEffect">
                                  <p:stCondLst>
                                    <p:cond delay="0"/>
                                  </p:stCondLst>
                                  <p:iterate type="lt">
                                    <p:tmPct val="10000"/>
                                  </p:iterate>
                                  <p:childTnLst>
                                    <p:animScale>
                                      <p:cBhvr>
                                        <p:cTn id="8" dur="250" autoRev="1" fill="hold">
                                          <p:stCondLst>
                                            <p:cond delay="0"/>
                                          </p:stCondLst>
                                        </p:cTn>
                                        <p:tgtEl>
                                          <p:spTgt spid="27"/>
                                        </p:tgtEl>
                                      </p:cBhvr>
                                      <p:to x="80000" y="100000"/>
                                    </p:animScale>
                                    <p:anim by="(#ppt_w*0.10)" calcmode="lin" valueType="num">
                                      <p:cBhvr>
                                        <p:cTn id="9" dur="250" autoRev="1" fill="hold">
                                          <p:stCondLst>
                                            <p:cond delay="0"/>
                                          </p:stCondLst>
                                        </p:cTn>
                                        <p:tgtEl>
                                          <p:spTgt spid="27"/>
                                        </p:tgtEl>
                                        <p:attrNameLst>
                                          <p:attrName>ppt_x</p:attrName>
                                        </p:attrNameLst>
                                      </p:cBhvr>
                                    </p:anim>
                                    <p:anim by="(-#ppt_w*0.10)" calcmode="lin" valueType="num">
                                      <p:cBhvr>
                                        <p:cTn id="10" dur="250" autoRev="1" fill="hold">
                                          <p:stCondLst>
                                            <p:cond delay="0"/>
                                          </p:stCondLst>
                                        </p:cTn>
                                        <p:tgtEl>
                                          <p:spTgt spid="27"/>
                                        </p:tgtEl>
                                        <p:attrNameLst>
                                          <p:attrName>ppt_y</p:attrName>
                                        </p:attrNameLst>
                                      </p:cBhvr>
                                    </p:anim>
                                    <p:animRot by="-480000">
                                      <p:cBhvr>
                                        <p:cTn id="11" dur="250" autoRev="1" fill="hold">
                                          <p:stCondLst>
                                            <p:cond delay="0"/>
                                          </p:stCondLst>
                                        </p:cTn>
                                        <p:tgtEl>
                                          <p:spTgt spid="27"/>
                                        </p:tgtEl>
                                        <p:attrNameLst>
                                          <p:attrName>r</p:attrName>
                                        </p:attrNameLst>
                                      </p:cBhvr>
                                    </p:animRot>
                                  </p:childTnLst>
                                </p:cTn>
                              </p:par>
                            </p:childTnLst>
                          </p:cTn>
                        </p:par>
                        <p:par>
                          <p:cTn id="12" fill="hold" nodeType="afterGroup">
                            <p:stCondLst>
                              <p:cond delay="1100"/>
                            </p:stCondLst>
                            <p:childTnLst>
                              <p:par>
                                <p:cTn id="13" presetID="20" presetClass="emph" presetSubtype="0" fill="hold" grpId="0" nodeType="afterEffect">
                                  <p:stCondLst>
                                    <p:cond delay="0"/>
                                  </p:stCondLst>
                                  <p:iterate type="lt">
                                    <p:tmPct val="10000"/>
                                  </p:iterate>
                                  <p:childTnLst>
                                    <p:set>
                                      <p:cBhvr override="childStyle">
                                        <p:cTn id="14" dur="500" autoRev="1" fill="hold"/>
                                        <p:tgtEl>
                                          <p:spTgt spid="19"/>
                                        </p:tgtEl>
                                        <p:attrNameLst>
                                          <p:attrName>style.color</p:attrName>
                                        </p:attrNameLst>
                                      </p:cBhvr>
                                      <p:to>
                                        <p:clrVal>
                                          <a:schemeClr val="accent2"/>
                                        </p:clrVal>
                                      </p:to>
                                    </p:set>
                                    <p:set>
                                      <p:cBhvr>
                                        <p:cTn id="15" dur="500" autoRev="1" fill="hold"/>
                                        <p:tgtEl>
                                          <p:spTgt spid="19"/>
                                        </p:tgtEl>
                                        <p:attrNameLst>
                                          <p:attrName>fillcolor</p:attrName>
                                        </p:attrNameLst>
                                      </p:cBhvr>
                                      <p:to>
                                        <p:clrVal>
                                          <a:schemeClr val="accent2"/>
                                        </p:clrVal>
                                      </p:to>
                                    </p:set>
                                    <p:set>
                                      <p:cBhvr>
                                        <p:cTn id="16" dur="500" autoRev="1" fill="hold"/>
                                        <p:tgtEl>
                                          <p:spTgt spid="19"/>
                                        </p:tgtEl>
                                        <p:attrNameLst>
                                          <p:attrName>fill.type</p:attrName>
                                        </p:attrNameLst>
                                      </p:cBhvr>
                                      <p:to>
                                        <p:strVal val="solid"/>
                                      </p:to>
                                    </p:set>
                                  </p:childTnLst>
                                </p:cTn>
                              </p:par>
                            </p:childTnLst>
                          </p:cTn>
                        </p:par>
                        <p:par>
                          <p:cTn id="17" fill="hold" nodeType="afterGroup">
                            <p:stCondLst>
                              <p:cond delay="2900"/>
                            </p:stCondLst>
                            <p:childTnLst>
                              <p:par>
                                <p:cTn id="18" presetID="1" presetClass="entr" presetSubtype="0" fill="hold" grpId="0" nodeType="afterEffect">
                                  <p:stCondLst>
                                    <p:cond delay="0"/>
                                  </p:stCondLst>
                                  <p:iterate type="lt">
                                    <p:tmAbs val="0"/>
                                  </p:iterate>
                                  <p:childTnLst>
                                    <p:set>
                                      <p:cBhvr>
                                        <p:cTn id="19" dur="1" fill="hold">
                                          <p:stCondLst>
                                            <p:cond delay="0"/>
                                          </p:stCondLst>
                                        </p:cTn>
                                        <p:tgtEl>
                                          <p:spTgt spid="28"/>
                                        </p:tgtEl>
                                        <p:attrNameLst>
                                          <p:attrName>style.visibility</p:attrName>
                                        </p:attrNameLst>
                                      </p:cBhvr>
                                      <p:to>
                                        <p:strVal val="visible"/>
                                      </p:to>
                                    </p:set>
                                  </p:childTnLst>
                                </p:cTn>
                              </p:par>
                              <p:par>
                                <p:cTn id="20" presetID="36" presetClass="emph" presetSubtype="0" fill="hold" grpId="1" nodeType="withEffect">
                                  <p:stCondLst>
                                    <p:cond delay="0"/>
                                  </p:stCondLst>
                                  <p:iterate type="lt">
                                    <p:tmPct val="10000"/>
                                  </p:iterate>
                                  <p:childTnLst>
                                    <p:animScale>
                                      <p:cBhvr>
                                        <p:cTn id="21" dur="250" autoRev="1" fill="hold">
                                          <p:stCondLst>
                                            <p:cond delay="0"/>
                                          </p:stCondLst>
                                        </p:cTn>
                                        <p:tgtEl>
                                          <p:spTgt spid="28"/>
                                        </p:tgtEl>
                                      </p:cBhvr>
                                      <p:to x="80000" y="100000"/>
                                    </p:animScale>
                                    <p:anim by="(#ppt_w*0.10)" calcmode="lin" valueType="num">
                                      <p:cBhvr>
                                        <p:cTn id="22" dur="250" autoRev="1" fill="hold">
                                          <p:stCondLst>
                                            <p:cond delay="0"/>
                                          </p:stCondLst>
                                        </p:cTn>
                                        <p:tgtEl>
                                          <p:spTgt spid="28"/>
                                        </p:tgtEl>
                                        <p:attrNameLst>
                                          <p:attrName>ppt_x</p:attrName>
                                        </p:attrNameLst>
                                      </p:cBhvr>
                                    </p:anim>
                                    <p:anim by="(-#ppt_w*0.10)" calcmode="lin" valueType="num">
                                      <p:cBhvr>
                                        <p:cTn id="23" dur="250" autoRev="1" fill="hold">
                                          <p:stCondLst>
                                            <p:cond delay="0"/>
                                          </p:stCondLst>
                                        </p:cTn>
                                        <p:tgtEl>
                                          <p:spTgt spid="28"/>
                                        </p:tgtEl>
                                        <p:attrNameLst>
                                          <p:attrName>ppt_y</p:attrName>
                                        </p:attrNameLst>
                                      </p:cBhvr>
                                    </p:anim>
                                    <p:animRot by="-480000">
                                      <p:cBhvr>
                                        <p:cTn id="24" dur="250" autoRev="1" fill="hold">
                                          <p:stCondLst>
                                            <p:cond delay="0"/>
                                          </p:stCondLst>
                                        </p:cTn>
                                        <p:tgtEl>
                                          <p:spTgt spid="2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7" grpId="0"/>
      <p:bldP spid="27" grpId="1"/>
      <p:bldP spid="28" grpId="0"/>
      <p:bldP spid="28"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54 Redondear rectángulo de esquina diagonal"/>
          <p:cNvSpPr/>
          <p:nvPr/>
        </p:nvSpPr>
        <p:spPr bwMode="auto">
          <a:xfrm>
            <a:off x="500063" y="1571625"/>
            <a:ext cx="8001000" cy="1214438"/>
          </a:xfrm>
          <a:prstGeom prst="round2DiagRect">
            <a:avLst/>
          </a:prstGeom>
          <a:solidFill>
            <a:schemeClr val="accent1">
              <a:alpha val="9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a:lstStyle/>
          <a:p>
            <a:pPr defTabSz="957263">
              <a:defRPr/>
            </a:pPr>
            <a:endParaRPr lang="es-ES_tradnl"/>
          </a:p>
        </p:txBody>
      </p:sp>
      <p:sp>
        <p:nvSpPr>
          <p:cNvPr id="7171" name="Rectangle 2"/>
          <p:cNvSpPr>
            <a:spLocks noGrp="1" noChangeArrowheads="1"/>
          </p:cNvSpPr>
          <p:nvPr>
            <p:ph type="title"/>
          </p:nvPr>
        </p:nvSpPr>
        <p:spPr>
          <a:xfrm>
            <a:off x="542925" y="53975"/>
            <a:ext cx="8029575" cy="563563"/>
          </a:xfrm>
        </p:spPr>
        <p:txBody>
          <a:bodyPr/>
          <a:lstStyle/>
          <a:p>
            <a:pPr eaLnBrk="1" hangingPunct="1"/>
            <a:r>
              <a:rPr lang="en-US"/>
              <a:t>TIPOS DE TRADUCTORES</a:t>
            </a:r>
            <a:endParaRPr lang="en-US">
              <a:solidFill>
                <a:schemeClr val="accent1"/>
              </a:solidFill>
            </a:endParaRPr>
          </a:p>
        </p:txBody>
      </p:sp>
      <p:sp>
        <p:nvSpPr>
          <p:cNvPr id="24" name="Rectangle 3"/>
          <p:cNvSpPr txBox="1">
            <a:spLocks noChangeArrowheads="1"/>
          </p:cNvSpPr>
          <p:nvPr/>
        </p:nvSpPr>
        <p:spPr bwMode="auto">
          <a:xfrm>
            <a:off x="0" y="1643063"/>
            <a:ext cx="8501063" cy="1214437"/>
          </a:xfrm>
          <a:prstGeom prst="rect">
            <a:avLst/>
          </a:prstGeom>
          <a:noFill/>
          <a:ln w="9525">
            <a:noFill/>
            <a:miter lim="800000"/>
            <a:headEnd/>
            <a:tailEnd/>
          </a:ln>
          <a:effectLst/>
        </p:spPr>
        <p:txBody>
          <a:bodyPr lIns="95782" tIns="47891" rIns="95782" bIns="47891"/>
          <a:lstStyle/>
          <a:p>
            <a:pPr marL="777875" lvl="1" indent="-298450" algn="ctr" defTabSz="957263">
              <a:spcBef>
                <a:spcPct val="20000"/>
              </a:spcBef>
              <a:buClr>
                <a:schemeClr val="accent1"/>
              </a:buClr>
              <a:defRPr/>
            </a:pPr>
            <a:r>
              <a:rPr lang="en-US" sz="2000" kern="0">
                <a:latin typeface="+mj-lt"/>
              </a:rPr>
              <a:t>El programa original (fichero fuente) sólo se traduce una vez, creando un nuevo archivo (fichero ejecutable) que puede ejecutarse cuantas veces se desee.</a:t>
            </a:r>
          </a:p>
        </p:txBody>
      </p:sp>
      <p:grpSp>
        <p:nvGrpSpPr>
          <p:cNvPr id="7173" name="Group 87"/>
          <p:cNvGrpSpPr>
            <a:grpSpLocks/>
          </p:cNvGrpSpPr>
          <p:nvPr/>
        </p:nvGrpSpPr>
        <p:grpSpPr bwMode="auto">
          <a:xfrm>
            <a:off x="1785938" y="642938"/>
            <a:ext cx="5172075" cy="739775"/>
            <a:chOff x="1728" y="2478"/>
            <a:chExt cx="4560" cy="653"/>
          </a:xfrm>
        </p:grpSpPr>
        <p:sp>
          <p:nvSpPr>
            <p:cNvPr id="7193" name="AutoShape 67"/>
            <p:cNvSpPr>
              <a:spLocks noChangeArrowheads="1"/>
            </p:cNvSpPr>
            <p:nvPr/>
          </p:nvSpPr>
          <p:spPr bwMode="gray">
            <a:xfrm>
              <a:off x="2096" y="2592"/>
              <a:ext cx="4192" cy="436"/>
            </a:xfrm>
            <a:prstGeom prst="roundRect">
              <a:avLst>
                <a:gd name="adj" fmla="val 16667"/>
              </a:avLst>
            </a:prstGeom>
            <a:solidFill>
              <a:schemeClr val="accent1"/>
            </a:soli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endParaRPr lang="es-ES_tradnl"/>
            </a:p>
          </p:txBody>
        </p:sp>
        <p:sp>
          <p:nvSpPr>
            <p:cNvPr id="7194" name="AutoShape 68"/>
            <p:cNvSpPr>
              <a:spLocks noChangeArrowheads="1"/>
            </p:cNvSpPr>
            <p:nvPr/>
          </p:nvSpPr>
          <p:spPr bwMode="gray">
            <a:xfrm>
              <a:off x="1728" y="2478"/>
              <a:ext cx="662" cy="653"/>
            </a:xfrm>
            <a:prstGeom prst="diamond">
              <a:avLst/>
            </a:prstGeom>
            <a:solidFill>
              <a:schemeClr val="accent1"/>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p>
              <a:endParaRPr lang="es-ES_tradnl"/>
            </a:p>
          </p:txBody>
        </p:sp>
        <p:sp>
          <p:nvSpPr>
            <p:cNvPr id="7195" name="Text Box 69"/>
            <p:cNvSpPr txBox="1">
              <a:spLocks noChangeArrowheads="1"/>
            </p:cNvSpPr>
            <p:nvPr/>
          </p:nvSpPr>
          <p:spPr bwMode="gray">
            <a:xfrm>
              <a:off x="2316" y="2644"/>
              <a:ext cx="3310"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68415" tIns="34208" rIns="68415" bIns="34208">
              <a:spAutoFit/>
            </a:bodyPr>
            <a:lstStyle>
              <a:lvl1pPr defTabSz="684213" eaLnBrk="0" hangingPunct="0">
                <a:defRPr sz="1900">
                  <a:solidFill>
                    <a:schemeClr val="tx1"/>
                  </a:solidFill>
                  <a:latin typeface="Arial" charset="0"/>
                </a:defRPr>
              </a:lvl1pPr>
              <a:lvl2pPr marL="742950" indent="-285750" defTabSz="684213" eaLnBrk="0" hangingPunct="0">
                <a:defRPr sz="1900">
                  <a:solidFill>
                    <a:schemeClr val="tx1"/>
                  </a:solidFill>
                  <a:latin typeface="Arial" charset="0"/>
                </a:defRPr>
              </a:lvl2pPr>
              <a:lvl3pPr marL="1143000" indent="-228600" defTabSz="684213" eaLnBrk="0" hangingPunct="0">
                <a:defRPr sz="1900">
                  <a:solidFill>
                    <a:schemeClr val="tx1"/>
                  </a:solidFill>
                  <a:latin typeface="Arial" charset="0"/>
                </a:defRPr>
              </a:lvl3pPr>
              <a:lvl4pPr marL="1600200" indent="-228600" defTabSz="684213" eaLnBrk="0" hangingPunct="0">
                <a:defRPr sz="1900">
                  <a:solidFill>
                    <a:schemeClr val="tx1"/>
                  </a:solidFill>
                  <a:latin typeface="Arial" charset="0"/>
                </a:defRPr>
              </a:lvl4pPr>
              <a:lvl5pPr marL="2057400" indent="-228600" defTabSz="684213" eaLnBrk="0" hangingPunct="0">
                <a:defRPr sz="1900">
                  <a:solidFill>
                    <a:schemeClr val="tx1"/>
                  </a:solidFill>
                  <a:latin typeface="Arial" charset="0"/>
                </a:defRPr>
              </a:lvl5pPr>
              <a:lvl6pPr marL="2514600" indent="-228600" defTabSz="684213" eaLnBrk="0" fontAlgn="base" hangingPunct="0">
                <a:spcBef>
                  <a:spcPct val="0"/>
                </a:spcBef>
                <a:spcAft>
                  <a:spcPct val="0"/>
                </a:spcAft>
                <a:defRPr sz="1900">
                  <a:solidFill>
                    <a:schemeClr val="tx1"/>
                  </a:solidFill>
                  <a:latin typeface="Arial" charset="0"/>
                </a:defRPr>
              </a:lvl6pPr>
              <a:lvl7pPr marL="2971800" indent="-228600" defTabSz="684213" eaLnBrk="0" fontAlgn="base" hangingPunct="0">
                <a:spcBef>
                  <a:spcPct val="0"/>
                </a:spcBef>
                <a:spcAft>
                  <a:spcPct val="0"/>
                </a:spcAft>
                <a:defRPr sz="1900">
                  <a:solidFill>
                    <a:schemeClr val="tx1"/>
                  </a:solidFill>
                  <a:latin typeface="Arial" charset="0"/>
                </a:defRPr>
              </a:lvl7pPr>
              <a:lvl8pPr marL="3429000" indent="-228600" defTabSz="684213" eaLnBrk="0" fontAlgn="base" hangingPunct="0">
                <a:spcBef>
                  <a:spcPct val="0"/>
                </a:spcBef>
                <a:spcAft>
                  <a:spcPct val="0"/>
                </a:spcAft>
                <a:defRPr sz="1900">
                  <a:solidFill>
                    <a:schemeClr val="tx1"/>
                  </a:solidFill>
                  <a:latin typeface="Arial" charset="0"/>
                </a:defRPr>
              </a:lvl8pPr>
              <a:lvl9pPr marL="3886200" indent="-228600" defTabSz="684213" eaLnBrk="0" fontAlgn="base" hangingPunct="0">
                <a:spcBef>
                  <a:spcPct val="0"/>
                </a:spcBef>
                <a:spcAft>
                  <a:spcPct val="0"/>
                </a:spcAft>
                <a:defRPr sz="1900">
                  <a:solidFill>
                    <a:schemeClr val="tx1"/>
                  </a:solidFill>
                  <a:latin typeface="Arial" charset="0"/>
                </a:defRPr>
              </a:lvl9pPr>
            </a:lstStyle>
            <a:p>
              <a:pPr algn="ctr"/>
              <a:r>
                <a:rPr lang="en-US" sz="1800" b="1">
                  <a:solidFill>
                    <a:schemeClr val="bg1"/>
                  </a:solidFill>
                </a:rPr>
                <a:t>COMPILADOR</a:t>
              </a:r>
            </a:p>
          </p:txBody>
        </p:sp>
        <p:sp>
          <p:nvSpPr>
            <p:cNvPr id="7196" name="Text Box 82"/>
            <p:cNvSpPr txBox="1">
              <a:spLocks noChangeArrowheads="1"/>
            </p:cNvSpPr>
            <p:nvPr/>
          </p:nvSpPr>
          <p:spPr bwMode="gray">
            <a:xfrm>
              <a:off x="1920" y="2620"/>
              <a:ext cx="273"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68415" tIns="34208" rIns="68415" bIns="34208">
              <a:spAutoFit/>
            </a:bodyPr>
            <a:lstStyle>
              <a:lvl1pPr defTabSz="684213" eaLnBrk="0" hangingPunct="0">
                <a:defRPr sz="1900">
                  <a:solidFill>
                    <a:schemeClr val="tx1"/>
                  </a:solidFill>
                  <a:latin typeface="Arial" charset="0"/>
                </a:defRPr>
              </a:lvl1pPr>
              <a:lvl2pPr marL="742950" indent="-285750" defTabSz="684213" eaLnBrk="0" hangingPunct="0">
                <a:defRPr sz="1900">
                  <a:solidFill>
                    <a:schemeClr val="tx1"/>
                  </a:solidFill>
                  <a:latin typeface="Arial" charset="0"/>
                </a:defRPr>
              </a:lvl2pPr>
              <a:lvl3pPr marL="1143000" indent="-228600" defTabSz="684213" eaLnBrk="0" hangingPunct="0">
                <a:defRPr sz="1900">
                  <a:solidFill>
                    <a:schemeClr val="tx1"/>
                  </a:solidFill>
                  <a:latin typeface="Arial" charset="0"/>
                </a:defRPr>
              </a:lvl3pPr>
              <a:lvl4pPr marL="1600200" indent="-228600" defTabSz="684213" eaLnBrk="0" hangingPunct="0">
                <a:defRPr sz="1900">
                  <a:solidFill>
                    <a:schemeClr val="tx1"/>
                  </a:solidFill>
                  <a:latin typeface="Arial" charset="0"/>
                </a:defRPr>
              </a:lvl4pPr>
              <a:lvl5pPr marL="2057400" indent="-228600" defTabSz="684213" eaLnBrk="0" hangingPunct="0">
                <a:defRPr sz="1900">
                  <a:solidFill>
                    <a:schemeClr val="tx1"/>
                  </a:solidFill>
                  <a:latin typeface="Arial" charset="0"/>
                </a:defRPr>
              </a:lvl5pPr>
              <a:lvl6pPr marL="2514600" indent="-228600" defTabSz="684213" eaLnBrk="0" fontAlgn="base" hangingPunct="0">
                <a:spcBef>
                  <a:spcPct val="0"/>
                </a:spcBef>
                <a:spcAft>
                  <a:spcPct val="0"/>
                </a:spcAft>
                <a:defRPr sz="1900">
                  <a:solidFill>
                    <a:schemeClr val="tx1"/>
                  </a:solidFill>
                  <a:latin typeface="Arial" charset="0"/>
                </a:defRPr>
              </a:lvl6pPr>
              <a:lvl7pPr marL="2971800" indent="-228600" defTabSz="684213" eaLnBrk="0" fontAlgn="base" hangingPunct="0">
                <a:spcBef>
                  <a:spcPct val="0"/>
                </a:spcBef>
                <a:spcAft>
                  <a:spcPct val="0"/>
                </a:spcAft>
                <a:defRPr sz="1900">
                  <a:solidFill>
                    <a:schemeClr val="tx1"/>
                  </a:solidFill>
                  <a:latin typeface="Arial" charset="0"/>
                </a:defRPr>
              </a:lvl7pPr>
              <a:lvl8pPr marL="3429000" indent="-228600" defTabSz="684213" eaLnBrk="0" fontAlgn="base" hangingPunct="0">
                <a:spcBef>
                  <a:spcPct val="0"/>
                </a:spcBef>
                <a:spcAft>
                  <a:spcPct val="0"/>
                </a:spcAft>
                <a:defRPr sz="1900">
                  <a:solidFill>
                    <a:schemeClr val="tx1"/>
                  </a:solidFill>
                  <a:latin typeface="Arial" charset="0"/>
                </a:defRPr>
              </a:lvl8pPr>
              <a:lvl9pPr marL="3886200" indent="-228600" defTabSz="684213" eaLnBrk="0" fontAlgn="base" hangingPunct="0">
                <a:spcBef>
                  <a:spcPct val="0"/>
                </a:spcBef>
                <a:spcAft>
                  <a:spcPct val="0"/>
                </a:spcAft>
                <a:defRPr sz="1900">
                  <a:solidFill>
                    <a:schemeClr val="tx1"/>
                  </a:solidFill>
                  <a:latin typeface="Arial" charset="0"/>
                </a:defRPr>
              </a:lvl9pPr>
            </a:lstStyle>
            <a:p>
              <a:pPr algn="ctr"/>
              <a:r>
                <a:rPr lang="en-US" sz="2400">
                  <a:solidFill>
                    <a:schemeClr val="bg1"/>
                  </a:solidFill>
                </a:rPr>
                <a:t>1</a:t>
              </a:r>
            </a:p>
          </p:txBody>
        </p:sp>
      </p:grpSp>
      <p:sp>
        <p:nvSpPr>
          <p:cNvPr id="20" name="19 Esquina doblada"/>
          <p:cNvSpPr/>
          <p:nvPr/>
        </p:nvSpPr>
        <p:spPr bwMode="auto">
          <a:xfrm>
            <a:off x="500063" y="3286125"/>
            <a:ext cx="1571625" cy="2357438"/>
          </a:xfrm>
          <a:prstGeom prst="foldedCorner">
            <a:avLst/>
          </a:prstGeom>
          <a:solidFill>
            <a:srgbClr val="FFFFCC"/>
          </a:solidFill>
          <a:ln w="952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txBody>
          <a:bodyPr/>
          <a:lstStyle/>
          <a:p>
            <a:pPr defTabSz="957263">
              <a:defRPr/>
            </a:pPr>
            <a:endParaRPr lang="es-ES_tradnl"/>
          </a:p>
        </p:txBody>
      </p:sp>
      <p:sp>
        <p:nvSpPr>
          <p:cNvPr id="7175" name="20 CuadroTexto"/>
          <p:cNvSpPr txBox="1">
            <a:spLocks noChangeArrowheads="1"/>
          </p:cNvSpPr>
          <p:nvPr/>
        </p:nvSpPr>
        <p:spPr bwMode="auto">
          <a:xfrm>
            <a:off x="571500" y="3357563"/>
            <a:ext cx="1285875"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400"/>
              <a:t>DERECHA</a:t>
            </a:r>
          </a:p>
          <a:p>
            <a:pPr eaLnBrk="1" hangingPunct="1"/>
            <a:r>
              <a:rPr lang="es-ES_tradnl" sz="1400"/>
              <a:t>DERECHA</a:t>
            </a:r>
          </a:p>
          <a:p>
            <a:pPr eaLnBrk="1" hangingPunct="1"/>
            <a:r>
              <a:rPr lang="es-ES_tradnl" sz="1400"/>
              <a:t>ARRIBA</a:t>
            </a:r>
          </a:p>
          <a:p>
            <a:pPr eaLnBrk="1" hangingPunct="1"/>
            <a:r>
              <a:rPr lang="es-ES_tradnl" sz="1400"/>
              <a:t>IZQUIERDA</a:t>
            </a:r>
          </a:p>
          <a:p>
            <a:pPr eaLnBrk="1" hangingPunct="1"/>
            <a:r>
              <a:rPr lang="es-ES_tradnl" sz="1400"/>
              <a:t>ARRIBA</a:t>
            </a:r>
          </a:p>
          <a:p>
            <a:pPr eaLnBrk="1" hangingPunct="1"/>
            <a:r>
              <a:rPr lang="es-ES_tradnl" sz="1400"/>
              <a:t>DERECHA</a:t>
            </a:r>
          </a:p>
          <a:p>
            <a:pPr eaLnBrk="1" hangingPunct="1"/>
            <a:r>
              <a:rPr lang="es-ES_tradnl" sz="1400"/>
              <a:t>DERECHA</a:t>
            </a:r>
          </a:p>
          <a:p>
            <a:pPr eaLnBrk="1" hangingPunct="1"/>
            <a:r>
              <a:rPr lang="es-ES_tradnl" sz="1400"/>
              <a:t>DERECHA</a:t>
            </a:r>
          </a:p>
          <a:p>
            <a:pPr eaLnBrk="1" hangingPunct="1"/>
            <a:r>
              <a:rPr lang="es-ES_tradnl" sz="1400"/>
              <a:t>ARRIBA</a:t>
            </a:r>
          </a:p>
          <a:p>
            <a:pPr eaLnBrk="1" hangingPunct="1"/>
            <a:r>
              <a:rPr lang="es-ES_tradnl" sz="1400"/>
              <a:t>…</a:t>
            </a:r>
          </a:p>
        </p:txBody>
      </p:sp>
      <p:sp>
        <p:nvSpPr>
          <p:cNvPr id="7176" name="24 CuadroTexto"/>
          <p:cNvSpPr txBox="1">
            <a:spLocks noChangeArrowheads="1"/>
          </p:cNvSpPr>
          <p:nvPr/>
        </p:nvSpPr>
        <p:spPr bwMode="auto">
          <a:xfrm>
            <a:off x="571500" y="5643563"/>
            <a:ext cx="15001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800" dirty="0" err="1">
                <a:latin typeface="Times" pitchFamily="18" charset="0"/>
              </a:rPr>
              <a:t>Trayecto.c</a:t>
            </a:r>
            <a:endParaRPr lang="es-ES_tradnl" sz="1800" dirty="0">
              <a:latin typeface="Times" pitchFamily="18" charset="0"/>
            </a:endParaRPr>
          </a:p>
        </p:txBody>
      </p:sp>
      <p:sp>
        <p:nvSpPr>
          <p:cNvPr id="7177" name="30 CuadroTexto"/>
          <p:cNvSpPr txBox="1">
            <a:spLocks noChangeArrowheads="1"/>
          </p:cNvSpPr>
          <p:nvPr/>
        </p:nvSpPr>
        <p:spPr bwMode="auto">
          <a:xfrm>
            <a:off x="571500" y="2928938"/>
            <a:ext cx="157162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500"/>
              <a:t>Fichero Fuente</a:t>
            </a:r>
          </a:p>
        </p:txBody>
      </p:sp>
      <p:sp>
        <p:nvSpPr>
          <p:cNvPr id="52" name="51 Flecha a la derecha con muesca"/>
          <p:cNvSpPr/>
          <p:nvPr/>
        </p:nvSpPr>
        <p:spPr bwMode="auto">
          <a:xfrm>
            <a:off x="2000232" y="4071942"/>
            <a:ext cx="3500462" cy="428628"/>
          </a:xfrm>
          <a:prstGeom prst="notchedRightArrow">
            <a:avLst/>
          </a:prstGeom>
          <a:gradFill>
            <a:gsLst>
              <a:gs pos="0">
                <a:srgbClr val="03D4A8"/>
              </a:gs>
              <a:gs pos="25000">
                <a:srgbClr val="21D6E0"/>
              </a:gs>
              <a:gs pos="75000">
                <a:srgbClr val="0087E6"/>
              </a:gs>
              <a:gs pos="100000">
                <a:srgbClr val="005CBF"/>
              </a:gs>
            </a:gsLst>
            <a:lin ang="10800000" scaled="0"/>
          </a:gradFill>
          <a:ln w="9525" cap="flat" cmpd="sng" algn="ctr">
            <a:gradFill flip="none" rotWithShape="1">
              <a:gsLst>
                <a:gs pos="0">
                  <a:srgbClr val="5E9EFF"/>
                </a:gs>
                <a:gs pos="39999">
                  <a:srgbClr val="85C2FF"/>
                </a:gs>
                <a:gs pos="70000">
                  <a:srgbClr val="C4D6EB"/>
                </a:gs>
                <a:gs pos="100000">
                  <a:srgbClr val="FFEBFA"/>
                </a:gs>
              </a:gsLst>
              <a:lin ang="10800000" scaled="1"/>
              <a:tileRect/>
            </a:gradFill>
            <a:prstDash val="solid"/>
            <a:round/>
            <a:headEnd type="none" w="med" len="med"/>
            <a:tailEnd type="none" w="med" len="med"/>
          </a:ln>
          <a:effectLst/>
        </p:spPr>
        <p:txBody>
          <a:bodyPr/>
          <a:lstStyle/>
          <a:p>
            <a:pPr defTabSz="957263">
              <a:defRPr/>
            </a:pPr>
            <a:endParaRPr lang="es-ES_tradnl"/>
          </a:p>
        </p:txBody>
      </p:sp>
      <p:grpSp>
        <p:nvGrpSpPr>
          <p:cNvPr id="3" name="55 Grupo"/>
          <p:cNvGrpSpPr>
            <a:grpSpLocks/>
          </p:cNvGrpSpPr>
          <p:nvPr/>
        </p:nvGrpSpPr>
        <p:grpSpPr bwMode="auto">
          <a:xfrm>
            <a:off x="5500688" y="2928938"/>
            <a:ext cx="1714500" cy="3084512"/>
            <a:chOff x="5500694" y="2928934"/>
            <a:chExt cx="1714512" cy="3083976"/>
          </a:xfrm>
        </p:grpSpPr>
        <p:sp>
          <p:nvSpPr>
            <p:cNvPr id="36" name="35 Esquina doblada"/>
            <p:cNvSpPr/>
            <p:nvPr/>
          </p:nvSpPr>
          <p:spPr bwMode="auto">
            <a:xfrm>
              <a:off x="5500694" y="3286059"/>
              <a:ext cx="1571636" cy="2357028"/>
            </a:xfrm>
            <a:prstGeom prst="foldedCorner">
              <a:avLst/>
            </a:prstGeom>
            <a:solidFill>
              <a:schemeClr val="tx2">
                <a:lumMod val="20000"/>
                <a:lumOff val="80000"/>
              </a:schemeClr>
            </a:solidFill>
            <a:ln w="952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txBody>
            <a:bodyPr/>
            <a:lstStyle/>
            <a:p>
              <a:pPr defTabSz="957263">
                <a:defRPr/>
              </a:pPr>
              <a:endParaRPr lang="es-ES_tradnl"/>
            </a:p>
          </p:txBody>
        </p:sp>
        <p:sp>
          <p:nvSpPr>
            <p:cNvPr id="7190" name="36 CuadroTexto"/>
            <p:cNvSpPr txBox="1">
              <a:spLocks noChangeArrowheads="1"/>
            </p:cNvSpPr>
            <p:nvPr/>
          </p:nvSpPr>
          <p:spPr bwMode="auto">
            <a:xfrm>
              <a:off x="5786446" y="3357562"/>
              <a:ext cx="1000132"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algn="ctr" eaLnBrk="1" hangingPunct="1"/>
              <a:r>
                <a:rPr lang="es-ES_tradnl" sz="1400"/>
                <a:t>0010</a:t>
              </a:r>
            </a:p>
            <a:p>
              <a:pPr algn="ctr" eaLnBrk="1" hangingPunct="1"/>
              <a:r>
                <a:rPr lang="es-ES_tradnl" sz="1400"/>
                <a:t>0010</a:t>
              </a:r>
            </a:p>
            <a:p>
              <a:pPr algn="ctr" eaLnBrk="1" hangingPunct="1"/>
              <a:r>
                <a:rPr lang="es-ES_tradnl" sz="1400"/>
                <a:t>1111</a:t>
              </a:r>
            </a:p>
            <a:p>
              <a:pPr algn="ctr" eaLnBrk="1" hangingPunct="1"/>
              <a:r>
                <a:rPr lang="es-ES_tradnl" sz="1400"/>
                <a:t>0000</a:t>
              </a:r>
            </a:p>
            <a:p>
              <a:pPr algn="ctr" eaLnBrk="1" hangingPunct="1"/>
              <a:r>
                <a:rPr lang="es-ES_tradnl" sz="1400"/>
                <a:t>1111</a:t>
              </a:r>
            </a:p>
            <a:p>
              <a:pPr algn="ctr" eaLnBrk="1" hangingPunct="1"/>
              <a:r>
                <a:rPr lang="es-ES_tradnl" sz="1400"/>
                <a:t>0010</a:t>
              </a:r>
            </a:p>
            <a:p>
              <a:pPr algn="ctr" eaLnBrk="1" hangingPunct="1"/>
              <a:r>
                <a:rPr lang="es-ES_tradnl" sz="1400"/>
                <a:t>0010</a:t>
              </a:r>
            </a:p>
            <a:p>
              <a:pPr algn="ctr" eaLnBrk="1" hangingPunct="1"/>
              <a:r>
                <a:rPr lang="es-ES_tradnl" sz="1400"/>
                <a:t>0010</a:t>
              </a:r>
            </a:p>
            <a:p>
              <a:pPr algn="ctr" eaLnBrk="1" hangingPunct="1"/>
              <a:r>
                <a:rPr lang="es-ES_tradnl" sz="1400"/>
                <a:t>1111</a:t>
              </a:r>
            </a:p>
            <a:p>
              <a:pPr algn="ctr" eaLnBrk="1" hangingPunct="1"/>
              <a:r>
                <a:rPr lang="es-ES_tradnl" sz="1400"/>
                <a:t>…</a:t>
              </a:r>
            </a:p>
          </p:txBody>
        </p:sp>
        <p:sp>
          <p:nvSpPr>
            <p:cNvPr id="7191" name="37 CuadroTexto"/>
            <p:cNvSpPr txBox="1">
              <a:spLocks noChangeArrowheads="1"/>
            </p:cNvSpPr>
            <p:nvPr/>
          </p:nvSpPr>
          <p:spPr bwMode="auto">
            <a:xfrm>
              <a:off x="5572132" y="5643578"/>
              <a:ext cx="15001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800">
                  <a:latin typeface="Times" pitchFamily="18" charset="0"/>
                </a:rPr>
                <a:t>Trayecto.exe</a:t>
              </a:r>
            </a:p>
          </p:txBody>
        </p:sp>
        <p:sp>
          <p:nvSpPr>
            <p:cNvPr id="7192" name="38 CuadroTexto"/>
            <p:cNvSpPr txBox="1">
              <a:spLocks noChangeArrowheads="1"/>
            </p:cNvSpPr>
            <p:nvPr/>
          </p:nvSpPr>
          <p:spPr bwMode="auto">
            <a:xfrm>
              <a:off x="5643570" y="2928934"/>
              <a:ext cx="157163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500"/>
                <a:t>F. Ejecutable</a:t>
              </a:r>
            </a:p>
          </p:txBody>
        </p:sp>
      </p:grpSp>
      <p:grpSp>
        <p:nvGrpSpPr>
          <p:cNvPr id="4" name="44 Grupo"/>
          <p:cNvGrpSpPr/>
          <p:nvPr/>
        </p:nvGrpSpPr>
        <p:grpSpPr>
          <a:xfrm>
            <a:off x="7215206" y="4071942"/>
            <a:ext cx="1285884" cy="500066"/>
            <a:chOff x="6215074" y="3643314"/>
            <a:chExt cx="1285884" cy="500066"/>
          </a:xfrm>
          <a:effectLst>
            <a:outerShdw blurRad="50800" dist="38100" dir="2700000" algn="tl" rotWithShape="0">
              <a:prstClr val="black">
                <a:alpha val="40000"/>
              </a:prstClr>
            </a:outerShdw>
          </a:effectLst>
        </p:grpSpPr>
        <p:sp>
          <p:nvSpPr>
            <p:cNvPr id="40" name="39 Flecha derecha"/>
            <p:cNvSpPr/>
            <p:nvPr/>
          </p:nvSpPr>
          <p:spPr bwMode="auto">
            <a:xfrm>
              <a:off x="6215074" y="3643314"/>
              <a:ext cx="1285884" cy="500066"/>
            </a:xfrm>
            <a:prstGeom prst="rightArrow">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a:lstStyle/>
            <a:p>
              <a:pPr defTabSz="957263">
                <a:defRPr/>
              </a:pPr>
              <a:endParaRPr lang="es-ES_tradnl"/>
            </a:p>
          </p:txBody>
        </p:sp>
        <p:sp>
          <p:nvSpPr>
            <p:cNvPr id="44" name="43 CuadroTexto"/>
            <p:cNvSpPr txBox="1"/>
            <p:nvPr/>
          </p:nvSpPr>
          <p:spPr>
            <a:xfrm>
              <a:off x="6294131" y="3745282"/>
              <a:ext cx="1143008" cy="307777"/>
            </a:xfrm>
            <a:prstGeom prst="rect">
              <a:avLst/>
            </a:prstGeom>
            <a:noFill/>
          </p:spPr>
          <p:txBody>
            <a:bodyPr>
              <a:spAutoFit/>
            </a:bodyPr>
            <a:lstStyle/>
            <a:p>
              <a:pPr>
                <a:defRPr/>
              </a:pPr>
              <a:r>
                <a:rPr lang="es-ES_tradnl" sz="1400"/>
                <a:t>Ejecución</a:t>
              </a:r>
            </a:p>
          </p:txBody>
        </p:sp>
      </p:grpSp>
      <p:grpSp>
        <p:nvGrpSpPr>
          <p:cNvPr id="5" name="45 Grupo"/>
          <p:cNvGrpSpPr/>
          <p:nvPr/>
        </p:nvGrpSpPr>
        <p:grpSpPr>
          <a:xfrm>
            <a:off x="7215206" y="3357562"/>
            <a:ext cx="1285884" cy="500066"/>
            <a:chOff x="6215074" y="3643314"/>
            <a:chExt cx="1285884" cy="500066"/>
          </a:xfrm>
          <a:effectLst>
            <a:outerShdw blurRad="50800" dist="38100" dir="2700000" algn="tl" rotWithShape="0">
              <a:prstClr val="black">
                <a:alpha val="40000"/>
              </a:prstClr>
            </a:outerShdw>
          </a:effectLst>
        </p:grpSpPr>
        <p:sp>
          <p:nvSpPr>
            <p:cNvPr id="47" name="46 Flecha derecha"/>
            <p:cNvSpPr/>
            <p:nvPr/>
          </p:nvSpPr>
          <p:spPr bwMode="auto">
            <a:xfrm>
              <a:off x="6215074" y="3643314"/>
              <a:ext cx="1285884" cy="500066"/>
            </a:xfrm>
            <a:prstGeom prst="rightArrow">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a:lstStyle/>
            <a:p>
              <a:pPr defTabSz="957263">
                <a:defRPr/>
              </a:pPr>
              <a:endParaRPr lang="es-ES_tradnl"/>
            </a:p>
          </p:txBody>
        </p:sp>
        <p:sp>
          <p:nvSpPr>
            <p:cNvPr id="48" name="47 CuadroTexto"/>
            <p:cNvSpPr txBox="1"/>
            <p:nvPr/>
          </p:nvSpPr>
          <p:spPr>
            <a:xfrm>
              <a:off x="6294131" y="3745282"/>
              <a:ext cx="1143008" cy="307777"/>
            </a:xfrm>
            <a:prstGeom prst="rect">
              <a:avLst/>
            </a:prstGeom>
            <a:noFill/>
          </p:spPr>
          <p:txBody>
            <a:bodyPr>
              <a:spAutoFit/>
            </a:bodyPr>
            <a:lstStyle/>
            <a:p>
              <a:pPr>
                <a:defRPr/>
              </a:pPr>
              <a:r>
                <a:rPr lang="es-ES_tradnl" sz="1400"/>
                <a:t>Ejecución</a:t>
              </a:r>
            </a:p>
          </p:txBody>
        </p:sp>
      </p:grpSp>
      <p:grpSp>
        <p:nvGrpSpPr>
          <p:cNvPr id="6" name="48 Grupo"/>
          <p:cNvGrpSpPr/>
          <p:nvPr/>
        </p:nvGrpSpPr>
        <p:grpSpPr>
          <a:xfrm>
            <a:off x="7215206" y="4786322"/>
            <a:ext cx="1285884" cy="500066"/>
            <a:chOff x="6215074" y="3643314"/>
            <a:chExt cx="1285884" cy="500066"/>
          </a:xfrm>
          <a:effectLst>
            <a:outerShdw blurRad="50800" dist="38100" dir="2700000" algn="tl" rotWithShape="0">
              <a:prstClr val="black">
                <a:alpha val="40000"/>
              </a:prstClr>
            </a:outerShdw>
          </a:effectLst>
        </p:grpSpPr>
        <p:sp>
          <p:nvSpPr>
            <p:cNvPr id="50" name="49 Flecha derecha"/>
            <p:cNvSpPr/>
            <p:nvPr/>
          </p:nvSpPr>
          <p:spPr bwMode="auto">
            <a:xfrm>
              <a:off x="6215074" y="3643314"/>
              <a:ext cx="1285884" cy="500066"/>
            </a:xfrm>
            <a:prstGeom prst="rightArrow">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a:lstStyle/>
            <a:p>
              <a:pPr defTabSz="957263">
                <a:defRPr/>
              </a:pPr>
              <a:endParaRPr lang="es-ES_tradnl"/>
            </a:p>
          </p:txBody>
        </p:sp>
        <p:sp>
          <p:nvSpPr>
            <p:cNvPr id="51" name="50 CuadroTexto"/>
            <p:cNvSpPr txBox="1"/>
            <p:nvPr/>
          </p:nvSpPr>
          <p:spPr>
            <a:xfrm>
              <a:off x="6294131" y="3745282"/>
              <a:ext cx="1143008" cy="307777"/>
            </a:xfrm>
            <a:prstGeom prst="rect">
              <a:avLst/>
            </a:prstGeom>
            <a:noFill/>
          </p:spPr>
          <p:txBody>
            <a:bodyPr>
              <a:spAutoFit/>
            </a:bodyPr>
            <a:lstStyle/>
            <a:p>
              <a:pPr>
                <a:defRPr/>
              </a:pPr>
              <a:r>
                <a:rPr lang="es-ES_tradnl" sz="1400"/>
                <a:t>Ejecución</a:t>
              </a:r>
            </a:p>
          </p:txBody>
        </p:sp>
      </p:grpSp>
      <p:sp>
        <p:nvSpPr>
          <p:cNvPr id="18" name="17 Rectángulo redondeado"/>
          <p:cNvSpPr/>
          <p:nvPr/>
        </p:nvSpPr>
        <p:spPr bwMode="auto">
          <a:xfrm>
            <a:off x="2714612" y="3929066"/>
            <a:ext cx="2230822" cy="714380"/>
          </a:xfrm>
          <a:prstGeom prst="roundRect">
            <a:avLst/>
          </a:prstGeom>
          <a:solidFill>
            <a:schemeClr val="accent1">
              <a:lumMod val="20000"/>
              <a:lumOff val="80000"/>
              <a:alpha val="73000"/>
            </a:schemeClr>
          </a:soli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7188" name="18 CuadroTexto"/>
          <p:cNvSpPr txBox="1">
            <a:spLocks noChangeArrowheads="1"/>
          </p:cNvSpPr>
          <p:nvPr/>
        </p:nvSpPr>
        <p:spPr bwMode="auto">
          <a:xfrm>
            <a:off x="2857500" y="4071938"/>
            <a:ext cx="2000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2000" b="1"/>
              <a:t>COMPILACIÓN</a:t>
            </a:r>
          </a:p>
        </p:txBody>
      </p:sp>
    </p:spTree>
    <p:extLst>
      <p:ext uri="{BB962C8B-B14F-4D97-AF65-F5344CB8AC3E}">
        <p14:creationId xmlns:p14="http://schemas.microsoft.com/office/powerpoint/2010/main" val="1621585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nodeType="afterEffect">
                                  <p:stCondLst>
                                    <p:cond delay="1000"/>
                                  </p:stCondLst>
                                  <p:childTnLst>
                                    <p:set>
                                      <p:cBhvr>
                                        <p:cTn id="13" dur="1" fill="hold">
                                          <p:stCondLst>
                                            <p:cond delay="0"/>
                                          </p:stCondLst>
                                        </p:cTn>
                                        <p:tgtEl>
                                          <p:spTgt spid="4"/>
                                        </p:tgtEl>
                                        <p:attrNameLst>
                                          <p:attrName>style.visibility</p:attrName>
                                        </p:attrNameLst>
                                      </p:cBhvr>
                                      <p:to>
                                        <p:strVal val="visible"/>
                                      </p:to>
                                    </p:set>
                                  </p:childTnLst>
                                </p:cTn>
                              </p:par>
                            </p:childTnLst>
                          </p:cTn>
                        </p:par>
                        <p:par>
                          <p:cTn id="14" fill="hold" nodeType="afterGroup">
                            <p:stCondLst>
                              <p:cond delay="1000"/>
                            </p:stCondLst>
                            <p:childTnLst>
                              <p:par>
                                <p:cTn id="15" presetID="1" presetClass="entr" presetSubtype="0" fill="hold" nodeType="afterEffect">
                                  <p:stCondLst>
                                    <p:cond delay="100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542925" y="53975"/>
            <a:ext cx="7815263" cy="563563"/>
          </a:xfrm>
        </p:spPr>
        <p:txBody>
          <a:bodyPr/>
          <a:lstStyle/>
          <a:p>
            <a:pPr eaLnBrk="1" hangingPunct="1"/>
            <a:r>
              <a:rPr lang="en-US"/>
              <a:t>TIPOS DE TRADUCTORES</a:t>
            </a:r>
            <a:endParaRPr lang="en-US">
              <a:solidFill>
                <a:schemeClr val="accent1"/>
              </a:solidFill>
            </a:endParaRPr>
          </a:p>
        </p:txBody>
      </p:sp>
      <p:sp>
        <p:nvSpPr>
          <p:cNvPr id="24" name="Rectangle 3"/>
          <p:cNvSpPr txBox="1">
            <a:spLocks noChangeArrowheads="1"/>
          </p:cNvSpPr>
          <p:nvPr/>
        </p:nvSpPr>
        <p:spPr bwMode="auto">
          <a:xfrm>
            <a:off x="0" y="1785938"/>
            <a:ext cx="8215313" cy="1000125"/>
          </a:xfrm>
          <a:prstGeom prst="rect">
            <a:avLst/>
          </a:prstGeom>
          <a:noFill/>
          <a:ln w="9525">
            <a:noFill/>
            <a:miter lim="800000"/>
            <a:headEnd/>
            <a:tailEnd/>
          </a:ln>
          <a:effectLst/>
        </p:spPr>
        <p:txBody>
          <a:bodyPr lIns="95782" tIns="47891" rIns="95782" bIns="47891"/>
          <a:lstStyle/>
          <a:p>
            <a:pPr marL="777875" lvl="1" indent="-298450" algn="ctr" defTabSz="957263">
              <a:spcBef>
                <a:spcPct val="20000"/>
              </a:spcBef>
              <a:buClr>
                <a:schemeClr val="accent1"/>
              </a:buClr>
              <a:defRPr/>
            </a:pPr>
            <a:r>
              <a:rPr lang="en-US" sz="2400" kern="0">
                <a:latin typeface="+mj-lt"/>
              </a:rPr>
              <a:t>El programa es traducido cada vez que se</a:t>
            </a:r>
          </a:p>
          <a:p>
            <a:pPr marL="777875" lvl="1" indent="-298450" algn="ctr" defTabSz="957263">
              <a:spcBef>
                <a:spcPct val="20000"/>
              </a:spcBef>
              <a:buClr>
                <a:schemeClr val="accent1"/>
              </a:buClr>
              <a:defRPr/>
            </a:pPr>
            <a:r>
              <a:rPr lang="en-US" sz="2400" kern="0">
                <a:latin typeface="+mj-lt"/>
              </a:rPr>
              <a:t>desea ejecutar.</a:t>
            </a:r>
          </a:p>
        </p:txBody>
      </p:sp>
      <p:grpSp>
        <p:nvGrpSpPr>
          <p:cNvPr id="8196" name="Group 87"/>
          <p:cNvGrpSpPr>
            <a:grpSpLocks/>
          </p:cNvGrpSpPr>
          <p:nvPr/>
        </p:nvGrpSpPr>
        <p:grpSpPr bwMode="auto">
          <a:xfrm>
            <a:off x="1785938" y="714375"/>
            <a:ext cx="5172075" cy="739775"/>
            <a:chOff x="1728" y="2478"/>
            <a:chExt cx="4560" cy="653"/>
          </a:xfrm>
        </p:grpSpPr>
        <p:sp>
          <p:nvSpPr>
            <p:cNvPr id="8230" name="AutoShape 67"/>
            <p:cNvSpPr>
              <a:spLocks noChangeArrowheads="1"/>
            </p:cNvSpPr>
            <p:nvPr/>
          </p:nvSpPr>
          <p:spPr bwMode="gray">
            <a:xfrm>
              <a:off x="2096" y="2592"/>
              <a:ext cx="4192" cy="436"/>
            </a:xfrm>
            <a:prstGeom prst="roundRect">
              <a:avLst>
                <a:gd name="adj" fmla="val 16667"/>
              </a:avLst>
            </a:prstGeom>
            <a:solidFill>
              <a:schemeClr val="accent1"/>
            </a:soli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endParaRPr lang="es-ES_tradnl"/>
            </a:p>
          </p:txBody>
        </p:sp>
        <p:sp>
          <p:nvSpPr>
            <p:cNvPr id="8231" name="AutoShape 68"/>
            <p:cNvSpPr>
              <a:spLocks noChangeArrowheads="1"/>
            </p:cNvSpPr>
            <p:nvPr/>
          </p:nvSpPr>
          <p:spPr bwMode="gray">
            <a:xfrm>
              <a:off x="1728" y="2478"/>
              <a:ext cx="662" cy="653"/>
            </a:xfrm>
            <a:prstGeom prst="diamond">
              <a:avLst/>
            </a:prstGeom>
            <a:solidFill>
              <a:schemeClr val="accent1"/>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p>
              <a:endParaRPr lang="es-ES_tradnl"/>
            </a:p>
          </p:txBody>
        </p:sp>
        <p:sp>
          <p:nvSpPr>
            <p:cNvPr id="8232" name="Text Box 69"/>
            <p:cNvSpPr txBox="1">
              <a:spLocks noChangeArrowheads="1"/>
            </p:cNvSpPr>
            <p:nvPr/>
          </p:nvSpPr>
          <p:spPr bwMode="gray">
            <a:xfrm>
              <a:off x="2316" y="2644"/>
              <a:ext cx="3310"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68415" tIns="34208" rIns="68415" bIns="34208">
              <a:spAutoFit/>
            </a:bodyPr>
            <a:lstStyle>
              <a:lvl1pPr defTabSz="684213" eaLnBrk="0" hangingPunct="0">
                <a:defRPr sz="1900">
                  <a:solidFill>
                    <a:schemeClr val="tx1"/>
                  </a:solidFill>
                  <a:latin typeface="Arial" charset="0"/>
                </a:defRPr>
              </a:lvl1pPr>
              <a:lvl2pPr marL="742950" indent="-285750" defTabSz="684213" eaLnBrk="0" hangingPunct="0">
                <a:defRPr sz="1900">
                  <a:solidFill>
                    <a:schemeClr val="tx1"/>
                  </a:solidFill>
                  <a:latin typeface="Arial" charset="0"/>
                </a:defRPr>
              </a:lvl2pPr>
              <a:lvl3pPr marL="1143000" indent="-228600" defTabSz="684213" eaLnBrk="0" hangingPunct="0">
                <a:defRPr sz="1900">
                  <a:solidFill>
                    <a:schemeClr val="tx1"/>
                  </a:solidFill>
                  <a:latin typeface="Arial" charset="0"/>
                </a:defRPr>
              </a:lvl3pPr>
              <a:lvl4pPr marL="1600200" indent="-228600" defTabSz="684213" eaLnBrk="0" hangingPunct="0">
                <a:defRPr sz="1900">
                  <a:solidFill>
                    <a:schemeClr val="tx1"/>
                  </a:solidFill>
                  <a:latin typeface="Arial" charset="0"/>
                </a:defRPr>
              </a:lvl4pPr>
              <a:lvl5pPr marL="2057400" indent="-228600" defTabSz="684213" eaLnBrk="0" hangingPunct="0">
                <a:defRPr sz="1900">
                  <a:solidFill>
                    <a:schemeClr val="tx1"/>
                  </a:solidFill>
                  <a:latin typeface="Arial" charset="0"/>
                </a:defRPr>
              </a:lvl5pPr>
              <a:lvl6pPr marL="2514600" indent="-228600" defTabSz="684213" eaLnBrk="0" fontAlgn="base" hangingPunct="0">
                <a:spcBef>
                  <a:spcPct val="0"/>
                </a:spcBef>
                <a:spcAft>
                  <a:spcPct val="0"/>
                </a:spcAft>
                <a:defRPr sz="1900">
                  <a:solidFill>
                    <a:schemeClr val="tx1"/>
                  </a:solidFill>
                  <a:latin typeface="Arial" charset="0"/>
                </a:defRPr>
              </a:lvl6pPr>
              <a:lvl7pPr marL="2971800" indent="-228600" defTabSz="684213" eaLnBrk="0" fontAlgn="base" hangingPunct="0">
                <a:spcBef>
                  <a:spcPct val="0"/>
                </a:spcBef>
                <a:spcAft>
                  <a:spcPct val="0"/>
                </a:spcAft>
                <a:defRPr sz="1900">
                  <a:solidFill>
                    <a:schemeClr val="tx1"/>
                  </a:solidFill>
                  <a:latin typeface="Arial" charset="0"/>
                </a:defRPr>
              </a:lvl7pPr>
              <a:lvl8pPr marL="3429000" indent="-228600" defTabSz="684213" eaLnBrk="0" fontAlgn="base" hangingPunct="0">
                <a:spcBef>
                  <a:spcPct val="0"/>
                </a:spcBef>
                <a:spcAft>
                  <a:spcPct val="0"/>
                </a:spcAft>
                <a:defRPr sz="1900">
                  <a:solidFill>
                    <a:schemeClr val="tx1"/>
                  </a:solidFill>
                  <a:latin typeface="Arial" charset="0"/>
                </a:defRPr>
              </a:lvl8pPr>
              <a:lvl9pPr marL="3886200" indent="-228600" defTabSz="684213" eaLnBrk="0" fontAlgn="base" hangingPunct="0">
                <a:spcBef>
                  <a:spcPct val="0"/>
                </a:spcBef>
                <a:spcAft>
                  <a:spcPct val="0"/>
                </a:spcAft>
                <a:defRPr sz="1900">
                  <a:solidFill>
                    <a:schemeClr val="tx1"/>
                  </a:solidFill>
                  <a:latin typeface="Arial" charset="0"/>
                </a:defRPr>
              </a:lvl9pPr>
            </a:lstStyle>
            <a:p>
              <a:pPr algn="ctr"/>
              <a:r>
                <a:rPr lang="en-US" sz="1800" b="1">
                  <a:solidFill>
                    <a:schemeClr val="bg1"/>
                  </a:solidFill>
                </a:rPr>
                <a:t>INTÉRPRETE</a:t>
              </a:r>
            </a:p>
          </p:txBody>
        </p:sp>
        <p:sp>
          <p:nvSpPr>
            <p:cNvPr id="8233" name="Text Box 82"/>
            <p:cNvSpPr txBox="1">
              <a:spLocks noChangeArrowheads="1"/>
            </p:cNvSpPr>
            <p:nvPr/>
          </p:nvSpPr>
          <p:spPr bwMode="gray">
            <a:xfrm>
              <a:off x="1920" y="2620"/>
              <a:ext cx="273"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68415" tIns="34208" rIns="68415" bIns="34208">
              <a:spAutoFit/>
            </a:bodyPr>
            <a:lstStyle>
              <a:lvl1pPr defTabSz="684213" eaLnBrk="0" hangingPunct="0">
                <a:defRPr sz="1900">
                  <a:solidFill>
                    <a:schemeClr val="tx1"/>
                  </a:solidFill>
                  <a:latin typeface="Arial" charset="0"/>
                </a:defRPr>
              </a:lvl1pPr>
              <a:lvl2pPr marL="742950" indent="-285750" defTabSz="684213" eaLnBrk="0" hangingPunct="0">
                <a:defRPr sz="1900">
                  <a:solidFill>
                    <a:schemeClr val="tx1"/>
                  </a:solidFill>
                  <a:latin typeface="Arial" charset="0"/>
                </a:defRPr>
              </a:lvl2pPr>
              <a:lvl3pPr marL="1143000" indent="-228600" defTabSz="684213" eaLnBrk="0" hangingPunct="0">
                <a:defRPr sz="1900">
                  <a:solidFill>
                    <a:schemeClr val="tx1"/>
                  </a:solidFill>
                  <a:latin typeface="Arial" charset="0"/>
                </a:defRPr>
              </a:lvl3pPr>
              <a:lvl4pPr marL="1600200" indent="-228600" defTabSz="684213" eaLnBrk="0" hangingPunct="0">
                <a:defRPr sz="1900">
                  <a:solidFill>
                    <a:schemeClr val="tx1"/>
                  </a:solidFill>
                  <a:latin typeface="Arial" charset="0"/>
                </a:defRPr>
              </a:lvl4pPr>
              <a:lvl5pPr marL="2057400" indent="-228600" defTabSz="684213" eaLnBrk="0" hangingPunct="0">
                <a:defRPr sz="1900">
                  <a:solidFill>
                    <a:schemeClr val="tx1"/>
                  </a:solidFill>
                  <a:latin typeface="Arial" charset="0"/>
                </a:defRPr>
              </a:lvl5pPr>
              <a:lvl6pPr marL="2514600" indent="-228600" defTabSz="684213" eaLnBrk="0" fontAlgn="base" hangingPunct="0">
                <a:spcBef>
                  <a:spcPct val="0"/>
                </a:spcBef>
                <a:spcAft>
                  <a:spcPct val="0"/>
                </a:spcAft>
                <a:defRPr sz="1900">
                  <a:solidFill>
                    <a:schemeClr val="tx1"/>
                  </a:solidFill>
                  <a:latin typeface="Arial" charset="0"/>
                </a:defRPr>
              </a:lvl6pPr>
              <a:lvl7pPr marL="2971800" indent="-228600" defTabSz="684213" eaLnBrk="0" fontAlgn="base" hangingPunct="0">
                <a:spcBef>
                  <a:spcPct val="0"/>
                </a:spcBef>
                <a:spcAft>
                  <a:spcPct val="0"/>
                </a:spcAft>
                <a:defRPr sz="1900">
                  <a:solidFill>
                    <a:schemeClr val="tx1"/>
                  </a:solidFill>
                  <a:latin typeface="Arial" charset="0"/>
                </a:defRPr>
              </a:lvl7pPr>
              <a:lvl8pPr marL="3429000" indent="-228600" defTabSz="684213" eaLnBrk="0" fontAlgn="base" hangingPunct="0">
                <a:spcBef>
                  <a:spcPct val="0"/>
                </a:spcBef>
                <a:spcAft>
                  <a:spcPct val="0"/>
                </a:spcAft>
                <a:defRPr sz="1900">
                  <a:solidFill>
                    <a:schemeClr val="tx1"/>
                  </a:solidFill>
                  <a:latin typeface="Arial" charset="0"/>
                </a:defRPr>
              </a:lvl8pPr>
              <a:lvl9pPr marL="3886200" indent="-228600" defTabSz="684213" eaLnBrk="0" fontAlgn="base" hangingPunct="0">
                <a:spcBef>
                  <a:spcPct val="0"/>
                </a:spcBef>
                <a:spcAft>
                  <a:spcPct val="0"/>
                </a:spcAft>
                <a:defRPr sz="1900">
                  <a:solidFill>
                    <a:schemeClr val="tx1"/>
                  </a:solidFill>
                  <a:latin typeface="Arial" charset="0"/>
                </a:defRPr>
              </a:lvl9pPr>
            </a:lstStyle>
            <a:p>
              <a:pPr algn="ctr"/>
              <a:r>
                <a:rPr lang="en-US" sz="2400">
                  <a:solidFill>
                    <a:schemeClr val="bg1"/>
                  </a:solidFill>
                </a:rPr>
                <a:t>2</a:t>
              </a:r>
            </a:p>
          </p:txBody>
        </p:sp>
      </p:grpSp>
      <p:grpSp>
        <p:nvGrpSpPr>
          <p:cNvPr id="8197" name="53 Grupo"/>
          <p:cNvGrpSpPr>
            <a:grpSpLocks/>
          </p:cNvGrpSpPr>
          <p:nvPr/>
        </p:nvGrpSpPr>
        <p:grpSpPr bwMode="auto">
          <a:xfrm>
            <a:off x="714375" y="3000375"/>
            <a:ext cx="1643063" cy="3084513"/>
            <a:chOff x="500034" y="3143248"/>
            <a:chExt cx="1643074" cy="3083976"/>
          </a:xfrm>
        </p:grpSpPr>
        <p:sp>
          <p:nvSpPr>
            <p:cNvPr id="20" name="19 Esquina doblada"/>
            <p:cNvSpPr/>
            <p:nvPr/>
          </p:nvSpPr>
          <p:spPr bwMode="auto">
            <a:xfrm>
              <a:off x="500034" y="3500374"/>
              <a:ext cx="1571636" cy="2357027"/>
            </a:xfrm>
            <a:prstGeom prst="foldedCorner">
              <a:avLst/>
            </a:prstGeom>
            <a:solidFill>
              <a:srgbClr val="FFFFCC"/>
            </a:solidFill>
            <a:ln w="952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txBody>
            <a:bodyPr/>
            <a:lstStyle/>
            <a:p>
              <a:pPr defTabSz="957263">
                <a:defRPr/>
              </a:pPr>
              <a:endParaRPr lang="es-ES_tradnl"/>
            </a:p>
          </p:txBody>
        </p:sp>
        <p:sp>
          <p:nvSpPr>
            <p:cNvPr id="8227" name="20 CuadroTexto"/>
            <p:cNvSpPr txBox="1">
              <a:spLocks noChangeArrowheads="1"/>
            </p:cNvSpPr>
            <p:nvPr/>
          </p:nvSpPr>
          <p:spPr bwMode="auto">
            <a:xfrm>
              <a:off x="571472" y="3571876"/>
              <a:ext cx="1285884"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400"/>
                <a:t>DERECHA</a:t>
              </a:r>
            </a:p>
            <a:p>
              <a:pPr eaLnBrk="1" hangingPunct="1"/>
              <a:r>
                <a:rPr lang="es-ES_tradnl" sz="1400"/>
                <a:t>DERECHA</a:t>
              </a:r>
            </a:p>
            <a:p>
              <a:pPr eaLnBrk="1" hangingPunct="1"/>
              <a:r>
                <a:rPr lang="es-ES_tradnl" sz="1400"/>
                <a:t>ARRIBA</a:t>
              </a:r>
            </a:p>
            <a:p>
              <a:pPr eaLnBrk="1" hangingPunct="1"/>
              <a:r>
                <a:rPr lang="es-ES_tradnl" sz="1400"/>
                <a:t>IZQUIERDA</a:t>
              </a:r>
            </a:p>
            <a:p>
              <a:pPr eaLnBrk="1" hangingPunct="1"/>
              <a:r>
                <a:rPr lang="es-ES_tradnl" sz="1400"/>
                <a:t>ARRIBA</a:t>
              </a:r>
            </a:p>
            <a:p>
              <a:pPr eaLnBrk="1" hangingPunct="1"/>
              <a:r>
                <a:rPr lang="es-ES_tradnl" sz="1400"/>
                <a:t>DERECHA</a:t>
              </a:r>
            </a:p>
            <a:p>
              <a:pPr eaLnBrk="1" hangingPunct="1"/>
              <a:r>
                <a:rPr lang="es-ES_tradnl" sz="1400"/>
                <a:t>DERECHA</a:t>
              </a:r>
            </a:p>
            <a:p>
              <a:pPr eaLnBrk="1" hangingPunct="1"/>
              <a:r>
                <a:rPr lang="es-ES_tradnl" sz="1400"/>
                <a:t>DERECHA</a:t>
              </a:r>
            </a:p>
            <a:p>
              <a:pPr eaLnBrk="1" hangingPunct="1"/>
              <a:r>
                <a:rPr lang="es-ES_tradnl" sz="1400"/>
                <a:t>ARRIBA</a:t>
              </a:r>
            </a:p>
            <a:p>
              <a:pPr eaLnBrk="1" hangingPunct="1"/>
              <a:r>
                <a:rPr lang="es-ES_tradnl" sz="1400"/>
                <a:t>…</a:t>
              </a:r>
            </a:p>
          </p:txBody>
        </p:sp>
        <p:sp>
          <p:nvSpPr>
            <p:cNvPr id="8228" name="24 CuadroTexto"/>
            <p:cNvSpPr txBox="1">
              <a:spLocks noChangeArrowheads="1"/>
            </p:cNvSpPr>
            <p:nvPr/>
          </p:nvSpPr>
          <p:spPr bwMode="auto">
            <a:xfrm>
              <a:off x="571472" y="5857892"/>
              <a:ext cx="15001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800">
                  <a:latin typeface="Times" pitchFamily="18" charset="0"/>
                </a:rPr>
                <a:t>Trayecto.txt</a:t>
              </a:r>
            </a:p>
          </p:txBody>
        </p:sp>
        <p:sp>
          <p:nvSpPr>
            <p:cNvPr id="8229" name="30 CuadroTexto"/>
            <p:cNvSpPr txBox="1">
              <a:spLocks noChangeArrowheads="1"/>
            </p:cNvSpPr>
            <p:nvPr/>
          </p:nvSpPr>
          <p:spPr bwMode="auto">
            <a:xfrm>
              <a:off x="571472" y="3143248"/>
              <a:ext cx="157163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500"/>
                <a:t>Fichero Fuente</a:t>
              </a:r>
            </a:p>
          </p:txBody>
        </p:sp>
      </p:grpSp>
      <p:grpSp>
        <p:nvGrpSpPr>
          <p:cNvPr id="4" name="58 Grupo"/>
          <p:cNvGrpSpPr>
            <a:grpSpLocks/>
          </p:cNvGrpSpPr>
          <p:nvPr/>
        </p:nvGrpSpPr>
        <p:grpSpPr bwMode="auto">
          <a:xfrm>
            <a:off x="2500313" y="4214813"/>
            <a:ext cx="5500687" cy="579437"/>
            <a:chOff x="2500298" y="4214818"/>
            <a:chExt cx="5500726" cy="578742"/>
          </a:xfrm>
        </p:grpSpPr>
        <p:sp>
          <p:nvSpPr>
            <p:cNvPr id="52" name="51 Flecha a la derecha con muesca"/>
            <p:cNvSpPr/>
            <p:nvPr/>
          </p:nvSpPr>
          <p:spPr bwMode="auto">
            <a:xfrm>
              <a:off x="2500298" y="4222056"/>
              <a:ext cx="5500726" cy="571504"/>
            </a:xfrm>
            <a:prstGeom prst="notchedRightArrow">
              <a:avLst/>
            </a:prstGeom>
            <a:gradFill>
              <a:gsLst>
                <a:gs pos="0">
                  <a:srgbClr val="03D4A8"/>
                </a:gs>
                <a:gs pos="25000">
                  <a:srgbClr val="21D6E0"/>
                </a:gs>
                <a:gs pos="75000">
                  <a:srgbClr val="0087E6"/>
                </a:gs>
                <a:gs pos="100000">
                  <a:srgbClr val="005CBF"/>
                </a:gs>
              </a:gsLst>
              <a:lin ang="10800000" scaled="0"/>
            </a:gradFill>
            <a:ln w="9525" cap="flat" cmpd="sng" algn="ctr">
              <a:gradFill flip="none" rotWithShape="1">
                <a:gsLst>
                  <a:gs pos="0">
                    <a:srgbClr val="5E9EFF"/>
                  </a:gs>
                  <a:gs pos="39999">
                    <a:srgbClr val="85C2FF"/>
                  </a:gs>
                  <a:gs pos="70000">
                    <a:srgbClr val="C4D6EB"/>
                  </a:gs>
                  <a:gs pos="100000">
                    <a:srgbClr val="FFEBFA"/>
                  </a:gs>
                </a:gsLst>
                <a:lin ang="10800000" scaled="1"/>
                <a:tileRect/>
              </a:gradFill>
              <a:prstDash val="solid"/>
              <a:round/>
              <a:headEnd type="none" w="med" len="med"/>
              <a:tailEnd type="none" w="med" len="med"/>
            </a:ln>
            <a:effectLst/>
          </p:spPr>
          <p:txBody>
            <a:bodyPr/>
            <a:lstStyle/>
            <a:p>
              <a:pPr defTabSz="957263">
                <a:defRPr/>
              </a:pPr>
              <a:endParaRPr lang="es-ES_tradnl"/>
            </a:p>
          </p:txBody>
        </p:sp>
        <p:sp>
          <p:nvSpPr>
            <p:cNvPr id="18" name="17 Rectángulo redondeado"/>
            <p:cNvSpPr/>
            <p:nvPr/>
          </p:nvSpPr>
          <p:spPr bwMode="auto">
            <a:xfrm>
              <a:off x="3008410" y="4214818"/>
              <a:ext cx="2500330" cy="571504"/>
            </a:xfrm>
            <a:prstGeom prst="roundRect">
              <a:avLst/>
            </a:prstGeom>
            <a:solidFill>
              <a:schemeClr val="accent1">
                <a:lumMod val="20000"/>
                <a:lumOff val="80000"/>
                <a:alpha val="73000"/>
              </a:schemeClr>
            </a:soli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8225" name="18 CuadroTexto"/>
            <p:cNvSpPr txBox="1">
              <a:spLocks noChangeArrowheads="1"/>
            </p:cNvSpPr>
            <p:nvPr/>
          </p:nvSpPr>
          <p:spPr bwMode="auto">
            <a:xfrm>
              <a:off x="3079848" y="4282538"/>
              <a:ext cx="250033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2000" b="1"/>
                <a:t>INTERPRETACIÓN</a:t>
              </a:r>
            </a:p>
          </p:txBody>
        </p:sp>
      </p:grpSp>
      <p:sp>
        <p:nvSpPr>
          <p:cNvPr id="30" name="29 CuadroTexto"/>
          <p:cNvSpPr txBox="1"/>
          <p:nvPr/>
        </p:nvSpPr>
        <p:spPr>
          <a:xfrm>
            <a:off x="5786438" y="4294188"/>
            <a:ext cx="1500187" cy="384175"/>
          </a:xfrm>
          <a:prstGeom prst="rect">
            <a:avLst/>
          </a:prstGeom>
          <a:noFill/>
          <a:effectLst>
            <a:outerShdw blurRad="50800" dist="38100" dir="2700000" algn="tl" rotWithShape="0">
              <a:prstClr val="black">
                <a:alpha val="40000"/>
              </a:prstClr>
            </a:outerShdw>
          </a:effectLst>
        </p:spPr>
        <p:txBody>
          <a:bodyPr>
            <a:spAutoFit/>
          </a:bodyPr>
          <a:lstStyle/>
          <a:p>
            <a:pPr algn="ctr">
              <a:defRPr/>
            </a:pPr>
            <a:r>
              <a:rPr lang="es-ES_tradnl">
                <a:solidFill>
                  <a:schemeClr val="bg1"/>
                </a:solidFill>
                <a:latin typeface="Berlin Sans FB" pitchFamily="34" charset="0"/>
              </a:rPr>
              <a:t>EJECUCIÓN</a:t>
            </a:r>
          </a:p>
        </p:txBody>
      </p:sp>
      <p:grpSp>
        <p:nvGrpSpPr>
          <p:cNvPr id="5" name="57 Grupo"/>
          <p:cNvGrpSpPr>
            <a:grpSpLocks/>
          </p:cNvGrpSpPr>
          <p:nvPr/>
        </p:nvGrpSpPr>
        <p:grpSpPr bwMode="auto">
          <a:xfrm>
            <a:off x="2500313" y="3500438"/>
            <a:ext cx="5500687" cy="579437"/>
            <a:chOff x="2500298" y="3500438"/>
            <a:chExt cx="5500726" cy="578742"/>
          </a:xfrm>
        </p:grpSpPr>
        <p:sp>
          <p:nvSpPr>
            <p:cNvPr id="34" name="33 Flecha a la derecha con muesca"/>
            <p:cNvSpPr/>
            <p:nvPr/>
          </p:nvSpPr>
          <p:spPr bwMode="auto">
            <a:xfrm>
              <a:off x="2500298" y="3507676"/>
              <a:ext cx="5500726" cy="571504"/>
            </a:xfrm>
            <a:prstGeom prst="notchedRightArrow">
              <a:avLst/>
            </a:prstGeom>
            <a:gradFill>
              <a:gsLst>
                <a:gs pos="0">
                  <a:srgbClr val="03D4A8"/>
                </a:gs>
                <a:gs pos="25000">
                  <a:srgbClr val="21D6E0"/>
                </a:gs>
                <a:gs pos="75000">
                  <a:srgbClr val="0087E6"/>
                </a:gs>
                <a:gs pos="100000">
                  <a:srgbClr val="005CBF"/>
                </a:gs>
              </a:gsLst>
              <a:lin ang="10800000" scaled="0"/>
            </a:gradFill>
            <a:ln w="9525" cap="flat" cmpd="sng" algn="ctr">
              <a:gradFill flip="none" rotWithShape="1">
                <a:gsLst>
                  <a:gs pos="0">
                    <a:srgbClr val="5E9EFF"/>
                  </a:gs>
                  <a:gs pos="39999">
                    <a:srgbClr val="85C2FF"/>
                  </a:gs>
                  <a:gs pos="70000">
                    <a:srgbClr val="C4D6EB"/>
                  </a:gs>
                  <a:gs pos="100000">
                    <a:srgbClr val="FFEBFA"/>
                  </a:gs>
                </a:gsLst>
                <a:lin ang="10800000" scaled="1"/>
                <a:tileRect/>
              </a:gradFill>
              <a:prstDash val="solid"/>
              <a:round/>
              <a:headEnd type="none" w="med" len="med"/>
              <a:tailEnd type="none" w="med" len="med"/>
            </a:ln>
            <a:effectLst/>
          </p:spPr>
          <p:txBody>
            <a:bodyPr/>
            <a:lstStyle/>
            <a:p>
              <a:pPr defTabSz="957263">
                <a:defRPr/>
              </a:pPr>
              <a:endParaRPr lang="es-ES_tradnl"/>
            </a:p>
          </p:txBody>
        </p:sp>
        <p:sp>
          <p:nvSpPr>
            <p:cNvPr id="35" name="34 Rectángulo redondeado"/>
            <p:cNvSpPr/>
            <p:nvPr/>
          </p:nvSpPr>
          <p:spPr bwMode="auto">
            <a:xfrm>
              <a:off x="3008410" y="3500438"/>
              <a:ext cx="2500330" cy="571504"/>
            </a:xfrm>
            <a:prstGeom prst="roundRect">
              <a:avLst/>
            </a:prstGeom>
            <a:solidFill>
              <a:schemeClr val="accent1">
                <a:lumMod val="20000"/>
                <a:lumOff val="80000"/>
                <a:alpha val="73000"/>
              </a:schemeClr>
            </a:soli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8218" name="40 CuadroTexto"/>
            <p:cNvSpPr txBox="1">
              <a:spLocks noChangeArrowheads="1"/>
            </p:cNvSpPr>
            <p:nvPr/>
          </p:nvSpPr>
          <p:spPr bwMode="auto">
            <a:xfrm>
              <a:off x="3079848" y="3568158"/>
              <a:ext cx="250033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2000" b="1"/>
                <a:t>INTERPRETACIÓN</a:t>
              </a:r>
            </a:p>
          </p:txBody>
        </p:sp>
      </p:grpSp>
      <p:sp>
        <p:nvSpPr>
          <p:cNvPr id="42" name="41 CuadroTexto"/>
          <p:cNvSpPr txBox="1"/>
          <p:nvPr/>
        </p:nvSpPr>
        <p:spPr>
          <a:xfrm>
            <a:off x="5786438" y="3579813"/>
            <a:ext cx="1500187" cy="384175"/>
          </a:xfrm>
          <a:prstGeom prst="rect">
            <a:avLst/>
          </a:prstGeom>
          <a:noFill/>
          <a:effectLst>
            <a:outerShdw blurRad="50800" dist="38100" dir="2700000" algn="tl" rotWithShape="0">
              <a:prstClr val="black">
                <a:alpha val="40000"/>
              </a:prstClr>
            </a:outerShdw>
          </a:effectLst>
        </p:spPr>
        <p:txBody>
          <a:bodyPr>
            <a:spAutoFit/>
          </a:bodyPr>
          <a:lstStyle/>
          <a:p>
            <a:pPr algn="ctr">
              <a:defRPr/>
            </a:pPr>
            <a:r>
              <a:rPr lang="es-ES_tradnl">
                <a:solidFill>
                  <a:schemeClr val="bg1"/>
                </a:solidFill>
                <a:latin typeface="Berlin Sans FB" pitchFamily="34" charset="0"/>
              </a:rPr>
              <a:t>EJECUCIÓN</a:t>
            </a:r>
          </a:p>
        </p:txBody>
      </p:sp>
      <p:grpSp>
        <p:nvGrpSpPr>
          <p:cNvPr id="6" name="59 Grupo"/>
          <p:cNvGrpSpPr>
            <a:grpSpLocks/>
          </p:cNvGrpSpPr>
          <p:nvPr/>
        </p:nvGrpSpPr>
        <p:grpSpPr bwMode="auto">
          <a:xfrm>
            <a:off x="2500313" y="4929188"/>
            <a:ext cx="5500687" cy="579437"/>
            <a:chOff x="2500298" y="4929198"/>
            <a:chExt cx="5500726" cy="578742"/>
          </a:xfrm>
        </p:grpSpPr>
        <p:sp>
          <p:nvSpPr>
            <p:cNvPr id="45" name="44 Flecha a la derecha con muesca"/>
            <p:cNvSpPr/>
            <p:nvPr/>
          </p:nvSpPr>
          <p:spPr bwMode="auto">
            <a:xfrm>
              <a:off x="2500298" y="4936436"/>
              <a:ext cx="5500726" cy="571504"/>
            </a:xfrm>
            <a:prstGeom prst="notchedRightArrow">
              <a:avLst/>
            </a:prstGeom>
            <a:gradFill>
              <a:gsLst>
                <a:gs pos="0">
                  <a:srgbClr val="03D4A8"/>
                </a:gs>
                <a:gs pos="25000">
                  <a:srgbClr val="21D6E0"/>
                </a:gs>
                <a:gs pos="75000">
                  <a:srgbClr val="0087E6"/>
                </a:gs>
                <a:gs pos="100000">
                  <a:srgbClr val="005CBF"/>
                </a:gs>
              </a:gsLst>
              <a:lin ang="10800000" scaled="0"/>
            </a:gradFill>
            <a:ln w="9525" cap="flat" cmpd="sng" algn="ctr">
              <a:gradFill flip="none" rotWithShape="1">
                <a:gsLst>
                  <a:gs pos="0">
                    <a:srgbClr val="5E9EFF"/>
                  </a:gs>
                  <a:gs pos="39999">
                    <a:srgbClr val="85C2FF"/>
                  </a:gs>
                  <a:gs pos="70000">
                    <a:srgbClr val="C4D6EB"/>
                  </a:gs>
                  <a:gs pos="100000">
                    <a:srgbClr val="FFEBFA"/>
                  </a:gs>
                </a:gsLst>
                <a:lin ang="10800000" scaled="1"/>
                <a:tileRect/>
              </a:gradFill>
              <a:prstDash val="solid"/>
              <a:round/>
              <a:headEnd type="none" w="med" len="med"/>
              <a:tailEnd type="none" w="med" len="med"/>
            </a:ln>
            <a:effectLst/>
          </p:spPr>
          <p:txBody>
            <a:bodyPr/>
            <a:lstStyle/>
            <a:p>
              <a:pPr defTabSz="957263">
                <a:defRPr/>
              </a:pPr>
              <a:endParaRPr lang="es-ES_tradnl"/>
            </a:p>
          </p:txBody>
        </p:sp>
        <p:sp>
          <p:nvSpPr>
            <p:cNvPr id="46" name="45 Rectángulo redondeado"/>
            <p:cNvSpPr/>
            <p:nvPr/>
          </p:nvSpPr>
          <p:spPr bwMode="auto">
            <a:xfrm>
              <a:off x="3008410" y="4929198"/>
              <a:ext cx="2500330" cy="571504"/>
            </a:xfrm>
            <a:prstGeom prst="roundRect">
              <a:avLst/>
            </a:prstGeom>
            <a:solidFill>
              <a:schemeClr val="accent1">
                <a:lumMod val="20000"/>
                <a:lumOff val="80000"/>
                <a:alpha val="73000"/>
              </a:schemeClr>
            </a:soli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8211" name="48 CuadroTexto"/>
            <p:cNvSpPr txBox="1">
              <a:spLocks noChangeArrowheads="1"/>
            </p:cNvSpPr>
            <p:nvPr/>
          </p:nvSpPr>
          <p:spPr bwMode="auto">
            <a:xfrm>
              <a:off x="3079848" y="4996918"/>
              <a:ext cx="250033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2000" b="1"/>
                <a:t>INTERPRETACIÓN</a:t>
              </a:r>
            </a:p>
          </p:txBody>
        </p:sp>
      </p:grpSp>
      <p:sp>
        <p:nvSpPr>
          <p:cNvPr id="53" name="52 CuadroTexto"/>
          <p:cNvSpPr txBox="1"/>
          <p:nvPr/>
        </p:nvSpPr>
        <p:spPr>
          <a:xfrm>
            <a:off x="5786438" y="5008563"/>
            <a:ext cx="1500187" cy="384175"/>
          </a:xfrm>
          <a:prstGeom prst="rect">
            <a:avLst/>
          </a:prstGeom>
          <a:noFill/>
          <a:effectLst>
            <a:outerShdw blurRad="50800" dist="38100" dir="2700000" algn="tl" rotWithShape="0">
              <a:prstClr val="black">
                <a:alpha val="40000"/>
              </a:prstClr>
            </a:outerShdw>
          </a:effectLst>
        </p:spPr>
        <p:txBody>
          <a:bodyPr>
            <a:spAutoFit/>
          </a:bodyPr>
          <a:lstStyle/>
          <a:p>
            <a:pPr algn="ctr">
              <a:defRPr/>
            </a:pPr>
            <a:r>
              <a:rPr lang="es-ES_tradnl">
                <a:solidFill>
                  <a:schemeClr val="bg1"/>
                </a:solidFill>
                <a:latin typeface="Berlin Sans FB" pitchFamily="34" charset="0"/>
              </a:rPr>
              <a:t>EJECUCIÓN</a:t>
            </a:r>
          </a:p>
        </p:txBody>
      </p:sp>
      <p:sp>
        <p:nvSpPr>
          <p:cNvPr id="55" name="54 Redondear rectángulo de esquina diagonal"/>
          <p:cNvSpPr/>
          <p:nvPr/>
        </p:nvSpPr>
        <p:spPr bwMode="auto">
          <a:xfrm>
            <a:off x="500063" y="1643063"/>
            <a:ext cx="8001000" cy="1143000"/>
          </a:xfrm>
          <a:prstGeom prst="round2DiagRect">
            <a:avLst/>
          </a:prstGeom>
          <a:solidFill>
            <a:schemeClr val="accent1">
              <a:alpha val="9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a:lstStyle/>
          <a:p>
            <a:pPr defTabSz="957263">
              <a:defRPr/>
            </a:pPr>
            <a:endParaRPr lang="es-ES_tradnl"/>
          </a:p>
        </p:txBody>
      </p:sp>
    </p:spTree>
    <p:extLst>
      <p:ext uri="{BB962C8B-B14F-4D97-AF65-F5344CB8AC3E}">
        <p14:creationId xmlns:p14="http://schemas.microsoft.com/office/powerpoint/2010/main" val="5326673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1000"/>
                                  </p:stCondLst>
                                  <p:childTnLst>
                                    <p:set>
                                      <p:cBhvr>
                                        <p:cTn id="9" dur="1" fill="hold">
                                          <p:stCondLst>
                                            <p:cond delay="0"/>
                                          </p:stCondLst>
                                        </p:cTn>
                                        <p:tgtEl>
                                          <p:spTgt spid="42"/>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nodeType="afterEffect">
                                  <p:stCondLst>
                                    <p:cond delay="2000"/>
                                  </p:stCondLst>
                                  <p:childTnLst>
                                    <p:set>
                                      <p:cBhvr>
                                        <p:cTn id="12" dur="1" fill="hold">
                                          <p:stCondLst>
                                            <p:cond delay="0"/>
                                          </p:stCondLst>
                                        </p:cTn>
                                        <p:tgtEl>
                                          <p:spTgt spid="4"/>
                                        </p:tgtEl>
                                        <p:attrNameLst>
                                          <p:attrName>style.visibility</p:attrName>
                                        </p:attrNameLst>
                                      </p:cBhvr>
                                      <p:to>
                                        <p:strVal val="visible"/>
                                      </p:to>
                                    </p:set>
                                  </p:childTnLst>
                                </p:cTn>
                              </p:par>
                            </p:childTnLst>
                          </p:cTn>
                        </p:par>
                        <p:par>
                          <p:cTn id="13" fill="hold" nodeType="afterGroup">
                            <p:stCondLst>
                              <p:cond delay="3000"/>
                            </p:stCondLst>
                            <p:childTnLst>
                              <p:par>
                                <p:cTn id="14" presetID="1" presetClass="entr" presetSubtype="0" fill="hold" grpId="0" nodeType="afterEffect">
                                  <p:stCondLst>
                                    <p:cond delay="1000"/>
                                  </p:stCondLst>
                                  <p:childTnLst>
                                    <p:set>
                                      <p:cBhvr>
                                        <p:cTn id="15" dur="1" fill="hold">
                                          <p:stCondLst>
                                            <p:cond delay="0"/>
                                          </p:stCondLst>
                                        </p:cTn>
                                        <p:tgtEl>
                                          <p:spTgt spid="30"/>
                                        </p:tgtEl>
                                        <p:attrNameLst>
                                          <p:attrName>style.visibility</p:attrName>
                                        </p:attrNameLst>
                                      </p:cBhvr>
                                      <p:to>
                                        <p:strVal val="visible"/>
                                      </p:to>
                                    </p:set>
                                  </p:childTnLst>
                                </p:cTn>
                              </p:par>
                            </p:childTnLst>
                          </p:cTn>
                        </p:par>
                        <p:par>
                          <p:cTn id="16" fill="hold" nodeType="afterGroup">
                            <p:stCondLst>
                              <p:cond delay="4000"/>
                            </p:stCondLst>
                            <p:childTnLst>
                              <p:par>
                                <p:cTn id="17" presetID="1" presetClass="entr" presetSubtype="0" fill="hold" nodeType="afterEffect">
                                  <p:stCondLst>
                                    <p:cond delay="2000"/>
                                  </p:stCondLst>
                                  <p:childTnLst>
                                    <p:set>
                                      <p:cBhvr>
                                        <p:cTn id="18" dur="1" fill="hold">
                                          <p:stCondLst>
                                            <p:cond delay="0"/>
                                          </p:stCondLst>
                                        </p:cTn>
                                        <p:tgtEl>
                                          <p:spTgt spid="6"/>
                                        </p:tgtEl>
                                        <p:attrNameLst>
                                          <p:attrName>style.visibility</p:attrName>
                                        </p:attrNameLst>
                                      </p:cBhvr>
                                      <p:to>
                                        <p:strVal val="visible"/>
                                      </p:to>
                                    </p:set>
                                  </p:childTnLst>
                                </p:cTn>
                              </p:par>
                            </p:childTnLst>
                          </p:cTn>
                        </p:par>
                        <p:par>
                          <p:cTn id="19" fill="hold" nodeType="afterGroup">
                            <p:stCondLst>
                              <p:cond delay="6000"/>
                            </p:stCondLst>
                            <p:childTnLst>
                              <p:par>
                                <p:cTn id="20" presetID="1" presetClass="entr" presetSubtype="0" fill="hold" grpId="0" nodeType="afterEffect">
                                  <p:stCondLst>
                                    <p:cond delay="1000"/>
                                  </p:stCondLst>
                                  <p:childTnLst>
                                    <p:set>
                                      <p:cBhvr>
                                        <p:cTn id="21"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42" grpId="0"/>
      <p:bldP spid="5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91 Grupo"/>
          <p:cNvGrpSpPr>
            <a:grpSpLocks/>
          </p:cNvGrpSpPr>
          <p:nvPr/>
        </p:nvGrpSpPr>
        <p:grpSpPr bwMode="auto">
          <a:xfrm>
            <a:off x="3429000" y="2928938"/>
            <a:ext cx="1576388" cy="3063875"/>
            <a:chOff x="3428992" y="2928934"/>
            <a:chExt cx="1575751" cy="3064584"/>
          </a:xfrm>
        </p:grpSpPr>
        <p:sp>
          <p:nvSpPr>
            <p:cNvPr id="40" name="39 Esquina doblada"/>
            <p:cNvSpPr/>
            <p:nvPr/>
          </p:nvSpPr>
          <p:spPr bwMode="auto">
            <a:xfrm>
              <a:off x="3428992" y="3286204"/>
              <a:ext cx="1570990" cy="2357984"/>
            </a:xfrm>
            <a:prstGeom prst="foldedCorner">
              <a:avLst/>
            </a:prstGeom>
            <a:solidFill>
              <a:schemeClr val="tx2">
                <a:lumMod val="20000"/>
                <a:lumOff val="80000"/>
              </a:schemeClr>
            </a:solidFill>
            <a:ln w="952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txBody>
            <a:bodyPr/>
            <a:lstStyle/>
            <a:p>
              <a:pPr defTabSz="957263">
                <a:defRPr/>
              </a:pPr>
              <a:endParaRPr lang="es-ES_tradnl"/>
            </a:p>
          </p:txBody>
        </p:sp>
        <p:sp>
          <p:nvSpPr>
            <p:cNvPr id="9271" name="46 CuadroTexto"/>
            <p:cNvSpPr txBox="1">
              <a:spLocks noChangeArrowheads="1"/>
            </p:cNvSpPr>
            <p:nvPr/>
          </p:nvSpPr>
          <p:spPr bwMode="auto">
            <a:xfrm>
              <a:off x="3428992" y="5624186"/>
              <a:ext cx="15757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800">
                  <a:latin typeface="Times" pitchFamily="18" charset="0"/>
                </a:rPr>
                <a:t>Trayecto.class</a:t>
              </a:r>
            </a:p>
          </p:txBody>
        </p:sp>
        <p:sp>
          <p:nvSpPr>
            <p:cNvPr id="9272" name="47 CuadroTexto"/>
            <p:cNvSpPr txBox="1">
              <a:spLocks noChangeArrowheads="1"/>
            </p:cNvSpPr>
            <p:nvPr/>
          </p:nvSpPr>
          <p:spPr bwMode="auto">
            <a:xfrm>
              <a:off x="3428992" y="2928934"/>
              <a:ext cx="157163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algn="ctr" eaLnBrk="1" hangingPunct="1"/>
              <a:r>
                <a:rPr lang="es-ES_tradnl" sz="1500"/>
                <a:t>Bytecode</a:t>
              </a:r>
            </a:p>
          </p:txBody>
        </p:sp>
        <p:sp>
          <p:nvSpPr>
            <p:cNvPr id="64" name="63 Flecha derecha"/>
            <p:cNvSpPr/>
            <p:nvPr/>
          </p:nvSpPr>
          <p:spPr bwMode="auto">
            <a:xfrm>
              <a:off x="3817299" y="3432916"/>
              <a:ext cx="285752" cy="214314"/>
            </a:xfrm>
            <a:prstGeom prst="rightArrow">
              <a:avLst/>
            </a:prstGeom>
            <a:solidFill>
              <a:schemeClr val="tx1"/>
            </a:solidFill>
            <a:ln w="9525" cap="flat" cmpd="sng" algn="ctr">
              <a:solidFill>
                <a:schemeClr val="tx1"/>
              </a:solidFill>
              <a:prstDash val="solid"/>
              <a:round/>
              <a:headEnd type="none" w="med" len="med"/>
              <a:tailEnd type="none" w="med" len="med"/>
            </a:ln>
            <a:effectLst/>
            <a:scene3d>
              <a:camera prst="orthographicFront"/>
              <a:lightRig rig="threePt" dir="t"/>
            </a:scene3d>
            <a:sp3d prstMaterial="clear">
              <a:bevelT/>
            </a:sp3d>
          </p:spPr>
          <p:txBody>
            <a:bodyPr/>
            <a:lstStyle/>
            <a:p>
              <a:pPr defTabSz="957263">
                <a:defRPr/>
              </a:pPr>
              <a:endParaRPr lang="es-ES_tradnl"/>
            </a:p>
          </p:txBody>
        </p:sp>
        <p:sp>
          <p:nvSpPr>
            <p:cNvPr id="65" name="64 Flecha derecha"/>
            <p:cNvSpPr/>
            <p:nvPr/>
          </p:nvSpPr>
          <p:spPr bwMode="auto">
            <a:xfrm>
              <a:off x="4286248" y="3429000"/>
              <a:ext cx="285752" cy="214314"/>
            </a:xfrm>
            <a:prstGeom prst="rightArrow">
              <a:avLst/>
            </a:prstGeom>
            <a:solidFill>
              <a:schemeClr val="tx1"/>
            </a:solidFill>
            <a:ln w="9525" cap="flat" cmpd="sng" algn="ctr">
              <a:solidFill>
                <a:schemeClr val="tx1"/>
              </a:solidFill>
              <a:prstDash val="solid"/>
              <a:round/>
              <a:headEnd type="none" w="med" len="med"/>
              <a:tailEnd type="none" w="med" len="med"/>
            </a:ln>
            <a:effectLst/>
            <a:scene3d>
              <a:camera prst="orthographicFront"/>
              <a:lightRig rig="threePt" dir="t"/>
            </a:scene3d>
            <a:sp3d prstMaterial="clear">
              <a:bevelT/>
            </a:sp3d>
          </p:spPr>
          <p:txBody>
            <a:bodyPr/>
            <a:lstStyle/>
            <a:p>
              <a:pPr defTabSz="957263">
                <a:defRPr/>
              </a:pPr>
              <a:endParaRPr lang="es-ES_tradnl"/>
            </a:p>
          </p:txBody>
        </p:sp>
        <p:sp>
          <p:nvSpPr>
            <p:cNvPr id="66" name="65 Flecha derecha"/>
            <p:cNvSpPr/>
            <p:nvPr/>
          </p:nvSpPr>
          <p:spPr bwMode="auto">
            <a:xfrm rot="16200000">
              <a:off x="4067332" y="3754387"/>
              <a:ext cx="285752" cy="214314"/>
            </a:xfrm>
            <a:prstGeom prst="rightArrow">
              <a:avLst/>
            </a:prstGeom>
            <a:solidFill>
              <a:schemeClr val="tx1"/>
            </a:solidFill>
            <a:ln w="9525" cap="flat" cmpd="sng" algn="ctr">
              <a:solidFill>
                <a:schemeClr val="tx1"/>
              </a:solidFill>
              <a:prstDash val="solid"/>
              <a:round/>
              <a:headEnd type="none" w="med" len="med"/>
              <a:tailEnd type="none" w="med" len="med"/>
            </a:ln>
            <a:effectLst/>
            <a:scene3d>
              <a:camera prst="orthographicFront"/>
              <a:lightRig rig="threePt" dir="t"/>
            </a:scene3d>
            <a:sp3d prstMaterial="clear">
              <a:bevelT/>
            </a:sp3d>
          </p:spPr>
          <p:txBody>
            <a:bodyPr/>
            <a:lstStyle/>
            <a:p>
              <a:pPr defTabSz="957263">
                <a:defRPr/>
              </a:pPr>
              <a:endParaRPr lang="es-ES_tradnl"/>
            </a:p>
          </p:txBody>
        </p:sp>
        <p:sp>
          <p:nvSpPr>
            <p:cNvPr id="67" name="66 Flecha derecha"/>
            <p:cNvSpPr/>
            <p:nvPr/>
          </p:nvSpPr>
          <p:spPr bwMode="auto">
            <a:xfrm flipH="1">
              <a:off x="4031613" y="4075858"/>
              <a:ext cx="285752" cy="214314"/>
            </a:xfrm>
            <a:prstGeom prst="rightArrow">
              <a:avLst/>
            </a:prstGeom>
            <a:solidFill>
              <a:schemeClr val="tx1"/>
            </a:solidFill>
            <a:ln w="9525" cap="flat" cmpd="sng" algn="ctr">
              <a:solidFill>
                <a:schemeClr val="tx1"/>
              </a:solidFill>
              <a:prstDash val="solid"/>
              <a:round/>
              <a:headEnd type="none" w="med" len="med"/>
              <a:tailEnd type="none" w="med" len="med"/>
            </a:ln>
            <a:effectLst/>
            <a:scene3d>
              <a:camera prst="orthographicFront"/>
              <a:lightRig rig="threePt" dir="t"/>
            </a:scene3d>
            <a:sp3d prstMaterial="clear">
              <a:bevelT/>
            </a:sp3d>
          </p:spPr>
          <p:txBody>
            <a:bodyPr/>
            <a:lstStyle/>
            <a:p>
              <a:pPr defTabSz="957263">
                <a:defRPr/>
              </a:pPr>
              <a:endParaRPr lang="es-ES_tradnl"/>
            </a:p>
          </p:txBody>
        </p:sp>
        <p:sp>
          <p:nvSpPr>
            <p:cNvPr id="68" name="67 Flecha derecha"/>
            <p:cNvSpPr/>
            <p:nvPr/>
          </p:nvSpPr>
          <p:spPr bwMode="auto">
            <a:xfrm rot="16200000">
              <a:off x="4067332" y="4397329"/>
              <a:ext cx="285752" cy="214314"/>
            </a:xfrm>
            <a:prstGeom prst="rightArrow">
              <a:avLst/>
            </a:prstGeom>
            <a:solidFill>
              <a:schemeClr val="tx1"/>
            </a:solidFill>
            <a:ln w="9525" cap="flat" cmpd="sng" algn="ctr">
              <a:solidFill>
                <a:schemeClr val="tx1"/>
              </a:solidFill>
              <a:prstDash val="solid"/>
              <a:round/>
              <a:headEnd type="none" w="med" len="med"/>
              <a:tailEnd type="none" w="med" len="med"/>
            </a:ln>
            <a:effectLst/>
            <a:scene3d>
              <a:camera prst="orthographicFront"/>
              <a:lightRig rig="threePt" dir="t"/>
            </a:scene3d>
            <a:sp3d prstMaterial="clear">
              <a:bevelT/>
            </a:sp3d>
          </p:spPr>
          <p:txBody>
            <a:bodyPr/>
            <a:lstStyle/>
            <a:p>
              <a:pPr defTabSz="957263">
                <a:defRPr/>
              </a:pPr>
              <a:endParaRPr lang="es-ES_tradnl"/>
            </a:p>
          </p:txBody>
        </p:sp>
        <p:sp>
          <p:nvSpPr>
            <p:cNvPr id="69" name="68 Flecha derecha"/>
            <p:cNvSpPr/>
            <p:nvPr/>
          </p:nvSpPr>
          <p:spPr bwMode="auto">
            <a:xfrm>
              <a:off x="3745861" y="4727608"/>
              <a:ext cx="285752" cy="214314"/>
            </a:xfrm>
            <a:prstGeom prst="rightArrow">
              <a:avLst/>
            </a:prstGeom>
            <a:solidFill>
              <a:schemeClr val="tx1"/>
            </a:solidFill>
            <a:ln w="9525" cap="flat" cmpd="sng" algn="ctr">
              <a:solidFill>
                <a:schemeClr val="tx1"/>
              </a:solidFill>
              <a:prstDash val="solid"/>
              <a:round/>
              <a:headEnd type="none" w="med" len="med"/>
              <a:tailEnd type="none" w="med" len="med"/>
            </a:ln>
            <a:effectLst/>
            <a:scene3d>
              <a:camera prst="orthographicFront"/>
              <a:lightRig rig="threePt" dir="t"/>
            </a:scene3d>
            <a:sp3d prstMaterial="clear">
              <a:bevelT/>
            </a:sp3d>
          </p:spPr>
          <p:txBody>
            <a:bodyPr/>
            <a:lstStyle/>
            <a:p>
              <a:pPr defTabSz="957263">
                <a:defRPr/>
              </a:pPr>
              <a:endParaRPr lang="es-ES_tradnl"/>
            </a:p>
          </p:txBody>
        </p:sp>
        <p:sp>
          <p:nvSpPr>
            <p:cNvPr id="70" name="69 Flecha derecha"/>
            <p:cNvSpPr/>
            <p:nvPr/>
          </p:nvSpPr>
          <p:spPr bwMode="auto">
            <a:xfrm>
              <a:off x="4103051" y="4727608"/>
              <a:ext cx="285752" cy="214314"/>
            </a:xfrm>
            <a:prstGeom prst="rightArrow">
              <a:avLst/>
            </a:prstGeom>
            <a:solidFill>
              <a:schemeClr val="tx1"/>
            </a:solidFill>
            <a:ln w="9525" cap="flat" cmpd="sng" algn="ctr">
              <a:solidFill>
                <a:schemeClr val="tx1"/>
              </a:solidFill>
              <a:prstDash val="solid"/>
              <a:round/>
              <a:headEnd type="none" w="med" len="med"/>
              <a:tailEnd type="none" w="med" len="med"/>
            </a:ln>
            <a:effectLst/>
            <a:scene3d>
              <a:camera prst="orthographicFront"/>
              <a:lightRig rig="threePt" dir="t"/>
            </a:scene3d>
            <a:sp3d prstMaterial="clear">
              <a:bevelT/>
            </a:sp3d>
          </p:spPr>
          <p:txBody>
            <a:bodyPr/>
            <a:lstStyle/>
            <a:p>
              <a:pPr defTabSz="957263">
                <a:defRPr/>
              </a:pPr>
              <a:endParaRPr lang="es-ES_tradnl"/>
            </a:p>
          </p:txBody>
        </p:sp>
        <p:sp>
          <p:nvSpPr>
            <p:cNvPr id="71" name="70 Flecha derecha"/>
            <p:cNvSpPr/>
            <p:nvPr/>
          </p:nvSpPr>
          <p:spPr bwMode="auto">
            <a:xfrm>
              <a:off x="4460241" y="4727608"/>
              <a:ext cx="285752" cy="214314"/>
            </a:xfrm>
            <a:prstGeom prst="rightArrow">
              <a:avLst/>
            </a:prstGeom>
            <a:solidFill>
              <a:schemeClr val="tx1"/>
            </a:solidFill>
            <a:ln w="9525" cap="flat" cmpd="sng" algn="ctr">
              <a:solidFill>
                <a:schemeClr val="tx1"/>
              </a:solidFill>
              <a:prstDash val="solid"/>
              <a:round/>
              <a:headEnd type="none" w="med" len="med"/>
              <a:tailEnd type="none" w="med" len="med"/>
            </a:ln>
            <a:effectLst/>
            <a:scene3d>
              <a:camera prst="orthographicFront"/>
              <a:lightRig rig="threePt" dir="t"/>
            </a:scene3d>
            <a:sp3d prstMaterial="clear">
              <a:bevelT/>
            </a:sp3d>
          </p:spPr>
          <p:txBody>
            <a:bodyPr/>
            <a:lstStyle/>
            <a:p>
              <a:pPr defTabSz="957263">
                <a:defRPr/>
              </a:pPr>
              <a:endParaRPr lang="es-ES_tradnl"/>
            </a:p>
          </p:txBody>
        </p:sp>
        <p:sp>
          <p:nvSpPr>
            <p:cNvPr id="72" name="71 Flecha derecha"/>
            <p:cNvSpPr/>
            <p:nvPr/>
          </p:nvSpPr>
          <p:spPr bwMode="auto">
            <a:xfrm rot="16200000">
              <a:off x="4036215" y="5179231"/>
              <a:ext cx="285752" cy="214314"/>
            </a:xfrm>
            <a:prstGeom prst="rightArrow">
              <a:avLst/>
            </a:prstGeom>
            <a:solidFill>
              <a:schemeClr val="tx1"/>
            </a:solidFill>
            <a:ln w="9525" cap="flat" cmpd="sng" algn="ctr">
              <a:solidFill>
                <a:schemeClr val="tx1"/>
              </a:solidFill>
              <a:prstDash val="solid"/>
              <a:round/>
              <a:headEnd type="none" w="med" len="med"/>
              <a:tailEnd type="none" w="med" len="med"/>
            </a:ln>
            <a:effectLst/>
            <a:scene3d>
              <a:camera prst="orthographicFront"/>
              <a:lightRig rig="threePt" dir="t"/>
            </a:scene3d>
            <a:sp3d prstMaterial="clear">
              <a:bevelT/>
            </a:sp3d>
          </p:spPr>
          <p:txBody>
            <a:bodyPr/>
            <a:lstStyle/>
            <a:p>
              <a:pPr defTabSz="957263">
                <a:defRPr/>
              </a:pPr>
              <a:endParaRPr lang="es-ES_tradnl"/>
            </a:p>
          </p:txBody>
        </p:sp>
        <p:sp>
          <p:nvSpPr>
            <p:cNvPr id="9300" name="72 Rectángulo"/>
            <p:cNvSpPr>
              <a:spLocks noChangeArrowheads="1"/>
            </p:cNvSpPr>
            <p:nvPr/>
          </p:nvSpPr>
          <p:spPr bwMode="auto">
            <a:xfrm>
              <a:off x="3950392" y="5261336"/>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s-ES_tradnl" sz="2000"/>
                <a:t>…</a:t>
              </a:r>
            </a:p>
          </p:txBody>
        </p:sp>
      </p:grpSp>
      <p:sp>
        <p:nvSpPr>
          <p:cNvPr id="55" name="54 Redondear rectángulo de esquina diagonal"/>
          <p:cNvSpPr/>
          <p:nvPr/>
        </p:nvSpPr>
        <p:spPr bwMode="auto">
          <a:xfrm>
            <a:off x="500063" y="1643063"/>
            <a:ext cx="8001000" cy="1143000"/>
          </a:xfrm>
          <a:prstGeom prst="round2DiagRect">
            <a:avLst/>
          </a:prstGeom>
          <a:solidFill>
            <a:schemeClr val="accent1">
              <a:alpha val="9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a:lstStyle/>
          <a:p>
            <a:pPr defTabSz="957263">
              <a:defRPr/>
            </a:pPr>
            <a:endParaRPr lang="es-ES_tradnl"/>
          </a:p>
        </p:txBody>
      </p:sp>
      <p:sp>
        <p:nvSpPr>
          <p:cNvPr id="9220" name="Rectangle 2"/>
          <p:cNvSpPr>
            <a:spLocks noGrp="1" noChangeArrowheads="1"/>
          </p:cNvSpPr>
          <p:nvPr>
            <p:ph type="title"/>
          </p:nvPr>
        </p:nvSpPr>
        <p:spPr>
          <a:xfrm>
            <a:off x="542925" y="53975"/>
            <a:ext cx="7815263" cy="563563"/>
          </a:xfrm>
        </p:spPr>
        <p:txBody>
          <a:bodyPr/>
          <a:lstStyle/>
          <a:p>
            <a:pPr eaLnBrk="1" hangingPunct="1"/>
            <a:r>
              <a:rPr lang="en-US"/>
              <a:t>TIPOS DE TRADUCTORES</a:t>
            </a:r>
            <a:endParaRPr lang="en-US">
              <a:solidFill>
                <a:schemeClr val="accent1"/>
              </a:solidFill>
            </a:endParaRPr>
          </a:p>
        </p:txBody>
      </p:sp>
      <p:sp>
        <p:nvSpPr>
          <p:cNvPr id="24" name="Rectangle 3"/>
          <p:cNvSpPr txBox="1">
            <a:spLocks noChangeArrowheads="1"/>
          </p:cNvSpPr>
          <p:nvPr/>
        </p:nvSpPr>
        <p:spPr bwMode="auto">
          <a:xfrm>
            <a:off x="-63500" y="1603375"/>
            <a:ext cx="8715375" cy="1000125"/>
          </a:xfrm>
          <a:prstGeom prst="rect">
            <a:avLst/>
          </a:prstGeom>
          <a:noFill/>
          <a:ln w="9525">
            <a:noFill/>
            <a:miter lim="800000"/>
            <a:headEnd/>
            <a:tailEnd/>
          </a:ln>
          <a:effectLst/>
        </p:spPr>
        <p:txBody>
          <a:bodyPr lIns="95782" tIns="47891" rIns="95782" bIns="47891"/>
          <a:lstStyle/>
          <a:p>
            <a:pPr marL="777875" lvl="1" indent="-298450" algn="ctr" defTabSz="957263">
              <a:spcBef>
                <a:spcPct val="20000"/>
              </a:spcBef>
              <a:buClr>
                <a:schemeClr val="accent1"/>
              </a:buClr>
              <a:defRPr/>
            </a:pPr>
            <a:r>
              <a:rPr lang="en-US" sz="2400" kern="0">
                <a:latin typeface="+mj-lt"/>
              </a:rPr>
              <a:t>El programa es compilado la primera vez a un formato intermedio. El archivo resultante debe ser interpretado cada vez que desee ejecutarse.</a:t>
            </a:r>
          </a:p>
        </p:txBody>
      </p:sp>
      <p:grpSp>
        <p:nvGrpSpPr>
          <p:cNvPr id="9222" name="Group 87"/>
          <p:cNvGrpSpPr>
            <a:grpSpLocks/>
          </p:cNvGrpSpPr>
          <p:nvPr/>
        </p:nvGrpSpPr>
        <p:grpSpPr bwMode="auto">
          <a:xfrm>
            <a:off x="1785938" y="714375"/>
            <a:ext cx="5172075" cy="739775"/>
            <a:chOff x="1728" y="2478"/>
            <a:chExt cx="4560" cy="653"/>
          </a:xfrm>
        </p:grpSpPr>
        <p:sp>
          <p:nvSpPr>
            <p:cNvPr id="9266" name="AutoShape 67"/>
            <p:cNvSpPr>
              <a:spLocks noChangeArrowheads="1"/>
            </p:cNvSpPr>
            <p:nvPr/>
          </p:nvSpPr>
          <p:spPr bwMode="gray">
            <a:xfrm>
              <a:off x="2096" y="2592"/>
              <a:ext cx="4192" cy="436"/>
            </a:xfrm>
            <a:prstGeom prst="roundRect">
              <a:avLst>
                <a:gd name="adj" fmla="val 16667"/>
              </a:avLst>
            </a:prstGeom>
            <a:solidFill>
              <a:schemeClr val="accent1"/>
            </a:soli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endParaRPr lang="es-ES_tradnl"/>
            </a:p>
          </p:txBody>
        </p:sp>
        <p:sp>
          <p:nvSpPr>
            <p:cNvPr id="9267" name="AutoShape 68"/>
            <p:cNvSpPr>
              <a:spLocks noChangeArrowheads="1"/>
            </p:cNvSpPr>
            <p:nvPr/>
          </p:nvSpPr>
          <p:spPr bwMode="gray">
            <a:xfrm>
              <a:off x="1728" y="2478"/>
              <a:ext cx="662" cy="653"/>
            </a:xfrm>
            <a:prstGeom prst="diamond">
              <a:avLst/>
            </a:prstGeom>
            <a:solidFill>
              <a:schemeClr val="accent1"/>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p>
              <a:endParaRPr lang="es-ES_tradnl"/>
            </a:p>
          </p:txBody>
        </p:sp>
        <p:sp>
          <p:nvSpPr>
            <p:cNvPr id="9268" name="Text Box 69"/>
            <p:cNvSpPr txBox="1">
              <a:spLocks noChangeArrowheads="1"/>
            </p:cNvSpPr>
            <p:nvPr/>
          </p:nvSpPr>
          <p:spPr bwMode="gray">
            <a:xfrm>
              <a:off x="2610" y="2667"/>
              <a:ext cx="3310"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68415" tIns="34208" rIns="68415" bIns="34208">
              <a:spAutoFit/>
            </a:bodyPr>
            <a:lstStyle>
              <a:lvl1pPr defTabSz="684213" eaLnBrk="0" hangingPunct="0">
                <a:defRPr sz="1900">
                  <a:solidFill>
                    <a:schemeClr val="tx1"/>
                  </a:solidFill>
                  <a:latin typeface="Arial" charset="0"/>
                </a:defRPr>
              </a:lvl1pPr>
              <a:lvl2pPr marL="742950" indent="-285750" defTabSz="684213" eaLnBrk="0" hangingPunct="0">
                <a:defRPr sz="1900">
                  <a:solidFill>
                    <a:schemeClr val="tx1"/>
                  </a:solidFill>
                  <a:latin typeface="Arial" charset="0"/>
                </a:defRPr>
              </a:lvl2pPr>
              <a:lvl3pPr marL="1143000" indent="-228600" defTabSz="684213" eaLnBrk="0" hangingPunct="0">
                <a:defRPr sz="1900">
                  <a:solidFill>
                    <a:schemeClr val="tx1"/>
                  </a:solidFill>
                  <a:latin typeface="Arial" charset="0"/>
                </a:defRPr>
              </a:lvl3pPr>
              <a:lvl4pPr marL="1600200" indent="-228600" defTabSz="684213" eaLnBrk="0" hangingPunct="0">
                <a:defRPr sz="1900">
                  <a:solidFill>
                    <a:schemeClr val="tx1"/>
                  </a:solidFill>
                  <a:latin typeface="Arial" charset="0"/>
                </a:defRPr>
              </a:lvl4pPr>
              <a:lvl5pPr marL="2057400" indent="-228600" defTabSz="684213" eaLnBrk="0" hangingPunct="0">
                <a:defRPr sz="1900">
                  <a:solidFill>
                    <a:schemeClr val="tx1"/>
                  </a:solidFill>
                  <a:latin typeface="Arial" charset="0"/>
                </a:defRPr>
              </a:lvl5pPr>
              <a:lvl6pPr marL="2514600" indent="-228600" defTabSz="684213" eaLnBrk="0" fontAlgn="base" hangingPunct="0">
                <a:spcBef>
                  <a:spcPct val="0"/>
                </a:spcBef>
                <a:spcAft>
                  <a:spcPct val="0"/>
                </a:spcAft>
                <a:defRPr sz="1900">
                  <a:solidFill>
                    <a:schemeClr val="tx1"/>
                  </a:solidFill>
                  <a:latin typeface="Arial" charset="0"/>
                </a:defRPr>
              </a:lvl6pPr>
              <a:lvl7pPr marL="2971800" indent="-228600" defTabSz="684213" eaLnBrk="0" fontAlgn="base" hangingPunct="0">
                <a:spcBef>
                  <a:spcPct val="0"/>
                </a:spcBef>
                <a:spcAft>
                  <a:spcPct val="0"/>
                </a:spcAft>
                <a:defRPr sz="1900">
                  <a:solidFill>
                    <a:schemeClr val="tx1"/>
                  </a:solidFill>
                  <a:latin typeface="Arial" charset="0"/>
                </a:defRPr>
              </a:lvl7pPr>
              <a:lvl8pPr marL="3429000" indent="-228600" defTabSz="684213" eaLnBrk="0" fontAlgn="base" hangingPunct="0">
                <a:spcBef>
                  <a:spcPct val="0"/>
                </a:spcBef>
                <a:spcAft>
                  <a:spcPct val="0"/>
                </a:spcAft>
                <a:defRPr sz="1900">
                  <a:solidFill>
                    <a:schemeClr val="tx1"/>
                  </a:solidFill>
                  <a:latin typeface="Arial" charset="0"/>
                </a:defRPr>
              </a:lvl8pPr>
              <a:lvl9pPr marL="3886200" indent="-228600" defTabSz="684213" eaLnBrk="0" fontAlgn="base" hangingPunct="0">
                <a:spcBef>
                  <a:spcPct val="0"/>
                </a:spcBef>
                <a:spcAft>
                  <a:spcPct val="0"/>
                </a:spcAft>
                <a:defRPr sz="1900">
                  <a:solidFill>
                    <a:schemeClr val="tx1"/>
                  </a:solidFill>
                  <a:latin typeface="Arial" charset="0"/>
                </a:defRPr>
              </a:lvl9pPr>
            </a:lstStyle>
            <a:p>
              <a:pPr algn="ctr"/>
              <a:r>
                <a:rPr lang="en-US" sz="1800" b="1">
                  <a:solidFill>
                    <a:schemeClr val="bg1"/>
                  </a:solidFill>
                </a:rPr>
                <a:t>COMPILADOR + INTÉRPRETE</a:t>
              </a:r>
            </a:p>
          </p:txBody>
        </p:sp>
        <p:sp>
          <p:nvSpPr>
            <p:cNvPr id="9269" name="Text Box 82"/>
            <p:cNvSpPr txBox="1">
              <a:spLocks noChangeArrowheads="1"/>
            </p:cNvSpPr>
            <p:nvPr/>
          </p:nvSpPr>
          <p:spPr bwMode="gray">
            <a:xfrm>
              <a:off x="1920" y="2620"/>
              <a:ext cx="273"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68415" tIns="34208" rIns="68415" bIns="34208">
              <a:spAutoFit/>
            </a:bodyPr>
            <a:lstStyle>
              <a:lvl1pPr defTabSz="684213" eaLnBrk="0" hangingPunct="0">
                <a:defRPr sz="1900">
                  <a:solidFill>
                    <a:schemeClr val="tx1"/>
                  </a:solidFill>
                  <a:latin typeface="Arial" charset="0"/>
                </a:defRPr>
              </a:lvl1pPr>
              <a:lvl2pPr marL="742950" indent="-285750" defTabSz="684213" eaLnBrk="0" hangingPunct="0">
                <a:defRPr sz="1900">
                  <a:solidFill>
                    <a:schemeClr val="tx1"/>
                  </a:solidFill>
                  <a:latin typeface="Arial" charset="0"/>
                </a:defRPr>
              </a:lvl2pPr>
              <a:lvl3pPr marL="1143000" indent="-228600" defTabSz="684213" eaLnBrk="0" hangingPunct="0">
                <a:defRPr sz="1900">
                  <a:solidFill>
                    <a:schemeClr val="tx1"/>
                  </a:solidFill>
                  <a:latin typeface="Arial" charset="0"/>
                </a:defRPr>
              </a:lvl3pPr>
              <a:lvl4pPr marL="1600200" indent="-228600" defTabSz="684213" eaLnBrk="0" hangingPunct="0">
                <a:defRPr sz="1900">
                  <a:solidFill>
                    <a:schemeClr val="tx1"/>
                  </a:solidFill>
                  <a:latin typeface="Arial" charset="0"/>
                </a:defRPr>
              </a:lvl4pPr>
              <a:lvl5pPr marL="2057400" indent="-228600" defTabSz="684213" eaLnBrk="0" hangingPunct="0">
                <a:defRPr sz="1900">
                  <a:solidFill>
                    <a:schemeClr val="tx1"/>
                  </a:solidFill>
                  <a:latin typeface="Arial" charset="0"/>
                </a:defRPr>
              </a:lvl5pPr>
              <a:lvl6pPr marL="2514600" indent="-228600" defTabSz="684213" eaLnBrk="0" fontAlgn="base" hangingPunct="0">
                <a:spcBef>
                  <a:spcPct val="0"/>
                </a:spcBef>
                <a:spcAft>
                  <a:spcPct val="0"/>
                </a:spcAft>
                <a:defRPr sz="1900">
                  <a:solidFill>
                    <a:schemeClr val="tx1"/>
                  </a:solidFill>
                  <a:latin typeface="Arial" charset="0"/>
                </a:defRPr>
              </a:lvl6pPr>
              <a:lvl7pPr marL="2971800" indent="-228600" defTabSz="684213" eaLnBrk="0" fontAlgn="base" hangingPunct="0">
                <a:spcBef>
                  <a:spcPct val="0"/>
                </a:spcBef>
                <a:spcAft>
                  <a:spcPct val="0"/>
                </a:spcAft>
                <a:defRPr sz="1900">
                  <a:solidFill>
                    <a:schemeClr val="tx1"/>
                  </a:solidFill>
                  <a:latin typeface="Arial" charset="0"/>
                </a:defRPr>
              </a:lvl7pPr>
              <a:lvl8pPr marL="3429000" indent="-228600" defTabSz="684213" eaLnBrk="0" fontAlgn="base" hangingPunct="0">
                <a:spcBef>
                  <a:spcPct val="0"/>
                </a:spcBef>
                <a:spcAft>
                  <a:spcPct val="0"/>
                </a:spcAft>
                <a:defRPr sz="1900">
                  <a:solidFill>
                    <a:schemeClr val="tx1"/>
                  </a:solidFill>
                  <a:latin typeface="Arial" charset="0"/>
                </a:defRPr>
              </a:lvl8pPr>
              <a:lvl9pPr marL="3886200" indent="-228600" defTabSz="684213" eaLnBrk="0" fontAlgn="base" hangingPunct="0">
                <a:spcBef>
                  <a:spcPct val="0"/>
                </a:spcBef>
                <a:spcAft>
                  <a:spcPct val="0"/>
                </a:spcAft>
                <a:defRPr sz="1900">
                  <a:solidFill>
                    <a:schemeClr val="tx1"/>
                  </a:solidFill>
                  <a:latin typeface="Arial" charset="0"/>
                </a:defRPr>
              </a:lvl9pPr>
            </a:lstStyle>
            <a:p>
              <a:pPr algn="ctr"/>
              <a:r>
                <a:rPr lang="en-US" sz="2400">
                  <a:solidFill>
                    <a:schemeClr val="bg1"/>
                  </a:solidFill>
                </a:rPr>
                <a:t>3</a:t>
              </a:r>
            </a:p>
          </p:txBody>
        </p:sp>
      </p:grpSp>
      <p:grpSp>
        <p:nvGrpSpPr>
          <p:cNvPr id="4" name="93 Grupo"/>
          <p:cNvGrpSpPr>
            <a:grpSpLocks/>
          </p:cNvGrpSpPr>
          <p:nvPr/>
        </p:nvGrpSpPr>
        <p:grpSpPr bwMode="auto">
          <a:xfrm>
            <a:off x="4929188" y="4162425"/>
            <a:ext cx="3857625" cy="592138"/>
            <a:chOff x="5000628" y="4143380"/>
            <a:chExt cx="3857653" cy="591078"/>
          </a:xfrm>
        </p:grpSpPr>
        <p:sp>
          <p:nvSpPr>
            <p:cNvPr id="34" name="33 Flecha a la derecha con muesca"/>
            <p:cNvSpPr/>
            <p:nvPr/>
          </p:nvSpPr>
          <p:spPr bwMode="auto">
            <a:xfrm>
              <a:off x="5000628" y="4143380"/>
              <a:ext cx="3857653" cy="571504"/>
            </a:xfrm>
            <a:prstGeom prst="notchedRightArrow">
              <a:avLst/>
            </a:prstGeom>
            <a:gradFill>
              <a:gsLst>
                <a:gs pos="0">
                  <a:srgbClr val="03D4A8"/>
                </a:gs>
                <a:gs pos="25000">
                  <a:srgbClr val="21D6E0"/>
                </a:gs>
                <a:gs pos="75000">
                  <a:srgbClr val="0087E6"/>
                </a:gs>
                <a:gs pos="100000">
                  <a:srgbClr val="005CBF"/>
                </a:gs>
              </a:gsLst>
              <a:lin ang="10800000" scaled="0"/>
            </a:gradFill>
            <a:ln w="9525" cap="flat" cmpd="sng" algn="ctr">
              <a:gradFill flip="none" rotWithShape="1">
                <a:gsLst>
                  <a:gs pos="0">
                    <a:srgbClr val="5E9EFF"/>
                  </a:gs>
                  <a:gs pos="39999">
                    <a:srgbClr val="85C2FF"/>
                  </a:gs>
                  <a:gs pos="70000">
                    <a:srgbClr val="C4D6EB"/>
                  </a:gs>
                  <a:gs pos="100000">
                    <a:srgbClr val="FFEBFA"/>
                  </a:gs>
                </a:gsLst>
                <a:lin ang="10800000" scaled="1"/>
                <a:tileRect/>
              </a:gradFill>
              <a:prstDash val="solid"/>
              <a:round/>
              <a:headEnd type="none" w="med" len="med"/>
              <a:tailEnd type="none" w="med" len="med"/>
            </a:ln>
            <a:effectLst/>
          </p:spPr>
          <p:txBody>
            <a:bodyPr/>
            <a:lstStyle/>
            <a:p>
              <a:pPr defTabSz="957263">
                <a:defRPr/>
              </a:pPr>
              <a:endParaRPr lang="es-ES_tradnl"/>
            </a:p>
          </p:txBody>
        </p:sp>
        <p:sp>
          <p:nvSpPr>
            <p:cNvPr id="35" name="34 Rectángulo redondeado"/>
            <p:cNvSpPr/>
            <p:nvPr/>
          </p:nvSpPr>
          <p:spPr bwMode="auto">
            <a:xfrm>
              <a:off x="5357819" y="4162954"/>
              <a:ext cx="2071702" cy="571504"/>
            </a:xfrm>
            <a:prstGeom prst="roundRect">
              <a:avLst/>
            </a:prstGeom>
            <a:solidFill>
              <a:schemeClr val="accent1">
                <a:lumMod val="20000"/>
                <a:lumOff val="80000"/>
                <a:alpha val="73000"/>
              </a:schemeClr>
            </a:soli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9265" name="40 CuadroTexto"/>
            <p:cNvSpPr txBox="1">
              <a:spLocks noChangeArrowheads="1"/>
            </p:cNvSpPr>
            <p:nvPr/>
          </p:nvSpPr>
          <p:spPr bwMode="auto">
            <a:xfrm>
              <a:off x="5253100" y="4257486"/>
              <a:ext cx="23118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algn="ctr" eaLnBrk="1" hangingPunct="1"/>
              <a:r>
                <a:rPr lang="es-ES_tradnl" sz="1600" b="1"/>
                <a:t>INTERPRETACIÓN</a:t>
              </a:r>
            </a:p>
          </p:txBody>
        </p:sp>
      </p:grpSp>
      <p:sp>
        <p:nvSpPr>
          <p:cNvPr id="42" name="41 CuadroTexto"/>
          <p:cNvSpPr txBox="1"/>
          <p:nvPr/>
        </p:nvSpPr>
        <p:spPr>
          <a:xfrm>
            <a:off x="7235825" y="4291013"/>
            <a:ext cx="1500188" cy="307975"/>
          </a:xfrm>
          <a:prstGeom prst="rect">
            <a:avLst/>
          </a:prstGeom>
          <a:noFill/>
          <a:effectLst>
            <a:outerShdw blurRad="50800" dist="38100" dir="2700000" algn="tl" rotWithShape="0">
              <a:prstClr val="black">
                <a:alpha val="40000"/>
              </a:prstClr>
            </a:outerShdw>
          </a:effectLst>
        </p:spPr>
        <p:txBody>
          <a:bodyPr>
            <a:spAutoFit/>
          </a:bodyPr>
          <a:lstStyle/>
          <a:p>
            <a:pPr algn="ctr">
              <a:defRPr/>
            </a:pPr>
            <a:r>
              <a:rPr lang="es-ES_tradnl" sz="1400">
                <a:solidFill>
                  <a:schemeClr val="bg1"/>
                </a:solidFill>
                <a:latin typeface="Berlin Sans FB" pitchFamily="34" charset="0"/>
              </a:rPr>
              <a:t>EJECUCIÓN</a:t>
            </a:r>
          </a:p>
        </p:txBody>
      </p:sp>
      <p:sp>
        <p:nvSpPr>
          <p:cNvPr id="36" name="35 Esquina doblada"/>
          <p:cNvSpPr/>
          <p:nvPr/>
        </p:nvSpPr>
        <p:spPr bwMode="auto">
          <a:xfrm>
            <a:off x="214313" y="3286125"/>
            <a:ext cx="1571625" cy="2357438"/>
          </a:xfrm>
          <a:prstGeom prst="foldedCorner">
            <a:avLst/>
          </a:prstGeom>
          <a:solidFill>
            <a:srgbClr val="FFFFCC"/>
          </a:solidFill>
          <a:ln w="952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txBody>
          <a:bodyPr/>
          <a:lstStyle/>
          <a:p>
            <a:pPr defTabSz="957263">
              <a:defRPr/>
            </a:pPr>
            <a:endParaRPr lang="es-ES_tradnl"/>
          </a:p>
        </p:txBody>
      </p:sp>
      <p:sp>
        <p:nvSpPr>
          <p:cNvPr id="9226" name="36 CuadroTexto"/>
          <p:cNvSpPr txBox="1">
            <a:spLocks noChangeArrowheads="1"/>
          </p:cNvSpPr>
          <p:nvPr/>
        </p:nvSpPr>
        <p:spPr bwMode="auto">
          <a:xfrm>
            <a:off x="285750" y="3357563"/>
            <a:ext cx="1285875"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400"/>
              <a:t>DERECHA</a:t>
            </a:r>
          </a:p>
          <a:p>
            <a:pPr eaLnBrk="1" hangingPunct="1"/>
            <a:r>
              <a:rPr lang="es-ES_tradnl" sz="1400"/>
              <a:t>DERECHA</a:t>
            </a:r>
          </a:p>
          <a:p>
            <a:pPr eaLnBrk="1" hangingPunct="1"/>
            <a:r>
              <a:rPr lang="es-ES_tradnl" sz="1400"/>
              <a:t>ARRIBA</a:t>
            </a:r>
          </a:p>
          <a:p>
            <a:pPr eaLnBrk="1" hangingPunct="1"/>
            <a:r>
              <a:rPr lang="es-ES_tradnl" sz="1400"/>
              <a:t>IZQUIERDA</a:t>
            </a:r>
          </a:p>
          <a:p>
            <a:pPr eaLnBrk="1" hangingPunct="1"/>
            <a:r>
              <a:rPr lang="es-ES_tradnl" sz="1400"/>
              <a:t>ARRIBA</a:t>
            </a:r>
          </a:p>
          <a:p>
            <a:pPr eaLnBrk="1" hangingPunct="1"/>
            <a:r>
              <a:rPr lang="es-ES_tradnl" sz="1400"/>
              <a:t>DERECHA</a:t>
            </a:r>
          </a:p>
          <a:p>
            <a:pPr eaLnBrk="1" hangingPunct="1"/>
            <a:r>
              <a:rPr lang="es-ES_tradnl" sz="1400"/>
              <a:t>DERECHA</a:t>
            </a:r>
          </a:p>
          <a:p>
            <a:pPr eaLnBrk="1" hangingPunct="1"/>
            <a:r>
              <a:rPr lang="es-ES_tradnl" sz="1400"/>
              <a:t>DERECHA</a:t>
            </a:r>
          </a:p>
          <a:p>
            <a:pPr eaLnBrk="1" hangingPunct="1"/>
            <a:r>
              <a:rPr lang="es-ES_tradnl" sz="1400"/>
              <a:t>ARRIBA</a:t>
            </a:r>
          </a:p>
          <a:p>
            <a:pPr eaLnBrk="1" hangingPunct="1"/>
            <a:r>
              <a:rPr lang="es-ES_tradnl" sz="1400"/>
              <a:t>…</a:t>
            </a:r>
          </a:p>
        </p:txBody>
      </p:sp>
      <p:sp>
        <p:nvSpPr>
          <p:cNvPr id="9227" name="37 CuadroTexto"/>
          <p:cNvSpPr txBox="1">
            <a:spLocks noChangeArrowheads="1"/>
          </p:cNvSpPr>
          <p:nvPr/>
        </p:nvSpPr>
        <p:spPr bwMode="auto">
          <a:xfrm>
            <a:off x="285750" y="5643563"/>
            <a:ext cx="15001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800">
                <a:latin typeface="Times" pitchFamily="18" charset="0"/>
              </a:rPr>
              <a:t>Trayecto.java</a:t>
            </a:r>
          </a:p>
        </p:txBody>
      </p:sp>
      <p:sp>
        <p:nvSpPr>
          <p:cNvPr id="9228" name="38 CuadroTexto"/>
          <p:cNvSpPr txBox="1">
            <a:spLocks noChangeArrowheads="1"/>
          </p:cNvSpPr>
          <p:nvPr/>
        </p:nvSpPr>
        <p:spPr bwMode="auto">
          <a:xfrm>
            <a:off x="285750" y="2928938"/>
            <a:ext cx="157162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500"/>
              <a:t>Fichero Fuente</a:t>
            </a:r>
          </a:p>
        </p:txBody>
      </p:sp>
      <p:grpSp>
        <p:nvGrpSpPr>
          <p:cNvPr id="5" name="90 Grupo"/>
          <p:cNvGrpSpPr>
            <a:grpSpLocks/>
          </p:cNvGrpSpPr>
          <p:nvPr/>
        </p:nvGrpSpPr>
        <p:grpSpPr bwMode="auto">
          <a:xfrm>
            <a:off x="1500188" y="3929063"/>
            <a:ext cx="2214562" cy="714375"/>
            <a:chOff x="1500166" y="3929066"/>
            <a:chExt cx="2214578" cy="714380"/>
          </a:xfrm>
        </p:grpSpPr>
        <p:sp>
          <p:nvSpPr>
            <p:cNvPr id="44" name="43 Flecha a la derecha con muesca"/>
            <p:cNvSpPr/>
            <p:nvPr/>
          </p:nvSpPr>
          <p:spPr bwMode="auto">
            <a:xfrm>
              <a:off x="1500166" y="4071942"/>
              <a:ext cx="2214578" cy="428628"/>
            </a:xfrm>
            <a:prstGeom prst="notchedRightArrow">
              <a:avLst/>
            </a:prstGeom>
            <a:gradFill>
              <a:gsLst>
                <a:gs pos="0">
                  <a:srgbClr val="03D4A8"/>
                </a:gs>
                <a:gs pos="25000">
                  <a:srgbClr val="21D6E0"/>
                </a:gs>
                <a:gs pos="75000">
                  <a:srgbClr val="0087E6"/>
                </a:gs>
                <a:gs pos="100000">
                  <a:srgbClr val="005CBF"/>
                </a:gs>
              </a:gsLst>
              <a:lin ang="10800000" scaled="0"/>
            </a:gradFill>
            <a:ln w="9525" cap="flat" cmpd="sng" algn="ctr">
              <a:gradFill flip="none" rotWithShape="1">
                <a:gsLst>
                  <a:gs pos="0">
                    <a:srgbClr val="5E9EFF"/>
                  </a:gs>
                  <a:gs pos="39999">
                    <a:srgbClr val="85C2FF"/>
                  </a:gs>
                  <a:gs pos="70000">
                    <a:srgbClr val="C4D6EB"/>
                  </a:gs>
                  <a:gs pos="100000">
                    <a:srgbClr val="FFEBFA"/>
                  </a:gs>
                </a:gsLst>
                <a:lin ang="10800000" scaled="1"/>
                <a:tileRect/>
              </a:gradFill>
              <a:prstDash val="solid"/>
              <a:round/>
              <a:headEnd type="none" w="med" len="med"/>
              <a:tailEnd type="none" w="med" len="med"/>
            </a:ln>
            <a:effectLst/>
          </p:spPr>
          <p:txBody>
            <a:bodyPr/>
            <a:lstStyle/>
            <a:p>
              <a:pPr defTabSz="957263">
                <a:defRPr/>
              </a:pPr>
              <a:endParaRPr lang="es-ES_tradnl"/>
            </a:p>
          </p:txBody>
        </p:sp>
        <p:sp>
          <p:nvSpPr>
            <p:cNvPr id="56" name="55 Rectángulo redondeado"/>
            <p:cNvSpPr/>
            <p:nvPr/>
          </p:nvSpPr>
          <p:spPr bwMode="auto">
            <a:xfrm>
              <a:off x="1714480" y="3929066"/>
              <a:ext cx="1643074" cy="714380"/>
            </a:xfrm>
            <a:prstGeom prst="roundRect">
              <a:avLst/>
            </a:prstGeom>
            <a:solidFill>
              <a:schemeClr val="accent1">
                <a:lumMod val="20000"/>
                <a:lumOff val="80000"/>
                <a:alpha val="73000"/>
              </a:schemeClr>
            </a:soli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9258" name="56 CuadroTexto"/>
            <p:cNvSpPr txBox="1">
              <a:spLocks noChangeArrowheads="1"/>
            </p:cNvSpPr>
            <p:nvPr/>
          </p:nvSpPr>
          <p:spPr bwMode="auto">
            <a:xfrm>
              <a:off x="1713719" y="4107554"/>
              <a:ext cx="16430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600" b="1"/>
                <a:t>COMPILACIÓN</a:t>
              </a:r>
            </a:p>
          </p:txBody>
        </p:sp>
      </p:grpSp>
      <p:grpSp>
        <p:nvGrpSpPr>
          <p:cNvPr id="6" name="94 Grupo"/>
          <p:cNvGrpSpPr>
            <a:grpSpLocks/>
          </p:cNvGrpSpPr>
          <p:nvPr/>
        </p:nvGrpSpPr>
        <p:grpSpPr bwMode="auto">
          <a:xfrm>
            <a:off x="4938713" y="4786313"/>
            <a:ext cx="3857625" cy="590550"/>
            <a:chOff x="5000628" y="4786322"/>
            <a:chExt cx="3857653" cy="591078"/>
          </a:xfrm>
        </p:grpSpPr>
        <p:sp>
          <p:nvSpPr>
            <p:cNvPr id="80" name="79 Flecha a la derecha con muesca"/>
            <p:cNvSpPr/>
            <p:nvPr/>
          </p:nvSpPr>
          <p:spPr bwMode="auto">
            <a:xfrm>
              <a:off x="5000628" y="4786322"/>
              <a:ext cx="3857653" cy="571504"/>
            </a:xfrm>
            <a:prstGeom prst="notchedRightArrow">
              <a:avLst/>
            </a:prstGeom>
            <a:gradFill>
              <a:gsLst>
                <a:gs pos="0">
                  <a:srgbClr val="03D4A8"/>
                </a:gs>
                <a:gs pos="25000">
                  <a:srgbClr val="21D6E0"/>
                </a:gs>
                <a:gs pos="75000">
                  <a:srgbClr val="0087E6"/>
                </a:gs>
                <a:gs pos="100000">
                  <a:srgbClr val="005CBF"/>
                </a:gs>
              </a:gsLst>
              <a:lin ang="10800000" scaled="0"/>
            </a:gradFill>
            <a:ln w="9525" cap="flat" cmpd="sng" algn="ctr">
              <a:gradFill flip="none" rotWithShape="1">
                <a:gsLst>
                  <a:gs pos="0">
                    <a:srgbClr val="5E9EFF"/>
                  </a:gs>
                  <a:gs pos="39999">
                    <a:srgbClr val="85C2FF"/>
                  </a:gs>
                  <a:gs pos="70000">
                    <a:srgbClr val="C4D6EB"/>
                  </a:gs>
                  <a:gs pos="100000">
                    <a:srgbClr val="FFEBFA"/>
                  </a:gs>
                </a:gsLst>
                <a:lin ang="10800000" scaled="1"/>
                <a:tileRect/>
              </a:gradFill>
              <a:prstDash val="solid"/>
              <a:round/>
              <a:headEnd type="none" w="med" len="med"/>
              <a:tailEnd type="none" w="med" len="med"/>
            </a:ln>
            <a:effectLst/>
          </p:spPr>
          <p:txBody>
            <a:bodyPr/>
            <a:lstStyle/>
            <a:p>
              <a:pPr defTabSz="957263">
                <a:defRPr/>
              </a:pPr>
              <a:endParaRPr lang="es-ES_tradnl"/>
            </a:p>
          </p:txBody>
        </p:sp>
        <p:sp>
          <p:nvSpPr>
            <p:cNvPr id="81" name="80 Rectángulo redondeado"/>
            <p:cNvSpPr/>
            <p:nvPr/>
          </p:nvSpPr>
          <p:spPr bwMode="auto">
            <a:xfrm>
              <a:off x="5357819" y="4805896"/>
              <a:ext cx="2071702" cy="571504"/>
            </a:xfrm>
            <a:prstGeom prst="roundRect">
              <a:avLst/>
            </a:prstGeom>
            <a:solidFill>
              <a:schemeClr val="accent1">
                <a:lumMod val="20000"/>
                <a:lumOff val="80000"/>
                <a:alpha val="73000"/>
              </a:schemeClr>
            </a:soli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9251" name="81 CuadroTexto"/>
            <p:cNvSpPr txBox="1">
              <a:spLocks noChangeArrowheads="1"/>
            </p:cNvSpPr>
            <p:nvPr/>
          </p:nvSpPr>
          <p:spPr bwMode="auto">
            <a:xfrm>
              <a:off x="5253100" y="4900428"/>
              <a:ext cx="23118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algn="ctr" eaLnBrk="1" hangingPunct="1"/>
              <a:r>
                <a:rPr lang="es-ES_tradnl" sz="1600" b="1"/>
                <a:t>INTERPRETACIÓN</a:t>
              </a:r>
            </a:p>
          </p:txBody>
        </p:sp>
      </p:grpSp>
      <p:sp>
        <p:nvSpPr>
          <p:cNvPr id="83" name="82 CuadroTexto"/>
          <p:cNvSpPr txBox="1"/>
          <p:nvPr/>
        </p:nvSpPr>
        <p:spPr>
          <a:xfrm>
            <a:off x="7173913" y="4933950"/>
            <a:ext cx="1500187" cy="307975"/>
          </a:xfrm>
          <a:prstGeom prst="rect">
            <a:avLst/>
          </a:prstGeom>
          <a:noFill/>
          <a:effectLst>
            <a:outerShdw blurRad="50800" dist="38100" dir="2700000" algn="tl" rotWithShape="0">
              <a:prstClr val="black">
                <a:alpha val="40000"/>
              </a:prstClr>
            </a:outerShdw>
          </a:effectLst>
        </p:spPr>
        <p:txBody>
          <a:bodyPr>
            <a:spAutoFit/>
          </a:bodyPr>
          <a:lstStyle/>
          <a:p>
            <a:pPr algn="ctr">
              <a:defRPr/>
            </a:pPr>
            <a:r>
              <a:rPr lang="es-ES_tradnl" sz="1400">
                <a:solidFill>
                  <a:schemeClr val="bg1"/>
                </a:solidFill>
                <a:latin typeface="Berlin Sans FB" pitchFamily="34" charset="0"/>
              </a:rPr>
              <a:t>EJECUCIÓN</a:t>
            </a:r>
          </a:p>
        </p:txBody>
      </p:sp>
      <p:grpSp>
        <p:nvGrpSpPr>
          <p:cNvPr id="7" name="92 Grupo"/>
          <p:cNvGrpSpPr>
            <a:grpSpLocks/>
          </p:cNvGrpSpPr>
          <p:nvPr/>
        </p:nvGrpSpPr>
        <p:grpSpPr bwMode="auto">
          <a:xfrm>
            <a:off x="4929188" y="3500438"/>
            <a:ext cx="3857625" cy="590550"/>
            <a:chOff x="5000627" y="3480864"/>
            <a:chExt cx="3857653" cy="591078"/>
          </a:xfrm>
        </p:grpSpPr>
        <p:sp>
          <p:nvSpPr>
            <p:cNvPr id="85" name="84 Flecha a la derecha con muesca"/>
            <p:cNvSpPr/>
            <p:nvPr/>
          </p:nvSpPr>
          <p:spPr bwMode="auto">
            <a:xfrm>
              <a:off x="5000627" y="3480864"/>
              <a:ext cx="3857653" cy="571504"/>
            </a:xfrm>
            <a:prstGeom prst="notchedRightArrow">
              <a:avLst/>
            </a:prstGeom>
            <a:gradFill>
              <a:gsLst>
                <a:gs pos="0">
                  <a:srgbClr val="03D4A8"/>
                </a:gs>
                <a:gs pos="25000">
                  <a:srgbClr val="21D6E0"/>
                </a:gs>
                <a:gs pos="75000">
                  <a:srgbClr val="0087E6"/>
                </a:gs>
                <a:gs pos="100000">
                  <a:srgbClr val="005CBF"/>
                </a:gs>
              </a:gsLst>
              <a:lin ang="10800000" scaled="0"/>
            </a:gradFill>
            <a:ln w="9525" cap="flat" cmpd="sng" algn="ctr">
              <a:gradFill flip="none" rotWithShape="1">
                <a:gsLst>
                  <a:gs pos="0">
                    <a:srgbClr val="5E9EFF"/>
                  </a:gs>
                  <a:gs pos="39999">
                    <a:srgbClr val="85C2FF"/>
                  </a:gs>
                  <a:gs pos="70000">
                    <a:srgbClr val="C4D6EB"/>
                  </a:gs>
                  <a:gs pos="100000">
                    <a:srgbClr val="FFEBFA"/>
                  </a:gs>
                </a:gsLst>
                <a:lin ang="10800000" scaled="1"/>
                <a:tileRect/>
              </a:gradFill>
              <a:prstDash val="solid"/>
              <a:round/>
              <a:headEnd type="none" w="med" len="med"/>
              <a:tailEnd type="none" w="med" len="med"/>
            </a:ln>
            <a:effectLst/>
          </p:spPr>
          <p:txBody>
            <a:bodyPr/>
            <a:lstStyle/>
            <a:p>
              <a:pPr defTabSz="957263">
                <a:defRPr/>
              </a:pPr>
              <a:endParaRPr lang="es-ES_tradnl"/>
            </a:p>
          </p:txBody>
        </p:sp>
        <p:sp>
          <p:nvSpPr>
            <p:cNvPr id="86" name="85 Rectángulo redondeado"/>
            <p:cNvSpPr/>
            <p:nvPr/>
          </p:nvSpPr>
          <p:spPr bwMode="auto">
            <a:xfrm>
              <a:off x="5357818" y="3500438"/>
              <a:ext cx="2071702" cy="571504"/>
            </a:xfrm>
            <a:prstGeom prst="roundRect">
              <a:avLst/>
            </a:prstGeom>
            <a:solidFill>
              <a:schemeClr val="accent1">
                <a:lumMod val="20000"/>
                <a:lumOff val="80000"/>
                <a:alpha val="73000"/>
              </a:schemeClr>
            </a:soli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9244" name="86 CuadroTexto"/>
            <p:cNvSpPr txBox="1">
              <a:spLocks noChangeArrowheads="1"/>
            </p:cNvSpPr>
            <p:nvPr/>
          </p:nvSpPr>
          <p:spPr bwMode="auto">
            <a:xfrm>
              <a:off x="5253099" y="3594970"/>
              <a:ext cx="23118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algn="ctr" eaLnBrk="1" hangingPunct="1"/>
              <a:r>
                <a:rPr lang="es-ES_tradnl" sz="1600" b="1"/>
                <a:t>INTERPRETACIÓN</a:t>
              </a:r>
            </a:p>
          </p:txBody>
        </p:sp>
      </p:grpSp>
      <p:sp>
        <p:nvSpPr>
          <p:cNvPr id="88" name="87 CuadroTexto"/>
          <p:cNvSpPr txBox="1"/>
          <p:nvPr/>
        </p:nvSpPr>
        <p:spPr>
          <a:xfrm>
            <a:off x="7235825" y="3629025"/>
            <a:ext cx="1500188" cy="307975"/>
          </a:xfrm>
          <a:prstGeom prst="rect">
            <a:avLst/>
          </a:prstGeom>
          <a:noFill/>
          <a:effectLst>
            <a:outerShdw blurRad="50800" dist="38100" dir="2700000" algn="tl" rotWithShape="0">
              <a:prstClr val="black">
                <a:alpha val="40000"/>
              </a:prstClr>
            </a:outerShdw>
          </a:effectLst>
        </p:spPr>
        <p:txBody>
          <a:bodyPr>
            <a:spAutoFit/>
          </a:bodyPr>
          <a:lstStyle/>
          <a:p>
            <a:pPr algn="ctr">
              <a:defRPr/>
            </a:pPr>
            <a:r>
              <a:rPr lang="es-ES_tradnl" sz="1400">
                <a:solidFill>
                  <a:schemeClr val="bg1"/>
                </a:solidFill>
                <a:latin typeface="Berlin Sans FB" pitchFamily="34" charset="0"/>
              </a:rPr>
              <a:t>EJECUCIÓN</a:t>
            </a:r>
          </a:p>
        </p:txBody>
      </p:sp>
      <p:grpSp>
        <p:nvGrpSpPr>
          <p:cNvPr id="8" name="50 Grupo"/>
          <p:cNvGrpSpPr>
            <a:grpSpLocks/>
          </p:cNvGrpSpPr>
          <p:nvPr/>
        </p:nvGrpSpPr>
        <p:grpSpPr bwMode="auto">
          <a:xfrm>
            <a:off x="5165725" y="3154363"/>
            <a:ext cx="2406650" cy="3316287"/>
            <a:chOff x="5165995" y="3154972"/>
            <a:chExt cx="2406401" cy="3315039"/>
          </a:xfrm>
        </p:grpSpPr>
        <p:sp>
          <p:nvSpPr>
            <p:cNvPr id="9236" name="89 Rectángulo redondeado"/>
            <p:cNvSpPr>
              <a:spLocks noChangeArrowheads="1"/>
            </p:cNvSpPr>
            <p:nvPr/>
          </p:nvSpPr>
          <p:spPr bwMode="auto">
            <a:xfrm>
              <a:off x="5165995" y="3154972"/>
              <a:ext cx="2357454" cy="3060109"/>
            </a:xfrm>
            <a:prstGeom prst="roundRect">
              <a:avLst>
                <a:gd name="adj" fmla="val 16667"/>
              </a:avLst>
            </a:prstGeom>
            <a:solidFill>
              <a:srgbClr val="FF0000">
                <a:alpha val="0"/>
              </a:srgbClr>
            </a:solidFill>
            <a:ln w="34925" algn="ctr">
              <a:solidFill>
                <a:srgbClr val="FF0000">
                  <a:alpha val="21176"/>
                </a:srgbClr>
              </a:solidFill>
              <a:round/>
              <a:headEnd/>
              <a:tailEnd/>
            </a:ln>
          </p:spPr>
          <p:txBody>
            <a:bodyPr/>
            <a:lstStyle/>
            <a:p>
              <a:pPr defTabSz="957263"/>
              <a:endParaRPr lang="es-ES_tradnl">
                <a:solidFill>
                  <a:srgbClr val="FFC000"/>
                </a:solidFill>
              </a:endParaRPr>
            </a:p>
          </p:txBody>
        </p:sp>
        <p:sp>
          <p:nvSpPr>
            <p:cNvPr id="9237" name="88 CuadroTexto"/>
            <p:cNvSpPr txBox="1">
              <a:spLocks noChangeArrowheads="1"/>
            </p:cNvSpPr>
            <p:nvPr/>
          </p:nvSpPr>
          <p:spPr bwMode="auto">
            <a:xfrm>
              <a:off x="5215203" y="5500414"/>
              <a:ext cx="2357193" cy="969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algn="ctr" eaLnBrk="1" hangingPunct="1">
                <a:defRPr/>
              </a:pPr>
              <a:r>
                <a:rPr lang="es-ES_tradnl" i="1" dirty="0">
                  <a:solidFill>
                    <a:schemeClr val="accent6">
                      <a:lumMod val="50000"/>
                    </a:schemeClr>
                  </a:solidFill>
                  <a:latin typeface="Times" pitchFamily="18" charset="0"/>
                </a:rPr>
                <a:t>Máquina Virtual Java</a:t>
              </a:r>
            </a:p>
            <a:p>
              <a:pPr algn="ctr" eaLnBrk="1" hangingPunct="1">
                <a:defRPr/>
              </a:pPr>
              <a:r>
                <a:rPr lang="es-ES_tradnl" i="1" dirty="0">
                  <a:solidFill>
                    <a:srgbClr val="C00000"/>
                  </a:solidFill>
                  <a:latin typeface="Times" pitchFamily="18" charset="0"/>
                </a:rPr>
                <a:t>java.exe</a:t>
              </a:r>
            </a:p>
            <a:p>
              <a:pPr algn="ctr" eaLnBrk="1" hangingPunct="1">
                <a:defRPr/>
              </a:pPr>
              <a:r>
                <a:rPr lang="es-ES_tradnl" i="1" dirty="0">
                  <a:solidFill>
                    <a:srgbClr val="C00000"/>
                  </a:solidFill>
                  <a:latin typeface="Times" pitchFamily="18" charset="0"/>
                </a:rPr>
                <a:t>(JDK y JRE)</a:t>
              </a:r>
            </a:p>
          </p:txBody>
        </p:sp>
      </p:grpSp>
      <p:sp>
        <p:nvSpPr>
          <p:cNvPr id="50" name="49 Rectángulo"/>
          <p:cNvSpPr>
            <a:spLocks noChangeArrowheads="1"/>
          </p:cNvSpPr>
          <p:nvPr/>
        </p:nvSpPr>
        <p:spPr bwMode="auto">
          <a:xfrm>
            <a:off x="2011363" y="4714875"/>
            <a:ext cx="1092200"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s-ES_tradnl" i="1">
                <a:solidFill>
                  <a:srgbClr val="C00000"/>
                </a:solidFill>
                <a:latin typeface="Times" pitchFamily="18" charset="0"/>
              </a:rPr>
              <a:t>javac.exe</a:t>
            </a:r>
          </a:p>
          <a:p>
            <a:pPr algn="ctr"/>
            <a:r>
              <a:rPr lang="es-ES_tradnl" i="1">
                <a:solidFill>
                  <a:srgbClr val="C00000"/>
                </a:solidFill>
                <a:latin typeface="Times" pitchFamily="18" charset="0"/>
              </a:rPr>
              <a:t>(JDK)</a:t>
            </a:r>
          </a:p>
        </p:txBody>
      </p:sp>
    </p:spTree>
    <p:extLst>
      <p:ext uri="{BB962C8B-B14F-4D97-AF65-F5344CB8AC3E}">
        <p14:creationId xmlns:p14="http://schemas.microsoft.com/office/powerpoint/2010/main" val="13478511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par>
                          <p:cTn id="15" fill="hold" nodeType="afterGroup">
                            <p:stCondLst>
                              <p:cond delay="0"/>
                            </p:stCondLst>
                            <p:childTnLst>
                              <p:par>
                                <p:cTn id="16" presetID="1" presetClass="entr" presetSubtype="0" fill="hold" grpId="0" nodeType="afterEffect">
                                  <p:stCondLst>
                                    <p:cond delay="1000"/>
                                  </p:stCondLst>
                                  <p:childTnLst>
                                    <p:set>
                                      <p:cBhvr>
                                        <p:cTn id="17" dur="1" fill="hold">
                                          <p:stCondLst>
                                            <p:cond delay="0"/>
                                          </p:stCondLst>
                                        </p:cTn>
                                        <p:tgtEl>
                                          <p:spTgt spid="88"/>
                                        </p:tgtEl>
                                        <p:attrNameLst>
                                          <p:attrName>style.visibility</p:attrName>
                                        </p:attrNameLst>
                                      </p:cBhvr>
                                      <p:to>
                                        <p:strVal val="visible"/>
                                      </p:to>
                                    </p:set>
                                  </p:childTnLst>
                                </p:cTn>
                              </p:par>
                            </p:childTnLst>
                          </p:cTn>
                        </p:par>
                        <p:par>
                          <p:cTn id="18" fill="hold" nodeType="afterGroup">
                            <p:stCondLst>
                              <p:cond delay="1000"/>
                            </p:stCondLst>
                            <p:childTnLst>
                              <p:par>
                                <p:cTn id="19" presetID="1" presetClass="entr" presetSubtype="0" fill="hold" nodeType="afterEffect">
                                  <p:stCondLst>
                                    <p:cond delay="1500"/>
                                  </p:stCondLst>
                                  <p:childTnLst>
                                    <p:set>
                                      <p:cBhvr>
                                        <p:cTn id="20" dur="1" fill="hold">
                                          <p:stCondLst>
                                            <p:cond delay="0"/>
                                          </p:stCondLst>
                                        </p:cTn>
                                        <p:tgtEl>
                                          <p:spTgt spid="4"/>
                                        </p:tgtEl>
                                        <p:attrNameLst>
                                          <p:attrName>style.visibility</p:attrName>
                                        </p:attrNameLst>
                                      </p:cBhvr>
                                      <p:to>
                                        <p:strVal val="visible"/>
                                      </p:to>
                                    </p:set>
                                  </p:childTnLst>
                                </p:cTn>
                              </p:par>
                            </p:childTnLst>
                          </p:cTn>
                        </p:par>
                        <p:par>
                          <p:cTn id="21" fill="hold" nodeType="afterGroup">
                            <p:stCondLst>
                              <p:cond delay="2500"/>
                            </p:stCondLst>
                            <p:childTnLst>
                              <p:par>
                                <p:cTn id="22" presetID="1" presetClass="entr" presetSubtype="0" fill="hold" grpId="0" nodeType="afterEffect">
                                  <p:stCondLst>
                                    <p:cond delay="1000"/>
                                  </p:stCondLst>
                                  <p:childTnLst>
                                    <p:set>
                                      <p:cBhvr>
                                        <p:cTn id="23" dur="1" fill="hold">
                                          <p:stCondLst>
                                            <p:cond delay="0"/>
                                          </p:stCondLst>
                                        </p:cTn>
                                        <p:tgtEl>
                                          <p:spTgt spid="42"/>
                                        </p:tgtEl>
                                        <p:attrNameLst>
                                          <p:attrName>style.visibility</p:attrName>
                                        </p:attrNameLst>
                                      </p:cBhvr>
                                      <p:to>
                                        <p:strVal val="visible"/>
                                      </p:to>
                                    </p:set>
                                  </p:childTnLst>
                                </p:cTn>
                              </p:par>
                            </p:childTnLst>
                          </p:cTn>
                        </p:par>
                        <p:par>
                          <p:cTn id="24" fill="hold" nodeType="afterGroup">
                            <p:stCondLst>
                              <p:cond delay="3500"/>
                            </p:stCondLst>
                            <p:childTnLst>
                              <p:par>
                                <p:cTn id="25" presetID="1" presetClass="entr" presetSubtype="0" fill="hold" nodeType="afterEffect">
                                  <p:stCondLst>
                                    <p:cond delay="1500"/>
                                  </p:stCondLst>
                                  <p:childTnLst>
                                    <p:set>
                                      <p:cBhvr>
                                        <p:cTn id="26" dur="1" fill="hold">
                                          <p:stCondLst>
                                            <p:cond delay="0"/>
                                          </p:stCondLst>
                                        </p:cTn>
                                        <p:tgtEl>
                                          <p:spTgt spid="6"/>
                                        </p:tgtEl>
                                        <p:attrNameLst>
                                          <p:attrName>style.visibility</p:attrName>
                                        </p:attrNameLst>
                                      </p:cBhvr>
                                      <p:to>
                                        <p:strVal val="visible"/>
                                      </p:to>
                                    </p:set>
                                  </p:childTnLst>
                                </p:cTn>
                              </p:par>
                            </p:childTnLst>
                          </p:cTn>
                        </p:par>
                        <p:par>
                          <p:cTn id="27" fill="hold" nodeType="afterGroup">
                            <p:stCondLst>
                              <p:cond delay="5000"/>
                            </p:stCondLst>
                            <p:childTnLst>
                              <p:par>
                                <p:cTn id="28" presetID="1" presetClass="entr" presetSubtype="0" fill="hold" grpId="0" nodeType="afterEffect">
                                  <p:stCondLst>
                                    <p:cond delay="1000"/>
                                  </p:stCondLst>
                                  <p:childTnLst>
                                    <p:set>
                                      <p:cBhvr>
                                        <p:cTn id="29" dur="1" fill="hold">
                                          <p:stCondLst>
                                            <p:cond delay="0"/>
                                          </p:stCondLst>
                                        </p:cTn>
                                        <p:tgtEl>
                                          <p:spTgt spid="83"/>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83" grpId="0"/>
      <p:bldP spid="88" grpId="0"/>
      <p:bldP spid="5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2" name="91 Grupo"/>
          <p:cNvGrpSpPr>
            <a:grpSpLocks/>
          </p:cNvGrpSpPr>
          <p:nvPr/>
        </p:nvGrpSpPr>
        <p:grpSpPr bwMode="auto">
          <a:xfrm>
            <a:off x="3209925" y="3003550"/>
            <a:ext cx="1435100" cy="2478088"/>
            <a:chOff x="3428992" y="2928934"/>
            <a:chExt cx="1575751" cy="3003029"/>
          </a:xfrm>
        </p:grpSpPr>
        <p:sp>
          <p:nvSpPr>
            <p:cNvPr id="40" name="39 Esquina doblada"/>
            <p:cNvSpPr/>
            <p:nvPr/>
          </p:nvSpPr>
          <p:spPr bwMode="auto">
            <a:xfrm>
              <a:off x="3428992" y="3286758"/>
              <a:ext cx="1572265" cy="2356637"/>
            </a:xfrm>
            <a:prstGeom prst="foldedCorner">
              <a:avLst/>
            </a:prstGeom>
            <a:solidFill>
              <a:schemeClr val="tx2">
                <a:lumMod val="20000"/>
                <a:lumOff val="80000"/>
              </a:schemeClr>
            </a:solidFill>
            <a:ln w="952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txBody>
            <a:bodyPr/>
            <a:lstStyle/>
            <a:p>
              <a:pPr defTabSz="957263">
                <a:defRPr/>
              </a:pPr>
              <a:endParaRPr lang="es-ES_tradnl"/>
            </a:p>
          </p:txBody>
        </p:sp>
        <p:sp>
          <p:nvSpPr>
            <p:cNvPr id="10294" name="46 CuadroTexto"/>
            <p:cNvSpPr txBox="1">
              <a:spLocks noChangeArrowheads="1"/>
            </p:cNvSpPr>
            <p:nvPr/>
          </p:nvSpPr>
          <p:spPr bwMode="auto">
            <a:xfrm>
              <a:off x="3428992" y="5624186"/>
              <a:ext cx="157575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400">
                  <a:latin typeface="Times" pitchFamily="18" charset="0"/>
                </a:rPr>
                <a:t>Trayecto.class</a:t>
              </a:r>
            </a:p>
          </p:txBody>
        </p:sp>
        <p:sp>
          <p:nvSpPr>
            <p:cNvPr id="10295" name="47 CuadroTexto"/>
            <p:cNvSpPr txBox="1">
              <a:spLocks noChangeArrowheads="1"/>
            </p:cNvSpPr>
            <p:nvPr/>
          </p:nvSpPr>
          <p:spPr bwMode="auto">
            <a:xfrm>
              <a:off x="3428992" y="2928934"/>
              <a:ext cx="157163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algn="ctr" eaLnBrk="1" hangingPunct="1"/>
              <a:r>
                <a:rPr lang="es-ES_tradnl" sz="1200"/>
                <a:t>Bytecode</a:t>
              </a:r>
            </a:p>
          </p:txBody>
        </p:sp>
        <p:sp>
          <p:nvSpPr>
            <p:cNvPr id="64" name="63 Flecha derecha"/>
            <p:cNvSpPr/>
            <p:nvPr/>
          </p:nvSpPr>
          <p:spPr bwMode="auto">
            <a:xfrm>
              <a:off x="3817299" y="3432916"/>
              <a:ext cx="285752" cy="214314"/>
            </a:xfrm>
            <a:prstGeom prst="rightArrow">
              <a:avLst/>
            </a:prstGeom>
            <a:solidFill>
              <a:schemeClr val="tx1"/>
            </a:solidFill>
            <a:ln w="9525" cap="flat" cmpd="sng" algn="ctr">
              <a:solidFill>
                <a:schemeClr val="tx1"/>
              </a:solidFill>
              <a:prstDash val="solid"/>
              <a:round/>
              <a:headEnd type="none" w="med" len="med"/>
              <a:tailEnd type="none" w="med" len="med"/>
            </a:ln>
            <a:effectLst/>
            <a:scene3d>
              <a:camera prst="orthographicFront"/>
              <a:lightRig rig="threePt" dir="t"/>
            </a:scene3d>
            <a:sp3d prstMaterial="clear">
              <a:bevelT/>
            </a:sp3d>
          </p:spPr>
          <p:txBody>
            <a:bodyPr/>
            <a:lstStyle/>
            <a:p>
              <a:pPr defTabSz="957263">
                <a:defRPr/>
              </a:pPr>
              <a:endParaRPr lang="es-ES_tradnl"/>
            </a:p>
          </p:txBody>
        </p:sp>
        <p:sp>
          <p:nvSpPr>
            <p:cNvPr id="65" name="64 Flecha derecha"/>
            <p:cNvSpPr/>
            <p:nvPr/>
          </p:nvSpPr>
          <p:spPr bwMode="auto">
            <a:xfrm>
              <a:off x="4286248" y="3429000"/>
              <a:ext cx="285752" cy="214314"/>
            </a:xfrm>
            <a:prstGeom prst="rightArrow">
              <a:avLst/>
            </a:prstGeom>
            <a:solidFill>
              <a:schemeClr val="tx1"/>
            </a:solidFill>
            <a:ln w="9525" cap="flat" cmpd="sng" algn="ctr">
              <a:solidFill>
                <a:schemeClr val="tx1"/>
              </a:solidFill>
              <a:prstDash val="solid"/>
              <a:round/>
              <a:headEnd type="none" w="med" len="med"/>
              <a:tailEnd type="none" w="med" len="med"/>
            </a:ln>
            <a:effectLst/>
            <a:scene3d>
              <a:camera prst="orthographicFront"/>
              <a:lightRig rig="threePt" dir="t"/>
            </a:scene3d>
            <a:sp3d prstMaterial="clear">
              <a:bevelT/>
            </a:sp3d>
          </p:spPr>
          <p:txBody>
            <a:bodyPr/>
            <a:lstStyle/>
            <a:p>
              <a:pPr defTabSz="957263">
                <a:defRPr/>
              </a:pPr>
              <a:endParaRPr lang="es-ES_tradnl"/>
            </a:p>
          </p:txBody>
        </p:sp>
        <p:sp>
          <p:nvSpPr>
            <p:cNvPr id="66" name="65 Flecha derecha"/>
            <p:cNvSpPr/>
            <p:nvPr/>
          </p:nvSpPr>
          <p:spPr bwMode="auto">
            <a:xfrm rot="16200000">
              <a:off x="4067332" y="3754387"/>
              <a:ext cx="285752" cy="214314"/>
            </a:xfrm>
            <a:prstGeom prst="rightArrow">
              <a:avLst/>
            </a:prstGeom>
            <a:solidFill>
              <a:schemeClr val="tx1"/>
            </a:solidFill>
            <a:ln w="9525" cap="flat" cmpd="sng" algn="ctr">
              <a:solidFill>
                <a:schemeClr val="tx1"/>
              </a:solidFill>
              <a:prstDash val="solid"/>
              <a:round/>
              <a:headEnd type="none" w="med" len="med"/>
              <a:tailEnd type="none" w="med" len="med"/>
            </a:ln>
            <a:effectLst/>
            <a:scene3d>
              <a:camera prst="orthographicFront"/>
              <a:lightRig rig="threePt" dir="t"/>
            </a:scene3d>
            <a:sp3d prstMaterial="clear">
              <a:bevelT/>
            </a:sp3d>
          </p:spPr>
          <p:txBody>
            <a:bodyPr/>
            <a:lstStyle/>
            <a:p>
              <a:pPr defTabSz="957263">
                <a:defRPr/>
              </a:pPr>
              <a:endParaRPr lang="es-ES_tradnl"/>
            </a:p>
          </p:txBody>
        </p:sp>
        <p:sp>
          <p:nvSpPr>
            <p:cNvPr id="67" name="66 Flecha derecha"/>
            <p:cNvSpPr/>
            <p:nvPr/>
          </p:nvSpPr>
          <p:spPr bwMode="auto">
            <a:xfrm flipH="1">
              <a:off x="4031613" y="4075858"/>
              <a:ext cx="285752" cy="214314"/>
            </a:xfrm>
            <a:prstGeom prst="rightArrow">
              <a:avLst/>
            </a:prstGeom>
            <a:solidFill>
              <a:schemeClr val="tx1"/>
            </a:solidFill>
            <a:ln w="9525" cap="flat" cmpd="sng" algn="ctr">
              <a:solidFill>
                <a:schemeClr val="tx1"/>
              </a:solidFill>
              <a:prstDash val="solid"/>
              <a:round/>
              <a:headEnd type="none" w="med" len="med"/>
              <a:tailEnd type="none" w="med" len="med"/>
            </a:ln>
            <a:effectLst/>
            <a:scene3d>
              <a:camera prst="orthographicFront"/>
              <a:lightRig rig="threePt" dir="t"/>
            </a:scene3d>
            <a:sp3d prstMaterial="clear">
              <a:bevelT/>
            </a:sp3d>
          </p:spPr>
          <p:txBody>
            <a:bodyPr/>
            <a:lstStyle/>
            <a:p>
              <a:pPr defTabSz="957263">
                <a:defRPr/>
              </a:pPr>
              <a:endParaRPr lang="es-ES_tradnl"/>
            </a:p>
          </p:txBody>
        </p:sp>
        <p:sp>
          <p:nvSpPr>
            <p:cNvPr id="68" name="67 Flecha derecha"/>
            <p:cNvSpPr/>
            <p:nvPr/>
          </p:nvSpPr>
          <p:spPr bwMode="auto">
            <a:xfrm rot="16200000">
              <a:off x="4067332" y="4397329"/>
              <a:ext cx="285752" cy="214314"/>
            </a:xfrm>
            <a:prstGeom prst="rightArrow">
              <a:avLst/>
            </a:prstGeom>
            <a:solidFill>
              <a:schemeClr val="tx1"/>
            </a:solidFill>
            <a:ln w="9525" cap="flat" cmpd="sng" algn="ctr">
              <a:solidFill>
                <a:schemeClr val="tx1"/>
              </a:solidFill>
              <a:prstDash val="solid"/>
              <a:round/>
              <a:headEnd type="none" w="med" len="med"/>
              <a:tailEnd type="none" w="med" len="med"/>
            </a:ln>
            <a:effectLst/>
            <a:scene3d>
              <a:camera prst="orthographicFront"/>
              <a:lightRig rig="threePt" dir="t"/>
            </a:scene3d>
            <a:sp3d prstMaterial="clear">
              <a:bevelT/>
            </a:sp3d>
          </p:spPr>
          <p:txBody>
            <a:bodyPr/>
            <a:lstStyle/>
            <a:p>
              <a:pPr defTabSz="957263">
                <a:defRPr/>
              </a:pPr>
              <a:endParaRPr lang="es-ES_tradnl"/>
            </a:p>
          </p:txBody>
        </p:sp>
        <p:sp>
          <p:nvSpPr>
            <p:cNvPr id="69" name="68 Flecha derecha"/>
            <p:cNvSpPr/>
            <p:nvPr/>
          </p:nvSpPr>
          <p:spPr bwMode="auto">
            <a:xfrm>
              <a:off x="3745861" y="4727608"/>
              <a:ext cx="285752" cy="214314"/>
            </a:xfrm>
            <a:prstGeom prst="rightArrow">
              <a:avLst/>
            </a:prstGeom>
            <a:solidFill>
              <a:schemeClr val="tx1"/>
            </a:solidFill>
            <a:ln w="9525" cap="flat" cmpd="sng" algn="ctr">
              <a:solidFill>
                <a:schemeClr val="tx1"/>
              </a:solidFill>
              <a:prstDash val="solid"/>
              <a:round/>
              <a:headEnd type="none" w="med" len="med"/>
              <a:tailEnd type="none" w="med" len="med"/>
            </a:ln>
            <a:effectLst/>
            <a:scene3d>
              <a:camera prst="orthographicFront"/>
              <a:lightRig rig="threePt" dir="t"/>
            </a:scene3d>
            <a:sp3d prstMaterial="clear">
              <a:bevelT/>
            </a:sp3d>
          </p:spPr>
          <p:txBody>
            <a:bodyPr/>
            <a:lstStyle/>
            <a:p>
              <a:pPr defTabSz="957263">
                <a:defRPr/>
              </a:pPr>
              <a:endParaRPr lang="es-ES_tradnl"/>
            </a:p>
          </p:txBody>
        </p:sp>
        <p:sp>
          <p:nvSpPr>
            <p:cNvPr id="70" name="69 Flecha derecha"/>
            <p:cNvSpPr/>
            <p:nvPr/>
          </p:nvSpPr>
          <p:spPr bwMode="auto">
            <a:xfrm>
              <a:off x="4103051" y="4727608"/>
              <a:ext cx="285752" cy="214314"/>
            </a:xfrm>
            <a:prstGeom prst="rightArrow">
              <a:avLst/>
            </a:prstGeom>
            <a:solidFill>
              <a:schemeClr val="tx1"/>
            </a:solidFill>
            <a:ln w="9525" cap="flat" cmpd="sng" algn="ctr">
              <a:solidFill>
                <a:schemeClr val="tx1"/>
              </a:solidFill>
              <a:prstDash val="solid"/>
              <a:round/>
              <a:headEnd type="none" w="med" len="med"/>
              <a:tailEnd type="none" w="med" len="med"/>
            </a:ln>
            <a:effectLst/>
            <a:scene3d>
              <a:camera prst="orthographicFront"/>
              <a:lightRig rig="threePt" dir="t"/>
            </a:scene3d>
            <a:sp3d prstMaterial="clear">
              <a:bevelT/>
            </a:sp3d>
          </p:spPr>
          <p:txBody>
            <a:bodyPr/>
            <a:lstStyle/>
            <a:p>
              <a:pPr defTabSz="957263">
                <a:defRPr/>
              </a:pPr>
              <a:endParaRPr lang="es-ES_tradnl"/>
            </a:p>
          </p:txBody>
        </p:sp>
        <p:sp>
          <p:nvSpPr>
            <p:cNvPr id="71" name="70 Flecha derecha"/>
            <p:cNvSpPr/>
            <p:nvPr/>
          </p:nvSpPr>
          <p:spPr bwMode="auto">
            <a:xfrm>
              <a:off x="4460241" y="4727608"/>
              <a:ext cx="285752" cy="214314"/>
            </a:xfrm>
            <a:prstGeom prst="rightArrow">
              <a:avLst/>
            </a:prstGeom>
            <a:solidFill>
              <a:schemeClr val="tx1"/>
            </a:solidFill>
            <a:ln w="9525" cap="flat" cmpd="sng" algn="ctr">
              <a:solidFill>
                <a:schemeClr val="tx1"/>
              </a:solidFill>
              <a:prstDash val="solid"/>
              <a:round/>
              <a:headEnd type="none" w="med" len="med"/>
              <a:tailEnd type="none" w="med" len="med"/>
            </a:ln>
            <a:effectLst/>
            <a:scene3d>
              <a:camera prst="orthographicFront"/>
              <a:lightRig rig="threePt" dir="t"/>
            </a:scene3d>
            <a:sp3d prstMaterial="clear">
              <a:bevelT/>
            </a:sp3d>
          </p:spPr>
          <p:txBody>
            <a:bodyPr/>
            <a:lstStyle/>
            <a:p>
              <a:pPr defTabSz="957263">
                <a:defRPr/>
              </a:pPr>
              <a:endParaRPr lang="es-ES_tradnl"/>
            </a:p>
          </p:txBody>
        </p:sp>
        <p:sp>
          <p:nvSpPr>
            <p:cNvPr id="72" name="71 Flecha derecha"/>
            <p:cNvSpPr/>
            <p:nvPr/>
          </p:nvSpPr>
          <p:spPr bwMode="auto">
            <a:xfrm rot="16200000">
              <a:off x="4036215" y="5179231"/>
              <a:ext cx="285752" cy="214314"/>
            </a:xfrm>
            <a:prstGeom prst="rightArrow">
              <a:avLst/>
            </a:prstGeom>
            <a:solidFill>
              <a:schemeClr val="tx1"/>
            </a:solidFill>
            <a:ln w="9525" cap="flat" cmpd="sng" algn="ctr">
              <a:solidFill>
                <a:schemeClr val="tx1"/>
              </a:solidFill>
              <a:prstDash val="solid"/>
              <a:round/>
              <a:headEnd type="none" w="med" len="med"/>
              <a:tailEnd type="none" w="med" len="med"/>
            </a:ln>
            <a:effectLst/>
            <a:scene3d>
              <a:camera prst="orthographicFront"/>
              <a:lightRig rig="threePt" dir="t"/>
            </a:scene3d>
            <a:sp3d prstMaterial="clear">
              <a:bevelT/>
            </a:sp3d>
          </p:spPr>
          <p:txBody>
            <a:bodyPr/>
            <a:lstStyle/>
            <a:p>
              <a:pPr defTabSz="957263">
                <a:defRPr/>
              </a:pPr>
              <a:endParaRPr lang="es-ES_tradnl"/>
            </a:p>
          </p:txBody>
        </p:sp>
        <p:sp>
          <p:nvSpPr>
            <p:cNvPr id="10323" name="72 Rectángulo"/>
            <p:cNvSpPr>
              <a:spLocks noChangeArrowheads="1"/>
            </p:cNvSpPr>
            <p:nvPr/>
          </p:nvSpPr>
          <p:spPr bwMode="auto">
            <a:xfrm>
              <a:off x="3950392" y="5261336"/>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s-ES_tradnl" sz="2000"/>
                <a:t>…</a:t>
              </a:r>
            </a:p>
          </p:txBody>
        </p:sp>
      </p:grpSp>
      <p:sp>
        <p:nvSpPr>
          <p:cNvPr id="10243" name="Rectangle 2"/>
          <p:cNvSpPr>
            <a:spLocks noGrp="1" noChangeArrowheads="1"/>
          </p:cNvSpPr>
          <p:nvPr>
            <p:ph type="title"/>
          </p:nvPr>
        </p:nvSpPr>
        <p:spPr>
          <a:xfrm>
            <a:off x="542925" y="53975"/>
            <a:ext cx="7815263" cy="563563"/>
          </a:xfrm>
        </p:spPr>
        <p:txBody>
          <a:bodyPr/>
          <a:lstStyle/>
          <a:p>
            <a:pPr eaLnBrk="1" hangingPunct="1"/>
            <a:r>
              <a:rPr lang="en-US"/>
              <a:t>VENTAJAS DE LA TRADUCCIÓN JAVA</a:t>
            </a:r>
            <a:endParaRPr lang="en-US">
              <a:solidFill>
                <a:schemeClr val="accent1"/>
              </a:solidFill>
            </a:endParaRPr>
          </a:p>
        </p:txBody>
      </p:sp>
      <p:grpSp>
        <p:nvGrpSpPr>
          <p:cNvPr id="10244" name="50 Grupo"/>
          <p:cNvGrpSpPr>
            <a:grpSpLocks/>
          </p:cNvGrpSpPr>
          <p:nvPr/>
        </p:nvGrpSpPr>
        <p:grpSpPr bwMode="auto">
          <a:xfrm>
            <a:off x="0" y="1357313"/>
            <a:ext cx="8715375" cy="1000125"/>
            <a:chOff x="-63241" y="1603332"/>
            <a:chExt cx="8715404" cy="1000132"/>
          </a:xfrm>
        </p:grpSpPr>
        <p:sp>
          <p:nvSpPr>
            <p:cNvPr id="55" name="54 Redondear rectángulo de esquina diagonal"/>
            <p:cNvSpPr/>
            <p:nvPr/>
          </p:nvSpPr>
          <p:spPr bwMode="auto">
            <a:xfrm>
              <a:off x="500324" y="1643019"/>
              <a:ext cx="8001027" cy="928695"/>
            </a:xfrm>
            <a:prstGeom prst="round2DiagRect">
              <a:avLst/>
            </a:prstGeom>
            <a:solidFill>
              <a:schemeClr val="accent1">
                <a:alpha val="9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a:lstStyle/>
            <a:p>
              <a:pPr defTabSz="957263">
                <a:defRPr/>
              </a:pPr>
              <a:endParaRPr lang="es-ES_tradnl"/>
            </a:p>
          </p:txBody>
        </p:sp>
        <p:sp>
          <p:nvSpPr>
            <p:cNvPr id="24" name="Rectangle 3"/>
            <p:cNvSpPr txBox="1">
              <a:spLocks noChangeArrowheads="1"/>
            </p:cNvSpPr>
            <p:nvPr/>
          </p:nvSpPr>
          <p:spPr bwMode="auto">
            <a:xfrm>
              <a:off x="-63241" y="1603332"/>
              <a:ext cx="8715404" cy="1000132"/>
            </a:xfrm>
            <a:prstGeom prst="rect">
              <a:avLst/>
            </a:prstGeom>
            <a:noFill/>
            <a:ln w="9525">
              <a:noFill/>
              <a:miter lim="800000"/>
              <a:headEnd/>
              <a:tailEnd/>
            </a:ln>
            <a:effectLst/>
          </p:spPr>
          <p:txBody>
            <a:bodyPr lIns="95782" tIns="47891" rIns="95782" bIns="47891"/>
            <a:lstStyle/>
            <a:p>
              <a:pPr marL="777875" lvl="1" indent="-298450" algn="ctr" defTabSz="957263">
                <a:spcBef>
                  <a:spcPct val="20000"/>
                </a:spcBef>
                <a:buClr>
                  <a:schemeClr val="accent1"/>
                </a:buClr>
                <a:defRPr/>
              </a:pPr>
              <a:r>
                <a:rPr lang="en-US" sz="2400" kern="0" dirty="0">
                  <a:latin typeface="+mj-lt"/>
                </a:rPr>
                <a:t>El </a:t>
              </a:r>
              <a:r>
                <a:rPr lang="en-US" sz="2400" kern="0" dirty="0" err="1">
                  <a:latin typeface="+mj-lt"/>
                </a:rPr>
                <a:t>Bytecode</a:t>
              </a:r>
              <a:r>
                <a:rPr lang="en-US" sz="2400" kern="0" dirty="0">
                  <a:latin typeface="+mj-lt"/>
                </a:rPr>
                <a:t> </a:t>
              </a:r>
              <a:r>
                <a:rPr lang="en-US" sz="2400" kern="0" dirty="0" err="1">
                  <a:latin typeface="+mj-lt"/>
                </a:rPr>
                <a:t>puede</a:t>
              </a:r>
              <a:r>
                <a:rPr lang="en-US" sz="2400" kern="0" dirty="0">
                  <a:latin typeface="+mj-lt"/>
                </a:rPr>
                <a:t> </a:t>
              </a:r>
              <a:r>
                <a:rPr lang="en-US" sz="2400" kern="0" dirty="0" err="1">
                  <a:latin typeface="+mj-lt"/>
                </a:rPr>
                <a:t>ejecutarse</a:t>
              </a:r>
              <a:r>
                <a:rPr lang="en-US" sz="2400" kern="0" dirty="0">
                  <a:latin typeface="+mj-lt"/>
                </a:rPr>
                <a:t> en </a:t>
              </a:r>
              <a:r>
                <a:rPr lang="en-US" sz="2400" kern="0" dirty="0" err="1">
                  <a:latin typeface="+mj-lt"/>
                </a:rPr>
                <a:t>cualquier</a:t>
              </a:r>
              <a:r>
                <a:rPr lang="en-US" sz="2400" kern="0" dirty="0">
                  <a:latin typeface="+mj-lt"/>
                </a:rPr>
                <a:t> </a:t>
              </a:r>
              <a:r>
                <a:rPr lang="en-US" sz="2400" kern="0" dirty="0" err="1">
                  <a:latin typeface="+mj-lt"/>
                </a:rPr>
                <a:t>plataforma</a:t>
              </a:r>
              <a:endParaRPr lang="en-US" sz="2400" kern="0" dirty="0">
                <a:latin typeface="+mj-lt"/>
              </a:endParaRPr>
            </a:p>
            <a:p>
              <a:pPr marL="777875" lvl="1" indent="-298450" algn="ctr" defTabSz="957263">
                <a:spcBef>
                  <a:spcPct val="20000"/>
                </a:spcBef>
                <a:buClr>
                  <a:schemeClr val="accent1"/>
                </a:buClr>
                <a:defRPr/>
              </a:pPr>
              <a:r>
                <a:rPr lang="en-US" sz="2400" kern="0" dirty="0" err="1">
                  <a:latin typeface="+mj-lt"/>
                </a:rPr>
                <a:t>que</a:t>
              </a:r>
              <a:r>
                <a:rPr lang="en-US" sz="2400" kern="0" dirty="0">
                  <a:latin typeface="+mj-lt"/>
                </a:rPr>
                <a:t> </a:t>
              </a:r>
              <a:r>
                <a:rPr lang="en-US" sz="2400" kern="0" dirty="0" err="1">
                  <a:latin typeface="+mj-lt"/>
                </a:rPr>
                <a:t>disponga</a:t>
              </a:r>
              <a:r>
                <a:rPr lang="en-US" sz="2400" kern="0" dirty="0">
                  <a:latin typeface="+mj-lt"/>
                </a:rPr>
                <a:t> de un </a:t>
              </a:r>
              <a:r>
                <a:rPr lang="en-US" sz="2400" kern="0" dirty="0" err="1">
                  <a:latin typeface="+mj-lt"/>
                </a:rPr>
                <a:t>intérprete</a:t>
              </a:r>
              <a:r>
                <a:rPr lang="en-US" sz="2400" kern="0" dirty="0">
                  <a:latin typeface="+mj-lt"/>
                </a:rPr>
                <a:t> (</a:t>
              </a:r>
              <a:r>
                <a:rPr lang="en-US" sz="2400" kern="0" dirty="0" err="1">
                  <a:latin typeface="+mj-lt"/>
                </a:rPr>
                <a:t>máquina</a:t>
              </a:r>
              <a:r>
                <a:rPr lang="en-US" sz="2400" kern="0" dirty="0">
                  <a:latin typeface="+mj-lt"/>
                </a:rPr>
                <a:t> virtual) JAVA</a:t>
              </a:r>
            </a:p>
          </p:txBody>
        </p:sp>
      </p:grpSp>
      <p:sp>
        <p:nvSpPr>
          <p:cNvPr id="36" name="35 Esquina doblada"/>
          <p:cNvSpPr/>
          <p:nvPr/>
        </p:nvSpPr>
        <p:spPr bwMode="auto">
          <a:xfrm>
            <a:off x="357188" y="3429000"/>
            <a:ext cx="1071562" cy="1785938"/>
          </a:xfrm>
          <a:prstGeom prst="foldedCorner">
            <a:avLst/>
          </a:prstGeom>
          <a:solidFill>
            <a:srgbClr val="FFFFCC"/>
          </a:solidFill>
          <a:ln w="952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txBody>
          <a:bodyPr/>
          <a:lstStyle/>
          <a:p>
            <a:pPr defTabSz="957263">
              <a:defRPr/>
            </a:pPr>
            <a:endParaRPr lang="es-ES_tradnl"/>
          </a:p>
        </p:txBody>
      </p:sp>
      <p:sp>
        <p:nvSpPr>
          <p:cNvPr id="10246" name="36 CuadroTexto"/>
          <p:cNvSpPr txBox="1">
            <a:spLocks noChangeArrowheads="1"/>
          </p:cNvSpPr>
          <p:nvPr/>
        </p:nvSpPr>
        <p:spPr bwMode="auto">
          <a:xfrm>
            <a:off x="428625" y="3500438"/>
            <a:ext cx="128587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000"/>
              <a:t>DERECHA</a:t>
            </a:r>
          </a:p>
          <a:p>
            <a:pPr eaLnBrk="1" hangingPunct="1"/>
            <a:r>
              <a:rPr lang="es-ES_tradnl" sz="1000"/>
              <a:t>DERECHA</a:t>
            </a:r>
          </a:p>
          <a:p>
            <a:pPr eaLnBrk="1" hangingPunct="1"/>
            <a:r>
              <a:rPr lang="es-ES_tradnl" sz="1000"/>
              <a:t>ARRIBA</a:t>
            </a:r>
          </a:p>
          <a:p>
            <a:pPr eaLnBrk="1" hangingPunct="1"/>
            <a:r>
              <a:rPr lang="es-ES_tradnl" sz="1000"/>
              <a:t>IZQUIERDA</a:t>
            </a:r>
          </a:p>
          <a:p>
            <a:pPr eaLnBrk="1" hangingPunct="1"/>
            <a:r>
              <a:rPr lang="es-ES_tradnl" sz="1000"/>
              <a:t>ARRIBA</a:t>
            </a:r>
          </a:p>
          <a:p>
            <a:pPr eaLnBrk="1" hangingPunct="1"/>
            <a:r>
              <a:rPr lang="es-ES_tradnl" sz="1000"/>
              <a:t>DERECHA</a:t>
            </a:r>
          </a:p>
          <a:p>
            <a:pPr eaLnBrk="1" hangingPunct="1"/>
            <a:r>
              <a:rPr lang="es-ES_tradnl" sz="1000"/>
              <a:t>DERECHA</a:t>
            </a:r>
          </a:p>
          <a:p>
            <a:pPr eaLnBrk="1" hangingPunct="1"/>
            <a:r>
              <a:rPr lang="es-ES_tradnl" sz="1000"/>
              <a:t>DERECHA</a:t>
            </a:r>
          </a:p>
          <a:p>
            <a:pPr eaLnBrk="1" hangingPunct="1"/>
            <a:r>
              <a:rPr lang="es-ES_tradnl" sz="1000"/>
              <a:t>ARRIBA</a:t>
            </a:r>
          </a:p>
          <a:p>
            <a:pPr eaLnBrk="1" hangingPunct="1"/>
            <a:r>
              <a:rPr lang="es-ES_tradnl" sz="1000"/>
              <a:t>…</a:t>
            </a:r>
          </a:p>
        </p:txBody>
      </p:sp>
      <p:sp>
        <p:nvSpPr>
          <p:cNvPr id="10247" name="37 CuadroTexto"/>
          <p:cNvSpPr txBox="1">
            <a:spLocks noChangeArrowheads="1"/>
          </p:cNvSpPr>
          <p:nvPr/>
        </p:nvSpPr>
        <p:spPr bwMode="auto">
          <a:xfrm>
            <a:off x="280988" y="5311775"/>
            <a:ext cx="12207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400">
                <a:latin typeface="Times" pitchFamily="18" charset="0"/>
              </a:rPr>
              <a:t>Trayecto.java</a:t>
            </a:r>
          </a:p>
        </p:txBody>
      </p:sp>
      <p:sp>
        <p:nvSpPr>
          <p:cNvPr id="10248" name="38 CuadroTexto"/>
          <p:cNvSpPr txBox="1">
            <a:spLocks noChangeArrowheads="1"/>
          </p:cNvSpPr>
          <p:nvPr/>
        </p:nvSpPr>
        <p:spPr bwMode="auto">
          <a:xfrm>
            <a:off x="306388" y="3084513"/>
            <a:ext cx="12144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200"/>
              <a:t>Fichero Fuente</a:t>
            </a:r>
          </a:p>
        </p:txBody>
      </p:sp>
      <p:grpSp>
        <p:nvGrpSpPr>
          <p:cNvPr id="10249" name="90 Grupo"/>
          <p:cNvGrpSpPr>
            <a:grpSpLocks/>
          </p:cNvGrpSpPr>
          <p:nvPr/>
        </p:nvGrpSpPr>
        <p:grpSpPr bwMode="auto">
          <a:xfrm>
            <a:off x="1214438" y="3786188"/>
            <a:ext cx="2000250" cy="857250"/>
            <a:chOff x="1500166" y="3929066"/>
            <a:chExt cx="2214578" cy="714380"/>
          </a:xfrm>
        </p:grpSpPr>
        <p:sp>
          <p:nvSpPr>
            <p:cNvPr id="44" name="43 Flecha a la derecha con muesca"/>
            <p:cNvSpPr/>
            <p:nvPr/>
          </p:nvSpPr>
          <p:spPr bwMode="auto">
            <a:xfrm>
              <a:off x="1500166" y="4071942"/>
              <a:ext cx="2214578" cy="428628"/>
            </a:xfrm>
            <a:prstGeom prst="notchedRightArrow">
              <a:avLst/>
            </a:prstGeom>
            <a:gradFill>
              <a:gsLst>
                <a:gs pos="0">
                  <a:srgbClr val="03D4A8"/>
                </a:gs>
                <a:gs pos="25000">
                  <a:srgbClr val="21D6E0"/>
                </a:gs>
                <a:gs pos="75000">
                  <a:srgbClr val="0087E6"/>
                </a:gs>
                <a:gs pos="100000">
                  <a:srgbClr val="005CBF"/>
                </a:gs>
              </a:gsLst>
              <a:lin ang="10800000" scaled="0"/>
            </a:gradFill>
            <a:ln w="9525" cap="flat" cmpd="sng" algn="ctr">
              <a:gradFill flip="none" rotWithShape="1">
                <a:gsLst>
                  <a:gs pos="0">
                    <a:srgbClr val="5E9EFF"/>
                  </a:gs>
                  <a:gs pos="39999">
                    <a:srgbClr val="85C2FF"/>
                  </a:gs>
                  <a:gs pos="70000">
                    <a:srgbClr val="C4D6EB"/>
                  </a:gs>
                  <a:gs pos="100000">
                    <a:srgbClr val="FFEBFA"/>
                  </a:gs>
                </a:gsLst>
                <a:lin ang="10800000" scaled="1"/>
                <a:tileRect/>
              </a:gradFill>
              <a:prstDash val="solid"/>
              <a:round/>
              <a:headEnd type="none" w="med" len="med"/>
              <a:tailEnd type="none" w="med" len="med"/>
            </a:ln>
            <a:effectLst/>
          </p:spPr>
          <p:txBody>
            <a:bodyPr/>
            <a:lstStyle/>
            <a:p>
              <a:pPr defTabSz="957263">
                <a:defRPr/>
              </a:pPr>
              <a:endParaRPr lang="es-ES_tradnl"/>
            </a:p>
          </p:txBody>
        </p:sp>
        <p:sp>
          <p:nvSpPr>
            <p:cNvPr id="56" name="55 Rectángulo redondeado"/>
            <p:cNvSpPr/>
            <p:nvPr/>
          </p:nvSpPr>
          <p:spPr bwMode="auto">
            <a:xfrm>
              <a:off x="1714480" y="3929066"/>
              <a:ext cx="1643074" cy="714380"/>
            </a:xfrm>
            <a:prstGeom prst="roundRect">
              <a:avLst/>
            </a:prstGeom>
            <a:solidFill>
              <a:schemeClr val="accent1">
                <a:lumMod val="20000"/>
                <a:lumOff val="80000"/>
                <a:alpha val="73000"/>
              </a:schemeClr>
            </a:soli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10290" name="56 CuadroTexto"/>
            <p:cNvSpPr txBox="1">
              <a:spLocks noChangeArrowheads="1"/>
            </p:cNvSpPr>
            <p:nvPr/>
          </p:nvSpPr>
          <p:spPr bwMode="auto">
            <a:xfrm>
              <a:off x="1705858" y="4140726"/>
              <a:ext cx="164307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r>
                <a:rPr lang="es-ES_tradnl" sz="1400" b="1"/>
                <a:t>COMPILACIÓN</a:t>
              </a:r>
            </a:p>
          </p:txBody>
        </p:sp>
      </p:grpSp>
      <p:grpSp>
        <p:nvGrpSpPr>
          <p:cNvPr id="10250" name="51 Grupo"/>
          <p:cNvGrpSpPr>
            <a:grpSpLocks/>
          </p:cNvGrpSpPr>
          <p:nvPr/>
        </p:nvGrpSpPr>
        <p:grpSpPr bwMode="auto">
          <a:xfrm rot="-423308">
            <a:off x="4643438" y="3124200"/>
            <a:ext cx="2978150" cy="466725"/>
            <a:chOff x="4643439" y="3124200"/>
            <a:chExt cx="2978151" cy="467250"/>
          </a:xfrm>
        </p:grpSpPr>
        <p:grpSp>
          <p:nvGrpSpPr>
            <p:cNvPr id="10275" name="92 Grupo"/>
            <p:cNvGrpSpPr>
              <a:grpSpLocks/>
            </p:cNvGrpSpPr>
            <p:nvPr/>
          </p:nvGrpSpPr>
          <p:grpSpPr bwMode="auto">
            <a:xfrm>
              <a:off x="4643439" y="3124200"/>
              <a:ext cx="2786081" cy="467250"/>
              <a:chOff x="5000627" y="3480864"/>
              <a:chExt cx="3857653" cy="591078"/>
            </a:xfrm>
          </p:grpSpPr>
          <p:sp>
            <p:nvSpPr>
              <p:cNvPr id="85" name="84 Flecha a la derecha con muesca"/>
              <p:cNvSpPr/>
              <p:nvPr/>
            </p:nvSpPr>
            <p:spPr bwMode="auto">
              <a:xfrm>
                <a:off x="5000627" y="3480864"/>
                <a:ext cx="3857653" cy="571504"/>
              </a:xfrm>
              <a:prstGeom prst="notchedRightArrow">
                <a:avLst/>
              </a:prstGeom>
              <a:gradFill>
                <a:gsLst>
                  <a:gs pos="0">
                    <a:srgbClr val="03D4A8"/>
                  </a:gs>
                  <a:gs pos="25000">
                    <a:srgbClr val="21D6E0"/>
                  </a:gs>
                  <a:gs pos="75000">
                    <a:srgbClr val="0087E6"/>
                  </a:gs>
                  <a:gs pos="100000">
                    <a:srgbClr val="005CBF"/>
                  </a:gs>
                </a:gsLst>
                <a:lin ang="10800000" scaled="0"/>
              </a:gradFill>
              <a:ln w="9525" cap="flat" cmpd="sng" algn="ctr">
                <a:gradFill flip="none" rotWithShape="1">
                  <a:gsLst>
                    <a:gs pos="0">
                      <a:srgbClr val="5E9EFF"/>
                    </a:gs>
                    <a:gs pos="39999">
                      <a:srgbClr val="85C2FF"/>
                    </a:gs>
                    <a:gs pos="70000">
                      <a:srgbClr val="C4D6EB"/>
                    </a:gs>
                    <a:gs pos="100000">
                      <a:srgbClr val="FFEBFA"/>
                    </a:gs>
                  </a:gsLst>
                  <a:lin ang="10800000" scaled="1"/>
                  <a:tileRect/>
                </a:gradFill>
                <a:prstDash val="solid"/>
                <a:round/>
                <a:headEnd type="none" w="med" len="med"/>
                <a:tailEnd type="none" w="med" len="med"/>
              </a:ln>
              <a:effectLst/>
            </p:spPr>
            <p:txBody>
              <a:bodyPr/>
              <a:lstStyle/>
              <a:p>
                <a:pPr defTabSz="957263">
                  <a:defRPr/>
                </a:pPr>
                <a:endParaRPr lang="es-ES_tradnl"/>
              </a:p>
            </p:txBody>
          </p:sp>
          <p:sp>
            <p:nvSpPr>
              <p:cNvPr id="86" name="85 Rectángulo redondeado"/>
              <p:cNvSpPr/>
              <p:nvPr/>
            </p:nvSpPr>
            <p:spPr bwMode="auto">
              <a:xfrm>
                <a:off x="5357818" y="3500438"/>
                <a:ext cx="2071702" cy="571504"/>
              </a:xfrm>
              <a:prstGeom prst="roundRect">
                <a:avLst/>
              </a:prstGeom>
              <a:solidFill>
                <a:schemeClr val="accent1">
                  <a:lumMod val="20000"/>
                  <a:lumOff val="80000"/>
                  <a:alpha val="73000"/>
                </a:schemeClr>
              </a:soli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10283" name="86 CuadroTexto"/>
              <p:cNvSpPr txBox="1">
                <a:spLocks noChangeArrowheads="1"/>
              </p:cNvSpPr>
              <p:nvPr/>
            </p:nvSpPr>
            <p:spPr bwMode="auto">
              <a:xfrm>
                <a:off x="5188367" y="3562838"/>
                <a:ext cx="2311861" cy="428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algn="ctr" eaLnBrk="1" hangingPunct="1"/>
                <a:r>
                  <a:rPr lang="es-ES_tradnl" sz="1600" b="1"/>
                  <a:t>JVM  PC</a:t>
                </a:r>
              </a:p>
            </p:txBody>
          </p:sp>
        </p:grpSp>
        <p:sp>
          <p:nvSpPr>
            <p:cNvPr id="88" name="87 CuadroTexto"/>
            <p:cNvSpPr txBox="1"/>
            <p:nvPr/>
          </p:nvSpPr>
          <p:spPr>
            <a:xfrm>
              <a:off x="6121562" y="3170334"/>
              <a:ext cx="1500189" cy="308321"/>
            </a:xfrm>
            <a:prstGeom prst="rect">
              <a:avLst/>
            </a:prstGeom>
            <a:noFill/>
            <a:effectLst>
              <a:outerShdw blurRad="50800" dist="38100" dir="2700000" algn="tl" rotWithShape="0">
                <a:prstClr val="black">
                  <a:alpha val="40000"/>
                </a:prstClr>
              </a:outerShdw>
            </a:effectLst>
          </p:spPr>
          <p:txBody>
            <a:bodyPr>
              <a:spAutoFit/>
            </a:bodyPr>
            <a:lstStyle/>
            <a:p>
              <a:pPr algn="ctr">
                <a:defRPr/>
              </a:pPr>
              <a:r>
                <a:rPr lang="es-ES_tradnl" sz="1400" dirty="0">
                  <a:solidFill>
                    <a:schemeClr val="bg1"/>
                  </a:solidFill>
                  <a:latin typeface="Berlin Sans FB" pitchFamily="34" charset="0"/>
                </a:rPr>
                <a:t>Ejecución</a:t>
              </a:r>
            </a:p>
          </p:txBody>
        </p:sp>
      </p:grpSp>
      <p:sp>
        <p:nvSpPr>
          <p:cNvPr id="10251" name="49 Rectángulo"/>
          <p:cNvSpPr>
            <a:spLocks noChangeArrowheads="1"/>
          </p:cNvSpPr>
          <p:nvPr/>
        </p:nvSpPr>
        <p:spPr bwMode="auto">
          <a:xfrm>
            <a:off x="1571625" y="4714875"/>
            <a:ext cx="12573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s-ES_tradnl" i="1">
                <a:solidFill>
                  <a:srgbClr val="C00000"/>
                </a:solidFill>
                <a:latin typeface="Times" pitchFamily="18" charset="0"/>
              </a:rPr>
              <a:t>(javac.exe)</a:t>
            </a:r>
          </a:p>
        </p:txBody>
      </p:sp>
      <p:pic>
        <p:nvPicPr>
          <p:cNvPr id="10252" name="Picture 19" descr="0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2375" y="5072063"/>
            <a:ext cx="881063" cy="93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3" name="Picture 38" descr="3D_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5250" y="3929063"/>
            <a:ext cx="714375"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4" name="Picture 47" descr="23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86625" y="2571750"/>
            <a:ext cx="1279525"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55" name="42 Grupo"/>
          <p:cNvGrpSpPr>
            <a:grpSpLocks/>
          </p:cNvGrpSpPr>
          <p:nvPr/>
        </p:nvGrpSpPr>
        <p:grpSpPr bwMode="auto">
          <a:xfrm>
            <a:off x="4716463" y="4024313"/>
            <a:ext cx="2978150" cy="466725"/>
            <a:chOff x="4643439" y="3124200"/>
            <a:chExt cx="2978151" cy="467250"/>
          </a:xfrm>
        </p:grpSpPr>
        <p:grpSp>
          <p:nvGrpSpPr>
            <p:cNvPr id="10266" name="92 Grupo"/>
            <p:cNvGrpSpPr>
              <a:grpSpLocks/>
            </p:cNvGrpSpPr>
            <p:nvPr/>
          </p:nvGrpSpPr>
          <p:grpSpPr bwMode="auto">
            <a:xfrm>
              <a:off x="4643439" y="3124200"/>
              <a:ext cx="2786081" cy="467250"/>
              <a:chOff x="5000627" y="3480864"/>
              <a:chExt cx="3857653" cy="591078"/>
            </a:xfrm>
          </p:grpSpPr>
          <p:sp>
            <p:nvSpPr>
              <p:cNvPr id="49" name="48 Flecha a la derecha con muesca"/>
              <p:cNvSpPr/>
              <p:nvPr/>
            </p:nvSpPr>
            <p:spPr bwMode="auto">
              <a:xfrm>
                <a:off x="5000627" y="3480864"/>
                <a:ext cx="3857653" cy="571504"/>
              </a:xfrm>
              <a:prstGeom prst="notchedRightArrow">
                <a:avLst/>
              </a:prstGeom>
              <a:gradFill>
                <a:gsLst>
                  <a:gs pos="0">
                    <a:srgbClr val="03D4A8"/>
                  </a:gs>
                  <a:gs pos="25000">
                    <a:srgbClr val="21D6E0"/>
                  </a:gs>
                  <a:gs pos="75000">
                    <a:srgbClr val="0087E6"/>
                  </a:gs>
                  <a:gs pos="100000">
                    <a:srgbClr val="005CBF"/>
                  </a:gs>
                </a:gsLst>
                <a:lin ang="10800000" scaled="0"/>
              </a:gradFill>
              <a:ln w="9525" cap="flat" cmpd="sng" algn="ctr">
                <a:gradFill flip="none" rotWithShape="1">
                  <a:gsLst>
                    <a:gs pos="0">
                      <a:srgbClr val="5E9EFF"/>
                    </a:gs>
                    <a:gs pos="39999">
                      <a:srgbClr val="85C2FF"/>
                    </a:gs>
                    <a:gs pos="70000">
                      <a:srgbClr val="C4D6EB"/>
                    </a:gs>
                    <a:gs pos="100000">
                      <a:srgbClr val="FFEBFA"/>
                    </a:gs>
                  </a:gsLst>
                  <a:lin ang="10800000" scaled="1"/>
                  <a:tileRect/>
                </a:gradFill>
                <a:prstDash val="solid"/>
                <a:round/>
                <a:headEnd type="none" w="med" len="med"/>
                <a:tailEnd type="none" w="med" len="med"/>
              </a:ln>
              <a:effectLst/>
            </p:spPr>
            <p:txBody>
              <a:bodyPr/>
              <a:lstStyle/>
              <a:p>
                <a:pPr defTabSz="957263">
                  <a:defRPr/>
                </a:pPr>
                <a:endParaRPr lang="es-ES_tradnl"/>
              </a:p>
            </p:txBody>
          </p:sp>
          <p:sp>
            <p:nvSpPr>
              <p:cNvPr id="53" name="52 Rectángulo redondeado"/>
              <p:cNvSpPr/>
              <p:nvPr/>
            </p:nvSpPr>
            <p:spPr bwMode="auto">
              <a:xfrm>
                <a:off x="5357818" y="3500438"/>
                <a:ext cx="2071702" cy="571504"/>
              </a:xfrm>
              <a:prstGeom prst="roundRect">
                <a:avLst/>
              </a:prstGeom>
              <a:solidFill>
                <a:schemeClr val="accent1">
                  <a:lumMod val="20000"/>
                  <a:lumOff val="80000"/>
                  <a:alpha val="73000"/>
                </a:schemeClr>
              </a:soli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10274" name="53 CuadroTexto"/>
              <p:cNvSpPr txBox="1">
                <a:spLocks noChangeArrowheads="1"/>
              </p:cNvSpPr>
              <p:nvPr/>
            </p:nvSpPr>
            <p:spPr bwMode="auto">
              <a:xfrm>
                <a:off x="5188367" y="3562838"/>
                <a:ext cx="2311861" cy="428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algn="ctr" eaLnBrk="1" hangingPunct="1"/>
                <a:r>
                  <a:rPr lang="es-ES_tradnl" sz="1600" b="1"/>
                  <a:t>JVM  MAC</a:t>
                </a:r>
              </a:p>
            </p:txBody>
          </p:sp>
        </p:grpSp>
        <p:sp>
          <p:nvSpPr>
            <p:cNvPr id="46" name="45 CuadroTexto"/>
            <p:cNvSpPr txBox="1"/>
            <p:nvPr/>
          </p:nvSpPr>
          <p:spPr>
            <a:xfrm>
              <a:off x="6121401" y="3175057"/>
              <a:ext cx="1500189" cy="308321"/>
            </a:xfrm>
            <a:prstGeom prst="rect">
              <a:avLst/>
            </a:prstGeom>
            <a:noFill/>
            <a:effectLst>
              <a:outerShdw blurRad="50800" dist="38100" dir="2700000" algn="tl" rotWithShape="0">
                <a:prstClr val="black">
                  <a:alpha val="40000"/>
                </a:prstClr>
              </a:outerShdw>
            </a:effectLst>
          </p:spPr>
          <p:txBody>
            <a:bodyPr>
              <a:spAutoFit/>
            </a:bodyPr>
            <a:lstStyle/>
            <a:p>
              <a:pPr algn="ctr">
                <a:defRPr/>
              </a:pPr>
              <a:r>
                <a:rPr lang="es-ES_tradnl" sz="1400" dirty="0">
                  <a:solidFill>
                    <a:schemeClr val="bg1"/>
                  </a:solidFill>
                  <a:latin typeface="Berlin Sans FB" pitchFamily="34" charset="0"/>
                </a:rPr>
                <a:t>Ejecución</a:t>
              </a:r>
            </a:p>
          </p:txBody>
        </p:sp>
      </p:grpSp>
      <p:grpSp>
        <p:nvGrpSpPr>
          <p:cNvPr id="10256" name="57 Grupo"/>
          <p:cNvGrpSpPr>
            <a:grpSpLocks/>
          </p:cNvGrpSpPr>
          <p:nvPr/>
        </p:nvGrpSpPr>
        <p:grpSpPr bwMode="auto">
          <a:xfrm rot="658253">
            <a:off x="4660900" y="4922838"/>
            <a:ext cx="2978150" cy="466725"/>
            <a:chOff x="4643439" y="3124200"/>
            <a:chExt cx="2978151" cy="467250"/>
          </a:xfrm>
        </p:grpSpPr>
        <p:grpSp>
          <p:nvGrpSpPr>
            <p:cNvPr id="10257" name="92 Grupo"/>
            <p:cNvGrpSpPr>
              <a:grpSpLocks/>
            </p:cNvGrpSpPr>
            <p:nvPr/>
          </p:nvGrpSpPr>
          <p:grpSpPr bwMode="auto">
            <a:xfrm>
              <a:off x="4643439" y="3124200"/>
              <a:ext cx="2786081" cy="467250"/>
              <a:chOff x="5000627" y="3480864"/>
              <a:chExt cx="3857653" cy="591078"/>
            </a:xfrm>
          </p:grpSpPr>
          <p:sp>
            <p:nvSpPr>
              <p:cNvPr id="61" name="60 Flecha a la derecha con muesca"/>
              <p:cNvSpPr/>
              <p:nvPr/>
            </p:nvSpPr>
            <p:spPr bwMode="auto">
              <a:xfrm>
                <a:off x="5000627" y="3480864"/>
                <a:ext cx="3857653" cy="571504"/>
              </a:xfrm>
              <a:prstGeom prst="notchedRightArrow">
                <a:avLst/>
              </a:prstGeom>
              <a:gradFill>
                <a:gsLst>
                  <a:gs pos="0">
                    <a:srgbClr val="03D4A8"/>
                  </a:gs>
                  <a:gs pos="25000">
                    <a:srgbClr val="21D6E0"/>
                  </a:gs>
                  <a:gs pos="75000">
                    <a:srgbClr val="0087E6"/>
                  </a:gs>
                  <a:gs pos="100000">
                    <a:srgbClr val="005CBF"/>
                  </a:gs>
                </a:gsLst>
                <a:lin ang="10800000" scaled="0"/>
              </a:gradFill>
              <a:ln w="9525" cap="flat" cmpd="sng" algn="ctr">
                <a:gradFill flip="none" rotWithShape="1">
                  <a:gsLst>
                    <a:gs pos="0">
                      <a:srgbClr val="5E9EFF"/>
                    </a:gs>
                    <a:gs pos="39999">
                      <a:srgbClr val="85C2FF"/>
                    </a:gs>
                    <a:gs pos="70000">
                      <a:srgbClr val="C4D6EB"/>
                    </a:gs>
                    <a:gs pos="100000">
                      <a:srgbClr val="FFEBFA"/>
                    </a:gs>
                  </a:gsLst>
                  <a:lin ang="10800000" scaled="1"/>
                  <a:tileRect/>
                </a:gradFill>
                <a:prstDash val="solid"/>
                <a:round/>
                <a:headEnd type="none" w="med" len="med"/>
                <a:tailEnd type="none" w="med" len="med"/>
              </a:ln>
              <a:effectLst/>
            </p:spPr>
            <p:txBody>
              <a:bodyPr/>
              <a:lstStyle/>
              <a:p>
                <a:pPr defTabSz="957263">
                  <a:defRPr/>
                </a:pPr>
                <a:endParaRPr lang="es-ES_tradnl"/>
              </a:p>
            </p:txBody>
          </p:sp>
          <p:sp>
            <p:nvSpPr>
              <p:cNvPr id="62" name="61 Rectángulo redondeado"/>
              <p:cNvSpPr/>
              <p:nvPr/>
            </p:nvSpPr>
            <p:spPr bwMode="auto">
              <a:xfrm>
                <a:off x="5357818" y="3500438"/>
                <a:ext cx="2071702" cy="571504"/>
              </a:xfrm>
              <a:prstGeom prst="roundRect">
                <a:avLst/>
              </a:prstGeom>
              <a:solidFill>
                <a:schemeClr val="accent1">
                  <a:lumMod val="20000"/>
                  <a:lumOff val="80000"/>
                  <a:alpha val="73000"/>
                </a:schemeClr>
              </a:solidFill>
              <a:ln w="9525" cap="flat" cmpd="thickThin" algn="ctr">
                <a:solidFill>
                  <a:schemeClr val="tx1"/>
                </a:solidFill>
                <a:prstDash val="solid"/>
                <a:round/>
                <a:headEnd type="none" w="med" len="med"/>
                <a:tailEnd type="none" w="med" len="med"/>
              </a:ln>
              <a:effectLst>
                <a:outerShdw blurRad="152400" dist="88900" dir="2700000" algn="tl" rotWithShape="0">
                  <a:prstClr val="black">
                    <a:alpha val="40000"/>
                  </a:prstClr>
                </a:outerShdw>
              </a:effectLst>
              <a:scene3d>
                <a:camera prst="orthographicFront"/>
                <a:lightRig rig="threePt" dir="t"/>
              </a:scene3d>
              <a:sp3d/>
            </p:spPr>
            <p:txBody>
              <a:bodyPr/>
              <a:lstStyle/>
              <a:p>
                <a:pPr defTabSz="957263">
                  <a:defRPr/>
                </a:pPr>
                <a:endParaRPr lang="es-ES_tradnl"/>
              </a:p>
            </p:txBody>
          </p:sp>
          <p:sp>
            <p:nvSpPr>
              <p:cNvPr id="10265" name="62 CuadroTexto"/>
              <p:cNvSpPr txBox="1">
                <a:spLocks noChangeArrowheads="1"/>
              </p:cNvSpPr>
              <p:nvPr/>
            </p:nvSpPr>
            <p:spPr bwMode="auto">
              <a:xfrm>
                <a:off x="5188367" y="3562838"/>
                <a:ext cx="2311861" cy="428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algn="ctr" eaLnBrk="1" hangingPunct="1"/>
                <a:r>
                  <a:rPr lang="es-ES_tradnl" sz="1600" b="1"/>
                  <a:t>JVM  PDA</a:t>
                </a:r>
              </a:p>
            </p:txBody>
          </p:sp>
        </p:grpSp>
        <p:sp>
          <p:nvSpPr>
            <p:cNvPr id="60" name="59 CuadroTexto"/>
            <p:cNvSpPr txBox="1"/>
            <p:nvPr/>
          </p:nvSpPr>
          <p:spPr>
            <a:xfrm>
              <a:off x="6117833" y="3172644"/>
              <a:ext cx="1500189" cy="308321"/>
            </a:xfrm>
            <a:prstGeom prst="rect">
              <a:avLst/>
            </a:prstGeom>
            <a:noFill/>
            <a:effectLst>
              <a:outerShdw blurRad="50800" dist="38100" dir="2700000" algn="tl" rotWithShape="0">
                <a:prstClr val="black">
                  <a:alpha val="40000"/>
                </a:prstClr>
              </a:outerShdw>
            </a:effectLst>
          </p:spPr>
          <p:txBody>
            <a:bodyPr>
              <a:spAutoFit/>
            </a:bodyPr>
            <a:lstStyle/>
            <a:p>
              <a:pPr algn="ctr">
                <a:defRPr/>
              </a:pPr>
              <a:r>
                <a:rPr lang="es-ES_tradnl" sz="1400" dirty="0">
                  <a:solidFill>
                    <a:schemeClr val="bg1"/>
                  </a:solidFill>
                  <a:latin typeface="Berlin Sans FB" pitchFamily="34" charset="0"/>
                </a:rPr>
                <a:t>Ejecución</a:t>
              </a:r>
            </a:p>
          </p:txBody>
        </p:sp>
      </p:grpSp>
    </p:spTree>
    <p:extLst>
      <p:ext uri="{BB962C8B-B14F-4D97-AF65-F5344CB8AC3E}">
        <p14:creationId xmlns:p14="http://schemas.microsoft.com/office/powerpoint/2010/main" val="9273034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9B64C-EEA9-B674-4E26-42019F8A23E5}"/>
              </a:ext>
            </a:extLst>
          </p:cNvPr>
          <p:cNvSpPr>
            <a:spLocks noGrp="1"/>
          </p:cNvSpPr>
          <p:nvPr>
            <p:ph type="title"/>
          </p:nvPr>
        </p:nvSpPr>
        <p:spPr/>
        <p:txBody>
          <a:bodyPr/>
          <a:lstStyle/>
          <a:p>
            <a:r>
              <a:rPr lang="es-ES" dirty="0"/>
              <a:t>Herramientas de Java</a:t>
            </a:r>
          </a:p>
        </p:txBody>
      </p:sp>
      <p:sp>
        <p:nvSpPr>
          <p:cNvPr id="3" name="Marcador de contenido 2">
            <a:extLst>
              <a:ext uri="{FF2B5EF4-FFF2-40B4-BE49-F238E27FC236}">
                <a16:creationId xmlns:a16="http://schemas.microsoft.com/office/drawing/2014/main" id="{B1DFCB8B-8EF5-6BC7-1FF5-334CBCA7A4BA}"/>
              </a:ext>
            </a:extLst>
          </p:cNvPr>
          <p:cNvSpPr>
            <a:spLocks noGrp="1"/>
          </p:cNvSpPr>
          <p:nvPr>
            <p:ph idx="1"/>
          </p:nvPr>
        </p:nvSpPr>
        <p:spPr/>
        <p:txBody>
          <a:bodyPr/>
          <a:lstStyle/>
          <a:p>
            <a:pPr algn="l"/>
            <a:r>
              <a:rPr lang="es-ES" sz="1600" b="1" i="0" dirty="0">
                <a:solidFill>
                  <a:srgbClr val="272626"/>
                </a:solidFill>
                <a:effectLst/>
                <a:latin typeface="Arial" panose="020B0604020202020204" pitchFamily="34" charset="0"/>
              </a:rPr>
              <a:t>JDK (Java </a:t>
            </a:r>
            <a:r>
              <a:rPr lang="es-ES" sz="1600" b="1" i="0" dirty="0" err="1">
                <a:solidFill>
                  <a:srgbClr val="272626"/>
                </a:solidFill>
                <a:effectLst/>
                <a:latin typeface="Arial" panose="020B0604020202020204" pitchFamily="34" charset="0"/>
              </a:rPr>
              <a:t>Development</a:t>
            </a:r>
            <a:r>
              <a:rPr lang="es-ES" sz="1600" b="1" i="0" dirty="0">
                <a:solidFill>
                  <a:srgbClr val="272626"/>
                </a:solidFill>
                <a:effectLst/>
                <a:latin typeface="Arial" panose="020B0604020202020204" pitchFamily="34" charset="0"/>
              </a:rPr>
              <a:t> Kit)</a:t>
            </a:r>
          </a:p>
          <a:p>
            <a:pPr algn="l"/>
            <a:r>
              <a:rPr lang="es-ES" sz="1600" b="0" i="0" dirty="0">
                <a:solidFill>
                  <a:srgbClr val="272626"/>
                </a:solidFill>
                <a:effectLst/>
                <a:latin typeface="Arial" panose="020B0604020202020204" pitchFamily="34" charset="0"/>
              </a:rPr>
              <a:t>Proporciona el entorno para desarrollar y ejecutar programas Java. Incluye dos cosas fundamentales:</a:t>
            </a:r>
          </a:p>
          <a:p>
            <a:pPr lvl="1">
              <a:buFont typeface="Arial" panose="020B0604020202020204" pitchFamily="34" charset="0"/>
              <a:buChar char="•"/>
            </a:pPr>
            <a:r>
              <a:rPr lang="es-ES" sz="1400" b="0" i="0" dirty="0">
                <a:solidFill>
                  <a:srgbClr val="272626"/>
                </a:solidFill>
                <a:effectLst/>
                <a:latin typeface="Arial" panose="020B0604020202020204" pitchFamily="34" charset="0"/>
              </a:rPr>
              <a:t>El JRE, para ejecutar programas Java.</a:t>
            </a:r>
          </a:p>
          <a:p>
            <a:pPr lvl="1">
              <a:buFont typeface="Arial" panose="020B0604020202020204" pitchFamily="34" charset="0"/>
              <a:buChar char="•"/>
            </a:pPr>
            <a:r>
              <a:rPr lang="es-ES" sz="1400" b="0" i="0" dirty="0">
                <a:solidFill>
                  <a:srgbClr val="272626"/>
                </a:solidFill>
                <a:effectLst/>
                <a:latin typeface="Arial" panose="020B0604020202020204" pitchFamily="34" charset="0"/>
              </a:rPr>
              <a:t>Las herramientas de desarrollo.</a:t>
            </a:r>
          </a:p>
          <a:p>
            <a:pPr algn="l"/>
            <a:r>
              <a:rPr lang="es-ES" sz="1600" b="1" i="0" dirty="0">
                <a:solidFill>
                  <a:srgbClr val="272626"/>
                </a:solidFill>
                <a:effectLst/>
                <a:latin typeface="Arial" panose="020B0604020202020204" pitchFamily="34" charset="0"/>
              </a:rPr>
              <a:t>JRE (Java </a:t>
            </a:r>
            <a:r>
              <a:rPr lang="es-ES" sz="1600" b="1" i="0" dirty="0" err="1">
                <a:solidFill>
                  <a:srgbClr val="272626"/>
                </a:solidFill>
                <a:effectLst/>
                <a:latin typeface="Arial" panose="020B0604020202020204" pitchFamily="34" charset="0"/>
              </a:rPr>
              <a:t>Runtime</a:t>
            </a:r>
            <a:r>
              <a:rPr lang="es-ES" sz="1600" b="1" i="0" dirty="0">
                <a:solidFill>
                  <a:srgbClr val="272626"/>
                </a:solidFill>
                <a:effectLst/>
                <a:latin typeface="Arial" panose="020B0604020202020204" pitchFamily="34" charset="0"/>
              </a:rPr>
              <a:t> </a:t>
            </a:r>
            <a:r>
              <a:rPr lang="es-ES" sz="1600" b="1" i="0" dirty="0" err="1">
                <a:solidFill>
                  <a:srgbClr val="272626"/>
                </a:solidFill>
                <a:effectLst/>
                <a:latin typeface="Arial" panose="020B0604020202020204" pitchFamily="34" charset="0"/>
              </a:rPr>
              <a:t>Environment</a:t>
            </a:r>
            <a:r>
              <a:rPr lang="es-ES" sz="1600" b="1" i="0" dirty="0">
                <a:solidFill>
                  <a:srgbClr val="272626"/>
                </a:solidFill>
                <a:effectLst/>
                <a:latin typeface="Arial" panose="020B0604020202020204" pitchFamily="34" charset="0"/>
              </a:rPr>
              <a:t>)</a:t>
            </a:r>
          </a:p>
          <a:p>
            <a:pPr algn="l"/>
            <a:r>
              <a:rPr lang="es-ES" sz="1600" b="0" i="0" dirty="0">
                <a:solidFill>
                  <a:srgbClr val="272626"/>
                </a:solidFill>
                <a:effectLst/>
                <a:latin typeface="Arial" panose="020B0604020202020204" pitchFamily="34" charset="0"/>
              </a:rPr>
              <a:t>Es un paquete de instalación que provee un entorno para ejecutar programas Java pero no para desarrollarlos. Solo se usa para aquellos que sean usuarios finales de tus programas, o servidores donde tenga que ejecutar una aplicación Java.</a:t>
            </a:r>
          </a:p>
          <a:p>
            <a:pPr algn="l"/>
            <a:r>
              <a:rPr lang="es-ES" sz="1600" b="0" i="0" dirty="0">
                <a:solidFill>
                  <a:srgbClr val="272626"/>
                </a:solidFill>
                <a:effectLst/>
                <a:latin typeface="Arial" panose="020B0604020202020204" pitchFamily="34" charset="0"/>
              </a:rPr>
              <a:t>Componentes del JRE:</a:t>
            </a:r>
          </a:p>
          <a:p>
            <a:pPr lvl="1">
              <a:buFont typeface="Arial" panose="020B0604020202020204" pitchFamily="34" charset="0"/>
              <a:buChar char="•"/>
            </a:pPr>
            <a:r>
              <a:rPr lang="es-ES" sz="1400" b="0" i="0" dirty="0">
                <a:solidFill>
                  <a:srgbClr val="272626"/>
                </a:solidFill>
                <a:effectLst/>
                <a:latin typeface="Arial" panose="020B0604020202020204" pitchFamily="34" charset="0"/>
              </a:rPr>
              <a:t>Tecnologías de despliegue: Java-plugin, Java web </a:t>
            </a:r>
            <a:r>
              <a:rPr lang="es-ES" sz="1400" b="0" i="0" dirty="0" err="1">
                <a:solidFill>
                  <a:srgbClr val="272626"/>
                </a:solidFill>
                <a:effectLst/>
                <a:latin typeface="Arial" panose="020B0604020202020204" pitchFamily="34" charset="0"/>
              </a:rPr>
              <a:t>start</a:t>
            </a:r>
            <a:r>
              <a:rPr lang="es-ES" sz="1400" b="0" i="0" dirty="0">
                <a:solidFill>
                  <a:srgbClr val="272626"/>
                </a:solidFill>
                <a:effectLst/>
                <a:latin typeface="Arial" panose="020B0604020202020204" pitchFamily="34" charset="0"/>
              </a:rPr>
              <a:t>, etc.</a:t>
            </a:r>
          </a:p>
          <a:p>
            <a:pPr lvl="1">
              <a:buFont typeface="Arial" panose="020B0604020202020204" pitchFamily="34" charset="0"/>
              <a:buChar char="•"/>
            </a:pPr>
            <a:r>
              <a:rPr lang="es-ES" sz="1400" b="0" i="0" dirty="0">
                <a:solidFill>
                  <a:srgbClr val="272626"/>
                </a:solidFill>
                <a:effectLst/>
                <a:latin typeface="Arial" panose="020B0604020202020204" pitchFamily="34" charset="0"/>
              </a:rPr>
              <a:t>Herramientas de interfaz de usuario: AWT, Swing, etc.</a:t>
            </a:r>
          </a:p>
          <a:p>
            <a:pPr lvl="1">
              <a:buFont typeface="Arial" panose="020B0604020202020204" pitchFamily="34" charset="0"/>
              <a:buChar char="•"/>
            </a:pPr>
            <a:r>
              <a:rPr lang="es-ES" sz="1400" b="0" i="0" dirty="0">
                <a:solidFill>
                  <a:srgbClr val="272626"/>
                </a:solidFill>
                <a:effectLst/>
                <a:latin typeface="Arial" panose="020B0604020202020204" pitchFamily="34" charset="0"/>
              </a:rPr>
              <a:t>Librerías de integración: JNDI, RMI, JDBC, IDL, etc.</a:t>
            </a:r>
          </a:p>
          <a:p>
            <a:pPr lvl="1">
              <a:buFont typeface="Arial" panose="020B0604020202020204" pitchFamily="34" charset="0"/>
              <a:buChar char="•"/>
            </a:pPr>
            <a:r>
              <a:rPr lang="es-ES" sz="1400" b="0" i="0" dirty="0">
                <a:solidFill>
                  <a:srgbClr val="272626"/>
                </a:solidFill>
                <a:effectLst/>
                <a:latin typeface="Arial" panose="020B0604020202020204" pitchFamily="34" charset="0"/>
              </a:rPr>
              <a:t>Otras librerías base: </a:t>
            </a:r>
            <a:r>
              <a:rPr lang="es-ES" sz="1400" b="0" i="0" dirty="0" err="1">
                <a:solidFill>
                  <a:srgbClr val="272626"/>
                </a:solidFill>
                <a:effectLst/>
                <a:latin typeface="Arial" panose="020B0604020202020204" pitchFamily="34" charset="0"/>
              </a:rPr>
              <a:t>Beans</a:t>
            </a:r>
            <a:r>
              <a:rPr lang="es-ES" sz="1400" b="0" i="0" dirty="0">
                <a:solidFill>
                  <a:srgbClr val="272626"/>
                </a:solidFill>
                <a:effectLst/>
                <a:latin typeface="Arial" panose="020B0604020202020204" pitchFamily="34" charset="0"/>
              </a:rPr>
              <a:t>, JMX, JNI, etc.</a:t>
            </a:r>
          </a:p>
          <a:p>
            <a:pPr lvl="1">
              <a:buFont typeface="Arial" panose="020B0604020202020204" pitchFamily="34" charset="0"/>
              <a:buChar char="•"/>
            </a:pPr>
            <a:r>
              <a:rPr lang="es-ES" sz="1400" b="0" i="0" dirty="0">
                <a:solidFill>
                  <a:srgbClr val="272626"/>
                </a:solidFill>
                <a:effectLst/>
                <a:latin typeface="Arial" panose="020B0604020202020204" pitchFamily="34" charset="0"/>
              </a:rPr>
              <a:t>Lang y librerías de utilidades: JAR, </a:t>
            </a:r>
            <a:r>
              <a:rPr lang="es-ES" sz="1400" b="0" i="0" dirty="0" err="1">
                <a:solidFill>
                  <a:srgbClr val="272626"/>
                </a:solidFill>
                <a:effectLst/>
                <a:latin typeface="Arial" panose="020B0604020202020204" pitchFamily="34" charset="0"/>
              </a:rPr>
              <a:t>Logging</a:t>
            </a:r>
            <a:r>
              <a:rPr lang="es-ES" sz="1400" b="0" i="0" dirty="0">
                <a:solidFill>
                  <a:srgbClr val="272626"/>
                </a:solidFill>
                <a:effectLst/>
                <a:latin typeface="Arial" panose="020B0604020202020204" pitchFamily="34" charset="0"/>
              </a:rPr>
              <a:t>, zip, </a:t>
            </a:r>
            <a:r>
              <a:rPr lang="es-ES" sz="1400" b="0" i="0" dirty="0" err="1">
                <a:solidFill>
                  <a:srgbClr val="272626"/>
                </a:solidFill>
                <a:effectLst/>
                <a:latin typeface="Arial" panose="020B0604020202020204" pitchFamily="34" charset="0"/>
              </a:rPr>
              <a:t>reflection</a:t>
            </a:r>
            <a:r>
              <a:rPr lang="es-ES" sz="1400" b="0" i="0" dirty="0">
                <a:solidFill>
                  <a:srgbClr val="272626"/>
                </a:solidFill>
                <a:effectLst/>
                <a:latin typeface="Arial" panose="020B0604020202020204" pitchFamily="34" charset="0"/>
              </a:rPr>
              <a:t>, etc.</a:t>
            </a:r>
          </a:p>
          <a:p>
            <a:pPr lvl="1">
              <a:buFont typeface="Arial" panose="020B0604020202020204" pitchFamily="34" charset="0"/>
              <a:buChar char="•"/>
            </a:pPr>
            <a:r>
              <a:rPr lang="es-ES" sz="1400" b="0" i="0" dirty="0">
                <a:solidFill>
                  <a:srgbClr val="272626"/>
                </a:solidFill>
                <a:effectLst/>
                <a:latin typeface="Arial" panose="020B0604020202020204" pitchFamily="34" charset="0"/>
              </a:rPr>
              <a:t>Java Virtual Machine.</a:t>
            </a:r>
          </a:p>
          <a:p>
            <a:pPr algn="l"/>
            <a:r>
              <a:rPr lang="es-ES" sz="1600" b="1" i="0" dirty="0">
                <a:solidFill>
                  <a:srgbClr val="272626"/>
                </a:solidFill>
                <a:effectLst/>
                <a:latin typeface="Arial" panose="020B0604020202020204" pitchFamily="34" charset="0"/>
              </a:rPr>
              <a:t>JVM (Java Virtual Machine)</a:t>
            </a:r>
          </a:p>
          <a:p>
            <a:pPr algn="l"/>
            <a:r>
              <a:rPr lang="es-ES" sz="1600" b="0" i="0" dirty="0">
                <a:solidFill>
                  <a:srgbClr val="272626"/>
                </a:solidFill>
                <a:effectLst/>
                <a:latin typeface="Arial" panose="020B0604020202020204" pitchFamily="34" charset="0"/>
              </a:rPr>
              <a:t>Es una parte fundamental del JRE y del JDK, está contenida en ambas. La JVM es la responsable de ejecutar el programa Java línea a línea, la JVM también es conocida como el intérprete.</a:t>
            </a:r>
          </a:p>
          <a:p>
            <a:endParaRPr lang="es-ES" dirty="0"/>
          </a:p>
        </p:txBody>
      </p:sp>
      <p:pic>
        <p:nvPicPr>
          <p:cNvPr id="1028" name="Picture 4">
            <a:extLst>
              <a:ext uri="{FF2B5EF4-FFF2-40B4-BE49-F238E27FC236}">
                <a16:creationId xmlns:a16="http://schemas.microsoft.com/office/drawing/2014/main" id="{7103E6D2-E139-35E3-DC46-31ED1BB83D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1993" y="1844824"/>
            <a:ext cx="6799312" cy="339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6734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A74C50-0E79-9F47-5D9B-0493BFAD4CDB}"/>
              </a:ext>
            </a:extLst>
          </p:cNvPr>
          <p:cNvSpPr>
            <a:spLocks noGrp="1"/>
          </p:cNvSpPr>
          <p:nvPr>
            <p:ph type="title"/>
          </p:nvPr>
        </p:nvSpPr>
        <p:spPr/>
        <p:txBody>
          <a:bodyPr/>
          <a:lstStyle/>
          <a:p>
            <a:r>
              <a:rPr lang="es-ES" dirty="0"/>
              <a:t>Distribuciones de Java</a:t>
            </a:r>
          </a:p>
        </p:txBody>
      </p:sp>
      <p:sp>
        <p:nvSpPr>
          <p:cNvPr id="3" name="Marcador de contenido 2">
            <a:extLst>
              <a:ext uri="{FF2B5EF4-FFF2-40B4-BE49-F238E27FC236}">
                <a16:creationId xmlns:a16="http://schemas.microsoft.com/office/drawing/2014/main" id="{6094959A-3FCB-8CAF-EAAE-92BDBFF03BE3}"/>
              </a:ext>
            </a:extLst>
          </p:cNvPr>
          <p:cNvSpPr>
            <a:spLocks noGrp="1"/>
          </p:cNvSpPr>
          <p:nvPr>
            <p:ph idx="1"/>
          </p:nvPr>
        </p:nvSpPr>
        <p:spPr/>
        <p:txBody>
          <a:bodyPr/>
          <a:lstStyle/>
          <a:p>
            <a:pPr algn="just"/>
            <a:r>
              <a:rPr lang="es-ES" b="0" i="0" dirty="0">
                <a:solidFill>
                  <a:srgbClr val="22262A"/>
                </a:solidFill>
                <a:effectLst/>
                <a:latin typeface="Roboto" panose="020F0502020204030204" pitchFamily="34" charset="0"/>
              </a:rPr>
              <a:t>Estas tres distribuciones son:</a:t>
            </a:r>
          </a:p>
          <a:p>
            <a:pPr algn="just"/>
            <a:r>
              <a:rPr lang="es-ES" b="1" i="0" dirty="0">
                <a:solidFill>
                  <a:srgbClr val="22262A"/>
                </a:solidFill>
                <a:effectLst/>
                <a:latin typeface="Roboto" panose="020F0502020204030204" pitchFamily="34" charset="0"/>
              </a:rPr>
              <a:t>J2SE o simplemente Java SE</a:t>
            </a:r>
            <a:r>
              <a:rPr lang="es-ES" b="0" i="0" dirty="0">
                <a:solidFill>
                  <a:srgbClr val="22262A"/>
                </a:solidFill>
                <a:effectLst/>
                <a:latin typeface="Roboto" panose="020F0502020204030204" pitchFamily="34" charset="0"/>
              </a:rPr>
              <a:t>: Java 2 Standard </a:t>
            </a:r>
            <a:r>
              <a:rPr lang="es-ES" b="0" i="0" dirty="0" err="1">
                <a:solidFill>
                  <a:srgbClr val="22262A"/>
                </a:solidFill>
                <a:effectLst/>
                <a:latin typeface="Roboto" panose="020F0502020204030204" pitchFamily="34" charset="0"/>
              </a:rPr>
              <a:t>Edition</a:t>
            </a:r>
            <a:r>
              <a:rPr lang="es-ES" b="0" i="0" dirty="0">
                <a:solidFill>
                  <a:srgbClr val="22262A"/>
                </a:solidFill>
                <a:effectLst/>
                <a:latin typeface="Roboto" panose="020F0502020204030204" pitchFamily="34" charset="0"/>
              </a:rPr>
              <a:t> o Java Standard </a:t>
            </a:r>
            <a:r>
              <a:rPr lang="es-ES" b="0" i="0" dirty="0" err="1">
                <a:solidFill>
                  <a:srgbClr val="22262A"/>
                </a:solidFill>
                <a:effectLst/>
                <a:latin typeface="Roboto" panose="020F0502020204030204" pitchFamily="34" charset="0"/>
              </a:rPr>
              <a:t>Edition</a:t>
            </a:r>
            <a:r>
              <a:rPr lang="es-ES" b="0" i="0" dirty="0">
                <a:solidFill>
                  <a:srgbClr val="22262A"/>
                </a:solidFill>
                <a:effectLst/>
                <a:latin typeface="Roboto" panose="020F0502020204030204" pitchFamily="34" charset="0"/>
              </a:rPr>
              <a:t>. Orientado al desarrollo de aplicaciones cliente / servidor. No incluye soporte a tecnologías para internet. Es la base para las otras distribuciones Java y es la plataforma que utilizaremos nosotros en este curso por ser la más utilizada.</a:t>
            </a:r>
          </a:p>
          <a:p>
            <a:pPr algn="just"/>
            <a:r>
              <a:rPr lang="es-ES" b="1" i="0" dirty="0">
                <a:solidFill>
                  <a:srgbClr val="22262A"/>
                </a:solidFill>
                <a:effectLst/>
                <a:latin typeface="Roboto" panose="020F0502020204030204" pitchFamily="34" charset="0"/>
              </a:rPr>
              <a:t>J2EE:</a:t>
            </a:r>
            <a:r>
              <a:rPr lang="es-ES" b="0" i="0" dirty="0">
                <a:solidFill>
                  <a:srgbClr val="22262A"/>
                </a:solidFill>
                <a:effectLst/>
                <a:latin typeface="Roboto" panose="020F0502020204030204" pitchFamily="34" charset="0"/>
              </a:rPr>
              <a:t> Java 2 Enterprise </a:t>
            </a:r>
            <a:r>
              <a:rPr lang="es-ES" b="0" i="0" dirty="0" err="1">
                <a:solidFill>
                  <a:srgbClr val="22262A"/>
                </a:solidFill>
                <a:effectLst/>
                <a:latin typeface="Roboto" panose="020F0502020204030204" pitchFamily="34" charset="0"/>
              </a:rPr>
              <a:t>Edition</a:t>
            </a:r>
            <a:r>
              <a:rPr lang="es-ES" b="0" i="0" dirty="0">
                <a:solidFill>
                  <a:srgbClr val="22262A"/>
                </a:solidFill>
                <a:effectLst/>
                <a:latin typeface="Roboto" panose="020F0502020204030204" pitchFamily="34" charset="0"/>
              </a:rPr>
              <a:t>. Orientado a empresas y a la integración entre sistemas. Incluye soporte a tecnologías para internet. Su base es J2SE.</a:t>
            </a:r>
          </a:p>
          <a:p>
            <a:pPr algn="just"/>
            <a:r>
              <a:rPr lang="es-ES" b="1" i="0" dirty="0">
                <a:solidFill>
                  <a:srgbClr val="22262A"/>
                </a:solidFill>
                <a:effectLst/>
                <a:latin typeface="Roboto" panose="020F0502020204030204" pitchFamily="34" charset="0"/>
              </a:rPr>
              <a:t>J2ME</a:t>
            </a:r>
            <a:r>
              <a:rPr lang="es-ES" b="0" i="0" dirty="0">
                <a:solidFill>
                  <a:srgbClr val="22262A"/>
                </a:solidFill>
                <a:effectLst/>
                <a:latin typeface="Roboto" panose="020F0502020204030204" pitchFamily="34" charset="0"/>
              </a:rPr>
              <a:t>: Java 2 Micro </a:t>
            </a:r>
            <a:r>
              <a:rPr lang="es-ES" b="0" i="0" dirty="0" err="1">
                <a:solidFill>
                  <a:srgbClr val="22262A"/>
                </a:solidFill>
                <a:effectLst/>
                <a:latin typeface="Roboto" panose="020F0502020204030204" pitchFamily="34" charset="0"/>
              </a:rPr>
              <a:t>Edition</a:t>
            </a:r>
            <a:r>
              <a:rPr lang="es-ES" b="0" i="0" dirty="0">
                <a:solidFill>
                  <a:srgbClr val="22262A"/>
                </a:solidFill>
                <a:effectLst/>
                <a:latin typeface="Roboto" panose="020F0502020204030204" pitchFamily="34" charset="0"/>
              </a:rPr>
              <a:t>. Orientado a pequeños dispositivos móviles (teléfonos, tabletas, etc.).</a:t>
            </a:r>
          </a:p>
          <a:p>
            <a:endParaRPr lang="es-ES" dirty="0"/>
          </a:p>
        </p:txBody>
      </p:sp>
    </p:spTree>
    <p:extLst>
      <p:ext uri="{BB962C8B-B14F-4D97-AF65-F5344CB8AC3E}">
        <p14:creationId xmlns:p14="http://schemas.microsoft.com/office/powerpoint/2010/main" val="41028956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Instalación Herramientas</a:t>
            </a:r>
          </a:p>
        </p:txBody>
      </p:sp>
      <p:pic>
        <p:nvPicPr>
          <p:cNvPr id="1026" name="Picture 2" descr="The Arrival of Java 14! | Oracle Java Platform Group, Product Management  Blo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9672" y="2636912"/>
            <a:ext cx="2040161" cy="133800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DG Cloud Español: GAE/J three: Instalando Eclipse Ne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8024" y="2780928"/>
            <a:ext cx="2534922" cy="1349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93748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42 Rectángulo"/>
          <p:cNvSpPr/>
          <p:nvPr/>
        </p:nvSpPr>
        <p:spPr bwMode="auto">
          <a:xfrm>
            <a:off x="693249" y="1596761"/>
            <a:ext cx="5102325" cy="4568543"/>
          </a:xfrm>
          <a:prstGeom prst="rect">
            <a:avLst/>
          </a:prstGeom>
          <a:gradFill flip="none" rotWithShape="1">
            <a:gsLst>
              <a:gs pos="0">
                <a:srgbClr val="FFFFCC"/>
              </a:gs>
              <a:gs pos="64999">
                <a:srgbClr val="FFFFCC"/>
              </a:gs>
              <a:gs pos="100000">
                <a:srgbClr val="FFFF00"/>
              </a:gs>
            </a:gsLst>
            <a:lin ang="5400000" scaled="0"/>
            <a:tileRect l="-100000" t="-100000"/>
          </a:gradFill>
          <a:ln w="28575" cap="flat" cmpd="sng" algn="ctr">
            <a:solidFill>
              <a:srgbClr val="FF6600"/>
            </a:solidFill>
            <a:prstDash val="solid"/>
            <a:round/>
            <a:headEnd type="none" w="med" len="med"/>
            <a:tailEnd type="none" w="med" len="med"/>
          </a:ln>
          <a:effectLst/>
        </p:spPr>
        <p:style>
          <a:lnRef idx="0">
            <a:scrgbClr r="0" g="0" b="0"/>
          </a:lnRef>
          <a:fillRef idx="1002">
            <a:schemeClr val="dk1"/>
          </a:fillRef>
          <a:effectRef idx="0">
            <a:scrgbClr r="0" g="0" b="0"/>
          </a:effectRef>
          <a:fontRef idx="major"/>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0" name="59 Rectángulo"/>
          <p:cNvSpPr/>
          <p:nvPr/>
        </p:nvSpPr>
        <p:spPr bwMode="auto">
          <a:xfrm>
            <a:off x="693249" y="1596762"/>
            <a:ext cx="5102325" cy="2264286"/>
          </a:xfrm>
          <a:prstGeom prst="rect">
            <a:avLst/>
          </a:prstGeom>
          <a:gradFill flip="none" rotWithShape="1">
            <a:gsLst>
              <a:gs pos="0">
                <a:srgbClr val="FFFFCC"/>
              </a:gs>
              <a:gs pos="64999">
                <a:srgbClr val="FFFFCC"/>
              </a:gs>
              <a:gs pos="100000">
                <a:srgbClr val="FFFF00"/>
              </a:gs>
            </a:gsLst>
            <a:lin ang="5400000" scaled="0"/>
            <a:tileRect l="-100000" t="-100000"/>
          </a:gradFill>
          <a:ln w="28575" cap="flat" cmpd="sng" algn="ctr">
            <a:solidFill>
              <a:srgbClr val="FF6600"/>
            </a:solidFill>
            <a:prstDash val="solid"/>
            <a:round/>
            <a:headEnd type="none" w="med" len="med"/>
            <a:tailEnd type="none" w="med" len="med"/>
          </a:ln>
          <a:effectLst/>
        </p:spPr>
        <p:style>
          <a:lnRef idx="0">
            <a:scrgbClr r="0" g="0" b="0"/>
          </a:lnRef>
          <a:fillRef idx="1002">
            <a:schemeClr val="dk1"/>
          </a:fillRef>
          <a:effectRef idx="0">
            <a:scrgbClr r="0" g="0" b="0"/>
          </a:effectRef>
          <a:fontRef idx="major"/>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nvGrpSpPr>
          <p:cNvPr id="61" name="60 Grupo"/>
          <p:cNvGrpSpPr/>
          <p:nvPr/>
        </p:nvGrpSpPr>
        <p:grpSpPr>
          <a:xfrm>
            <a:off x="1619672" y="1196752"/>
            <a:ext cx="4176464" cy="400010"/>
            <a:chOff x="1619672" y="1196752"/>
            <a:chExt cx="4176464" cy="400010"/>
          </a:xfrm>
        </p:grpSpPr>
        <p:sp>
          <p:nvSpPr>
            <p:cNvPr id="44" name="43 Trapecio"/>
            <p:cNvSpPr/>
            <p:nvPr/>
          </p:nvSpPr>
          <p:spPr bwMode="auto">
            <a:xfrm>
              <a:off x="1619672" y="1196752"/>
              <a:ext cx="4176464" cy="400010"/>
            </a:xfrm>
            <a:prstGeom prst="trapezoid">
              <a:avLst/>
            </a:prstGeom>
            <a:gradFill>
              <a:gsLst>
                <a:gs pos="0">
                  <a:srgbClr val="FFFFCC"/>
                </a:gs>
                <a:gs pos="45000">
                  <a:srgbClr val="FFFFCC"/>
                </a:gs>
                <a:gs pos="100000">
                  <a:srgbClr val="FFFF00"/>
                </a:gs>
              </a:gsLst>
              <a:lin ang="4200000" scaled="0"/>
            </a:gradFill>
            <a:ln w="28575"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2" name="41 Rectángulo"/>
            <p:cNvSpPr/>
            <p:nvPr/>
          </p:nvSpPr>
          <p:spPr>
            <a:xfrm>
              <a:off x="1788817" y="1212041"/>
              <a:ext cx="3719287" cy="338554"/>
            </a:xfrm>
            <a:prstGeom prst="rect">
              <a:avLst/>
            </a:prstGeom>
          </p:spPr>
          <p:txBody>
            <a:bodyPr wrap="square">
              <a:spAutoFit/>
            </a:bodyPr>
            <a:lstStyle/>
            <a:p>
              <a:pPr algn="r"/>
              <a:r>
                <a:rPr lang="es-ES" sz="1600" b="1" dirty="0">
                  <a:solidFill>
                    <a:srgbClr val="FF6600"/>
                  </a:solidFill>
                </a:rPr>
                <a:t>C:\Usuarios\...\Desktop\</a:t>
              </a:r>
              <a:r>
                <a:rPr lang="es-ES" sz="1600" b="1" dirty="0">
                  <a:solidFill>
                    <a:srgbClr val="FF0000"/>
                  </a:solidFill>
                </a:rPr>
                <a:t>Mi Programa</a:t>
              </a:r>
              <a:endParaRPr lang="es-ES" sz="1600" dirty="0">
                <a:solidFill>
                  <a:srgbClr val="FF0000"/>
                </a:solidFill>
              </a:endParaRPr>
            </a:p>
          </p:txBody>
        </p:sp>
      </p:grpSp>
      <p:grpSp>
        <p:nvGrpSpPr>
          <p:cNvPr id="6" name="5 Grupo"/>
          <p:cNvGrpSpPr/>
          <p:nvPr/>
        </p:nvGrpSpPr>
        <p:grpSpPr>
          <a:xfrm>
            <a:off x="971600" y="1844824"/>
            <a:ext cx="1512168" cy="1709501"/>
            <a:chOff x="285720" y="1785926"/>
            <a:chExt cx="2643206" cy="2928958"/>
          </a:xfrm>
        </p:grpSpPr>
        <p:sp>
          <p:nvSpPr>
            <p:cNvPr id="7" name="6 Esquina doblada"/>
            <p:cNvSpPr/>
            <p:nvPr/>
          </p:nvSpPr>
          <p:spPr bwMode="auto">
            <a:xfrm>
              <a:off x="285720" y="1785926"/>
              <a:ext cx="2643206" cy="2928958"/>
            </a:xfrm>
            <a:prstGeom prst="foldedCorner">
              <a:avLst/>
            </a:prstGeom>
            <a:solidFill>
              <a:srgbClr val="DFFD73"/>
            </a:solidFill>
            <a:ln w="952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_tradnl" sz="1900" b="0" i="0" u="none" strike="noStrike" cap="none" normalizeH="0" baseline="0">
                <a:ln>
                  <a:noFill/>
                </a:ln>
                <a:solidFill>
                  <a:schemeClr val="tx1"/>
                </a:solidFill>
                <a:effectLst/>
                <a:latin typeface="Arial" charset="0"/>
              </a:endParaRPr>
            </a:p>
          </p:txBody>
        </p:sp>
        <p:sp>
          <p:nvSpPr>
            <p:cNvPr id="8" name="7 CuadroTexto"/>
            <p:cNvSpPr txBox="1"/>
            <p:nvPr/>
          </p:nvSpPr>
          <p:spPr>
            <a:xfrm>
              <a:off x="285720" y="1857364"/>
              <a:ext cx="2643204" cy="843723"/>
            </a:xfrm>
            <a:prstGeom prst="rect">
              <a:avLst/>
            </a:prstGeom>
            <a:noFill/>
          </p:spPr>
          <p:txBody>
            <a:bodyPr wrap="square" rtlCol="0">
              <a:spAutoFit/>
            </a:bodyPr>
            <a:lstStyle/>
            <a:p>
              <a:pPr algn="ctr"/>
              <a:r>
                <a:rPr lang="es-ES_tradnl" sz="1300" b="1" dirty="0">
                  <a:solidFill>
                    <a:srgbClr val="0070C0"/>
                  </a:solidFill>
                </a:rPr>
                <a:t>Bienvenido</a:t>
              </a:r>
            </a:p>
            <a:p>
              <a:pPr algn="ctr"/>
              <a:r>
                <a:rPr lang="es-ES_tradnl" sz="1300" b="1" dirty="0">
                  <a:solidFill>
                    <a:srgbClr val="0070C0"/>
                  </a:solidFill>
                </a:rPr>
                <a:t>.java</a:t>
              </a:r>
            </a:p>
          </p:txBody>
        </p:sp>
      </p:grpSp>
      <p:grpSp>
        <p:nvGrpSpPr>
          <p:cNvPr id="13" name="12 Grupo"/>
          <p:cNvGrpSpPr/>
          <p:nvPr/>
        </p:nvGrpSpPr>
        <p:grpSpPr>
          <a:xfrm>
            <a:off x="4067944" y="1844824"/>
            <a:ext cx="1512168" cy="1709501"/>
            <a:chOff x="285720" y="1785926"/>
            <a:chExt cx="2643206" cy="2928958"/>
          </a:xfrm>
          <a:solidFill>
            <a:srgbClr val="DEBDFF"/>
          </a:solidFill>
        </p:grpSpPr>
        <p:sp>
          <p:nvSpPr>
            <p:cNvPr id="14" name="13 Esquina doblada"/>
            <p:cNvSpPr/>
            <p:nvPr/>
          </p:nvSpPr>
          <p:spPr bwMode="auto">
            <a:xfrm>
              <a:off x="285720" y="1785926"/>
              <a:ext cx="2643206" cy="2928958"/>
            </a:xfrm>
            <a:prstGeom prst="foldedCorner">
              <a:avLst/>
            </a:prstGeom>
            <a:grpFill/>
            <a:ln w="952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_tradnl" sz="1900" b="0" i="0" u="none" strike="noStrike" cap="none" normalizeH="0" baseline="0">
                <a:ln>
                  <a:noFill/>
                </a:ln>
                <a:solidFill>
                  <a:schemeClr val="tx1"/>
                </a:solidFill>
                <a:effectLst/>
                <a:latin typeface="Arial" charset="0"/>
              </a:endParaRPr>
            </a:p>
          </p:txBody>
        </p:sp>
        <p:sp>
          <p:nvSpPr>
            <p:cNvPr id="15" name="14 CuadroTexto"/>
            <p:cNvSpPr txBox="1"/>
            <p:nvPr/>
          </p:nvSpPr>
          <p:spPr>
            <a:xfrm>
              <a:off x="285720" y="1857364"/>
              <a:ext cx="2643204" cy="843723"/>
            </a:xfrm>
            <a:prstGeom prst="rect">
              <a:avLst/>
            </a:prstGeom>
            <a:grpFill/>
          </p:spPr>
          <p:txBody>
            <a:bodyPr wrap="square" rtlCol="0">
              <a:spAutoFit/>
            </a:bodyPr>
            <a:lstStyle/>
            <a:p>
              <a:pPr algn="ctr"/>
              <a:r>
                <a:rPr lang="es-ES_tradnl" sz="1300" b="1" dirty="0">
                  <a:solidFill>
                    <a:srgbClr val="0070C0"/>
                  </a:solidFill>
                </a:rPr>
                <a:t>Bienvenido</a:t>
              </a:r>
            </a:p>
            <a:p>
              <a:pPr algn="ctr"/>
              <a:r>
                <a:rPr lang="es-ES_tradnl" sz="1300" b="1" dirty="0">
                  <a:solidFill>
                    <a:srgbClr val="0070C0"/>
                  </a:solidFill>
                </a:rPr>
                <a:t>.</a:t>
              </a:r>
              <a:r>
                <a:rPr lang="es-ES_tradnl" sz="1300" b="1" dirty="0" err="1">
                  <a:solidFill>
                    <a:srgbClr val="0070C0"/>
                  </a:solidFill>
                </a:rPr>
                <a:t>class</a:t>
              </a:r>
              <a:endParaRPr lang="es-ES_tradnl" sz="1300" b="1" dirty="0">
                <a:solidFill>
                  <a:srgbClr val="0070C0"/>
                </a:solidFill>
              </a:endParaRPr>
            </a:p>
          </p:txBody>
        </p:sp>
      </p:grpSp>
      <p:grpSp>
        <p:nvGrpSpPr>
          <p:cNvPr id="38" name="37 Grupo"/>
          <p:cNvGrpSpPr/>
          <p:nvPr/>
        </p:nvGrpSpPr>
        <p:grpSpPr>
          <a:xfrm>
            <a:off x="2658235" y="2378962"/>
            <a:ext cx="1337701" cy="434029"/>
            <a:chOff x="2877715" y="4459898"/>
            <a:chExt cx="1337701" cy="434029"/>
          </a:xfrm>
        </p:grpSpPr>
        <p:sp>
          <p:nvSpPr>
            <p:cNvPr id="31" name="30 Flecha a la derecha con bandas"/>
            <p:cNvSpPr/>
            <p:nvPr/>
          </p:nvSpPr>
          <p:spPr bwMode="auto">
            <a:xfrm>
              <a:off x="2877715" y="4459898"/>
              <a:ext cx="1337701" cy="434029"/>
            </a:xfrm>
            <a:prstGeom prst="stripedRightArrow">
              <a:avLst/>
            </a:prstGeom>
            <a:solidFill>
              <a:srgbClr val="FF81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_tradnl" sz="1900" b="0" i="0" u="none" strike="noStrike" cap="none" normalizeH="0" baseline="0">
                <a:ln>
                  <a:noFill/>
                </a:ln>
                <a:solidFill>
                  <a:schemeClr val="tx1"/>
                </a:solidFill>
                <a:effectLst/>
                <a:latin typeface="Arial" charset="0"/>
              </a:endParaRPr>
            </a:p>
          </p:txBody>
        </p:sp>
        <p:sp>
          <p:nvSpPr>
            <p:cNvPr id="32" name="31 Rectángulo"/>
            <p:cNvSpPr/>
            <p:nvPr/>
          </p:nvSpPr>
          <p:spPr>
            <a:xfrm>
              <a:off x="2972723" y="4517729"/>
              <a:ext cx="1096774" cy="313932"/>
            </a:xfrm>
            <a:prstGeom prst="rect">
              <a:avLst/>
            </a:prstGeom>
          </p:spPr>
          <p:txBody>
            <a:bodyPr wrap="none">
              <a:spAutoFit/>
            </a:bodyPr>
            <a:lstStyle/>
            <a:p>
              <a:pPr lvl="0" algn="ctr" defTabSz="622300">
                <a:lnSpc>
                  <a:spcPct val="90000"/>
                </a:lnSpc>
                <a:spcAft>
                  <a:spcPct val="35000"/>
                </a:spcAft>
              </a:pPr>
              <a:r>
                <a:rPr lang="es-ES_tradnl" sz="1600" b="1" dirty="0">
                  <a:solidFill>
                    <a:schemeClr val="bg1"/>
                  </a:solidFill>
                </a:rPr>
                <a:t>javac.exe</a:t>
              </a:r>
            </a:p>
          </p:txBody>
        </p:sp>
      </p:grpSp>
      <p:grpSp>
        <p:nvGrpSpPr>
          <p:cNvPr id="33" name="32 Grupo"/>
          <p:cNvGrpSpPr/>
          <p:nvPr/>
        </p:nvGrpSpPr>
        <p:grpSpPr>
          <a:xfrm>
            <a:off x="7329054" y="2123090"/>
            <a:ext cx="1275394" cy="1229167"/>
            <a:chOff x="5580112" y="4987380"/>
            <a:chExt cx="2502024" cy="1512564"/>
          </a:xfrm>
        </p:grpSpPr>
        <p:sp>
          <p:nvSpPr>
            <p:cNvPr id="34" name="33 Rectángulo"/>
            <p:cNvSpPr/>
            <p:nvPr/>
          </p:nvSpPr>
          <p:spPr bwMode="auto">
            <a:xfrm>
              <a:off x="5713450" y="5114409"/>
              <a:ext cx="2216410" cy="976884"/>
            </a:xfrm>
            <a:prstGeom prst="rect">
              <a:avLst/>
            </a:prstGeom>
            <a:solidFill>
              <a:srgbClr val="080808"/>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5" name="34 Marco"/>
            <p:cNvSpPr/>
            <p:nvPr/>
          </p:nvSpPr>
          <p:spPr bwMode="auto">
            <a:xfrm>
              <a:off x="5580112" y="4987380"/>
              <a:ext cx="2502023" cy="1268984"/>
            </a:xfrm>
            <a:prstGeom prst="fram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6" name="35 Rectángulo"/>
            <p:cNvSpPr/>
            <p:nvPr/>
          </p:nvSpPr>
          <p:spPr>
            <a:xfrm>
              <a:off x="5580112" y="5329484"/>
              <a:ext cx="2502024" cy="568107"/>
            </a:xfrm>
            <a:prstGeom prst="rect">
              <a:avLst/>
            </a:prstGeom>
          </p:spPr>
          <p:txBody>
            <a:bodyPr wrap="square">
              <a:spAutoFit/>
            </a:bodyPr>
            <a:lstStyle/>
            <a:p>
              <a:pPr algn="ctr"/>
              <a:r>
                <a:rPr lang="es-ES" sz="1200" b="1">
                  <a:solidFill>
                    <a:schemeClr val="bg1"/>
                  </a:solidFill>
                </a:rPr>
                <a:t>Hola</a:t>
              </a:r>
            </a:p>
            <a:p>
              <a:pPr algn="ctr"/>
              <a:r>
                <a:rPr lang="es-ES" sz="1200" b="1">
                  <a:solidFill>
                    <a:schemeClr val="bg1"/>
                  </a:solidFill>
                </a:rPr>
                <a:t>Mundo</a:t>
              </a:r>
              <a:endParaRPr lang="es-ES" sz="1200" b="1" dirty="0">
                <a:solidFill>
                  <a:schemeClr val="bg1"/>
                </a:solidFill>
              </a:endParaRPr>
            </a:p>
          </p:txBody>
        </p:sp>
        <p:sp>
          <p:nvSpPr>
            <p:cNvPr id="37" name="36 Trapecio"/>
            <p:cNvSpPr/>
            <p:nvPr/>
          </p:nvSpPr>
          <p:spPr bwMode="auto">
            <a:xfrm>
              <a:off x="6240355" y="6256760"/>
              <a:ext cx="1162599" cy="243184"/>
            </a:xfrm>
            <a:prstGeom prst="trapezoid">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39" name="38 Grupo"/>
          <p:cNvGrpSpPr/>
          <p:nvPr/>
        </p:nvGrpSpPr>
        <p:grpSpPr>
          <a:xfrm>
            <a:off x="5898595" y="2368876"/>
            <a:ext cx="1337701" cy="434029"/>
            <a:chOff x="2915815" y="4459898"/>
            <a:chExt cx="1337701" cy="434029"/>
          </a:xfrm>
        </p:grpSpPr>
        <p:sp>
          <p:nvSpPr>
            <p:cNvPr id="40" name="39 Flecha a la derecha con bandas"/>
            <p:cNvSpPr/>
            <p:nvPr/>
          </p:nvSpPr>
          <p:spPr bwMode="auto">
            <a:xfrm>
              <a:off x="2915815" y="4459898"/>
              <a:ext cx="1337701" cy="434029"/>
            </a:xfrm>
            <a:prstGeom prst="stripedRight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_tradnl" sz="1900" b="0" i="0" u="none" strike="noStrike" cap="none" normalizeH="0" baseline="0">
                <a:ln>
                  <a:noFill/>
                </a:ln>
                <a:solidFill>
                  <a:schemeClr val="tx1"/>
                </a:solidFill>
                <a:effectLst/>
                <a:latin typeface="Arial" charset="0"/>
              </a:endParaRPr>
            </a:p>
          </p:txBody>
        </p:sp>
        <p:sp>
          <p:nvSpPr>
            <p:cNvPr id="41" name="40 Rectángulo"/>
            <p:cNvSpPr/>
            <p:nvPr/>
          </p:nvSpPr>
          <p:spPr>
            <a:xfrm>
              <a:off x="3029629" y="4517729"/>
              <a:ext cx="982961" cy="313932"/>
            </a:xfrm>
            <a:prstGeom prst="rect">
              <a:avLst/>
            </a:prstGeom>
          </p:spPr>
          <p:txBody>
            <a:bodyPr wrap="none">
              <a:spAutoFit/>
            </a:bodyPr>
            <a:lstStyle/>
            <a:p>
              <a:pPr lvl="0" algn="ctr" defTabSz="622300">
                <a:lnSpc>
                  <a:spcPct val="90000"/>
                </a:lnSpc>
                <a:spcAft>
                  <a:spcPct val="35000"/>
                </a:spcAft>
              </a:pPr>
              <a:r>
                <a:rPr lang="es-ES_tradnl" sz="1600" b="1" dirty="0">
                  <a:solidFill>
                    <a:schemeClr val="bg1"/>
                  </a:solidFill>
                </a:rPr>
                <a:t>java.exe</a:t>
              </a:r>
            </a:p>
          </p:txBody>
        </p:sp>
      </p:grpSp>
      <p:grpSp>
        <p:nvGrpSpPr>
          <p:cNvPr id="62" name="61 Grupo"/>
          <p:cNvGrpSpPr/>
          <p:nvPr/>
        </p:nvGrpSpPr>
        <p:grpSpPr>
          <a:xfrm>
            <a:off x="6012548" y="4440638"/>
            <a:ext cx="2736164" cy="1865589"/>
            <a:chOff x="6012548" y="4440638"/>
            <a:chExt cx="2736164" cy="1865589"/>
          </a:xfrm>
        </p:grpSpPr>
        <p:grpSp>
          <p:nvGrpSpPr>
            <p:cNvPr id="46" name="45 Grupo"/>
            <p:cNvGrpSpPr/>
            <p:nvPr/>
          </p:nvGrpSpPr>
          <p:grpSpPr>
            <a:xfrm>
              <a:off x="6012548" y="4440638"/>
              <a:ext cx="2736164" cy="1865589"/>
              <a:chOff x="3530846" y="3113671"/>
              <a:chExt cx="5102325" cy="2869791"/>
            </a:xfrm>
            <a:effectLst>
              <a:outerShdw blurRad="50800" dist="38100" dir="2700000" algn="tl" rotWithShape="0">
                <a:prstClr val="black">
                  <a:alpha val="40000"/>
                </a:prstClr>
              </a:outerShdw>
            </a:effectLst>
          </p:grpSpPr>
          <p:sp>
            <p:nvSpPr>
              <p:cNvPr id="47" name="46 Rectángulo"/>
              <p:cNvSpPr/>
              <p:nvPr/>
            </p:nvSpPr>
            <p:spPr bwMode="auto">
              <a:xfrm>
                <a:off x="3530846" y="3575160"/>
                <a:ext cx="5102325" cy="2408302"/>
              </a:xfrm>
              <a:prstGeom prst="rect">
                <a:avLst/>
              </a:prstGeom>
              <a:gradFill flip="none" rotWithShape="1">
                <a:gsLst>
                  <a:gs pos="0">
                    <a:srgbClr val="FFFFCC"/>
                  </a:gs>
                  <a:gs pos="64999">
                    <a:srgbClr val="FFFFCC"/>
                  </a:gs>
                  <a:gs pos="100000">
                    <a:srgbClr val="FFFF00"/>
                  </a:gs>
                </a:gsLst>
                <a:lin ang="5400000" scaled="0"/>
                <a:tileRect l="-100000" t="-100000"/>
              </a:gradFill>
              <a:ln w="28575" cap="flat" cmpd="sng" algn="ctr">
                <a:solidFill>
                  <a:srgbClr val="FF6600"/>
                </a:solidFill>
                <a:prstDash val="solid"/>
                <a:round/>
                <a:headEnd type="none" w="med" len="med"/>
                <a:tailEnd type="none" w="med" len="med"/>
              </a:ln>
              <a:effectLst/>
            </p:spPr>
            <p:style>
              <a:lnRef idx="0">
                <a:scrgbClr r="0" g="0" b="0"/>
              </a:lnRef>
              <a:fillRef idx="1002">
                <a:schemeClr val="dk1"/>
              </a:fillRef>
              <a:effectRef idx="0">
                <a:scrgbClr r="0" g="0" b="0"/>
              </a:effectRef>
              <a:fontRef idx="major"/>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8" name="47 Trapecio"/>
              <p:cNvSpPr/>
              <p:nvPr/>
            </p:nvSpPr>
            <p:spPr bwMode="auto">
              <a:xfrm>
                <a:off x="5054552" y="3175150"/>
                <a:ext cx="3568452" cy="400010"/>
              </a:xfrm>
              <a:prstGeom prst="trapezoid">
                <a:avLst/>
              </a:prstGeom>
              <a:gradFill>
                <a:gsLst>
                  <a:gs pos="0">
                    <a:srgbClr val="FFFFCC"/>
                  </a:gs>
                  <a:gs pos="45000">
                    <a:srgbClr val="FFFFCC"/>
                  </a:gs>
                  <a:gs pos="100000">
                    <a:srgbClr val="FFFF00"/>
                  </a:gs>
                </a:gsLst>
                <a:lin ang="4200000" scaled="0"/>
              </a:gradFill>
              <a:ln w="28575"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9" name="48 Rectángulo"/>
              <p:cNvSpPr/>
              <p:nvPr/>
            </p:nvSpPr>
            <p:spPr>
              <a:xfrm>
                <a:off x="5007187" y="3113671"/>
                <a:ext cx="3484153" cy="520790"/>
              </a:xfrm>
              <a:prstGeom prst="rect">
                <a:avLst/>
              </a:prstGeom>
            </p:spPr>
            <p:txBody>
              <a:bodyPr wrap="square">
                <a:spAutoFit/>
              </a:bodyPr>
              <a:lstStyle/>
              <a:p>
                <a:pPr algn="r"/>
                <a:r>
                  <a:rPr lang="es-ES" sz="1600" b="1" dirty="0">
                    <a:solidFill>
                      <a:srgbClr val="FF6600"/>
                    </a:solidFill>
                  </a:rPr>
                  <a:t>C:…\jdk…\</a:t>
                </a:r>
                <a:r>
                  <a:rPr lang="es-ES" sz="1600" b="1" dirty="0">
                    <a:solidFill>
                      <a:srgbClr val="FF0000"/>
                    </a:solidFill>
                  </a:rPr>
                  <a:t>bin</a:t>
                </a:r>
                <a:endParaRPr lang="es-ES" sz="1600" dirty="0">
                  <a:solidFill>
                    <a:srgbClr val="FF0000"/>
                  </a:solidFill>
                </a:endParaRPr>
              </a:p>
            </p:txBody>
          </p:sp>
        </p:grpSp>
        <p:grpSp>
          <p:nvGrpSpPr>
            <p:cNvPr id="24" name="23 Grupo"/>
            <p:cNvGrpSpPr/>
            <p:nvPr/>
          </p:nvGrpSpPr>
          <p:grpSpPr>
            <a:xfrm>
              <a:off x="6736548" y="5618636"/>
              <a:ext cx="1288164" cy="410446"/>
              <a:chOff x="0" y="0"/>
              <a:chExt cx="2000264" cy="714796"/>
            </a:xfrm>
            <a:solidFill>
              <a:srgbClr val="FF0000"/>
            </a:solidFill>
            <a:scene3d>
              <a:camera prst="orthographicFront"/>
              <a:lightRig rig="flat" dir="t"/>
            </a:scene3d>
          </p:grpSpPr>
          <p:sp>
            <p:nvSpPr>
              <p:cNvPr id="25" name="24 Rectángulo redondeado"/>
              <p:cNvSpPr/>
              <p:nvPr/>
            </p:nvSpPr>
            <p:spPr>
              <a:xfrm>
                <a:off x="0" y="0"/>
                <a:ext cx="2000264" cy="714796"/>
              </a:xfrm>
              <a:prstGeom prst="roundRect">
                <a:avLst/>
              </a:prstGeom>
              <a:grpFill/>
              <a:sp3d prstMaterial="plastic">
                <a:bevelT w="120900" h="88900"/>
                <a:bevelB w="88900" h="31750" prst="angle"/>
              </a:sp3d>
            </p:spPr>
            <p:style>
              <a:lnRef idx="0">
                <a:schemeClr val="lt2">
                  <a:hueOff val="0"/>
                  <a:satOff val="0"/>
                  <a:lumOff val="0"/>
                  <a:alphaOff val="0"/>
                </a:schemeClr>
              </a:lnRef>
              <a:fillRef idx="3">
                <a:schemeClr val="dk2">
                  <a:hueOff val="0"/>
                  <a:satOff val="0"/>
                  <a:lumOff val="0"/>
                  <a:alphaOff val="0"/>
                </a:schemeClr>
              </a:fillRef>
              <a:effectRef idx="2">
                <a:schemeClr val="dk2">
                  <a:hueOff val="0"/>
                  <a:satOff val="0"/>
                  <a:lumOff val="0"/>
                  <a:alphaOff val="0"/>
                </a:schemeClr>
              </a:effectRef>
              <a:fontRef idx="minor">
                <a:schemeClr val="lt1"/>
              </a:fontRef>
            </p:style>
          </p:sp>
          <p:sp>
            <p:nvSpPr>
              <p:cNvPr id="26" name="25 Rectángulo"/>
              <p:cNvSpPr/>
              <p:nvPr/>
            </p:nvSpPr>
            <p:spPr>
              <a:xfrm>
                <a:off x="34893" y="34893"/>
                <a:ext cx="1930478" cy="645010"/>
              </a:xfrm>
              <a:prstGeom prst="rect">
                <a:avLst/>
              </a:prstGeom>
              <a:grpFill/>
              <a:sp3d>
                <a:bevelT/>
              </a:sp3d>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ES_tradnl" sz="1400" b="1" dirty="0"/>
                  <a:t>java.exe</a:t>
                </a:r>
                <a:endParaRPr lang="es-ES_tradnl" sz="1000" b="1" kern="1200" dirty="0"/>
              </a:p>
            </p:txBody>
          </p:sp>
        </p:grpSp>
        <p:grpSp>
          <p:nvGrpSpPr>
            <p:cNvPr id="27" name="26 Grupo"/>
            <p:cNvGrpSpPr/>
            <p:nvPr/>
          </p:nvGrpSpPr>
          <p:grpSpPr>
            <a:xfrm>
              <a:off x="6714077" y="5014453"/>
              <a:ext cx="1288164" cy="410446"/>
              <a:chOff x="0" y="0"/>
              <a:chExt cx="2000264" cy="714796"/>
            </a:xfrm>
            <a:solidFill>
              <a:srgbClr val="FF6600"/>
            </a:solidFill>
            <a:scene3d>
              <a:camera prst="orthographicFront"/>
              <a:lightRig rig="flat" dir="t"/>
            </a:scene3d>
          </p:grpSpPr>
          <p:sp>
            <p:nvSpPr>
              <p:cNvPr id="28" name="27 Rectángulo redondeado"/>
              <p:cNvSpPr/>
              <p:nvPr/>
            </p:nvSpPr>
            <p:spPr>
              <a:xfrm>
                <a:off x="0" y="0"/>
                <a:ext cx="2000264" cy="714796"/>
              </a:xfrm>
              <a:prstGeom prst="roundRect">
                <a:avLst/>
              </a:prstGeom>
              <a:grpFill/>
              <a:sp3d prstMaterial="plastic">
                <a:bevelT w="120900" h="88900"/>
                <a:bevelB w="88900" h="31750" prst="angle"/>
              </a:sp3d>
            </p:spPr>
            <p:style>
              <a:lnRef idx="0">
                <a:schemeClr val="lt2">
                  <a:hueOff val="0"/>
                  <a:satOff val="0"/>
                  <a:lumOff val="0"/>
                  <a:alphaOff val="0"/>
                </a:schemeClr>
              </a:lnRef>
              <a:fillRef idx="3">
                <a:schemeClr val="dk2">
                  <a:hueOff val="0"/>
                  <a:satOff val="0"/>
                  <a:lumOff val="0"/>
                  <a:alphaOff val="0"/>
                </a:schemeClr>
              </a:fillRef>
              <a:effectRef idx="2">
                <a:schemeClr val="dk2">
                  <a:hueOff val="0"/>
                  <a:satOff val="0"/>
                  <a:lumOff val="0"/>
                  <a:alphaOff val="0"/>
                </a:schemeClr>
              </a:effectRef>
              <a:fontRef idx="minor">
                <a:schemeClr val="lt1"/>
              </a:fontRef>
            </p:style>
          </p:sp>
          <p:sp>
            <p:nvSpPr>
              <p:cNvPr id="29" name="28 Rectángulo"/>
              <p:cNvSpPr/>
              <p:nvPr/>
            </p:nvSpPr>
            <p:spPr>
              <a:xfrm>
                <a:off x="34893" y="34893"/>
                <a:ext cx="1930478" cy="645010"/>
              </a:xfrm>
              <a:prstGeom prst="rect">
                <a:avLst/>
              </a:prstGeom>
              <a:grpFill/>
              <a:sp3d>
                <a:bevelT/>
              </a:sp3d>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s-ES_tradnl" sz="1400" b="1" dirty="0"/>
                  <a:t>javac.exe</a:t>
                </a:r>
                <a:endParaRPr lang="es-ES_tradnl" sz="1000" b="1" kern="1200" dirty="0"/>
              </a:p>
            </p:txBody>
          </p:sp>
        </p:grpSp>
      </p:grpSp>
      <p:grpSp>
        <p:nvGrpSpPr>
          <p:cNvPr id="50" name="49 Grupo"/>
          <p:cNvGrpSpPr/>
          <p:nvPr/>
        </p:nvGrpSpPr>
        <p:grpSpPr>
          <a:xfrm>
            <a:off x="971600" y="4077072"/>
            <a:ext cx="4320480" cy="1746787"/>
            <a:chOff x="285720" y="1785926"/>
            <a:chExt cx="2643206" cy="2928958"/>
          </a:xfrm>
        </p:grpSpPr>
        <p:sp>
          <p:nvSpPr>
            <p:cNvPr id="51" name="50 Esquina doblada"/>
            <p:cNvSpPr/>
            <p:nvPr/>
          </p:nvSpPr>
          <p:spPr bwMode="auto">
            <a:xfrm>
              <a:off x="285720" y="1785926"/>
              <a:ext cx="2643206" cy="2928958"/>
            </a:xfrm>
            <a:prstGeom prst="foldedCorner">
              <a:avLst/>
            </a:prstGeom>
            <a:solidFill>
              <a:srgbClr val="FFDC6D"/>
            </a:solidFill>
            <a:ln w="952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_tradnl" sz="1900" b="0" i="0" u="none" strike="noStrike" cap="none" normalizeH="0" baseline="0">
                <a:ln>
                  <a:noFill/>
                </a:ln>
                <a:solidFill>
                  <a:schemeClr val="tx1"/>
                </a:solidFill>
                <a:effectLst/>
                <a:latin typeface="Arial" charset="0"/>
              </a:endParaRPr>
            </a:p>
          </p:txBody>
        </p:sp>
        <p:sp>
          <p:nvSpPr>
            <p:cNvPr id="52" name="51 CuadroTexto"/>
            <p:cNvSpPr txBox="1"/>
            <p:nvPr/>
          </p:nvSpPr>
          <p:spPr>
            <a:xfrm>
              <a:off x="285720" y="1857365"/>
              <a:ext cx="2643204" cy="490267"/>
            </a:xfrm>
            <a:prstGeom prst="rect">
              <a:avLst/>
            </a:prstGeom>
            <a:noFill/>
          </p:spPr>
          <p:txBody>
            <a:bodyPr wrap="square" rtlCol="0">
              <a:spAutoFit/>
            </a:bodyPr>
            <a:lstStyle/>
            <a:p>
              <a:pPr algn="ctr"/>
              <a:endParaRPr lang="es-ES_tradnl" sz="1300" b="1" dirty="0">
                <a:solidFill>
                  <a:srgbClr val="0070C0"/>
                </a:solidFill>
              </a:endParaRPr>
            </a:p>
          </p:txBody>
        </p:sp>
      </p:grpSp>
      <p:sp>
        <p:nvSpPr>
          <p:cNvPr id="53" name="52 CuadroTexto"/>
          <p:cNvSpPr txBox="1"/>
          <p:nvPr/>
        </p:nvSpPr>
        <p:spPr>
          <a:xfrm>
            <a:off x="1212321" y="5054242"/>
            <a:ext cx="4151331" cy="292388"/>
          </a:xfrm>
          <a:prstGeom prst="rect">
            <a:avLst/>
          </a:prstGeom>
          <a:noFill/>
        </p:spPr>
        <p:txBody>
          <a:bodyPr wrap="square" rtlCol="0">
            <a:spAutoFit/>
          </a:bodyPr>
          <a:lstStyle/>
          <a:p>
            <a:pPr algn="ctr"/>
            <a:r>
              <a:rPr lang="es-ES_tradnl" sz="1300" b="1" dirty="0">
                <a:solidFill>
                  <a:srgbClr val="FF0000"/>
                </a:solidFill>
              </a:rPr>
              <a:t>javac.exe</a:t>
            </a:r>
            <a:r>
              <a:rPr lang="es-ES_tradnl" sz="1300" b="1" dirty="0">
                <a:solidFill>
                  <a:schemeClr val="tx1">
                    <a:lumMod val="50000"/>
                  </a:schemeClr>
                </a:solidFill>
              </a:rPr>
              <a:t> Bienvenido.java</a:t>
            </a:r>
          </a:p>
        </p:txBody>
      </p:sp>
      <p:sp>
        <p:nvSpPr>
          <p:cNvPr id="54" name="53 CuadroTexto"/>
          <p:cNvSpPr txBox="1"/>
          <p:nvPr/>
        </p:nvSpPr>
        <p:spPr>
          <a:xfrm>
            <a:off x="1847826" y="5051276"/>
            <a:ext cx="2880321" cy="292388"/>
          </a:xfrm>
          <a:prstGeom prst="rect">
            <a:avLst/>
          </a:prstGeom>
          <a:noFill/>
        </p:spPr>
        <p:txBody>
          <a:bodyPr wrap="square" rtlCol="0">
            <a:spAutoFit/>
          </a:bodyPr>
          <a:lstStyle/>
          <a:p>
            <a:pPr algn="ctr"/>
            <a:r>
              <a:rPr lang="es-ES_tradnl" sz="1300" b="1" dirty="0" err="1">
                <a:solidFill>
                  <a:srgbClr val="FF0000"/>
                </a:solidFill>
              </a:rPr>
              <a:t>javac</a:t>
            </a:r>
            <a:r>
              <a:rPr lang="es-ES_tradnl" sz="1300" b="1" dirty="0">
                <a:solidFill>
                  <a:schemeClr val="tx1">
                    <a:lumMod val="50000"/>
                  </a:schemeClr>
                </a:solidFill>
              </a:rPr>
              <a:t> Bienvenido.java</a:t>
            </a:r>
          </a:p>
        </p:txBody>
      </p:sp>
      <p:sp>
        <p:nvSpPr>
          <p:cNvPr id="55" name="54 CuadroTexto"/>
          <p:cNvSpPr txBox="1"/>
          <p:nvPr/>
        </p:nvSpPr>
        <p:spPr>
          <a:xfrm>
            <a:off x="1248108" y="5284152"/>
            <a:ext cx="4079756" cy="292388"/>
          </a:xfrm>
          <a:prstGeom prst="rect">
            <a:avLst/>
          </a:prstGeom>
          <a:noFill/>
        </p:spPr>
        <p:txBody>
          <a:bodyPr wrap="square" rtlCol="0">
            <a:spAutoFit/>
          </a:bodyPr>
          <a:lstStyle/>
          <a:p>
            <a:pPr algn="ctr"/>
            <a:r>
              <a:rPr lang="es-ES_tradnl" sz="1300" b="1" dirty="0">
                <a:solidFill>
                  <a:srgbClr val="FF0000"/>
                </a:solidFill>
              </a:rPr>
              <a:t>java.exe</a:t>
            </a:r>
            <a:r>
              <a:rPr lang="es-ES_tradnl" sz="1300" b="1" dirty="0">
                <a:solidFill>
                  <a:schemeClr val="tx1">
                    <a:lumMod val="50000"/>
                  </a:schemeClr>
                </a:solidFill>
              </a:rPr>
              <a:t> </a:t>
            </a:r>
            <a:r>
              <a:rPr lang="es-ES_tradnl" sz="1300" b="1" dirty="0" err="1">
                <a:solidFill>
                  <a:schemeClr val="tx1">
                    <a:lumMod val="50000"/>
                  </a:schemeClr>
                </a:solidFill>
              </a:rPr>
              <a:t>Bienvenido.class</a:t>
            </a:r>
            <a:endParaRPr lang="es-ES_tradnl" sz="1300" b="1" dirty="0">
              <a:solidFill>
                <a:schemeClr val="tx1">
                  <a:lumMod val="50000"/>
                </a:schemeClr>
              </a:solidFill>
            </a:endParaRPr>
          </a:p>
        </p:txBody>
      </p:sp>
      <p:sp>
        <p:nvSpPr>
          <p:cNvPr id="56" name="55 CuadroTexto"/>
          <p:cNvSpPr txBox="1"/>
          <p:nvPr/>
        </p:nvSpPr>
        <p:spPr>
          <a:xfrm>
            <a:off x="1847826" y="5296852"/>
            <a:ext cx="2880320" cy="292388"/>
          </a:xfrm>
          <a:prstGeom prst="rect">
            <a:avLst/>
          </a:prstGeom>
          <a:noFill/>
        </p:spPr>
        <p:txBody>
          <a:bodyPr wrap="square" rtlCol="0">
            <a:spAutoFit/>
          </a:bodyPr>
          <a:lstStyle/>
          <a:p>
            <a:pPr algn="ctr"/>
            <a:r>
              <a:rPr lang="es-ES_tradnl" sz="1300" b="1" dirty="0">
                <a:solidFill>
                  <a:srgbClr val="FF0000"/>
                </a:solidFill>
              </a:rPr>
              <a:t>java</a:t>
            </a:r>
            <a:r>
              <a:rPr lang="es-ES_tradnl" sz="1300" b="1" dirty="0">
                <a:solidFill>
                  <a:schemeClr val="tx1">
                    <a:lumMod val="50000"/>
                  </a:schemeClr>
                </a:solidFill>
              </a:rPr>
              <a:t> Bienvenido</a:t>
            </a:r>
          </a:p>
        </p:txBody>
      </p:sp>
      <p:sp>
        <p:nvSpPr>
          <p:cNvPr id="57" name="56 CuadroTexto"/>
          <p:cNvSpPr txBox="1"/>
          <p:nvPr/>
        </p:nvSpPr>
        <p:spPr>
          <a:xfrm>
            <a:off x="1248107" y="4462512"/>
            <a:ext cx="4043969" cy="292388"/>
          </a:xfrm>
          <a:prstGeom prst="rect">
            <a:avLst/>
          </a:prstGeom>
          <a:noFill/>
        </p:spPr>
        <p:txBody>
          <a:bodyPr wrap="square" rtlCol="0">
            <a:spAutoFit/>
          </a:bodyPr>
          <a:lstStyle/>
          <a:p>
            <a:pPr algn="ctr"/>
            <a:r>
              <a:rPr lang="es-ES_tradnl" sz="1300" b="1" dirty="0" err="1">
                <a:solidFill>
                  <a:srgbClr val="002060"/>
                </a:solidFill>
              </a:rPr>
              <a:t>path</a:t>
            </a:r>
            <a:r>
              <a:rPr lang="es-ES_tradnl" sz="1300" b="1" dirty="0">
                <a:solidFill>
                  <a:srgbClr val="002060"/>
                </a:solidFill>
              </a:rPr>
              <a:t> = "</a:t>
            </a:r>
            <a:r>
              <a:rPr lang="es-ES_tradnl" sz="1300" b="1" dirty="0">
                <a:solidFill>
                  <a:srgbClr val="FF0000"/>
                </a:solidFill>
              </a:rPr>
              <a:t>C:\Archivos </a:t>
            </a:r>
            <a:r>
              <a:rPr lang="es-ES_tradnl" sz="1300" b="1">
                <a:solidFill>
                  <a:srgbClr val="FF0000"/>
                </a:solidFill>
              </a:rPr>
              <a:t>de Programas\java…\</a:t>
            </a:r>
            <a:r>
              <a:rPr lang="es-ES_tradnl" sz="1300" b="1" dirty="0">
                <a:solidFill>
                  <a:srgbClr val="FF0000"/>
                </a:solidFill>
              </a:rPr>
              <a:t>bin</a:t>
            </a:r>
            <a:r>
              <a:rPr lang="es-ES_tradnl" sz="1300" b="1" dirty="0">
                <a:solidFill>
                  <a:srgbClr val="002060"/>
                </a:solidFill>
              </a:rPr>
              <a:t>"</a:t>
            </a:r>
          </a:p>
        </p:txBody>
      </p:sp>
      <p:cxnSp>
        <p:nvCxnSpPr>
          <p:cNvPr id="59" name="58 Conector recto de flecha"/>
          <p:cNvCxnSpPr/>
          <p:nvPr/>
        </p:nvCxnSpPr>
        <p:spPr bwMode="auto">
          <a:xfrm>
            <a:off x="5148064" y="4604514"/>
            <a:ext cx="1566013" cy="0"/>
          </a:xfrm>
          <a:prstGeom prst="straightConnector1">
            <a:avLst/>
          </a:prstGeom>
          <a:ln>
            <a:headEnd type="none" w="med" len="med"/>
            <a:tailEnd type="arrow"/>
          </a:ln>
        </p:spPr>
        <p:style>
          <a:lnRef idx="3">
            <a:schemeClr val="accent4"/>
          </a:lnRef>
          <a:fillRef idx="0">
            <a:schemeClr val="accent4"/>
          </a:fillRef>
          <a:effectRef idx="2">
            <a:schemeClr val="accent4"/>
          </a:effectRef>
          <a:fontRef idx="minor">
            <a:schemeClr val="tx1"/>
          </a:fontRef>
        </p:style>
      </p:cxnSp>
      <p:sp>
        <p:nvSpPr>
          <p:cNvPr id="63" name="62 CuadroTexto"/>
          <p:cNvSpPr txBox="1"/>
          <p:nvPr/>
        </p:nvSpPr>
        <p:spPr>
          <a:xfrm>
            <a:off x="1847826" y="4720788"/>
            <a:ext cx="2880321" cy="292388"/>
          </a:xfrm>
          <a:prstGeom prst="rect">
            <a:avLst/>
          </a:prstGeom>
          <a:noFill/>
        </p:spPr>
        <p:txBody>
          <a:bodyPr wrap="square" rtlCol="0">
            <a:spAutoFit/>
          </a:bodyPr>
          <a:lstStyle/>
          <a:p>
            <a:pPr algn="ctr"/>
            <a:r>
              <a:rPr lang="es-ES_tradnl" sz="1300" b="1" dirty="0">
                <a:solidFill>
                  <a:srgbClr val="002060"/>
                </a:solidFill>
              </a:rPr>
              <a:t>CD  </a:t>
            </a:r>
            <a:r>
              <a:rPr lang="es-ES_tradnl" sz="1300" b="1" dirty="0">
                <a:solidFill>
                  <a:srgbClr val="FF0000"/>
                </a:solidFill>
              </a:rPr>
              <a:t>C:\Usuarios\...\Mi Programa</a:t>
            </a:r>
          </a:p>
        </p:txBody>
      </p:sp>
      <p:sp>
        <p:nvSpPr>
          <p:cNvPr id="64" name="63 Flecha curvada hacia la izquierda"/>
          <p:cNvSpPr/>
          <p:nvPr/>
        </p:nvSpPr>
        <p:spPr bwMode="auto">
          <a:xfrm flipH="1" flipV="1">
            <a:off x="1488221" y="3606800"/>
            <a:ext cx="478926" cy="1321668"/>
          </a:xfrm>
          <a:prstGeom prst="curvedLeftArrow">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5" name="1 Título"/>
          <p:cNvSpPr>
            <a:spLocks noGrp="1"/>
          </p:cNvSpPr>
          <p:nvPr>
            <p:ph type="title"/>
          </p:nvPr>
        </p:nvSpPr>
        <p:spPr>
          <a:xfrm>
            <a:off x="851420" y="53975"/>
            <a:ext cx="7392988" cy="563563"/>
          </a:xfrm>
        </p:spPr>
        <p:txBody>
          <a:bodyPr/>
          <a:lstStyle/>
          <a:p>
            <a:r>
              <a:rPr lang="es-ES" dirty="0"/>
              <a:t>Compilación y Ejecución en Windows</a:t>
            </a:r>
          </a:p>
        </p:txBody>
      </p:sp>
      <p:grpSp>
        <p:nvGrpSpPr>
          <p:cNvPr id="4" name="3 Grupo"/>
          <p:cNvGrpSpPr/>
          <p:nvPr/>
        </p:nvGrpSpPr>
        <p:grpSpPr>
          <a:xfrm>
            <a:off x="5445030" y="209805"/>
            <a:ext cx="3510289" cy="1636393"/>
            <a:chOff x="5445030" y="209805"/>
            <a:chExt cx="3519458" cy="1636393"/>
          </a:xfrm>
        </p:grpSpPr>
        <p:sp>
          <p:nvSpPr>
            <p:cNvPr id="2" name="1 Rectángulo"/>
            <p:cNvSpPr/>
            <p:nvPr/>
          </p:nvSpPr>
          <p:spPr bwMode="auto">
            <a:xfrm>
              <a:off x="5445030" y="209805"/>
              <a:ext cx="3519458" cy="1636393"/>
            </a:xfrm>
            <a:prstGeom prst="rect">
              <a:avLst/>
            </a:prstGeom>
            <a:solidFill>
              <a:schemeClr val="accent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 name="2 CuadroTexto"/>
            <p:cNvSpPr txBox="1"/>
            <p:nvPr/>
          </p:nvSpPr>
          <p:spPr>
            <a:xfrm>
              <a:off x="5499022" y="223626"/>
              <a:ext cx="3465466" cy="1600438"/>
            </a:xfrm>
            <a:prstGeom prst="rect">
              <a:avLst/>
            </a:prstGeom>
            <a:noFill/>
          </p:spPr>
          <p:txBody>
            <a:bodyPr wrap="square" rtlCol="0">
              <a:spAutoFit/>
            </a:bodyPr>
            <a:lstStyle/>
            <a:p>
              <a:r>
                <a:rPr lang="es-ES" sz="1400" dirty="0" err="1"/>
                <a:t>public</a:t>
              </a:r>
              <a:r>
                <a:rPr lang="es-ES" sz="1400" dirty="0"/>
                <a:t> </a:t>
              </a:r>
              <a:r>
                <a:rPr lang="es-ES" sz="1400" dirty="0" err="1"/>
                <a:t>class</a:t>
              </a:r>
              <a:r>
                <a:rPr lang="es-ES" sz="1400" dirty="0"/>
                <a:t> Bienvenido {</a:t>
              </a:r>
            </a:p>
            <a:p>
              <a:endParaRPr lang="es-ES" sz="1400" dirty="0"/>
            </a:p>
            <a:p>
              <a:r>
                <a:rPr lang="es-ES" sz="1400" dirty="0"/>
                <a:t>    </a:t>
              </a:r>
              <a:r>
                <a:rPr lang="es-ES" sz="1400" dirty="0" err="1"/>
                <a:t>public</a:t>
              </a:r>
              <a:r>
                <a:rPr lang="es-ES" sz="1400" dirty="0"/>
                <a:t> </a:t>
              </a:r>
              <a:r>
                <a:rPr lang="es-ES" sz="1400" dirty="0" err="1"/>
                <a:t>static</a:t>
              </a:r>
              <a:r>
                <a:rPr lang="es-ES" sz="1400" dirty="0"/>
                <a:t> </a:t>
              </a:r>
              <a:r>
                <a:rPr lang="es-ES" sz="1400" dirty="0" err="1"/>
                <a:t>void</a:t>
              </a:r>
              <a:r>
                <a:rPr lang="es-ES" sz="1400" dirty="0"/>
                <a:t> </a:t>
              </a:r>
              <a:r>
                <a:rPr lang="es-ES" sz="1400" dirty="0" err="1"/>
                <a:t>main</a:t>
              </a:r>
              <a:r>
                <a:rPr lang="es-ES" sz="1400" dirty="0"/>
                <a:t>(</a:t>
              </a:r>
              <a:r>
                <a:rPr lang="es-ES" sz="1400" dirty="0" err="1"/>
                <a:t>String</a:t>
              </a:r>
              <a:r>
                <a:rPr lang="es-ES" sz="1400" dirty="0"/>
                <a:t>[ ] </a:t>
              </a:r>
              <a:r>
                <a:rPr lang="es-ES" sz="1400" dirty="0" err="1"/>
                <a:t>args</a:t>
              </a:r>
              <a:r>
                <a:rPr lang="es-ES" sz="1400" dirty="0"/>
                <a:t>) {</a:t>
              </a:r>
            </a:p>
            <a:p>
              <a:r>
                <a:rPr lang="es-ES" sz="1400" dirty="0"/>
                <a:t>        </a:t>
              </a:r>
              <a:r>
                <a:rPr lang="es-ES" sz="1400" dirty="0" err="1"/>
                <a:t>System.out.print</a:t>
              </a:r>
              <a:r>
                <a:rPr lang="es-ES" sz="1400" dirty="0"/>
                <a:t>("Hola Mundo");</a:t>
              </a:r>
            </a:p>
            <a:p>
              <a:r>
                <a:rPr lang="es-ES" sz="1400" dirty="0"/>
                <a:t>    }</a:t>
              </a:r>
            </a:p>
            <a:p>
              <a:endParaRPr lang="es-ES" sz="1400" dirty="0"/>
            </a:p>
            <a:p>
              <a:r>
                <a:rPr lang="es-ES" sz="1400" dirty="0"/>
                <a:t>}</a:t>
              </a:r>
            </a:p>
          </p:txBody>
        </p:sp>
      </p:grpSp>
    </p:spTree>
    <p:extLst>
      <p:ext uri="{BB962C8B-B14F-4D97-AF65-F5344CB8AC3E}">
        <p14:creationId xmlns:p14="http://schemas.microsoft.com/office/powerpoint/2010/main" val="517645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wipe(left)">
                                      <p:cBhvr>
                                        <p:cTn id="21" dur="500"/>
                                        <p:tgtEl>
                                          <p:spTgt spid="38"/>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wipe(left)">
                                      <p:cBhvr>
                                        <p:cTn id="30" dur="500"/>
                                        <p:tgtEl>
                                          <p:spTgt spid="39"/>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53"/>
                                        </p:tgtEl>
                                        <p:attrNameLst>
                                          <p:attrName>style.visibility</p:attrName>
                                        </p:attrNameLst>
                                      </p:cBhvr>
                                      <p:to>
                                        <p:strVal val="visible"/>
                                      </p:to>
                                    </p:set>
                                    <p:anim calcmode="lin" valueType="num">
                                      <p:cBhvr>
                                        <p:cTn id="43" dur="500" fill="hold"/>
                                        <p:tgtEl>
                                          <p:spTgt spid="53"/>
                                        </p:tgtEl>
                                        <p:attrNameLst>
                                          <p:attrName>ppt_w</p:attrName>
                                        </p:attrNameLst>
                                      </p:cBhvr>
                                      <p:tavLst>
                                        <p:tav tm="0">
                                          <p:val>
                                            <p:fltVal val="0"/>
                                          </p:val>
                                        </p:tav>
                                        <p:tav tm="100000">
                                          <p:val>
                                            <p:strVal val="#ppt_w"/>
                                          </p:val>
                                        </p:tav>
                                      </p:tavLst>
                                    </p:anim>
                                    <p:anim calcmode="lin" valueType="num">
                                      <p:cBhvr>
                                        <p:cTn id="44" dur="500" fill="hold"/>
                                        <p:tgtEl>
                                          <p:spTgt spid="53"/>
                                        </p:tgtEl>
                                        <p:attrNameLst>
                                          <p:attrName>ppt_h</p:attrName>
                                        </p:attrNameLst>
                                      </p:cBhvr>
                                      <p:tavLst>
                                        <p:tav tm="0">
                                          <p:val>
                                            <p:fltVal val="0"/>
                                          </p:val>
                                        </p:tav>
                                        <p:tav tm="100000">
                                          <p:val>
                                            <p:strVal val="#ppt_h"/>
                                          </p:val>
                                        </p:tav>
                                      </p:tavLst>
                                    </p:anim>
                                    <p:animEffect transition="in" filter="fade">
                                      <p:cBhvr>
                                        <p:cTn id="45" dur="500"/>
                                        <p:tgtEl>
                                          <p:spTgt spid="53"/>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xit" presetSubtype="0" fill="hold" grpId="1" nodeType="clickEffect">
                                  <p:stCondLst>
                                    <p:cond delay="0"/>
                                  </p:stCondLst>
                                  <p:childTnLst>
                                    <p:set>
                                      <p:cBhvr>
                                        <p:cTn id="49" dur="1" fill="hold">
                                          <p:stCondLst>
                                            <p:cond delay="0"/>
                                          </p:stCondLst>
                                        </p:cTn>
                                        <p:tgtEl>
                                          <p:spTgt spid="53"/>
                                        </p:tgtEl>
                                        <p:attrNameLst>
                                          <p:attrName>style.visibility</p:attrName>
                                        </p:attrNameLst>
                                      </p:cBhvr>
                                      <p:to>
                                        <p:strVal val="hidden"/>
                                      </p:to>
                                    </p:set>
                                  </p:childTnLst>
                                </p:cTn>
                              </p:par>
                              <p:par>
                                <p:cTn id="50" presetID="1" presetClass="entr" presetSubtype="0" fill="hold" grpId="0" nodeType="withEffect">
                                  <p:stCondLst>
                                    <p:cond delay="0"/>
                                  </p:stCondLst>
                                  <p:childTnLst>
                                    <p:set>
                                      <p:cBhvr>
                                        <p:cTn id="51" dur="1" fill="hold">
                                          <p:stCondLst>
                                            <p:cond delay="0"/>
                                          </p:stCondLst>
                                        </p:cTn>
                                        <p:tgtEl>
                                          <p:spTgt spid="54"/>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55"/>
                                        </p:tgtEl>
                                        <p:attrNameLst>
                                          <p:attrName>style.visibility</p:attrName>
                                        </p:attrNameLst>
                                      </p:cBhvr>
                                      <p:to>
                                        <p:strVal val="visible"/>
                                      </p:to>
                                    </p:set>
                                    <p:anim calcmode="lin" valueType="num">
                                      <p:cBhvr>
                                        <p:cTn id="56" dur="500" fill="hold"/>
                                        <p:tgtEl>
                                          <p:spTgt spid="55"/>
                                        </p:tgtEl>
                                        <p:attrNameLst>
                                          <p:attrName>ppt_w</p:attrName>
                                        </p:attrNameLst>
                                      </p:cBhvr>
                                      <p:tavLst>
                                        <p:tav tm="0">
                                          <p:val>
                                            <p:fltVal val="0"/>
                                          </p:val>
                                        </p:tav>
                                        <p:tav tm="100000">
                                          <p:val>
                                            <p:strVal val="#ppt_w"/>
                                          </p:val>
                                        </p:tav>
                                      </p:tavLst>
                                    </p:anim>
                                    <p:anim calcmode="lin" valueType="num">
                                      <p:cBhvr>
                                        <p:cTn id="57" dur="500" fill="hold"/>
                                        <p:tgtEl>
                                          <p:spTgt spid="55"/>
                                        </p:tgtEl>
                                        <p:attrNameLst>
                                          <p:attrName>ppt_h</p:attrName>
                                        </p:attrNameLst>
                                      </p:cBhvr>
                                      <p:tavLst>
                                        <p:tav tm="0">
                                          <p:val>
                                            <p:fltVal val="0"/>
                                          </p:val>
                                        </p:tav>
                                        <p:tav tm="100000">
                                          <p:val>
                                            <p:strVal val="#ppt_h"/>
                                          </p:val>
                                        </p:tav>
                                      </p:tavLst>
                                    </p:anim>
                                    <p:animEffect transition="in" filter="fade">
                                      <p:cBhvr>
                                        <p:cTn id="58" dur="500"/>
                                        <p:tgtEl>
                                          <p:spTgt spid="55"/>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55"/>
                                        </p:tgtEl>
                                        <p:attrNameLst>
                                          <p:attrName>style.visibility</p:attrName>
                                        </p:attrNameLst>
                                      </p:cBhvr>
                                      <p:to>
                                        <p:strVal val="hidden"/>
                                      </p:to>
                                    </p:set>
                                  </p:childTnLst>
                                </p:cTn>
                              </p:par>
                              <p:par>
                                <p:cTn id="63" presetID="1" presetClass="entr" presetSubtype="0" fill="hold" grpId="0" nodeType="withEffect">
                                  <p:stCondLst>
                                    <p:cond delay="0"/>
                                  </p:stCondLst>
                                  <p:childTnLst>
                                    <p:set>
                                      <p:cBhvr>
                                        <p:cTn id="64" dur="1" fill="hold">
                                          <p:stCondLst>
                                            <p:cond delay="0"/>
                                          </p:stCondLst>
                                        </p:cTn>
                                        <p:tgtEl>
                                          <p:spTgt spid="5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53" presetClass="entr" presetSubtype="16" fill="hold" nodeType="clickEffect">
                                  <p:stCondLst>
                                    <p:cond delay="0"/>
                                  </p:stCondLst>
                                  <p:childTnLst>
                                    <p:set>
                                      <p:cBhvr>
                                        <p:cTn id="68" dur="1" fill="hold">
                                          <p:stCondLst>
                                            <p:cond delay="0"/>
                                          </p:stCondLst>
                                        </p:cTn>
                                        <p:tgtEl>
                                          <p:spTgt spid="62"/>
                                        </p:tgtEl>
                                        <p:attrNameLst>
                                          <p:attrName>style.visibility</p:attrName>
                                        </p:attrNameLst>
                                      </p:cBhvr>
                                      <p:to>
                                        <p:strVal val="visible"/>
                                      </p:to>
                                    </p:set>
                                    <p:anim calcmode="lin" valueType="num">
                                      <p:cBhvr>
                                        <p:cTn id="69" dur="500" fill="hold"/>
                                        <p:tgtEl>
                                          <p:spTgt spid="62"/>
                                        </p:tgtEl>
                                        <p:attrNameLst>
                                          <p:attrName>ppt_w</p:attrName>
                                        </p:attrNameLst>
                                      </p:cBhvr>
                                      <p:tavLst>
                                        <p:tav tm="0">
                                          <p:val>
                                            <p:fltVal val="0"/>
                                          </p:val>
                                        </p:tav>
                                        <p:tav tm="100000">
                                          <p:val>
                                            <p:strVal val="#ppt_w"/>
                                          </p:val>
                                        </p:tav>
                                      </p:tavLst>
                                    </p:anim>
                                    <p:anim calcmode="lin" valueType="num">
                                      <p:cBhvr>
                                        <p:cTn id="70" dur="500" fill="hold"/>
                                        <p:tgtEl>
                                          <p:spTgt spid="62"/>
                                        </p:tgtEl>
                                        <p:attrNameLst>
                                          <p:attrName>ppt_h</p:attrName>
                                        </p:attrNameLst>
                                      </p:cBhvr>
                                      <p:tavLst>
                                        <p:tav tm="0">
                                          <p:val>
                                            <p:fltVal val="0"/>
                                          </p:val>
                                        </p:tav>
                                        <p:tav tm="100000">
                                          <p:val>
                                            <p:strVal val="#ppt_h"/>
                                          </p:val>
                                        </p:tav>
                                      </p:tavLst>
                                    </p:anim>
                                    <p:animEffect transition="in" filter="fade">
                                      <p:cBhvr>
                                        <p:cTn id="71" dur="500"/>
                                        <p:tgtEl>
                                          <p:spTgt spid="62"/>
                                        </p:tgtEl>
                                      </p:cBhvr>
                                    </p:animEffect>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grpId="0" nodeType="clickEffect">
                                  <p:stCondLst>
                                    <p:cond delay="0"/>
                                  </p:stCondLst>
                                  <p:childTnLst>
                                    <p:set>
                                      <p:cBhvr>
                                        <p:cTn id="75" dur="1" fill="hold">
                                          <p:stCondLst>
                                            <p:cond delay="0"/>
                                          </p:stCondLst>
                                        </p:cTn>
                                        <p:tgtEl>
                                          <p:spTgt spid="57"/>
                                        </p:tgtEl>
                                        <p:attrNameLst>
                                          <p:attrName>style.visibility</p:attrName>
                                        </p:attrNameLst>
                                      </p:cBhvr>
                                      <p:to>
                                        <p:strVal val="visible"/>
                                      </p:to>
                                    </p:set>
                                    <p:anim calcmode="lin" valueType="num">
                                      <p:cBhvr>
                                        <p:cTn id="76" dur="500" fill="hold"/>
                                        <p:tgtEl>
                                          <p:spTgt spid="57"/>
                                        </p:tgtEl>
                                        <p:attrNameLst>
                                          <p:attrName>ppt_w</p:attrName>
                                        </p:attrNameLst>
                                      </p:cBhvr>
                                      <p:tavLst>
                                        <p:tav tm="0">
                                          <p:val>
                                            <p:fltVal val="0"/>
                                          </p:val>
                                        </p:tav>
                                        <p:tav tm="100000">
                                          <p:val>
                                            <p:strVal val="#ppt_w"/>
                                          </p:val>
                                        </p:tav>
                                      </p:tavLst>
                                    </p:anim>
                                    <p:anim calcmode="lin" valueType="num">
                                      <p:cBhvr>
                                        <p:cTn id="77" dur="500" fill="hold"/>
                                        <p:tgtEl>
                                          <p:spTgt spid="57"/>
                                        </p:tgtEl>
                                        <p:attrNameLst>
                                          <p:attrName>ppt_h</p:attrName>
                                        </p:attrNameLst>
                                      </p:cBhvr>
                                      <p:tavLst>
                                        <p:tav tm="0">
                                          <p:val>
                                            <p:fltVal val="0"/>
                                          </p:val>
                                        </p:tav>
                                        <p:tav tm="100000">
                                          <p:val>
                                            <p:strVal val="#ppt_h"/>
                                          </p:val>
                                        </p:tav>
                                      </p:tavLst>
                                    </p:anim>
                                    <p:animEffect transition="in" filter="fade">
                                      <p:cBhvr>
                                        <p:cTn id="78" dur="500"/>
                                        <p:tgtEl>
                                          <p:spTgt spid="57"/>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59"/>
                                        </p:tgtEl>
                                        <p:attrNameLst>
                                          <p:attrName>style.visibility</p:attrName>
                                        </p:attrNameLst>
                                      </p:cBhvr>
                                      <p:to>
                                        <p:strVal val="visible"/>
                                      </p:to>
                                    </p:set>
                                    <p:animEffect transition="in" filter="wipe(left)">
                                      <p:cBhvr>
                                        <p:cTn id="83" dur="500"/>
                                        <p:tgtEl>
                                          <p:spTgt spid="59"/>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xit" presetSubtype="0" fill="hold" grpId="1" nodeType="clickEffect">
                                  <p:stCondLst>
                                    <p:cond delay="0"/>
                                  </p:stCondLst>
                                  <p:childTnLst>
                                    <p:animEffect transition="out" filter="fade">
                                      <p:cBhvr>
                                        <p:cTn id="87" dur="500"/>
                                        <p:tgtEl>
                                          <p:spTgt spid="43"/>
                                        </p:tgtEl>
                                      </p:cBhvr>
                                    </p:animEffect>
                                    <p:set>
                                      <p:cBhvr>
                                        <p:cTn id="88" dur="1" fill="hold">
                                          <p:stCondLst>
                                            <p:cond delay="499"/>
                                          </p:stCondLst>
                                        </p:cTn>
                                        <p:tgtEl>
                                          <p:spTgt spid="43"/>
                                        </p:tgtEl>
                                        <p:attrNameLst>
                                          <p:attrName>style.visibility</p:attrName>
                                        </p:attrNameLst>
                                      </p:cBhvr>
                                      <p:to>
                                        <p:strVal val="hidden"/>
                                      </p:to>
                                    </p:set>
                                  </p:childTnLst>
                                </p:cTn>
                              </p:par>
                              <p:par>
                                <p:cTn id="89" presetID="10" presetClass="entr" presetSubtype="0" fill="hold" grpId="0" nodeType="withEffect">
                                  <p:stCondLst>
                                    <p:cond delay="0"/>
                                  </p:stCondLst>
                                  <p:childTnLst>
                                    <p:set>
                                      <p:cBhvr>
                                        <p:cTn id="90" dur="1" fill="hold">
                                          <p:stCondLst>
                                            <p:cond delay="0"/>
                                          </p:stCondLst>
                                        </p:cTn>
                                        <p:tgtEl>
                                          <p:spTgt spid="60"/>
                                        </p:tgtEl>
                                        <p:attrNameLst>
                                          <p:attrName>style.visibility</p:attrName>
                                        </p:attrNameLst>
                                      </p:cBhvr>
                                      <p:to>
                                        <p:strVal val="visible"/>
                                      </p:to>
                                    </p:set>
                                    <p:animEffect transition="in" filter="fade">
                                      <p:cBhvr>
                                        <p:cTn id="91" dur="500"/>
                                        <p:tgtEl>
                                          <p:spTgt spid="60"/>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63"/>
                                        </p:tgtEl>
                                        <p:attrNameLst>
                                          <p:attrName>style.visibility</p:attrName>
                                        </p:attrNameLst>
                                      </p:cBhvr>
                                      <p:to>
                                        <p:strVal val="visible"/>
                                      </p:to>
                                    </p:set>
                                  </p:childTnLst>
                                </p:cTn>
                              </p:par>
                              <p:par>
                                <p:cTn id="96" presetID="22" presetClass="entr" presetSubtype="4" fill="hold" grpId="0" nodeType="withEffect">
                                  <p:stCondLst>
                                    <p:cond delay="0"/>
                                  </p:stCondLst>
                                  <p:childTnLst>
                                    <p:set>
                                      <p:cBhvr>
                                        <p:cTn id="97" dur="1" fill="hold">
                                          <p:stCondLst>
                                            <p:cond delay="0"/>
                                          </p:stCondLst>
                                        </p:cTn>
                                        <p:tgtEl>
                                          <p:spTgt spid="64"/>
                                        </p:tgtEl>
                                        <p:attrNameLst>
                                          <p:attrName>style.visibility</p:attrName>
                                        </p:attrNameLst>
                                      </p:cBhvr>
                                      <p:to>
                                        <p:strVal val="visible"/>
                                      </p:to>
                                    </p:set>
                                    <p:animEffect transition="in" filter="wipe(down)">
                                      <p:cBhvr>
                                        <p:cTn id="98"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3" grpId="1" animBg="1"/>
      <p:bldP spid="60" grpId="0" animBg="1"/>
      <p:bldP spid="53" grpId="0"/>
      <p:bldP spid="53" grpId="1"/>
      <p:bldP spid="54" grpId="0"/>
      <p:bldP spid="55" grpId="0"/>
      <p:bldP spid="55" grpId="1"/>
      <p:bldP spid="56" grpId="0"/>
      <p:bldP spid="57" grpId="0"/>
      <p:bldP spid="63" grpId="0"/>
      <p:bldP spid="6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¿Por qué Java?</a:t>
            </a:r>
          </a:p>
        </p:txBody>
      </p:sp>
      <p:sp>
        <p:nvSpPr>
          <p:cNvPr id="3" name="Marcador de contenido 2"/>
          <p:cNvSpPr>
            <a:spLocks noGrp="1"/>
          </p:cNvSpPr>
          <p:nvPr>
            <p:ph idx="1"/>
          </p:nvPr>
        </p:nvSpPr>
        <p:spPr/>
        <p:txBody>
          <a:bodyPr/>
          <a:lstStyle/>
          <a:p>
            <a:endParaRPr lang="es-ES" b="0" dirty="0"/>
          </a:p>
          <a:p>
            <a:r>
              <a:rPr lang="es-ES" b="0" dirty="0"/>
              <a:t>Según Oracle, 3.000 millones de dispositivos en el mundo usan Java</a:t>
            </a:r>
            <a:endParaRPr lang="es-ES" dirty="0"/>
          </a:p>
        </p:txBody>
      </p:sp>
      <p:pic>
        <p:nvPicPr>
          <p:cNvPr id="5" name="Imagen 4"/>
          <p:cNvPicPr>
            <a:picLocks noChangeAspect="1"/>
          </p:cNvPicPr>
          <p:nvPr/>
        </p:nvPicPr>
        <p:blipFill rotWithShape="1">
          <a:blip r:embed="rId2"/>
          <a:srcRect l="5113" t="43000" r="46456" b="11501"/>
          <a:stretch/>
        </p:blipFill>
        <p:spPr>
          <a:xfrm>
            <a:off x="1992235" y="2708920"/>
            <a:ext cx="5943678" cy="3140968"/>
          </a:xfrm>
          <a:prstGeom prst="rect">
            <a:avLst/>
          </a:prstGeom>
        </p:spPr>
      </p:pic>
    </p:spTree>
    <p:extLst>
      <p:ext uri="{BB962C8B-B14F-4D97-AF65-F5344CB8AC3E}">
        <p14:creationId xmlns:p14="http://schemas.microsoft.com/office/powerpoint/2010/main" val="198007428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¿Por qué Java?</a:t>
            </a:r>
          </a:p>
        </p:txBody>
      </p:sp>
      <p:sp>
        <p:nvSpPr>
          <p:cNvPr id="3" name="Marcador de contenido 2"/>
          <p:cNvSpPr>
            <a:spLocks noGrp="1"/>
          </p:cNvSpPr>
          <p:nvPr>
            <p:ph idx="1"/>
          </p:nvPr>
        </p:nvSpPr>
        <p:spPr/>
        <p:txBody>
          <a:bodyPr/>
          <a:lstStyle/>
          <a:p>
            <a:r>
              <a:rPr lang="es-ES" dirty="0"/>
              <a:t>¿Por qué aprender Java?</a:t>
            </a:r>
          </a:p>
          <a:p>
            <a:r>
              <a:rPr lang="es-ES" b="0" dirty="0"/>
              <a:t>Java es quizás el lenguaje de programación </a:t>
            </a:r>
            <a:r>
              <a:rPr lang="es-ES" i="1" dirty="0"/>
              <a:t>más usado</a:t>
            </a:r>
            <a:r>
              <a:rPr lang="es-ES" b="0" dirty="0"/>
              <a:t>. Es uno de los </a:t>
            </a:r>
            <a:r>
              <a:rPr lang="es-ES" i="1" dirty="0"/>
              <a:t>mejor pagados</a:t>
            </a:r>
            <a:r>
              <a:rPr lang="es-ES" b="0" dirty="0"/>
              <a:t>. Uno de los que abarca más campos y tipos de dispositivos: web, juegos, teléfonos, televisores, tomógrafos computados, etc.</a:t>
            </a:r>
          </a:p>
          <a:p>
            <a:r>
              <a:rPr lang="es-ES" b="0" dirty="0"/>
              <a:t>Podemos pensar en java, como un lenguaje común entre diferentes sistemas operativos, dispositivos, industrias y programadores.</a:t>
            </a:r>
          </a:p>
          <a:p>
            <a:r>
              <a:rPr lang="es-ES" b="0" dirty="0"/>
              <a:t>Además, es un lenguaje moderno y potente, de </a:t>
            </a:r>
            <a:r>
              <a:rPr lang="es-ES" i="1" dirty="0"/>
              <a:t>alta productividad</a:t>
            </a:r>
            <a:r>
              <a:rPr lang="es-ES" b="0" dirty="0"/>
              <a:t>. Esta productividad, permite a una sola persona o pequeño grupo, realizar programas que antes sólo podían ser realizados por grandes compañías.</a:t>
            </a:r>
          </a:p>
        </p:txBody>
      </p:sp>
    </p:spTree>
    <p:extLst>
      <p:ext uri="{BB962C8B-B14F-4D97-AF65-F5344CB8AC3E}">
        <p14:creationId xmlns:p14="http://schemas.microsoft.com/office/powerpoint/2010/main" val="321785745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¿Por qué Java?</a:t>
            </a:r>
          </a:p>
        </p:txBody>
      </p:sp>
      <p:sp>
        <p:nvSpPr>
          <p:cNvPr id="3" name="Marcador de contenido 2"/>
          <p:cNvSpPr>
            <a:spLocks noGrp="1"/>
          </p:cNvSpPr>
          <p:nvPr>
            <p:ph idx="1"/>
          </p:nvPr>
        </p:nvSpPr>
        <p:spPr/>
        <p:txBody>
          <a:bodyPr/>
          <a:lstStyle/>
          <a:p>
            <a:r>
              <a:rPr lang="es-ES" sz="2000" dirty="0"/>
              <a:t>Tiene salidas laborales</a:t>
            </a:r>
          </a:p>
          <a:p>
            <a:r>
              <a:rPr lang="es-ES" sz="2000" b="0" dirty="0"/>
              <a:t>Tener conocimientos de programación en Java es algo muy demandado por empresas. Es un lenguaje de programación muy extendido con una base instalada gigantesca.</a:t>
            </a:r>
          </a:p>
          <a:p>
            <a:r>
              <a:rPr lang="es-ES" sz="2000" dirty="0"/>
              <a:t>Java está en todas partes</a:t>
            </a:r>
          </a:p>
          <a:p>
            <a:r>
              <a:rPr lang="es-ES" sz="2000" b="0" dirty="0"/>
              <a:t>Se estima que Java se ejecuta en más de 15.000.000.000 de dispositivos en todo el mundo (sí, 15 mil millones, has leído bien). No hay ningún otro lenguaje que se ejecute en tantos dispositivos. Java te permite crear software que funciona en casi cualquier sitio, incluido </a:t>
            </a:r>
            <a:r>
              <a:rPr lang="es-ES" sz="2000" b="0" i="1" dirty="0" err="1"/>
              <a:t>smartphones</a:t>
            </a:r>
            <a:r>
              <a:rPr lang="es-ES" sz="2000" b="0" dirty="0"/>
              <a:t>, servidores, cajeros automáticos, terminales punto de venta, tarjetas inteligentes, televisores inteligentes, decodificadores de TV, las pasarelas del Internet de las cosas, dispositivos médicos, libros electrónicos como Kindle, automóviles y demás...</a:t>
            </a:r>
          </a:p>
          <a:p>
            <a:endParaRPr lang="es-ES" b="0" dirty="0"/>
          </a:p>
        </p:txBody>
      </p:sp>
    </p:spTree>
    <p:extLst>
      <p:ext uri="{BB962C8B-B14F-4D97-AF65-F5344CB8AC3E}">
        <p14:creationId xmlns:p14="http://schemas.microsoft.com/office/powerpoint/2010/main" val="27652261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¿Por qué Java?</a:t>
            </a:r>
          </a:p>
        </p:txBody>
      </p:sp>
      <p:sp>
        <p:nvSpPr>
          <p:cNvPr id="3" name="Marcador de contenido 2"/>
          <p:cNvSpPr>
            <a:spLocks noGrp="1"/>
          </p:cNvSpPr>
          <p:nvPr>
            <p:ph idx="1"/>
          </p:nvPr>
        </p:nvSpPr>
        <p:spPr/>
        <p:txBody>
          <a:bodyPr/>
          <a:lstStyle/>
          <a:p>
            <a:r>
              <a:rPr lang="es-ES" sz="2000" dirty="0"/>
              <a:t>Java se usa en aplicaciones del mundo real</a:t>
            </a:r>
          </a:p>
          <a:p>
            <a:r>
              <a:rPr lang="es-ES" sz="1800" b="0" dirty="0"/>
              <a:t>Java se usa en muchas de las páginas webs más prominentes del mundo, incluyendo eBay.com, Linkedin.com, Amazon.com, y Facebook.com.</a:t>
            </a:r>
          </a:p>
          <a:p>
            <a:r>
              <a:rPr lang="es-ES" sz="1800" b="0" dirty="0"/>
              <a:t>Java es muy bueno para el desarrollo de aplicaciones empresariales de casi cualquier sector, incluyendo servicios financieros, sanidad e industrias manufactureras.</a:t>
            </a:r>
          </a:p>
          <a:p>
            <a:r>
              <a:rPr lang="es-ES" sz="1800" b="0" dirty="0"/>
              <a:t>La mayoría de las administraciones públicas utilizan Java.</a:t>
            </a:r>
          </a:p>
          <a:p>
            <a:r>
              <a:rPr lang="es-ES" sz="1800" b="0" dirty="0"/>
              <a:t>Java es ideal para el Internet de las cosas.</a:t>
            </a:r>
          </a:p>
          <a:p>
            <a:r>
              <a:rPr lang="es-ES" sz="1800" b="0" dirty="0"/>
              <a:t>Java es una buena alternativa para el desarrollo en la nube.</a:t>
            </a:r>
          </a:p>
          <a:p>
            <a:r>
              <a:rPr lang="es-ES" sz="1800" dirty="0"/>
              <a:t>La comunidad Java es muy entusiasta</a:t>
            </a:r>
          </a:p>
          <a:p>
            <a:r>
              <a:rPr lang="es-ES" sz="1800" b="0" dirty="0"/>
              <a:t>Hay estimaciones que revelan que hay en torno a 9 millones de desarrolladores Java en el mundo, y es una comunidad muy activa que colabora y trabaja unida para dar cobijo y hacer crecer este potente lenguaje de programación. Hay muchas formas de participar en las acciones que lleva a cabo la comunidad Java.</a:t>
            </a:r>
          </a:p>
          <a:p>
            <a:endParaRPr lang="es-ES" sz="2000" b="0" dirty="0"/>
          </a:p>
        </p:txBody>
      </p:sp>
    </p:spTree>
    <p:extLst>
      <p:ext uri="{BB962C8B-B14F-4D97-AF65-F5344CB8AC3E}">
        <p14:creationId xmlns:p14="http://schemas.microsoft.com/office/powerpoint/2010/main" val="18073531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¿Por qué Java?</a:t>
            </a:r>
          </a:p>
        </p:txBody>
      </p:sp>
      <p:sp>
        <p:nvSpPr>
          <p:cNvPr id="3" name="Marcador de contenido 2"/>
          <p:cNvSpPr>
            <a:spLocks noGrp="1"/>
          </p:cNvSpPr>
          <p:nvPr>
            <p:ph idx="1"/>
          </p:nvPr>
        </p:nvSpPr>
        <p:spPr/>
        <p:txBody>
          <a:bodyPr/>
          <a:lstStyle/>
          <a:p>
            <a:r>
              <a:rPr lang="es-ES" sz="1800" dirty="0"/>
              <a:t>Java cuenta con un conjunto de herramientas sólidas que te ayudan a ser más productivo</a:t>
            </a:r>
          </a:p>
          <a:p>
            <a:r>
              <a:rPr lang="es-ES" sz="1800" b="0" dirty="0"/>
              <a:t>Un factor importante a la hora de elegir un lenguaje de programación es tener disponible en torno a ese lenguaje herramientas para desarrolladores que garanticen la productividad. Las herramientas Java de desarrollo de software se utilizan para optimizar el rendimiento de los programas Java. Existe una gran cantidad de herramientas gratuitas a pesar de que Java es comercial y propiedad de Oracle. Algunas de las herramientas más comunes son los entornos de desarrollo integrados (IDE) como Eclipse e </a:t>
            </a:r>
            <a:r>
              <a:rPr lang="es-ES" sz="1800" b="0" dirty="0" err="1"/>
              <a:t>IntelliJIDEA</a:t>
            </a:r>
            <a:r>
              <a:rPr lang="es-ES" sz="1800" b="0" dirty="0"/>
              <a:t>, que sirven para documentar y depurar el código.</a:t>
            </a:r>
          </a:p>
          <a:p>
            <a:r>
              <a:rPr lang="es-ES" sz="1800" b="0" dirty="0"/>
              <a:t>Además, Java cuenta con muchos </a:t>
            </a:r>
            <a:r>
              <a:rPr lang="es-ES" sz="1800" b="0" dirty="0" err="1"/>
              <a:t>frameworks</a:t>
            </a:r>
            <a:r>
              <a:rPr lang="es-ES" sz="1800" b="0" dirty="0"/>
              <a:t>, o código utilizable prefabricado que se suele emplear como plantillas para aplicaciones de escritorio y móviles. Los desarrolladores utilizan estos </a:t>
            </a:r>
            <a:r>
              <a:rPr lang="es-ES" sz="1800" b="0" dirty="0" err="1"/>
              <a:t>frameworks</a:t>
            </a:r>
            <a:r>
              <a:rPr lang="es-ES" sz="1800" b="0" dirty="0"/>
              <a:t> en lugar de crear código personalizado desde cero. </a:t>
            </a:r>
          </a:p>
          <a:p>
            <a:endParaRPr lang="es-ES" b="0" dirty="0"/>
          </a:p>
          <a:p>
            <a:endParaRPr lang="es-ES" b="0" dirty="0"/>
          </a:p>
        </p:txBody>
      </p:sp>
    </p:spTree>
    <p:extLst>
      <p:ext uri="{BB962C8B-B14F-4D97-AF65-F5344CB8AC3E}">
        <p14:creationId xmlns:p14="http://schemas.microsoft.com/office/powerpoint/2010/main" val="27573556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¿Por qué Java 8?</a:t>
            </a:r>
          </a:p>
        </p:txBody>
      </p:sp>
      <p:sp>
        <p:nvSpPr>
          <p:cNvPr id="5" name="CuadroTexto 4"/>
          <p:cNvSpPr txBox="1"/>
          <p:nvPr/>
        </p:nvSpPr>
        <p:spPr>
          <a:xfrm>
            <a:off x="1043608" y="1700809"/>
            <a:ext cx="4680520" cy="384721"/>
          </a:xfrm>
          <a:prstGeom prst="rect">
            <a:avLst/>
          </a:prstGeom>
          <a:noFill/>
        </p:spPr>
        <p:txBody>
          <a:bodyPr wrap="square" rtlCol="0">
            <a:spAutoFit/>
          </a:bodyPr>
          <a:lstStyle/>
          <a:p>
            <a:r>
              <a:rPr lang="es-ES" dirty="0"/>
              <a:t>Programación de dispositivos móviles</a:t>
            </a:r>
          </a:p>
        </p:txBody>
      </p:sp>
      <p:sp>
        <p:nvSpPr>
          <p:cNvPr id="6" name="CuadroTexto 5"/>
          <p:cNvSpPr txBox="1"/>
          <p:nvPr/>
        </p:nvSpPr>
        <p:spPr>
          <a:xfrm>
            <a:off x="1043608" y="3863028"/>
            <a:ext cx="4680520" cy="384721"/>
          </a:xfrm>
          <a:prstGeom prst="rect">
            <a:avLst/>
          </a:prstGeom>
          <a:noFill/>
        </p:spPr>
        <p:txBody>
          <a:bodyPr wrap="square" rtlCol="0">
            <a:spAutoFit/>
          </a:bodyPr>
          <a:lstStyle/>
          <a:p>
            <a:r>
              <a:rPr lang="es-ES" dirty="0"/>
              <a:t>Programación back-</a:t>
            </a:r>
            <a:r>
              <a:rPr lang="es-ES" dirty="0" err="1"/>
              <a:t>end</a:t>
            </a:r>
            <a:endParaRPr lang="es-ES" dirty="0"/>
          </a:p>
        </p:txBody>
      </p:sp>
      <p:pic>
        <p:nvPicPr>
          <p:cNvPr id="2054" name="Picture 6" descr="es Android lo mejor que le ha podido pasar al puto Linux? | putolinux"/>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53419" y="2293832"/>
            <a:ext cx="1362597" cy="1360894"/>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Cursos Spring - Formación Java para empresas - Formadores I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8592" y="4424723"/>
            <a:ext cx="2832249" cy="1302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130017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¿Por qué Java?</a:t>
            </a:r>
          </a:p>
        </p:txBody>
      </p:sp>
      <p:sp>
        <p:nvSpPr>
          <p:cNvPr id="3" name="CuadroTexto 2"/>
          <p:cNvSpPr txBox="1"/>
          <p:nvPr/>
        </p:nvSpPr>
        <p:spPr>
          <a:xfrm>
            <a:off x="1979712" y="5229200"/>
            <a:ext cx="5569838" cy="384721"/>
          </a:xfrm>
          <a:prstGeom prst="rect">
            <a:avLst/>
          </a:prstGeom>
          <a:noFill/>
        </p:spPr>
        <p:txBody>
          <a:bodyPr wrap="square" rtlCol="0">
            <a:spAutoFit/>
          </a:bodyPr>
          <a:lstStyle/>
          <a:p>
            <a:r>
              <a:rPr lang="es-ES" dirty="0"/>
              <a:t>https://www.jobted.es/salario/programador-java</a:t>
            </a:r>
          </a:p>
        </p:txBody>
      </p:sp>
      <p:pic>
        <p:nvPicPr>
          <p:cNvPr id="5" name="Imagen 4"/>
          <p:cNvPicPr>
            <a:picLocks noChangeAspect="1"/>
          </p:cNvPicPr>
          <p:nvPr/>
        </p:nvPicPr>
        <p:blipFill>
          <a:blip r:embed="rId2"/>
          <a:stretch>
            <a:fillRect/>
          </a:stretch>
        </p:blipFill>
        <p:spPr>
          <a:xfrm>
            <a:off x="900949" y="1412776"/>
            <a:ext cx="7042875" cy="3541205"/>
          </a:xfrm>
          <a:prstGeom prst="rect">
            <a:avLst/>
          </a:prstGeom>
        </p:spPr>
      </p:pic>
    </p:spTree>
    <p:extLst>
      <p:ext uri="{BB962C8B-B14F-4D97-AF65-F5344CB8AC3E}">
        <p14:creationId xmlns:p14="http://schemas.microsoft.com/office/powerpoint/2010/main" val="303553830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91 Esquina doblada"/>
          <p:cNvSpPr/>
          <p:nvPr/>
        </p:nvSpPr>
        <p:spPr bwMode="auto">
          <a:xfrm>
            <a:off x="683568" y="1785926"/>
            <a:ext cx="8064896" cy="2939218"/>
          </a:xfrm>
          <a:prstGeom prst="foldedCorner">
            <a:avLst/>
          </a:prstGeom>
          <a:solidFill>
            <a:srgbClr val="EFFE98"/>
          </a:solidFill>
          <a:ln w="952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_tradnl" sz="1900" b="0" i="0" u="none" strike="noStrike" cap="none" normalizeH="0" baseline="0">
              <a:ln>
                <a:noFill/>
              </a:ln>
              <a:solidFill>
                <a:schemeClr val="tx1"/>
              </a:solidFill>
              <a:effectLst/>
              <a:latin typeface="Arial" charset="0"/>
            </a:endParaRPr>
          </a:p>
        </p:txBody>
      </p:sp>
      <p:sp>
        <p:nvSpPr>
          <p:cNvPr id="19" name="18 Rectángulo"/>
          <p:cNvSpPr/>
          <p:nvPr/>
        </p:nvSpPr>
        <p:spPr>
          <a:xfrm>
            <a:off x="3635896" y="1475663"/>
            <a:ext cx="2056973" cy="384721"/>
          </a:xfrm>
          <a:prstGeom prst="rect">
            <a:avLst/>
          </a:prstGeom>
        </p:spPr>
        <p:txBody>
          <a:bodyPr wrap="none">
            <a:spAutoFit/>
          </a:bodyPr>
          <a:lstStyle/>
          <a:p>
            <a:r>
              <a:rPr lang="es-ES" b="1" dirty="0" err="1"/>
              <a:t>HolaMundo.java</a:t>
            </a:r>
            <a:endParaRPr lang="es-ES" dirty="0"/>
          </a:p>
        </p:txBody>
      </p:sp>
      <p:grpSp>
        <p:nvGrpSpPr>
          <p:cNvPr id="77" name="76 Grupo"/>
          <p:cNvGrpSpPr/>
          <p:nvPr/>
        </p:nvGrpSpPr>
        <p:grpSpPr>
          <a:xfrm>
            <a:off x="971600" y="2000926"/>
            <a:ext cx="7488832" cy="2378424"/>
            <a:chOff x="971600" y="1928918"/>
            <a:chExt cx="7488832" cy="2378424"/>
          </a:xfrm>
        </p:grpSpPr>
        <p:sp>
          <p:nvSpPr>
            <p:cNvPr id="32" name="31 Rectángulo"/>
            <p:cNvSpPr/>
            <p:nvPr/>
          </p:nvSpPr>
          <p:spPr bwMode="auto">
            <a:xfrm>
              <a:off x="971600" y="1928918"/>
              <a:ext cx="7488832" cy="2378424"/>
            </a:xfrm>
            <a:prstGeom prst="rect">
              <a:avLst/>
            </a:prstGeom>
            <a:solidFill>
              <a:srgbClr val="DEBD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1" name="20 Rectángulo"/>
            <p:cNvSpPr/>
            <p:nvPr/>
          </p:nvSpPr>
          <p:spPr>
            <a:xfrm>
              <a:off x="1043608" y="1943541"/>
              <a:ext cx="7292286" cy="2277547"/>
            </a:xfrm>
            <a:prstGeom prst="rect">
              <a:avLst/>
            </a:prstGeom>
          </p:spPr>
          <p:txBody>
            <a:bodyPr wrap="square">
              <a:spAutoFit/>
            </a:bodyPr>
            <a:lstStyle/>
            <a:p>
              <a:r>
                <a:rPr lang="es-ES" sz="1600" b="1" dirty="0" err="1">
                  <a:solidFill>
                    <a:srgbClr val="0070C0"/>
                  </a:solidFill>
                </a:rPr>
                <a:t>public</a:t>
              </a:r>
              <a:r>
                <a:rPr lang="es-ES" sz="1600" b="1" dirty="0">
                  <a:solidFill>
                    <a:srgbClr val="0070C0"/>
                  </a:solidFill>
                </a:rPr>
                <a:t> </a:t>
              </a:r>
              <a:r>
                <a:rPr lang="es-ES" sz="1600" b="1" dirty="0" err="1">
                  <a:solidFill>
                    <a:srgbClr val="0070C0"/>
                  </a:solidFill>
                </a:rPr>
                <a:t>class</a:t>
              </a:r>
              <a:r>
                <a:rPr lang="es-ES" sz="1600" b="1" dirty="0">
                  <a:solidFill>
                    <a:srgbClr val="0070C0"/>
                  </a:solidFill>
                </a:rPr>
                <a:t> </a:t>
              </a:r>
              <a:r>
                <a:rPr lang="es-ES" sz="1600" b="1" dirty="0" err="1"/>
                <a:t>HolaMundo</a:t>
              </a:r>
              <a:endParaRPr lang="es-ES" sz="1600" b="1" dirty="0"/>
            </a:p>
            <a:p>
              <a:pPr>
                <a:spcAft>
                  <a:spcPts val="600"/>
                </a:spcAft>
              </a:pPr>
              <a:r>
                <a:rPr lang="es-ES" sz="1600" dirty="0"/>
                <a:t>{</a:t>
              </a:r>
            </a:p>
            <a:p>
              <a:pPr>
                <a:spcAft>
                  <a:spcPts val="600"/>
                </a:spcAft>
              </a:pPr>
              <a:endParaRPr lang="es-ES" sz="1600" dirty="0"/>
            </a:p>
            <a:p>
              <a:pPr>
                <a:spcAft>
                  <a:spcPts val="600"/>
                </a:spcAft>
              </a:pPr>
              <a:endParaRPr lang="es-ES" sz="1600" dirty="0"/>
            </a:p>
            <a:p>
              <a:pPr>
                <a:spcAft>
                  <a:spcPts val="600"/>
                </a:spcAft>
              </a:pPr>
              <a:endParaRPr lang="es-ES" sz="1600" dirty="0"/>
            </a:p>
            <a:p>
              <a:pPr>
                <a:spcAft>
                  <a:spcPts val="600"/>
                </a:spcAft>
              </a:pPr>
              <a:endParaRPr lang="es-ES" sz="1600" dirty="0"/>
            </a:p>
            <a:p>
              <a:pPr>
                <a:spcBef>
                  <a:spcPts val="600"/>
                </a:spcBef>
              </a:pPr>
              <a:r>
                <a:rPr lang="es-ES" sz="1600" dirty="0"/>
                <a:t>}</a:t>
              </a:r>
            </a:p>
          </p:txBody>
        </p:sp>
      </p:grpSp>
      <p:sp>
        <p:nvSpPr>
          <p:cNvPr id="2" name="1 Título"/>
          <p:cNvSpPr>
            <a:spLocks noGrp="1"/>
          </p:cNvSpPr>
          <p:nvPr>
            <p:ph type="title"/>
          </p:nvPr>
        </p:nvSpPr>
        <p:spPr>
          <a:xfrm>
            <a:off x="862306" y="347017"/>
            <a:ext cx="7392988" cy="117516"/>
          </a:xfrm>
        </p:spPr>
        <p:txBody>
          <a:bodyPr/>
          <a:lstStyle/>
          <a:p>
            <a:r>
              <a:rPr lang="es-ES" dirty="0"/>
              <a:t>Estructura </a:t>
            </a:r>
            <a:r>
              <a:rPr lang="es-ES"/>
              <a:t>y bloques fundamentales </a:t>
            </a:r>
            <a:endParaRPr lang="es-ES" dirty="0"/>
          </a:p>
        </p:txBody>
      </p:sp>
      <p:sp>
        <p:nvSpPr>
          <p:cNvPr id="16" name="15 Rectángulo"/>
          <p:cNvSpPr/>
          <p:nvPr/>
        </p:nvSpPr>
        <p:spPr>
          <a:xfrm>
            <a:off x="1225134" y="2907876"/>
            <a:ext cx="4949979" cy="2942949"/>
          </a:xfrm>
          <a:prstGeom prst="rect">
            <a:avLst/>
          </a:prstGeom>
          <a:scene3d>
            <a:camera prst="orthographicFront">
              <a:rot lat="0" lon="0" rev="0"/>
            </a:camera>
            <a:lightRig rig="contrasting" dir="t">
              <a:rot lat="0" lon="0" rev="1200000"/>
            </a:lightRig>
          </a:scene3d>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endParaRPr lang="es-ES" sz="2700" kern="1200"/>
          </a:p>
          <a:p>
            <a:pPr marL="228600" lvl="1" indent="-228600" algn="l" defTabSz="1200150">
              <a:lnSpc>
                <a:spcPct val="90000"/>
              </a:lnSpc>
              <a:spcBef>
                <a:spcPct val="0"/>
              </a:spcBef>
              <a:spcAft>
                <a:spcPct val="15000"/>
              </a:spcAft>
              <a:buChar char="••"/>
            </a:pPr>
            <a:endParaRPr lang="es-ES" sz="2700" kern="1200"/>
          </a:p>
        </p:txBody>
      </p:sp>
      <p:grpSp>
        <p:nvGrpSpPr>
          <p:cNvPr id="81" name="80 Grupo"/>
          <p:cNvGrpSpPr/>
          <p:nvPr/>
        </p:nvGrpSpPr>
        <p:grpSpPr>
          <a:xfrm>
            <a:off x="1785111" y="2925278"/>
            <a:ext cx="6531305" cy="1139094"/>
            <a:chOff x="1813111" y="2793961"/>
            <a:chExt cx="6531305" cy="1139094"/>
          </a:xfrm>
        </p:grpSpPr>
        <p:sp>
          <p:nvSpPr>
            <p:cNvPr id="3" name="2 Rectángulo"/>
            <p:cNvSpPr/>
            <p:nvPr/>
          </p:nvSpPr>
          <p:spPr bwMode="auto">
            <a:xfrm>
              <a:off x="2147033" y="2827536"/>
              <a:ext cx="6188862" cy="1080120"/>
            </a:xfrm>
            <a:prstGeom prst="rect">
              <a:avLst/>
            </a:pr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7" name="46 Rectángulo"/>
            <p:cNvSpPr/>
            <p:nvPr/>
          </p:nvSpPr>
          <p:spPr>
            <a:xfrm rot="16200000">
              <a:off x="1428230" y="3178842"/>
              <a:ext cx="1139094" cy="369332"/>
            </a:xfrm>
            <a:prstGeom prst="rect">
              <a:avLst/>
            </a:prstGeom>
          </p:spPr>
          <p:txBody>
            <a:bodyPr wrap="none">
              <a:spAutoFit/>
            </a:bodyPr>
            <a:lstStyle/>
            <a:p>
              <a:r>
                <a:rPr lang="es-ES" sz="1800" i="1" dirty="0">
                  <a:solidFill>
                    <a:srgbClr val="FF6600"/>
                  </a:solidFill>
                  <a:latin typeface="Tekton Pro Ext" pitchFamily="34" charset="0"/>
                </a:rPr>
                <a:t>método</a:t>
              </a:r>
            </a:p>
          </p:txBody>
        </p:sp>
        <p:sp>
          <p:nvSpPr>
            <p:cNvPr id="69" name="68 Rectángulo"/>
            <p:cNvSpPr/>
            <p:nvPr/>
          </p:nvSpPr>
          <p:spPr>
            <a:xfrm>
              <a:off x="2204258" y="2796529"/>
              <a:ext cx="6140158" cy="1077218"/>
            </a:xfrm>
            <a:prstGeom prst="rect">
              <a:avLst/>
            </a:prstGeom>
          </p:spPr>
          <p:txBody>
            <a:bodyPr wrap="square">
              <a:spAutoFit/>
            </a:bodyPr>
            <a:lstStyle/>
            <a:p>
              <a:r>
                <a:rPr lang="en-US" sz="1600" dirty="0">
                  <a:solidFill>
                    <a:srgbClr val="0070C0"/>
                  </a:solidFill>
                </a:rPr>
                <a:t>public    static     void     </a:t>
              </a:r>
              <a:r>
                <a:rPr lang="en-US" sz="1600" b="1" dirty="0"/>
                <a:t>main     </a:t>
              </a:r>
              <a:r>
                <a:rPr lang="en-US" sz="1600" dirty="0"/>
                <a:t>( </a:t>
              </a:r>
              <a:r>
                <a:rPr lang="en-US" sz="1600" dirty="0">
                  <a:solidFill>
                    <a:srgbClr val="009900"/>
                  </a:solidFill>
                </a:rPr>
                <a:t>String[] </a:t>
              </a:r>
              <a:r>
                <a:rPr lang="en-US" sz="1600" dirty="0" err="1">
                  <a:solidFill>
                    <a:srgbClr val="009900"/>
                  </a:solidFill>
                </a:rPr>
                <a:t>args</a:t>
              </a:r>
              <a:r>
                <a:rPr lang="en-US" sz="1600" dirty="0">
                  <a:solidFill>
                    <a:srgbClr val="009900"/>
                  </a:solidFill>
                </a:rPr>
                <a:t> </a:t>
              </a:r>
              <a:r>
                <a:rPr lang="en-US" sz="1600" dirty="0"/>
                <a:t>)</a:t>
              </a:r>
            </a:p>
            <a:p>
              <a:r>
                <a:rPr lang="es-ES" sz="1600" dirty="0"/>
                <a:t>{</a:t>
              </a:r>
            </a:p>
            <a:p>
              <a:r>
                <a:rPr lang="es-ES" sz="1600" dirty="0"/>
                <a:t>     </a:t>
              </a:r>
            </a:p>
            <a:p>
              <a:pPr>
                <a:spcAft>
                  <a:spcPts val="600"/>
                </a:spcAft>
              </a:pPr>
              <a:r>
                <a:rPr lang="es-ES" sz="1600" dirty="0"/>
                <a:t>}</a:t>
              </a:r>
            </a:p>
          </p:txBody>
        </p:sp>
      </p:grpSp>
      <p:sp>
        <p:nvSpPr>
          <p:cNvPr id="29" name="28 Flecha arriba"/>
          <p:cNvSpPr/>
          <p:nvPr/>
        </p:nvSpPr>
        <p:spPr bwMode="auto">
          <a:xfrm rot="5400000">
            <a:off x="4972125" y="5606209"/>
            <a:ext cx="297387" cy="486539"/>
          </a:xfrm>
          <a:prstGeom prst="upArrow">
            <a:avLst/>
          </a:prstGeom>
          <a:solidFill>
            <a:schemeClr val="tx2">
              <a:lumMod val="5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nvGrpSpPr>
          <p:cNvPr id="87" name="86 Grupo"/>
          <p:cNvGrpSpPr/>
          <p:nvPr/>
        </p:nvGrpSpPr>
        <p:grpSpPr>
          <a:xfrm>
            <a:off x="3059832" y="3861049"/>
            <a:ext cx="1800200" cy="2376263"/>
            <a:chOff x="2987824" y="3861049"/>
            <a:chExt cx="1800200" cy="2376263"/>
          </a:xfrm>
        </p:grpSpPr>
        <p:grpSp>
          <p:nvGrpSpPr>
            <p:cNvPr id="83" name="82 Grupo"/>
            <p:cNvGrpSpPr/>
            <p:nvPr/>
          </p:nvGrpSpPr>
          <p:grpSpPr>
            <a:xfrm>
              <a:off x="2987824" y="5491242"/>
              <a:ext cx="1656184" cy="746070"/>
              <a:chOff x="2987824" y="5419234"/>
              <a:chExt cx="1656184" cy="746070"/>
            </a:xfrm>
          </p:grpSpPr>
          <p:sp>
            <p:nvSpPr>
              <p:cNvPr id="22" name="21 Rectángulo redondeado"/>
              <p:cNvSpPr/>
              <p:nvPr/>
            </p:nvSpPr>
            <p:spPr bwMode="auto">
              <a:xfrm>
                <a:off x="2987824" y="5419234"/>
                <a:ext cx="1656184" cy="746070"/>
              </a:xfrm>
              <a:prstGeom prst="roundRect">
                <a:avLst/>
              </a:prstGeom>
              <a:solidFill>
                <a:schemeClr val="tx2">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5" name="24 Rectángulo"/>
              <p:cNvSpPr/>
              <p:nvPr/>
            </p:nvSpPr>
            <p:spPr>
              <a:xfrm>
                <a:off x="3110769" y="5422937"/>
                <a:ext cx="1338828" cy="369332"/>
              </a:xfrm>
              <a:prstGeom prst="rect">
                <a:avLst/>
              </a:prstGeom>
            </p:spPr>
            <p:txBody>
              <a:bodyPr wrap="none">
                <a:spAutoFit/>
              </a:bodyPr>
              <a:lstStyle/>
              <a:p>
                <a:r>
                  <a:rPr lang="es-ES" sz="1800" dirty="0" err="1">
                    <a:solidFill>
                      <a:srgbClr val="080808"/>
                    </a:solidFill>
                  </a:rPr>
                  <a:t>System.out</a:t>
                </a:r>
                <a:endParaRPr lang="es-ES" sz="1800" dirty="0"/>
              </a:p>
            </p:txBody>
          </p:sp>
        </p:grpSp>
        <p:sp>
          <p:nvSpPr>
            <p:cNvPr id="27" name="26 Flecha derecha"/>
            <p:cNvSpPr/>
            <p:nvPr/>
          </p:nvSpPr>
          <p:spPr bwMode="auto">
            <a:xfrm rot="5400000">
              <a:off x="3041047" y="4472207"/>
              <a:ext cx="1566045" cy="343729"/>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0" name="29 Rectángulo"/>
            <p:cNvSpPr/>
            <p:nvPr/>
          </p:nvSpPr>
          <p:spPr>
            <a:xfrm>
              <a:off x="3904449" y="4725144"/>
              <a:ext cx="883575" cy="400110"/>
            </a:xfrm>
            <a:prstGeom prst="rect">
              <a:avLst/>
            </a:prstGeom>
          </p:spPr>
          <p:txBody>
            <a:bodyPr wrap="none">
              <a:spAutoFit/>
            </a:bodyPr>
            <a:lstStyle/>
            <a:p>
              <a:r>
                <a:rPr lang="es-ES" sz="2000" dirty="0" err="1">
                  <a:solidFill>
                    <a:srgbClr val="FF0000"/>
                  </a:solidFill>
                </a:rPr>
                <a:t>println</a:t>
              </a:r>
              <a:endParaRPr lang="es-ES" dirty="0"/>
            </a:p>
          </p:txBody>
        </p:sp>
      </p:grpSp>
      <p:grpSp>
        <p:nvGrpSpPr>
          <p:cNvPr id="86" name="85 Grupo"/>
          <p:cNvGrpSpPr/>
          <p:nvPr/>
        </p:nvGrpSpPr>
        <p:grpSpPr>
          <a:xfrm>
            <a:off x="35496" y="2963292"/>
            <a:ext cx="1800200" cy="661731"/>
            <a:chOff x="35496" y="2963292"/>
            <a:chExt cx="1800200" cy="661731"/>
          </a:xfrm>
        </p:grpSpPr>
        <p:sp>
          <p:nvSpPr>
            <p:cNvPr id="17" name="16 Flecha derecha"/>
            <p:cNvSpPr/>
            <p:nvPr/>
          </p:nvSpPr>
          <p:spPr bwMode="auto">
            <a:xfrm>
              <a:off x="128351" y="3296852"/>
              <a:ext cx="1707345" cy="328171"/>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1" name="30 Rectángulo"/>
            <p:cNvSpPr/>
            <p:nvPr/>
          </p:nvSpPr>
          <p:spPr>
            <a:xfrm>
              <a:off x="35496" y="2963292"/>
              <a:ext cx="740908" cy="400110"/>
            </a:xfrm>
            <a:prstGeom prst="rect">
              <a:avLst/>
            </a:prstGeom>
          </p:spPr>
          <p:txBody>
            <a:bodyPr wrap="none">
              <a:spAutoFit/>
            </a:bodyPr>
            <a:lstStyle/>
            <a:p>
              <a:r>
                <a:rPr lang="es-ES" sz="2000" dirty="0" err="1">
                  <a:solidFill>
                    <a:srgbClr val="FF0000"/>
                  </a:solidFill>
                </a:rPr>
                <a:t>main</a:t>
              </a:r>
              <a:endParaRPr lang="es-ES" dirty="0"/>
            </a:p>
          </p:txBody>
        </p:sp>
      </p:grpSp>
      <p:grpSp>
        <p:nvGrpSpPr>
          <p:cNvPr id="79" name="78 Grupo"/>
          <p:cNvGrpSpPr/>
          <p:nvPr/>
        </p:nvGrpSpPr>
        <p:grpSpPr>
          <a:xfrm>
            <a:off x="325728" y="1196752"/>
            <a:ext cx="1293944" cy="861389"/>
            <a:chOff x="225843" y="1124744"/>
            <a:chExt cx="1293944" cy="861389"/>
          </a:xfrm>
        </p:grpSpPr>
        <p:sp>
          <p:nvSpPr>
            <p:cNvPr id="13" name="12 CuadroTexto"/>
            <p:cNvSpPr txBox="1"/>
            <p:nvPr/>
          </p:nvSpPr>
          <p:spPr>
            <a:xfrm>
              <a:off x="225843" y="1124744"/>
              <a:ext cx="1293944" cy="523220"/>
            </a:xfrm>
            <a:prstGeom prst="rect">
              <a:avLst/>
            </a:prstGeom>
            <a:noFill/>
          </p:spPr>
          <p:txBody>
            <a:bodyPr wrap="none" rtlCol="0">
              <a:spAutoFit/>
            </a:bodyPr>
            <a:lstStyle/>
            <a:p>
              <a:pPr algn="ctr"/>
              <a:r>
                <a:rPr lang="es-ES" sz="2800" b="1" i="1" dirty="0">
                  <a:solidFill>
                    <a:srgbClr val="FF6600"/>
                  </a:solidFill>
                  <a:latin typeface="Script MT Bold" pitchFamily="66" charset="0"/>
                </a:rPr>
                <a:t>Pública</a:t>
              </a:r>
            </a:p>
          </p:txBody>
        </p:sp>
        <p:cxnSp>
          <p:nvCxnSpPr>
            <p:cNvPr id="41" name="40 Conector recto de flecha"/>
            <p:cNvCxnSpPr/>
            <p:nvPr/>
          </p:nvCxnSpPr>
          <p:spPr bwMode="auto">
            <a:xfrm>
              <a:off x="822015" y="1546364"/>
              <a:ext cx="458825" cy="439769"/>
            </a:xfrm>
            <a:prstGeom prst="straightConnector1">
              <a:avLst/>
            </a:prstGeom>
            <a:ln>
              <a:solidFill>
                <a:srgbClr val="FF6600"/>
              </a:solidFill>
              <a:headEnd type="none" w="med" len="med"/>
              <a:tailEnd type="arrow"/>
            </a:ln>
          </p:spPr>
          <p:style>
            <a:lnRef idx="3">
              <a:schemeClr val="accent6"/>
            </a:lnRef>
            <a:fillRef idx="0">
              <a:schemeClr val="accent6"/>
            </a:fillRef>
            <a:effectRef idx="2">
              <a:schemeClr val="accent6"/>
            </a:effectRef>
            <a:fontRef idx="minor">
              <a:schemeClr val="tx1"/>
            </a:fontRef>
          </p:style>
        </p:cxnSp>
      </p:grpSp>
      <p:grpSp>
        <p:nvGrpSpPr>
          <p:cNvPr id="80" name="79 Grupo"/>
          <p:cNvGrpSpPr/>
          <p:nvPr/>
        </p:nvGrpSpPr>
        <p:grpSpPr>
          <a:xfrm>
            <a:off x="1887584" y="1294160"/>
            <a:ext cx="956224" cy="775227"/>
            <a:chOff x="1827746" y="1222152"/>
            <a:chExt cx="956224" cy="775227"/>
          </a:xfrm>
        </p:grpSpPr>
        <p:sp>
          <p:nvSpPr>
            <p:cNvPr id="33" name="32 CuadroTexto"/>
            <p:cNvSpPr txBox="1"/>
            <p:nvPr/>
          </p:nvSpPr>
          <p:spPr>
            <a:xfrm>
              <a:off x="1827746" y="1222152"/>
              <a:ext cx="956224" cy="523220"/>
            </a:xfrm>
            <a:prstGeom prst="rect">
              <a:avLst/>
            </a:prstGeom>
            <a:noFill/>
          </p:spPr>
          <p:txBody>
            <a:bodyPr wrap="none" rtlCol="0">
              <a:spAutoFit/>
            </a:bodyPr>
            <a:lstStyle/>
            <a:p>
              <a:pPr algn="ctr"/>
              <a:r>
                <a:rPr lang="es-ES" sz="2800" b="1" i="1" dirty="0">
                  <a:solidFill>
                    <a:srgbClr val="FF6600"/>
                  </a:solidFill>
                  <a:latin typeface="Script MT Bold" pitchFamily="66" charset="0"/>
                </a:rPr>
                <a:t>Clase</a:t>
              </a:r>
            </a:p>
          </p:txBody>
        </p:sp>
        <p:cxnSp>
          <p:nvCxnSpPr>
            <p:cNvPr id="43" name="42 Conector recto de flecha"/>
            <p:cNvCxnSpPr/>
            <p:nvPr/>
          </p:nvCxnSpPr>
          <p:spPr bwMode="auto">
            <a:xfrm flipH="1">
              <a:off x="2006600" y="1692948"/>
              <a:ext cx="265336" cy="304431"/>
            </a:xfrm>
            <a:prstGeom prst="straightConnector1">
              <a:avLst/>
            </a:prstGeom>
            <a:ln>
              <a:solidFill>
                <a:srgbClr val="FF6600"/>
              </a:solidFill>
              <a:headEnd type="none" w="med" len="med"/>
              <a:tailEnd type="arrow"/>
            </a:ln>
          </p:spPr>
          <p:style>
            <a:lnRef idx="3">
              <a:schemeClr val="accent6"/>
            </a:lnRef>
            <a:fillRef idx="0">
              <a:schemeClr val="accent6"/>
            </a:fillRef>
            <a:effectRef idx="2">
              <a:schemeClr val="accent6"/>
            </a:effectRef>
            <a:fontRef idx="minor">
              <a:schemeClr val="tx1"/>
            </a:fontRef>
          </p:style>
        </p:cxnSp>
      </p:grpSp>
      <p:grpSp>
        <p:nvGrpSpPr>
          <p:cNvPr id="72" name="71 Grupo"/>
          <p:cNvGrpSpPr/>
          <p:nvPr/>
        </p:nvGrpSpPr>
        <p:grpSpPr>
          <a:xfrm>
            <a:off x="1519787" y="2276872"/>
            <a:ext cx="1107997" cy="699120"/>
            <a:chOff x="1519787" y="2204864"/>
            <a:chExt cx="1107997" cy="699120"/>
          </a:xfrm>
        </p:grpSpPr>
        <p:sp>
          <p:nvSpPr>
            <p:cNvPr id="35" name="34 CuadroTexto"/>
            <p:cNvSpPr txBox="1"/>
            <p:nvPr/>
          </p:nvSpPr>
          <p:spPr>
            <a:xfrm>
              <a:off x="1519787" y="2204864"/>
              <a:ext cx="1107997" cy="461665"/>
            </a:xfrm>
            <a:prstGeom prst="rect">
              <a:avLst/>
            </a:prstGeom>
            <a:noFill/>
          </p:spPr>
          <p:txBody>
            <a:bodyPr wrap="none" rtlCol="0">
              <a:spAutoFit/>
            </a:bodyPr>
            <a:lstStyle/>
            <a:p>
              <a:pPr algn="ctr"/>
              <a:r>
                <a:rPr lang="es-ES" sz="2400" b="1" i="1" dirty="0">
                  <a:solidFill>
                    <a:srgbClr val="FF6600"/>
                  </a:solidFill>
                  <a:latin typeface="Script MT Bold" pitchFamily="66" charset="0"/>
                </a:rPr>
                <a:t>Público</a:t>
              </a:r>
            </a:p>
          </p:txBody>
        </p:sp>
        <p:cxnSp>
          <p:nvCxnSpPr>
            <p:cNvPr id="49" name="48 Conector recto de flecha"/>
            <p:cNvCxnSpPr/>
            <p:nvPr/>
          </p:nvCxnSpPr>
          <p:spPr bwMode="auto">
            <a:xfrm>
              <a:off x="2108200" y="2599184"/>
              <a:ext cx="406400" cy="304800"/>
            </a:xfrm>
            <a:prstGeom prst="straightConnector1">
              <a:avLst/>
            </a:prstGeom>
            <a:ln>
              <a:solidFill>
                <a:srgbClr val="FF6600"/>
              </a:solidFill>
              <a:headEnd type="none" w="med" len="med"/>
              <a:tailEnd type="arrow"/>
            </a:ln>
          </p:spPr>
          <p:style>
            <a:lnRef idx="3">
              <a:schemeClr val="accent6"/>
            </a:lnRef>
            <a:fillRef idx="0">
              <a:schemeClr val="accent6"/>
            </a:fillRef>
            <a:effectRef idx="2">
              <a:schemeClr val="accent6"/>
            </a:effectRef>
            <a:fontRef idx="minor">
              <a:schemeClr val="tx1"/>
            </a:fontRef>
          </p:style>
        </p:cxnSp>
      </p:grpSp>
      <p:grpSp>
        <p:nvGrpSpPr>
          <p:cNvPr id="73" name="72 Grupo"/>
          <p:cNvGrpSpPr/>
          <p:nvPr/>
        </p:nvGrpSpPr>
        <p:grpSpPr>
          <a:xfrm>
            <a:off x="2655886" y="2348880"/>
            <a:ext cx="1124026" cy="627087"/>
            <a:chOff x="2655886" y="2276872"/>
            <a:chExt cx="1124026" cy="627087"/>
          </a:xfrm>
        </p:grpSpPr>
        <p:sp>
          <p:nvSpPr>
            <p:cNvPr id="36" name="35 CuadroTexto"/>
            <p:cNvSpPr txBox="1"/>
            <p:nvPr/>
          </p:nvSpPr>
          <p:spPr>
            <a:xfrm>
              <a:off x="2655886" y="2276872"/>
              <a:ext cx="1124026" cy="461665"/>
            </a:xfrm>
            <a:prstGeom prst="rect">
              <a:avLst/>
            </a:prstGeom>
            <a:noFill/>
          </p:spPr>
          <p:txBody>
            <a:bodyPr wrap="none" rtlCol="0">
              <a:spAutoFit/>
            </a:bodyPr>
            <a:lstStyle/>
            <a:p>
              <a:pPr algn="ctr"/>
              <a:r>
                <a:rPr lang="es-ES" sz="2400" b="1" i="1" dirty="0">
                  <a:solidFill>
                    <a:srgbClr val="FF6600"/>
                  </a:solidFill>
                  <a:latin typeface="Script MT Bold" pitchFamily="66" charset="0"/>
                </a:rPr>
                <a:t>Estático</a:t>
              </a:r>
            </a:p>
          </p:txBody>
        </p:sp>
        <p:cxnSp>
          <p:nvCxnSpPr>
            <p:cNvPr id="51" name="50 Conector recto de flecha"/>
            <p:cNvCxnSpPr/>
            <p:nvPr/>
          </p:nvCxnSpPr>
          <p:spPr bwMode="auto">
            <a:xfrm>
              <a:off x="3217899" y="2636912"/>
              <a:ext cx="58701" cy="267047"/>
            </a:xfrm>
            <a:prstGeom prst="straightConnector1">
              <a:avLst/>
            </a:prstGeom>
            <a:ln>
              <a:solidFill>
                <a:srgbClr val="FF6600"/>
              </a:solidFill>
              <a:headEnd type="none" w="med" len="med"/>
              <a:tailEnd type="arrow"/>
            </a:ln>
          </p:spPr>
          <p:style>
            <a:lnRef idx="3">
              <a:schemeClr val="accent6"/>
            </a:lnRef>
            <a:fillRef idx="0">
              <a:schemeClr val="accent6"/>
            </a:fillRef>
            <a:effectRef idx="2">
              <a:schemeClr val="accent6"/>
            </a:effectRef>
            <a:fontRef idx="minor">
              <a:schemeClr val="tx1"/>
            </a:fontRef>
          </p:style>
        </p:cxnSp>
      </p:grpSp>
      <p:grpSp>
        <p:nvGrpSpPr>
          <p:cNvPr id="74" name="73 Grupo"/>
          <p:cNvGrpSpPr/>
          <p:nvPr/>
        </p:nvGrpSpPr>
        <p:grpSpPr>
          <a:xfrm>
            <a:off x="3426867" y="2026940"/>
            <a:ext cx="1657697" cy="949052"/>
            <a:chOff x="3426867" y="1954932"/>
            <a:chExt cx="1657697" cy="949052"/>
          </a:xfrm>
        </p:grpSpPr>
        <p:sp>
          <p:nvSpPr>
            <p:cNvPr id="34" name="33 CuadroTexto"/>
            <p:cNvSpPr txBox="1"/>
            <p:nvPr/>
          </p:nvSpPr>
          <p:spPr>
            <a:xfrm>
              <a:off x="3426867" y="1954932"/>
              <a:ext cx="1657697" cy="609398"/>
            </a:xfrm>
            <a:prstGeom prst="rect">
              <a:avLst/>
            </a:prstGeom>
            <a:noFill/>
          </p:spPr>
          <p:txBody>
            <a:bodyPr wrap="none" rtlCol="0">
              <a:spAutoFit/>
            </a:bodyPr>
            <a:lstStyle/>
            <a:p>
              <a:pPr algn="ctr">
                <a:lnSpc>
                  <a:spcPct val="70000"/>
                </a:lnSpc>
              </a:pPr>
              <a:r>
                <a:rPr lang="es-ES" sz="2400" b="1" i="1" dirty="0">
                  <a:solidFill>
                    <a:srgbClr val="FF6600"/>
                  </a:solidFill>
                  <a:latin typeface="Script MT Bold" pitchFamily="66" charset="0"/>
                </a:rPr>
                <a:t>No devuelve</a:t>
              </a:r>
            </a:p>
            <a:p>
              <a:pPr algn="ctr">
                <a:lnSpc>
                  <a:spcPct val="70000"/>
                </a:lnSpc>
              </a:pPr>
              <a:r>
                <a:rPr lang="es-ES" sz="2400" b="1" i="1" dirty="0">
                  <a:solidFill>
                    <a:srgbClr val="FF6600"/>
                  </a:solidFill>
                  <a:latin typeface="Script MT Bold" pitchFamily="66" charset="0"/>
                </a:rPr>
                <a:t>valor</a:t>
              </a:r>
            </a:p>
          </p:txBody>
        </p:sp>
        <p:cxnSp>
          <p:nvCxnSpPr>
            <p:cNvPr id="54" name="53 Conector recto de flecha"/>
            <p:cNvCxnSpPr/>
            <p:nvPr/>
          </p:nvCxnSpPr>
          <p:spPr bwMode="auto">
            <a:xfrm flipH="1">
              <a:off x="3995938" y="2507704"/>
              <a:ext cx="144014" cy="396280"/>
            </a:xfrm>
            <a:prstGeom prst="straightConnector1">
              <a:avLst/>
            </a:prstGeom>
            <a:ln>
              <a:solidFill>
                <a:srgbClr val="FF6600"/>
              </a:solidFill>
              <a:headEnd type="none" w="med" len="med"/>
              <a:tailEnd type="arrow"/>
            </a:ln>
          </p:spPr>
          <p:style>
            <a:lnRef idx="3">
              <a:schemeClr val="accent6"/>
            </a:lnRef>
            <a:fillRef idx="0">
              <a:schemeClr val="accent6"/>
            </a:fillRef>
            <a:effectRef idx="2">
              <a:schemeClr val="accent6"/>
            </a:effectRef>
            <a:fontRef idx="minor">
              <a:schemeClr val="tx1"/>
            </a:fontRef>
          </p:style>
        </p:cxnSp>
      </p:grpSp>
      <p:grpSp>
        <p:nvGrpSpPr>
          <p:cNvPr id="75" name="74 Grupo"/>
          <p:cNvGrpSpPr/>
          <p:nvPr/>
        </p:nvGrpSpPr>
        <p:grpSpPr>
          <a:xfrm>
            <a:off x="4457050" y="2348880"/>
            <a:ext cx="1339086" cy="614412"/>
            <a:chOff x="4457050" y="2276872"/>
            <a:chExt cx="1339086" cy="614412"/>
          </a:xfrm>
        </p:grpSpPr>
        <p:sp>
          <p:nvSpPr>
            <p:cNvPr id="37" name="36 CuadroTexto"/>
            <p:cNvSpPr txBox="1"/>
            <p:nvPr/>
          </p:nvSpPr>
          <p:spPr>
            <a:xfrm>
              <a:off x="4457050" y="2276872"/>
              <a:ext cx="1339086" cy="461665"/>
            </a:xfrm>
            <a:prstGeom prst="rect">
              <a:avLst/>
            </a:prstGeom>
            <a:noFill/>
          </p:spPr>
          <p:txBody>
            <a:bodyPr wrap="none" rtlCol="0">
              <a:spAutoFit/>
            </a:bodyPr>
            <a:lstStyle/>
            <a:p>
              <a:pPr algn="ctr"/>
              <a:r>
                <a:rPr lang="es-ES" sz="2400" b="1" i="1" dirty="0">
                  <a:solidFill>
                    <a:srgbClr val="FF6600"/>
                  </a:solidFill>
                  <a:latin typeface="Script MT Bold" pitchFamily="66" charset="0"/>
                </a:rPr>
                <a:t>Principal</a:t>
              </a:r>
            </a:p>
          </p:txBody>
        </p:sp>
        <p:cxnSp>
          <p:nvCxnSpPr>
            <p:cNvPr id="59" name="58 Conector recto de flecha"/>
            <p:cNvCxnSpPr/>
            <p:nvPr/>
          </p:nvCxnSpPr>
          <p:spPr bwMode="auto">
            <a:xfrm flipH="1">
              <a:off x="4826000" y="2679321"/>
              <a:ext cx="257940" cy="211963"/>
            </a:xfrm>
            <a:prstGeom prst="straightConnector1">
              <a:avLst/>
            </a:prstGeom>
            <a:ln>
              <a:solidFill>
                <a:srgbClr val="FF6600"/>
              </a:solidFill>
              <a:headEnd type="none" w="med" len="med"/>
              <a:tailEnd type="arrow"/>
            </a:ln>
          </p:spPr>
          <p:style>
            <a:lnRef idx="3">
              <a:schemeClr val="accent6"/>
            </a:lnRef>
            <a:fillRef idx="0">
              <a:schemeClr val="accent6"/>
            </a:fillRef>
            <a:effectRef idx="2">
              <a:schemeClr val="accent6"/>
            </a:effectRef>
            <a:fontRef idx="minor">
              <a:schemeClr val="tx1"/>
            </a:fontRef>
          </p:style>
        </p:cxnSp>
      </p:grpSp>
      <p:grpSp>
        <p:nvGrpSpPr>
          <p:cNvPr id="76" name="75 Grupo"/>
          <p:cNvGrpSpPr/>
          <p:nvPr/>
        </p:nvGrpSpPr>
        <p:grpSpPr>
          <a:xfrm>
            <a:off x="5868144" y="2058141"/>
            <a:ext cx="1469568" cy="892451"/>
            <a:chOff x="5868144" y="1986133"/>
            <a:chExt cx="1469568" cy="892451"/>
          </a:xfrm>
        </p:grpSpPr>
        <p:sp>
          <p:nvSpPr>
            <p:cNvPr id="39" name="38 CuadroTexto"/>
            <p:cNvSpPr txBox="1"/>
            <p:nvPr/>
          </p:nvSpPr>
          <p:spPr>
            <a:xfrm>
              <a:off x="5868144" y="1986133"/>
              <a:ext cx="1469568" cy="622030"/>
            </a:xfrm>
            <a:prstGeom prst="rect">
              <a:avLst/>
            </a:prstGeom>
            <a:noFill/>
          </p:spPr>
          <p:txBody>
            <a:bodyPr wrap="none" rtlCol="0">
              <a:spAutoFit/>
            </a:bodyPr>
            <a:lstStyle/>
            <a:p>
              <a:pPr algn="ctr">
                <a:lnSpc>
                  <a:spcPct val="70000"/>
                </a:lnSpc>
              </a:pPr>
              <a:r>
                <a:rPr lang="es-ES" sz="2400" b="1" i="1" dirty="0">
                  <a:solidFill>
                    <a:srgbClr val="FF6600"/>
                  </a:solidFill>
                  <a:latin typeface="Script MT Bold" pitchFamily="66" charset="0"/>
                </a:rPr>
                <a:t>Parámetro</a:t>
              </a:r>
            </a:p>
            <a:p>
              <a:pPr algn="ctr">
                <a:lnSpc>
                  <a:spcPct val="70000"/>
                </a:lnSpc>
              </a:pPr>
              <a:r>
                <a:rPr lang="es-ES" sz="2400" b="1" i="1" dirty="0">
                  <a:solidFill>
                    <a:srgbClr val="FF6600"/>
                  </a:solidFill>
                  <a:latin typeface="Script MT Bold" pitchFamily="66" charset="0"/>
                </a:rPr>
                <a:t>Entrada</a:t>
              </a:r>
            </a:p>
          </p:txBody>
        </p:sp>
        <p:cxnSp>
          <p:nvCxnSpPr>
            <p:cNvPr id="67" name="66 Conector recto de flecha"/>
            <p:cNvCxnSpPr/>
            <p:nvPr/>
          </p:nvCxnSpPr>
          <p:spPr bwMode="auto">
            <a:xfrm flipH="1">
              <a:off x="6300192" y="2528044"/>
              <a:ext cx="282907" cy="350540"/>
            </a:xfrm>
            <a:prstGeom prst="straightConnector1">
              <a:avLst/>
            </a:prstGeom>
            <a:ln>
              <a:solidFill>
                <a:srgbClr val="FF6600"/>
              </a:solidFill>
              <a:headEnd type="none" w="med" len="med"/>
              <a:tailEnd type="arrow"/>
            </a:ln>
          </p:spPr>
          <p:style>
            <a:lnRef idx="3">
              <a:schemeClr val="accent6"/>
            </a:lnRef>
            <a:fillRef idx="0">
              <a:schemeClr val="accent6"/>
            </a:fillRef>
            <a:effectRef idx="2">
              <a:schemeClr val="accent6"/>
            </a:effectRef>
            <a:fontRef idx="minor">
              <a:schemeClr val="tx1"/>
            </a:fontRef>
          </p:style>
        </p:cxnSp>
      </p:grpSp>
      <p:grpSp>
        <p:nvGrpSpPr>
          <p:cNvPr id="84" name="83 Grupo"/>
          <p:cNvGrpSpPr/>
          <p:nvPr/>
        </p:nvGrpSpPr>
        <p:grpSpPr>
          <a:xfrm>
            <a:off x="5580112" y="4987380"/>
            <a:ext cx="2502024" cy="1512564"/>
            <a:chOff x="5580112" y="4987380"/>
            <a:chExt cx="2502024" cy="1512564"/>
          </a:xfrm>
        </p:grpSpPr>
        <p:sp>
          <p:nvSpPr>
            <p:cNvPr id="28" name="27 Rectángulo"/>
            <p:cNvSpPr/>
            <p:nvPr/>
          </p:nvSpPr>
          <p:spPr bwMode="auto">
            <a:xfrm>
              <a:off x="5713450" y="5114409"/>
              <a:ext cx="2216410" cy="976884"/>
            </a:xfrm>
            <a:prstGeom prst="rect">
              <a:avLst/>
            </a:prstGeom>
            <a:solidFill>
              <a:srgbClr val="080808"/>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3" name="22 Marco"/>
            <p:cNvSpPr/>
            <p:nvPr/>
          </p:nvSpPr>
          <p:spPr bwMode="auto">
            <a:xfrm>
              <a:off x="5580112" y="4987380"/>
              <a:ext cx="2502023" cy="1268984"/>
            </a:xfrm>
            <a:prstGeom prst="fram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4" name="23 Rectángulo"/>
            <p:cNvSpPr/>
            <p:nvPr/>
          </p:nvSpPr>
          <p:spPr>
            <a:xfrm>
              <a:off x="5580112" y="5329484"/>
              <a:ext cx="2502024" cy="523220"/>
            </a:xfrm>
            <a:prstGeom prst="rect">
              <a:avLst/>
            </a:prstGeom>
          </p:spPr>
          <p:txBody>
            <a:bodyPr wrap="square">
              <a:spAutoFit/>
            </a:bodyPr>
            <a:lstStyle/>
            <a:p>
              <a:pPr algn="ctr"/>
              <a:r>
                <a:rPr lang="es-ES" sz="1400" b="1" dirty="0">
                  <a:solidFill>
                    <a:schemeClr val="bg1"/>
                  </a:solidFill>
                </a:rPr>
                <a:t>Bienvenido a la </a:t>
              </a:r>
            </a:p>
            <a:p>
              <a:pPr algn="ctr"/>
              <a:r>
                <a:rPr lang="es-ES" sz="1400" b="1" dirty="0">
                  <a:solidFill>
                    <a:schemeClr val="bg1"/>
                  </a:solidFill>
                </a:rPr>
                <a:t>Programación en Java!</a:t>
              </a:r>
            </a:p>
          </p:txBody>
        </p:sp>
        <p:sp>
          <p:nvSpPr>
            <p:cNvPr id="70" name="69 Trapecio"/>
            <p:cNvSpPr/>
            <p:nvPr/>
          </p:nvSpPr>
          <p:spPr bwMode="auto">
            <a:xfrm>
              <a:off x="6240355" y="6256760"/>
              <a:ext cx="1162599" cy="243184"/>
            </a:xfrm>
            <a:prstGeom prst="trapezoid">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82" name="81 Grupo"/>
          <p:cNvGrpSpPr/>
          <p:nvPr/>
        </p:nvGrpSpPr>
        <p:grpSpPr>
          <a:xfrm>
            <a:off x="2400300" y="3179068"/>
            <a:ext cx="5944116" cy="537964"/>
            <a:chOff x="2400300" y="3107060"/>
            <a:chExt cx="5944116" cy="537964"/>
          </a:xfrm>
        </p:grpSpPr>
        <p:sp>
          <p:nvSpPr>
            <p:cNvPr id="40" name="39 Rectángulo"/>
            <p:cNvSpPr/>
            <p:nvPr/>
          </p:nvSpPr>
          <p:spPr bwMode="auto">
            <a:xfrm>
              <a:off x="2443449" y="3335784"/>
              <a:ext cx="5800959" cy="301353"/>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8" name="47 Rectángulo"/>
            <p:cNvSpPr/>
            <p:nvPr/>
          </p:nvSpPr>
          <p:spPr>
            <a:xfrm>
              <a:off x="4271995" y="3107060"/>
              <a:ext cx="1408527" cy="338554"/>
            </a:xfrm>
            <a:prstGeom prst="rect">
              <a:avLst/>
            </a:prstGeom>
          </p:spPr>
          <p:txBody>
            <a:bodyPr wrap="none">
              <a:spAutoFit/>
            </a:bodyPr>
            <a:lstStyle/>
            <a:p>
              <a:r>
                <a:rPr lang="es-ES" sz="1600" i="1" dirty="0">
                  <a:solidFill>
                    <a:srgbClr val="FF6600"/>
                  </a:solidFill>
                  <a:latin typeface="Tekton Pro Ext" pitchFamily="34" charset="0"/>
                </a:rPr>
                <a:t>instrucción</a:t>
              </a:r>
            </a:p>
          </p:txBody>
        </p:sp>
        <p:sp>
          <p:nvSpPr>
            <p:cNvPr id="78" name="77 Rectángulo"/>
            <p:cNvSpPr/>
            <p:nvPr/>
          </p:nvSpPr>
          <p:spPr>
            <a:xfrm>
              <a:off x="2400300" y="3306470"/>
              <a:ext cx="5944116" cy="338554"/>
            </a:xfrm>
            <a:prstGeom prst="rect">
              <a:avLst/>
            </a:prstGeom>
          </p:spPr>
          <p:txBody>
            <a:bodyPr wrap="square">
              <a:spAutoFit/>
            </a:bodyPr>
            <a:lstStyle/>
            <a:p>
              <a:r>
                <a:rPr lang="es-ES" sz="1600" b="1" dirty="0" err="1">
                  <a:solidFill>
                    <a:srgbClr val="080808"/>
                  </a:solidFill>
                </a:rPr>
                <a:t>System.out</a:t>
              </a:r>
              <a:r>
                <a:rPr lang="es-ES" sz="1600" b="1" dirty="0" err="1"/>
                <a:t>.</a:t>
              </a:r>
              <a:r>
                <a:rPr lang="es-ES" sz="1600" dirty="0" err="1">
                  <a:solidFill>
                    <a:srgbClr val="FF0000"/>
                  </a:solidFill>
                </a:rPr>
                <a:t>println</a:t>
              </a:r>
              <a:r>
                <a:rPr lang="es-ES" sz="1600" dirty="0">
                  <a:solidFill>
                    <a:srgbClr val="FF0000"/>
                  </a:solidFill>
                </a:rPr>
                <a:t>(</a:t>
              </a:r>
              <a:r>
                <a:rPr lang="es-ES" sz="1600" dirty="0"/>
                <a:t> </a:t>
              </a:r>
              <a:r>
                <a:rPr lang="es-ES" sz="1600" dirty="0">
                  <a:solidFill>
                    <a:srgbClr val="009900"/>
                  </a:solidFill>
                </a:rPr>
                <a:t>“Bienvenido a la programación en Java!” </a:t>
              </a:r>
              <a:r>
                <a:rPr lang="es-ES" sz="1600" dirty="0">
                  <a:solidFill>
                    <a:srgbClr val="FF0000"/>
                  </a:solidFill>
                </a:rPr>
                <a:t>)</a:t>
              </a:r>
              <a:r>
                <a:rPr lang="es-ES" sz="1600" dirty="0"/>
                <a:t>;</a:t>
              </a:r>
            </a:p>
          </p:txBody>
        </p:sp>
      </p:grpSp>
      <p:sp>
        <p:nvSpPr>
          <p:cNvPr id="26" name="25 Rectángulo"/>
          <p:cNvSpPr/>
          <p:nvPr/>
        </p:nvSpPr>
        <p:spPr>
          <a:xfrm>
            <a:off x="3414720" y="5794019"/>
            <a:ext cx="883575" cy="400110"/>
          </a:xfrm>
          <a:prstGeom prst="rect">
            <a:avLst/>
          </a:prstGeom>
        </p:spPr>
        <p:txBody>
          <a:bodyPr wrap="none">
            <a:spAutoFit/>
          </a:bodyPr>
          <a:lstStyle/>
          <a:p>
            <a:r>
              <a:rPr lang="es-ES" sz="2000" i="1" dirty="0" err="1">
                <a:solidFill>
                  <a:srgbClr val="FF0000"/>
                </a:solidFill>
              </a:rPr>
              <a:t>println</a:t>
            </a:r>
            <a:endParaRPr lang="es-ES" dirty="0"/>
          </a:p>
        </p:txBody>
      </p:sp>
      <p:cxnSp>
        <p:nvCxnSpPr>
          <p:cNvPr id="89" name="88 Conector recto de flecha"/>
          <p:cNvCxnSpPr/>
          <p:nvPr/>
        </p:nvCxnSpPr>
        <p:spPr bwMode="auto">
          <a:xfrm flipH="1">
            <a:off x="3059832" y="1838256"/>
            <a:ext cx="1080120" cy="231131"/>
          </a:xfrm>
          <a:prstGeom prst="straightConnector1">
            <a:avLst/>
          </a:prstGeom>
          <a:ln>
            <a:solidFill>
              <a:srgbClr val="FF6600"/>
            </a:solidFill>
            <a:headEnd type="arrow"/>
            <a:tailEnd type="arrow"/>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999766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80"/>
                                        </p:tgtEl>
                                        <p:attrNameLst>
                                          <p:attrName>style.visibility</p:attrName>
                                        </p:attrNameLst>
                                      </p:cBhvr>
                                      <p:to>
                                        <p:strVal val="visible"/>
                                      </p:to>
                                    </p:set>
                                    <p:anim calcmode="lin" valueType="num">
                                      <p:cBhvr>
                                        <p:cTn id="11" dur="500" fill="hold"/>
                                        <p:tgtEl>
                                          <p:spTgt spid="80"/>
                                        </p:tgtEl>
                                        <p:attrNameLst>
                                          <p:attrName>ppt_w</p:attrName>
                                        </p:attrNameLst>
                                      </p:cBhvr>
                                      <p:tavLst>
                                        <p:tav tm="0">
                                          <p:val>
                                            <p:fltVal val="0"/>
                                          </p:val>
                                        </p:tav>
                                        <p:tav tm="100000">
                                          <p:val>
                                            <p:strVal val="#ppt_w"/>
                                          </p:val>
                                        </p:tav>
                                      </p:tavLst>
                                    </p:anim>
                                    <p:anim calcmode="lin" valueType="num">
                                      <p:cBhvr>
                                        <p:cTn id="12" dur="500" fill="hold"/>
                                        <p:tgtEl>
                                          <p:spTgt spid="80"/>
                                        </p:tgtEl>
                                        <p:attrNameLst>
                                          <p:attrName>ppt_h</p:attrName>
                                        </p:attrNameLst>
                                      </p:cBhvr>
                                      <p:tavLst>
                                        <p:tav tm="0">
                                          <p:val>
                                            <p:fltVal val="0"/>
                                          </p:val>
                                        </p:tav>
                                        <p:tav tm="100000">
                                          <p:val>
                                            <p:strVal val="#ppt_h"/>
                                          </p:val>
                                        </p:tav>
                                      </p:tavLst>
                                    </p:anim>
                                    <p:animEffect transition="in" filter="fade">
                                      <p:cBhvr>
                                        <p:cTn id="13" dur="500"/>
                                        <p:tgtEl>
                                          <p:spTgt spid="80"/>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79"/>
                                        </p:tgtEl>
                                        <p:attrNameLst>
                                          <p:attrName>style.visibility</p:attrName>
                                        </p:attrNameLst>
                                      </p:cBhvr>
                                      <p:to>
                                        <p:strVal val="visible"/>
                                      </p:to>
                                    </p:set>
                                    <p:anim calcmode="lin" valueType="num">
                                      <p:cBhvr>
                                        <p:cTn id="18" dur="500" fill="hold"/>
                                        <p:tgtEl>
                                          <p:spTgt spid="79"/>
                                        </p:tgtEl>
                                        <p:attrNameLst>
                                          <p:attrName>ppt_w</p:attrName>
                                        </p:attrNameLst>
                                      </p:cBhvr>
                                      <p:tavLst>
                                        <p:tav tm="0">
                                          <p:val>
                                            <p:fltVal val="0"/>
                                          </p:val>
                                        </p:tav>
                                        <p:tav tm="100000">
                                          <p:val>
                                            <p:strVal val="#ppt_w"/>
                                          </p:val>
                                        </p:tav>
                                      </p:tavLst>
                                    </p:anim>
                                    <p:anim calcmode="lin" valueType="num">
                                      <p:cBhvr>
                                        <p:cTn id="19" dur="500" fill="hold"/>
                                        <p:tgtEl>
                                          <p:spTgt spid="79"/>
                                        </p:tgtEl>
                                        <p:attrNameLst>
                                          <p:attrName>ppt_h</p:attrName>
                                        </p:attrNameLst>
                                      </p:cBhvr>
                                      <p:tavLst>
                                        <p:tav tm="0">
                                          <p:val>
                                            <p:fltVal val="0"/>
                                          </p:val>
                                        </p:tav>
                                        <p:tav tm="100000">
                                          <p:val>
                                            <p:strVal val="#ppt_h"/>
                                          </p:val>
                                        </p:tav>
                                      </p:tavLst>
                                    </p:anim>
                                    <p:animEffect transition="in" filter="fade">
                                      <p:cBhvr>
                                        <p:cTn id="20" dur="500"/>
                                        <p:tgtEl>
                                          <p:spTgt spid="79"/>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75"/>
                                        </p:tgtEl>
                                        <p:attrNameLst>
                                          <p:attrName>style.visibility</p:attrName>
                                        </p:attrNameLst>
                                      </p:cBhvr>
                                      <p:to>
                                        <p:strVal val="visible"/>
                                      </p:to>
                                    </p:set>
                                    <p:anim calcmode="lin" valueType="num">
                                      <p:cBhvr>
                                        <p:cTn id="33" dur="500" fill="hold"/>
                                        <p:tgtEl>
                                          <p:spTgt spid="75"/>
                                        </p:tgtEl>
                                        <p:attrNameLst>
                                          <p:attrName>ppt_w</p:attrName>
                                        </p:attrNameLst>
                                      </p:cBhvr>
                                      <p:tavLst>
                                        <p:tav tm="0">
                                          <p:val>
                                            <p:fltVal val="0"/>
                                          </p:val>
                                        </p:tav>
                                        <p:tav tm="100000">
                                          <p:val>
                                            <p:strVal val="#ppt_w"/>
                                          </p:val>
                                        </p:tav>
                                      </p:tavLst>
                                    </p:anim>
                                    <p:anim calcmode="lin" valueType="num">
                                      <p:cBhvr>
                                        <p:cTn id="34" dur="500" fill="hold"/>
                                        <p:tgtEl>
                                          <p:spTgt spid="75"/>
                                        </p:tgtEl>
                                        <p:attrNameLst>
                                          <p:attrName>ppt_h</p:attrName>
                                        </p:attrNameLst>
                                      </p:cBhvr>
                                      <p:tavLst>
                                        <p:tav tm="0">
                                          <p:val>
                                            <p:fltVal val="0"/>
                                          </p:val>
                                        </p:tav>
                                        <p:tav tm="100000">
                                          <p:val>
                                            <p:strVal val="#ppt_h"/>
                                          </p:val>
                                        </p:tav>
                                      </p:tavLst>
                                    </p:anim>
                                    <p:animEffect transition="in" filter="fade">
                                      <p:cBhvr>
                                        <p:cTn id="35" dur="500"/>
                                        <p:tgtEl>
                                          <p:spTgt spid="75"/>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nodeType="clickEffect">
                                  <p:stCondLst>
                                    <p:cond delay="0"/>
                                  </p:stCondLst>
                                  <p:childTnLst>
                                    <p:set>
                                      <p:cBhvr>
                                        <p:cTn id="39" dur="1" fill="hold">
                                          <p:stCondLst>
                                            <p:cond delay="0"/>
                                          </p:stCondLst>
                                        </p:cTn>
                                        <p:tgtEl>
                                          <p:spTgt spid="86"/>
                                        </p:tgtEl>
                                        <p:attrNameLst>
                                          <p:attrName>style.visibility</p:attrName>
                                        </p:attrNameLst>
                                      </p:cBhvr>
                                      <p:to>
                                        <p:strVal val="visible"/>
                                      </p:to>
                                    </p:set>
                                    <p:anim calcmode="lin" valueType="num">
                                      <p:cBhvr additive="base">
                                        <p:cTn id="40" dur="500" fill="hold"/>
                                        <p:tgtEl>
                                          <p:spTgt spid="86"/>
                                        </p:tgtEl>
                                        <p:attrNameLst>
                                          <p:attrName>ppt_x</p:attrName>
                                        </p:attrNameLst>
                                      </p:cBhvr>
                                      <p:tavLst>
                                        <p:tav tm="0">
                                          <p:val>
                                            <p:strVal val="0-#ppt_w/2"/>
                                          </p:val>
                                        </p:tav>
                                        <p:tav tm="100000">
                                          <p:val>
                                            <p:strVal val="#ppt_x"/>
                                          </p:val>
                                        </p:tav>
                                      </p:tavLst>
                                    </p:anim>
                                    <p:anim calcmode="lin" valueType="num">
                                      <p:cBhvr additive="base">
                                        <p:cTn id="41" dur="500" fill="hold"/>
                                        <p:tgtEl>
                                          <p:spTgt spid="86"/>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nodeType="clickEffect">
                                  <p:stCondLst>
                                    <p:cond delay="0"/>
                                  </p:stCondLst>
                                  <p:childTnLst>
                                    <p:set>
                                      <p:cBhvr>
                                        <p:cTn id="45" dur="1" fill="hold">
                                          <p:stCondLst>
                                            <p:cond delay="0"/>
                                          </p:stCondLst>
                                        </p:cTn>
                                        <p:tgtEl>
                                          <p:spTgt spid="73"/>
                                        </p:tgtEl>
                                        <p:attrNameLst>
                                          <p:attrName>style.visibility</p:attrName>
                                        </p:attrNameLst>
                                      </p:cBhvr>
                                      <p:to>
                                        <p:strVal val="visible"/>
                                      </p:to>
                                    </p:set>
                                    <p:anim calcmode="lin" valueType="num">
                                      <p:cBhvr>
                                        <p:cTn id="46" dur="500" fill="hold"/>
                                        <p:tgtEl>
                                          <p:spTgt spid="73"/>
                                        </p:tgtEl>
                                        <p:attrNameLst>
                                          <p:attrName>ppt_w</p:attrName>
                                        </p:attrNameLst>
                                      </p:cBhvr>
                                      <p:tavLst>
                                        <p:tav tm="0">
                                          <p:val>
                                            <p:fltVal val="0"/>
                                          </p:val>
                                        </p:tav>
                                        <p:tav tm="100000">
                                          <p:val>
                                            <p:strVal val="#ppt_w"/>
                                          </p:val>
                                        </p:tav>
                                      </p:tavLst>
                                    </p:anim>
                                    <p:anim calcmode="lin" valueType="num">
                                      <p:cBhvr>
                                        <p:cTn id="47" dur="500" fill="hold"/>
                                        <p:tgtEl>
                                          <p:spTgt spid="73"/>
                                        </p:tgtEl>
                                        <p:attrNameLst>
                                          <p:attrName>ppt_h</p:attrName>
                                        </p:attrNameLst>
                                      </p:cBhvr>
                                      <p:tavLst>
                                        <p:tav tm="0">
                                          <p:val>
                                            <p:fltVal val="0"/>
                                          </p:val>
                                        </p:tav>
                                        <p:tav tm="100000">
                                          <p:val>
                                            <p:strVal val="#ppt_h"/>
                                          </p:val>
                                        </p:tav>
                                      </p:tavLst>
                                    </p:anim>
                                    <p:animEffect transition="in" filter="fade">
                                      <p:cBhvr>
                                        <p:cTn id="48" dur="500"/>
                                        <p:tgtEl>
                                          <p:spTgt spid="73"/>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nodeType="clickEffect">
                                  <p:stCondLst>
                                    <p:cond delay="0"/>
                                  </p:stCondLst>
                                  <p:childTnLst>
                                    <p:set>
                                      <p:cBhvr>
                                        <p:cTn id="52" dur="1" fill="hold">
                                          <p:stCondLst>
                                            <p:cond delay="0"/>
                                          </p:stCondLst>
                                        </p:cTn>
                                        <p:tgtEl>
                                          <p:spTgt spid="72"/>
                                        </p:tgtEl>
                                        <p:attrNameLst>
                                          <p:attrName>style.visibility</p:attrName>
                                        </p:attrNameLst>
                                      </p:cBhvr>
                                      <p:to>
                                        <p:strVal val="visible"/>
                                      </p:to>
                                    </p:set>
                                    <p:anim calcmode="lin" valueType="num">
                                      <p:cBhvr>
                                        <p:cTn id="53" dur="500" fill="hold"/>
                                        <p:tgtEl>
                                          <p:spTgt spid="72"/>
                                        </p:tgtEl>
                                        <p:attrNameLst>
                                          <p:attrName>ppt_w</p:attrName>
                                        </p:attrNameLst>
                                      </p:cBhvr>
                                      <p:tavLst>
                                        <p:tav tm="0">
                                          <p:val>
                                            <p:fltVal val="0"/>
                                          </p:val>
                                        </p:tav>
                                        <p:tav tm="100000">
                                          <p:val>
                                            <p:strVal val="#ppt_w"/>
                                          </p:val>
                                        </p:tav>
                                      </p:tavLst>
                                    </p:anim>
                                    <p:anim calcmode="lin" valueType="num">
                                      <p:cBhvr>
                                        <p:cTn id="54" dur="500" fill="hold"/>
                                        <p:tgtEl>
                                          <p:spTgt spid="72"/>
                                        </p:tgtEl>
                                        <p:attrNameLst>
                                          <p:attrName>ppt_h</p:attrName>
                                        </p:attrNameLst>
                                      </p:cBhvr>
                                      <p:tavLst>
                                        <p:tav tm="0">
                                          <p:val>
                                            <p:fltVal val="0"/>
                                          </p:val>
                                        </p:tav>
                                        <p:tav tm="100000">
                                          <p:val>
                                            <p:strVal val="#ppt_h"/>
                                          </p:val>
                                        </p:tav>
                                      </p:tavLst>
                                    </p:anim>
                                    <p:animEffect transition="in" filter="fade">
                                      <p:cBhvr>
                                        <p:cTn id="55" dur="500"/>
                                        <p:tgtEl>
                                          <p:spTgt spid="72"/>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nodeType="clickEffect">
                                  <p:stCondLst>
                                    <p:cond delay="0"/>
                                  </p:stCondLst>
                                  <p:childTnLst>
                                    <p:set>
                                      <p:cBhvr>
                                        <p:cTn id="59" dur="1" fill="hold">
                                          <p:stCondLst>
                                            <p:cond delay="0"/>
                                          </p:stCondLst>
                                        </p:cTn>
                                        <p:tgtEl>
                                          <p:spTgt spid="74"/>
                                        </p:tgtEl>
                                        <p:attrNameLst>
                                          <p:attrName>style.visibility</p:attrName>
                                        </p:attrNameLst>
                                      </p:cBhvr>
                                      <p:to>
                                        <p:strVal val="visible"/>
                                      </p:to>
                                    </p:set>
                                    <p:anim calcmode="lin" valueType="num">
                                      <p:cBhvr>
                                        <p:cTn id="60" dur="500" fill="hold"/>
                                        <p:tgtEl>
                                          <p:spTgt spid="74"/>
                                        </p:tgtEl>
                                        <p:attrNameLst>
                                          <p:attrName>ppt_w</p:attrName>
                                        </p:attrNameLst>
                                      </p:cBhvr>
                                      <p:tavLst>
                                        <p:tav tm="0">
                                          <p:val>
                                            <p:fltVal val="0"/>
                                          </p:val>
                                        </p:tav>
                                        <p:tav tm="100000">
                                          <p:val>
                                            <p:strVal val="#ppt_w"/>
                                          </p:val>
                                        </p:tav>
                                      </p:tavLst>
                                    </p:anim>
                                    <p:anim calcmode="lin" valueType="num">
                                      <p:cBhvr>
                                        <p:cTn id="61" dur="500" fill="hold"/>
                                        <p:tgtEl>
                                          <p:spTgt spid="74"/>
                                        </p:tgtEl>
                                        <p:attrNameLst>
                                          <p:attrName>ppt_h</p:attrName>
                                        </p:attrNameLst>
                                      </p:cBhvr>
                                      <p:tavLst>
                                        <p:tav tm="0">
                                          <p:val>
                                            <p:fltVal val="0"/>
                                          </p:val>
                                        </p:tav>
                                        <p:tav tm="100000">
                                          <p:val>
                                            <p:strVal val="#ppt_h"/>
                                          </p:val>
                                        </p:tav>
                                      </p:tavLst>
                                    </p:anim>
                                    <p:animEffect transition="in" filter="fade">
                                      <p:cBhvr>
                                        <p:cTn id="62" dur="500"/>
                                        <p:tgtEl>
                                          <p:spTgt spid="74"/>
                                        </p:tgtEl>
                                      </p:cBhvr>
                                    </p:animEffect>
                                  </p:childTnLst>
                                </p:cTn>
                              </p:par>
                            </p:childTnLst>
                          </p:cTn>
                        </p:par>
                      </p:childTnLst>
                    </p:cTn>
                  </p:par>
                  <p:par>
                    <p:cTn id="63" fill="hold">
                      <p:stCondLst>
                        <p:cond delay="indefinite"/>
                      </p:stCondLst>
                      <p:childTnLst>
                        <p:par>
                          <p:cTn id="64" fill="hold">
                            <p:stCondLst>
                              <p:cond delay="0"/>
                            </p:stCondLst>
                            <p:childTnLst>
                              <p:par>
                                <p:cTn id="65" presetID="53" presetClass="entr" presetSubtype="16" fill="hold" nodeType="clickEffect">
                                  <p:stCondLst>
                                    <p:cond delay="0"/>
                                  </p:stCondLst>
                                  <p:childTnLst>
                                    <p:set>
                                      <p:cBhvr>
                                        <p:cTn id="66" dur="1" fill="hold">
                                          <p:stCondLst>
                                            <p:cond delay="0"/>
                                          </p:stCondLst>
                                        </p:cTn>
                                        <p:tgtEl>
                                          <p:spTgt spid="76"/>
                                        </p:tgtEl>
                                        <p:attrNameLst>
                                          <p:attrName>style.visibility</p:attrName>
                                        </p:attrNameLst>
                                      </p:cBhvr>
                                      <p:to>
                                        <p:strVal val="visible"/>
                                      </p:to>
                                    </p:set>
                                    <p:anim calcmode="lin" valueType="num">
                                      <p:cBhvr>
                                        <p:cTn id="67" dur="500" fill="hold"/>
                                        <p:tgtEl>
                                          <p:spTgt spid="76"/>
                                        </p:tgtEl>
                                        <p:attrNameLst>
                                          <p:attrName>ppt_w</p:attrName>
                                        </p:attrNameLst>
                                      </p:cBhvr>
                                      <p:tavLst>
                                        <p:tav tm="0">
                                          <p:val>
                                            <p:fltVal val="0"/>
                                          </p:val>
                                        </p:tav>
                                        <p:tav tm="100000">
                                          <p:val>
                                            <p:strVal val="#ppt_w"/>
                                          </p:val>
                                        </p:tav>
                                      </p:tavLst>
                                    </p:anim>
                                    <p:anim calcmode="lin" valueType="num">
                                      <p:cBhvr>
                                        <p:cTn id="68" dur="500" fill="hold"/>
                                        <p:tgtEl>
                                          <p:spTgt spid="76"/>
                                        </p:tgtEl>
                                        <p:attrNameLst>
                                          <p:attrName>ppt_h</p:attrName>
                                        </p:attrNameLst>
                                      </p:cBhvr>
                                      <p:tavLst>
                                        <p:tav tm="0">
                                          <p:val>
                                            <p:fltVal val="0"/>
                                          </p:val>
                                        </p:tav>
                                        <p:tav tm="100000">
                                          <p:val>
                                            <p:strVal val="#ppt_h"/>
                                          </p:val>
                                        </p:tav>
                                      </p:tavLst>
                                    </p:anim>
                                    <p:animEffect transition="in" filter="fade">
                                      <p:cBhvr>
                                        <p:cTn id="69" dur="500"/>
                                        <p:tgtEl>
                                          <p:spTgt spid="76"/>
                                        </p:tgtEl>
                                      </p:cBhvr>
                                    </p:animEffect>
                                  </p:childTnLst>
                                </p:cTn>
                              </p:par>
                            </p:childTnLst>
                          </p:cTn>
                        </p:par>
                      </p:childTnLst>
                    </p:cTn>
                  </p:par>
                  <p:par>
                    <p:cTn id="70" fill="hold">
                      <p:stCondLst>
                        <p:cond delay="indefinite"/>
                      </p:stCondLst>
                      <p:childTnLst>
                        <p:par>
                          <p:cTn id="71" fill="hold">
                            <p:stCondLst>
                              <p:cond delay="0"/>
                            </p:stCondLst>
                            <p:childTnLst>
                              <p:par>
                                <p:cTn id="72" presetID="53" presetClass="entr" presetSubtype="16" fill="hold" nodeType="clickEffect">
                                  <p:stCondLst>
                                    <p:cond delay="0"/>
                                  </p:stCondLst>
                                  <p:childTnLst>
                                    <p:set>
                                      <p:cBhvr>
                                        <p:cTn id="73" dur="1" fill="hold">
                                          <p:stCondLst>
                                            <p:cond delay="0"/>
                                          </p:stCondLst>
                                        </p:cTn>
                                        <p:tgtEl>
                                          <p:spTgt spid="82"/>
                                        </p:tgtEl>
                                        <p:attrNameLst>
                                          <p:attrName>style.visibility</p:attrName>
                                        </p:attrNameLst>
                                      </p:cBhvr>
                                      <p:to>
                                        <p:strVal val="visible"/>
                                      </p:to>
                                    </p:set>
                                    <p:anim calcmode="lin" valueType="num">
                                      <p:cBhvr>
                                        <p:cTn id="74" dur="500" fill="hold"/>
                                        <p:tgtEl>
                                          <p:spTgt spid="82"/>
                                        </p:tgtEl>
                                        <p:attrNameLst>
                                          <p:attrName>ppt_w</p:attrName>
                                        </p:attrNameLst>
                                      </p:cBhvr>
                                      <p:tavLst>
                                        <p:tav tm="0">
                                          <p:val>
                                            <p:fltVal val="0"/>
                                          </p:val>
                                        </p:tav>
                                        <p:tav tm="100000">
                                          <p:val>
                                            <p:strVal val="#ppt_w"/>
                                          </p:val>
                                        </p:tav>
                                      </p:tavLst>
                                    </p:anim>
                                    <p:anim calcmode="lin" valueType="num">
                                      <p:cBhvr>
                                        <p:cTn id="75" dur="500" fill="hold"/>
                                        <p:tgtEl>
                                          <p:spTgt spid="82"/>
                                        </p:tgtEl>
                                        <p:attrNameLst>
                                          <p:attrName>ppt_h</p:attrName>
                                        </p:attrNameLst>
                                      </p:cBhvr>
                                      <p:tavLst>
                                        <p:tav tm="0">
                                          <p:val>
                                            <p:fltVal val="0"/>
                                          </p:val>
                                        </p:tav>
                                        <p:tav tm="100000">
                                          <p:val>
                                            <p:strVal val="#ppt_h"/>
                                          </p:val>
                                        </p:tav>
                                      </p:tavLst>
                                    </p:anim>
                                    <p:animEffect transition="in" filter="fade">
                                      <p:cBhvr>
                                        <p:cTn id="76" dur="500"/>
                                        <p:tgtEl>
                                          <p:spTgt spid="82"/>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87"/>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53" presetClass="entr" presetSubtype="16" fill="hold" grpId="0" nodeType="clickEffect">
                                  <p:stCondLst>
                                    <p:cond delay="0"/>
                                  </p:stCondLst>
                                  <p:childTnLst>
                                    <p:set>
                                      <p:cBhvr>
                                        <p:cTn id="84" dur="1" fill="hold">
                                          <p:stCondLst>
                                            <p:cond delay="0"/>
                                          </p:stCondLst>
                                        </p:cTn>
                                        <p:tgtEl>
                                          <p:spTgt spid="26"/>
                                        </p:tgtEl>
                                        <p:attrNameLst>
                                          <p:attrName>style.visibility</p:attrName>
                                        </p:attrNameLst>
                                      </p:cBhvr>
                                      <p:to>
                                        <p:strVal val="visible"/>
                                      </p:to>
                                    </p:set>
                                    <p:anim calcmode="lin" valueType="num">
                                      <p:cBhvr>
                                        <p:cTn id="85" dur="500" fill="hold"/>
                                        <p:tgtEl>
                                          <p:spTgt spid="26"/>
                                        </p:tgtEl>
                                        <p:attrNameLst>
                                          <p:attrName>ppt_w</p:attrName>
                                        </p:attrNameLst>
                                      </p:cBhvr>
                                      <p:tavLst>
                                        <p:tav tm="0">
                                          <p:val>
                                            <p:fltVal val="0"/>
                                          </p:val>
                                        </p:tav>
                                        <p:tav tm="100000">
                                          <p:val>
                                            <p:strVal val="#ppt_w"/>
                                          </p:val>
                                        </p:tav>
                                      </p:tavLst>
                                    </p:anim>
                                    <p:anim calcmode="lin" valueType="num">
                                      <p:cBhvr>
                                        <p:cTn id="86" dur="500" fill="hold"/>
                                        <p:tgtEl>
                                          <p:spTgt spid="26"/>
                                        </p:tgtEl>
                                        <p:attrNameLst>
                                          <p:attrName>ppt_h</p:attrName>
                                        </p:attrNameLst>
                                      </p:cBhvr>
                                      <p:tavLst>
                                        <p:tav tm="0">
                                          <p:val>
                                            <p:fltVal val="0"/>
                                          </p:val>
                                        </p:tav>
                                        <p:tav tm="100000">
                                          <p:val>
                                            <p:strVal val="#ppt_h"/>
                                          </p:val>
                                        </p:tav>
                                      </p:tavLst>
                                    </p:anim>
                                    <p:animEffect transition="in" filter="fade">
                                      <p:cBhvr>
                                        <p:cTn id="87" dur="500"/>
                                        <p:tgtEl>
                                          <p:spTgt spid="26"/>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29"/>
                                        </p:tgtEl>
                                        <p:attrNameLst>
                                          <p:attrName>style.visibility</p:attrName>
                                        </p:attrNameLst>
                                      </p:cBhvr>
                                      <p:to>
                                        <p:strVal val="visible"/>
                                      </p:to>
                                    </p:set>
                                  </p:childTnLst>
                                </p:cTn>
                              </p:par>
                              <p:par>
                                <p:cTn id="92" presetID="22" presetClass="entr" presetSubtype="8" fill="hold" nodeType="withEffect">
                                  <p:stCondLst>
                                    <p:cond delay="0"/>
                                  </p:stCondLst>
                                  <p:childTnLst>
                                    <p:set>
                                      <p:cBhvr>
                                        <p:cTn id="93" dur="1" fill="hold">
                                          <p:stCondLst>
                                            <p:cond delay="0"/>
                                          </p:stCondLst>
                                        </p:cTn>
                                        <p:tgtEl>
                                          <p:spTgt spid="84"/>
                                        </p:tgtEl>
                                        <p:attrNameLst>
                                          <p:attrName>style.visibility</p:attrName>
                                        </p:attrNameLst>
                                      </p:cBhvr>
                                      <p:to>
                                        <p:strVal val="visible"/>
                                      </p:to>
                                    </p:set>
                                    <p:animEffect transition="in" filter="wipe(left)">
                                      <p:cBhvr>
                                        <p:cTn id="94"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10 Grupo"/>
          <p:cNvGrpSpPr/>
          <p:nvPr/>
        </p:nvGrpSpPr>
        <p:grpSpPr>
          <a:xfrm>
            <a:off x="683568" y="1478166"/>
            <a:ext cx="8064896" cy="3823042"/>
            <a:chOff x="683568" y="1478166"/>
            <a:chExt cx="8064896" cy="3823042"/>
          </a:xfrm>
        </p:grpSpPr>
        <p:sp>
          <p:nvSpPr>
            <p:cNvPr id="92" name="91 Esquina doblada"/>
            <p:cNvSpPr/>
            <p:nvPr/>
          </p:nvSpPr>
          <p:spPr bwMode="auto">
            <a:xfrm>
              <a:off x="683568" y="1478166"/>
              <a:ext cx="8064896" cy="3823042"/>
            </a:xfrm>
            <a:prstGeom prst="foldedCorner">
              <a:avLst/>
            </a:prstGeom>
            <a:solidFill>
              <a:srgbClr val="EFFE98"/>
            </a:solidFill>
            <a:ln w="952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_tradnl" sz="1900" b="0" i="0" u="none" strike="noStrike" cap="none" normalizeH="0" baseline="0">
                <a:ln>
                  <a:noFill/>
                </a:ln>
                <a:solidFill>
                  <a:schemeClr val="tx1"/>
                </a:solidFill>
                <a:effectLst/>
                <a:latin typeface="Arial" charset="0"/>
              </a:endParaRPr>
            </a:p>
          </p:txBody>
        </p:sp>
        <p:grpSp>
          <p:nvGrpSpPr>
            <p:cNvPr id="77" name="76 Grupo"/>
            <p:cNvGrpSpPr/>
            <p:nvPr/>
          </p:nvGrpSpPr>
          <p:grpSpPr>
            <a:xfrm>
              <a:off x="1090338" y="2591351"/>
              <a:ext cx="7082062" cy="2378424"/>
              <a:chOff x="971600" y="1928918"/>
              <a:chExt cx="7488832" cy="2378424"/>
            </a:xfrm>
          </p:grpSpPr>
          <p:sp>
            <p:nvSpPr>
              <p:cNvPr id="32" name="31 Rectángulo"/>
              <p:cNvSpPr/>
              <p:nvPr/>
            </p:nvSpPr>
            <p:spPr bwMode="auto">
              <a:xfrm>
                <a:off x="971600" y="1928918"/>
                <a:ext cx="7488832" cy="2378424"/>
              </a:xfrm>
              <a:prstGeom prst="rect">
                <a:avLst/>
              </a:prstGeom>
              <a:solidFill>
                <a:srgbClr val="DEBD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1" name="20 Rectángulo"/>
              <p:cNvSpPr/>
              <p:nvPr/>
            </p:nvSpPr>
            <p:spPr>
              <a:xfrm>
                <a:off x="1043608" y="1943541"/>
                <a:ext cx="7292286" cy="2277547"/>
              </a:xfrm>
              <a:prstGeom prst="rect">
                <a:avLst/>
              </a:prstGeom>
            </p:spPr>
            <p:txBody>
              <a:bodyPr wrap="square">
                <a:spAutoFit/>
              </a:bodyPr>
              <a:lstStyle/>
              <a:p>
                <a:r>
                  <a:rPr lang="es-ES" sz="1600" b="1" dirty="0" err="1">
                    <a:solidFill>
                      <a:srgbClr val="0070C0"/>
                    </a:solidFill>
                  </a:rPr>
                  <a:t>public</a:t>
                </a:r>
                <a:r>
                  <a:rPr lang="es-ES" sz="1600" b="1" dirty="0">
                    <a:solidFill>
                      <a:srgbClr val="0070C0"/>
                    </a:solidFill>
                  </a:rPr>
                  <a:t> </a:t>
                </a:r>
                <a:r>
                  <a:rPr lang="es-ES" sz="1600" b="1" dirty="0" err="1">
                    <a:solidFill>
                      <a:srgbClr val="0070C0"/>
                    </a:solidFill>
                  </a:rPr>
                  <a:t>class</a:t>
                </a:r>
                <a:r>
                  <a:rPr lang="es-ES" sz="1600" b="1" dirty="0">
                    <a:solidFill>
                      <a:srgbClr val="0070C0"/>
                    </a:solidFill>
                  </a:rPr>
                  <a:t> </a:t>
                </a:r>
                <a:r>
                  <a:rPr lang="es-ES" sz="1600" b="1" dirty="0" err="1"/>
                  <a:t>HolaMundo</a:t>
                </a:r>
                <a:endParaRPr lang="es-ES" sz="1600" b="1" dirty="0"/>
              </a:p>
              <a:p>
                <a:pPr>
                  <a:spcAft>
                    <a:spcPts val="600"/>
                  </a:spcAft>
                </a:pPr>
                <a:r>
                  <a:rPr lang="es-ES" sz="1600" dirty="0"/>
                  <a:t>{</a:t>
                </a:r>
              </a:p>
              <a:p>
                <a:pPr>
                  <a:spcAft>
                    <a:spcPts val="600"/>
                  </a:spcAft>
                </a:pPr>
                <a:endParaRPr lang="es-ES" sz="1600" dirty="0"/>
              </a:p>
              <a:p>
                <a:pPr>
                  <a:spcAft>
                    <a:spcPts val="600"/>
                  </a:spcAft>
                </a:pPr>
                <a:endParaRPr lang="es-ES" sz="1600" dirty="0"/>
              </a:p>
              <a:p>
                <a:pPr>
                  <a:spcAft>
                    <a:spcPts val="600"/>
                  </a:spcAft>
                </a:pPr>
                <a:endParaRPr lang="es-ES" sz="1600" dirty="0"/>
              </a:p>
              <a:p>
                <a:pPr>
                  <a:spcAft>
                    <a:spcPts val="600"/>
                  </a:spcAft>
                </a:pPr>
                <a:endParaRPr lang="es-ES" sz="1600" dirty="0"/>
              </a:p>
              <a:p>
                <a:pPr>
                  <a:spcBef>
                    <a:spcPts val="600"/>
                  </a:spcBef>
                </a:pPr>
                <a:r>
                  <a:rPr lang="es-ES" sz="1600" dirty="0"/>
                  <a:t>}</a:t>
                </a:r>
              </a:p>
            </p:txBody>
          </p:sp>
        </p:grpSp>
      </p:grpSp>
      <p:sp>
        <p:nvSpPr>
          <p:cNvPr id="2" name="1 Título"/>
          <p:cNvSpPr>
            <a:spLocks noGrp="1"/>
          </p:cNvSpPr>
          <p:nvPr>
            <p:ph type="title"/>
          </p:nvPr>
        </p:nvSpPr>
        <p:spPr>
          <a:xfrm>
            <a:off x="851420" y="53975"/>
            <a:ext cx="7392988" cy="563563"/>
          </a:xfrm>
        </p:spPr>
        <p:txBody>
          <a:bodyPr/>
          <a:lstStyle/>
          <a:p>
            <a:r>
              <a:rPr lang="es-ES" dirty="0"/>
              <a:t>Estructura y bloques fundamentales</a:t>
            </a:r>
          </a:p>
        </p:txBody>
      </p:sp>
      <p:sp>
        <p:nvSpPr>
          <p:cNvPr id="16" name="15 Rectángulo"/>
          <p:cNvSpPr/>
          <p:nvPr/>
        </p:nvSpPr>
        <p:spPr>
          <a:xfrm>
            <a:off x="1225134" y="3078339"/>
            <a:ext cx="4949979" cy="2942949"/>
          </a:xfrm>
          <a:prstGeom prst="rect">
            <a:avLst/>
          </a:prstGeom>
          <a:scene3d>
            <a:camera prst="orthographicFront">
              <a:rot lat="0" lon="0" rev="0"/>
            </a:camera>
            <a:lightRig rig="contrasting" dir="t">
              <a:rot lat="0" lon="0" rev="1200000"/>
            </a:lightRig>
          </a:scene3d>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endParaRPr lang="es-ES" sz="2700" kern="1200" dirty="0"/>
          </a:p>
          <a:p>
            <a:pPr marL="228600" lvl="1" indent="-228600" algn="l" defTabSz="1200150">
              <a:lnSpc>
                <a:spcPct val="90000"/>
              </a:lnSpc>
              <a:spcBef>
                <a:spcPct val="0"/>
              </a:spcBef>
              <a:spcAft>
                <a:spcPct val="15000"/>
              </a:spcAft>
              <a:buChar char="••"/>
            </a:pPr>
            <a:endParaRPr lang="es-ES" sz="2700" kern="1200" dirty="0"/>
          </a:p>
        </p:txBody>
      </p:sp>
      <p:grpSp>
        <p:nvGrpSpPr>
          <p:cNvPr id="4" name="3 Grupo"/>
          <p:cNvGrpSpPr/>
          <p:nvPr/>
        </p:nvGrpSpPr>
        <p:grpSpPr>
          <a:xfrm>
            <a:off x="1586977" y="3167415"/>
            <a:ext cx="6225383" cy="1111127"/>
            <a:chOff x="2119033" y="3325985"/>
            <a:chExt cx="6225383" cy="1111127"/>
          </a:xfrm>
        </p:grpSpPr>
        <p:grpSp>
          <p:nvGrpSpPr>
            <p:cNvPr id="81" name="80 Grupo"/>
            <p:cNvGrpSpPr/>
            <p:nvPr/>
          </p:nvGrpSpPr>
          <p:grpSpPr>
            <a:xfrm>
              <a:off x="2119033" y="3325985"/>
              <a:ext cx="6197383" cy="1111127"/>
              <a:chOff x="2147033" y="2796529"/>
              <a:chExt cx="6197383" cy="1111127"/>
            </a:xfrm>
          </p:grpSpPr>
          <p:sp>
            <p:nvSpPr>
              <p:cNvPr id="3" name="2 Rectángulo"/>
              <p:cNvSpPr/>
              <p:nvPr/>
            </p:nvSpPr>
            <p:spPr bwMode="auto">
              <a:xfrm>
                <a:off x="2147033" y="2827536"/>
                <a:ext cx="6188862" cy="1080120"/>
              </a:xfrm>
              <a:prstGeom prst="rect">
                <a:avLst/>
              </a:pr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9" name="68 Rectángulo"/>
              <p:cNvSpPr/>
              <p:nvPr/>
            </p:nvSpPr>
            <p:spPr>
              <a:xfrm>
                <a:off x="2204258" y="2796529"/>
                <a:ext cx="6140158" cy="1077218"/>
              </a:xfrm>
              <a:prstGeom prst="rect">
                <a:avLst/>
              </a:prstGeom>
            </p:spPr>
            <p:txBody>
              <a:bodyPr wrap="square">
                <a:spAutoFit/>
              </a:bodyPr>
              <a:lstStyle/>
              <a:p>
                <a:r>
                  <a:rPr lang="en-US" sz="1600" dirty="0">
                    <a:solidFill>
                      <a:srgbClr val="0070C0"/>
                    </a:solidFill>
                  </a:rPr>
                  <a:t>public    static     void     </a:t>
                </a:r>
                <a:r>
                  <a:rPr lang="en-US" sz="1600" b="1" dirty="0"/>
                  <a:t>main     </a:t>
                </a:r>
                <a:r>
                  <a:rPr lang="en-US" sz="1600" dirty="0"/>
                  <a:t>( </a:t>
                </a:r>
                <a:r>
                  <a:rPr lang="en-US" sz="1600" dirty="0">
                    <a:solidFill>
                      <a:srgbClr val="009900"/>
                    </a:solidFill>
                  </a:rPr>
                  <a:t>String[] </a:t>
                </a:r>
                <a:r>
                  <a:rPr lang="en-US" sz="1600" dirty="0" err="1">
                    <a:solidFill>
                      <a:srgbClr val="009900"/>
                    </a:solidFill>
                  </a:rPr>
                  <a:t>args</a:t>
                </a:r>
                <a:r>
                  <a:rPr lang="en-US" sz="1600" dirty="0">
                    <a:solidFill>
                      <a:srgbClr val="009900"/>
                    </a:solidFill>
                  </a:rPr>
                  <a:t> </a:t>
                </a:r>
                <a:r>
                  <a:rPr lang="en-US" sz="1600" dirty="0"/>
                  <a:t>)</a:t>
                </a:r>
              </a:p>
              <a:p>
                <a:r>
                  <a:rPr lang="es-ES" sz="1600" dirty="0"/>
                  <a:t>{</a:t>
                </a:r>
              </a:p>
              <a:p>
                <a:r>
                  <a:rPr lang="es-ES" sz="1600" dirty="0"/>
                  <a:t>     </a:t>
                </a:r>
              </a:p>
              <a:p>
                <a:pPr>
                  <a:spcAft>
                    <a:spcPts val="600"/>
                  </a:spcAft>
                </a:pPr>
                <a:r>
                  <a:rPr lang="es-ES" sz="1600" dirty="0"/>
                  <a:t>}</a:t>
                </a:r>
              </a:p>
            </p:txBody>
          </p:sp>
        </p:grpSp>
        <p:grpSp>
          <p:nvGrpSpPr>
            <p:cNvPr id="82" name="81 Grupo"/>
            <p:cNvGrpSpPr/>
            <p:nvPr/>
          </p:nvGrpSpPr>
          <p:grpSpPr>
            <a:xfrm>
              <a:off x="2400300" y="3798440"/>
              <a:ext cx="5944116" cy="400110"/>
              <a:chOff x="2400300" y="3306470"/>
              <a:chExt cx="5944116" cy="400110"/>
            </a:xfrm>
          </p:grpSpPr>
          <p:sp>
            <p:nvSpPr>
              <p:cNvPr id="40" name="39 Rectángulo"/>
              <p:cNvSpPr/>
              <p:nvPr/>
            </p:nvSpPr>
            <p:spPr bwMode="auto">
              <a:xfrm>
                <a:off x="2443449" y="3335784"/>
                <a:ext cx="5800959" cy="301353"/>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8" name="77 Rectángulo"/>
              <p:cNvSpPr/>
              <p:nvPr/>
            </p:nvSpPr>
            <p:spPr>
              <a:xfrm>
                <a:off x="2400300" y="3306470"/>
                <a:ext cx="5944116" cy="400110"/>
              </a:xfrm>
              <a:prstGeom prst="rect">
                <a:avLst/>
              </a:prstGeom>
            </p:spPr>
            <p:txBody>
              <a:bodyPr wrap="square">
                <a:spAutoFit/>
              </a:bodyPr>
              <a:lstStyle/>
              <a:p>
                <a:r>
                  <a:rPr lang="es-ES" sz="1600" b="1" dirty="0" err="1">
                    <a:solidFill>
                      <a:srgbClr val="080808"/>
                    </a:solidFill>
                  </a:rPr>
                  <a:t>System.out</a:t>
                </a:r>
                <a:r>
                  <a:rPr lang="es-ES" sz="1600" b="1" dirty="0" err="1"/>
                  <a:t>.</a:t>
                </a:r>
                <a:r>
                  <a:rPr lang="es-ES" sz="1600" dirty="0" err="1">
                    <a:solidFill>
                      <a:srgbClr val="FF0000"/>
                    </a:solidFill>
                  </a:rPr>
                  <a:t>println</a:t>
                </a:r>
                <a:r>
                  <a:rPr lang="es-ES" sz="1600" dirty="0">
                    <a:solidFill>
                      <a:srgbClr val="FF0000"/>
                    </a:solidFill>
                  </a:rPr>
                  <a:t>(</a:t>
                </a:r>
                <a:r>
                  <a:rPr lang="es-ES" sz="1600" dirty="0"/>
                  <a:t> </a:t>
                </a:r>
                <a:r>
                  <a:rPr lang="es-ES" sz="1600" dirty="0">
                    <a:solidFill>
                      <a:srgbClr val="009900"/>
                    </a:solidFill>
                  </a:rPr>
                  <a:t>“Bienvenido a la programación en Java!” </a:t>
                </a:r>
                <a:r>
                  <a:rPr lang="es-ES" sz="1600" dirty="0">
                    <a:solidFill>
                      <a:srgbClr val="FF0000"/>
                    </a:solidFill>
                  </a:rPr>
                  <a:t>)</a:t>
                </a:r>
                <a:r>
                  <a:rPr lang="es-ES" sz="2000" b="1" dirty="0">
                    <a:solidFill>
                      <a:schemeClr val="tx1">
                        <a:lumMod val="60000"/>
                        <a:lumOff val="40000"/>
                      </a:schemeClr>
                    </a:solidFill>
                  </a:rPr>
                  <a:t>;</a:t>
                </a:r>
              </a:p>
            </p:txBody>
          </p:sp>
        </p:grpSp>
      </p:grpSp>
      <p:grpSp>
        <p:nvGrpSpPr>
          <p:cNvPr id="6" name="5 Grupo"/>
          <p:cNvGrpSpPr/>
          <p:nvPr/>
        </p:nvGrpSpPr>
        <p:grpSpPr>
          <a:xfrm>
            <a:off x="1086588" y="1622181"/>
            <a:ext cx="7488832" cy="753146"/>
            <a:chOff x="1086588" y="1622181"/>
            <a:chExt cx="7488832" cy="753146"/>
          </a:xfrm>
        </p:grpSpPr>
        <p:sp>
          <p:nvSpPr>
            <p:cNvPr id="19" name="18 Rectángulo"/>
            <p:cNvSpPr/>
            <p:nvPr/>
          </p:nvSpPr>
          <p:spPr>
            <a:xfrm>
              <a:off x="3382362" y="1790142"/>
              <a:ext cx="2044149" cy="384721"/>
            </a:xfrm>
            <a:prstGeom prst="rect">
              <a:avLst/>
            </a:prstGeom>
          </p:spPr>
          <p:txBody>
            <a:bodyPr wrap="none">
              <a:spAutoFit/>
            </a:bodyPr>
            <a:lstStyle/>
            <a:p>
              <a:r>
                <a:rPr lang="es-ES" b="1" dirty="0"/>
                <a:t>Bienvenido.java</a:t>
              </a:r>
              <a:endParaRPr lang="es-ES" dirty="0"/>
            </a:p>
          </p:txBody>
        </p:sp>
        <p:grpSp>
          <p:nvGrpSpPr>
            <p:cNvPr id="55" name="54 Grupo"/>
            <p:cNvGrpSpPr/>
            <p:nvPr/>
          </p:nvGrpSpPr>
          <p:grpSpPr>
            <a:xfrm>
              <a:off x="1086588" y="1622181"/>
              <a:ext cx="7488832" cy="753146"/>
              <a:chOff x="819200" y="1202614"/>
              <a:chExt cx="7488832" cy="1600174"/>
            </a:xfrm>
          </p:grpSpPr>
          <p:sp>
            <p:nvSpPr>
              <p:cNvPr id="56" name="55 Rectángulo"/>
              <p:cNvSpPr/>
              <p:nvPr/>
            </p:nvSpPr>
            <p:spPr bwMode="auto">
              <a:xfrm>
                <a:off x="819200" y="1202614"/>
                <a:ext cx="7083027" cy="1600174"/>
              </a:xfrm>
              <a:prstGeom prst="rect">
                <a:avLst/>
              </a:prstGeom>
              <a:solidFill>
                <a:schemeClr val="tx2">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7" name="56 Rectángulo"/>
              <p:cNvSpPr/>
              <p:nvPr/>
            </p:nvSpPr>
            <p:spPr>
              <a:xfrm>
                <a:off x="1015746" y="1235680"/>
                <a:ext cx="7292286" cy="1504012"/>
              </a:xfrm>
              <a:prstGeom prst="rect">
                <a:avLst/>
              </a:prstGeom>
            </p:spPr>
            <p:txBody>
              <a:bodyPr wrap="square">
                <a:spAutoFit/>
              </a:bodyPr>
              <a:lstStyle/>
              <a:p>
                <a:r>
                  <a:rPr lang="es-ES" sz="2000" b="1" dirty="0">
                    <a:solidFill>
                      <a:srgbClr val="FF0000"/>
                    </a:solidFill>
                  </a:rPr>
                  <a:t>/*</a:t>
                </a:r>
                <a:r>
                  <a:rPr lang="es-ES" sz="1600" b="1" dirty="0">
                    <a:solidFill>
                      <a:srgbClr val="0070C0"/>
                    </a:solidFill>
                  </a:rPr>
                  <a:t> </a:t>
                </a:r>
                <a:r>
                  <a:rPr lang="es-ES" sz="1600" dirty="0">
                    <a:solidFill>
                      <a:srgbClr val="333333"/>
                    </a:solidFill>
                  </a:rPr>
                  <a:t>Esto es un comentario que puede ocupar más de una línea</a:t>
                </a:r>
              </a:p>
              <a:p>
                <a:r>
                  <a:rPr lang="es-ES" sz="1600" dirty="0">
                    <a:solidFill>
                      <a:srgbClr val="333333"/>
                    </a:solidFill>
                  </a:rPr>
                  <a:t>    y el compilador no va a hacer caso de su contenido </a:t>
                </a:r>
                <a:r>
                  <a:rPr lang="es-ES" sz="2000" b="1" dirty="0">
                    <a:solidFill>
                      <a:srgbClr val="FF0000"/>
                    </a:solidFill>
                  </a:rPr>
                  <a:t>*/</a:t>
                </a:r>
                <a:endParaRPr lang="es-ES" sz="2000" dirty="0">
                  <a:solidFill>
                    <a:srgbClr val="FF0000"/>
                  </a:solidFill>
                </a:endParaRPr>
              </a:p>
            </p:txBody>
          </p:sp>
        </p:grpSp>
      </p:grpSp>
      <p:sp>
        <p:nvSpPr>
          <p:cNvPr id="63" name="62 Rectángulo"/>
          <p:cNvSpPr/>
          <p:nvPr/>
        </p:nvSpPr>
        <p:spPr>
          <a:xfrm>
            <a:off x="3635896" y="1028055"/>
            <a:ext cx="2056973" cy="384721"/>
          </a:xfrm>
          <a:prstGeom prst="rect">
            <a:avLst/>
          </a:prstGeom>
        </p:spPr>
        <p:txBody>
          <a:bodyPr wrap="none">
            <a:spAutoFit/>
          </a:bodyPr>
          <a:lstStyle/>
          <a:p>
            <a:r>
              <a:rPr lang="es-ES" b="1" dirty="0" err="1"/>
              <a:t>HolaMundo.java</a:t>
            </a:r>
            <a:endParaRPr lang="es-ES" dirty="0"/>
          </a:p>
        </p:txBody>
      </p:sp>
      <p:grpSp>
        <p:nvGrpSpPr>
          <p:cNvPr id="10" name="9 Grupo"/>
          <p:cNvGrpSpPr/>
          <p:nvPr/>
        </p:nvGrpSpPr>
        <p:grpSpPr>
          <a:xfrm>
            <a:off x="1397615" y="4511761"/>
            <a:ext cx="6558761" cy="400110"/>
            <a:chOff x="1397615" y="4511761"/>
            <a:chExt cx="6558761" cy="400110"/>
          </a:xfrm>
        </p:grpSpPr>
        <p:grpSp>
          <p:nvGrpSpPr>
            <p:cNvPr id="60" name="59 Grupo"/>
            <p:cNvGrpSpPr/>
            <p:nvPr/>
          </p:nvGrpSpPr>
          <p:grpSpPr>
            <a:xfrm>
              <a:off x="1397615" y="4539067"/>
              <a:ext cx="6558761" cy="338554"/>
              <a:chOff x="819200" y="2023242"/>
              <a:chExt cx="7098651" cy="719309"/>
            </a:xfrm>
          </p:grpSpPr>
          <p:sp>
            <p:nvSpPr>
              <p:cNvPr id="61" name="60 Rectángulo"/>
              <p:cNvSpPr/>
              <p:nvPr/>
            </p:nvSpPr>
            <p:spPr bwMode="auto">
              <a:xfrm>
                <a:off x="819200" y="2085775"/>
                <a:ext cx="7098650" cy="625939"/>
              </a:xfrm>
              <a:prstGeom prst="rect">
                <a:avLst/>
              </a:prstGeom>
              <a:solidFill>
                <a:schemeClr val="tx2">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2" name="61 Rectángulo"/>
              <p:cNvSpPr/>
              <p:nvPr/>
            </p:nvSpPr>
            <p:spPr>
              <a:xfrm>
                <a:off x="1062873" y="2023242"/>
                <a:ext cx="6854978" cy="719309"/>
              </a:xfrm>
              <a:prstGeom prst="rect">
                <a:avLst/>
              </a:prstGeom>
            </p:spPr>
            <p:txBody>
              <a:bodyPr wrap="square" anchor="b">
                <a:spAutoFit/>
              </a:bodyPr>
              <a:lstStyle/>
              <a:p>
                <a:r>
                  <a:rPr lang="es-ES" sz="1600" dirty="0">
                    <a:solidFill>
                      <a:srgbClr val="333333"/>
                    </a:solidFill>
                  </a:rPr>
                  <a:t>Este comentario solo puede extenderse hasta el final de la línea</a:t>
                </a:r>
                <a:endParaRPr lang="es-ES" sz="2000" dirty="0">
                  <a:solidFill>
                    <a:srgbClr val="FF0000"/>
                  </a:solidFill>
                </a:endParaRPr>
              </a:p>
            </p:txBody>
          </p:sp>
        </p:grpSp>
        <p:sp>
          <p:nvSpPr>
            <p:cNvPr id="5" name="4 Rectángulo"/>
            <p:cNvSpPr/>
            <p:nvPr/>
          </p:nvSpPr>
          <p:spPr>
            <a:xfrm>
              <a:off x="1402778" y="4511761"/>
              <a:ext cx="375424" cy="400110"/>
            </a:xfrm>
            <a:prstGeom prst="rect">
              <a:avLst/>
            </a:prstGeom>
          </p:spPr>
          <p:txBody>
            <a:bodyPr wrap="none">
              <a:spAutoFit/>
            </a:bodyPr>
            <a:lstStyle/>
            <a:p>
              <a:r>
                <a:rPr lang="es-ES" sz="2000" b="1" dirty="0">
                  <a:solidFill>
                    <a:srgbClr val="FF0000"/>
                  </a:solidFill>
                </a:rPr>
                <a:t>//</a:t>
              </a:r>
              <a:r>
                <a:rPr lang="es-ES" sz="1400" b="1" dirty="0">
                  <a:solidFill>
                    <a:srgbClr val="0070C0"/>
                  </a:solidFill>
                </a:rPr>
                <a:t> </a:t>
              </a:r>
              <a:endParaRPr lang="es-ES" dirty="0"/>
            </a:p>
          </p:txBody>
        </p:sp>
      </p:grpSp>
      <p:grpSp>
        <p:nvGrpSpPr>
          <p:cNvPr id="9" name="8 Grupo"/>
          <p:cNvGrpSpPr/>
          <p:nvPr/>
        </p:nvGrpSpPr>
        <p:grpSpPr>
          <a:xfrm>
            <a:off x="395536" y="3020282"/>
            <a:ext cx="6488123" cy="3462671"/>
            <a:chOff x="395536" y="3020282"/>
            <a:chExt cx="6488123" cy="3462671"/>
          </a:xfrm>
        </p:grpSpPr>
        <p:cxnSp>
          <p:nvCxnSpPr>
            <p:cNvPr id="44" name="43 Conector recto"/>
            <p:cNvCxnSpPr/>
            <p:nvPr/>
          </p:nvCxnSpPr>
          <p:spPr bwMode="auto">
            <a:xfrm flipH="1">
              <a:off x="764287" y="4715803"/>
              <a:ext cx="381449" cy="0"/>
            </a:xfrm>
            <a:prstGeom prst="line">
              <a:avLst/>
            </a:prstGeom>
            <a:ln>
              <a:solidFill>
                <a:srgbClr val="0099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2" name="11 Conector angular"/>
            <p:cNvCxnSpPr/>
            <p:nvPr/>
          </p:nvCxnSpPr>
          <p:spPr bwMode="auto">
            <a:xfrm rot="5400000">
              <a:off x="-554204" y="4330062"/>
              <a:ext cx="3001010" cy="381449"/>
            </a:xfrm>
            <a:prstGeom prst="bentConnector3">
              <a:avLst>
                <a:gd name="adj1" fmla="val 63"/>
              </a:avLst>
            </a:prstGeom>
            <a:ln>
              <a:solidFill>
                <a:srgbClr val="009900"/>
              </a:solidFill>
              <a:headEnd type="none" w="med" len="med"/>
              <a:tailEnd type="arrow"/>
            </a:ln>
          </p:spPr>
          <p:style>
            <a:lnRef idx="3">
              <a:schemeClr val="accent2"/>
            </a:lnRef>
            <a:fillRef idx="0">
              <a:schemeClr val="accent2"/>
            </a:fillRef>
            <a:effectRef idx="2">
              <a:schemeClr val="accent2"/>
            </a:effectRef>
            <a:fontRef idx="minor">
              <a:schemeClr val="tx1"/>
            </a:fontRef>
          </p:style>
        </p:cxnSp>
        <p:sp>
          <p:nvSpPr>
            <p:cNvPr id="91" name="90 CuadroTexto"/>
            <p:cNvSpPr txBox="1"/>
            <p:nvPr/>
          </p:nvSpPr>
          <p:spPr>
            <a:xfrm>
              <a:off x="395536" y="6021288"/>
              <a:ext cx="6488123" cy="461665"/>
            </a:xfrm>
            <a:prstGeom prst="rect">
              <a:avLst/>
            </a:prstGeom>
            <a:noFill/>
          </p:spPr>
          <p:txBody>
            <a:bodyPr wrap="none" rtlCol="0">
              <a:spAutoFit/>
            </a:bodyPr>
            <a:lstStyle/>
            <a:p>
              <a:r>
                <a:rPr lang="es-ES" sz="2400" b="1" i="1" dirty="0">
                  <a:solidFill>
                    <a:srgbClr val="FF6600"/>
                  </a:solidFill>
                  <a:latin typeface="Script MT Bold" pitchFamily="66" charset="0"/>
                </a:rPr>
                <a:t>Estos corchetes marcan el inicio y el final de la clase</a:t>
              </a:r>
            </a:p>
          </p:txBody>
        </p:sp>
      </p:grpSp>
      <p:grpSp>
        <p:nvGrpSpPr>
          <p:cNvPr id="8" name="7 Grupo"/>
          <p:cNvGrpSpPr/>
          <p:nvPr/>
        </p:nvGrpSpPr>
        <p:grpSpPr>
          <a:xfrm>
            <a:off x="984668" y="3573017"/>
            <a:ext cx="7257115" cy="2386716"/>
            <a:chOff x="984668" y="3573017"/>
            <a:chExt cx="7257115" cy="2386716"/>
          </a:xfrm>
        </p:grpSpPr>
        <p:cxnSp>
          <p:nvCxnSpPr>
            <p:cNvPr id="93" name="92 Conector angular"/>
            <p:cNvCxnSpPr/>
            <p:nvPr/>
          </p:nvCxnSpPr>
          <p:spPr bwMode="auto">
            <a:xfrm rot="5400000">
              <a:off x="505109" y="4450147"/>
              <a:ext cx="2016223" cy="261964"/>
            </a:xfrm>
            <a:prstGeom prst="bentConnector3">
              <a:avLst>
                <a:gd name="adj1" fmla="val 238"/>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cxnSp>
          <p:nvCxnSpPr>
            <p:cNvPr id="95" name="94 Conector recto"/>
            <p:cNvCxnSpPr/>
            <p:nvPr/>
          </p:nvCxnSpPr>
          <p:spPr bwMode="auto">
            <a:xfrm flipH="1">
              <a:off x="1402779" y="4077072"/>
              <a:ext cx="241423" cy="0"/>
            </a:xfrm>
            <a:prstGeom prst="line">
              <a:avLst/>
            </a:prstGeom>
            <a:ln>
              <a:solidFill>
                <a:schemeClr val="accent1"/>
              </a:solidFill>
              <a:headEnd type="none" w="med" len="med"/>
              <a:tailEnd type="none" w="med" len="med"/>
            </a:ln>
          </p:spPr>
          <p:style>
            <a:lnRef idx="3">
              <a:schemeClr val="accent1"/>
            </a:lnRef>
            <a:fillRef idx="0">
              <a:schemeClr val="accent1"/>
            </a:fillRef>
            <a:effectRef idx="2">
              <a:schemeClr val="accent1"/>
            </a:effectRef>
            <a:fontRef idx="minor">
              <a:schemeClr val="tx1"/>
            </a:fontRef>
          </p:style>
        </p:cxnSp>
        <p:sp>
          <p:nvSpPr>
            <p:cNvPr id="98" name="97 CuadroTexto"/>
            <p:cNvSpPr txBox="1"/>
            <p:nvPr/>
          </p:nvSpPr>
          <p:spPr>
            <a:xfrm>
              <a:off x="984668" y="5498068"/>
              <a:ext cx="7257115" cy="461665"/>
            </a:xfrm>
            <a:prstGeom prst="rect">
              <a:avLst/>
            </a:prstGeom>
            <a:noFill/>
          </p:spPr>
          <p:txBody>
            <a:bodyPr wrap="none" rtlCol="0">
              <a:spAutoFit/>
            </a:bodyPr>
            <a:lstStyle/>
            <a:p>
              <a:r>
                <a:rPr lang="es-ES" sz="2400" b="1" i="1" dirty="0">
                  <a:solidFill>
                    <a:srgbClr val="FF6600"/>
                  </a:solidFill>
                  <a:latin typeface="Script MT Bold" pitchFamily="66" charset="0"/>
                </a:rPr>
                <a:t>Estos corchetes marcan el inicio y el final del  método </a:t>
              </a:r>
              <a:r>
                <a:rPr lang="es-ES" sz="2400" b="1" i="1" dirty="0" err="1">
                  <a:solidFill>
                    <a:srgbClr val="FF6600"/>
                  </a:solidFill>
                  <a:latin typeface="Script MT Bold" pitchFamily="66" charset="0"/>
                </a:rPr>
                <a:t>main</a:t>
              </a:r>
              <a:endParaRPr lang="es-ES" sz="2400" b="1" i="1" dirty="0">
                <a:solidFill>
                  <a:srgbClr val="FF6600"/>
                </a:solidFill>
                <a:latin typeface="Script MT Bold" pitchFamily="66" charset="0"/>
              </a:endParaRPr>
            </a:p>
          </p:txBody>
        </p:sp>
      </p:grpSp>
      <p:grpSp>
        <p:nvGrpSpPr>
          <p:cNvPr id="7" name="6 Grupo"/>
          <p:cNvGrpSpPr/>
          <p:nvPr/>
        </p:nvGrpSpPr>
        <p:grpSpPr>
          <a:xfrm>
            <a:off x="3931116" y="2708920"/>
            <a:ext cx="4601324" cy="1110940"/>
            <a:chOff x="3931116" y="2708920"/>
            <a:chExt cx="4601324" cy="1110940"/>
          </a:xfrm>
        </p:grpSpPr>
        <p:sp>
          <p:nvSpPr>
            <p:cNvPr id="99" name="98 CuadroTexto"/>
            <p:cNvSpPr txBox="1"/>
            <p:nvPr/>
          </p:nvSpPr>
          <p:spPr>
            <a:xfrm>
              <a:off x="3931116" y="2708920"/>
              <a:ext cx="4601324" cy="400110"/>
            </a:xfrm>
            <a:prstGeom prst="rect">
              <a:avLst/>
            </a:prstGeom>
            <a:noFill/>
          </p:spPr>
          <p:txBody>
            <a:bodyPr wrap="none" rtlCol="0">
              <a:spAutoFit/>
            </a:bodyPr>
            <a:lstStyle/>
            <a:p>
              <a:r>
                <a:rPr lang="es-ES" sz="2000" b="1" i="1" dirty="0">
                  <a:solidFill>
                    <a:srgbClr val="FF6600"/>
                  </a:solidFill>
                  <a:latin typeface="Script MT Bold" pitchFamily="66" charset="0"/>
                </a:rPr>
                <a:t>Las  sentencias terminan con ‘punto y coma’</a:t>
              </a:r>
            </a:p>
          </p:txBody>
        </p:sp>
        <p:cxnSp>
          <p:nvCxnSpPr>
            <p:cNvPr id="103" name="102 Conector angular"/>
            <p:cNvCxnSpPr/>
            <p:nvPr/>
          </p:nvCxnSpPr>
          <p:spPr bwMode="auto">
            <a:xfrm rot="5400000" flipH="1" flipV="1">
              <a:off x="7387594" y="3359090"/>
              <a:ext cx="741521" cy="180020"/>
            </a:xfrm>
            <a:prstGeom prst="bentConnector3">
              <a:avLst>
                <a:gd name="adj1" fmla="val -138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grpSp>
    </p:spTree>
    <p:extLst>
      <p:ext uri="{BB962C8B-B14F-4D97-AF65-F5344CB8AC3E}">
        <p14:creationId xmlns:p14="http://schemas.microsoft.com/office/powerpoint/2010/main" val="1574785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Effect transition="in" filter="fade">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500" fill="hold"/>
                                        <p:tgtEl>
                                          <p:spTgt spid="10"/>
                                        </p:tgtEl>
                                        <p:attrNameLst>
                                          <p:attrName>ppt_w</p:attrName>
                                        </p:attrNameLst>
                                      </p:cBhvr>
                                      <p:tavLst>
                                        <p:tav tm="0">
                                          <p:val>
                                            <p:fltVal val="0"/>
                                          </p:val>
                                        </p:tav>
                                        <p:tav tm="100000">
                                          <p:val>
                                            <p:strVal val="#ppt_w"/>
                                          </p:val>
                                        </p:tav>
                                      </p:tavLst>
                                    </p:anim>
                                    <p:anim calcmode="lin" valueType="num">
                                      <p:cBhvr>
                                        <p:cTn id="30" dur="500" fill="hold"/>
                                        <p:tgtEl>
                                          <p:spTgt spid="10"/>
                                        </p:tgtEl>
                                        <p:attrNameLst>
                                          <p:attrName>ppt_h</p:attrName>
                                        </p:attrNameLst>
                                      </p:cBhvr>
                                      <p:tavLst>
                                        <p:tav tm="0">
                                          <p:val>
                                            <p:fltVal val="0"/>
                                          </p:val>
                                        </p:tav>
                                        <p:tav tm="100000">
                                          <p:val>
                                            <p:strVal val="#ppt_h"/>
                                          </p:val>
                                        </p:tav>
                                      </p:tavLst>
                                    </p:anim>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Crear Proyecto en Eclipse</a:t>
            </a:r>
          </a:p>
        </p:txBody>
      </p:sp>
      <p:sp>
        <p:nvSpPr>
          <p:cNvPr id="3" name="Marcador de contenido 2"/>
          <p:cNvSpPr>
            <a:spLocks noGrp="1"/>
          </p:cNvSpPr>
          <p:nvPr>
            <p:ph idx="1"/>
          </p:nvPr>
        </p:nvSpPr>
        <p:spPr/>
        <p:txBody>
          <a:bodyPr/>
          <a:lstStyle/>
          <a:p>
            <a:endParaRPr lang="es-ES_tradnl" dirty="0"/>
          </a:p>
          <a:p>
            <a:r>
              <a:rPr lang="es-ES_tradnl" dirty="0"/>
              <a:t>Crear proyecto, </a:t>
            </a:r>
            <a:r>
              <a:rPr lang="es-ES_tradnl" dirty="0" err="1"/>
              <a:t>package</a:t>
            </a:r>
            <a:r>
              <a:rPr lang="es-ES_tradnl" dirty="0"/>
              <a:t> y clase en Eclipse para el ejemplo</a:t>
            </a:r>
          </a:p>
          <a:p>
            <a:endParaRPr lang="es-ES_tradnl" dirty="0"/>
          </a:p>
          <a:p>
            <a:r>
              <a:rPr lang="es-ES_tradnl" dirty="0"/>
              <a:t>Probar el ejemplo</a:t>
            </a:r>
          </a:p>
        </p:txBody>
      </p:sp>
      <p:pic>
        <p:nvPicPr>
          <p:cNvPr id="3074" name="Picture 2" descr="La contribución del Trabajo Social a la felicidad – Temas Socia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3861048"/>
            <a:ext cx="2184177" cy="1491895"/>
          </a:xfrm>
          <a:prstGeom prst="rect">
            <a:avLst/>
          </a:prstGeom>
          <a:noFill/>
          <a:extLst>
            <a:ext uri="{909E8E84-426E-40DD-AFC4-6F175D3DCCD1}">
              <a14:hiddenFill xmlns:a14="http://schemas.microsoft.com/office/drawing/2010/main">
                <a:solidFill>
                  <a:srgbClr val="FFFFFF"/>
                </a:solidFill>
              </a14:hiddenFill>
            </a:ext>
          </a:extLst>
        </p:spPr>
      </p:pic>
      <p:sp>
        <p:nvSpPr>
          <p:cNvPr id="5" name="Llamada ovalada 4"/>
          <p:cNvSpPr/>
          <p:nvPr/>
        </p:nvSpPr>
        <p:spPr bwMode="auto">
          <a:xfrm>
            <a:off x="4298650" y="2671841"/>
            <a:ext cx="3312368" cy="1872208"/>
          </a:xfrm>
          <a:prstGeom prst="wedgeEllipseCallou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r>
              <a:rPr kumimoji="0" lang="es-ES" sz="1900" b="0" i="0" u="none" strike="noStrike" cap="none" normalizeH="0" baseline="0" dirty="0" err="1">
                <a:ln>
                  <a:noFill/>
                </a:ln>
                <a:solidFill>
                  <a:schemeClr val="tx1"/>
                </a:solidFill>
                <a:effectLst/>
                <a:latin typeface="Arial" charset="0"/>
              </a:rPr>
              <a:t>Felicidadeees</a:t>
            </a:r>
            <a:r>
              <a:rPr kumimoji="0" lang="es-ES" sz="1900" b="0" i="0" u="none" strike="noStrike" cap="none" normalizeH="0" baseline="0" dirty="0">
                <a:ln>
                  <a:noFill/>
                </a:ln>
                <a:solidFill>
                  <a:schemeClr val="tx1"/>
                </a:solidFill>
                <a:effectLst/>
                <a:latin typeface="Arial" charset="0"/>
              </a:rPr>
              <a:t>!! Has desarrollado tu primer programa!!</a:t>
            </a:r>
          </a:p>
        </p:txBody>
      </p:sp>
    </p:spTree>
    <p:extLst>
      <p:ext uri="{BB962C8B-B14F-4D97-AF65-F5344CB8AC3E}">
        <p14:creationId xmlns:p14="http://schemas.microsoft.com/office/powerpoint/2010/main" val="1232506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Entornos Integrados de Desarrollo</a:t>
            </a:r>
          </a:p>
        </p:txBody>
      </p:sp>
      <p:sp>
        <p:nvSpPr>
          <p:cNvPr id="3" name="Marcador de contenido 2"/>
          <p:cNvSpPr>
            <a:spLocks noGrp="1"/>
          </p:cNvSpPr>
          <p:nvPr>
            <p:ph idx="1"/>
          </p:nvPr>
        </p:nvSpPr>
        <p:spPr/>
        <p:txBody>
          <a:bodyPr/>
          <a:lstStyle/>
          <a:p>
            <a:r>
              <a:rPr lang="es-ES_tradnl" sz="1800" b="0" dirty="0"/>
              <a:t>Un </a:t>
            </a:r>
            <a:r>
              <a:rPr lang="es-ES_tradnl" sz="1800" dirty="0"/>
              <a:t>IDE</a:t>
            </a:r>
            <a:r>
              <a:rPr lang="es-ES_tradnl" sz="1800" b="0" dirty="0"/>
              <a:t> o Entorno Integrado de Desarrollo es una herramienta con la cual poder desarrollar y probar proyectos de un lenguaje determinado</a:t>
            </a:r>
          </a:p>
          <a:p>
            <a:endParaRPr lang="es-ES_tradnl" sz="1800" b="0" dirty="0"/>
          </a:p>
          <a:p>
            <a:r>
              <a:rPr lang="es-ES_tradnl" sz="1800" b="0" dirty="0"/>
              <a:t>Actividad de clase para debatir:</a:t>
            </a:r>
          </a:p>
          <a:p>
            <a:endParaRPr lang="es-ES_tradnl" sz="2000" dirty="0"/>
          </a:p>
          <a:p>
            <a:pPr lvl="1"/>
            <a:r>
              <a:rPr lang="es-ES_tradnl" sz="2000" b="0" dirty="0"/>
              <a:t>Entornos comerciales y software libre para Java, cuales son los más importantes y localizar empresas que los usen</a:t>
            </a:r>
          </a:p>
          <a:p>
            <a:endParaRPr lang="es-ES_tradnl" sz="1800" b="0" dirty="0"/>
          </a:p>
          <a:p>
            <a:pPr marL="0" indent="0">
              <a:buNone/>
            </a:pPr>
            <a:endParaRPr lang="es-ES_tradnl" sz="1800" b="0" dirty="0"/>
          </a:p>
        </p:txBody>
      </p:sp>
    </p:spTree>
    <p:extLst>
      <p:ext uri="{BB962C8B-B14F-4D97-AF65-F5344CB8AC3E}">
        <p14:creationId xmlns:p14="http://schemas.microsoft.com/office/powerpoint/2010/main" val="730167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51420" y="53975"/>
            <a:ext cx="7392988" cy="563563"/>
          </a:xfrm>
        </p:spPr>
        <p:txBody>
          <a:bodyPr/>
          <a:lstStyle/>
          <a:p>
            <a:r>
              <a:rPr lang="es-ES" dirty="0" err="1"/>
              <a:t>System.out.</a:t>
            </a:r>
            <a:r>
              <a:rPr lang="es-ES" dirty="0" err="1">
                <a:solidFill>
                  <a:srgbClr val="FF0000"/>
                </a:solidFill>
              </a:rPr>
              <a:t>print</a:t>
            </a:r>
            <a:r>
              <a:rPr lang="es-ES" dirty="0" err="1">
                <a:solidFill>
                  <a:srgbClr val="FFFF00"/>
                </a:solidFill>
              </a:rPr>
              <a:t>ln</a:t>
            </a:r>
            <a:endParaRPr lang="es-ES" dirty="0">
              <a:solidFill>
                <a:srgbClr val="FFFF00"/>
              </a:solidFill>
            </a:endParaRPr>
          </a:p>
        </p:txBody>
      </p:sp>
      <p:grpSp>
        <p:nvGrpSpPr>
          <p:cNvPr id="3" name="2 Grupo"/>
          <p:cNvGrpSpPr/>
          <p:nvPr/>
        </p:nvGrpSpPr>
        <p:grpSpPr>
          <a:xfrm>
            <a:off x="755576" y="980728"/>
            <a:ext cx="7488832" cy="613434"/>
            <a:chOff x="755576" y="980728"/>
            <a:chExt cx="7488832" cy="613434"/>
          </a:xfrm>
        </p:grpSpPr>
        <p:sp>
          <p:nvSpPr>
            <p:cNvPr id="6" name="5 Rectángulo"/>
            <p:cNvSpPr/>
            <p:nvPr/>
          </p:nvSpPr>
          <p:spPr bwMode="auto">
            <a:xfrm>
              <a:off x="755576" y="980728"/>
              <a:ext cx="7488832" cy="613434"/>
            </a:xfrm>
            <a:prstGeom prst="rect">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 name="4 Rectángulo"/>
            <p:cNvSpPr/>
            <p:nvPr/>
          </p:nvSpPr>
          <p:spPr>
            <a:xfrm>
              <a:off x="1650256" y="980728"/>
              <a:ext cx="5944116" cy="584775"/>
            </a:xfrm>
            <a:prstGeom prst="rect">
              <a:avLst/>
            </a:prstGeom>
          </p:spPr>
          <p:txBody>
            <a:bodyPr wrap="square">
              <a:spAutoFit/>
            </a:bodyPr>
            <a:lstStyle/>
            <a:p>
              <a:r>
                <a:rPr lang="es-ES" sz="1600" b="1" dirty="0" err="1">
                  <a:solidFill>
                    <a:srgbClr val="080808"/>
                  </a:solidFill>
                </a:rPr>
                <a:t>System.out</a:t>
              </a:r>
              <a:r>
                <a:rPr lang="es-ES" sz="1600" b="1" dirty="0" err="1"/>
                <a:t>.</a:t>
              </a:r>
              <a:r>
                <a:rPr lang="es-ES" sz="1600" dirty="0" err="1">
                  <a:solidFill>
                    <a:srgbClr val="FF0000"/>
                  </a:solidFill>
                </a:rPr>
                <a:t>print</a:t>
              </a:r>
              <a:r>
                <a:rPr lang="es-ES" sz="1600" dirty="0">
                  <a:solidFill>
                    <a:srgbClr val="FF0000"/>
                  </a:solidFill>
                </a:rPr>
                <a:t>(</a:t>
              </a:r>
              <a:r>
                <a:rPr lang="es-ES" sz="1600" dirty="0"/>
                <a:t> </a:t>
              </a:r>
              <a:r>
                <a:rPr lang="es-ES" sz="1600" dirty="0">
                  <a:solidFill>
                    <a:srgbClr val="009900"/>
                  </a:solidFill>
                </a:rPr>
                <a:t>“Bienvenido” </a:t>
              </a:r>
              <a:r>
                <a:rPr lang="es-ES" sz="1600" dirty="0">
                  <a:solidFill>
                    <a:srgbClr val="FF0000"/>
                  </a:solidFill>
                </a:rPr>
                <a:t>)</a:t>
              </a:r>
              <a:r>
                <a:rPr lang="es-ES" sz="1600" dirty="0"/>
                <a:t>;</a:t>
              </a:r>
            </a:p>
            <a:p>
              <a:r>
                <a:rPr lang="es-ES" sz="1600" b="1" dirty="0" err="1">
                  <a:solidFill>
                    <a:srgbClr val="080808"/>
                  </a:solidFill>
                </a:rPr>
                <a:t>System.out</a:t>
              </a:r>
              <a:r>
                <a:rPr lang="es-ES" sz="1600" b="1" dirty="0" err="1"/>
                <a:t>.</a:t>
              </a:r>
              <a:r>
                <a:rPr lang="es-ES" sz="1600" dirty="0" err="1">
                  <a:solidFill>
                    <a:srgbClr val="FF0000"/>
                  </a:solidFill>
                </a:rPr>
                <a:t>print</a:t>
              </a:r>
              <a:r>
                <a:rPr lang="es-ES" sz="1600" dirty="0">
                  <a:solidFill>
                    <a:srgbClr val="FF0000"/>
                  </a:solidFill>
                </a:rPr>
                <a:t>(</a:t>
              </a:r>
              <a:r>
                <a:rPr lang="es-ES" sz="1600" dirty="0"/>
                <a:t> </a:t>
              </a:r>
              <a:r>
                <a:rPr lang="es-ES" sz="1600" dirty="0">
                  <a:solidFill>
                    <a:srgbClr val="009900"/>
                  </a:solidFill>
                </a:rPr>
                <a:t>“ a la programación en Java!” </a:t>
              </a:r>
              <a:r>
                <a:rPr lang="es-ES" sz="1600" dirty="0">
                  <a:solidFill>
                    <a:srgbClr val="FF0000"/>
                  </a:solidFill>
                </a:rPr>
                <a:t>)</a:t>
              </a:r>
              <a:r>
                <a:rPr lang="es-ES" sz="1600" dirty="0"/>
                <a:t>;</a:t>
              </a:r>
            </a:p>
          </p:txBody>
        </p:sp>
      </p:grpSp>
      <p:sp>
        <p:nvSpPr>
          <p:cNvPr id="7" name="6 Rectángulo"/>
          <p:cNvSpPr/>
          <p:nvPr/>
        </p:nvSpPr>
        <p:spPr>
          <a:xfrm>
            <a:off x="1187624" y="1628800"/>
            <a:ext cx="6624736" cy="400110"/>
          </a:xfrm>
          <a:prstGeom prst="rect">
            <a:avLst/>
          </a:prstGeom>
        </p:spPr>
        <p:txBody>
          <a:bodyPr wrap="square">
            <a:spAutoFit/>
          </a:bodyPr>
          <a:lstStyle/>
          <a:p>
            <a:pPr algn="ctr"/>
            <a:r>
              <a:rPr lang="es-ES" sz="2000" dirty="0">
                <a:solidFill>
                  <a:schemeClr val="accent1">
                    <a:lumMod val="75000"/>
                  </a:schemeClr>
                </a:solidFill>
                <a:latin typeface="Swis721 WGL4 BT" pitchFamily="34" charset="0"/>
              </a:rPr>
              <a:t>Bienvenido a la programación en Java!</a:t>
            </a:r>
            <a:endParaRPr lang="es-ES" dirty="0">
              <a:solidFill>
                <a:schemeClr val="accent1">
                  <a:lumMod val="75000"/>
                </a:schemeClr>
              </a:solidFill>
              <a:latin typeface="Swis721 WGL4 BT" pitchFamily="34" charset="0"/>
            </a:endParaRPr>
          </a:p>
        </p:txBody>
      </p:sp>
      <p:grpSp>
        <p:nvGrpSpPr>
          <p:cNvPr id="4" name="3 Grupo"/>
          <p:cNvGrpSpPr/>
          <p:nvPr/>
        </p:nvGrpSpPr>
        <p:grpSpPr>
          <a:xfrm>
            <a:off x="755576" y="2132856"/>
            <a:ext cx="7488832" cy="626134"/>
            <a:chOff x="755576" y="2132856"/>
            <a:chExt cx="7488832" cy="626134"/>
          </a:xfrm>
        </p:grpSpPr>
        <p:sp>
          <p:nvSpPr>
            <p:cNvPr id="12" name="11 Rectángulo"/>
            <p:cNvSpPr/>
            <p:nvPr/>
          </p:nvSpPr>
          <p:spPr bwMode="auto">
            <a:xfrm>
              <a:off x="755576" y="2145556"/>
              <a:ext cx="7488832" cy="613434"/>
            </a:xfrm>
            <a:prstGeom prst="rect">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3" name="12 Rectángulo"/>
            <p:cNvSpPr/>
            <p:nvPr/>
          </p:nvSpPr>
          <p:spPr>
            <a:xfrm>
              <a:off x="1650256" y="2132856"/>
              <a:ext cx="5944116" cy="615553"/>
            </a:xfrm>
            <a:prstGeom prst="rect">
              <a:avLst/>
            </a:prstGeom>
          </p:spPr>
          <p:txBody>
            <a:bodyPr wrap="square">
              <a:spAutoFit/>
            </a:bodyPr>
            <a:lstStyle/>
            <a:p>
              <a:r>
                <a:rPr lang="es-ES" sz="1600" b="1" dirty="0" err="1">
                  <a:solidFill>
                    <a:srgbClr val="080808"/>
                  </a:solidFill>
                </a:rPr>
                <a:t>System.out</a:t>
              </a:r>
              <a:r>
                <a:rPr lang="es-ES" sz="1600" b="1" dirty="0" err="1"/>
                <a:t>.</a:t>
              </a:r>
              <a:r>
                <a:rPr lang="es-ES" sz="1600" dirty="0" err="1">
                  <a:solidFill>
                    <a:srgbClr val="FF0000"/>
                  </a:solidFill>
                </a:rPr>
                <a:t>print</a:t>
              </a:r>
              <a:r>
                <a:rPr lang="es-ES" sz="1800" b="1" dirty="0" err="1">
                  <a:solidFill>
                    <a:schemeClr val="accent1">
                      <a:lumMod val="75000"/>
                    </a:schemeClr>
                  </a:solidFill>
                </a:rPr>
                <a:t>ln</a:t>
              </a:r>
              <a:r>
                <a:rPr lang="es-ES" sz="1600" dirty="0">
                  <a:solidFill>
                    <a:srgbClr val="FF0000"/>
                  </a:solidFill>
                </a:rPr>
                <a:t>(</a:t>
              </a:r>
              <a:r>
                <a:rPr lang="es-ES" sz="1600" dirty="0"/>
                <a:t> </a:t>
              </a:r>
              <a:r>
                <a:rPr lang="es-ES" sz="1600" dirty="0">
                  <a:solidFill>
                    <a:srgbClr val="009900"/>
                  </a:solidFill>
                </a:rPr>
                <a:t>“Bienvenido” </a:t>
              </a:r>
              <a:r>
                <a:rPr lang="es-ES" sz="1600" dirty="0">
                  <a:solidFill>
                    <a:srgbClr val="FF0000"/>
                  </a:solidFill>
                </a:rPr>
                <a:t>)</a:t>
              </a:r>
              <a:r>
                <a:rPr lang="es-ES" sz="1600" dirty="0"/>
                <a:t>;</a:t>
              </a:r>
            </a:p>
            <a:p>
              <a:r>
                <a:rPr lang="es-ES" sz="1600" b="1" dirty="0" err="1">
                  <a:solidFill>
                    <a:srgbClr val="080808"/>
                  </a:solidFill>
                </a:rPr>
                <a:t>System.out</a:t>
              </a:r>
              <a:r>
                <a:rPr lang="es-ES" sz="1600" b="1" dirty="0" err="1"/>
                <a:t>.</a:t>
              </a:r>
              <a:r>
                <a:rPr lang="es-ES" sz="1600" dirty="0" err="1">
                  <a:solidFill>
                    <a:srgbClr val="FF0000"/>
                  </a:solidFill>
                </a:rPr>
                <a:t>print</a:t>
              </a:r>
              <a:r>
                <a:rPr lang="es-ES" sz="1600" dirty="0">
                  <a:solidFill>
                    <a:srgbClr val="FF0000"/>
                  </a:solidFill>
                </a:rPr>
                <a:t>(</a:t>
              </a:r>
              <a:r>
                <a:rPr lang="es-ES" sz="1600" dirty="0"/>
                <a:t> </a:t>
              </a:r>
              <a:r>
                <a:rPr lang="es-ES" sz="1600" dirty="0">
                  <a:solidFill>
                    <a:srgbClr val="009900"/>
                  </a:solidFill>
                </a:rPr>
                <a:t>“ a la programación en Java!” </a:t>
              </a:r>
              <a:r>
                <a:rPr lang="es-ES" sz="1600" dirty="0">
                  <a:solidFill>
                    <a:srgbClr val="FF0000"/>
                  </a:solidFill>
                </a:rPr>
                <a:t>)</a:t>
              </a:r>
              <a:r>
                <a:rPr lang="es-ES" sz="1600" dirty="0"/>
                <a:t>;</a:t>
              </a:r>
            </a:p>
          </p:txBody>
        </p:sp>
      </p:grpSp>
      <p:sp>
        <p:nvSpPr>
          <p:cNvPr id="14" name="13 Rectángulo"/>
          <p:cNvSpPr/>
          <p:nvPr/>
        </p:nvSpPr>
        <p:spPr>
          <a:xfrm>
            <a:off x="1187624" y="2761690"/>
            <a:ext cx="6624736" cy="707886"/>
          </a:xfrm>
          <a:prstGeom prst="rect">
            <a:avLst/>
          </a:prstGeom>
        </p:spPr>
        <p:txBody>
          <a:bodyPr wrap="square">
            <a:spAutoFit/>
          </a:bodyPr>
          <a:lstStyle/>
          <a:p>
            <a:pPr algn="ctr"/>
            <a:r>
              <a:rPr lang="es-ES" sz="2000" dirty="0">
                <a:solidFill>
                  <a:schemeClr val="accent1">
                    <a:lumMod val="75000"/>
                  </a:schemeClr>
                </a:solidFill>
                <a:latin typeface="Swis721 WGL4 BT" pitchFamily="34" charset="0"/>
              </a:rPr>
              <a:t>Bienvenido</a:t>
            </a:r>
          </a:p>
          <a:p>
            <a:pPr algn="ctr"/>
            <a:r>
              <a:rPr lang="es-ES" sz="2000" dirty="0">
                <a:solidFill>
                  <a:schemeClr val="accent1">
                    <a:lumMod val="75000"/>
                  </a:schemeClr>
                </a:solidFill>
                <a:latin typeface="Swis721 WGL4 BT" pitchFamily="34" charset="0"/>
              </a:rPr>
              <a:t> a la programación en Java!</a:t>
            </a:r>
            <a:endParaRPr lang="es-ES" dirty="0">
              <a:solidFill>
                <a:schemeClr val="accent1">
                  <a:lumMod val="75000"/>
                </a:schemeClr>
              </a:solidFill>
              <a:latin typeface="Swis721 WGL4 BT" pitchFamily="34" charset="0"/>
            </a:endParaRPr>
          </a:p>
        </p:txBody>
      </p:sp>
      <p:grpSp>
        <p:nvGrpSpPr>
          <p:cNvPr id="8" name="7 Grupo"/>
          <p:cNvGrpSpPr/>
          <p:nvPr/>
        </p:nvGrpSpPr>
        <p:grpSpPr>
          <a:xfrm>
            <a:off x="755576" y="3553778"/>
            <a:ext cx="7488832" cy="338554"/>
            <a:chOff x="755576" y="3553778"/>
            <a:chExt cx="7488832" cy="338554"/>
          </a:xfrm>
        </p:grpSpPr>
        <p:sp>
          <p:nvSpPr>
            <p:cNvPr id="15" name="14 Rectángulo"/>
            <p:cNvSpPr/>
            <p:nvPr/>
          </p:nvSpPr>
          <p:spPr bwMode="auto">
            <a:xfrm>
              <a:off x="755576" y="3566478"/>
              <a:ext cx="7488832" cy="325854"/>
            </a:xfrm>
            <a:prstGeom prst="rect">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6" name="15 Rectángulo"/>
            <p:cNvSpPr/>
            <p:nvPr/>
          </p:nvSpPr>
          <p:spPr>
            <a:xfrm>
              <a:off x="1619672" y="3553778"/>
              <a:ext cx="5944116" cy="338554"/>
            </a:xfrm>
            <a:prstGeom prst="rect">
              <a:avLst/>
            </a:prstGeom>
          </p:spPr>
          <p:txBody>
            <a:bodyPr wrap="square">
              <a:spAutoFit/>
            </a:bodyPr>
            <a:lstStyle/>
            <a:p>
              <a:r>
                <a:rPr lang="es-ES" sz="1600" b="1" dirty="0" err="1">
                  <a:solidFill>
                    <a:srgbClr val="080808"/>
                  </a:solidFill>
                </a:rPr>
                <a:t>System.out</a:t>
              </a:r>
              <a:r>
                <a:rPr lang="es-ES" sz="1600" b="1" dirty="0" err="1"/>
                <a:t>.</a:t>
              </a:r>
              <a:r>
                <a:rPr lang="es-ES" sz="1600" dirty="0" err="1">
                  <a:solidFill>
                    <a:srgbClr val="FF0000"/>
                  </a:solidFill>
                </a:rPr>
                <a:t>print</a:t>
              </a:r>
              <a:r>
                <a:rPr lang="es-ES" sz="1600" dirty="0">
                  <a:solidFill>
                    <a:srgbClr val="FF0000"/>
                  </a:solidFill>
                </a:rPr>
                <a:t>(</a:t>
              </a:r>
              <a:r>
                <a:rPr lang="es-ES" sz="1600" dirty="0"/>
                <a:t> </a:t>
              </a:r>
              <a:r>
                <a:rPr lang="es-ES" sz="1600" dirty="0">
                  <a:solidFill>
                    <a:srgbClr val="009900"/>
                  </a:solidFill>
                </a:rPr>
                <a:t>“Bienvenido </a:t>
              </a:r>
              <a:r>
                <a:rPr lang="es-ES" sz="1600" b="1" dirty="0">
                  <a:solidFill>
                    <a:srgbClr val="C00000"/>
                  </a:solidFill>
                </a:rPr>
                <a:t>\n </a:t>
              </a:r>
              <a:r>
                <a:rPr lang="es-ES" sz="1600" dirty="0">
                  <a:solidFill>
                    <a:srgbClr val="009900"/>
                  </a:solidFill>
                </a:rPr>
                <a:t>a la programación en Java!” </a:t>
              </a:r>
              <a:r>
                <a:rPr lang="es-ES" sz="1600" dirty="0">
                  <a:solidFill>
                    <a:srgbClr val="FF0000"/>
                  </a:solidFill>
                </a:rPr>
                <a:t>)</a:t>
              </a:r>
              <a:r>
                <a:rPr lang="es-ES" sz="1600" dirty="0"/>
                <a:t>;</a:t>
              </a:r>
            </a:p>
          </p:txBody>
        </p:sp>
      </p:grpSp>
      <p:sp>
        <p:nvSpPr>
          <p:cNvPr id="17" name="16 Rectángulo"/>
          <p:cNvSpPr/>
          <p:nvPr/>
        </p:nvSpPr>
        <p:spPr>
          <a:xfrm>
            <a:off x="1187624" y="3908386"/>
            <a:ext cx="6624736" cy="707886"/>
          </a:xfrm>
          <a:prstGeom prst="rect">
            <a:avLst/>
          </a:prstGeom>
        </p:spPr>
        <p:txBody>
          <a:bodyPr wrap="square">
            <a:spAutoFit/>
          </a:bodyPr>
          <a:lstStyle/>
          <a:p>
            <a:pPr algn="ctr"/>
            <a:r>
              <a:rPr lang="es-ES" sz="2000" dirty="0">
                <a:solidFill>
                  <a:schemeClr val="accent1">
                    <a:lumMod val="75000"/>
                  </a:schemeClr>
                </a:solidFill>
                <a:latin typeface="Swis721 WGL4 BT" pitchFamily="34" charset="0"/>
              </a:rPr>
              <a:t>Bienvenido</a:t>
            </a:r>
          </a:p>
          <a:p>
            <a:pPr algn="ctr"/>
            <a:r>
              <a:rPr lang="es-ES" sz="2000" dirty="0">
                <a:solidFill>
                  <a:schemeClr val="accent1">
                    <a:lumMod val="75000"/>
                  </a:schemeClr>
                </a:solidFill>
                <a:latin typeface="Swis721 WGL4 BT" pitchFamily="34" charset="0"/>
              </a:rPr>
              <a:t> a la programación en Java!</a:t>
            </a:r>
            <a:endParaRPr lang="es-ES" dirty="0">
              <a:solidFill>
                <a:schemeClr val="accent1">
                  <a:lumMod val="75000"/>
                </a:schemeClr>
              </a:solidFill>
              <a:latin typeface="Swis721 WGL4 BT" pitchFamily="34" charset="0"/>
            </a:endParaRPr>
          </a:p>
        </p:txBody>
      </p:sp>
      <p:grpSp>
        <p:nvGrpSpPr>
          <p:cNvPr id="9" name="8 Grupo"/>
          <p:cNvGrpSpPr/>
          <p:nvPr/>
        </p:nvGrpSpPr>
        <p:grpSpPr>
          <a:xfrm>
            <a:off x="755576" y="4746630"/>
            <a:ext cx="7488832" cy="338554"/>
            <a:chOff x="755576" y="4746630"/>
            <a:chExt cx="7488832" cy="338554"/>
          </a:xfrm>
        </p:grpSpPr>
        <p:sp>
          <p:nvSpPr>
            <p:cNvPr id="18" name="17 Rectángulo"/>
            <p:cNvSpPr/>
            <p:nvPr/>
          </p:nvSpPr>
          <p:spPr bwMode="auto">
            <a:xfrm>
              <a:off x="755576" y="4759330"/>
              <a:ext cx="7488832" cy="325854"/>
            </a:xfrm>
            <a:prstGeom prst="rect">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9" name="18 Rectángulo"/>
            <p:cNvSpPr/>
            <p:nvPr/>
          </p:nvSpPr>
          <p:spPr>
            <a:xfrm>
              <a:off x="1475656" y="4746630"/>
              <a:ext cx="6118716" cy="338554"/>
            </a:xfrm>
            <a:prstGeom prst="rect">
              <a:avLst/>
            </a:prstGeom>
          </p:spPr>
          <p:txBody>
            <a:bodyPr wrap="square">
              <a:spAutoFit/>
            </a:bodyPr>
            <a:lstStyle/>
            <a:p>
              <a:r>
                <a:rPr lang="es-ES" sz="1600" b="1" dirty="0" err="1">
                  <a:solidFill>
                    <a:srgbClr val="080808"/>
                  </a:solidFill>
                </a:rPr>
                <a:t>System.out</a:t>
              </a:r>
              <a:r>
                <a:rPr lang="es-ES" sz="1600" b="1" dirty="0" err="1"/>
                <a:t>.</a:t>
              </a:r>
              <a:r>
                <a:rPr lang="es-ES" sz="1600" dirty="0" err="1">
                  <a:solidFill>
                    <a:srgbClr val="FF0000"/>
                  </a:solidFill>
                </a:rPr>
                <a:t>print</a:t>
              </a:r>
              <a:r>
                <a:rPr lang="es-ES" sz="1600" dirty="0">
                  <a:solidFill>
                    <a:srgbClr val="FF0000"/>
                  </a:solidFill>
                </a:rPr>
                <a:t>(</a:t>
              </a:r>
              <a:r>
                <a:rPr lang="es-ES" sz="1600" dirty="0"/>
                <a:t> </a:t>
              </a:r>
              <a:r>
                <a:rPr lang="es-ES" sz="1600" dirty="0">
                  <a:solidFill>
                    <a:srgbClr val="009900"/>
                  </a:solidFill>
                </a:rPr>
                <a:t>“Bienvenido a la </a:t>
              </a:r>
              <a:r>
                <a:rPr lang="es-ES" sz="1600" b="1" dirty="0">
                  <a:solidFill>
                    <a:srgbClr val="C00000"/>
                  </a:solidFill>
                </a:rPr>
                <a:t>\"</a:t>
              </a:r>
              <a:r>
                <a:rPr lang="es-ES" sz="1600" dirty="0">
                  <a:solidFill>
                    <a:srgbClr val="009900"/>
                  </a:solidFill>
                </a:rPr>
                <a:t>programación</a:t>
              </a:r>
              <a:r>
                <a:rPr lang="es-ES" sz="1600" b="1" dirty="0">
                  <a:solidFill>
                    <a:srgbClr val="C00000"/>
                  </a:solidFill>
                </a:rPr>
                <a:t>\"</a:t>
              </a:r>
              <a:r>
                <a:rPr lang="es-ES" sz="1600" dirty="0">
                  <a:solidFill>
                    <a:srgbClr val="009900"/>
                  </a:solidFill>
                </a:rPr>
                <a:t> en Java!” </a:t>
              </a:r>
              <a:r>
                <a:rPr lang="es-ES" sz="1600" dirty="0">
                  <a:solidFill>
                    <a:srgbClr val="FF0000"/>
                  </a:solidFill>
                </a:rPr>
                <a:t>)</a:t>
              </a:r>
              <a:r>
                <a:rPr lang="es-ES" sz="1600" dirty="0"/>
                <a:t>;</a:t>
              </a:r>
            </a:p>
          </p:txBody>
        </p:sp>
      </p:grpSp>
      <p:sp>
        <p:nvSpPr>
          <p:cNvPr id="20" name="19 Rectángulo"/>
          <p:cNvSpPr/>
          <p:nvPr/>
        </p:nvSpPr>
        <p:spPr>
          <a:xfrm>
            <a:off x="1187624" y="5085184"/>
            <a:ext cx="6624736" cy="400110"/>
          </a:xfrm>
          <a:prstGeom prst="rect">
            <a:avLst/>
          </a:prstGeom>
        </p:spPr>
        <p:txBody>
          <a:bodyPr wrap="square">
            <a:spAutoFit/>
          </a:bodyPr>
          <a:lstStyle/>
          <a:p>
            <a:pPr algn="ctr"/>
            <a:r>
              <a:rPr lang="es-ES" sz="2000" dirty="0">
                <a:solidFill>
                  <a:schemeClr val="accent1">
                    <a:lumMod val="75000"/>
                  </a:schemeClr>
                </a:solidFill>
                <a:latin typeface="Swis721 WGL4 BT" pitchFamily="34" charset="0"/>
              </a:rPr>
              <a:t>Bienvenido a la </a:t>
            </a:r>
            <a:r>
              <a:rPr lang="es-ES" sz="2000" dirty="0">
                <a:solidFill>
                  <a:srgbClr val="C00000"/>
                </a:solidFill>
                <a:latin typeface="Swis721 WGL4 BT" pitchFamily="34" charset="0"/>
              </a:rPr>
              <a:t>"</a:t>
            </a:r>
            <a:r>
              <a:rPr lang="es-ES" sz="2000" dirty="0">
                <a:solidFill>
                  <a:schemeClr val="accent1">
                    <a:lumMod val="75000"/>
                  </a:schemeClr>
                </a:solidFill>
                <a:latin typeface="Swis721 WGL4 BT" pitchFamily="34" charset="0"/>
              </a:rPr>
              <a:t>programación</a:t>
            </a:r>
            <a:r>
              <a:rPr lang="es-ES" sz="2000" dirty="0">
                <a:solidFill>
                  <a:srgbClr val="C00000"/>
                </a:solidFill>
                <a:latin typeface="Swis721 WGL4 BT" pitchFamily="34" charset="0"/>
              </a:rPr>
              <a:t>"</a:t>
            </a:r>
            <a:r>
              <a:rPr lang="es-ES" sz="2000" dirty="0">
                <a:solidFill>
                  <a:schemeClr val="accent1">
                    <a:lumMod val="75000"/>
                  </a:schemeClr>
                </a:solidFill>
                <a:latin typeface="Swis721 WGL4 BT" pitchFamily="34" charset="0"/>
              </a:rPr>
              <a:t> en Java!</a:t>
            </a:r>
            <a:endParaRPr lang="es-ES" dirty="0">
              <a:solidFill>
                <a:schemeClr val="accent1">
                  <a:lumMod val="75000"/>
                </a:schemeClr>
              </a:solidFill>
              <a:latin typeface="Swis721 WGL4 BT" pitchFamily="34" charset="0"/>
            </a:endParaRPr>
          </a:p>
        </p:txBody>
      </p:sp>
      <p:sp>
        <p:nvSpPr>
          <p:cNvPr id="21" name="20 Rectángulo"/>
          <p:cNvSpPr/>
          <p:nvPr/>
        </p:nvSpPr>
        <p:spPr bwMode="auto">
          <a:xfrm>
            <a:off x="6643464" y="3960302"/>
            <a:ext cx="1592560" cy="718234"/>
          </a:xfrm>
          <a:prstGeom prst="rect">
            <a:avLst/>
          </a:prstGeom>
          <a:solidFill>
            <a:schemeClr val="accent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57263">
              <a:lnSpc>
                <a:spcPct val="90000"/>
              </a:lnSpc>
            </a:pPr>
            <a:r>
              <a:rPr lang="es-ES" sz="1600" b="1" dirty="0">
                <a:solidFill>
                  <a:srgbClr val="C00000"/>
                </a:solidFill>
              </a:rPr>
              <a:t>\t </a:t>
            </a:r>
            <a:r>
              <a:rPr lang="es-ES" sz="1600" b="1" dirty="0"/>
              <a:t>→ </a:t>
            </a:r>
            <a:r>
              <a:rPr lang="es-ES" sz="1600" dirty="0"/>
              <a:t>tabulación</a:t>
            </a:r>
          </a:p>
          <a:p>
            <a:pPr defTabSz="957263">
              <a:lnSpc>
                <a:spcPct val="90000"/>
              </a:lnSpc>
            </a:pPr>
            <a:r>
              <a:rPr kumimoji="0" lang="es-ES" sz="1600" b="1" i="0" u="none" strike="noStrike" cap="none" normalizeH="0" baseline="0" dirty="0">
                <a:ln>
                  <a:noFill/>
                </a:ln>
                <a:solidFill>
                  <a:srgbClr val="C00000"/>
                </a:solidFill>
                <a:effectLst/>
              </a:rPr>
              <a:t>\\</a:t>
            </a:r>
            <a:r>
              <a:rPr kumimoji="0" lang="es-ES" sz="1600" b="1" i="0" u="none" strike="noStrike" cap="none" normalizeH="0" dirty="0">
                <a:ln>
                  <a:noFill/>
                </a:ln>
                <a:solidFill>
                  <a:srgbClr val="C00000"/>
                </a:solidFill>
                <a:effectLst/>
              </a:rPr>
              <a:t> </a:t>
            </a:r>
            <a:r>
              <a:rPr kumimoji="0" lang="es-ES" sz="1600" b="1" i="0" u="none" strike="noStrike" cap="none" normalizeH="0" dirty="0">
                <a:ln>
                  <a:noFill/>
                </a:ln>
                <a:effectLst/>
              </a:rPr>
              <a:t>→ \</a:t>
            </a:r>
          </a:p>
          <a:p>
            <a:pPr defTabSz="957263">
              <a:lnSpc>
                <a:spcPct val="90000"/>
              </a:lnSpc>
            </a:pPr>
            <a:r>
              <a:rPr lang="es-ES" sz="1600" b="1" baseline="0" dirty="0">
                <a:solidFill>
                  <a:srgbClr val="C00000"/>
                </a:solidFill>
              </a:rPr>
              <a:t>\" </a:t>
            </a:r>
            <a:r>
              <a:rPr lang="es-ES" sz="1600" b="1" dirty="0"/>
              <a:t>→ "</a:t>
            </a:r>
            <a:endParaRPr kumimoji="0" lang="es-ES" sz="1600" b="0" i="0" u="none" strike="noStrike" cap="none" normalizeH="0" baseline="0" dirty="0">
              <a:ln>
                <a:noFill/>
              </a:ln>
              <a:effectLst/>
            </a:endParaRPr>
          </a:p>
        </p:txBody>
      </p:sp>
      <p:grpSp>
        <p:nvGrpSpPr>
          <p:cNvPr id="10" name="9 Grupo"/>
          <p:cNvGrpSpPr/>
          <p:nvPr/>
        </p:nvGrpSpPr>
        <p:grpSpPr>
          <a:xfrm>
            <a:off x="755576" y="5642664"/>
            <a:ext cx="7488832" cy="338554"/>
            <a:chOff x="755576" y="5642664"/>
            <a:chExt cx="7488832" cy="338554"/>
          </a:xfrm>
        </p:grpSpPr>
        <p:sp>
          <p:nvSpPr>
            <p:cNvPr id="22" name="21 Rectángulo"/>
            <p:cNvSpPr/>
            <p:nvPr/>
          </p:nvSpPr>
          <p:spPr bwMode="auto">
            <a:xfrm>
              <a:off x="755576" y="5655364"/>
              <a:ext cx="7488832" cy="325854"/>
            </a:xfrm>
            <a:prstGeom prst="rect">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3" name="22 Rectángulo"/>
            <p:cNvSpPr/>
            <p:nvPr/>
          </p:nvSpPr>
          <p:spPr>
            <a:xfrm>
              <a:off x="1043608" y="5642664"/>
              <a:ext cx="6912768" cy="338554"/>
            </a:xfrm>
            <a:prstGeom prst="rect">
              <a:avLst/>
            </a:prstGeom>
          </p:spPr>
          <p:txBody>
            <a:bodyPr wrap="square">
              <a:spAutoFit/>
            </a:bodyPr>
            <a:lstStyle/>
            <a:p>
              <a:r>
                <a:rPr lang="es-ES" sz="1600" b="1" dirty="0" err="1">
                  <a:solidFill>
                    <a:srgbClr val="080808"/>
                  </a:solidFill>
                </a:rPr>
                <a:t>System.out</a:t>
              </a:r>
              <a:r>
                <a:rPr lang="es-ES" sz="1600" b="1" dirty="0" err="1"/>
                <a:t>.</a:t>
              </a:r>
              <a:r>
                <a:rPr lang="es-ES" sz="1600" dirty="0" err="1">
                  <a:solidFill>
                    <a:srgbClr val="FF0000"/>
                  </a:solidFill>
                </a:rPr>
                <a:t>print</a:t>
              </a:r>
              <a:r>
                <a:rPr lang="es-ES" sz="1600" dirty="0">
                  <a:solidFill>
                    <a:srgbClr val="FF0000"/>
                  </a:solidFill>
                </a:rPr>
                <a:t>(</a:t>
              </a:r>
              <a:r>
                <a:rPr lang="es-ES" sz="1600" dirty="0"/>
                <a:t> </a:t>
              </a:r>
              <a:r>
                <a:rPr lang="es-ES" sz="1600" dirty="0">
                  <a:solidFill>
                    <a:srgbClr val="009900"/>
                  </a:solidFill>
                </a:rPr>
                <a:t>“Bienvenido" </a:t>
              </a:r>
              <a:r>
                <a:rPr lang="es-ES" sz="1600" b="1" dirty="0">
                  <a:solidFill>
                    <a:srgbClr val="FF0000"/>
                  </a:solidFill>
                </a:rPr>
                <a:t>+</a:t>
              </a:r>
              <a:r>
                <a:rPr lang="es-ES" sz="1600" dirty="0">
                  <a:solidFill>
                    <a:srgbClr val="009900"/>
                  </a:solidFill>
                </a:rPr>
                <a:t> " a la programación" </a:t>
              </a:r>
              <a:r>
                <a:rPr lang="es-ES" sz="1600" b="1" dirty="0">
                  <a:solidFill>
                    <a:srgbClr val="FF0000"/>
                  </a:solidFill>
                </a:rPr>
                <a:t>+</a:t>
              </a:r>
              <a:r>
                <a:rPr lang="es-ES" sz="1600" dirty="0">
                  <a:solidFill>
                    <a:srgbClr val="009900"/>
                  </a:solidFill>
                </a:rPr>
                <a:t> “ </a:t>
              </a:r>
              <a:r>
                <a:rPr lang="es-ES" sz="1600">
                  <a:solidFill>
                    <a:srgbClr val="009900"/>
                  </a:solidFill>
                </a:rPr>
                <a:t>en Java ” </a:t>
              </a:r>
              <a:r>
                <a:rPr lang="es-ES" sz="1600" b="1" dirty="0">
                  <a:solidFill>
                    <a:srgbClr val="FF0000"/>
                  </a:solidFill>
                </a:rPr>
                <a:t>+</a:t>
              </a:r>
              <a:r>
                <a:rPr lang="es-ES" sz="1600" dirty="0">
                  <a:solidFill>
                    <a:srgbClr val="009900"/>
                  </a:solidFill>
                </a:rPr>
                <a:t> </a:t>
              </a:r>
              <a:r>
                <a:rPr lang="es-ES" sz="1600" b="1" dirty="0">
                  <a:solidFill>
                    <a:srgbClr val="009900"/>
                  </a:solidFill>
                </a:rPr>
                <a:t>5</a:t>
              </a:r>
              <a:r>
                <a:rPr lang="es-ES" sz="1600" dirty="0">
                  <a:solidFill>
                    <a:srgbClr val="009900"/>
                  </a:solidFill>
                </a:rPr>
                <a:t> </a:t>
              </a:r>
              <a:r>
                <a:rPr lang="es-ES" sz="1600" dirty="0">
                  <a:solidFill>
                    <a:srgbClr val="FF0000"/>
                  </a:solidFill>
                </a:rPr>
                <a:t>)</a:t>
              </a:r>
              <a:r>
                <a:rPr lang="es-ES" sz="1600" dirty="0"/>
                <a:t>;</a:t>
              </a:r>
            </a:p>
          </p:txBody>
        </p:sp>
      </p:grpSp>
      <p:sp>
        <p:nvSpPr>
          <p:cNvPr id="24" name="23 Rectángulo"/>
          <p:cNvSpPr/>
          <p:nvPr/>
        </p:nvSpPr>
        <p:spPr>
          <a:xfrm>
            <a:off x="1187624" y="5981218"/>
            <a:ext cx="6624736" cy="400110"/>
          </a:xfrm>
          <a:prstGeom prst="rect">
            <a:avLst/>
          </a:prstGeom>
        </p:spPr>
        <p:txBody>
          <a:bodyPr wrap="square">
            <a:spAutoFit/>
          </a:bodyPr>
          <a:lstStyle/>
          <a:p>
            <a:pPr algn="ctr"/>
            <a:r>
              <a:rPr lang="es-ES" sz="2000" dirty="0">
                <a:solidFill>
                  <a:schemeClr val="accent1">
                    <a:lumMod val="75000"/>
                  </a:schemeClr>
                </a:solidFill>
                <a:latin typeface="Swis721 WGL4 BT" pitchFamily="34" charset="0"/>
              </a:rPr>
              <a:t>Bienvenido a la programación en Java 5</a:t>
            </a:r>
            <a:endParaRPr lang="es-ES" dirty="0">
              <a:solidFill>
                <a:schemeClr val="accent1">
                  <a:lumMod val="75000"/>
                </a:schemeClr>
              </a:solidFill>
              <a:latin typeface="Swis721 WGL4 BT" pitchFamily="34" charset="0"/>
            </a:endParaRPr>
          </a:p>
        </p:txBody>
      </p:sp>
    </p:spTree>
    <p:extLst>
      <p:ext uri="{BB962C8B-B14F-4D97-AF65-F5344CB8AC3E}">
        <p14:creationId xmlns:p14="http://schemas.microsoft.com/office/powerpoint/2010/main" val="75268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P spid="17" grpId="0"/>
      <p:bldP spid="20" grpId="0"/>
      <p:bldP spid="21" grpId="0" animBg="1"/>
      <p:bldP spid="2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Tipos de datos simples</a:t>
            </a:r>
          </a:p>
        </p:txBody>
      </p:sp>
      <p:sp>
        <p:nvSpPr>
          <p:cNvPr id="3" name="Marcador de contenido 2"/>
          <p:cNvSpPr>
            <a:spLocks noGrp="1"/>
          </p:cNvSpPr>
          <p:nvPr>
            <p:ph idx="1"/>
          </p:nvPr>
        </p:nvSpPr>
        <p:spPr/>
        <p:txBody>
          <a:bodyPr/>
          <a:lstStyle/>
          <a:p>
            <a:r>
              <a:rPr lang="es-ES_tradnl" sz="1600" dirty="0"/>
              <a:t>Se utilizan generalmente al declarar variables y son necesarios para que el </a:t>
            </a:r>
            <a:r>
              <a:rPr lang="es-ES_tradnl" sz="1600" dirty="0" err="1"/>
              <a:t>int</a:t>
            </a:r>
            <a:r>
              <a:rPr lang="es-ES" sz="1600" dirty="0"/>
              <a:t>érprete o compilador conozca de antemano el tipo de información que va a contener una variable.</a:t>
            </a:r>
          </a:p>
          <a:p>
            <a:pPr marL="0" indent="0">
              <a:buNone/>
            </a:pPr>
            <a:endParaRPr lang="es-ES" sz="1600" dirty="0"/>
          </a:p>
          <a:p>
            <a:pPr marL="0" indent="0">
              <a:buNone/>
            </a:pPr>
            <a:endParaRPr lang="es-ES_tradnl" sz="1600" dirty="0"/>
          </a:p>
        </p:txBody>
      </p:sp>
      <p:graphicFrame>
        <p:nvGraphicFramePr>
          <p:cNvPr id="5" name="Tabla 4"/>
          <p:cNvGraphicFramePr>
            <a:graphicFrameLocks noGrp="1"/>
          </p:cNvGraphicFramePr>
          <p:nvPr>
            <p:extLst>
              <p:ext uri="{D42A27DB-BD31-4B8C-83A1-F6EECF244321}">
                <p14:modId xmlns:p14="http://schemas.microsoft.com/office/powerpoint/2010/main" val="2683513040"/>
              </p:ext>
            </p:extLst>
          </p:nvPr>
        </p:nvGraphicFramePr>
        <p:xfrm>
          <a:off x="603015" y="1988840"/>
          <a:ext cx="8001433" cy="389128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1448705">
                  <a:extLst>
                    <a:ext uri="{9D8B030D-6E8A-4147-A177-3AD203B41FA5}">
                      <a16:colId xmlns:a16="http://schemas.microsoft.com/office/drawing/2014/main" val="20001"/>
                    </a:ext>
                  </a:extLst>
                </a:gridCol>
                <a:gridCol w="2115183">
                  <a:extLst>
                    <a:ext uri="{9D8B030D-6E8A-4147-A177-3AD203B41FA5}">
                      <a16:colId xmlns:a16="http://schemas.microsoft.com/office/drawing/2014/main" val="20002"/>
                    </a:ext>
                  </a:extLst>
                </a:gridCol>
                <a:gridCol w="3429433">
                  <a:extLst>
                    <a:ext uri="{9D8B030D-6E8A-4147-A177-3AD203B41FA5}">
                      <a16:colId xmlns:a16="http://schemas.microsoft.com/office/drawing/2014/main" val="20003"/>
                    </a:ext>
                  </a:extLst>
                </a:gridCol>
              </a:tblGrid>
              <a:tr h="370840">
                <a:tc>
                  <a:txBody>
                    <a:bodyPr/>
                    <a:lstStyle/>
                    <a:p>
                      <a:r>
                        <a:rPr lang="es-ES_tradnl" sz="1000" dirty="0"/>
                        <a:t>Tipo de datos</a:t>
                      </a:r>
                    </a:p>
                  </a:txBody>
                  <a:tcPr/>
                </a:tc>
                <a:tc>
                  <a:txBody>
                    <a:bodyPr/>
                    <a:lstStyle/>
                    <a:p>
                      <a:r>
                        <a:rPr lang="es-ES_tradnl" sz="1000" dirty="0" err="1"/>
                        <a:t>Informaci</a:t>
                      </a:r>
                      <a:r>
                        <a:rPr lang="es-ES" sz="1000" dirty="0"/>
                        <a:t>ón representada</a:t>
                      </a:r>
                      <a:endParaRPr lang="es-ES_tradnl" sz="1000" dirty="0"/>
                    </a:p>
                  </a:txBody>
                  <a:tcPr/>
                </a:tc>
                <a:tc>
                  <a:txBody>
                    <a:bodyPr/>
                    <a:lstStyle/>
                    <a:p>
                      <a:r>
                        <a:rPr lang="es-ES_tradnl" sz="1000" dirty="0"/>
                        <a:t>Rango</a:t>
                      </a:r>
                    </a:p>
                  </a:txBody>
                  <a:tcPr/>
                </a:tc>
                <a:tc>
                  <a:txBody>
                    <a:bodyPr/>
                    <a:lstStyle/>
                    <a:p>
                      <a:r>
                        <a:rPr lang="es-ES_tradnl" sz="1000" dirty="0" err="1"/>
                        <a:t>Descripci</a:t>
                      </a:r>
                      <a:r>
                        <a:rPr lang="es-ES" sz="1000" dirty="0"/>
                        <a:t>ón</a:t>
                      </a:r>
                      <a:endParaRPr lang="es-ES_tradnl" sz="1000" dirty="0"/>
                    </a:p>
                  </a:txBody>
                  <a:tcPr/>
                </a:tc>
                <a:extLst>
                  <a:ext uri="{0D108BD9-81ED-4DB2-BD59-A6C34878D82A}">
                    <a16:rowId xmlns:a16="http://schemas.microsoft.com/office/drawing/2014/main" val="10000"/>
                  </a:ext>
                </a:extLst>
              </a:tr>
              <a:tr h="370840">
                <a:tc>
                  <a:txBody>
                    <a:bodyPr/>
                    <a:lstStyle/>
                    <a:p>
                      <a:r>
                        <a:rPr lang="es-ES_tradnl" sz="900" dirty="0"/>
                        <a:t>byte</a:t>
                      </a:r>
                    </a:p>
                  </a:txBody>
                  <a:tcPr/>
                </a:tc>
                <a:tc>
                  <a:txBody>
                    <a:bodyPr/>
                    <a:lstStyle/>
                    <a:p>
                      <a:r>
                        <a:rPr lang="es-ES_tradnl" sz="900" dirty="0"/>
                        <a:t>Datos enteros</a:t>
                      </a:r>
                    </a:p>
                  </a:txBody>
                  <a:tcPr/>
                </a:tc>
                <a:tc>
                  <a:txBody>
                    <a:bodyPr/>
                    <a:lstStyle/>
                    <a:p>
                      <a:r>
                        <a:rPr lang="es-ES_tradnl" sz="900" dirty="0"/>
                        <a:t>-128</a:t>
                      </a:r>
                      <a:r>
                        <a:rPr lang="es-ES_tradnl" sz="900" baseline="0" dirty="0">
                          <a:sym typeface="Wingdings"/>
                        </a:rPr>
                        <a:t>  127</a:t>
                      </a:r>
                      <a:endParaRPr lang="es-ES_tradnl" sz="900" dirty="0"/>
                    </a:p>
                  </a:txBody>
                  <a:tcPr/>
                </a:tc>
                <a:tc>
                  <a:txBody>
                    <a:bodyPr/>
                    <a:lstStyle/>
                    <a:p>
                      <a:r>
                        <a:rPr lang="es-ES_tradnl" sz="900" dirty="0"/>
                        <a:t>Se utilizan 8 bits (1 byte) para almacenar el dato</a:t>
                      </a:r>
                    </a:p>
                  </a:txBody>
                  <a:tcPr/>
                </a:tc>
                <a:extLst>
                  <a:ext uri="{0D108BD9-81ED-4DB2-BD59-A6C34878D82A}">
                    <a16:rowId xmlns:a16="http://schemas.microsoft.com/office/drawing/2014/main" val="10001"/>
                  </a:ext>
                </a:extLst>
              </a:tr>
              <a:tr h="370840">
                <a:tc>
                  <a:txBody>
                    <a:bodyPr/>
                    <a:lstStyle/>
                    <a:p>
                      <a:r>
                        <a:rPr lang="es-ES_tradnl" sz="900" dirty="0"/>
                        <a:t>short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_tradnl" sz="900" dirty="0"/>
                        <a:t>Datos enteros</a:t>
                      </a:r>
                    </a:p>
                    <a:p>
                      <a:endParaRPr lang="es-ES_tradnl" sz="900" dirty="0"/>
                    </a:p>
                  </a:txBody>
                  <a:tcPr/>
                </a:tc>
                <a:tc>
                  <a:txBody>
                    <a:bodyPr/>
                    <a:lstStyle/>
                    <a:p>
                      <a:r>
                        <a:rPr lang="es-ES_tradnl" sz="900" dirty="0"/>
                        <a:t>-32768 </a:t>
                      </a:r>
                      <a:r>
                        <a:rPr lang="es-ES_tradnl" sz="900" dirty="0">
                          <a:sym typeface="Wingdings"/>
                        </a:rPr>
                        <a:t> +32767</a:t>
                      </a:r>
                      <a:endParaRPr lang="es-ES_tradnl" sz="900" dirty="0"/>
                    </a:p>
                  </a:txBody>
                  <a:tcPr/>
                </a:tc>
                <a:tc>
                  <a:txBody>
                    <a:bodyPr/>
                    <a:lstStyle/>
                    <a:p>
                      <a:r>
                        <a:rPr lang="es-ES_tradnl" sz="900" dirty="0"/>
                        <a:t>Datos de 16 bits de longitud (independientemente</a:t>
                      </a:r>
                      <a:r>
                        <a:rPr lang="es-ES_tradnl" sz="900" baseline="0" dirty="0"/>
                        <a:t> de la plataforma)</a:t>
                      </a:r>
                      <a:endParaRPr lang="es-ES_tradnl" sz="900" dirty="0"/>
                    </a:p>
                  </a:txBody>
                  <a:tcPr/>
                </a:tc>
                <a:extLst>
                  <a:ext uri="{0D108BD9-81ED-4DB2-BD59-A6C34878D82A}">
                    <a16:rowId xmlns:a16="http://schemas.microsoft.com/office/drawing/2014/main" val="10002"/>
                  </a:ext>
                </a:extLst>
              </a:tr>
              <a:tr h="370840">
                <a:tc>
                  <a:txBody>
                    <a:bodyPr/>
                    <a:lstStyle/>
                    <a:p>
                      <a:r>
                        <a:rPr lang="es-ES_tradnl" sz="900" dirty="0" err="1"/>
                        <a:t>int</a:t>
                      </a:r>
                      <a:endParaRPr lang="es-ES_tradnl" sz="9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_tradnl" sz="900" dirty="0"/>
                        <a:t>Datos enteros</a:t>
                      </a:r>
                    </a:p>
                    <a:p>
                      <a:endParaRPr lang="es-ES_tradnl" sz="900" dirty="0"/>
                    </a:p>
                  </a:txBody>
                  <a:tcPr/>
                </a:tc>
                <a:tc>
                  <a:txBody>
                    <a:bodyPr/>
                    <a:lstStyle/>
                    <a:p>
                      <a:r>
                        <a:rPr lang="es-ES_tradnl" sz="900" dirty="0"/>
                        <a:t>-2147483648 </a:t>
                      </a:r>
                      <a:r>
                        <a:rPr lang="es-ES_tradnl" sz="900" dirty="0">
                          <a:sym typeface="Wingdings"/>
                        </a:rPr>
                        <a:t> +2147483647</a:t>
                      </a:r>
                      <a:endParaRPr lang="es-ES_tradnl" sz="9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_tradnl" sz="900" dirty="0"/>
                        <a:t>Datos de 32 bits de longitud (independientemente</a:t>
                      </a:r>
                      <a:r>
                        <a:rPr lang="es-ES_tradnl" sz="900" baseline="0" dirty="0"/>
                        <a:t> de la plataforma)</a:t>
                      </a:r>
                      <a:endParaRPr lang="es-ES_tradnl" sz="900" dirty="0"/>
                    </a:p>
                    <a:p>
                      <a:endParaRPr lang="es-ES_tradnl" sz="900" dirty="0"/>
                    </a:p>
                  </a:txBody>
                  <a:tcPr/>
                </a:tc>
                <a:extLst>
                  <a:ext uri="{0D108BD9-81ED-4DB2-BD59-A6C34878D82A}">
                    <a16:rowId xmlns:a16="http://schemas.microsoft.com/office/drawing/2014/main" val="10003"/>
                  </a:ext>
                </a:extLst>
              </a:tr>
              <a:tr h="370840">
                <a:tc>
                  <a:txBody>
                    <a:bodyPr/>
                    <a:lstStyle/>
                    <a:p>
                      <a:r>
                        <a:rPr lang="es-ES_tradnl" sz="900" dirty="0" err="1"/>
                        <a:t>long</a:t>
                      </a:r>
                      <a:endParaRPr lang="es-ES_tradnl" sz="9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_tradnl" sz="900" dirty="0"/>
                        <a:t>Datos enteros</a:t>
                      </a:r>
                    </a:p>
                    <a:p>
                      <a:endParaRPr lang="es-ES_tradnl" sz="900" dirty="0"/>
                    </a:p>
                  </a:txBody>
                  <a:tcPr/>
                </a:tc>
                <a:tc>
                  <a:txBody>
                    <a:bodyPr/>
                    <a:lstStyle/>
                    <a:p>
                      <a:r>
                        <a:rPr lang="es-ES_tradnl" sz="900" dirty="0"/>
                        <a:t>-9223372036854775808 </a:t>
                      </a:r>
                      <a:r>
                        <a:rPr lang="es-ES_tradnl" sz="900" dirty="0">
                          <a:sym typeface="Wingdings"/>
                        </a:rPr>
                        <a:t> +</a:t>
                      </a:r>
                      <a:r>
                        <a:rPr lang="es-ES_tradnl" sz="900" dirty="0"/>
                        <a:t>92233720368547758087</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_tradnl" sz="900" dirty="0"/>
                        <a:t>Datos de 64 bits de longitud (independientemente</a:t>
                      </a:r>
                      <a:r>
                        <a:rPr lang="es-ES_tradnl" sz="900" baseline="0" dirty="0"/>
                        <a:t> de la plataforma)</a:t>
                      </a:r>
                      <a:endParaRPr lang="es-ES_tradnl" sz="900" dirty="0"/>
                    </a:p>
                    <a:p>
                      <a:endParaRPr lang="es-ES_tradnl" sz="900" dirty="0"/>
                    </a:p>
                  </a:txBody>
                  <a:tcPr/>
                </a:tc>
                <a:extLst>
                  <a:ext uri="{0D108BD9-81ED-4DB2-BD59-A6C34878D82A}">
                    <a16:rowId xmlns:a16="http://schemas.microsoft.com/office/drawing/2014/main" val="10004"/>
                  </a:ext>
                </a:extLst>
              </a:tr>
              <a:tr h="370840">
                <a:tc>
                  <a:txBody>
                    <a:bodyPr/>
                    <a:lstStyle/>
                    <a:p>
                      <a:r>
                        <a:rPr lang="es-ES_tradnl" sz="900" dirty="0" err="1"/>
                        <a:t>char</a:t>
                      </a:r>
                      <a:endParaRPr lang="es-ES_tradnl" sz="9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_tradnl" sz="900" dirty="0"/>
                        <a:t>Caracteres</a:t>
                      </a:r>
                      <a:r>
                        <a:rPr lang="es-ES_tradnl" sz="900" baseline="0" dirty="0"/>
                        <a:t> </a:t>
                      </a:r>
                      <a:r>
                        <a:rPr lang="es-ES_tradnl" sz="900" baseline="0" dirty="0" err="1"/>
                        <a:t>unicode</a:t>
                      </a:r>
                      <a:endParaRPr lang="es-ES_tradnl" sz="900" dirty="0"/>
                    </a:p>
                  </a:txBody>
                  <a:tcPr/>
                </a:tc>
                <a:tc>
                  <a:txBody>
                    <a:bodyPr/>
                    <a:lstStyle/>
                    <a:p>
                      <a:r>
                        <a:rPr lang="es-ES_tradnl" sz="900" dirty="0"/>
                        <a:t>0 </a:t>
                      </a:r>
                      <a:r>
                        <a:rPr lang="es-ES_tradnl" sz="900" dirty="0">
                          <a:sym typeface="Wingdings"/>
                        </a:rPr>
                        <a:t> 65535</a:t>
                      </a:r>
                      <a:endParaRPr lang="es-ES_tradnl" sz="900" dirty="0"/>
                    </a:p>
                  </a:txBody>
                  <a:tcPr/>
                </a:tc>
                <a:tc>
                  <a:txBody>
                    <a:bodyPr/>
                    <a:lstStyle/>
                    <a:p>
                      <a:r>
                        <a:rPr lang="es-ES_tradnl" sz="900" dirty="0"/>
                        <a:t>Este rango es para representar n</a:t>
                      </a:r>
                      <a:r>
                        <a:rPr lang="es-ES" sz="900" dirty="0" err="1"/>
                        <a:t>úmeros</a:t>
                      </a:r>
                      <a:r>
                        <a:rPr lang="es-ES" sz="900" dirty="0"/>
                        <a:t> en </a:t>
                      </a:r>
                      <a:r>
                        <a:rPr lang="es-ES" sz="900" dirty="0" err="1"/>
                        <a:t>unicode</a:t>
                      </a:r>
                      <a:r>
                        <a:rPr lang="es-ES" sz="900" dirty="0"/>
                        <a:t>, los ASCII se representan con los valores del 0 al 127.</a:t>
                      </a:r>
                      <a:endParaRPr lang="es-ES_tradnl" sz="900" dirty="0"/>
                    </a:p>
                  </a:txBody>
                  <a:tcPr/>
                </a:tc>
                <a:extLst>
                  <a:ext uri="{0D108BD9-81ED-4DB2-BD59-A6C34878D82A}">
                    <a16:rowId xmlns:a16="http://schemas.microsoft.com/office/drawing/2014/main" val="10005"/>
                  </a:ext>
                </a:extLst>
              </a:tr>
              <a:tr h="370840">
                <a:tc>
                  <a:txBody>
                    <a:bodyPr/>
                    <a:lstStyle/>
                    <a:p>
                      <a:r>
                        <a:rPr lang="es-ES_tradnl" sz="900" dirty="0" err="1"/>
                        <a:t>float</a:t>
                      </a:r>
                      <a:endParaRPr lang="es-ES_tradnl" sz="9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_tradnl" sz="900" dirty="0"/>
                        <a:t>Datos en coma flotante de 32 bits</a:t>
                      </a:r>
                    </a:p>
                    <a:p>
                      <a:endParaRPr lang="es-ES_tradnl" sz="900" dirty="0"/>
                    </a:p>
                  </a:txBody>
                  <a:tcPr/>
                </a:tc>
                <a:tc>
                  <a:txBody>
                    <a:bodyPr/>
                    <a:lstStyle/>
                    <a:p>
                      <a:r>
                        <a:rPr lang="es-ES_tradnl" sz="900" dirty="0" err="1"/>
                        <a:t>Precisi</a:t>
                      </a:r>
                      <a:r>
                        <a:rPr lang="es-ES" sz="900" dirty="0"/>
                        <a:t>ón aproximada de 7 dígitos</a:t>
                      </a:r>
                      <a:endParaRPr lang="es-ES_tradnl" sz="900" dirty="0"/>
                    </a:p>
                  </a:txBody>
                  <a:tcPr/>
                </a:tc>
                <a:tc>
                  <a:txBody>
                    <a:bodyPr/>
                    <a:lstStyle/>
                    <a:p>
                      <a:r>
                        <a:rPr lang="es-ES_tradnl" sz="900" dirty="0"/>
                        <a:t>Datos en coma flotante de 32 bits</a:t>
                      </a:r>
                    </a:p>
                  </a:txBody>
                  <a:tcPr/>
                </a:tc>
                <a:extLst>
                  <a:ext uri="{0D108BD9-81ED-4DB2-BD59-A6C34878D82A}">
                    <a16:rowId xmlns:a16="http://schemas.microsoft.com/office/drawing/2014/main" val="10006"/>
                  </a:ext>
                </a:extLst>
              </a:tr>
              <a:tr h="370840">
                <a:tc>
                  <a:txBody>
                    <a:bodyPr/>
                    <a:lstStyle/>
                    <a:p>
                      <a:r>
                        <a:rPr lang="es-ES_tradnl" sz="900" dirty="0" err="1"/>
                        <a:t>double</a:t>
                      </a:r>
                      <a:endParaRPr lang="es-ES_tradnl" sz="9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_tradnl" sz="900" dirty="0"/>
                        <a:t>Datos en coma flotante de 64 bits</a:t>
                      </a:r>
                    </a:p>
                    <a:p>
                      <a:endParaRPr lang="es-ES_tradnl" sz="900" dirty="0"/>
                    </a:p>
                  </a:txBody>
                  <a:tcPr/>
                </a:tc>
                <a:tc>
                  <a:txBody>
                    <a:bodyPr/>
                    <a:lstStyle/>
                    <a:p>
                      <a:r>
                        <a:rPr lang="es-ES_tradnl" sz="900" dirty="0" err="1"/>
                        <a:t>Precisi</a:t>
                      </a:r>
                      <a:r>
                        <a:rPr lang="es-ES" sz="900" dirty="0"/>
                        <a:t>ón aproximada de 16 dígitos</a:t>
                      </a:r>
                      <a:endParaRPr lang="es-ES_tradnl" sz="900" dirty="0"/>
                    </a:p>
                  </a:txBody>
                  <a:tcPr/>
                </a:tc>
                <a:tc>
                  <a:txBody>
                    <a:bodyPr/>
                    <a:lstStyle/>
                    <a:p>
                      <a:r>
                        <a:rPr lang="es-ES_tradnl" sz="900" dirty="0"/>
                        <a:t>Datos en coma flotante de 64 bits</a:t>
                      </a:r>
                    </a:p>
                  </a:txBody>
                  <a:tcPr/>
                </a:tc>
                <a:extLst>
                  <a:ext uri="{0D108BD9-81ED-4DB2-BD59-A6C34878D82A}">
                    <a16:rowId xmlns:a16="http://schemas.microsoft.com/office/drawing/2014/main" val="10007"/>
                  </a:ext>
                </a:extLst>
              </a:tr>
              <a:tr h="370840">
                <a:tc>
                  <a:txBody>
                    <a:bodyPr/>
                    <a:lstStyle/>
                    <a:p>
                      <a:r>
                        <a:rPr lang="es-ES_tradnl" sz="900" dirty="0" err="1"/>
                        <a:t>boolean</a:t>
                      </a:r>
                      <a:endParaRPr lang="es-ES_tradnl" sz="9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_tradnl" sz="900" dirty="0"/>
                        <a:t>Valores booleanos</a:t>
                      </a:r>
                    </a:p>
                    <a:p>
                      <a:endParaRPr lang="es-ES_tradnl" sz="900" dirty="0"/>
                    </a:p>
                  </a:txBody>
                  <a:tcPr/>
                </a:tc>
                <a:tc>
                  <a:txBody>
                    <a:bodyPr/>
                    <a:lstStyle/>
                    <a:p>
                      <a:r>
                        <a:rPr lang="es-ES_tradnl" sz="900" dirty="0"/>
                        <a:t>True/false</a:t>
                      </a:r>
                    </a:p>
                  </a:txBody>
                  <a:tcPr/>
                </a:tc>
                <a:tc>
                  <a:txBody>
                    <a:bodyPr/>
                    <a:lstStyle/>
                    <a:p>
                      <a:r>
                        <a:rPr lang="es-ES_tradnl" sz="900" dirty="0"/>
                        <a:t>Utilizado para evaluar si el resultado de una </a:t>
                      </a:r>
                      <a:r>
                        <a:rPr lang="es-ES_tradnl" sz="900" dirty="0" err="1"/>
                        <a:t>expresi</a:t>
                      </a:r>
                      <a:r>
                        <a:rPr lang="es-ES" sz="900" dirty="0"/>
                        <a:t>ón booleana es verdadero (true) o falso (false</a:t>
                      </a:r>
                      <a:endParaRPr lang="es-ES_tradnl" sz="900"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0858465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Tipos de datos simples</a:t>
            </a:r>
          </a:p>
        </p:txBody>
      </p:sp>
      <p:sp>
        <p:nvSpPr>
          <p:cNvPr id="3" name="Marcador de contenido 2"/>
          <p:cNvSpPr>
            <a:spLocks noGrp="1"/>
          </p:cNvSpPr>
          <p:nvPr>
            <p:ph idx="1"/>
          </p:nvPr>
        </p:nvSpPr>
        <p:spPr/>
        <p:txBody>
          <a:bodyPr/>
          <a:lstStyle/>
          <a:p>
            <a:r>
              <a:rPr lang="es-ES_tradnl" sz="1600" dirty="0"/>
              <a:t>Uso de los tipos de datos</a:t>
            </a:r>
            <a:endParaRPr lang="es-ES" sz="1600" dirty="0"/>
          </a:p>
          <a:p>
            <a:pPr marL="0" indent="0">
              <a:buNone/>
            </a:pPr>
            <a:endParaRPr lang="es-ES_tradnl" sz="1600" dirty="0"/>
          </a:p>
        </p:txBody>
      </p:sp>
      <p:graphicFrame>
        <p:nvGraphicFramePr>
          <p:cNvPr id="5" name="Tabla 4"/>
          <p:cNvGraphicFramePr>
            <a:graphicFrameLocks noGrp="1"/>
          </p:cNvGraphicFramePr>
          <p:nvPr>
            <p:extLst>
              <p:ext uri="{D42A27DB-BD31-4B8C-83A1-F6EECF244321}">
                <p14:modId xmlns:p14="http://schemas.microsoft.com/office/powerpoint/2010/main" val="1778601518"/>
              </p:ext>
            </p:extLst>
          </p:nvPr>
        </p:nvGraphicFramePr>
        <p:xfrm>
          <a:off x="1291363" y="1484784"/>
          <a:ext cx="7097061" cy="4512282"/>
        </p:xfrm>
        <a:graphic>
          <a:graphicData uri="http://schemas.openxmlformats.org/drawingml/2006/table">
            <a:tbl>
              <a:tblPr firstRow="1" bandRow="1">
                <a:tableStyleId>{5C22544A-7EE6-4342-B048-85BDC9FD1C3A}</a:tableStyleId>
              </a:tblPr>
              <a:tblGrid>
                <a:gridCol w="1552445">
                  <a:extLst>
                    <a:ext uri="{9D8B030D-6E8A-4147-A177-3AD203B41FA5}">
                      <a16:colId xmlns:a16="http://schemas.microsoft.com/office/drawing/2014/main" val="20000"/>
                    </a:ext>
                  </a:extLst>
                </a:gridCol>
                <a:gridCol w="5544616">
                  <a:extLst>
                    <a:ext uri="{9D8B030D-6E8A-4147-A177-3AD203B41FA5}">
                      <a16:colId xmlns:a16="http://schemas.microsoft.com/office/drawing/2014/main" val="20001"/>
                    </a:ext>
                  </a:extLst>
                </a:gridCol>
              </a:tblGrid>
              <a:tr h="651482">
                <a:tc>
                  <a:txBody>
                    <a:bodyPr/>
                    <a:lstStyle/>
                    <a:p>
                      <a:r>
                        <a:rPr lang="es-ES_tradnl" sz="1400" dirty="0"/>
                        <a:t>Tipo de datos</a:t>
                      </a:r>
                    </a:p>
                  </a:txBody>
                  <a:tcPr/>
                </a:tc>
                <a:tc>
                  <a:txBody>
                    <a:bodyPr/>
                    <a:lstStyle/>
                    <a:p>
                      <a:r>
                        <a:rPr lang="es-ES_tradnl" sz="1400" dirty="0" err="1"/>
                        <a:t>Informaci</a:t>
                      </a:r>
                      <a:r>
                        <a:rPr lang="es-ES" sz="1400" dirty="0"/>
                        <a:t>ón representada</a:t>
                      </a:r>
                      <a:endParaRPr lang="es-ES_tradnl" sz="1400" dirty="0"/>
                    </a:p>
                  </a:txBody>
                  <a:tcPr/>
                </a:tc>
                <a:extLst>
                  <a:ext uri="{0D108BD9-81ED-4DB2-BD59-A6C34878D82A}">
                    <a16:rowId xmlns:a16="http://schemas.microsoft.com/office/drawing/2014/main" val="10000"/>
                  </a:ext>
                </a:extLst>
              </a:tr>
              <a:tr h="370840">
                <a:tc>
                  <a:txBody>
                    <a:bodyPr/>
                    <a:lstStyle/>
                    <a:p>
                      <a:r>
                        <a:rPr lang="es-ES_tradnl" sz="1200" dirty="0"/>
                        <a:t>byte</a:t>
                      </a:r>
                    </a:p>
                  </a:txBody>
                  <a:tcPr/>
                </a:tc>
                <a:tc>
                  <a:txBody>
                    <a:bodyPr/>
                    <a:lstStyle/>
                    <a:p>
                      <a:r>
                        <a:rPr lang="es-ES_tradnl" sz="1200" dirty="0"/>
                        <a:t>byte a;</a:t>
                      </a:r>
                    </a:p>
                  </a:txBody>
                  <a:tcPr/>
                </a:tc>
                <a:extLst>
                  <a:ext uri="{0D108BD9-81ED-4DB2-BD59-A6C34878D82A}">
                    <a16:rowId xmlns:a16="http://schemas.microsoft.com/office/drawing/2014/main" val="10001"/>
                  </a:ext>
                </a:extLst>
              </a:tr>
              <a:tr h="370840">
                <a:tc>
                  <a:txBody>
                    <a:bodyPr/>
                    <a:lstStyle/>
                    <a:p>
                      <a:r>
                        <a:rPr lang="es-ES_tradnl" sz="1200" dirty="0"/>
                        <a:t>short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_tradnl" sz="1200" dirty="0"/>
                        <a:t>short b, c=3;</a:t>
                      </a:r>
                    </a:p>
                  </a:txBody>
                  <a:tcPr/>
                </a:tc>
                <a:extLst>
                  <a:ext uri="{0D108BD9-81ED-4DB2-BD59-A6C34878D82A}">
                    <a16:rowId xmlns:a16="http://schemas.microsoft.com/office/drawing/2014/main" val="10002"/>
                  </a:ext>
                </a:extLst>
              </a:tr>
              <a:tr h="370840">
                <a:tc>
                  <a:txBody>
                    <a:bodyPr/>
                    <a:lstStyle/>
                    <a:p>
                      <a:r>
                        <a:rPr lang="es-ES_tradnl" sz="1200" dirty="0" err="1"/>
                        <a:t>int</a:t>
                      </a:r>
                      <a:endParaRPr lang="es-ES_tradnl"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_tradnl" sz="1200" dirty="0" err="1"/>
                        <a:t>int</a:t>
                      </a:r>
                      <a:r>
                        <a:rPr lang="es-ES_tradnl" sz="1200" dirty="0"/>
                        <a:t> d=-30;</a:t>
                      </a:r>
                    </a:p>
                    <a:p>
                      <a:pPr marL="0" marR="0" indent="0" algn="l" defTabSz="914400" rtl="0" eaLnBrk="1" fontAlgn="auto" latinLnBrk="0" hangingPunct="1">
                        <a:lnSpc>
                          <a:spcPct val="100000"/>
                        </a:lnSpc>
                        <a:spcBef>
                          <a:spcPts val="0"/>
                        </a:spcBef>
                        <a:spcAft>
                          <a:spcPts val="0"/>
                        </a:spcAft>
                        <a:buClrTx/>
                        <a:buSzTx/>
                        <a:buFontTx/>
                        <a:buNone/>
                        <a:tabLst/>
                        <a:defRPr/>
                      </a:pPr>
                      <a:r>
                        <a:rPr lang="es-ES_tradnl" sz="1200" dirty="0" err="1"/>
                        <a:t>int</a:t>
                      </a:r>
                      <a:r>
                        <a:rPr lang="es-ES_tradnl" sz="1200" dirty="0"/>
                        <a:t> e=0xC125;</a:t>
                      </a:r>
                    </a:p>
                  </a:txBody>
                  <a:tcPr/>
                </a:tc>
                <a:extLst>
                  <a:ext uri="{0D108BD9-81ED-4DB2-BD59-A6C34878D82A}">
                    <a16:rowId xmlns:a16="http://schemas.microsoft.com/office/drawing/2014/main" val="10003"/>
                  </a:ext>
                </a:extLst>
              </a:tr>
              <a:tr h="370840">
                <a:tc>
                  <a:txBody>
                    <a:bodyPr/>
                    <a:lstStyle/>
                    <a:p>
                      <a:r>
                        <a:rPr lang="es-ES_tradnl" sz="1200" dirty="0" err="1"/>
                        <a:t>long</a:t>
                      </a:r>
                      <a:endParaRPr lang="es-ES_tradnl"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_tradnl" sz="1200" dirty="0" err="1"/>
                        <a:t>long</a:t>
                      </a:r>
                      <a:r>
                        <a:rPr lang="es-ES_tradnl" sz="1200" dirty="0"/>
                        <a:t> b=434123;</a:t>
                      </a:r>
                    </a:p>
                    <a:p>
                      <a:pPr marL="0" marR="0" indent="0" algn="l" defTabSz="914400" rtl="0" eaLnBrk="1" fontAlgn="auto" latinLnBrk="0" hangingPunct="1">
                        <a:lnSpc>
                          <a:spcPct val="100000"/>
                        </a:lnSpc>
                        <a:spcBef>
                          <a:spcPts val="0"/>
                        </a:spcBef>
                        <a:spcAft>
                          <a:spcPts val="0"/>
                        </a:spcAft>
                        <a:buClrTx/>
                        <a:buSzTx/>
                        <a:buFontTx/>
                        <a:buNone/>
                        <a:tabLst/>
                        <a:defRPr/>
                      </a:pPr>
                      <a:r>
                        <a:rPr lang="es-ES_tradnl" sz="1200" dirty="0" err="1"/>
                        <a:t>long</a:t>
                      </a:r>
                      <a:r>
                        <a:rPr lang="es-ES_tradnl" sz="1200" dirty="0"/>
                        <a:t> b=5L;</a:t>
                      </a:r>
                    </a:p>
                    <a:p>
                      <a:endParaRPr lang="es-ES_tradnl" sz="1200" dirty="0"/>
                    </a:p>
                  </a:txBody>
                  <a:tcPr/>
                </a:tc>
                <a:extLst>
                  <a:ext uri="{0D108BD9-81ED-4DB2-BD59-A6C34878D82A}">
                    <a16:rowId xmlns:a16="http://schemas.microsoft.com/office/drawing/2014/main" val="10004"/>
                  </a:ext>
                </a:extLst>
              </a:tr>
              <a:tr h="370840">
                <a:tc>
                  <a:txBody>
                    <a:bodyPr/>
                    <a:lstStyle/>
                    <a:p>
                      <a:r>
                        <a:rPr lang="es-ES_tradnl" sz="1200" dirty="0" err="1"/>
                        <a:t>char</a:t>
                      </a:r>
                      <a:endParaRPr lang="es-ES_tradnl"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_tradnl" sz="1200" dirty="0" err="1"/>
                        <a:t>char</a:t>
                      </a:r>
                      <a:r>
                        <a:rPr lang="es-ES_tradnl" sz="1200" dirty="0"/>
                        <a:t> c1=‘c’;</a:t>
                      </a:r>
                    </a:p>
                    <a:p>
                      <a:pPr marL="0" marR="0" indent="0" algn="l" defTabSz="914400" rtl="0" eaLnBrk="1" fontAlgn="auto" latinLnBrk="0" hangingPunct="1">
                        <a:lnSpc>
                          <a:spcPct val="100000"/>
                        </a:lnSpc>
                        <a:spcBef>
                          <a:spcPts val="0"/>
                        </a:spcBef>
                        <a:spcAft>
                          <a:spcPts val="0"/>
                        </a:spcAft>
                        <a:buClrTx/>
                        <a:buSzTx/>
                        <a:buFontTx/>
                        <a:buNone/>
                        <a:tabLst/>
                        <a:defRPr/>
                      </a:pPr>
                      <a:r>
                        <a:rPr lang="es-ES_tradnl" sz="1200" dirty="0" err="1"/>
                        <a:t>char</a:t>
                      </a:r>
                      <a:r>
                        <a:rPr lang="es-ES_tradnl" sz="1200" dirty="0"/>
                        <a:t> c2=99;</a:t>
                      </a:r>
                    </a:p>
                    <a:p>
                      <a:pPr marL="0" marR="0" indent="0" algn="l" defTabSz="914400" rtl="0" eaLnBrk="1" fontAlgn="auto" latinLnBrk="0" hangingPunct="1">
                        <a:lnSpc>
                          <a:spcPct val="100000"/>
                        </a:lnSpc>
                        <a:spcBef>
                          <a:spcPts val="0"/>
                        </a:spcBef>
                        <a:spcAft>
                          <a:spcPts val="0"/>
                        </a:spcAft>
                        <a:buClrTx/>
                        <a:buSzTx/>
                        <a:buFontTx/>
                        <a:buNone/>
                        <a:tabLst/>
                        <a:defRPr/>
                      </a:pPr>
                      <a:r>
                        <a:rPr lang="es-ES_tradnl" sz="1200" dirty="0"/>
                        <a:t>Son lo mismo porque el 99 representa</a:t>
                      </a:r>
                      <a:r>
                        <a:rPr lang="es-ES_tradnl" sz="1200" baseline="0" dirty="0"/>
                        <a:t> la letra ‘c’</a:t>
                      </a:r>
                      <a:endParaRPr lang="es-ES_tradnl" sz="1200" dirty="0"/>
                    </a:p>
                  </a:txBody>
                  <a:tcPr/>
                </a:tc>
                <a:extLst>
                  <a:ext uri="{0D108BD9-81ED-4DB2-BD59-A6C34878D82A}">
                    <a16:rowId xmlns:a16="http://schemas.microsoft.com/office/drawing/2014/main" val="10005"/>
                  </a:ext>
                </a:extLst>
              </a:tr>
              <a:tr h="370840">
                <a:tc>
                  <a:txBody>
                    <a:bodyPr/>
                    <a:lstStyle/>
                    <a:p>
                      <a:r>
                        <a:rPr lang="es-ES_tradnl" sz="1200" dirty="0" err="1"/>
                        <a:t>float</a:t>
                      </a:r>
                      <a:endParaRPr lang="es-ES_tradnl"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_tradnl" sz="1200" dirty="0" err="1"/>
                        <a:t>float</a:t>
                      </a:r>
                      <a:r>
                        <a:rPr lang="es-ES_tradnl" sz="1200" dirty="0"/>
                        <a:t> pi=3.1416;</a:t>
                      </a:r>
                    </a:p>
                    <a:p>
                      <a:pPr marL="0" marR="0" indent="0" algn="l" defTabSz="914400" rtl="0" eaLnBrk="1" fontAlgn="auto" latinLnBrk="0" hangingPunct="1">
                        <a:lnSpc>
                          <a:spcPct val="100000"/>
                        </a:lnSpc>
                        <a:spcBef>
                          <a:spcPts val="0"/>
                        </a:spcBef>
                        <a:spcAft>
                          <a:spcPts val="0"/>
                        </a:spcAft>
                        <a:buClrTx/>
                        <a:buSzTx/>
                        <a:buFontTx/>
                        <a:buNone/>
                        <a:tabLst/>
                        <a:defRPr/>
                      </a:pPr>
                      <a:r>
                        <a:rPr lang="es-ES_tradnl" sz="1200" dirty="0" err="1"/>
                        <a:t>float</a:t>
                      </a:r>
                      <a:r>
                        <a:rPr lang="es-ES_tradnl" sz="1200" dirty="0"/>
                        <a:t> pi=3.1416F;</a:t>
                      </a:r>
                    </a:p>
                    <a:p>
                      <a:pPr marL="0" marR="0" indent="0" algn="l" defTabSz="914400" rtl="0" eaLnBrk="1" fontAlgn="auto" latinLnBrk="0" hangingPunct="1">
                        <a:lnSpc>
                          <a:spcPct val="100000"/>
                        </a:lnSpc>
                        <a:spcBef>
                          <a:spcPts val="0"/>
                        </a:spcBef>
                        <a:spcAft>
                          <a:spcPts val="0"/>
                        </a:spcAft>
                        <a:buClrTx/>
                        <a:buSzTx/>
                        <a:buFontTx/>
                        <a:buNone/>
                        <a:tabLst/>
                        <a:defRPr/>
                      </a:pPr>
                      <a:r>
                        <a:rPr lang="es-ES_tradnl" sz="1200" dirty="0" err="1"/>
                        <a:t>float</a:t>
                      </a:r>
                      <a:r>
                        <a:rPr lang="es-ES_tradnl" sz="1200" dirty="0"/>
                        <a:t> medio=1/2F;</a:t>
                      </a:r>
                    </a:p>
                  </a:txBody>
                  <a:tcPr/>
                </a:tc>
                <a:extLst>
                  <a:ext uri="{0D108BD9-81ED-4DB2-BD59-A6C34878D82A}">
                    <a16:rowId xmlns:a16="http://schemas.microsoft.com/office/drawing/2014/main" val="10006"/>
                  </a:ext>
                </a:extLst>
              </a:tr>
              <a:tr h="370840">
                <a:tc>
                  <a:txBody>
                    <a:bodyPr/>
                    <a:lstStyle/>
                    <a:p>
                      <a:r>
                        <a:rPr lang="es-ES_tradnl" sz="1200" dirty="0" err="1"/>
                        <a:t>double</a:t>
                      </a:r>
                      <a:endParaRPr lang="es-ES_tradnl"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_tradnl" sz="1200" dirty="0" err="1"/>
                        <a:t>double</a:t>
                      </a:r>
                      <a:r>
                        <a:rPr lang="es-ES_tradnl" sz="1200" dirty="0"/>
                        <a:t> m=1/2D;</a:t>
                      </a:r>
                    </a:p>
                  </a:txBody>
                  <a:tcPr/>
                </a:tc>
                <a:extLst>
                  <a:ext uri="{0D108BD9-81ED-4DB2-BD59-A6C34878D82A}">
                    <a16:rowId xmlns:a16="http://schemas.microsoft.com/office/drawing/2014/main" val="10007"/>
                  </a:ext>
                </a:extLst>
              </a:tr>
              <a:tr h="370840">
                <a:tc>
                  <a:txBody>
                    <a:bodyPr/>
                    <a:lstStyle/>
                    <a:p>
                      <a:r>
                        <a:rPr lang="es-ES_tradnl" sz="1200" dirty="0" err="1"/>
                        <a:t>boolean</a:t>
                      </a:r>
                      <a:endParaRPr lang="es-ES_tradnl"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_tradnl" sz="1200" dirty="0" err="1"/>
                        <a:t>boolean</a:t>
                      </a:r>
                      <a:r>
                        <a:rPr lang="es-ES_tradnl" sz="1200" dirty="0"/>
                        <a:t> a=true;</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1427313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Constantes y literales</a:t>
            </a:r>
          </a:p>
        </p:txBody>
      </p:sp>
      <p:sp>
        <p:nvSpPr>
          <p:cNvPr id="6" name="5 CuadroTexto"/>
          <p:cNvSpPr txBox="1"/>
          <p:nvPr/>
        </p:nvSpPr>
        <p:spPr>
          <a:xfrm>
            <a:off x="1331640" y="1618618"/>
            <a:ext cx="1584611" cy="677108"/>
          </a:xfrm>
          <a:prstGeom prst="rect">
            <a:avLst/>
          </a:prstGeom>
          <a:noFill/>
        </p:spPr>
        <p:txBody>
          <a:bodyPr wrap="square" rtlCol="0">
            <a:spAutoFit/>
          </a:bodyPr>
          <a:lstStyle/>
          <a:p>
            <a:pPr algn="ctr"/>
            <a:r>
              <a:rPr lang="es-ES" b="1" dirty="0">
                <a:solidFill>
                  <a:schemeClr val="bg2">
                    <a:lumMod val="50000"/>
                  </a:schemeClr>
                </a:solidFill>
              </a:rPr>
              <a:t>CLASE</a:t>
            </a:r>
            <a:endParaRPr lang="es-ES" b="1" dirty="0">
              <a:solidFill>
                <a:schemeClr val="tx1">
                  <a:lumMod val="60000"/>
                  <a:lumOff val="40000"/>
                </a:schemeClr>
              </a:solidFill>
            </a:endParaRPr>
          </a:p>
          <a:p>
            <a:pPr algn="ctr"/>
            <a:r>
              <a:rPr lang="es-ES" b="1" dirty="0">
                <a:solidFill>
                  <a:schemeClr val="tx1">
                    <a:lumMod val="60000"/>
                    <a:lumOff val="40000"/>
                  </a:schemeClr>
                </a:solidFill>
              </a:rPr>
              <a:t>Geometría</a:t>
            </a:r>
            <a:endParaRPr lang="es-ES" b="1" dirty="0"/>
          </a:p>
        </p:txBody>
      </p:sp>
      <p:sp>
        <p:nvSpPr>
          <p:cNvPr id="7" name="6 Rectángulo"/>
          <p:cNvSpPr/>
          <p:nvPr/>
        </p:nvSpPr>
        <p:spPr>
          <a:xfrm>
            <a:off x="3203848" y="1614841"/>
            <a:ext cx="4824536" cy="734039"/>
          </a:xfrm>
          <a:prstGeom prst="rect">
            <a:avLst/>
          </a:prstGeom>
          <a:solidFill>
            <a:schemeClr val="accent1">
              <a:lumMod val="40000"/>
              <a:lumOff val="60000"/>
              <a:alpha val="90000"/>
            </a:scheme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8" name="7 CuadroTexto"/>
          <p:cNvSpPr txBox="1"/>
          <p:nvPr/>
        </p:nvSpPr>
        <p:spPr>
          <a:xfrm>
            <a:off x="4595608" y="1805145"/>
            <a:ext cx="984504" cy="369332"/>
          </a:xfrm>
          <a:prstGeom prst="rect">
            <a:avLst/>
          </a:prstGeom>
          <a:noFill/>
        </p:spPr>
        <p:txBody>
          <a:bodyPr wrap="square" rtlCol="0">
            <a:spAutoFit/>
          </a:bodyPr>
          <a:lstStyle/>
          <a:p>
            <a:r>
              <a:rPr lang="es-ES" sz="1800" b="1" dirty="0" err="1">
                <a:solidFill>
                  <a:srgbClr val="FF6600"/>
                </a:solidFill>
              </a:rPr>
              <a:t>float</a:t>
            </a:r>
            <a:r>
              <a:rPr lang="es-ES" sz="1800" b="1" dirty="0"/>
              <a:t> PI</a:t>
            </a:r>
          </a:p>
        </p:txBody>
      </p:sp>
      <p:sp>
        <p:nvSpPr>
          <p:cNvPr id="11" name="10 CuadroTexto"/>
          <p:cNvSpPr txBox="1"/>
          <p:nvPr/>
        </p:nvSpPr>
        <p:spPr>
          <a:xfrm>
            <a:off x="1331640" y="908720"/>
            <a:ext cx="6120680" cy="584775"/>
          </a:xfrm>
          <a:prstGeom prst="rect">
            <a:avLst/>
          </a:prstGeom>
          <a:noFill/>
        </p:spPr>
        <p:txBody>
          <a:bodyPr wrap="square" rtlCol="0">
            <a:spAutoFit/>
          </a:bodyPr>
          <a:lstStyle/>
          <a:p>
            <a:pPr algn="ctr"/>
            <a:r>
              <a:rPr lang="es-ES" sz="1600" b="1" dirty="0">
                <a:latin typeface="Adobe Gothic Std B" pitchFamily="34" charset="-128"/>
                <a:ea typeface="Adobe Gothic Std B" pitchFamily="34" charset="-128"/>
              </a:rPr>
              <a:t>La palabra </a:t>
            </a:r>
            <a:r>
              <a:rPr lang="es-ES" sz="1600" b="1" dirty="0">
                <a:solidFill>
                  <a:schemeClr val="accent1"/>
                </a:solidFill>
                <a:latin typeface="Adobe Gothic Std B" pitchFamily="34" charset="-128"/>
                <a:ea typeface="Adobe Gothic Std B" pitchFamily="34" charset="-128"/>
              </a:rPr>
              <a:t>final</a:t>
            </a:r>
            <a:r>
              <a:rPr lang="es-ES" sz="1600" b="1" dirty="0">
                <a:latin typeface="Adobe Gothic Std B" pitchFamily="34" charset="-128"/>
                <a:ea typeface="Adobe Gothic Std B" pitchFamily="34" charset="-128"/>
              </a:rPr>
              <a:t> indica que a un atributo sólo se le podrá asignar valor una vez </a:t>
            </a:r>
            <a:r>
              <a:rPr lang="es-ES" sz="1600" b="1" dirty="0">
                <a:latin typeface="Adobe Garamond Pro" pitchFamily="18" charset="0"/>
                <a:ea typeface="Adobe Gothic Std B" pitchFamily="34" charset="-128"/>
              </a:rPr>
              <a:t>(será una </a:t>
            </a:r>
            <a:r>
              <a:rPr lang="es-ES" sz="1600" b="1" u="sng" dirty="0">
                <a:latin typeface="Adobe Garamond Pro" pitchFamily="18" charset="0"/>
                <a:ea typeface="Adobe Gothic Std B" pitchFamily="34" charset="-128"/>
              </a:rPr>
              <a:t>constante</a:t>
            </a:r>
            <a:r>
              <a:rPr lang="es-ES" sz="1600" b="1" dirty="0">
                <a:latin typeface="Adobe Garamond Pro" pitchFamily="18" charset="0"/>
                <a:ea typeface="Adobe Gothic Std B" pitchFamily="34" charset="-128"/>
              </a:rPr>
              <a:t>)</a:t>
            </a:r>
            <a:r>
              <a:rPr lang="es-ES" sz="1600" b="1" dirty="0">
                <a:latin typeface="Adobe Gothic Std B" pitchFamily="34" charset="-128"/>
                <a:ea typeface="Adobe Gothic Std B" pitchFamily="34" charset="-128"/>
              </a:rPr>
              <a:t>. </a:t>
            </a:r>
            <a:endParaRPr lang="es-ES" sz="1600" b="1" dirty="0">
              <a:solidFill>
                <a:srgbClr val="FF0000"/>
              </a:solidFill>
              <a:latin typeface="Adobe Gothic Std B" pitchFamily="34" charset="-128"/>
              <a:ea typeface="Adobe Gothic Std B" pitchFamily="34" charset="-128"/>
            </a:endParaRPr>
          </a:p>
        </p:txBody>
      </p:sp>
      <p:sp>
        <p:nvSpPr>
          <p:cNvPr id="15" name="14 CuadroTexto"/>
          <p:cNvSpPr txBox="1"/>
          <p:nvPr/>
        </p:nvSpPr>
        <p:spPr>
          <a:xfrm>
            <a:off x="5436096" y="1805145"/>
            <a:ext cx="1800200" cy="369332"/>
          </a:xfrm>
          <a:prstGeom prst="rect">
            <a:avLst/>
          </a:prstGeom>
          <a:noFill/>
        </p:spPr>
        <p:txBody>
          <a:bodyPr wrap="square" rtlCol="0">
            <a:spAutoFit/>
          </a:bodyPr>
          <a:lstStyle/>
          <a:p>
            <a:r>
              <a:rPr lang="es-ES" sz="1800" b="1" dirty="0"/>
              <a:t>= </a:t>
            </a:r>
            <a:r>
              <a:rPr lang="es-ES" sz="1800" b="1" dirty="0">
                <a:solidFill>
                  <a:srgbClr val="00B050"/>
                </a:solidFill>
              </a:rPr>
              <a:t>3.1416F</a:t>
            </a:r>
            <a:r>
              <a:rPr lang="es-ES" sz="1800" b="1" dirty="0"/>
              <a:t>;</a:t>
            </a:r>
          </a:p>
        </p:txBody>
      </p:sp>
      <p:sp>
        <p:nvSpPr>
          <p:cNvPr id="16" name="15 CuadroTexto"/>
          <p:cNvSpPr txBox="1"/>
          <p:nvPr/>
        </p:nvSpPr>
        <p:spPr>
          <a:xfrm>
            <a:off x="3373968" y="1805145"/>
            <a:ext cx="837992" cy="369332"/>
          </a:xfrm>
          <a:prstGeom prst="rect">
            <a:avLst/>
          </a:prstGeom>
          <a:noFill/>
        </p:spPr>
        <p:txBody>
          <a:bodyPr wrap="square" rtlCol="0">
            <a:spAutoFit/>
          </a:bodyPr>
          <a:lstStyle/>
          <a:p>
            <a:r>
              <a:rPr lang="es-ES" sz="1800" b="1" dirty="0" err="1">
                <a:solidFill>
                  <a:srgbClr val="FF0000"/>
                </a:solidFill>
              </a:rPr>
              <a:t>static</a:t>
            </a:r>
            <a:endParaRPr lang="es-ES" sz="1800" b="1" dirty="0">
              <a:solidFill>
                <a:srgbClr val="FF0000"/>
              </a:solidFill>
            </a:endParaRPr>
          </a:p>
        </p:txBody>
      </p:sp>
      <p:sp>
        <p:nvSpPr>
          <p:cNvPr id="20" name="19 CuadroTexto"/>
          <p:cNvSpPr txBox="1"/>
          <p:nvPr/>
        </p:nvSpPr>
        <p:spPr>
          <a:xfrm>
            <a:off x="899592" y="2699895"/>
            <a:ext cx="7128792" cy="2092881"/>
          </a:xfrm>
          <a:prstGeom prst="rect">
            <a:avLst/>
          </a:prstGeom>
          <a:noFill/>
        </p:spPr>
        <p:txBody>
          <a:bodyPr wrap="square" rtlCol="0">
            <a:spAutoFit/>
          </a:bodyPr>
          <a:lstStyle/>
          <a:p>
            <a:pPr algn="ctr"/>
            <a:r>
              <a:rPr lang="es-ES" sz="1600" b="1" dirty="0">
                <a:latin typeface="Adobe Gothic Std B" pitchFamily="34" charset="-128"/>
                <a:ea typeface="Adobe Gothic Std B" pitchFamily="34" charset="-128"/>
              </a:rPr>
              <a:t>Las constantes se utilizan en datos que nunca varían (IVA, PI, etc..). Utilizando constantes nos aseguramos que su valor no va a poder ser modificado nunca. Permite centralizar el valor de un dato en una sola línea de código (si se quiere cambiar el valor del IVA se hará solamente en una línea en vez de si se utilizase el valor 18 en muchas partes del programa. Por estándar, se suele especificar el nombre de la constante en mayúsculas</a:t>
            </a:r>
          </a:p>
          <a:p>
            <a:pPr algn="ctr"/>
            <a:endParaRPr lang="es-ES" sz="1800" dirty="0">
              <a:solidFill>
                <a:srgbClr val="FF0000"/>
              </a:solidFill>
              <a:latin typeface="Adobe Garamond Pro" pitchFamily="18" charset="0"/>
              <a:ea typeface="Adobe Gothic Std B" pitchFamily="34" charset="-128"/>
            </a:endParaRPr>
          </a:p>
        </p:txBody>
      </p:sp>
      <p:sp>
        <p:nvSpPr>
          <p:cNvPr id="90" name="89 CuadroTexto"/>
          <p:cNvSpPr txBox="1"/>
          <p:nvPr/>
        </p:nvSpPr>
        <p:spPr>
          <a:xfrm>
            <a:off x="4060324" y="1805145"/>
            <a:ext cx="693694" cy="369332"/>
          </a:xfrm>
          <a:prstGeom prst="rect">
            <a:avLst/>
          </a:prstGeom>
          <a:noFill/>
        </p:spPr>
        <p:txBody>
          <a:bodyPr wrap="square" rtlCol="0">
            <a:spAutoFit/>
          </a:bodyPr>
          <a:lstStyle/>
          <a:p>
            <a:r>
              <a:rPr lang="es-ES" sz="1800" b="1" dirty="0">
                <a:solidFill>
                  <a:srgbClr val="0070C0"/>
                </a:solidFill>
              </a:rPr>
              <a:t>final</a:t>
            </a:r>
          </a:p>
        </p:txBody>
      </p:sp>
      <p:cxnSp>
        <p:nvCxnSpPr>
          <p:cNvPr id="93" name="92 Conector recto de flecha"/>
          <p:cNvCxnSpPr>
            <a:endCxn id="15" idx="2"/>
          </p:cNvCxnSpPr>
          <p:nvPr/>
        </p:nvCxnSpPr>
        <p:spPr bwMode="auto">
          <a:xfrm flipH="1" flipV="1">
            <a:off x="6336196" y="2174477"/>
            <a:ext cx="1116124" cy="318419"/>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39" name="19 CuadroTexto"/>
          <p:cNvSpPr txBox="1"/>
          <p:nvPr/>
        </p:nvSpPr>
        <p:spPr>
          <a:xfrm>
            <a:off x="932507" y="4230333"/>
            <a:ext cx="7128792" cy="1569660"/>
          </a:xfrm>
          <a:prstGeom prst="rect">
            <a:avLst/>
          </a:prstGeom>
          <a:noFill/>
        </p:spPr>
        <p:txBody>
          <a:bodyPr wrap="square" rtlCol="0">
            <a:spAutoFit/>
          </a:bodyPr>
          <a:lstStyle/>
          <a:p>
            <a:endParaRPr lang="es-ES" sz="1600" b="1" dirty="0">
              <a:latin typeface="Adobe Gothic Std B" pitchFamily="34" charset="-128"/>
              <a:ea typeface="Adobe Gothic Std B" pitchFamily="34" charset="-128"/>
            </a:endParaRPr>
          </a:p>
          <a:p>
            <a:endParaRPr lang="es-ES" sz="1600" b="1" dirty="0">
              <a:latin typeface="Adobe Gothic Std B" pitchFamily="34" charset="-128"/>
              <a:ea typeface="Adobe Gothic Std B" pitchFamily="34" charset="-128"/>
            </a:endParaRPr>
          </a:p>
          <a:p>
            <a:r>
              <a:rPr lang="es-ES" sz="1600" b="1" dirty="0">
                <a:latin typeface="Adobe Gothic Std B" pitchFamily="34" charset="-128"/>
                <a:ea typeface="Adobe Gothic Std B" pitchFamily="34" charset="-128"/>
              </a:rPr>
              <a:t>Un literal puede ser una expresión:</a:t>
            </a:r>
          </a:p>
          <a:p>
            <a:r>
              <a:rPr lang="es-ES" sz="1600" b="1" dirty="0">
                <a:solidFill>
                  <a:srgbClr val="FF0000"/>
                </a:solidFill>
                <a:latin typeface="Adobe Gothic Std B" pitchFamily="34" charset="-128"/>
                <a:ea typeface="Adobe Gothic Std B" pitchFamily="34" charset="-128"/>
              </a:rPr>
              <a:t>	- De tipo de dato simple (3, ‘c’, 4.15, ..)</a:t>
            </a:r>
          </a:p>
          <a:p>
            <a:r>
              <a:rPr lang="es-ES" sz="1600" b="1" dirty="0">
                <a:solidFill>
                  <a:srgbClr val="FF0000"/>
                </a:solidFill>
                <a:latin typeface="Adobe Gothic Std B" pitchFamily="34" charset="-128"/>
                <a:ea typeface="Adobe Gothic Std B" pitchFamily="34" charset="-128"/>
              </a:rPr>
              <a:t>	- El valor </a:t>
            </a:r>
            <a:r>
              <a:rPr lang="es-ES" sz="1600" b="1" dirty="0" err="1">
                <a:solidFill>
                  <a:srgbClr val="FF0000"/>
                </a:solidFill>
                <a:latin typeface="Adobe Gothic Std B" pitchFamily="34" charset="-128"/>
                <a:ea typeface="Adobe Gothic Std B" pitchFamily="34" charset="-128"/>
              </a:rPr>
              <a:t>null</a:t>
            </a:r>
            <a:endParaRPr lang="es-ES" sz="1600" b="1" dirty="0">
              <a:solidFill>
                <a:srgbClr val="FF0000"/>
              </a:solidFill>
              <a:latin typeface="Adobe Gothic Std B" pitchFamily="34" charset="-128"/>
              <a:ea typeface="Adobe Gothic Std B" pitchFamily="34" charset="-128"/>
            </a:endParaRPr>
          </a:p>
          <a:p>
            <a:r>
              <a:rPr lang="es-ES" sz="1600" b="1" dirty="0">
                <a:solidFill>
                  <a:srgbClr val="FF0000"/>
                </a:solidFill>
                <a:latin typeface="Adobe Gothic Std B" pitchFamily="34" charset="-128"/>
                <a:ea typeface="Adobe Gothic Std B" pitchFamily="34" charset="-128"/>
              </a:rPr>
              <a:t>	- Un </a:t>
            </a:r>
            <a:r>
              <a:rPr lang="es-ES" sz="1600" b="1" dirty="0" err="1">
                <a:solidFill>
                  <a:srgbClr val="FF0000"/>
                </a:solidFill>
                <a:latin typeface="Adobe Gothic Std B" pitchFamily="34" charset="-128"/>
                <a:ea typeface="Adobe Gothic Std B" pitchFamily="34" charset="-128"/>
              </a:rPr>
              <a:t>string</a:t>
            </a:r>
            <a:r>
              <a:rPr lang="es-ES" sz="1600" b="1" dirty="0">
                <a:solidFill>
                  <a:srgbClr val="FF0000"/>
                </a:solidFill>
                <a:latin typeface="Adobe Gothic Std B" pitchFamily="34" charset="-128"/>
                <a:ea typeface="Adobe Gothic Std B" pitchFamily="34" charset="-128"/>
              </a:rPr>
              <a:t> o cadena de caracteres (‘</a:t>
            </a:r>
            <a:r>
              <a:rPr lang="es-ES" sz="1600" b="1" dirty="0" err="1">
                <a:solidFill>
                  <a:srgbClr val="FF0000"/>
                </a:solidFill>
                <a:latin typeface="Adobe Gothic Std B" pitchFamily="34" charset="-128"/>
                <a:ea typeface="Adobe Gothic Std B" pitchFamily="34" charset="-128"/>
              </a:rPr>
              <a:t>hola’,’Félix</a:t>
            </a:r>
            <a:r>
              <a:rPr lang="es-ES" sz="1600" b="1" dirty="0">
                <a:solidFill>
                  <a:srgbClr val="FF0000"/>
                </a:solidFill>
                <a:latin typeface="Adobe Gothic Std B" pitchFamily="34" charset="-128"/>
                <a:ea typeface="Adobe Gothic Std B" pitchFamily="34" charset="-128"/>
              </a:rPr>
              <a:t>’)</a:t>
            </a:r>
            <a:endParaRPr lang="es-ES" sz="1800" dirty="0">
              <a:solidFill>
                <a:srgbClr val="FF0000"/>
              </a:solidFill>
              <a:latin typeface="Adobe Garamond Pro" pitchFamily="18" charset="0"/>
              <a:ea typeface="Adobe Gothic Std B" pitchFamily="34" charset="-128"/>
            </a:endParaRPr>
          </a:p>
        </p:txBody>
      </p:sp>
    </p:spTree>
    <p:extLst>
      <p:ext uri="{BB962C8B-B14F-4D97-AF65-F5344CB8AC3E}">
        <p14:creationId xmlns:p14="http://schemas.microsoft.com/office/powerpoint/2010/main" val="27097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anim calcmode="lin" valueType="num">
                                      <p:cBhvr>
                                        <p:cTn id="7" dur="500" fill="hold"/>
                                        <p:tgtEl>
                                          <p:spTgt spid="90"/>
                                        </p:tgtEl>
                                        <p:attrNameLst>
                                          <p:attrName>ppt_w</p:attrName>
                                        </p:attrNameLst>
                                      </p:cBhvr>
                                      <p:tavLst>
                                        <p:tav tm="0">
                                          <p:val>
                                            <p:fltVal val="0"/>
                                          </p:val>
                                        </p:tav>
                                        <p:tav tm="100000">
                                          <p:val>
                                            <p:strVal val="#ppt_w"/>
                                          </p:val>
                                        </p:tav>
                                      </p:tavLst>
                                    </p:anim>
                                    <p:anim calcmode="lin" valueType="num">
                                      <p:cBhvr>
                                        <p:cTn id="8" dur="500" fill="hold"/>
                                        <p:tgtEl>
                                          <p:spTgt spid="90"/>
                                        </p:tgtEl>
                                        <p:attrNameLst>
                                          <p:attrName>ppt_h</p:attrName>
                                        </p:attrNameLst>
                                      </p:cBhvr>
                                      <p:tavLst>
                                        <p:tav tm="0">
                                          <p:val>
                                            <p:fltVal val="0"/>
                                          </p:val>
                                        </p:tav>
                                        <p:tav tm="100000">
                                          <p:val>
                                            <p:strVal val="#ppt_h"/>
                                          </p:val>
                                        </p:tav>
                                      </p:tavLst>
                                    </p:anim>
                                    <p:animEffect transition="in" filter="fade">
                                      <p:cBhvr>
                                        <p:cTn id="9" dur="500"/>
                                        <p:tgtEl>
                                          <p:spTgt spid="90"/>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2" fill="hold" nodeType="clickEffect">
                                  <p:stCondLst>
                                    <p:cond delay="0"/>
                                  </p:stCondLst>
                                  <p:childTnLst>
                                    <p:set>
                                      <p:cBhvr>
                                        <p:cTn id="18" dur="1" fill="hold">
                                          <p:stCondLst>
                                            <p:cond delay="0"/>
                                          </p:stCondLst>
                                        </p:cTn>
                                        <p:tgtEl>
                                          <p:spTgt spid="93"/>
                                        </p:tgtEl>
                                        <p:attrNameLst>
                                          <p:attrName>style.visibility</p:attrName>
                                        </p:attrNameLst>
                                      </p:cBhvr>
                                      <p:to>
                                        <p:strVal val="visible"/>
                                      </p:to>
                                    </p:set>
                                    <p:animEffect transition="in" filter="wipe(right)">
                                      <p:cBhvr>
                                        <p:cTn id="19" dur="500"/>
                                        <p:tgtEl>
                                          <p:spTgt spid="93"/>
                                        </p:tgtEl>
                                      </p:cBhvr>
                                    </p:animEffect>
                                  </p:childTnLst>
                                </p:cTn>
                              </p:par>
                            </p:childTnLst>
                          </p:cTn>
                        </p:par>
                        <p:par>
                          <p:cTn id="20" fill="hold">
                            <p:stCondLst>
                              <p:cond delay="500"/>
                            </p:stCondLst>
                            <p:childTnLst>
                              <p:par>
                                <p:cTn id="21" presetID="53" presetClass="entr" presetSubtype="16" fill="hold" grpId="0" nodeType="after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p:cTn id="23" dur="500" fill="hold"/>
                                        <p:tgtEl>
                                          <p:spTgt spid="15"/>
                                        </p:tgtEl>
                                        <p:attrNameLst>
                                          <p:attrName>ppt_w</p:attrName>
                                        </p:attrNameLst>
                                      </p:cBhvr>
                                      <p:tavLst>
                                        <p:tav tm="0">
                                          <p:val>
                                            <p:fltVal val="0"/>
                                          </p:val>
                                        </p:tav>
                                        <p:tav tm="100000">
                                          <p:val>
                                            <p:strVal val="#ppt_w"/>
                                          </p:val>
                                        </p:tav>
                                      </p:tavLst>
                                    </p:anim>
                                    <p:anim calcmode="lin" valueType="num">
                                      <p:cBhvr>
                                        <p:cTn id="24" dur="500" fill="hold"/>
                                        <p:tgtEl>
                                          <p:spTgt spid="15"/>
                                        </p:tgtEl>
                                        <p:attrNameLst>
                                          <p:attrName>ppt_h</p:attrName>
                                        </p:attrNameLst>
                                      </p:cBhvr>
                                      <p:tavLst>
                                        <p:tav tm="0">
                                          <p:val>
                                            <p:fltVal val="0"/>
                                          </p:val>
                                        </p:tav>
                                        <p:tav tm="100000">
                                          <p:val>
                                            <p:strVal val="#ppt_h"/>
                                          </p:val>
                                        </p:tav>
                                      </p:tavLst>
                                    </p:anim>
                                    <p:animEffect transition="in" filter="fade">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p:cTn id="35" dur="500" fill="hold"/>
                                        <p:tgtEl>
                                          <p:spTgt spid="16"/>
                                        </p:tgtEl>
                                        <p:attrNameLst>
                                          <p:attrName>ppt_w</p:attrName>
                                        </p:attrNameLst>
                                      </p:cBhvr>
                                      <p:tavLst>
                                        <p:tav tm="0">
                                          <p:val>
                                            <p:fltVal val="0"/>
                                          </p:val>
                                        </p:tav>
                                        <p:tav tm="100000">
                                          <p:val>
                                            <p:strVal val="#ppt_w"/>
                                          </p:val>
                                        </p:tav>
                                      </p:tavLst>
                                    </p:anim>
                                    <p:anim calcmode="lin" valueType="num">
                                      <p:cBhvr>
                                        <p:cTn id="36" dur="500" fill="hold"/>
                                        <p:tgtEl>
                                          <p:spTgt spid="16"/>
                                        </p:tgtEl>
                                        <p:attrNameLst>
                                          <p:attrName>ppt_h</p:attrName>
                                        </p:attrNameLst>
                                      </p:cBhvr>
                                      <p:tavLst>
                                        <p:tav tm="0">
                                          <p:val>
                                            <p:fltVal val="0"/>
                                          </p:val>
                                        </p:tav>
                                        <p:tav tm="100000">
                                          <p:val>
                                            <p:strVal val="#ppt_h"/>
                                          </p:val>
                                        </p:tav>
                                      </p:tavLst>
                                    </p:anim>
                                    <p:animEffect transition="in" filter="fade">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fade">
                                      <p:cBhvr>
                                        <p:cTn id="4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6" grpId="0"/>
      <p:bldP spid="20" grpId="0"/>
      <p:bldP spid="90" grpId="0"/>
      <p:bldP spid="3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Constantes y literales</a:t>
            </a:r>
          </a:p>
        </p:txBody>
      </p:sp>
      <p:pic>
        <p:nvPicPr>
          <p:cNvPr id="3" name="Imagen 2"/>
          <p:cNvPicPr>
            <a:picLocks noChangeAspect="1"/>
          </p:cNvPicPr>
          <p:nvPr/>
        </p:nvPicPr>
        <p:blipFill rotWithShape="1">
          <a:blip r:embed="rId2"/>
          <a:srcRect l="8263" t="51400" r="40550" b="13600"/>
          <a:stretch/>
        </p:blipFill>
        <p:spPr>
          <a:xfrm>
            <a:off x="557439" y="1772816"/>
            <a:ext cx="8050494" cy="3096344"/>
          </a:xfrm>
          <a:prstGeom prst="rect">
            <a:avLst/>
          </a:prstGeom>
        </p:spPr>
      </p:pic>
    </p:spTree>
    <p:extLst>
      <p:ext uri="{BB962C8B-B14F-4D97-AF65-F5344CB8AC3E}">
        <p14:creationId xmlns:p14="http://schemas.microsoft.com/office/powerpoint/2010/main" val="40619052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851420" y="53975"/>
            <a:ext cx="7392988" cy="563563"/>
          </a:xfrm>
        </p:spPr>
        <p:txBody>
          <a:bodyPr/>
          <a:lstStyle/>
          <a:p>
            <a:r>
              <a:rPr lang="en-US" dirty="0"/>
              <a:t>Las Variables</a:t>
            </a:r>
            <a:endParaRPr lang="en-US" dirty="0">
              <a:solidFill>
                <a:schemeClr val="accent1"/>
              </a:solidFill>
            </a:endParaRPr>
          </a:p>
        </p:txBody>
      </p:sp>
      <p:sp>
        <p:nvSpPr>
          <p:cNvPr id="2" name="1 CuadroTexto"/>
          <p:cNvSpPr txBox="1"/>
          <p:nvPr/>
        </p:nvSpPr>
        <p:spPr>
          <a:xfrm>
            <a:off x="683944" y="1339750"/>
            <a:ext cx="7776488" cy="384721"/>
          </a:xfrm>
          <a:prstGeom prst="rect">
            <a:avLst/>
          </a:prstGeom>
          <a:noFill/>
        </p:spPr>
        <p:txBody>
          <a:bodyPr wrap="none" rtlCol="0">
            <a:spAutoFit/>
          </a:bodyPr>
          <a:lstStyle/>
          <a:p>
            <a:r>
              <a:rPr lang="es-ES" dirty="0">
                <a:solidFill>
                  <a:srgbClr val="0070C0"/>
                </a:solidFill>
              </a:rPr>
              <a:t>Un vehículo marcha a </a:t>
            </a:r>
            <a:r>
              <a:rPr lang="es-ES" b="1" dirty="0">
                <a:solidFill>
                  <a:schemeClr val="accent4">
                    <a:lumMod val="90000"/>
                    <a:lumOff val="10000"/>
                  </a:schemeClr>
                </a:solidFill>
              </a:rPr>
              <a:t>100</a:t>
            </a:r>
            <a:r>
              <a:rPr lang="es-ES" dirty="0">
                <a:solidFill>
                  <a:srgbClr val="0070C0"/>
                </a:solidFill>
              </a:rPr>
              <a:t> Km/h ¿Cuántos km recorrerá en </a:t>
            </a:r>
            <a:r>
              <a:rPr lang="es-ES" b="1" dirty="0">
                <a:solidFill>
                  <a:schemeClr val="accent4">
                    <a:lumMod val="90000"/>
                    <a:lumOff val="10000"/>
                  </a:schemeClr>
                </a:solidFill>
              </a:rPr>
              <a:t>3</a:t>
            </a:r>
            <a:r>
              <a:rPr lang="es-ES" dirty="0">
                <a:solidFill>
                  <a:srgbClr val="0070C0"/>
                </a:solidFill>
              </a:rPr>
              <a:t> horas?</a:t>
            </a:r>
          </a:p>
        </p:txBody>
      </p:sp>
      <p:sp>
        <p:nvSpPr>
          <p:cNvPr id="3" name="2 CuadroTexto"/>
          <p:cNvSpPr txBox="1"/>
          <p:nvPr/>
        </p:nvSpPr>
        <p:spPr>
          <a:xfrm>
            <a:off x="1579714" y="1844824"/>
            <a:ext cx="1845377" cy="923330"/>
          </a:xfrm>
          <a:prstGeom prst="rect">
            <a:avLst/>
          </a:prstGeom>
          <a:noFill/>
        </p:spPr>
        <p:txBody>
          <a:bodyPr wrap="none" rtlCol="0">
            <a:spAutoFit/>
          </a:bodyPr>
          <a:lstStyle/>
          <a:p>
            <a:r>
              <a:rPr lang="es-ES" sz="1800" dirty="0">
                <a:solidFill>
                  <a:srgbClr val="FF0000"/>
                </a:solidFill>
              </a:rPr>
              <a:t>velocidad</a:t>
            </a:r>
            <a:r>
              <a:rPr lang="es-ES" sz="1800" dirty="0"/>
              <a:t> = 100</a:t>
            </a:r>
          </a:p>
          <a:p>
            <a:r>
              <a:rPr lang="es-ES" sz="1800" dirty="0">
                <a:solidFill>
                  <a:srgbClr val="FF0000"/>
                </a:solidFill>
              </a:rPr>
              <a:t>tiempo</a:t>
            </a:r>
            <a:r>
              <a:rPr lang="es-ES" sz="1800" dirty="0"/>
              <a:t> =         3</a:t>
            </a:r>
          </a:p>
          <a:p>
            <a:r>
              <a:rPr lang="es-ES" sz="1800" dirty="0">
                <a:solidFill>
                  <a:srgbClr val="FF6600"/>
                </a:solidFill>
              </a:rPr>
              <a:t>distancia</a:t>
            </a:r>
            <a:r>
              <a:rPr lang="es-ES" sz="1800" dirty="0"/>
              <a:t> =      ?</a:t>
            </a:r>
          </a:p>
        </p:txBody>
      </p:sp>
      <p:sp>
        <p:nvSpPr>
          <p:cNvPr id="6" name="5 CuadroTexto"/>
          <p:cNvSpPr txBox="1"/>
          <p:nvPr/>
        </p:nvSpPr>
        <p:spPr>
          <a:xfrm>
            <a:off x="5004048" y="1916832"/>
            <a:ext cx="3243196" cy="369332"/>
          </a:xfrm>
          <a:prstGeom prst="rect">
            <a:avLst/>
          </a:prstGeom>
          <a:noFill/>
        </p:spPr>
        <p:txBody>
          <a:bodyPr wrap="none" rtlCol="0">
            <a:spAutoFit/>
          </a:bodyPr>
          <a:lstStyle/>
          <a:p>
            <a:r>
              <a:rPr lang="es-ES" sz="1800" dirty="0">
                <a:solidFill>
                  <a:srgbClr val="FF6600"/>
                </a:solidFill>
              </a:rPr>
              <a:t>distancia</a:t>
            </a:r>
            <a:r>
              <a:rPr lang="es-ES" sz="1800" dirty="0"/>
              <a:t> = </a:t>
            </a:r>
            <a:r>
              <a:rPr lang="es-ES" sz="1800" dirty="0">
                <a:solidFill>
                  <a:srgbClr val="FF0000"/>
                </a:solidFill>
              </a:rPr>
              <a:t>velocidad</a:t>
            </a:r>
            <a:r>
              <a:rPr lang="es-ES" sz="1800" dirty="0"/>
              <a:t> x </a:t>
            </a:r>
            <a:r>
              <a:rPr lang="es-ES" sz="1800" dirty="0">
                <a:solidFill>
                  <a:srgbClr val="FF0000"/>
                </a:solidFill>
              </a:rPr>
              <a:t>tiempo</a:t>
            </a:r>
            <a:endParaRPr lang="es-ES" sz="1800" dirty="0"/>
          </a:p>
        </p:txBody>
      </p:sp>
      <p:sp>
        <p:nvSpPr>
          <p:cNvPr id="7" name="6 CuadroTexto"/>
          <p:cNvSpPr txBox="1"/>
          <p:nvPr/>
        </p:nvSpPr>
        <p:spPr>
          <a:xfrm>
            <a:off x="5015662" y="2271008"/>
            <a:ext cx="2887329" cy="369332"/>
          </a:xfrm>
          <a:prstGeom prst="rect">
            <a:avLst/>
          </a:prstGeom>
          <a:noFill/>
        </p:spPr>
        <p:txBody>
          <a:bodyPr wrap="none" rtlCol="0">
            <a:spAutoFit/>
          </a:bodyPr>
          <a:lstStyle/>
          <a:p>
            <a:r>
              <a:rPr lang="es-ES" sz="1800" dirty="0">
                <a:solidFill>
                  <a:srgbClr val="FF6600"/>
                </a:solidFill>
              </a:rPr>
              <a:t>distancia</a:t>
            </a:r>
            <a:r>
              <a:rPr lang="es-ES" sz="1800" dirty="0"/>
              <a:t>  </a:t>
            </a:r>
            <a:r>
              <a:rPr lang="es-ES" sz="1800" b="1" dirty="0">
                <a:sym typeface="Symbol"/>
              </a:rPr>
              <a:t>  </a:t>
            </a:r>
            <a:r>
              <a:rPr lang="es-ES" sz="1800" dirty="0">
                <a:solidFill>
                  <a:srgbClr val="FF0000"/>
                </a:solidFill>
              </a:rPr>
              <a:t>100</a:t>
            </a:r>
            <a:r>
              <a:rPr lang="es-ES" sz="1800" dirty="0"/>
              <a:t>       x    </a:t>
            </a:r>
            <a:r>
              <a:rPr lang="es-ES" sz="1800" dirty="0">
                <a:solidFill>
                  <a:srgbClr val="FF0000"/>
                </a:solidFill>
              </a:rPr>
              <a:t>3</a:t>
            </a:r>
            <a:endParaRPr lang="es-ES" sz="1800" dirty="0"/>
          </a:p>
        </p:txBody>
      </p:sp>
      <p:grpSp>
        <p:nvGrpSpPr>
          <p:cNvPr id="16" name="15 Grupo"/>
          <p:cNvGrpSpPr/>
          <p:nvPr/>
        </p:nvGrpSpPr>
        <p:grpSpPr>
          <a:xfrm>
            <a:off x="190942" y="1927969"/>
            <a:ext cx="1347119" cy="769442"/>
            <a:chOff x="179512" y="1905109"/>
            <a:chExt cx="1347119" cy="769442"/>
          </a:xfrm>
        </p:grpSpPr>
        <p:sp>
          <p:nvSpPr>
            <p:cNvPr id="8" name="7 Abrir llave"/>
            <p:cNvSpPr/>
            <p:nvPr/>
          </p:nvSpPr>
          <p:spPr bwMode="auto">
            <a:xfrm>
              <a:off x="1259632" y="1905109"/>
              <a:ext cx="266999" cy="769442"/>
            </a:xfrm>
            <a:prstGeom prst="leftBrace">
              <a:avLst>
                <a:gd name="adj1" fmla="val 28091"/>
                <a:gd name="adj2" fmla="val 48476"/>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 name="8 CuadroTexto"/>
            <p:cNvSpPr txBox="1"/>
            <p:nvPr/>
          </p:nvSpPr>
          <p:spPr>
            <a:xfrm>
              <a:off x="179512" y="2093114"/>
              <a:ext cx="1107996" cy="369332"/>
            </a:xfrm>
            <a:prstGeom prst="rect">
              <a:avLst/>
            </a:prstGeom>
            <a:noFill/>
          </p:spPr>
          <p:txBody>
            <a:bodyPr wrap="none" rtlCol="0">
              <a:spAutoFit/>
            </a:bodyPr>
            <a:lstStyle/>
            <a:p>
              <a:r>
                <a:rPr lang="es-ES" sz="1800" dirty="0">
                  <a:solidFill>
                    <a:srgbClr val="009900"/>
                  </a:solidFill>
                </a:rPr>
                <a:t>variables</a:t>
              </a:r>
            </a:p>
          </p:txBody>
        </p:sp>
      </p:grpSp>
      <p:grpSp>
        <p:nvGrpSpPr>
          <p:cNvPr id="29" name="28 Grupo"/>
          <p:cNvGrpSpPr/>
          <p:nvPr/>
        </p:nvGrpSpPr>
        <p:grpSpPr>
          <a:xfrm>
            <a:off x="3422225" y="1916833"/>
            <a:ext cx="1221783" cy="506328"/>
            <a:chOff x="3422225" y="1905403"/>
            <a:chExt cx="1221783" cy="506328"/>
          </a:xfrm>
        </p:grpSpPr>
        <p:sp>
          <p:nvSpPr>
            <p:cNvPr id="12" name="11 Abrir llave"/>
            <p:cNvSpPr/>
            <p:nvPr/>
          </p:nvSpPr>
          <p:spPr bwMode="auto">
            <a:xfrm flipH="1">
              <a:off x="3422225" y="1905403"/>
              <a:ext cx="155365" cy="506328"/>
            </a:xfrm>
            <a:prstGeom prst="leftBrace">
              <a:avLst>
                <a:gd name="adj1" fmla="val 28091"/>
                <a:gd name="adj2" fmla="val 48476"/>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3" name="12 CuadroTexto"/>
            <p:cNvSpPr txBox="1"/>
            <p:nvPr/>
          </p:nvSpPr>
          <p:spPr>
            <a:xfrm>
              <a:off x="3664253" y="1985337"/>
              <a:ext cx="979755" cy="369332"/>
            </a:xfrm>
            <a:prstGeom prst="rect">
              <a:avLst/>
            </a:prstGeom>
            <a:noFill/>
          </p:spPr>
          <p:txBody>
            <a:bodyPr wrap="none" rtlCol="0">
              <a:spAutoFit/>
            </a:bodyPr>
            <a:lstStyle/>
            <a:p>
              <a:r>
                <a:rPr lang="es-ES" sz="1800" dirty="0">
                  <a:solidFill>
                    <a:srgbClr val="009900"/>
                  </a:solidFill>
                </a:rPr>
                <a:t>literales</a:t>
              </a:r>
            </a:p>
          </p:txBody>
        </p:sp>
      </p:grpSp>
      <p:graphicFrame>
        <p:nvGraphicFramePr>
          <p:cNvPr id="10" name="9 Tabla"/>
          <p:cNvGraphicFramePr>
            <a:graphicFrameLocks noGrp="1"/>
          </p:cNvGraphicFramePr>
          <p:nvPr>
            <p:extLst>
              <p:ext uri="{D42A27DB-BD31-4B8C-83A1-F6EECF244321}">
                <p14:modId xmlns:p14="http://schemas.microsoft.com/office/powerpoint/2010/main" val="2121230343"/>
              </p:ext>
            </p:extLst>
          </p:nvPr>
        </p:nvGraphicFramePr>
        <p:xfrm>
          <a:off x="539552" y="3523896"/>
          <a:ext cx="8208912" cy="311274"/>
        </p:xfrm>
        <a:graphic>
          <a:graphicData uri="http://schemas.openxmlformats.org/drawingml/2006/table">
            <a:tbl>
              <a:tblPr>
                <a:tableStyleId>{5C22544A-7EE6-4342-B048-85BDC9FD1C3A}</a:tableStyleId>
              </a:tblPr>
              <a:tblGrid>
                <a:gridCol w="453399">
                  <a:extLst>
                    <a:ext uri="{9D8B030D-6E8A-4147-A177-3AD203B41FA5}">
                      <a16:colId xmlns:a16="http://schemas.microsoft.com/office/drawing/2014/main" val="20000"/>
                    </a:ext>
                  </a:extLst>
                </a:gridCol>
                <a:gridCol w="453399">
                  <a:extLst>
                    <a:ext uri="{9D8B030D-6E8A-4147-A177-3AD203B41FA5}">
                      <a16:colId xmlns:a16="http://schemas.microsoft.com/office/drawing/2014/main" val="20001"/>
                    </a:ext>
                  </a:extLst>
                </a:gridCol>
                <a:gridCol w="453399">
                  <a:extLst>
                    <a:ext uri="{9D8B030D-6E8A-4147-A177-3AD203B41FA5}">
                      <a16:colId xmlns:a16="http://schemas.microsoft.com/office/drawing/2014/main" val="20002"/>
                    </a:ext>
                  </a:extLst>
                </a:gridCol>
                <a:gridCol w="453399">
                  <a:extLst>
                    <a:ext uri="{9D8B030D-6E8A-4147-A177-3AD203B41FA5}">
                      <a16:colId xmlns:a16="http://schemas.microsoft.com/office/drawing/2014/main" val="20003"/>
                    </a:ext>
                  </a:extLst>
                </a:gridCol>
                <a:gridCol w="453399">
                  <a:extLst>
                    <a:ext uri="{9D8B030D-6E8A-4147-A177-3AD203B41FA5}">
                      <a16:colId xmlns:a16="http://schemas.microsoft.com/office/drawing/2014/main" val="20004"/>
                    </a:ext>
                  </a:extLst>
                </a:gridCol>
                <a:gridCol w="453399">
                  <a:extLst>
                    <a:ext uri="{9D8B030D-6E8A-4147-A177-3AD203B41FA5}">
                      <a16:colId xmlns:a16="http://schemas.microsoft.com/office/drawing/2014/main" val="20005"/>
                    </a:ext>
                  </a:extLst>
                </a:gridCol>
                <a:gridCol w="453399">
                  <a:extLst>
                    <a:ext uri="{9D8B030D-6E8A-4147-A177-3AD203B41FA5}">
                      <a16:colId xmlns:a16="http://schemas.microsoft.com/office/drawing/2014/main" val="20006"/>
                    </a:ext>
                  </a:extLst>
                </a:gridCol>
                <a:gridCol w="453399">
                  <a:extLst>
                    <a:ext uri="{9D8B030D-6E8A-4147-A177-3AD203B41FA5}">
                      <a16:colId xmlns:a16="http://schemas.microsoft.com/office/drawing/2014/main" val="20007"/>
                    </a:ext>
                  </a:extLst>
                </a:gridCol>
                <a:gridCol w="381810">
                  <a:extLst>
                    <a:ext uri="{9D8B030D-6E8A-4147-A177-3AD203B41FA5}">
                      <a16:colId xmlns:a16="http://schemas.microsoft.com/office/drawing/2014/main" val="20008"/>
                    </a:ext>
                  </a:extLst>
                </a:gridCol>
                <a:gridCol w="381810">
                  <a:extLst>
                    <a:ext uri="{9D8B030D-6E8A-4147-A177-3AD203B41FA5}">
                      <a16:colId xmlns:a16="http://schemas.microsoft.com/office/drawing/2014/main" val="20009"/>
                    </a:ext>
                  </a:extLst>
                </a:gridCol>
                <a:gridCol w="381810">
                  <a:extLst>
                    <a:ext uri="{9D8B030D-6E8A-4147-A177-3AD203B41FA5}">
                      <a16:colId xmlns:a16="http://schemas.microsoft.com/office/drawing/2014/main" val="20010"/>
                    </a:ext>
                  </a:extLst>
                </a:gridCol>
                <a:gridCol w="381810">
                  <a:extLst>
                    <a:ext uri="{9D8B030D-6E8A-4147-A177-3AD203B41FA5}">
                      <a16:colId xmlns:a16="http://schemas.microsoft.com/office/drawing/2014/main" val="20011"/>
                    </a:ext>
                  </a:extLst>
                </a:gridCol>
                <a:gridCol w="381810">
                  <a:extLst>
                    <a:ext uri="{9D8B030D-6E8A-4147-A177-3AD203B41FA5}">
                      <a16:colId xmlns:a16="http://schemas.microsoft.com/office/drawing/2014/main" val="20012"/>
                    </a:ext>
                  </a:extLst>
                </a:gridCol>
                <a:gridCol w="381810">
                  <a:extLst>
                    <a:ext uri="{9D8B030D-6E8A-4147-A177-3AD203B41FA5}">
                      <a16:colId xmlns:a16="http://schemas.microsoft.com/office/drawing/2014/main" val="20013"/>
                    </a:ext>
                  </a:extLst>
                </a:gridCol>
                <a:gridCol w="381810">
                  <a:extLst>
                    <a:ext uri="{9D8B030D-6E8A-4147-A177-3AD203B41FA5}">
                      <a16:colId xmlns:a16="http://schemas.microsoft.com/office/drawing/2014/main" val="20014"/>
                    </a:ext>
                  </a:extLst>
                </a:gridCol>
                <a:gridCol w="381810">
                  <a:extLst>
                    <a:ext uri="{9D8B030D-6E8A-4147-A177-3AD203B41FA5}">
                      <a16:colId xmlns:a16="http://schemas.microsoft.com/office/drawing/2014/main" val="20015"/>
                    </a:ext>
                  </a:extLst>
                </a:gridCol>
                <a:gridCol w="381810">
                  <a:extLst>
                    <a:ext uri="{9D8B030D-6E8A-4147-A177-3AD203B41FA5}">
                      <a16:colId xmlns:a16="http://schemas.microsoft.com/office/drawing/2014/main" val="20016"/>
                    </a:ext>
                  </a:extLst>
                </a:gridCol>
                <a:gridCol w="381810">
                  <a:extLst>
                    <a:ext uri="{9D8B030D-6E8A-4147-A177-3AD203B41FA5}">
                      <a16:colId xmlns:a16="http://schemas.microsoft.com/office/drawing/2014/main" val="20017"/>
                    </a:ext>
                  </a:extLst>
                </a:gridCol>
                <a:gridCol w="381810">
                  <a:extLst>
                    <a:ext uri="{9D8B030D-6E8A-4147-A177-3AD203B41FA5}">
                      <a16:colId xmlns:a16="http://schemas.microsoft.com/office/drawing/2014/main" val="20018"/>
                    </a:ext>
                  </a:extLst>
                </a:gridCol>
                <a:gridCol w="381810">
                  <a:extLst>
                    <a:ext uri="{9D8B030D-6E8A-4147-A177-3AD203B41FA5}">
                      <a16:colId xmlns:a16="http://schemas.microsoft.com/office/drawing/2014/main" val="20019"/>
                    </a:ext>
                  </a:extLst>
                </a:gridCol>
              </a:tblGrid>
              <a:tr h="311274">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extLst>
                  <a:ext uri="{0D108BD9-81ED-4DB2-BD59-A6C34878D82A}">
                    <a16:rowId xmlns:a16="http://schemas.microsoft.com/office/drawing/2014/main" val="10000"/>
                  </a:ext>
                </a:extLst>
              </a:tr>
            </a:tbl>
          </a:graphicData>
        </a:graphic>
      </p:graphicFrame>
      <p:sp>
        <p:nvSpPr>
          <p:cNvPr id="15" name="14 CuadroTexto"/>
          <p:cNvSpPr txBox="1"/>
          <p:nvPr/>
        </p:nvSpPr>
        <p:spPr>
          <a:xfrm>
            <a:off x="4061156" y="3872010"/>
            <a:ext cx="1165704" cy="338554"/>
          </a:xfrm>
          <a:prstGeom prst="rect">
            <a:avLst/>
          </a:prstGeom>
          <a:noFill/>
        </p:spPr>
        <p:txBody>
          <a:bodyPr wrap="none" rtlCol="0">
            <a:spAutoFit/>
          </a:bodyPr>
          <a:lstStyle/>
          <a:p>
            <a:r>
              <a:rPr lang="es-ES" sz="1600" dirty="0">
                <a:solidFill>
                  <a:schemeClr val="tx2">
                    <a:lumMod val="50000"/>
                  </a:schemeClr>
                </a:solidFill>
              </a:rPr>
              <a:t>MEMORIA</a:t>
            </a:r>
          </a:p>
        </p:txBody>
      </p:sp>
      <p:grpSp>
        <p:nvGrpSpPr>
          <p:cNvPr id="38" name="37 Grupo"/>
          <p:cNvGrpSpPr/>
          <p:nvPr/>
        </p:nvGrpSpPr>
        <p:grpSpPr>
          <a:xfrm>
            <a:off x="1512478" y="3505653"/>
            <a:ext cx="1223945" cy="369332"/>
            <a:chOff x="1512478" y="3505653"/>
            <a:chExt cx="1223945" cy="369332"/>
          </a:xfrm>
        </p:grpSpPr>
        <p:sp>
          <p:nvSpPr>
            <p:cNvPr id="11" name="10 CuadroTexto"/>
            <p:cNvSpPr txBox="1"/>
            <p:nvPr/>
          </p:nvSpPr>
          <p:spPr>
            <a:xfrm>
              <a:off x="1512478" y="3505653"/>
              <a:ext cx="312906" cy="369332"/>
            </a:xfrm>
            <a:prstGeom prst="rect">
              <a:avLst/>
            </a:prstGeom>
            <a:noFill/>
          </p:spPr>
          <p:txBody>
            <a:bodyPr wrap="none" rtlCol="0">
              <a:spAutoFit/>
            </a:bodyPr>
            <a:lstStyle/>
            <a:p>
              <a:pPr algn="ctr"/>
              <a:r>
                <a:rPr lang="es-ES" sz="1800" dirty="0"/>
                <a:t>1</a:t>
              </a:r>
            </a:p>
          </p:txBody>
        </p:sp>
        <p:sp>
          <p:nvSpPr>
            <p:cNvPr id="17" name="16 CuadroTexto"/>
            <p:cNvSpPr txBox="1"/>
            <p:nvPr/>
          </p:nvSpPr>
          <p:spPr>
            <a:xfrm>
              <a:off x="1966319" y="3505653"/>
              <a:ext cx="312906" cy="369332"/>
            </a:xfrm>
            <a:prstGeom prst="rect">
              <a:avLst/>
            </a:prstGeom>
            <a:noFill/>
          </p:spPr>
          <p:txBody>
            <a:bodyPr wrap="none" rtlCol="0">
              <a:spAutoFit/>
            </a:bodyPr>
            <a:lstStyle/>
            <a:p>
              <a:pPr algn="ctr"/>
              <a:r>
                <a:rPr lang="es-ES" sz="1800" dirty="0"/>
                <a:t>0</a:t>
              </a:r>
            </a:p>
          </p:txBody>
        </p:sp>
        <p:sp>
          <p:nvSpPr>
            <p:cNvPr id="18" name="17 CuadroTexto"/>
            <p:cNvSpPr txBox="1"/>
            <p:nvPr/>
          </p:nvSpPr>
          <p:spPr>
            <a:xfrm>
              <a:off x="2423517" y="3505653"/>
              <a:ext cx="312906" cy="369332"/>
            </a:xfrm>
            <a:prstGeom prst="rect">
              <a:avLst/>
            </a:prstGeom>
            <a:noFill/>
          </p:spPr>
          <p:txBody>
            <a:bodyPr wrap="none" rtlCol="0">
              <a:spAutoFit/>
            </a:bodyPr>
            <a:lstStyle/>
            <a:p>
              <a:pPr algn="ctr"/>
              <a:r>
                <a:rPr lang="es-ES" sz="1800" dirty="0"/>
                <a:t>0</a:t>
              </a:r>
            </a:p>
          </p:txBody>
        </p:sp>
      </p:grpSp>
      <p:grpSp>
        <p:nvGrpSpPr>
          <p:cNvPr id="39" name="38 Grupo"/>
          <p:cNvGrpSpPr/>
          <p:nvPr/>
        </p:nvGrpSpPr>
        <p:grpSpPr>
          <a:xfrm>
            <a:off x="3334679" y="3505653"/>
            <a:ext cx="1165313" cy="369332"/>
            <a:chOff x="3334679" y="3505653"/>
            <a:chExt cx="1165313" cy="369332"/>
          </a:xfrm>
        </p:grpSpPr>
        <p:sp>
          <p:nvSpPr>
            <p:cNvPr id="20" name="19 CuadroTexto"/>
            <p:cNvSpPr txBox="1"/>
            <p:nvPr/>
          </p:nvSpPr>
          <p:spPr>
            <a:xfrm>
              <a:off x="4187086" y="3505653"/>
              <a:ext cx="312906" cy="369332"/>
            </a:xfrm>
            <a:prstGeom prst="rect">
              <a:avLst/>
            </a:prstGeom>
            <a:noFill/>
          </p:spPr>
          <p:txBody>
            <a:bodyPr wrap="none" rtlCol="0">
              <a:spAutoFit/>
            </a:bodyPr>
            <a:lstStyle/>
            <a:p>
              <a:pPr algn="ctr"/>
              <a:r>
                <a:rPr lang="es-ES" sz="1800" dirty="0"/>
                <a:t>3</a:t>
              </a:r>
            </a:p>
          </p:txBody>
        </p:sp>
        <p:sp>
          <p:nvSpPr>
            <p:cNvPr id="21" name="20 CuadroTexto"/>
            <p:cNvSpPr txBox="1"/>
            <p:nvPr/>
          </p:nvSpPr>
          <p:spPr>
            <a:xfrm>
              <a:off x="3334679" y="3505653"/>
              <a:ext cx="312906" cy="369332"/>
            </a:xfrm>
            <a:prstGeom prst="rect">
              <a:avLst/>
            </a:prstGeom>
            <a:noFill/>
          </p:spPr>
          <p:txBody>
            <a:bodyPr wrap="none" rtlCol="0">
              <a:spAutoFit/>
            </a:bodyPr>
            <a:lstStyle/>
            <a:p>
              <a:pPr algn="ctr"/>
              <a:r>
                <a:rPr lang="es-ES" sz="1800" dirty="0"/>
                <a:t>0</a:t>
              </a:r>
            </a:p>
          </p:txBody>
        </p:sp>
        <p:sp>
          <p:nvSpPr>
            <p:cNvPr id="22" name="21 CuadroTexto"/>
            <p:cNvSpPr txBox="1"/>
            <p:nvPr/>
          </p:nvSpPr>
          <p:spPr>
            <a:xfrm>
              <a:off x="3791877" y="3505653"/>
              <a:ext cx="312906" cy="369332"/>
            </a:xfrm>
            <a:prstGeom prst="rect">
              <a:avLst/>
            </a:prstGeom>
            <a:noFill/>
          </p:spPr>
          <p:txBody>
            <a:bodyPr wrap="none" rtlCol="0">
              <a:spAutoFit/>
            </a:bodyPr>
            <a:lstStyle/>
            <a:p>
              <a:pPr algn="ctr"/>
              <a:r>
                <a:rPr lang="es-ES" sz="1800" dirty="0"/>
                <a:t>0</a:t>
              </a:r>
            </a:p>
          </p:txBody>
        </p:sp>
      </p:grpSp>
      <p:grpSp>
        <p:nvGrpSpPr>
          <p:cNvPr id="40" name="39 Grupo"/>
          <p:cNvGrpSpPr/>
          <p:nvPr/>
        </p:nvGrpSpPr>
        <p:grpSpPr>
          <a:xfrm>
            <a:off x="6107856" y="3505653"/>
            <a:ext cx="1083306" cy="659567"/>
            <a:chOff x="6107856" y="3505653"/>
            <a:chExt cx="1083306" cy="659567"/>
          </a:xfrm>
        </p:grpSpPr>
        <p:sp>
          <p:nvSpPr>
            <p:cNvPr id="25" name="24 CuadroTexto"/>
            <p:cNvSpPr txBox="1"/>
            <p:nvPr/>
          </p:nvSpPr>
          <p:spPr>
            <a:xfrm>
              <a:off x="6107856" y="3510926"/>
              <a:ext cx="312906" cy="654294"/>
            </a:xfrm>
            <a:prstGeom prst="rect">
              <a:avLst/>
            </a:prstGeom>
            <a:noFill/>
          </p:spPr>
          <p:txBody>
            <a:bodyPr wrap="none" rtlCol="0">
              <a:spAutoFit/>
            </a:bodyPr>
            <a:lstStyle/>
            <a:p>
              <a:pPr algn="ctr"/>
              <a:r>
                <a:rPr lang="es-ES" sz="1800" dirty="0"/>
                <a:t>3</a:t>
              </a:r>
            </a:p>
          </p:txBody>
        </p:sp>
        <p:sp>
          <p:nvSpPr>
            <p:cNvPr id="26" name="25 CuadroTexto"/>
            <p:cNvSpPr txBox="1"/>
            <p:nvPr/>
          </p:nvSpPr>
          <p:spPr>
            <a:xfrm>
              <a:off x="6489638" y="3505653"/>
              <a:ext cx="312906" cy="369332"/>
            </a:xfrm>
            <a:prstGeom prst="rect">
              <a:avLst/>
            </a:prstGeom>
            <a:noFill/>
          </p:spPr>
          <p:txBody>
            <a:bodyPr wrap="none" rtlCol="0">
              <a:spAutoFit/>
            </a:bodyPr>
            <a:lstStyle/>
            <a:p>
              <a:pPr algn="ctr"/>
              <a:r>
                <a:rPr lang="es-ES" sz="1800" dirty="0"/>
                <a:t>0</a:t>
              </a:r>
            </a:p>
          </p:txBody>
        </p:sp>
        <p:sp>
          <p:nvSpPr>
            <p:cNvPr id="27" name="26 CuadroTexto"/>
            <p:cNvSpPr txBox="1"/>
            <p:nvPr/>
          </p:nvSpPr>
          <p:spPr>
            <a:xfrm>
              <a:off x="6878256" y="3505653"/>
              <a:ext cx="312906" cy="369332"/>
            </a:xfrm>
            <a:prstGeom prst="rect">
              <a:avLst/>
            </a:prstGeom>
            <a:noFill/>
          </p:spPr>
          <p:txBody>
            <a:bodyPr wrap="none" rtlCol="0">
              <a:spAutoFit/>
            </a:bodyPr>
            <a:lstStyle/>
            <a:p>
              <a:pPr algn="ctr"/>
              <a:r>
                <a:rPr lang="es-ES" sz="1800" dirty="0"/>
                <a:t>0</a:t>
              </a:r>
            </a:p>
          </p:txBody>
        </p:sp>
      </p:grpSp>
      <p:sp>
        <p:nvSpPr>
          <p:cNvPr id="28" name="27 CuadroTexto"/>
          <p:cNvSpPr txBox="1"/>
          <p:nvPr/>
        </p:nvSpPr>
        <p:spPr>
          <a:xfrm>
            <a:off x="1663556" y="4483242"/>
            <a:ext cx="5788764" cy="369332"/>
          </a:xfrm>
          <a:prstGeom prst="rect">
            <a:avLst/>
          </a:prstGeom>
          <a:noFill/>
        </p:spPr>
        <p:txBody>
          <a:bodyPr wrap="none" rtlCol="0">
            <a:spAutoFit/>
          </a:bodyPr>
          <a:lstStyle/>
          <a:p>
            <a:r>
              <a:rPr lang="es-ES" sz="1800" i="1" dirty="0"/>
              <a:t>Guarda el valor 100 en la posición 4000 de la memoria</a:t>
            </a:r>
          </a:p>
        </p:txBody>
      </p:sp>
      <p:grpSp>
        <p:nvGrpSpPr>
          <p:cNvPr id="41" name="40 Grupo"/>
          <p:cNvGrpSpPr/>
          <p:nvPr/>
        </p:nvGrpSpPr>
        <p:grpSpPr>
          <a:xfrm>
            <a:off x="1054372" y="3907178"/>
            <a:ext cx="1289135" cy="528741"/>
            <a:chOff x="1054372" y="3907178"/>
            <a:chExt cx="1289135" cy="528741"/>
          </a:xfrm>
        </p:grpSpPr>
        <p:sp>
          <p:nvSpPr>
            <p:cNvPr id="14" name="13 Flecha arriba"/>
            <p:cNvSpPr/>
            <p:nvPr/>
          </p:nvSpPr>
          <p:spPr bwMode="auto">
            <a:xfrm>
              <a:off x="1526878" y="3907178"/>
              <a:ext cx="297388" cy="225931"/>
            </a:xfrm>
            <a:prstGeom prst="upArrow">
              <a:avLst/>
            </a:prstGeom>
            <a:solidFill>
              <a:schemeClr val="tx2">
                <a:lumMod val="5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0" name="29 CuadroTexto"/>
            <p:cNvSpPr txBox="1"/>
            <p:nvPr/>
          </p:nvSpPr>
          <p:spPr>
            <a:xfrm>
              <a:off x="1054372" y="4128142"/>
              <a:ext cx="1289135" cy="307777"/>
            </a:xfrm>
            <a:prstGeom prst="rect">
              <a:avLst/>
            </a:prstGeom>
            <a:noFill/>
          </p:spPr>
          <p:txBody>
            <a:bodyPr wrap="none" rtlCol="0">
              <a:spAutoFit/>
            </a:bodyPr>
            <a:lstStyle/>
            <a:p>
              <a:r>
                <a:rPr lang="es-ES" sz="1400" dirty="0">
                  <a:solidFill>
                    <a:schemeClr val="tx2">
                      <a:lumMod val="50000"/>
                    </a:schemeClr>
                  </a:solidFill>
                </a:rPr>
                <a:t>posición 4000</a:t>
              </a:r>
            </a:p>
          </p:txBody>
        </p:sp>
      </p:grpSp>
      <p:sp>
        <p:nvSpPr>
          <p:cNvPr id="31" name="30 CuadroTexto"/>
          <p:cNvSpPr txBox="1"/>
          <p:nvPr/>
        </p:nvSpPr>
        <p:spPr>
          <a:xfrm>
            <a:off x="683944" y="4448542"/>
            <a:ext cx="8117928" cy="369332"/>
          </a:xfrm>
          <a:prstGeom prst="rect">
            <a:avLst/>
          </a:prstGeom>
          <a:noFill/>
        </p:spPr>
        <p:txBody>
          <a:bodyPr wrap="none" rtlCol="0">
            <a:spAutoFit/>
          </a:bodyPr>
          <a:lstStyle/>
          <a:p>
            <a:r>
              <a:rPr lang="es-ES" sz="1800" i="1" dirty="0"/>
              <a:t>Reserva un espacio en memoria llamado velocidad, para guardar un nº entero</a:t>
            </a:r>
          </a:p>
        </p:txBody>
      </p:sp>
      <p:sp>
        <p:nvSpPr>
          <p:cNvPr id="32" name="31 CuadroTexto"/>
          <p:cNvSpPr txBox="1"/>
          <p:nvPr/>
        </p:nvSpPr>
        <p:spPr>
          <a:xfrm>
            <a:off x="1155154" y="5084094"/>
            <a:ext cx="6827510" cy="369332"/>
          </a:xfrm>
          <a:prstGeom prst="rect">
            <a:avLst/>
          </a:prstGeom>
          <a:noFill/>
        </p:spPr>
        <p:txBody>
          <a:bodyPr wrap="none" rtlCol="0">
            <a:spAutoFit/>
          </a:bodyPr>
          <a:lstStyle/>
          <a:p>
            <a:r>
              <a:rPr lang="es-ES" sz="1800" i="1" dirty="0"/>
              <a:t>Guarda el valor 100 en el espacio de memoria llamado velocidad</a:t>
            </a:r>
          </a:p>
        </p:txBody>
      </p:sp>
      <p:sp>
        <p:nvSpPr>
          <p:cNvPr id="34" name="33 CuadroTexto"/>
          <p:cNvSpPr txBox="1"/>
          <p:nvPr/>
        </p:nvSpPr>
        <p:spPr>
          <a:xfrm>
            <a:off x="3805589" y="4756206"/>
            <a:ext cx="1531188" cy="369332"/>
          </a:xfrm>
          <a:prstGeom prst="rect">
            <a:avLst/>
          </a:prstGeom>
          <a:noFill/>
        </p:spPr>
        <p:txBody>
          <a:bodyPr wrap="none" rtlCol="0">
            <a:spAutoFit/>
          </a:bodyPr>
          <a:lstStyle/>
          <a:p>
            <a:r>
              <a:rPr lang="es-ES" sz="1800" dirty="0" err="1">
                <a:solidFill>
                  <a:srgbClr val="0070C0"/>
                </a:solidFill>
              </a:rPr>
              <a:t>int</a:t>
            </a:r>
            <a:r>
              <a:rPr lang="es-ES" sz="1800" dirty="0">
                <a:solidFill>
                  <a:srgbClr val="009900"/>
                </a:solidFill>
              </a:rPr>
              <a:t> </a:t>
            </a:r>
            <a:r>
              <a:rPr lang="es-ES" sz="1800" dirty="0">
                <a:solidFill>
                  <a:srgbClr val="FF0000"/>
                </a:solidFill>
              </a:rPr>
              <a:t>velocidad;</a:t>
            </a:r>
          </a:p>
        </p:txBody>
      </p:sp>
      <p:sp>
        <p:nvSpPr>
          <p:cNvPr id="35" name="34 CuadroTexto"/>
          <p:cNvSpPr txBox="1"/>
          <p:nvPr/>
        </p:nvSpPr>
        <p:spPr>
          <a:xfrm>
            <a:off x="3635896" y="5444134"/>
            <a:ext cx="1871025" cy="369332"/>
          </a:xfrm>
          <a:prstGeom prst="rect">
            <a:avLst/>
          </a:prstGeom>
          <a:noFill/>
        </p:spPr>
        <p:txBody>
          <a:bodyPr wrap="none" rtlCol="0">
            <a:spAutoFit/>
          </a:bodyPr>
          <a:lstStyle/>
          <a:p>
            <a:r>
              <a:rPr lang="es-ES" sz="1800" dirty="0">
                <a:solidFill>
                  <a:srgbClr val="FF0000"/>
                </a:solidFill>
              </a:rPr>
              <a:t>velocidad</a:t>
            </a:r>
            <a:r>
              <a:rPr lang="es-ES" sz="1800" dirty="0"/>
              <a:t> = 100;</a:t>
            </a:r>
          </a:p>
        </p:txBody>
      </p:sp>
      <p:sp>
        <p:nvSpPr>
          <p:cNvPr id="36" name="35 CuadroTexto"/>
          <p:cNvSpPr txBox="1"/>
          <p:nvPr/>
        </p:nvSpPr>
        <p:spPr>
          <a:xfrm>
            <a:off x="2423517" y="1063779"/>
            <a:ext cx="3708067" cy="338554"/>
          </a:xfrm>
          <a:prstGeom prst="rect">
            <a:avLst/>
          </a:prstGeom>
          <a:noFill/>
        </p:spPr>
        <p:txBody>
          <a:bodyPr wrap="none" rtlCol="0">
            <a:spAutoFit/>
          </a:bodyPr>
          <a:lstStyle/>
          <a:p>
            <a:pPr algn="ctr"/>
            <a:r>
              <a:rPr lang="es-ES" sz="1600" dirty="0">
                <a:solidFill>
                  <a:schemeClr val="bg1">
                    <a:lumMod val="50000"/>
                  </a:schemeClr>
                </a:solidFill>
              </a:rPr>
              <a:t>Recordemos los problemas de física…</a:t>
            </a:r>
          </a:p>
        </p:txBody>
      </p:sp>
      <p:sp>
        <p:nvSpPr>
          <p:cNvPr id="37" name="36 CuadroTexto"/>
          <p:cNvSpPr txBox="1"/>
          <p:nvPr/>
        </p:nvSpPr>
        <p:spPr>
          <a:xfrm>
            <a:off x="2798482" y="2852936"/>
            <a:ext cx="3174652" cy="338554"/>
          </a:xfrm>
          <a:prstGeom prst="rect">
            <a:avLst/>
          </a:prstGeom>
          <a:noFill/>
        </p:spPr>
        <p:txBody>
          <a:bodyPr wrap="none" rtlCol="0">
            <a:spAutoFit/>
          </a:bodyPr>
          <a:lstStyle/>
          <a:p>
            <a:pPr algn="ctr"/>
            <a:r>
              <a:rPr lang="es-ES" sz="1600" dirty="0">
                <a:solidFill>
                  <a:schemeClr val="bg1">
                    <a:lumMod val="50000"/>
                  </a:schemeClr>
                </a:solidFill>
              </a:rPr>
              <a:t>Trasladémoslo a la informática…</a:t>
            </a:r>
          </a:p>
        </p:txBody>
      </p:sp>
      <p:grpSp>
        <p:nvGrpSpPr>
          <p:cNvPr id="43" name="42 Grupo"/>
          <p:cNvGrpSpPr/>
          <p:nvPr/>
        </p:nvGrpSpPr>
        <p:grpSpPr>
          <a:xfrm>
            <a:off x="1451610" y="3140968"/>
            <a:ext cx="1346872" cy="688082"/>
            <a:chOff x="1451610" y="3140968"/>
            <a:chExt cx="1346872" cy="688082"/>
          </a:xfrm>
        </p:grpSpPr>
        <p:sp>
          <p:nvSpPr>
            <p:cNvPr id="19" name="18 CuadroTexto"/>
            <p:cNvSpPr txBox="1"/>
            <p:nvPr/>
          </p:nvSpPr>
          <p:spPr>
            <a:xfrm>
              <a:off x="1547664" y="3140968"/>
              <a:ext cx="1159292" cy="369332"/>
            </a:xfrm>
            <a:prstGeom prst="rect">
              <a:avLst/>
            </a:prstGeom>
            <a:noFill/>
          </p:spPr>
          <p:txBody>
            <a:bodyPr wrap="none" rtlCol="0">
              <a:spAutoFit/>
            </a:bodyPr>
            <a:lstStyle/>
            <a:p>
              <a:r>
                <a:rPr lang="es-ES" sz="1800" dirty="0">
                  <a:solidFill>
                    <a:srgbClr val="FF0000"/>
                  </a:solidFill>
                </a:rPr>
                <a:t>velocidad</a:t>
              </a:r>
            </a:p>
          </p:txBody>
        </p:sp>
        <p:sp>
          <p:nvSpPr>
            <p:cNvPr id="42" name="41 Rectángulo"/>
            <p:cNvSpPr/>
            <p:nvPr/>
          </p:nvSpPr>
          <p:spPr bwMode="auto">
            <a:xfrm>
              <a:off x="1451610" y="3510926"/>
              <a:ext cx="1346872" cy="318124"/>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44" name="43 Grupo"/>
          <p:cNvGrpSpPr/>
          <p:nvPr/>
        </p:nvGrpSpPr>
        <p:grpSpPr>
          <a:xfrm>
            <a:off x="3280410" y="3140968"/>
            <a:ext cx="1268730" cy="688082"/>
            <a:chOff x="3280410" y="3140968"/>
            <a:chExt cx="1268730" cy="688082"/>
          </a:xfrm>
        </p:grpSpPr>
        <p:sp>
          <p:nvSpPr>
            <p:cNvPr id="23" name="22 CuadroTexto"/>
            <p:cNvSpPr txBox="1"/>
            <p:nvPr/>
          </p:nvSpPr>
          <p:spPr>
            <a:xfrm>
              <a:off x="3478813" y="3140968"/>
              <a:ext cx="877163" cy="369332"/>
            </a:xfrm>
            <a:prstGeom prst="rect">
              <a:avLst/>
            </a:prstGeom>
            <a:noFill/>
          </p:spPr>
          <p:txBody>
            <a:bodyPr wrap="none" rtlCol="0">
              <a:spAutoFit/>
            </a:bodyPr>
            <a:lstStyle/>
            <a:p>
              <a:r>
                <a:rPr lang="es-ES" sz="1800" dirty="0">
                  <a:solidFill>
                    <a:srgbClr val="FF0000"/>
                  </a:solidFill>
                </a:rPr>
                <a:t>tiempo</a:t>
              </a:r>
            </a:p>
          </p:txBody>
        </p:sp>
        <p:sp>
          <p:nvSpPr>
            <p:cNvPr id="46" name="45 Rectángulo"/>
            <p:cNvSpPr/>
            <p:nvPr/>
          </p:nvSpPr>
          <p:spPr bwMode="auto">
            <a:xfrm>
              <a:off x="3280410" y="3514736"/>
              <a:ext cx="1268730" cy="314314"/>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sp>
        <p:nvSpPr>
          <p:cNvPr id="48" name="47 CuadroTexto"/>
          <p:cNvSpPr txBox="1"/>
          <p:nvPr/>
        </p:nvSpPr>
        <p:spPr>
          <a:xfrm>
            <a:off x="1454960" y="5813466"/>
            <a:ext cx="1249060" cy="369332"/>
          </a:xfrm>
          <a:prstGeom prst="rect">
            <a:avLst/>
          </a:prstGeom>
          <a:noFill/>
        </p:spPr>
        <p:txBody>
          <a:bodyPr wrap="none" rtlCol="0">
            <a:spAutoFit/>
          </a:bodyPr>
          <a:lstStyle/>
          <a:p>
            <a:r>
              <a:rPr lang="es-ES" sz="1800" dirty="0" err="1">
                <a:solidFill>
                  <a:srgbClr val="0070C0"/>
                </a:solidFill>
              </a:rPr>
              <a:t>int</a:t>
            </a:r>
            <a:r>
              <a:rPr lang="es-ES" sz="1800" dirty="0">
                <a:solidFill>
                  <a:srgbClr val="009900"/>
                </a:solidFill>
              </a:rPr>
              <a:t> </a:t>
            </a:r>
            <a:r>
              <a:rPr lang="es-ES" sz="1800" dirty="0">
                <a:solidFill>
                  <a:srgbClr val="FF0000"/>
                </a:solidFill>
              </a:rPr>
              <a:t>tiempo;</a:t>
            </a:r>
          </a:p>
        </p:txBody>
      </p:sp>
      <p:sp>
        <p:nvSpPr>
          <p:cNvPr id="49" name="48 CuadroTexto"/>
          <p:cNvSpPr txBox="1"/>
          <p:nvPr/>
        </p:nvSpPr>
        <p:spPr>
          <a:xfrm>
            <a:off x="1450732" y="6084004"/>
            <a:ext cx="1332416" cy="369332"/>
          </a:xfrm>
          <a:prstGeom prst="rect">
            <a:avLst/>
          </a:prstGeom>
          <a:noFill/>
        </p:spPr>
        <p:txBody>
          <a:bodyPr wrap="none" rtlCol="0">
            <a:spAutoFit/>
          </a:bodyPr>
          <a:lstStyle/>
          <a:p>
            <a:r>
              <a:rPr lang="es-ES" sz="1800" dirty="0">
                <a:solidFill>
                  <a:srgbClr val="FF0000"/>
                </a:solidFill>
              </a:rPr>
              <a:t>tiempo</a:t>
            </a:r>
            <a:r>
              <a:rPr lang="es-ES" sz="1800" dirty="0">
                <a:solidFill>
                  <a:schemeClr val="accent4">
                    <a:lumMod val="90000"/>
                    <a:lumOff val="10000"/>
                  </a:schemeClr>
                </a:solidFill>
              </a:rPr>
              <a:t> = 3</a:t>
            </a:r>
            <a:r>
              <a:rPr lang="es-ES" sz="1800" dirty="0">
                <a:solidFill>
                  <a:srgbClr val="FF0000"/>
                </a:solidFill>
              </a:rPr>
              <a:t>;</a:t>
            </a:r>
          </a:p>
        </p:txBody>
      </p:sp>
      <p:sp>
        <p:nvSpPr>
          <p:cNvPr id="50" name="49 CuadroTexto"/>
          <p:cNvSpPr txBox="1"/>
          <p:nvPr/>
        </p:nvSpPr>
        <p:spPr>
          <a:xfrm>
            <a:off x="5661400" y="5842188"/>
            <a:ext cx="1467068" cy="369332"/>
          </a:xfrm>
          <a:prstGeom prst="rect">
            <a:avLst/>
          </a:prstGeom>
          <a:noFill/>
        </p:spPr>
        <p:txBody>
          <a:bodyPr wrap="none" rtlCol="0">
            <a:spAutoFit/>
          </a:bodyPr>
          <a:lstStyle/>
          <a:p>
            <a:r>
              <a:rPr lang="es-ES" sz="1800" dirty="0" err="1">
                <a:solidFill>
                  <a:srgbClr val="0070C0"/>
                </a:solidFill>
              </a:rPr>
              <a:t>int</a:t>
            </a:r>
            <a:r>
              <a:rPr lang="es-ES" sz="1800" dirty="0">
                <a:solidFill>
                  <a:srgbClr val="009900"/>
                </a:solidFill>
              </a:rPr>
              <a:t> </a:t>
            </a:r>
            <a:r>
              <a:rPr lang="es-ES" sz="1800" dirty="0">
                <a:solidFill>
                  <a:srgbClr val="FF6600"/>
                </a:solidFill>
              </a:rPr>
              <a:t>distancia;</a:t>
            </a:r>
          </a:p>
        </p:txBody>
      </p:sp>
      <p:sp>
        <p:nvSpPr>
          <p:cNvPr id="51" name="50 CuadroTexto"/>
          <p:cNvSpPr txBox="1"/>
          <p:nvPr/>
        </p:nvSpPr>
        <p:spPr>
          <a:xfrm>
            <a:off x="5657172" y="6112726"/>
            <a:ext cx="3307316" cy="369332"/>
          </a:xfrm>
          <a:prstGeom prst="rect">
            <a:avLst/>
          </a:prstGeom>
          <a:noFill/>
        </p:spPr>
        <p:txBody>
          <a:bodyPr wrap="none" rtlCol="0">
            <a:spAutoFit/>
          </a:bodyPr>
          <a:lstStyle/>
          <a:p>
            <a:r>
              <a:rPr lang="es-ES" sz="1800" dirty="0">
                <a:solidFill>
                  <a:srgbClr val="FF0000"/>
                </a:solidFill>
              </a:rPr>
              <a:t>distancia</a:t>
            </a:r>
            <a:r>
              <a:rPr lang="es-ES" sz="1800" dirty="0">
                <a:solidFill>
                  <a:schemeClr val="accent4">
                    <a:lumMod val="90000"/>
                    <a:lumOff val="10000"/>
                  </a:schemeClr>
                </a:solidFill>
              </a:rPr>
              <a:t> = </a:t>
            </a:r>
            <a:r>
              <a:rPr lang="es-ES" sz="1800" dirty="0">
                <a:solidFill>
                  <a:srgbClr val="FF0000"/>
                </a:solidFill>
              </a:rPr>
              <a:t>velocidad</a:t>
            </a:r>
            <a:r>
              <a:rPr lang="es-ES" sz="1800" dirty="0">
                <a:solidFill>
                  <a:schemeClr val="accent4">
                    <a:lumMod val="90000"/>
                    <a:lumOff val="10000"/>
                  </a:schemeClr>
                </a:solidFill>
              </a:rPr>
              <a:t> * </a:t>
            </a:r>
            <a:r>
              <a:rPr lang="es-ES" sz="1800" dirty="0">
                <a:solidFill>
                  <a:srgbClr val="FF0000"/>
                </a:solidFill>
              </a:rPr>
              <a:t>tiempo;</a:t>
            </a:r>
          </a:p>
        </p:txBody>
      </p:sp>
      <p:grpSp>
        <p:nvGrpSpPr>
          <p:cNvPr id="45" name="44 Grupo"/>
          <p:cNvGrpSpPr/>
          <p:nvPr/>
        </p:nvGrpSpPr>
        <p:grpSpPr>
          <a:xfrm>
            <a:off x="6081761" y="3140968"/>
            <a:ext cx="1153429" cy="695078"/>
            <a:chOff x="6081761" y="3140968"/>
            <a:chExt cx="1153429" cy="695078"/>
          </a:xfrm>
        </p:grpSpPr>
        <p:sp>
          <p:nvSpPr>
            <p:cNvPr id="24" name="23 CuadroTexto"/>
            <p:cNvSpPr txBox="1"/>
            <p:nvPr/>
          </p:nvSpPr>
          <p:spPr>
            <a:xfrm>
              <a:off x="6118484" y="3140968"/>
              <a:ext cx="1095172" cy="369332"/>
            </a:xfrm>
            <a:prstGeom prst="rect">
              <a:avLst/>
            </a:prstGeom>
            <a:noFill/>
          </p:spPr>
          <p:txBody>
            <a:bodyPr wrap="none" rtlCol="0">
              <a:spAutoFit/>
            </a:bodyPr>
            <a:lstStyle/>
            <a:p>
              <a:r>
                <a:rPr lang="es-ES" sz="1800" dirty="0">
                  <a:solidFill>
                    <a:srgbClr val="FF6600"/>
                  </a:solidFill>
                </a:rPr>
                <a:t>distancia</a:t>
              </a:r>
            </a:p>
          </p:txBody>
        </p:sp>
        <p:sp>
          <p:nvSpPr>
            <p:cNvPr id="52" name="51 Rectángulo"/>
            <p:cNvSpPr/>
            <p:nvPr/>
          </p:nvSpPr>
          <p:spPr bwMode="auto">
            <a:xfrm>
              <a:off x="6081761" y="3521732"/>
              <a:ext cx="1153429" cy="314314"/>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54" name="53 Grupo"/>
          <p:cNvGrpSpPr/>
          <p:nvPr/>
        </p:nvGrpSpPr>
        <p:grpSpPr>
          <a:xfrm>
            <a:off x="3254138" y="4940872"/>
            <a:ext cx="2178802" cy="1455314"/>
            <a:chOff x="3254138" y="4940872"/>
            <a:chExt cx="2178802" cy="1455314"/>
          </a:xfrm>
        </p:grpSpPr>
        <p:sp>
          <p:nvSpPr>
            <p:cNvPr id="53" name="52 CuadroTexto"/>
            <p:cNvSpPr txBox="1"/>
            <p:nvPr/>
          </p:nvSpPr>
          <p:spPr>
            <a:xfrm>
              <a:off x="3254138" y="6026854"/>
              <a:ext cx="2178802" cy="369332"/>
            </a:xfrm>
            <a:prstGeom prst="rect">
              <a:avLst/>
            </a:prstGeom>
            <a:noFill/>
          </p:spPr>
          <p:txBody>
            <a:bodyPr wrap="none" rtlCol="0">
              <a:spAutoFit/>
            </a:bodyPr>
            <a:lstStyle/>
            <a:p>
              <a:r>
                <a:rPr lang="es-ES" sz="1800" dirty="0" err="1">
                  <a:solidFill>
                    <a:srgbClr val="0070C0"/>
                  </a:solidFill>
                </a:rPr>
                <a:t>int</a:t>
              </a:r>
              <a:r>
                <a:rPr lang="es-ES" sz="1800" dirty="0">
                  <a:solidFill>
                    <a:srgbClr val="009900"/>
                  </a:solidFill>
                </a:rPr>
                <a:t> </a:t>
              </a:r>
              <a:r>
                <a:rPr lang="es-ES" sz="1800" dirty="0">
                  <a:solidFill>
                    <a:srgbClr val="FF0000"/>
                  </a:solidFill>
                </a:rPr>
                <a:t>velocidad </a:t>
              </a:r>
              <a:r>
                <a:rPr lang="es-ES" sz="1800" dirty="0">
                  <a:solidFill>
                    <a:schemeClr val="accent4">
                      <a:lumMod val="90000"/>
                      <a:lumOff val="10000"/>
                    </a:schemeClr>
                  </a:solidFill>
                </a:rPr>
                <a:t>= 100</a:t>
              </a:r>
              <a:r>
                <a:rPr lang="es-ES" sz="1800" dirty="0">
                  <a:solidFill>
                    <a:srgbClr val="FF0000"/>
                  </a:solidFill>
                </a:rPr>
                <a:t>;</a:t>
              </a:r>
            </a:p>
          </p:txBody>
        </p:sp>
        <p:cxnSp>
          <p:nvCxnSpPr>
            <p:cNvPr id="5" name="4 Conector angular"/>
            <p:cNvCxnSpPr>
              <a:stCxn id="34" idx="1"/>
            </p:cNvCxnSpPr>
            <p:nvPr/>
          </p:nvCxnSpPr>
          <p:spPr bwMode="auto">
            <a:xfrm rot="10800000" flipV="1">
              <a:off x="3425091" y="4940872"/>
              <a:ext cx="380498" cy="1057260"/>
            </a:xfrm>
            <a:prstGeom prst="bentConnector2">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cxnSp>
          <p:nvCxnSpPr>
            <p:cNvPr id="47" name="46 Conector recto"/>
            <p:cNvCxnSpPr>
              <a:stCxn id="35" idx="1"/>
            </p:cNvCxnSpPr>
            <p:nvPr/>
          </p:nvCxnSpPr>
          <p:spPr bwMode="auto">
            <a:xfrm flipH="1">
              <a:off x="3425091" y="5628800"/>
              <a:ext cx="210805" cy="0"/>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grpSp>
      <p:sp>
        <p:nvSpPr>
          <p:cNvPr id="57" name="35 CuadroTexto"/>
          <p:cNvSpPr txBox="1"/>
          <p:nvPr/>
        </p:nvSpPr>
        <p:spPr>
          <a:xfrm>
            <a:off x="1829339" y="739840"/>
            <a:ext cx="4870244" cy="338554"/>
          </a:xfrm>
          <a:prstGeom prst="rect">
            <a:avLst/>
          </a:prstGeom>
          <a:noFill/>
        </p:spPr>
        <p:txBody>
          <a:bodyPr wrap="none" rtlCol="0">
            <a:spAutoFit/>
          </a:bodyPr>
          <a:lstStyle/>
          <a:p>
            <a:pPr algn="ctr"/>
            <a:r>
              <a:rPr lang="es-ES" sz="1600" dirty="0">
                <a:solidFill>
                  <a:schemeClr val="tx1">
                    <a:lumMod val="40000"/>
                    <a:lumOff val="60000"/>
                  </a:schemeClr>
                </a:solidFill>
              </a:rPr>
              <a:t>Zona de memoria donde almacenamos información</a:t>
            </a:r>
          </a:p>
        </p:txBody>
      </p:sp>
    </p:spTree>
    <p:extLst>
      <p:ext uri="{BB962C8B-B14F-4D97-AF65-F5344CB8AC3E}">
        <p14:creationId xmlns:p14="http://schemas.microsoft.com/office/powerpoint/2010/main" val="2491263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right)">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0" presetClass="exit" presetSubtype="0" fill="hold" nodeType="clickEffect">
                                  <p:stCondLst>
                                    <p:cond delay="0"/>
                                  </p:stCondLst>
                                  <p:childTnLst>
                                    <p:animEffect transition="out" filter="fade">
                                      <p:cBhvr>
                                        <p:cTn id="66" dur="500"/>
                                        <p:tgtEl>
                                          <p:spTgt spid="38"/>
                                        </p:tgtEl>
                                      </p:cBhvr>
                                    </p:animEffect>
                                    <p:set>
                                      <p:cBhvr>
                                        <p:cTn id="67" dur="1" fill="hold">
                                          <p:stCondLst>
                                            <p:cond delay="499"/>
                                          </p:stCondLst>
                                        </p:cTn>
                                        <p:tgtEl>
                                          <p:spTgt spid="38"/>
                                        </p:tgtEl>
                                        <p:attrNameLst>
                                          <p:attrName>style.visibility</p:attrName>
                                        </p:attrNameLst>
                                      </p:cBhvr>
                                      <p:to>
                                        <p:strVal val="hidden"/>
                                      </p:to>
                                    </p:set>
                                  </p:childTnLst>
                                </p:cTn>
                              </p:par>
                              <p:par>
                                <p:cTn id="68" presetID="10" presetClass="exit" presetSubtype="0" fill="hold" nodeType="withEffect">
                                  <p:stCondLst>
                                    <p:cond delay="0"/>
                                  </p:stCondLst>
                                  <p:childTnLst>
                                    <p:animEffect transition="out" filter="fade">
                                      <p:cBhvr>
                                        <p:cTn id="69" dur="500"/>
                                        <p:tgtEl>
                                          <p:spTgt spid="39"/>
                                        </p:tgtEl>
                                      </p:cBhvr>
                                    </p:animEffect>
                                    <p:set>
                                      <p:cBhvr>
                                        <p:cTn id="70" dur="1" fill="hold">
                                          <p:stCondLst>
                                            <p:cond delay="499"/>
                                          </p:stCondLst>
                                        </p:cTn>
                                        <p:tgtEl>
                                          <p:spTgt spid="39"/>
                                        </p:tgtEl>
                                        <p:attrNameLst>
                                          <p:attrName>style.visibility</p:attrName>
                                        </p:attrNameLst>
                                      </p:cBhvr>
                                      <p:to>
                                        <p:strVal val="hidden"/>
                                      </p:to>
                                    </p:set>
                                  </p:childTnLst>
                                </p:cTn>
                              </p:par>
                              <p:par>
                                <p:cTn id="71" presetID="10" presetClass="exit" presetSubtype="0" fill="hold" nodeType="withEffect">
                                  <p:stCondLst>
                                    <p:cond delay="0"/>
                                  </p:stCondLst>
                                  <p:childTnLst>
                                    <p:animEffect transition="out" filter="fade">
                                      <p:cBhvr>
                                        <p:cTn id="72" dur="500"/>
                                        <p:tgtEl>
                                          <p:spTgt spid="40"/>
                                        </p:tgtEl>
                                      </p:cBhvr>
                                    </p:animEffect>
                                    <p:set>
                                      <p:cBhvr>
                                        <p:cTn id="73" dur="1" fill="hold">
                                          <p:stCondLst>
                                            <p:cond delay="499"/>
                                          </p:stCondLst>
                                        </p:cTn>
                                        <p:tgtEl>
                                          <p:spTgt spid="40"/>
                                        </p:tgtEl>
                                        <p:attrNameLst>
                                          <p:attrName>style.visibility</p:attrName>
                                        </p:attrNameLst>
                                      </p:cBhvr>
                                      <p:to>
                                        <p:strVal val="hidden"/>
                                      </p:to>
                                    </p:set>
                                  </p:childTnLst>
                                </p:cTn>
                              </p:par>
                              <p:par>
                                <p:cTn id="74" presetID="10" presetClass="exit" presetSubtype="0" fill="hold" nodeType="withEffect">
                                  <p:stCondLst>
                                    <p:cond delay="0"/>
                                  </p:stCondLst>
                                  <p:childTnLst>
                                    <p:animEffect transition="out" filter="fade">
                                      <p:cBhvr>
                                        <p:cTn id="75" dur="500"/>
                                        <p:tgtEl>
                                          <p:spTgt spid="41"/>
                                        </p:tgtEl>
                                      </p:cBhvr>
                                    </p:animEffect>
                                    <p:set>
                                      <p:cBhvr>
                                        <p:cTn id="76" dur="1" fill="hold">
                                          <p:stCondLst>
                                            <p:cond delay="499"/>
                                          </p:stCondLst>
                                        </p:cTn>
                                        <p:tgtEl>
                                          <p:spTgt spid="41"/>
                                        </p:tgtEl>
                                        <p:attrNameLst>
                                          <p:attrName>style.visibility</p:attrName>
                                        </p:attrNameLst>
                                      </p:cBhvr>
                                      <p:to>
                                        <p:strVal val="hidden"/>
                                      </p:to>
                                    </p:set>
                                  </p:childTnLst>
                                </p:cTn>
                              </p:par>
                              <p:par>
                                <p:cTn id="77" presetID="10" presetClass="exit" presetSubtype="0" fill="hold" grpId="1" nodeType="withEffect">
                                  <p:stCondLst>
                                    <p:cond delay="0"/>
                                  </p:stCondLst>
                                  <p:childTnLst>
                                    <p:animEffect transition="out" filter="fade">
                                      <p:cBhvr>
                                        <p:cTn id="78" dur="500"/>
                                        <p:tgtEl>
                                          <p:spTgt spid="28"/>
                                        </p:tgtEl>
                                      </p:cBhvr>
                                    </p:animEffect>
                                    <p:set>
                                      <p:cBhvr>
                                        <p:cTn id="79" dur="1" fill="hold">
                                          <p:stCondLst>
                                            <p:cond delay="499"/>
                                          </p:stCondLst>
                                        </p:cTn>
                                        <p:tgtEl>
                                          <p:spTgt spid="28"/>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31"/>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43"/>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34"/>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32"/>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nodeType="clickEffect">
                                  <p:stCondLst>
                                    <p:cond delay="0"/>
                                  </p:stCondLst>
                                  <p:childTnLst>
                                    <p:set>
                                      <p:cBhvr>
                                        <p:cTn id="99" dur="1" fill="hold">
                                          <p:stCondLst>
                                            <p:cond delay="0"/>
                                          </p:stCondLst>
                                        </p:cTn>
                                        <p:tgtEl>
                                          <p:spTgt spid="38"/>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35"/>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48"/>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nodeType="clickEffect">
                                  <p:stCondLst>
                                    <p:cond delay="0"/>
                                  </p:stCondLst>
                                  <p:childTnLst>
                                    <p:set>
                                      <p:cBhvr>
                                        <p:cTn id="111" dur="1" fill="hold">
                                          <p:stCondLst>
                                            <p:cond delay="0"/>
                                          </p:stCondLst>
                                        </p:cTn>
                                        <p:tgtEl>
                                          <p:spTgt spid="44"/>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49"/>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nodeType="clickEffect">
                                  <p:stCondLst>
                                    <p:cond delay="0"/>
                                  </p:stCondLst>
                                  <p:childTnLst>
                                    <p:set>
                                      <p:cBhvr>
                                        <p:cTn id="119" dur="1" fill="hold">
                                          <p:stCondLst>
                                            <p:cond delay="0"/>
                                          </p:stCondLst>
                                        </p:cTn>
                                        <p:tgtEl>
                                          <p:spTgt spid="39"/>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50"/>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nodeType="clickEffect">
                                  <p:stCondLst>
                                    <p:cond delay="0"/>
                                  </p:stCondLst>
                                  <p:childTnLst>
                                    <p:set>
                                      <p:cBhvr>
                                        <p:cTn id="127" dur="1" fill="hold">
                                          <p:stCondLst>
                                            <p:cond delay="0"/>
                                          </p:stCondLst>
                                        </p:cTn>
                                        <p:tgtEl>
                                          <p:spTgt spid="45"/>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51"/>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nodeType="clickEffect">
                                  <p:stCondLst>
                                    <p:cond delay="0"/>
                                  </p:stCondLst>
                                  <p:childTnLst>
                                    <p:set>
                                      <p:cBhvr>
                                        <p:cTn id="135" dur="1" fill="hold">
                                          <p:stCondLst>
                                            <p:cond delay="0"/>
                                          </p:stCondLst>
                                        </p:cTn>
                                        <p:tgtEl>
                                          <p:spTgt spid="40"/>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nodeType="clickEffect">
                                  <p:stCondLst>
                                    <p:cond delay="0"/>
                                  </p:stCondLst>
                                  <p:childTnLst>
                                    <p:set>
                                      <p:cBhvr>
                                        <p:cTn id="139" dur="1" fill="hold">
                                          <p:stCondLst>
                                            <p:cond delay="0"/>
                                          </p:stCondLst>
                                        </p:cTn>
                                        <p:tgtEl>
                                          <p:spTgt spid="54"/>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1" presetClass="entr" presetSubtype="0" fill="hold" grpId="0" nodeType="clickEffect">
                                  <p:stCondLst>
                                    <p:cond delay="0"/>
                                  </p:stCondLst>
                                  <p:childTnLst>
                                    <p:set>
                                      <p:cBhvr>
                                        <p:cTn id="143"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P spid="7" grpId="0"/>
      <p:bldP spid="15" grpId="0"/>
      <p:bldP spid="28" grpId="0"/>
      <p:bldP spid="28" grpId="1"/>
      <p:bldP spid="31" grpId="0"/>
      <p:bldP spid="32" grpId="0"/>
      <p:bldP spid="34" grpId="0"/>
      <p:bldP spid="35" grpId="0"/>
      <p:bldP spid="36" grpId="0"/>
      <p:bldP spid="37" grpId="0"/>
      <p:bldP spid="48" grpId="0"/>
      <p:bldP spid="49" grpId="0"/>
      <p:bldP spid="50" grpId="0"/>
      <p:bldP spid="51" grpId="0"/>
      <p:bldP spid="5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F85AE7-CF42-8245-B5D7-E46990661BCB}"/>
              </a:ext>
            </a:extLst>
          </p:cNvPr>
          <p:cNvSpPr>
            <a:spLocks noGrp="1"/>
          </p:cNvSpPr>
          <p:nvPr>
            <p:ph type="title"/>
          </p:nvPr>
        </p:nvSpPr>
        <p:spPr/>
        <p:txBody>
          <a:bodyPr/>
          <a:lstStyle/>
          <a:p>
            <a:r>
              <a:rPr lang="es-ES" dirty="0"/>
              <a:t>Palabras Reservadas</a:t>
            </a:r>
          </a:p>
        </p:txBody>
      </p:sp>
      <p:sp>
        <p:nvSpPr>
          <p:cNvPr id="3" name="Marcador de contenido 2">
            <a:extLst>
              <a:ext uri="{FF2B5EF4-FFF2-40B4-BE49-F238E27FC236}">
                <a16:creationId xmlns:a16="http://schemas.microsoft.com/office/drawing/2014/main" id="{8D56205E-A9FF-054B-B59A-834D936F2C33}"/>
              </a:ext>
            </a:extLst>
          </p:cNvPr>
          <p:cNvSpPr>
            <a:spLocks noGrp="1"/>
          </p:cNvSpPr>
          <p:nvPr>
            <p:ph idx="1"/>
          </p:nvPr>
        </p:nvSpPr>
        <p:spPr/>
        <p:txBody>
          <a:bodyPr/>
          <a:lstStyle/>
          <a:p>
            <a:r>
              <a:rPr lang="es-ES" dirty="0"/>
              <a:t>Son palabras en Java con un significado especial, que no pueden ser utilizadas como identificadores (constantes, variables, etc…)</a:t>
            </a:r>
          </a:p>
          <a:p>
            <a:pPr marL="0" indent="0">
              <a:buNone/>
            </a:pPr>
            <a:endParaRPr lang="es-ES" dirty="0"/>
          </a:p>
          <a:p>
            <a:pPr marL="0" indent="0">
              <a:buNone/>
            </a:pPr>
            <a:endParaRPr lang="es-ES" dirty="0"/>
          </a:p>
        </p:txBody>
      </p:sp>
      <p:graphicFrame>
        <p:nvGraphicFramePr>
          <p:cNvPr id="5" name="Tabla 5">
            <a:extLst>
              <a:ext uri="{FF2B5EF4-FFF2-40B4-BE49-F238E27FC236}">
                <a16:creationId xmlns:a16="http://schemas.microsoft.com/office/drawing/2014/main" id="{0403E55F-DB43-F24B-94E1-0A5589888A1B}"/>
              </a:ext>
            </a:extLst>
          </p:cNvPr>
          <p:cNvGraphicFramePr>
            <a:graphicFrameLocks noGrp="1"/>
          </p:cNvGraphicFramePr>
          <p:nvPr>
            <p:extLst>
              <p:ext uri="{D42A27DB-BD31-4B8C-83A1-F6EECF244321}">
                <p14:modId xmlns:p14="http://schemas.microsoft.com/office/powerpoint/2010/main" val="3356979340"/>
              </p:ext>
            </p:extLst>
          </p:nvPr>
        </p:nvGraphicFramePr>
        <p:xfrm>
          <a:off x="1524000" y="2780928"/>
          <a:ext cx="6288360" cy="3179861"/>
        </p:xfrm>
        <a:graphic>
          <a:graphicData uri="http://schemas.openxmlformats.org/drawingml/2006/table">
            <a:tbl>
              <a:tblPr bandRow="1">
                <a:tableStyleId>{5C22544A-7EE6-4342-B048-85BDC9FD1C3A}</a:tableStyleId>
              </a:tblPr>
              <a:tblGrid>
                <a:gridCol w="1048060">
                  <a:extLst>
                    <a:ext uri="{9D8B030D-6E8A-4147-A177-3AD203B41FA5}">
                      <a16:colId xmlns:a16="http://schemas.microsoft.com/office/drawing/2014/main" val="1670947025"/>
                    </a:ext>
                  </a:extLst>
                </a:gridCol>
                <a:gridCol w="1048060">
                  <a:extLst>
                    <a:ext uri="{9D8B030D-6E8A-4147-A177-3AD203B41FA5}">
                      <a16:colId xmlns:a16="http://schemas.microsoft.com/office/drawing/2014/main" val="3230969051"/>
                    </a:ext>
                  </a:extLst>
                </a:gridCol>
                <a:gridCol w="1048060">
                  <a:extLst>
                    <a:ext uri="{9D8B030D-6E8A-4147-A177-3AD203B41FA5}">
                      <a16:colId xmlns:a16="http://schemas.microsoft.com/office/drawing/2014/main" val="1715771606"/>
                    </a:ext>
                  </a:extLst>
                </a:gridCol>
                <a:gridCol w="1048060">
                  <a:extLst>
                    <a:ext uri="{9D8B030D-6E8A-4147-A177-3AD203B41FA5}">
                      <a16:colId xmlns:a16="http://schemas.microsoft.com/office/drawing/2014/main" val="604192487"/>
                    </a:ext>
                  </a:extLst>
                </a:gridCol>
                <a:gridCol w="1048060">
                  <a:extLst>
                    <a:ext uri="{9D8B030D-6E8A-4147-A177-3AD203B41FA5}">
                      <a16:colId xmlns:a16="http://schemas.microsoft.com/office/drawing/2014/main" val="2545460770"/>
                    </a:ext>
                  </a:extLst>
                </a:gridCol>
                <a:gridCol w="1048060">
                  <a:extLst>
                    <a:ext uri="{9D8B030D-6E8A-4147-A177-3AD203B41FA5}">
                      <a16:colId xmlns:a16="http://schemas.microsoft.com/office/drawing/2014/main" val="3630953902"/>
                    </a:ext>
                  </a:extLst>
                </a:gridCol>
              </a:tblGrid>
              <a:tr h="349763">
                <a:tc>
                  <a:txBody>
                    <a:bodyPr/>
                    <a:lstStyle/>
                    <a:p>
                      <a:r>
                        <a:rPr lang="es-ES" sz="1200" dirty="0" err="1"/>
                        <a:t>abstract</a:t>
                      </a:r>
                      <a:endParaRPr lang="es-ES" sz="1200" dirty="0"/>
                    </a:p>
                  </a:txBody>
                  <a:tcPr/>
                </a:tc>
                <a:tc>
                  <a:txBody>
                    <a:bodyPr/>
                    <a:lstStyle/>
                    <a:p>
                      <a:r>
                        <a:rPr lang="es-ES" sz="1200" dirty="0" err="1"/>
                        <a:t>continue</a:t>
                      </a:r>
                      <a:endParaRPr lang="es-ES" sz="1200" dirty="0"/>
                    </a:p>
                  </a:txBody>
                  <a:tcPr/>
                </a:tc>
                <a:tc>
                  <a:txBody>
                    <a:bodyPr/>
                    <a:lstStyle/>
                    <a:p>
                      <a:r>
                        <a:rPr lang="es-ES" sz="1200" dirty="0" err="1"/>
                        <a:t>float</a:t>
                      </a:r>
                      <a:endParaRPr lang="es-ES" sz="1200" dirty="0"/>
                    </a:p>
                  </a:txBody>
                  <a:tcPr/>
                </a:tc>
                <a:tc>
                  <a:txBody>
                    <a:bodyPr/>
                    <a:lstStyle/>
                    <a:p>
                      <a:r>
                        <a:rPr lang="es-ES" sz="1200" dirty="0" err="1"/>
                        <a:t>native</a:t>
                      </a:r>
                      <a:endParaRPr lang="es-ES" sz="1200" dirty="0"/>
                    </a:p>
                  </a:txBody>
                  <a:tcPr/>
                </a:tc>
                <a:tc>
                  <a:txBody>
                    <a:bodyPr/>
                    <a:lstStyle/>
                    <a:p>
                      <a:r>
                        <a:rPr lang="es-ES" sz="1200" dirty="0" err="1"/>
                        <a:t>strictfp</a:t>
                      </a:r>
                      <a:endParaRPr lang="es-ES" sz="1200" dirty="0"/>
                    </a:p>
                  </a:txBody>
                  <a:tcPr/>
                </a:tc>
                <a:tc>
                  <a:txBody>
                    <a:bodyPr/>
                    <a:lstStyle/>
                    <a:p>
                      <a:r>
                        <a:rPr lang="es-ES" sz="1200" dirty="0" err="1"/>
                        <a:t>void</a:t>
                      </a:r>
                      <a:endParaRPr lang="es-ES" sz="1200" dirty="0"/>
                    </a:p>
                  </a:txBody>
                  <a:tcPr/>
                </a:tc>
                <a:extLst>
                  <a:ext uri="{0D108BD9-81ED-4DB2-BD59-A6C34878D82A}">
                    <a16:rowId xmlns:a16="http://schemas.microsoft.com/office/drawing/2014/main" val="3652912391"/>
                  </a:ext>
                </a:extLst>
              </a:tr>
              <a:tr h="349763">
                <a:tc>
                  <a:txBody>
                    <a:bodyPr/>
                    <a:lstStyle/>
                    <a:p>
                      <a:r>
                        <a:rPr lang="es-ES" sz="1200" dirty="0" err="1"/>
                        <a:t>assert</a:t>
                      </a:r>
                      <a:endParaRPr lang="es-ES" sz="1200" dirty="0"/>
                    </a:p>
                  </a:txBody>
                  <a:tcPr/>
                </a:tc>
                <a:tc>
                  <a:txBody>
                    <a:bodyPr/>
                    <a:lstStyle/>
                    <a:p>
                      <a:r>
                        <a:rPr lang="es-ES" sz="1200" dirty="0"/>
                        <a:t>default</a:t>
                      </a:r>
                    </a:p>
                  </a:txBody>
                  <a:tcPr/>
                </a:tc>
                <a:tc>
                  <a:txBody>
                    <a:bodyPr/>
                    <a:lstStyle/>
                    <a:p>
                      <a:r>
                        <a:rPr lang="es-ES" sz="1200" dirty="0" err="1"/>
                        <a:t>for</a:t>
                      </a:r>
                      <a:endParaRPr lang="es-ES" sz="1200" dirty="0"/>
                    </a:p>
                  </a:txBody>
                  <a:tcPr/>
                </a:tc>
                <a:tc>
                  <a:txBody>
                    <a:bodyPr/>
                    <a:lstStyle/>
                    <a:p>
                      <a:r>
                        <a:rPr lang="es-ES" sz="1200" dirty="0"/>
                        <a:t>new</a:t>
                      </a:r>
                    </a:p>
                  </a:txBody>
                  <a:tcPr/>
                </a:tc>
                <a:tc>
                  <a:txBody>
                    <a:bodyPr/>
                    <a:lstStyle/>
                    <a:p>
                      <a:r>
                        <a:rPr lang="es-ES" sz="1200" dirty="0" err="1"/>
                        <a:t>super</a:t>
                      </a:r>
                      <a:endParaRPr lang="es-ES" sz="1200" dirty="0"/>
                    </a:p>
                  </a:txBody>
                  <a:tcPr/>
                </a:tc>
                <a:tc>
                  <a:txBody>
                    <a:bodyPr/>
                    <a:lstStyle/>
                    <a:p>
                      <a:r>
                        <a:rPr lang="es-ES" sz="1200" dirty="0" err="1"/>
                        <a:t>volatile</a:t>
                      </a:r>
                      <a:endParaRPr lang="es-ES" sz="1200" dirty="0"/>
                    </a:p>
                  </a:txBody>
                  <a:tcPr/>
                </a:tc>
                <a:extLst>
                  <a:ext uri="{0D108BD9-81ED-4DB2-BD59-A6C34878D82A}">
                    <a16:rowId xmlns:a16="http://schemas.microsoft.com/office/drawing/2014/main" val="2763843400"/>
                  </a:ext>
                </a:extLst>
              </a:tr>
              <a:tr h="349763">
                <a:tc>
                  <a:txBody>
                    <a:bodyPr/>
                    <a:lstStyle/>
                    <a:p>
                      <a:r>
                        <a:rPr lang="es-ES" sz="1200" dirty="0" err="1"/>
                        <a:t>boolean</a:t>
                      </a:r>
                      <a:endParaRPr lang="es-ES" sz="1200" dirty="0"/>
                    </a:p>
                  </a:txBody>
                  <a:tcPr/>
                </a:tc>
                <a:tc>
                  <a:txBody>
                    <a:bodyPr/>
                    <a:lstStyle/>
                    <a:p>
                      <a:r>
                        <a:rPr lang="es-ES" sz="1200" dirty="0"/>
                        <a:t>do</a:t>
                      </a:r>
                    </a:p>
                  </a:txBody>
                  <a:tcPr/>
                </a:tc>
                <a:tc>
                  <a:txBody>
                    <a:bodyPr/>
                    <a:lstStyle/>
                    <a:p>
                      <a:r>
                        <a:rPr lang="es-ES" sz="1200" dirty="0" err="1"/>
                        <a:t>if</a:t>
                      </a:r>
                      <a:endParaRPr lang="es-ES" sz="1200" dirty="0"/>
                    </a:p>
                  </a:txBody>
                  <a:tcPr/>
                </a:tc>
                <a:tc>
                  <a:txBody>
                    <a:bodyPr/>
                    <a:lstStyle/>
                    <a:p>
                      <a:r>
                        <a:rPr lang="es-ES" sz="1200" dirty="0" err="1"/>
                        <a:t>package</a:t>
                      </a:r>
                      <a:endParaRPr lang="es-ES" sz="1200" dirty="0"/>
                    </a:p>
                  </a:txBody>
                  <a:tcPr/>
                </a:tc>
                <a:tc>
                  <a:txBody>
                    <a:bodyPr/>
                    <a:lstStyle/>
                    <a:p>
                      <a:r>
                        <a:rPr lang="es-ES" sz="1200" dirty="0" err="1"/>
                        <a:t>switch</a:t>
                      </a:r>
                      <a:endParaRPr lang="es-ES" sz="1200" dirty="0"/>
                    </a:p>
                  </a:txBody>
                  <a:tcPr/>
                </a:tc>
                <a:tc>
                  <a:txBody>
                    <a:bodyPr/>
                    <a:lstStyle/>
                    <a:p>
                      <a:r>
                        <a:rPr lang="es-ES" sz="1200" dirty="0" err="1"/>
                        <a:t>while</a:t>
                      </a:r>
                      <a:endParaRPr lang="es-ES" sz="1200" dirty="0"/>
                    </a:p>
                  </a:txBody>
                  <a:tcPr/>
                </a:tc>
                <a:extLst>
                  <a:ext uri="{0D108BD9-81ED-4DB2-BD59-A6C34878D82A}">
                    <a16:rowId xmlns:a16="http://schemas.microsoft.com/office/drawing/2014/main" val="2925583466"/>
                  </a:ext>
                </a:extLst>
              </a:tr>
              <a:tr h="349763">
                <a:tc>
                  <a:txBody>
                    <a:bodyPr/>
                    <a:lstStyle/>
                    <a:p>
                      <a:r>
                        <a:rPr lang="es-ES" sz="1200" dirty="0"/>
                        <a:t>break</a:t>
                      </a:r>
                    </a:p>
                  </a:txBody>
                  <a:tcPr/>
                </a:tc>
                <a:tc>
                  <a:txBody>
                    <a:bodyPr/>
                    <a:lstStyle/>
                    <a:p>
                      <a:r>
                        <a:rPr lang="es-ES" sz="1200" dirty="0" err="1"/>
                        <a:t>double</a:t>
                      </a:r>
                      <a:endParaRPr lang="es-ES" sz="1200" dirty="0"/>
                    </a:p>
                  </a:txBody>
                  <a:tcPr/>
                </a:tc>
                <a:tc>
                  <a:txBody>
                    <a:bodyPr/>
                    <a:lstStyle/>
                    <a:p>
                      <a:r>
                        <a:rPr lang="es-ES" sz="1200" dirty="0" err="1"/>
                        <a:t>implements</a:t>
                      </a:r>
                      <a:endParaRPr lang="es-ES" sz="1200" dirty="0"/>
                    </a:p>
                  </a:txBody>
                  <a:tcPr/>
                </a:tc>
                <a:tc>
                  <a:txBody>
                    <a:bodyPr/>
                    <a:lstStyle/>
                    <a:p>
                      <a:r>
                        <a:rPr lang="es-ES" sz="1200" dirty="0" err="1"/>
                        <a:t>private</a:t>
                      </a:r>
                      <a:endParaRPr lang="es-ES" sz="1200" dirty="0"/>
                    </a:p>
                  </a:txBody>
                  <a:tcPr/>
                </a:tc>
                <a:tc>
                  <a:txBody>
                    <a:bodyPr/>
                    <a:lstStyle/>
                    <a:p>
                      <a:r>
                        <a:rPr lang="es-ES" sz="1200" dirty="0" err="1"/>
                        <a:t>synchronized</a:t>
                      </a:r>
                      <a:endParaRPr lang="es-ES" sz="1200" dirty="0"/>
                    </a:p>
                  </a:txBody>
                  <a:tcPr/>
                </a:tc>
                <a:tc>
                  <a:txBody>
                    <a:bodyPr/>
                    <a:lstStyle/>
                    <a:p>
                      <a:r>
                        <a:rPr lang="es-ES" sz="1200" dirty="0" err="1"/>
                        <a:t>yield</a:t>
                      </a:r>
                      <a:endParaRPr lang="es-ES" sz="1200" dirty="0"/>
                    </a:p>
                  </a:txBody>
                  <a:tcPr/>
                </a:tc>
                <a:extLst>
                  <a:ext uri="{0D108BD9-81ED-4DB2-BD59-A6C34878D82A}">
                    <a16:rowId xmlns:a16="http://schemas.microsoft.com/office/drawing/2014/main" val="2042227439"/>
                  </a:ext>
                </a:extLst>
              </a:tr>
              <a:tr h="349763">
                <a:tc>
                  <a:txBody>
                    <a:bodyPr/>
                    <a:lstStyle/>
                    <a:p>
                      <a:r>
                        <a:rPr lang="es-ES" sz="1200" dirty="0"/>
                        <a:t>byte</a:t>
                      </a:r>
                    </a:p>
                  </a:txBody>
                  <a:tcPr/>
                </a:tc>
                <a:tc>
                  <a:txBody>
                    <a:bodyPr/>
                    <a:lstStyle/>
                    <a:p>
                      <a:r>
                        <a:rPr lang="es-ES" sz="1200" dirty="0" err="1"/>
                        <a:t>else</a:t>
                      </a:r>
                      <a:endParaRPr lang="es-ES" sz="1200" dirty="0"/>
                    </a:p>
                  </a:txBody>
                  <a:tcPr/>
                </a:tc>
                <a:tc>
                  <a:txBody>
                    <a:bodyPr/>
                    <a:lstStyle/>
                    <a:p>
                      <a:r>
                        <a:rPr lang="es-ES" sz="1200" dirty="0" err="1"/>
                        <a:t>import</a:t>
                      </a:r>
                      <a:endParaRPr lang="es-ES" sz="1200" dirty="0"/>
                    </a:p>
                  </a:txBody>
                  <a:tcPr/>
                </a:tc>
                <a:tc>
                  <a:txBody>
                    <a:bodyPr/>
                    <a:lstStyle/>
                    <a:p>
                      <a:r>
                        <a:rPr lang="es-ES" sz="1200" dirty="0" err="1"/>
                        <a:t>protected</a:t>
                      </a:r>
                      <a:endParaRPr lang="es-ES" sz="1200" dirty="0"/>
                    </a:p>
                  </a:txBody>
                  <a:tcPr/>
                </a:tc>
                <a:tc>
                  <a:txBody>
                    <a:bodyPr/>
                    <a:lstStyle/>
                    <a:p>
                      <a:r>
                        <a:rPr lang="es-ES" sz="1200" dirty="0" err="1"/>
                        <a:t>this</a:t>
                      </a:r>
                      <a:endParaRPr lang="es-ES" sz="1200" dirty="0"/>
                    </a:p>
                  </a:txBody>
                  <a:tcPr/>
                </a:tc>
                <a:tc>
                  <a:txBody>
                    <a:bodyPr/>
                    <a:lstStyle/>
                    <a:p>
                      <a:endParaRPr lang="es-ES" sz="1200" dirty="0"/>
                    </a:p>
                  </a:txBody>
                  <a:tcPr/>
                </a:tc>
                <a:extLst>
                  <a:ext uri="{0D108BD9-81ED-4DB2-BD59-A6C34878D82A}">
                    <a16:rowId xmlns:a16="http://schemas.microsoft.com/office/drawing/2014/main" val="3698754300"/>
                  </a:ext>
                </a:extLst>
              </a:tr>
              <a:tr h="349763">
                <a:tc>
                  <a:txBody>
                    <a:bodyPr/>
                    <a:lstStyle/>
                    <a:p>
                      <a:r>
                        <a:rPr lang="es-ES" sz="1200" dirty="0"/>
                        <a:t>case</a:t>
                      </a:r>
                    </a:p>
                  </a:txBody>
                  <a:tcPr/>
                </a:tc>
                <a:tc>
                  <a:txBody>
                    <a:bodyPr/>
                    <a:lstStyle/>
                    <a:p>
                      <a:r>
                        <a:rPr lang="es-ES" sz="1200" dirty="0" err="1"/>
                        <a:t>enum</a:t>
                      </a:r>
                      <a:endParaRPr lang="es-ES" sz="1200" dirty="0"/>
                    </a:p>
                  </a:txBody>
                  <a:tcPr/>
                </a:tc>
                <a:tc>
                  <a:txBody>
                    <a:bodyPr/>
                    <a:lstStyle/>
                    <a:p>
                      <a:r>
                        <a:rPr lang="es-ES" sz="1200" dirty="0" err="1"/>
                        <a:t>instanceof</a:t>
                      </a:r>
                      <a:endParaRPr lang="es-ES" sz="1200" dirty="0"/>
                    </a:p>
                  </a:txBody>
                  <a:tcPr/>
                </a:tc>
                <a:tc>
                  <a:txBody>
                    <a:bodyPr/>
                    <a:lstStyle/>
                    <a:p>
                      <a:r>
                        <a:rPr lang="es-ES" sz="1200" dirty="0" err="1"/>
                        <a:t>public</a:t>
                      </a:r>
                      <a:endParaRPr lang="es-ES" sz="1200" dirty="0"/>
                    </a:p>
                  </a:txBody>
                  <a:tcPr/>
                </a:tc>
                <a:tc>
                  <a:txBody>
                    <a:bodyPr/>
                    <a:lstStyle/>
                    <a:p>
                      <a:r>
                        <a:rPr lang="es-ES" sz="1200" dirty="0" err="1"/>
                        <a:t>throw</a:t>
                      </a:r>
                      <a:endParaRPr lang="es-ES" sz="1200" dirty="0"/>
                    </a:p>
                  </a:txBody>
                  <a:tcPr/>
                </a:tc>
                <a:tc>
                  <a:txBody>
                    <a:bodyPr/>
                    <a:lstStyle/>
                    <a:p>
                      <a:endParaRPr lang="es-ES" sz="1200" dirty="0"/>
                    </a:p>
                  </a:txBody>
                  <a:tcPr/>
                </a:tc>
                <a:extLst>
                  <a:ext uri="{0D108BD9-81ED-4DB2-BD59-A6C34878D82A}">
                    <a16:rowId xmlns:a16="http://schemas.microsoft.com/office/drawing/2014/main" val="2426635888"/>
                  </a:ext>
                </a:extLst>
              </a:tr>
              <a:tr h="349763">
                <a:tc>
                  <a:txBody>
                    <a:bodyPr/>
                    <a:lstStyle/>
                    <a:p>
                      <a:r>
                        <a:rPr lang="es-ES" sz="1200" dirty="0"/>
                        <a:t>catch</a:t>
                      </a:r>
                    </a:p>
                  </a:txBody>
                  <a:tcPr/>
                </a:tc>
                <a:tc>
                  <a:txBody>
                    <a:bodyPr/>
                    <a:lstStyle/>
                    <a:p>
                      <a:r>
                        <a:rPr lang="es-ES" sz="1200" dirty="0" err="1"/>
                        <a:t>extends</a:t>
                      </a:r>
                      <a:endParaRPr lang="es-ES" sz="1200" dirty="0"/>
                    </a:p>
                  </a:txBody>
                  <a:tcPr/>
                </a:tc>
                <a:tc>
                  <a:txBody>
                    <a:bodyPr/>
                    <a:lstStyle/>
                    <a:p>
                      <a:r>
                        <a:rPr lang="es-ES" sz="1200" dirty="0" err="1"/>
                        <a:t>int</a:t>
                      </a:r>
                      <a:endParaRPr lang="es-ES" sz="1200" dirty="0"/>
                    </a:p>
                  </a:txBody>
                  <a:tcPr/>
                </a:tc>
                <a:tc>
                  <a:txBody>
                    <a:bodyPr/>
                    <a:lstStyle/>
                    <a:p>
                      <a:r>
                        <a:rPr lang="es-ES" sz="1200" dirty="0" err="1"/>
                        <a:t>return</a:t>
                      </a:r>
                      <a:endParaRPr lang="es-ES" sz="1200" dirty="0"/>
                    </a:p>
                  </a:txBody>
                  <a:tcPr/>
                </a:tc>
                <a:tc>
                  <a:txBody>
                    <a:bodyPr/>
                    <a:lstStyle/>
                    <a:p>
                      <a:r>
                        <a:rPr lang="es-ES" sz="1200" dirty="0" err="1"/>
                        <a:t>throws</a:t>
                      </a:r>
                      <a:endParaRPr lang="es-ES" sz="1200" dirty="0"/>
                    </a:p>
                  </a:txBody>
                  <a:tcPr/>
                </a:tc>
                <a:tc>
                  <a:txBody>
                    <a:bodyPr/>
                    <a:lstStyle/>
                    <a:p>
                      <a:endParaRPr lang="es-ES" sz="1200" dirty="0"/>
                    </a:p>
                  </a:txBody>
                  <a:tcPr/>
                </a:tc>
                <a:extLst>
                  <a:ext uri="{0D108BD9-81ED-4DB2-BD59-A6C34878D82A}">
                    <a16:rowId xmlns:a16="http://schemas.microsoft.com/office/drawing/2014/main" val="8387957"/>
                  </a:ext>
                </a:extLst>
              </a:tr>
              <a:tr h="349763">
                <a:tc>
                  <a:txBody>
                    <a:bodyPr/>
                    <a:lstStyle/>
                    <a:p>
                      <a:r>
                        <a:rPr lang="es-ES" sz="1200" dirty="0" err="1"/>
                        <a:t>char</a:t>
                      </a:r>
                      <a:endParaRPr lang="es-ES" sz="1200" dirty="0"/>
                    </a:p>
                  </a:txBody>
                  <a:tcPr/>
                </a:tc>
                <a:tc>
                  <a:txBody>
                    <a:bodyPr/>
                    <a:lstStyle/>
                    <a:p>
                      <a:r>
                        <a:rPr lang="es-ES" sz="1200" dirty="0"/>
                        <a:t>final</a:t>
                      </a:r>
                    </a:p>
                  </a:txBody>
                  <a:tcPr/>
                </a:tc>
                <a:tc>
                  <a:txBody>
                    <a:bodyPr/>
                    <a:lstStyle/>
                    <a:p>
                      <a:r>
                        <a:rPr lang="es-ES" sz="1200" dirty="0"/>
                        <a:t>interface</a:t>
                      </a:r>
                    </a:p>
                  </a:txBody>
                  <a:tcPr/>
                </a:tc>
                <a:tc>
                  <a:txBody>
                    <a:bodyPr/>
                    <a:lstStyle/>
                    <a:p>
                      <a:r>
                        <a:rPr lang="es-ES" sz="1200" dirty="0"/>
                        <a:t>short</a:t>
                      </a:r>
                    </a:p>
                  </a:txBody>
                  <a:tcPr/>
                </a:tc>
                <a:tc>
                  <a:txBody>
                    <a:bodyPr/>
                    <a:lstStyle/>
                    <a:p>
                      <a:r>
                        <a:rPr lang="es-ES" sz="1200" dirty="0" err="1"/>
                        <a:t>transient</a:t>
                      </a:r>
                      <a:endParaRPr lang="es-ES" sz="1200" dirty="0"/>
                    </a:p>
                  </a:txBody>
                  <a:tcPr/>
                </a:tc>
                <a:tc>
                  <a:txBody>
                    <a:bodyPr/>
                    <a:lstStyle/>
                    <a:p>
                      <a:endParaRPr lang="es-ES" sz="1200" dirty="0"/>
                    </a:p>
                  </a:txBody>
                  <a:tcPr/>
                </a:tc>
                <a:extLst>
                  <a:ext uri="{0D108BD9-81ED-4DB2-BD59-A6C34878D82A}">
                    <a16:rowId xmlns:a16="http://schemas.microsoft.com/office/drawing/2014/main" val="2714387807"/>
                  </a:ext>
                </a:extLst>
              </a:tr>
              <a:tr h="202641">
                <a:tc>
                  <a:txBody>
                    <a:bodyPr/>
                    <a:lstStyle/>
                    <a:p>
                      <a:r>
                        <a:rPr lang="es-ES" sz="1200" dirty="0" err="1"/>
                        <a:t>class</a:t>
                      </a:r>
                      <a:endParaRPr lang="es-ES" sz="1200" dirty="0"/>
                    </a:p>
                  </a:txBody>
                  <a:tcPr/>
                </a:tc>
                <a:tc>
                  <a:txBody>
                    <a:bodyPr/>
                    <a:lstStyle/>
                    <a:p>
                      <a:r>
                        <a:rPr lang="es-ES" sz="1200" dirty="0" err="1"/>
                        <a:t>finally</a:t>
                      </a:r>
                      <a:endParaRPr lang="es-ES" sz="1200" dirty="0"/>
                    </a:p>
                  </a:txBody>
                  <a:tcPr/>
                </a:tc>
                <a:tc>
                  <a:txBody>
                    <a:bodyPr/>
                    <a:lstStyle/>
                    <a:p>
                      <a:r>
                        <a:rPr lang="es-ES" sz="1200" dirty="0" err="1"/>
                        <a:t>long</a:t>
                      </a:r>
                      <a:endParaRPr lang="es-ES" sz="1200" dirty="0"/>
                    </a:p>
                  </a:txBody>
                  <a:tcPr/>
                </a:tc>
                <a:tc>
                  <a:txBody>
                    <a:bodyPr/>
                    <a:lstStyle/>
                    <a:p>
                      <a:r>
                        <a:rPr lang="es-ES" sz="1200" dirty="0" err="1"/>
                        <a:t>static</a:t>
                      </a:r>
                      <a:endParaRPr lang="es-ES" sz="1200" dirty="0"/>
                    </a:p>
                  </a:txBody>
                  <a:tcPr/>
                </a:tc>
                <a:tc>
                  <a:txBody>
                    <a:bodyPr/>
                    <a:lstStyle/>
                    <a:p>
                      <a:r>
                        <a:rPr lang="es-ES" sz="1200" dirty="0"/>
                        <a:t>try</a:t>
                      </a:r>
                    </a:p>
                  </a:txBody>
                  <a:tcPr/>
                </a:tc>
                <a:tc>
                  <a:txBody>
                    <a:bodyPr/>
                    <a:lstStyle/>
                    <a:p>
                      <a:endParaRPr lang="es-ES" sz="1200" dirty="0"/>
                    </a:p>
                  </a:txBody>
                  <a:tcPr/>
                </a:tc>
                <a:extLst>
                  <a:ext uri="{0D108BD9-81ED-4DB2-BD59-A6C34878D82A}">
                    <a16:rowId xmlns:a16="http://schemas.microsoft.com/office/drawing/2014/main" val="2423683415"/>
                  </a:ext>
                </a:extLst>
              </a:tr>
            </a:tbl>
          </a:graphicData>
        </a:graphic>
      </p:graphicFrame>
    </p:spTree>
    <p:extLst>
      <p:ext uri="{BB962C8B-B14F-4D97-AF65-F5344CB8AC3E}">
        <p14:creationId xmlns:p14="http://schemas.microsoft.com/office/powerpoint/2010/main" val="3221965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5 Grupo"/>
          <p:cNvGrpSpPr/>
          <p:nvPr/>
        </p:nvGrpSpPr>
        <p:grpSpPr>
          <a:xfrm>
            <a:off x="907926" y="4139788"/>
            <a:ext cx="7192466" cy="1377444"/>
            <a:chOff x="907926" y="4139788"/>
            <a:chExt cx="7192466" cy="1377444"/>
          </a:xfrm>
        </p:grpSpPr>
        <p:sp>
          <p:nvSpPr>
            <p:cNvPr id="91" name="90 Rectángulo"/>
            <p:cNvSpPr/>
            <p:nvPr/>
          </p:nvSpPr>
          <p:spPr bwMode="auto">
            <a:xfrm>
              <a:off x="907926" y="4509120"/>
              <a:ext cx="7192466" cy="1008112"/>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7" name="76 CuadroTexto"/>
            <p:cNvSpPr txBox="1"/>
            <p:nvPr/>
          </p:nvSpPr>
          <p:spPr>
            <a:xfrm>
              <a:off x="2077808" y="4821535"/>
              <a:ext cx="1297150" cy="400110"/>
            </a:xfrm>
            <a:prstGeom prst="rect">
              <a:avLst/>
            </a:prstGeom>
            <a:noFill/>
          </p:spPr>
          <p:txBody>
            <a:bodyPr wrap="none" rtlCol="0">
              <a:spAutoFit/>
            </a:bodyPr>
            <a:lstStyle/>
            <a:p>
              <a:pPr algn="ctr"/>
              <a:r>
                <a:rPr lang="es-ES" sz="2000" b="1" dirty="0">
                  <a:solidFill>
                    <a:srgbClr val="000000"/>
                  </a:solidFill>
                  <a:latin typeface="Adobe Gothic Std B" pitchFamily="34" charset="-128"/>
                  <a:ea typeface="Adobe Gothic Std B" pitchFamily="34" charset="-128"/>
                </a:rPr>
                <a:t>10 </a:t>
              </a:r>
              <a:r>
                <a:rPr lang="es-ES" sz="2000" b="1" dirty="0">
                  <a:solidFill>
                    <a:srgbClr val="FF0000"/>
                  </a:solidFill>
                  <a:latin typeface="Adobe Gothic Std B" pitchFamily="34" charset="-128"/>
                  <a:ea typeface="Adobe Gothic Std B" pitchFamily="34" charset="-128"/>
                </a:rPr>
                <a:t>+</a:t>
              </a:r>
              <a:r>
                <a:rPr lang="es-ES" sz="2000" b="1" dirty="0">
                  <a:solidFill>
                    <a:srgbClr val="000000"/>
                  </a:solidFill>
                  <a:latin typeface="Adobe Gothic Std B" pitchFamily="34" charset="-128"/>
                  <a:ea typeface="Adobe Gothic Std B" pitchFamily="34" charset="-128"/>
                </a:rPr>
                <a:t> 3 </a:t>
              </a:r>
              <a:r>
                <a:rPr lang="es-ES" sz="2000" b="1" dirty="0">
                  <a:solidFill>
                    <a:srgbClr val="FF0000"/>
                  </a:solidFill>
                  <a:latin typeface="Adobe Gothic Std B" pitchFamily="34" charset="-128"/>
                  <a:ea typeface="Adobe Gothic Std B" pitchFamily="34" charset="-128"/>
                </a:rPr>
                <a:t>*</a:t>
              </a:r>
              <a:r>
                <a:rPr lang="es-ES" sz="2000" b="1" dirty="0">
                  <a:solidFill>
                    <a:srgbClr val="000000"/>
                  </a:solidFill>
                  <a:latin typeface="Adobe Gothic Std B" pitchFamily="34" charset="-128"/>
                  <a:ea typeface="Adobe Gothic Std B" pitchFamily="34" charset="-128"/>
                </a:rPr>
                <a:t> 8</a:t>
              </a:r>
            </a:p>
          </p:txBody>
        </p:sp>
        <p:sp>
          <p:nvSpPr>
            <p:cNvPr id="87" name="86 CuadroTexto"/>
            <p:cNvSpPr txBox="1"/>
            <p:nvPr/>
          </p:nvSpPr>
          <p:spPr>
            <a:xfrm>
              <a:off x="2535535" y="4139788"/>
              <a:ext cx="3765078" cy="369332"/>
            </a:xfrm>
            <a:prstGeom prst="rect">
              <a:avLst/>
            </a:prstGeom>
            <a:noFill/>
          </p:spPr>
          <p:txBody>
            <a:bodyPr wrap="square" rtlCol="0">
              <a:spAutoFit/>
            </a:bodyPr>
            <a:lstStyle/>
            <a:p>
              <a:pPr algn="ctr"/>
              <a:r>
                <a:rPr lang="es-ES" sz="1800" dirty="0">
                  <a:solidFill>
                    <a:srgbClr val="0070C0"/>
                  </a:solidFill>
                </a:rPr>
                <a:t>Precedencia de Operadores</a:t>
              </a:r>
            </a:p>
          </p:txBody>
        </p:sp>
      </p:grpSp>
      <p:grpSp>
        <p:nvGrpSpPr>
          <p:cNvPr id="4" name="3 Grupo"/>
          <p:cNvGrpSpPr/>
          <p:nvPr/>
        </p:nvGrpSpPr>
        <p:grpSpPr>
          <a:xfrm>
            <a:off x="907926" y="2863601"/>
            <a:ext cx="7192466" cy="1199233"/>
            <a:chOff x="907926" y="2863601"/>
            <a:chExt cx="7192466" cy="1199233"/>
          </a:xfrm>
        </p:grpSpPr>
        <p:sp>
          <p:nvSpPr>
            <p:cNvPr id="81" name="80 Rectángulo"/>
            <p:cNvSpPr/>
            <p:nvPr/>
          </p:nvSpPr>
          <p:spPr bwMode="auto">
            <a:xfrm>
              <a:off x="907926" y="3188444"/>
              <a:ext cx="7192466" cy="874390"/>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2" name="61 CuadroTexto"/>
            <p:cNvSpPr txBox="1"/>
            <p:nvPr/>
          </p:nvSpPr>
          <p:spPr>
            <a:xfrm>
              <a:off x="1043608" y="3136339"/>
              <a:ext cx="1779654" cy="523220"/>
            </a:xfrm>
            <a:prstGeom prst="rect">
              <a:avLst/>
            </a:prstGeom>
            <a:noFill/>
          </p:spPr>
          <p:txBody>
            <a:bodyPr wrap="none" rtlCol="0">
              <a:spAutoFit/>
            </a:bodyPr>
            <a:lstStyle/>
            <a:p>
              <a:pPr algn="ctr"/>
              <a:r>
                <a:rPr lang="es-ES" sz="2000" b="1" dirty="0">
                  <a:solidFill>
                    <a:srgbClr val="0070C0"/>
                  </a:solidFill>
                  <a:latin typeface="Adobe Gothic Std B" pitchFamily="34" charset="-128"/>
                  <a:ea typeface="Adobe Gothic Std B" pitchFamily="34" charset="-128"/>
                </a:rPr>
                <a:t>13</a:t>
              </a:r>
              <a:r>
                <a:rPr lang="es-ES" sz="2000" b="1" dirty="0">
                  <a:solidFill>
                    <a:srgbClr val="0070C0"/>
                  </a:solidFill>
                </a:rPr>
                <a:t>  </a:t>
              </a:r>
              <a:r>
                <a:rPr lang="es-ES" sz="2800" b="1" dirty="0">
                  <a:solidFill>
                    <a:srgbClr val="0070C0"/>
                  </a:solidFill>
                </a:rPr>
                <a:t>←</a:t>
              </a:r>
              <a:r>
                <a:rPr lang="es-ES" sz="2000" b="1" dirty="0">
                  <a:solidFill>
                    <a:srgbClr val="0070C0"/>
                  </a:solidFill>
                </a:rPr>
                <a:t> </a:t>
              </a:r>
              <a:r>
                <a:rPr lang="es-ES" sz="2000" b="1" dirty="0">
                  <a:solidFill>
                    <a:srgbClr val="000000"/>
                  </a:solidFill>
                  <a:latin typeface="Adobe Gothic Std B" pitchFamily="34" charset="-128"/>
                  <a:ea typeface="Adobe Gothic Std B" pitchFamily="34" charset="-128"/>
                </a:rPr>
                <a:t>10 </a:t>
              </a:r>
              <a:r>
                <a:rPr lang="es-ES" sz="2000" b="1" dirty="0">
                  <a:solidFill>
                    <a:srgbClr val="FF0000"/>
                  </a:solidFill>
                  <a:latin typeface="Adobe Gothic Std B" pitchFamily="34" charset="-128"/>
                  <a:ea typeface="Adobe Gothic Std B" pitchFamily="34" charset="-128"/>
                </a:rPr>
                <a:t>+</a:t>
              </a:r>
              <a:r>
                <a:rPr lang="es-ES" sz="2000" b="1" dirty="0">
                  <a:solidFill>
                    <a:srgbClr val="000000"/>
                  </a:solidFill>
                  <a:latin typeface="Adobe Gothic Std B" pitchFamily="34" charset="-128"/>
                  <a:ea typeface="Adobe Gothic Std B" pitchFamily="34" charset="-128"/>
                </a:rPr>
                <a:t> 3</a:t>
              </a:r>
            </a:p>
          </p:txBody>
        </p:sp>
        <p:sp>
          <p:nvSpPr>
            <p:cNvPr id="63" name="62 CuadroTexto"/>
            <p:cNvSpPr txBox="1"/>
            <p:nvPr/>
          </p:nvSpPr>
          <p:spPr>
            <a:xfrm>
              <a:off x="1226185" y="3478269"/>
              <a:ext cx="1545615" cy="523220"/>
            </a:xfrm>
            <a:prstGeom prst="rect">
              <a:avLst/>
            </a:prstGeom>
            <a:noFill/>
          </p:spPr>
          <p:txBody>
            <a:bodyPr wrap="none" rtlCol="0">
              <a:spAutoFit/>
            </a:bodyPr>
            <a:lstStyle/>
            <a:p>
              <a:pPr algn="ctr"/>
              <a:r>
                <a:rPr lang="es-ES" sz="2000" b="1" dirty="0">
                  <a:solidFill>
                    <a:srgbClr val="0070C0"/>
                  </a:solidFill>
                  <a:latin typeface="Adobe Gothic Std B" pitchFamily="34" charset="-128"/>
                  <a:ea typeface="Adobe Gothic Std B" pitchFamily="34" charset="-128"/>
                </a:rPr>
                <a:t>7</a:t>
              </a:r>
              <a:r>
                <a:rPr lang="es-ES" sz="2000" b="1" dirty="0">
                  <a:solidFill>
                    <a:srgbClr val="0070C0"/>
                  </a:solidFill>
                </a:rPr>
                <a:t>  </a:t>
              </a:r>
              <a:r>
                <a:rPr lang="es-ES" sz="2800" b="1" dirty="0">
                  <a:solidFill>
                    <a:srgbClr val="0070C0"/>
                  </a:solidFill>
                </a:rPr>
                <a:t>←</a:t>
              </a:r>
              <a:r>
                <a:rPr lang="es-ES" sz="2000" b="1" dirty="0">
                  <a:solidFill>
                    <a:srgbClr val="0070C0"/>
                  </a:solidFill>
                </a:rPr>
                <a:t> </a:t>
              </a:r>
              <a:r>
                <a:rPr lang="es-ES" sz="2000" b="1" dirty="0">
                  <a:solidFill>
                    <a:srgbClr val="000000"/>
                  </a:solidFill>
                  <a:latin typeface="Adobe Gothic Std B" pitchFamily="34" charset="-128"/>
                  <a:ea typeface="Adobe Gothic Std B" pitchFamily="34" charset="-128"/>
                </a:rPr>
                <a:t>10 </a:t>
              </a:r>
              <a:r>
                <a:rPr lang="es-ES" sz="2000" b="1" dirty="0">
                  <a:solidFill>
                    <a:srgbClr val="FF0000"/>
                  </a:solidFill>
                  <a:latin typeface="Adobe Gothic Std B" pitchFamily="34" charset="-128"/>
                  <a:ea typeface="Adobe Gothic Std B" pitchFamily="34" charset="-128"/>
                </a:rPr>
                <a:t>-</a:t>
              </a:r>
              <a:r>
                <a:rPr lang="es-ES" sz="2000" b="1" dirty="0">
                  <a:solidFill>
                    <a:srgbClr val="000000"/>
                  </a:solidFill>
                  <a:latin typeface="Adobe Gothic Std B" pitchFamily="34" charset="-128"/>
                  <a:ea typeface="Adobe Gothic Std B" pitchFamily="34" charset="-128"/>
                </a:rPr>
                <a:t> 3</a:t>
              </a:r>
            </a:p>
          </p:txBody>
        </p:sp>
        <p:sp>
          <p:nvSpPr>
            <p:cNvPr id="64" name="63 CuadroTexto"/>
            <p:cNvSpPr txBox="1"/>
            <p:nvPr/>
          </p:nvSpPr>
          <p:spPr>
            <a:xfrm>
              <a:off x="3618416" y="3131676"/>
              <a:ext cx="1728358" cy="523220"/>
            </a:xfrm>
            <a:prstGeom prst="rect">
              <a:avLst/>
            </a:prstGeom>
            <a:noFill/>
          </p:spPr>
          <p:txBody>
            <a:bodyPr wrap="none" rtlCol="0">
              <a:spAutoFit/>
            </a:bodyPr>
            <a:lstStyle/>
            <a:p>
              <a:pPr algn="ctr"/>
              <a:r>
                <a:rPr lang="es-ES" sz="2000" b="1" dirty="0">
                  <a:solidFill>
                    <a:srgbClr val="0070C0"/>
                  </a:solidFill>
                  <a:latin typeface="Adobe Gothic Std B" pitchFamily="34" charset="-128"/>
                  <a:ea typeface="Adobe Gothic Std B" pitchFamily="34" charset="-128"/>
                </a:rPr>
                <a:t>30</a:t>
              </a:r>
              <a:r>
                <a:rPr lang="es-ES" sz="2000" b="1" dirty="0">
                  <a:solidFill>
                    <a:srgbClr val="0070C0"/>
                  </a:solidFill>
                </a:rPr>
                <a:t>  </a:t>
              </a:r>
              <a:r>
                <a:rPr lang="es-ES" sz="2800" b="1" dirty="0">
                  <a:solidFill>
                    <a:srgbClr val="0070C0"/>
                  </a:solidFill>
                </a:rPr>
                <a:t>←</a:t>
              </a:r>
              <a:r>
                <a:rPr lang="es-ES" sz="2000" b="1" dirty="0">
                  <a:solidFill>
                    <a:srgbClr val="0070C0"/>
                  </a:solidFill>
                </a:rPr>
                <a:t> </a:t>
              </a:r>
              <a:r>
                <a:rPr lang="es-ES" sz="2000" b="1" dirty="0">
                  <a:solidFill>
                    <a:srgbClr val="000000"/>
                  </a:solidFill>
                  <a:latin typeface="Adobe Gothic Std B" pitchFamily="34" charset="-128"/>
                  <a:ea typeface="Adobe Gothic Std B" pitchFamily="34" charset="-128"/>
                </a:rPr>
                <a:t>10 </a:t>
              </a:r>
              <a:r>
                <a:rPr lang="es-ES" sz="2000" b="1" dirty="0">
                  <a:solidFill>
                    <a:srgbClr val="FF0000"/>
                  </a:solidFill>
                  <a:latin typeface="Adobe Gothic Std B" pitchFamily="34" charset="-128"/>
                  <a:ea typeface="Adobe Gothic Std B" pitchFamily="34" charset="-128"/>
                </a:rPr>
                <a:t>*</a:t>
              </a:r>
              <a:r>
                <a:rPr lang="es-ES" sz="2000" b="1" dirty="0">
                  <a:solidFill>
                    <a:srgbClr val="000000"/>
                  </a:solidFill>
                  <a:latin typeface="Adobe Gothic Std B" pitchFamily="34" charset="-128"/>
                  <a:ea typeface="Adobe Gothic Std B" pitchFamily="34" charset="-128"/>
                </a:rPr>
                <a:t> 3</a:t>
              </a:r>
            </a:p>
          </p:txBody>
        </p:sp>
        <p:sp>
          <p:nvSpPr>
            <p:cNvPr id="65" name="64 CuadroTexto"/>
            <p:cNvSpPr txBox="1"/>
            <p:nvPr/>
          </p:nvSpPr>
          <p:spPr>
            <a:xfrm>
              <a:off x="3775345" y="3473606"/>
              <a:ext cx="1545615" cy="523220"/>
            </a:xfrm>
            <a:prstGeom prst="rect">
              <a:avLst/>
            </a:prstGeom>
            <a:noFill/>
          </p:spPr>
          <p:txBody>
            <a:bodyPr wrap="none" rtlCol="0">
              <a:spAutoFit/>
            </a:bodyPr>
            <a:lstStyle/>
            <a:p>
              <a:pPr algn="ctr"/>
              <a:r>
                <a:rPr lang="es-ES" sz="2000" b="1" dirty="0">
                  <a:solidFill>
                    <a:srgbClr val="0070C0"/>
                  </a:solidFill>
                  <a:latin typeface="Adobe Gothic Std B" pitchFamily="34" charset="-128"/>
                  <a:ea typeface="Adobe Gothic Std B" pitchFamily="34" charset="-128"/>
                </a:rPr>
                <a:t>3</a:t>
              </a:r>
              <a:r>
                <a:rPr lang="es-ES" sz="2000" b="1" dirty="0">
                  <a:solidFill>
                    <a:srgbClr val="0070C0"/>
                  </a:solidFill>
                </a:rPr>
                <a:t>  </a:t>
              </a:r>
              <a:r>
                <a:rPr lang="es-ES" sz="2800" b="1" dirty="0">
                  <a:solidFill>
                    <a:srgbClr val="0070C0"/>
                  </a:solidFill>
                </a:rPr>
                <a:t>←</a:t>
              </a:r>
              <a:r>
                <a:rPr lang="es-ES" sz="2000" b="1" dirty="0">
                  <a:solidFill>
                    <a:srgbClr val="0070C0"/>
                  </a:solidFill>
                </a:rPr>
                <a:t> </a:t>
              </a:r>
              <a:r>
                <a:rPr lang="es-ES" sz="2000" b="1" dirty="0">
                  <a:solidFill>
                    <a:srgbClr val="000000"/>
                  </a:solidFill>
                  <a:latin typeface="Adobe Gothic Std B" pitchFamily="34" charset="-128"/>
                  <a:ea typeface="Adobe Gothic Std B" pitchFamily="34" charset="-128"/>
                </a:rPr>
                <a:t>10 </a:t>
              </a:r>
              <a:r>
                <a:rPr lang="es-ES" sz="2000" b="1" dirty="0">
                  <a:solidFill>
                    <a:srgbClr val="FF0000"/>
                  </a:solidFill>
                  <a:latin typeface="Adobe Gothic Std B" pitchFamily="34" charset="-128"/>
                  <a:ea typeface="Adobe Gothic Std B" pitchFamily="34" charset="-128"/>
                </a:rPr>
                <a:t>/</a:t>
              </a:r>
              <a:r>
                <a:rPr lang="es-ES" sz="2000" b="1" dirty="0">
                  <a:solidFill>
                    <a:srgbClr val="000000"/>
                  </a:solidFill>
                  <a:latin typeface="Adobe Gothic Std B" pitchFamily="34" charset="-128"/>
                  <a:ea typeface="Adobe Gothic Std B" pitchFamily="34" charset="-128"/>
                </a:rPr>
                <a:t> 3</a:t>
              </a:r>
            </a:p>
          </p:txBody>
        </p:sp>
        <p:sp>
          <p:nvSpPr>
            <p:cNvPr id="66" name="65 CuadroTexto"/>
            <p:cNvSpPr txBox="1"/>
            <p:nvPr/>
          </p:nvSpPr>
          <p:spPr>
            <a:xfrm>
              <a:off x="6112374" y="3131676"/>
              <a:ext cx="1688283" cy="523220"/>
            </a:xfrm>
            <a:prstGeom prst="rect">
              <a:avLst/>
            </a:prstGeom>
            <a:noFill/>
          </p:spPr>
          <p:txBody>
            <a:bodyPr wrap="none" rtlCol="0">
              <a:spAutoFit/>
            </a:bodyPr>
            <a:lstStyle/>
            <a:p>
              <a:pPr algn="ctr"/>
              <a:r>
                <a:rPr lang="es-ES" sz="2000" b="1" dirty="0">
                  <a:solidFill>
                    <a:srgbClr val="0070C0"/>
                  </a:solidFill>
                  <a:latin typeface="Adobe Gothic Std B" pitchFamily="34" charset="-128"/>
                  <a:ea typeface="Adobe Gothic Std B" pitchFamily="34" charset="-128"/>
                </a:rPr>
                <a:t>1</a:t>
              </a:r>
              <a:r>
                <a:rPr lang="es-ES" sz="2000" b="1" dirty="0">
                  <a:solidFill>
                    <a:srgbClr val="0070C0"/>
                  </a:solidFill>
                </a:rPr>
                <a:t>  </a:t>
              </a:r>
              <a:r>
                <a:rPr lang="es-ES" sz="2800" b="1" dirty="0">
                  <a:solidFill>
                    <a:srgbClr val="0070C0"/>
                  </a:solidFill>
                </a:rPr>
                <a:t>←</a:t>
              </a:r>
              <a:r>
                <a:rPr lang="es-ES" sz="2000" b="1" dirty="0">
                  <a:solidFill>
                    <a:srgbClr val="0070C0"/>
                  </a:solidFill>
                </a:rPr>
                <a:t> </a:t>
              </a:r>
              <a:r>
                <a:rPr lang="es-ES" sz="2000" b="1" dirty="0">
                  <a:solidFill>
                    <a:srgbClr val="000000"/>
                  </a:solidFill>
                  <a:latin typeface="Adobe Gothic Std B" pitchFamily="34" charset="-128"/>
                  <a:ea typeface="Adobe Gothic Std B" pitchFamily="34" charset="-128"/>
                </a:rPr>
                <a:t>10 </a:t>
              </a:r>
              <a:r>
                <a:rPr lang="es-ES" sz="2000" b="1" dirty="0">
                  <a:solidFill>
                    <a:srgbClr val="FF0000"/>
                  </a:solidFill>
                  <a:latin typeface="Adobe Gothic Std B" pitchFamily="34" charset="-128"/>
                  <a:ea typeface="Adobe Gothic Std B" pitchFamily="34" charset="-128"/>
                </a:rPr>
                <a:t>%</a:t>
              </a:r>
              <a:r>
                <a:rPr lang="es-ES" sz="2000" b="1" dirty="0">
                  <a:solidFill>
                    <a:srgbClr val="000000"/>
                  </a:solidFill>
                  <a:latin typeface="Adobe Gothic Std B" pitchFamily="34" charset="-128"/>
                  <a:ea typeface="Adobe Gothic Std B" pitchFamily="34" charset="-128"/>
                </a:rPr>
                <a:t> 3</a:t>
              </a:r>
            </a:p>
          </p:txBody>
        </p:sp>
        <p:sp>
          <p:nvSpPr>
            <p:cNvPr id="86" name="85 CuadroTexto"/>
            <p:cNvSpPr txBox="1"/>
            <p:nvPr/>
          </p:nvSpPr>
          <p:spPr>
            <a:xfrm>
              <a:off x="2534636" y="2863601"/>
              <a:ext cx="3765078" cy="369332"/>
            </a:xfrm>
            <a:prstGeom prst="rect">
              <a:avLst/>
            </a:prstGeom>
            <a:noFill/>
          </p:spPr>
          <p:txBody>
            <a:bodyPr wrap="square" rtlCol="0">
              <a:spAutoFit/>
            </a:bodyPr>
            <a:lstStyle/>
            <a:p>
              <a:pPr algn="ctr"/>
              <a:r>
                <a:rPr lang="es-ES" sz="1800" dirty="0">
                  <a:solidFill>
                    <a:srgbClr val="0070C0"/>
                  </a:solidFill>
                </a:rPr>
                <a:t>Operadores Comunes</a:t>
              </a:r>
            </a:p>
          </p:txBody>
        </p:sp>
      </p:grpSp>
      <p:sp>
        <p:nvSpPr>
          <p:cNvPr id="2" name="1 Título"/>
          <p:cNvSpPr>
            <a:spLocks noGrp="1"/>
          </p:cNvSpPr>
          <p:nvPr>
            <p:ph type="title"/>
          </p:nvPr>
        </p:nvSpPr>
        <p:spPr>
          <a:xfrm>
            <a:off x="779412" y="66675"/>
            <a:ext cx="7392988" cy="563563"/>
          </a:xfrm>
        </p:spPr>
        <p:txBody>
          <a:bodyPr/>
          <a:lstStyle/>
          <a:p>
            <a:r>
              <a:rPr lang="es-ES" dirty="0"/>
              <a:t>Expresiones Aritméticas</a:t>
            </a:r>
          </a:p>
        </p:txBody>
      </p:sp>
      <p:sp>
        <p:nvSpPr>
          <p:cNvPr id="31" name="30 CuadroTexto"/>
          <p:cNvSpPr txBox="1"/>
          <p:nvPr/>
        </p:nvSpPr>
        <p:spPr>
          <a:xfrm>
            <a:off x="260835" y="1844824"/>
            <a:ext cx="3435556" cy="369332"/>
          </a:xfrm>
          <a:prstGeom prst="rect">
            <a:avLst/>
          </a:prstGeom>
          <a:noFill/>
        </p:spPr>
        <p:txBody>
          <a:bodyPr wrap="none" rtlCol="0">
            <a:spAutoFit/>
          </a:bodyPr>
          <a:lstStyle/>
          <a:p>
            <a:r>
              <a:rPr lang="es-ES" sz="1800" dirty="0">
                <a:solidFill>
                  <a:srgbClr val="FF0000"/>
                </a:solidFill>
              </a:rPr>
              <a:t>distancia</a:t>
            </a:r>
            <a:r>
              <a:rPr lang="es-ES" sz="1800" dirty="0">
                <a:solidFill>
                  <a:schemeClr val="accent4">
                    <a:lumMod val="90000"/>
                    <a:lumOff val="10000"/>
                  </a:schemeClr>
                </a:solidFill>
              </a:rPr>
              <a:t> = </a:t>
            </a:r>
            <a:r>
              <a:rPr lang="es-ES" sz="1800" dirty="0">
                <a:solidFill>
                  <a:srgbClr val="FF0000"/>
                </a:solidFill>
              </a:rPr>
              <a:t>velocidad</a:t>
            </a:r>
            <a:r>
              <a:rPr lang="es-ES" sz="1800" dirty="0">
                <a:solidFill>
                  <a:schemeClr val="accent4">
                    <a:lumMod val="90000"/>
                    <a:lumOff val="10000"/>
                  </a:schemeClr>
                </a:solidFill>
              </a:rPr>
              <a:t> * </a:t>
            </a:r>
            <a:r>
              <a:rPr lang="es-ES" sz="1800" dirty="0">
                <a:solidFill>
                  <a:srgbClr val="FF0000"/>
                </a:solidFill>
              </a:rPr>
              <a:t>tiempo;</a:t>
            </a:r>
          </a:p>
        </p:txBody>
      </p:sp>
      <p:grpSp>
        <p:nvGrpSpPr>
          <p:cNvPr id="58" name="57 Grupo"/>
          <p:cNvGrpSpPr/>
          <p:nvPr/>
        </p:nvGrpSpPr>
        <p:grpSpPr>
          <a:xfrm>
            <a:off x="4014825" y="1124744"/>
            <a:ext cx="3736540" cy="1601524"/>
            <a:chOff x="2483768" y="1539444"/>
            <a:chExt cx="3736540" cy="1601524"/>
          </a:xfrm>
        </p:grpSpPr>
        <p:grpSp>
          <p:nvGrpSpPr>
            <p:cNvPr id="35" name="34 Grupo"/>
            <p:cNvGrpSpPr/>
            <p:nvPr/>
          </p:nvGrpSpPr>
          <p:grpSpPr>
            <a:xfrm>
              <a:off x="5200716" y="2441016"/>
              <a:ext cx="877163" cy="699952"/>
              <a:chOff x="2725531" y="2684410"/>
              <a:chExt cx="877163" cy="699952"/>
            </a:xfrm>
          </p:grpSpPr>
          <p:sp>
            <p:nvSpPr>
              <p:cNvPr id="32" name="31 Rectángulo"/>
              <p:cNvSpPr/>
              <p:nvPr/>
            </p:nvSpPr>
            <p:spPr bwMode="auto">
              <a:xfrm>
                <a:off x="2836206" y="3010075"/>
                <a:ext cx="658543" cy="323064"/>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3" name="32 CuadroTexto"/>
              <p:cNvSpPr txBox="1"/>
              <p:nvPr/>
            </p:nvSpPr>
            <p:spPr>
              <a:xfrm>
                <a:off x="2725531" y="2684410"/>
                <a:ext cx="877163" cy="369332"/>
              </a:xfrm>
              <a:prstGeom prst="rect">
                <a:avLst/>
              </a:prstGeom>
              <a:noFill/>
            </p:spPr>
            <p:txBody>
              <a:bodyPr wrap="none" rtlCol="0">
                <a:spAutoFit/>
              </a:bodyPr>
              <a:lstStyle/>
              <a:p>
                <a:pPr algn="ctr"/>
                <a:r>
                  <a:rPr lang="es-ES" sz="1800" dirty="0">
                    <a:solidFill>
                      <a:srgbClr val="FF0000"/>
                    </a:solidFill>
                  </a:rPr>
                  <a:t>tiempo</a:t>
                </a:r>
              </a:p>
            </p:txBody>
          </p:sp>
          <p:sp>
            <p:nvSpPr>
              <p:cNvPr id="34" name="33 CuadroTexto"/>
              <p:cNvSpPr txBox="1"/>
              <p:nvPr/>
            </p:nvSpPr>
            <p:spPr>
              <a:xfrm>
                <a:off x="3001810" y="2984252"/>
                <a:ext cx="327334" cy="400110"/>
              </a:xfrm>
              <a:prstGeom prst="rect">
                <a:avLst/>
              </a:prstGeom>
              <a:noFill/>
            </p:spPr>
            <p:txBody>
              <a:bodyPr wrap="none" rtlCol="0">
                <a:spAutoFit/>
              </a:bodyPr>
              <a:lstStyle/>
              <a:p>
                <a:pPr algn="ctr"/>
                <a:r>
                  <a:rPr lang="es-ES" sz="2000" b="1" dirty="0">
                    <a:solidFill>
                      <a:srgbClr val="000000"/>
                    </a:solidFill>
                  </a:rPr>
                  <a:t>3</a:t>
                </a:r>
              </a:p>
            </p:txBody>
          </p:sp>
        </p:grpSp>
        <p:grpSp>
          <p:nvGrpSpPr>
            <p:cNvPr id="36" name="35 Grupo"/>
            <p:cNvGrpSpPr/>
            <p:nvPr/>
          </p:nvGrpSpPr>
          <p:grpSpPr>
            <a:xfrm>
              <a:off x="5061016" y="1539444"/>
              <a:ext cx="1159292" cy="699952"/>
              <a:chOff x="2585831" y="2684410"/>
              <a:chExt cx="1159292" cy="699952"/>
            </a:xfrm>
          </p:grpSpPr>
          <p:sp>
            <p:nvSpPr>
              <p:cNvPr id="37" name="36 Rectángulo"/>
              <p:cNvSpPr/>
              <p:nvPr/>
            </p:nvSpPr>
            <p:spPr bwMode="auto">
              <a:xfrm>
                <a:off x="2836206" y="3010075"/>
                <a:ext cx="658543" cy="323064"/>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8" name="37 CuadroTexto"/>
              <p:cNvSpPr txBox="1"/>
              <p:nvPr/>
            </p:nvSpPr>
            <p:spPr>
              <a:xfrm>
                <a:off x="2585831" y="2684410"/>
                <a:ext cx="1159292" cy="369332"/>
              </a:xfrm>
              <a:prstGeom prst="rect">
                <a:avLst/>
              </a:prstGeom>
              <a:noFill/>
            </p:spPr>
            <p:txBody>
              <a:bodyPr wrap="none" rtlCol="0">
                <a:spAutoFit/>
              </a:bodyPr>
              <a:lstStyle/>
              <a:p>
                <a:r>
                  <a:rPr lang="es-ES" sz="1800" dirty="0">
                    <a:solidFill>
                      <a:srgbClr val="FF0000"/>
                    </a:solidFill>
                  </a:rPr>
                  <a:t>velocidad</a:t>
                </a:r>
              </a:p>
            </p:txBody>
          </p:sp>
          <p:sp>
            <p:nvSpPr>
              <p:cNvPr id="39" name="38 CuadroTexto"/>
              <p:cNvSpPr txBox="1"/>
              <p:nvPr/>
            </p:nvSpPr>
            <p:spPr>
              <a:xfrm>
                <a:off x="2859143" y="2984252"/>
                <a:ext cx="612668" cy="400110"/>
              </a:xfrm>
              <a:prstGeom prst="rect">
                <a:avLst/>
              </a:prstGeom>
              <a:noFill/>
            </p:spPr>
            <p:txBody>
              <a:bodyPr wrap="none" rtlCol="0">
                <a:spAutoFit/>
              </a:bodyPr>
              <a:lstStyle/>
              <a:p>
                <a:pPr algn="ctr"/>
                <a:r>
                  <a:rPr lang="es-ES" sz="2000" b="1" dirty="0">
                    <a:solidFill>
                      <a:srgbClr val="000000"/>
                    </a:solidFill>
                  </a:rPr>
                  <a:t>100</a:t>
                </a:r>
              </a:p>
            </p:txBody>
          </p:sp>
        </p:grpSp>
        <p:grpSp>
          <p:nvGrpSpPr>
            <p:cNvPr id="40" name="39 Grupo"/>
            <p:cNvGrpSpPr/>
            <p:nvPr/>
          </p:nvGrpSpPr>
          <p:grpSpPr>
            <a:xfrm>
              <a:off x="2483768" y="1959576"/>
              <a:ext cx="1095173" cy="699952"/>
              <a:chOff x="2616528" y="2684410"/>
              <a:chExt cx="1095173" cy="699952"/>
            </a:xfrm>
          </p:grpSpPr>
          <p:sp>
            <p:nvSpPr>
              <p:cNvPr id="41" name="40 Rectángulo"/>
              <p:cNvSpPr/>
              <p:nvPr/>
            </p:nvSpPr>
            <p:spPr bwMode="auto">
              <a:xfrm>
                <a:off x="2836206" y="3010075"/>
                <a:ext cx="658543" cy="323064"/>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2" name="41 CuadroTexto"/>
              <p:cNvSpPr txBox="1"/>
              <p:nvPr/>
            </p:nvSpPr>
            <p:spPr>
              <a:xfrm>
                <a:off x="2616528" y="2684410"/>
                <a:ext cx="1095173" cy="369332"/>
              </a:xfrm>
              <a:prstGeom prst="rect">
                <a:avLst/>
              </a:prstGeom>
              <a:noFill/>
            </p:spPr>
            <p:txBody>
              <a:bodyPr wrap="none" rtlCol="0">
                <a:spAutoFit/>
              </a:bodyPr>
              <a:lstStyle/>
              <a:p>
                <a:pPr algn="ctr"/>
                <a:r>
                  <a:rPr lang="es-ES" sz="1800" dirty="0">
                    <a:solidFill>
                      <a:srgbClr val="FF0000"/>
                    </a:solidFill>
                  </a:rPr>
                  <a:t>distancia</a:t>
                </a:r>
              </a:p>
            </p:txBody>
          </p:sp>
          <p:sp>
            <p:nvSpPr>
              <p:cNvPr id="43" name="42 CuadroTexto"/>
              <p:cNvSpPr txBox="1"/>
              <p:nvPr/>
            </p:nvSpPr>
            <p:spPr>
              <a:xfrm>
                <a:off x="2859143" y="2984252"/>
                <a:ext cx="612668" cy="400110"/>
              </a:xfrm>
              <a:prstGeom prst="rect">
                <a:avLst/>
              </a:prstGeom>
              <a:noFill/>
            </p:spPr>
            <p:txBody>
              <a:bodyPr wrap="none" rtlCol="0">
                <a:spAutoFit/>
              </a:bodyPr>
              <a:lstStyle/>
              <a:p>
                <a:pPr algn="ctr"/>
                <a:r>
                  <a:rPr lang="es-ES" sz="2000" b="1" dirty="0">
                    <a:solidFill>
                      <a:srgbClr val="000000"/>
                    </a:solidFill>
                  </a:rPr>
                  <a:t>300</a:t>
                </a:r>
              </a:p>
            </p:txBody>
          </p:sp>
        </p:grpSp>
        <p:cxnSp>
          <p:nvCxnSpPr>
            <p:cNvPr id="45" name="44 Conector angular"/>
            <p:cNvCxnSpPr>
              <a:stCxn id="37" idx="1"/>
              <a:endCxn id="32" idx="1"/>
            </p:cNvCxnSpPr>
            <p:nvPr/>
          </p:nvCxnSpPr>
          <p:spPr bwMode="auto">
            <a:xfrm rot="10800000" flipV="1">
              <a:off x="5311391" y="2026641"/>
              <a:ext cx="12700" cy="901572"/>
            </a:xfrm>
            <a:prstGeom prst="bentConnector3">
              <a:avLst>
                <a:gd name="adj1" fmla="val 3800000"/>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50" name="49 Conector recto de flecha"/>
            <p:cNvCxnSpPr/>
            <p:nvPr/>
          </p:nvCxnSpPr>
          <p:spPr bwMode="auto">
            <a:xfrm flipH="1">
              <a:off x="3368334" y="2441016"/>
              <a:ext cx="1476658" cy="0"/>
            </a:xfrm>
            <a:prstGeom prst="straightConnector1">
              <a:avLst/>
            </a:prstGeom>
            <a:ln>
              <a:headEnd type="none" w="med" len="med"/>
              <a:tailEnd type="arrow"/>
            </a:ln>
          </p:spPr>
          <p:style>
            <a:lnRef idx="3">
              <a:schemeClr val="accent2"/>
            </a:lnRef>
            <a:fillRef idx="0">
              <a:schemeClr val="accent2"/>
            </a:fillRef>
            <a:effectRef idx="2">
              <a:schemeClr val="accent2"/>
            </a:effectRef>
            <a:fontRef idx="minor">
              <a:schemeClr val="tx1"/>
            </a:fontRef>
          </p:style>
        </p:cxnSp>
        <p:grpSp>
          <p:nvGrpSpPr>
            <p:cNvPr id="57" name="56 Grupo"/>
            <p:cNvGrpSpPr/>
            <p:nvPr/>
          </p:nvGrpSpPr>
          <p:grpSpPr>
            <a:xfrm>
              <a:off x="4688315" y="2283592"/>
              <a:ext cx="324128" cy="480131"/>
              <a:chOff x="4093955" y="2662277"/>
              <a:chExt cx="324128" cy="480131"/>
            </a:xfrm>
          </p:grpSpPr>
          <p:sp>
            <p:nvSpPr>
              <p:cNvPr id="53" name="52 Rectángulo"/>
              <p:cNvSpPr/>
              <p:nvPr/>
            </p:nvSpPr>
            <p:spPr bwMode="auto">
              <a:xfrm>
                <a:off x="4116212" y="2699027"/>
                <a:ext cx="258603" cy="215425"/>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4" name="53 CuadroTexto"/>
              <p:cNvSpPr txBox="1"/>
              <p:nvPr/>
            </p:nvSpPr>
            <p:spPr>
              <a:xfrm>
                <a:off x="4093955" y="2662277"/>
                <a:ext cx="324128" cy="480131"/>
              </a:xfrm>
              <a:prstGeom prst="rect">
                <a:avLst/>
              </a:prstGeom>
              <a:noFill/>
            </p:spPr>
            <p:txBody>
              <a:bodyPr wrap="none" rtlCol="0">
                <a:spAutoFit/>
              </a:bodyPr>
              <a:lstStyle/>
              <a:p>
                <a:pPr algn="ctr">
                  <a:lnSpc>
                    <a:spcPct val="90000"/>
                  </a:lnSpc>
                </a:pPr>
                <a:r>
                  <a:rPr lang="es-ES" sz="2800" dirty="0">
                    <a:solidFill>
                      <a:srgbClr val="0070C0"/>
                    </a:solidFill>
                  </a:rPr>
                  <a:t>*</a:t>
                </a:r>
              </a:p>
            </p:txBody>
          </p:sp>
        </p:grpSp>
      </p:grpSp>
      <p:grpSp>
        <p:nvGrpSpPr>
          <p:cNvPr id="3" name="2 Grupo"/>
          <p:cNvGrpSpPr/>
          <p:nvPr/>
        </p:nvGrpSpPr>
        <p:grpSpPr>
          <a:xfrm>
            <a:off x="1337316" y="1268760"/>
            <a:ext cx="2249334" cy="601728"/>
            <a:chOff x="1337316" y="1268760"/>
            <a:chExt cx="2249334" cy="601728"/>
          </a:xfrm>
        </p:grpSpPr>
        <p:sp>
          <p:nvSpPr>
            <p:cNvPr id="59" name="58 CuadroTexto"/>
            <p:cNvSpPr txBox="1"/>
            <p:nvPr/>
          </p:nvSpPr>
          <p:spPr>
            <a:xfrm>
              <a:off x="1337316" y="1268760"/>
              <a:ext cx="2249334" cy="369332"/>
            </a:xfrm>
            <a:prstGeom prst="rect">
              <a:avLst/>
            </a:prstGeom>
            <a:noFill/>
          </p:spPr>
          <p:txBody>
            <a:bodyPr wrap="none" rtlCol="0">
              <a:spAutoFit/>
            </a:bodyPr>
            <a:lstStyle/>
            <a:p>
              <a:r>
                <a:rPr lang="es-ES" sz="1800" dirty="0">
                  <a:solidFill>
                    <a:srgbClr val="0070C0"/>
                  </a:solidFill>
                </a:rPr>
                <a:t>expresión aritmética</a:t>
              </a:r>
            </a:p>
          </p:txBody>
        </p:sp>
        <p:sp>
          <p:nvSpPr>
            <p:cNvPr id="60" name="59 Abrir llave"/>
            <p:cNvSpPr/>
            <p:nvPr/>
          </p:nvSpPr>
          <p:spPr bwMode="auto">
            <a:xfrm rot="5400000">
              <a:off x="2302093" y="793763"/>
              <a:ext cx="304403" cy="1849047"/>
            </a:xfrm>
            <a:prstGeom prst="leftBrace">
              <a:avLst>
                <a:gd name="adj1" fmla="val 28091"/>
                <a:gd name="adj2" fmla="val 48476"/>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5" name="4 Grupo"/>
          <p:cNvGrpSpPr/>
          <p:nvPr/>
        </p:nvGrpSpPr>
        <p:grpSpPr>
          <a:xfrm>
            <a:off x="6913165" y="3567232"/>
            <a:ext cx="941283" cy="509840"/>
            <a:chOff x="6913165" y="3567232"/>
            <a:chExt cx="941283" cy="509840"/>
          </a:xfrm>
        </p:grpSpPr>
        <p:sp>
          <p:nvSpPr>
            <p:cNvPr id="68" name="67 CuadroTexto"/>
            <p:cNvSpPr txBox="1"/>
            <p:nvPr/>
          </p:nvSpPr>
          <p:spPr>
            <a:xfrm>
              <a:off x="6913165" y="3707740"/>
              <a:ext cx="941283" cy="369332"/>
            </a:xfrm>
            <a:prstGeom prst="rect">
              <a:avLst/>
            </a:prstGeom>
            <a:noFill/>
          </p:spPr>
          <p:txBody>
            <a:bodyPr wrap="none" rtlCol="0">
              <a:spAutoFit/>
            </a:bodyPr>
            <a:lstStyle/>
            <a:p>
              <a:pPr algn="ctr"/>
              <a:r>
                <a:rPr lang="es-ES" sz="1800" dirty="0">
                  <a:solidFill>
                    <a:srgbClr val="FF0000"/>
                  </a:solidFill>
                </a:rPr>
                <a:t>residuo</a:t>
              </a:r>
            </a:p>
          </p:txBody>
        </p:sp>
        <p:cxnSp>
          <p:nvCxnSpPr>
            <p:cNvPr id="74" name="73 Conector recto de flecha"/>
            <p:cNvCxnSpPr/>
            <p:nvPr/>
          </p:nvCxnSpPr>
          <p:spPr bwMode="auto">
            <a:xfrm flipH="1" flipV="1">
              <a:off x="7389912" y="3567232"/>
              <a:ext cx="868" cy="203185"/>
            </a:xfrm>
            <a:prstGeom prst="straightConnector1">
              <a:avLst/>
            </a:prstGeom>
            <a:ln>
              <a:headEnd type="none" w="med" len="med"/>
              <a:tailEnd type="arrow"/>
            </a:ln>
          </p:spPr>
          <p:style>
            <a:lnRef idx="3">
              <a:schemeClr val="accent2"/>
            </a:lnRef>
            <a:fillRef idx="0">
              <a:schemeClr val="accent2"/>
            </a:fillRef>
            <a:effectRef idx="2">
              <a:schemeClr val="accent2"/>
            </a:effectRef>
            <a:fontRef idx="minor">
              <a:schemeClr val="tx1"/>
            </a:fontRef>
          </p:style>
        </p:cxnSp>
      </p:grpSp>
      <p:sp>
        <p:nvSpPr>
          <p:cNvPr id="78" name="77 CuadroTexto"/>
          <p:cNvSpPr txBox="1"/>
          <p:nvPr/>
        </p:nvSpPr>
        <p:spPr>
          <a:xfrm>
            <a:off x="1235760" y="4725144"/>
            <a:ext cx="979756" cy="523220"/>
          </a:xfrm>
          <a:prstGeom prst="rect">
            <a:avLst/>
          </a:prstGeom>
          <a:noFill/>
        </p:spPr>
        <p:txBody>
          <a:bodyPr wrap="none" rtlCol="0">
            <a:spAutoFit/>
          </a:bodyPr>
          <a:lstStyle/>
          <a:p>
            <a:pPr algn="ctr"/>
            <a:r>
              <a:rPr lang="es-ES" sz="2000" b="1" dirty="0">
                <a:solidFill>
                  <a:srgbClr val="0070C0"/>
                </a:solidFill>
                <a:latin typeface="Adobe Gothic Std B" pitchFamily="34" charset="-128"/>
                <a:ea typeface="Adobe Gothic Std B" pitchFamily="34" charset="-128"/>
              </a:rPr>
              <a:t>34</a:t>
            </a:r>
            <a:r>
              <a:rPr lang="es-ES" sz="2000" b="1" dirty="0">
                <a:solidFill>
                  <a:srgbClr val="0070C0"/>
                </a:solidFill>
              </a:rPr>
              <a:t>  </a:t>
            </a:r>
            <a:r>
              <a:rPr lang="es-ES" sz="2800" b="1" dirty="0">
                <a:solidFill>
                  <a:srgbClr val="0070C0"/>
                </a:solidFill>
              </a:rPr>
              <a:t>←</a:t>
            </a:r>
            <a:endParaRPr lang="es-ES" sz="2000" b="1" dirty="0">
              <a:solidFill>
                <a:srgbClr val="000000"/>
              </a:solidFill>
              <a:latin typeface="Adobe Gothic Std B" pitchFamily="34" charset="-128"/>
              <a:ea typeface="Adobe Gothic Std B" pitchFamily="34" charset="-128"/>
            </a:endParaRPr>
          </a:p>
        </p:txBody>
      </p:sp>
      <p:sp>
        <p:nvSpPr>
          <p:cNvPr id="79" name="78 CuadroTexto"/>
          <p:cNvSpPr txBox="1"/>
          <p:nvPr/>
        </p:nvSpPr>
        <p:spPr>
          <a:xfrm>
            <a:off x="5476845" y="4713814"/>
            <a:ext cx="2480167" cy="523220"/>
          </a:xfrm>
          <a:prstGeom prst="rect">
            <a:avLst/>
          </a:prstGeom>
          <a:noFill/>
        </p:spPr>
        <p:txBody>
          <a:bodyPr wrap="none" rtlCol="0">
            <a:spAutoFit/>
          </a:bodyPr>
          <a:lstStyle/>
          <a:p>
            <a:pPr algn="ctr"/>
            <a:r>
              <a:rPr lang="es-ES" sz="2000" b="1">
                <a:solidFill>
                  <a:srgbClr val="0070C0"/>
                </a:solidFill>
                <a:latin typeface="Adobe Gothic Std B" pitchFamily="34" charset="-128"/>
                <a:ea typeface="Adobe Gothic Std B" pitchFamily="34" charset="-128"/>
              </a:rPr>
              <a:t>104</a:t>
            </a:r>
            <a:r>
              <a:rPr lang="es-ES" sz="2000" b="1">
                <a:solidFill>
                  <a:srgbClr val="0070C0"/>
                </a:solidFill>
              </a:rPr>
              <a:t>  </a:t>
            </a:r>
            <a:r>
              <a:rPr lang="es-ES" sz="2800" b="1" dirty="0">
                <a:solidFill>
                  <a:srgbClr val="0070C0"/>
                </a:solidFill>
              </a:rPr>
              <a:t>←</a:t>
            </a:r>
            <a:r>
              <a:rPr lang="es-ES" sz="2000" b="1" dirty="0">
                <a:solidFill>
                  <a:srgbClr val="0070C0"/>
                </a:solidFill>
              </a:rPr>
              <a:t> </a:t>
            </a:r>
            <a:r>
              <a:rPr lang="es-ES" sz="2000" b="1" dirty="0">
                <a:solidFill>
                  <a:srgbClr val="FF0000"/>
                </a:solidFill>
                <a:latin typeface="Adobe Gothic Std B" pitchFamily="34" charset="-128"/>
                <a:ea typeface="Adobe Gothic Std B" pitchFamily="34" charset="-128"/>
              </a:rPr>
              <a:t>(</a:t>
            </a:r>
            <a:r>
              <a:rPr lang="es-ES" sz="2000" b="1" dirty="0">
                <a:solidFill>
                  <a:srgbClr val="000000"/>
                </a:solidFill>
                <a:latin typeface="Adobe Gothic Std B" pitchFamily="34" charset="-128"/>
                <a:ea typeface="Adobe Gothic Std B" pitchFamily="34" charset="-128"/>
              </a:rPr>
              <a:t>10 </a:t>
            </a:r>
            <a:r>
              <a:rPr lang="es-ES" sz="2000" b="1" dirty="0">
                <a:solidFill>
                  <a:srgbClr val="FF0000"/>
                </a:solidFill>
                <a:latin typeface="Adobe Gothic Std B" pitchFamily="34" charset="-128"/>
                <a:ea typeface="Adobe Gothic Std B" pitchFamily="34" charset="-128"/>
              </a:rPr>
              <a:t>+</a:t>
            </a:r>
            <a:r>
              <a:rPr lang="es-ES" sz="2000" b="1" dirty="0">
                <a:solidFill>
                  <a:srgbClr val="000000"/>
                </a:solidFill>
                <a:latin typeface="Adobe Gothic Std B" pitchFamily="34" charset="-128"/>
                <a:ea typeface="Adobe Gothic Std B" pitchFamily="34" charset="-128"/>
              </a:rPr>
              <a:t> 3</a:t>
            </a:r>
            <a:r>
              <a:rPr lang="es-ES" sz="2000" b="1" dirty="0">
                <a:solidFill>
                  <a:srgbClr val="FF0000"/>
                </a:solidFill>
                <a:latin typeface="Adobe Gothic Std B" pitchFamily="34" charset="-128"/>
                <a:ea typeface="Adobe Gothic Std B" pitchFamily="34" charset="-128"/>
              </a:rPr>
              <a:t>)</a:t>
            </a:r>
            <a:r>
              <a:rPr lang="es-ES" sz="2000" b="1" dirty="0">
                <a:solidFill>
                  <a:srgbClr val="000000"/>
                </a:solidFill>
                <a:latin typeface="Adobe Gothic Std B" pitchFamily="34" charset="-128"/>
                <a:ea typeface="Adobe Gothic Std B" pitchFamily="34" charset="-128"/>
              </a:rPr>
              <a:t> </a:t>
            </a:r>
            <a:r>
              <a:rPr lang="es-ES" sz="2000" b="1" dirty="0">
                <a:solidFill>
                  <a:srgbClr val="FF0000"/>
                </a:solidFill>
                <a:latin typeface="Adobe Gothic Std B" pitchFamily="34" charset="-128"/>
                <a:ea typeface="Adobe Gothic Std B" pitchFamily="34" charset="-128"/>
              </a:rPr>
              <a:t>*</a:t>
            </a:r>
            <a:r>
              <a:rPr lang="es-ES" sz="2000" b="1" dirty="0">
                <a:solidFill>
                  <a:srgbClr val="000000"/>
                </a:solidFill>
                <a:latin typeface="Adobe Gothic Std B" pitchFamily="34" charset="-128"/>
                <a:ea typeface="Adobe Gothic Std B" pitchFamily="34" charset="-128"/>
              </a:rPr>
              <a:t> 8</a:t>
            </a:r>
          </a:p>
        </p:txBody>
      </p:sp>
      <p:grpSp>
        <p:nvGrpSpPr>
          <p:cNvPr id="88" name="87 Grupo"/>
          <p:cNvGrpSpPr/>
          <p:nvPr/>
        </p:nvGrpSpPr>
        <p:grpSpPr>
          <a:xfrm>
            <a:off x="3851920" y="4615225"/>
            <a:ext cx="1026619" cy="778180"/>
            <a:chOff x="130988" y="2758544"/>
            <a:chExt cx="1026619" cy="1501499"/>
          </a:xfrm>
        </p:grpSpPr>
        <p:sp>
          <p:nvSpPr>
            <p:cNvPr id="89" name="88 Trapecio"/>
            <p:cNvSpPr/>
            <p:nvPr/>
          </p:nvSpPr>
          <p:spPr bwMode="auto">
            <a:xfrm flipV="1">
              <a:off x="130988" y="2758544"/>
              <a:ext cx="1026619" cy="1462544"/>
            </a:xfrm>
            <a:prstGeom prst="trapezoid">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0" name="89 CuadroTexto"/>
            <p:cNvSpPr txBox="1"/>
            <p:nvPr/>
          </p:nvSpPr>
          <p:spPr>
            <a:xfrm>
              <a:off x="227357" y="2799160"/>
              <a:ext cx="833883" cy="1460883"/>
            </a:xfrm>
            <a:prstGeom prst="rect">
              <a:avLst/>
            </a:prstGeom>
            <a:noFill/>
          </p:spPr>
          <p:txBody>
            <a:bodyPr wrap="none" rtlCol="0">
              <a:spAutoFit/>
            </a:bodyPr>
            <a:lstStyle/>
            <a:p>
              <a:pPr algn="ctr">
                <a:lnSpc>
                  <a:spcPct val="90000"/>
                </a:lnSpc>
              </a:pPr>
              <a:r>
                <a:rPr lang="es-ES" sz="2400" b="1" dirty="0">
                  <a:solidFill>
                    <a:srgbClr val="FF0000"/>
                  </a:solidFill>
                </a:rPr>
                <a:t>* / %</a:t>
              </a:r>
            </a:p>
            <a:p>
              <a:pPr algn="ctr">
                <a:lnSpc>
                  <a:spcPct val="90000"/>
                </a:lnSpc>
              </a:pPr>
              <a:r>
                <a:rPr lang="es-ES" sz="2400" b="1" dirty="0">
                  <a:solidFill>
                    <a:srgbClr val="FF0000"/>
                  </a:solidFill>
                </a:rPr>
                <a:t>+ -</a:t>
              </a:r>
            </a:p>
          </p:txBody>
        </p:sp>
      </p:grpSp>
    </p:spTree>
    <p:extLst>
      <p:ext uri="{BB962C8B-B14F-4D97-AF65-F5344CB8AC3E}">
        <p14:creationId xmlns:p14="http://schemas.microsoft.com/office/powerpoint/2010/main" val="2377082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500" fill="hold"/>
                                        <p:tgtEl>
                                          <p:spTgt spid="5"/>
                                        </p:tgtEl>
                                        <p:attrNameLst>
                                          <p:attrName>ppt_w</p:attrName>
                                        </p:attrNameLst>
                                      </p:cBhvr>
                                      <p:tavLst>
                                        <p:tav tm="0">
                                          <p:val>
                                            <p:fltVal val="0"/>
                                          </p:val>
                                        </p:tav>
                                        <p:tav tm="100000">
                                          <p:val>
                                            <p:strVal val="#ppt_w"/>
                                          </p:val>
                                        </p:tav>
                                      </p:tavLst>
                                    </p:anim>
                                    <p:anim calcmode="lin" valueType="num">
                                      <p:cBhvr>
                                        <p:cTn id="24" dur="500" fill="hold"/>
                                        <p:tgtEl>
                                          <p:spTgt spid="5"/>
                                        </p:tgtEl>
                                        <p:attrNameLst>
                                          <p:attrName>ppt_h</p:attrName>
                                        </p:attrNameLst>
                                      </p:cBhvr>
                                      <p:tavLst>
                                        <p:tav tm="0">
                                          <p:val>
                                            <p:fltVal val="0"/>
                                          </p:val>
                                        </p:tav>
                                        <p:tav tm="100000">
                                          <p:val>
                                            <p:strVal val="#ppt_h"/>
                                          </p:val>
                                        </p:tav>
                                      </p:tavLst>
                                    </p:anim>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7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8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78" grpId="0"/>
      <p:bldP spid="7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24 Rectángulo"/>
          <p:cNvSpPr/>
          <p:nvPr/>
        </p:nvSpPr>
        <p:spPr bwMode="auto">
          <a:xfrm>
            <a:off x="1043608" y="1941394"/>
            <a:ext cx="7188795" cy="2711742"/>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3" name="62 Rectángulo"/>
          <p:cNvSpPr/>
          <p:nvPr/>
        </p:nvSpPr>
        <p:spPr>
          <a:xfrm>
            <a:off x="1542317" y="2060848"/>
            <a:ext cx="2592288" cy="400110"/>
          </a:xfrm>
          <a:prstGeom prst="rect">
            <a:avLst/>
          </a:prstGeom>
        </p:spPr>
        <p:txBody>
          <a:bodyPr wrap="square">
            <a:spAutoFit/>
          </a:bodyPr>
          <a:lstStyle/>
          <a:p>
            <a:r>
              <a:rPr lang="es-ES" sz="2000" b="1" dirty="0" err="1">
                <a:solidFill>
                  <a:srgbClr val="0070C0"/>
                </a:solidFill>
              </a:rPr>
              <a:t>if</a:t>
            </a:r>
            <a:r>
              <a:rPr lang="es-ES" sz="2000" b="1" dirty="0">
                <a:solidFill>
                  <a:srgbClr val="0070C0"/>
                </a:solidFill>
              </a:rPr>
              <a:t>( </a:t>
            </a:r>
            <a:r>
              <a:rPr lang="es-ES" sz="2000" b="1" dirty="0">
                <a:solidFill>
                  <a:srgbClr val="000000"/>
                </a:solidFill>
              </a:rPr>
              <a:t>edad </a:t>
            </a:r>
            <a:r>
              <a:rPr lang="es-ES" sz="2000" b="1" dirty="0">
                <a:solidFill>
                  <a:srgbClr val="FF6600"/>
                </a:solidFill>
              </a:rPr>
              <a:t>&lt;</a:t>
            </a:r>
            <a:r>
              <a:rPr lang="es-ES" sz="2000" b="1" dirty="0">
                <a:solidFill>
                  <a:srgbClr val="000000"/>
                </a:solidFill>
              </a:rPr>
              <a:t> </a:t>
            </a:r>
            <a:r>
              <a:rPr lang="es-ES" sz="2000" b="1" dirty="0">
                <a:solidFill>
                  <a:srgbClr val="009900"/>
                </a:solidFill>
              </a:rPr>
              <a:t>18</a:t>
            </a:r>
            <a:r>
              <a:rPr lang="es-ES" sz="2000" dirty="0">
                <a:solidFill>
                  <a:srgbClr val="FF0000"/>
                </a:solidFill>
              </a:rPr>
              <a:t>  </a:t>
            </a:r>
            <a:r>
              <a:rPr lang="es-ES" sz="2000" b="1" dirty="0">
                <a:solidFill>
                  <a:srgbClr val="0070C0"/>
                </a:solidFill>
              </a:rPr>
              <a:t>)…</a:t>
            </a:r>
            <a:endParaRPr lang="es-ES" sz="1600" dirty="0">
              <a:solidFill>
                <a:srgbClr val="FF0000"/>
              </a:solidFill>
            </a:endParaRPr>
          </a:p>
        </p:txBody>
      </p:sp>
      <p:sp>
        <p:nvSpPr>
          <p:cNvPr id="32" name="Rectangle 2"/>
          <p:cNvSpPr txBox="1">
            <a:spLocks noChangeArrowheads="1"/>
          </p:cNvSpPr>
          <p:nvPr/>
        </p:nvSpPr>
        <p:spPr bwMode="white">
          <a:xfrm>
            <a:off x="964625" y="58071"/>
            <a:ext cx="7392988"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ctr" anchorCtr="0" compatLnSpc="1">
            <a:prstTxWarp prst="textNoShape">
              <a:avLst/>
            </a:prstTxWarp>
          </a:bodyPr>
          <a:lstStyle>
            <a:lvl1pPr algn="ctr" defTabSz="957263" rtl="0" fontAlgn="base">
              <a:spcBef>
                <a:spcPct val="0"/>
              </a:spcBef>
              <a:spcAft>
                <a:spcPct val="0"/>
              </a:spcAft>
              <a:defRPr sz="2900" b="1">
                <a:solidFill>
                  <a:schemeClr val="bg1"/>
                </a:solidFill>
                <a:latin typeface="+mj-lt"/>
                <a:ea typeface="+mj-ea"/>
                <a:cs typeface="+mj-cs"/>
              </a:defRPr>
            </a:lvl1pPr>
            <a:lvl2pPr algn="ctr" defTabSz="957263" rtl="0" fontAlgn="base">
              <a:spcBef>
                <a:spcPct val="0"/>
              </a:spcBef>
              <a:spcAft>
                <a:spcPct val="0"/>
              </a:spcAft>
              <a:defRPr sz="2900" b="1">
                <a:solidFill>
                  <a:schemeClr val="bg1"/>
                </a:solidFill>
                <a:latin typeface="Arial" charset="0"/>
              </a:defRPr>
            </a:lvl2pPr>
            <a:lvl3pPr algn="ctr" defTabSz="957263" rtl="0" fontAlgn="base">
              <a:spcBef>
                <a:spcPct val="0"/>
              </a:spcBef>
              <a:spcAft>
                <a:spcPct val="0"/>
              </a:spcAft>
              <a:defRPr sz="2900" b="1">
                <a:solidFill>
                  <a:schemeClr val="bg1"/>
                </a:solidFill>
                <a:latin typeface="Arial" charset="0"/>
              </a:defRPr>
            </a:lvl3pPr>
            <a:lvl4pPr algn="ctr" defTabSz="957263" rtl="0" fontAlgn="base">
              <a:spcBef>
                <a:spcPct val="0"/>
              </a:spcBef>
              <a:spcAft>
                <a:spcPct val="0"/>
              </a:spcAft>
              <a:defRPr sz="2900" b="1">
                <a:solidFill>
                  <a:schemeClr val="bg1"/>
                </a:solidFill>
                <a:latin typeface="Arial" charset="0"/>
              </a:defRPr>
            </a:lvl4pPr>
            <a:lvl5pPr algn="ctr" defTabSz="957263" rtl="0" fontAlgn="base">
              <a:spcBef>
                <a:spcPct val="0"/>
              </a:spcBef>
              <a:spcAft>
                <a:spcPct val="0"/>
              </a:spcAft>
              <a:defRPr sz="2900" b="1">
                <a:solidFill>
                  <a:schemeClr val="bg1"/>
                </a:solidFill>
                <a:latin typeface="Arial" charset="0"/>
              </a:defRPr>
            </a:lvl5pPr>
            <a:lvl6pPr marL="457200" algn="ctr" defTabSz="957263" rtl="0" eaLnBrk="1" fontAlgn="base" hangingPunct="1">
              <a:spcBef>
                <a:spcPct val="0"/>
              </a:spcBef>
              <a:spcAft>
                <a:spcPct val="0"/>
              </a:spcAft>
              <a:defRPr sz="2900" b="1">
                <a:solidFill>
                  <a:schemeClr val="bg1"/>
                </a:solidFill>
                <a:latin typeface="Arial" charset="0"/>
              </a:defRPr>
            </a:lvl6pPr>
            <a:lvl7pPr marL="914400" algn="ctr" defTabSz="957263" rtl="0" eaLnBrk="1" fontAlgn="base" hangingPunct="1">
              <a:spcBef>
                <a:spcPct val="0"/>
              </a:spcBef>
              <a:spcAft>
                <a:spcPct val="0"/>
              </a:spcAft>
              <a:defRPr sz="2900" b="1">
                <a:solidFill>
                  <a:schemeClr val="bg1"/>
                </a:solidFill>
                <a:latin typeface="Arial" charset="0"/>
              </a:defRPr>
            </a:lvl7pPr>
            <a:lvl8pPr marL="1371600" algn="ctr" defTabSz="957263" rtl="0" eaLnBrk="1" fontAlgn="base" hangingPunct="1">
              <a:spcBef>
                <a:spcPct val="0"/>
              </a:spcBef>
              <a:spcAft>
                <a:spcPct val="0"/>
              </a:spcAft>
              <a:defRPr sz="2900" b="1">
                <a:solidFill>
                  <a:schemeClr val="bg1"/>
                </a:solidFill>
                <a:latin typeface="Arial" charset="0"/>
              </a:defRPr>
            </a:lvl8pPr>
            <a:lvl9pPr marL="1828800" algn="ctr" defTabSz="957263" rtl="0" eaLnBrk="1" fontAlgn="base" hangingPunct="1">
              <a:spcBef>
                <a:spcPct val="0"/>
              </a:spcBef>
              <a:spcAft>
                <a:spcPct val="0"/>
              </a:spcAft>
              <a:defRPr sz="2900" b="1">
                <a:solidFill>
                  <a:schemeClr val="bg1"/>
                </a:solidFill>
                <a:latin typeface="Arial" charset="0"/>
              </a:defRPr>
            </a:lvl9pPr>
          </a:lstStyle>
          <a:p>
            <a:r>
              <a:rPr lang="en-US" kern="0" dirty="0"/>
              <a:t>OPERADORES RELACIONALES</a:t>
            </a:r>
            <a:endParaRPr lang="en-US" kern="0" dirty="0">
              <a:solidFill>
                <a:schemeClr val="accent1"/>
              </a:solidFill>
            </a:endParaRPr>
          </a:p>
        </p:txBody>
      </p:sp>
      <p:sp>
        <p:nvSpPr>
          <p:cNvPr id="33" name="32 CuadroTexto"/>
          <p:cNvSpPr txBox="1"/>
          <p:nvPr/>
        </p:nvSpPr>
        <p:spPr>
          <a:xfrm>
            <a:off x="4258516" y="2091626"/>
            <a:ext cx="3168352" cy="369332"/>
          </a:xfrm>
          <a:prstGeom prst="rect">
            <a:avLst/>
          </a:prstGeom>
          <a:noFill/>
        </p:spPr>
        <p:txBody>
          <a:bodyPr wrap="square" rtlCol="0">
            <a:spAutoFit/>
          </a:bodyPr>
          <a:lstStyle/>
          <a:p>
            <a:r>
              <a:rPr lang="es-ES" sz="1800" dirty="0">
                <a:solidFill>
                  <a:srgbClr val="0070C0"/>
                </a:solidFill>
                <a:latin typeface="Kozuka Gothic Pr6N B" pitchFamily="34" charset="-128"/>
                <a:ea typeface="Kozuka Gothic Pr6N B" pitchFamily="34" charset="-128"/>
              </a:rPr>
              <a:t>Si</a:t>
            </a:r>
            <a:r>
              <a:rPr lang="es-ES" sz="1800" dirty="0">
                <a:solidFill>
                  <a:srgbClr val="FF6600"/>
                </a:solidFill>
                <a:latin typeface="Kozuka Gothic Pr6N B" pitchFamily="34" charset="-128"/>
                <a:ea typeface="Kozuka Gothic Pr6N B" pitchFamily="34" charset="-128"/>
              </a:rPr>
              <a:t> </a:t>
            </a:r>
            <a:r>
              <a:rPr lang="es-ES" sz="1800" dirty="0">
                <a:solidFill>
                  <a:srgbClr val="000000"/>
                </a:solidFill>
                <a:latin typeface="Kozuka Gothic Pr6N B" pitchFamily="34" charset="-128"/>
                <a:ea typeface="Kozuka Gothic Pr6N B" pitchFamily="34" charset="-128"/>
              </a:rPr>
              <a:t>edad </a:t>
            </a:r>
            <a:r>
              <a:rPr lang="es-ES" sz="1800" dirty="0">
                <a:solidFill>
                  <a:srgbClr val="FF6600"/>
                </a:solidFill>
                <a:latin typeface="Kozuka Gothic Pr6N B" pitchFamily="34" charset="-128"/>
                <a:ea typeface="Kozuka Gothic Pr6N B" pitchFamily="34" charset="-128"/>
              </a:rPr>
              <a:t>es menor que </a:t>
            </a:r>
            <a:r>
              <a:rPr lang="es-ES" sz="1800" dirty="0">
                <a:solidFill>
                  <a:srgbClr val="009900"/>
                </a:solidFill>
                <a:latin typeface="Kozuka Gothic Pr6N B" pitchFamily="34" charset="-128"/>
                <a:ea typeface="Kozuka Gothic Pr6N B" pitchFamily="34" charset="-128"/>
              </a:rPr>
              <a:t>18</a:t>
            </a:r>
            <a:r>
              <a:rPr lang="es-ES" sz="1800" dirty="0">
                <a:solidFill>
                  <a:srgbClr val="0070C0"/>
                </a:solidFill>
                <a:latin typeface="Kozuka Gothic Pr6N B" pitchFamily="34" charset="-128"/>
                <a:ea typeface="Kozuka Gothic Pr6N B" pitchFamily="34" charset="-128"/>
              </a:rPr>
              <a:t>...</a:t>
            </a:r>
          </a:p>
        </p:txBody>
      </p:sp>
      <p:sp>
        <p:nvSpPr>
          <p:cNvPr id="10" name="9 Rectángulo"/>
          <p:cNvSpPr/>
          <p:nvPr/>
        </p:nvSpPr>
        <p:spPr>
          <a:xfrm>
            <a:off x="1549106" y="2375974"/>
            <a:ext cx="2592288" cy="400110"/>
          </a:xfrm>
          <a:prstGeom prst="rect">
            <a:avLst/>
          </a:prstGeom>
        </p:spPr>
        <p:txBody>
          <a:bodyPr wrap="square">
            <a:spAutoFit/>
          </a:bodyPr>
          <a:lstStyle/>
          <a:p>
            <a:r>
              <a:rPr lang="es-ES" sz="2000" b="1" dirty="0" err="1">
                <a:solidFill>
                  <a:srgbClr val="0070C0"/>
                </a:solidFill>
              </a:rPr>
              <a:t>if</a:t>
            </a:r>
            <a:r>
              <a:rPr lang="es-ES" sz="2000" b="1" dirty="0">
                <a:solidFill>
                  <a:srgbClr val="0070C0"/>
                </a:solidFill>
              </a:rPr>
              <a:t>( </a:t>
            </a:r>
            <a:r>
              <a:rPr lang="es-ES" sz="2000" b="1" dirty="0">
                <a:solidFill>
                  <a:srgbClr val="000000"/>
                </a:solidFill>
              </a:rPr>
              <a:t>edad </a:t>
            </a:r>
            <a:r>
              <a:rPr lang="es-ES" sz="2000" b="1" dirty="0">
                <a:solidFill>
                  <a:srgbClr val="FF6600"/>
                </a:solidFill>
              </a:rPr>
              <a:t>&gt;</a:t>
            </a:r>
            <a:r>
              <a:rPr lang="es-ES" sz="2000" b="1" dirty="0">
                <a:solidFill>
                  <a:srgbClr val="000000"/>
                </a:solidFill>
              </a:rPr>
              <a:t> </a:t>
            </a:r>
            <a:r>
              <a:rPr lang="es-ES" sz="2000" b="1" dirty="0">
                <a:solidFill>
                  <a:srgbClr val="009900"/>
                </a:solidFill>
              </a:rPr>
              <a:t>18</a:t>
            </a:r>
            <a:r>
              <a:rPr lang="es-ES" sz="2000" dirty="0">
                <a:solidFill>
                  <a:srgbClr val="FF0000"/>
                </a:solidFill>
              </a:rPr>
              <a:t>  </a:t>
            </a:r>
            <a:r>
              <a:rPr lang="es-ES" sz="2000" b="1" dirty="0">
                <a:solidFill>
                  <a:srgbClr val="0070C0"/>
                </a:solidFill>
              </a:rPr>
              <a:t>)…</a:t>
            </a:r>
            <a:endParaRPr lang="es-ES" sz="1600" dirty="0">
              <a:solidFill>
                <a:srgbClr val="FF0000"/>
              </a:solidFill>
            </a:endParaRPr>
          </a:p>
        </p:txBody>
      </p:sp>
      <p:sp>
        <p:nvSpPr>
          <p:cNvPr id="11" name="10 CuadroTexto"/>
          <p:cNvSpPr txBox="1"/>
          <p:nvPr/>
        </p:nvSpPr>
        <p:spPr>
          <a:xfrm>
            <a:off x="4265305" y="2406752"/>
            <a:ext cx="3168352" cy="369332"/>
          </a:xfrm>
          <a:prstGeom prst="rect">
            <a:avLst/>
          </a:prstGeom>
          <a:noFill/>
        </p:spPr>
        <p:txBody>
          <a:bodyPr wrap="square" rtlCol="0">
            <a:spAutoFit/>
          </a:bodyPr>
          <a:lstStyle/>
          <a:p>
            <a:r>
              <a:rPr lang="es-ES" sz="1800" dirty="0">
                <a:solidFill>
                  <a:srgbClr val="0070C0"/>
                </a:solidFill>
                <a:latin typeface="Kozuka Gothic Pr6N B" pitchFamily="34" charset="-128"/>
                <a:ea typeface="Kozuka Gothic Pr6N B" pitchFamily="34" charset="-128"/>
              </a:rPr>
              <a:t>Si</a:t>
            </a:r>
            <a:r>
              <a:rPr lang="es-ES" sz="1800" dirty="0">
                <a:solidFill>
                  <a:srgbClr val="FF6600"/>
                </a:solidFill>
                <a:latin typeface="Kozuka Gothic Pr6N B" pitchFamily="34" charset="-128"/>
                <a:ea typeface="Kozuka Gothic Pr6N B" pitchFamily="34" charset="-128"/>
              </a:rPr>
              <a:t> </a:t>
            </a:r>
            <a:r>
              <a:rPr lang="es-ES" sz="1800" dirty="0">
                <a:solidFill>
                  <a:srgbClr val="000000"/>
                </a:solidFill>
                <a:latin typeface="Kozuka Gothic Pr6N B" pitchFamily="34" charset="-128"/>
                <a:ea typeface="Kozuka Gothic Pr6N B" pitchFamily="34" charset="-128"/>
              </a:rPr>
              <a:t>edad </a:t>
            </a:r>
            <a:r>
              <a:rPr lang="es-ES" sz="1800" dirty="0">
                <a:solidFill>
                  <a:srgbClr val="FF6600"/>
                </a:solidFill>
                <a:latin typeface="Kozuka Gothic Pr6N B" pitchFamily="34" charset="-128"/>
                <a:ea typeface="Kozuka Gothic Pr6N B" pitchFamily="34" charset="-128"/>
              </a:rPr>
              <a:t>es mayor que </a:t>
            </a:r>
            <a:r>
              <a:rPr lang="es-ES" sz="1800" dirty="0">
                <a:solidFill>
                  <a:srgbClr val="009900"/>
                </a:solidFill>
                <a:latin typeface="Kozuka Gothic Pr6N B" pitchFamily="34" charset="-128"/>
                <a:ea typeface="Kozuka Gothic Pr6N B" pitchFamily="34" charset="-128"/>
              </a:rPr>
              <a:t>18</a:t>
            </a:r>
            <a:r>
              <a:rPr lang="es-ES" sz="1800" dirty="0">
                <a:solidFill>
                  <a:srgbClr val="0070C0"/>
                </a:solidFill>
                <a:latin typeface="Kozuka Gothic Pr6N B" pitchFamily="34" charset="-128"/>
                <a:ea typeface="Kozuka Gothic Pr6N B" pitchFamily="34" charset="-128"/>
              </a:rPr>
              <a:t>...</a:t>
            </a:r>
          </a:p>
        </p:txBody>
      </p:sp>
      <p:sp>
        <p:nvSpPr>
          <p:cNvPr id="12" name="11 Rectángulo"/>
          <p:cNvSpPr/>
          <p:nvPr/>
        </p:nvSpPr>
        <p:spPr>
          <a:xfrm>
            <a:off x="1535659" y="2736014"/>
            <a:ext cx="2592288" cy="400110"/>
          </a:xfrm>
          <a:prstGeom prst="rect">
            <a:avLst/>
          </a:prstGeom>
        </p:spPr>
        <p:txBody>
          <a:bodyPr wrap="square">
            <a:spAutoFit/>
          </a:bodyPr>
          <a:lstStyle/>
          <a:p>
            <a:r>
              <a:rPr lang="es-ES" sz="2000" b="1" dirty="0" err="1">
                <a:solidFill>
                  <a:srgbClr val="0070C0"/>
                </a:solidFill>
              </a:rPr>
              <a:t>if</a:t>
            </a:r>
            <a:r>
              <a:rPr lang="es-ES" sz="2000" b="1" dirty="0">
                <a:solidFill>
                  <a:srgbClr val="0070C0"/>
                </a:solidFill>
              </a:rPr>
              <a:t>( </a:t>
            </a:r>
            <a:r>
              <a:rPr lang="es-ES" sz="2000" b="1" dirty="0">
                <a:solidFill>
                  <a:srgbClr val="000000"/>
                </a:solidFill>
              </a:rPr>
              <a:t>edad </a:t>
            </a:r>
            <a:r>
              <a:rPr lang="es-ES" sz="2000" b="1" dirty="0">
                <a:solidFill>
                  <a:srgbClr val="FF6600"/>
                </a:solidFill>
              </a:rPr>
              <a:t>&gt;=</a:t>
            </a:r>
            <a:r>
              <a:rPr lang="es-ES" sz="2000" b="1" dirty="0">
                <a:solidFill>
                  <a:srgbClr val="000000"/>
                </a:solidFill>
              </a:rPr>
              <a:t> </a:t>
            </a:r>
            <a:r>
              <a:rPr lang="es-ES" sz="2000" b="1" dirty="0">
                <a:solidFill>
                  <a:srgbClr val="009900"/>
                </a:solidFill>
              </a:rPr>
              <a:t>18</a:t>
            </a:r>
            <a:r>
              <a:rPr lang="es-ES" sz="2000" dirty="0">
                <a:solidFill>
                  <a:srgbClr val="FF0000"/>
                </a:solidFill>
              </a:rPr>
              <a:t>  </a:t>
            </a:r>
            <a:r>
              <a:rPr lang="es-ES" sz="2000" b="1" dirty="0">
                <a:solidFill>
                  <a:srgbClr val="0070C0"/>
                </a:solidFill>
              </a:rPr>
              <a:t>)…</a:t>
            </a:r>
            <a:endParaRPr lang="es-ES" sz="1600" dirty="0">
              <a:solidFill>
                <a:srgbClr val="FF0000"/>
              </a:solidFill>
            </a:endParaRPr>
          </a:p>
        </p:txBody>
      </p:sp>
      <p:sp>
        <p:nvSpPr>
          <p:cNvPr id="13" name="12 CuadroTexto"/>
          <p:cNvSpPr txBox="1"/>
          <p:nvPr/>
        </p:nvSpPr>
        <p:spPr>
          <a:xfrm>
            <a:off x="4251858" y="2766792"/>
            <a:ext cx="3751074" cy="369332"/>
          </a:xfrm>
          <a:prstGeom prst="rect">
            <a:avLst/>
          </a:prstGeom>
          <a:noFill/>
        </p:spPr>
        <p:txBody>
          <a:bodyPr wrap="square" rtlCol="0">
            <a:spAutoFit/>
          </a:bodyPr>
          <a:lstStyle/>
          <a:p>
            <a:r>
              <a:rPr lang="es-ES" sz="1800" dirty="0">
                <a:solidFill>
                  <a:srgbClr val="0070C0"/>
                </a:solidFill>
                <a:latin typeface="Kozuka Gothic Pr6N B" pitchFamily="34" charset="-128"/>
                <a:ea typeface="Kozuka Gothic Pr6N B" pitchFamily="34" charset="-128"/>
              </a:rPr>
              <a:t>Si</a:t>
            </a:r>
            <a:r>
              <a:rPr lang="es-ES" sz="1800" dirty="0">
                <a:solidFill>
                  <a:srgbClr val="FF6600"/>
                </a:solidFill>
                <a:latin typeface="Kozuka Gothic Pr6N B" pitchFamily="34" charset="-128"/>
                <a:ea typeface="Kozuka Gothic Pr6N B" pitchFamily="34" charset="-128"/>
              </a:rPr>
              <a:t> </a:t>
            </a:r>
            <a:r>
              <a:rPr lang="es-ES" sz="1800" dirty="0">
                <a:solidFill>
                  <a:srgbClr val="000000"/>
                </a:solidFill>
                <a:latin typeface="Kozuka Gothic Pr6N B" pitchFamily="34" charset="-128"/>
                <a:ea typeface="Kozuka Gothic Pr6N B" pitchFamily="34" charset="-128"/>
              </a:rPr>
              <a:t>edad </a:t>
            </a:r>
            <a:r>
              <a:rPr lang="es-ES" sz="1800" dirty="0">
                <a:solidFill>
                  <a:srgbClr val="FF6600"/>
                </a:solidFill>
                <a:latin typeface="Kozuka Gothic Pr6N B" pitchFamily="34" charset="-128"/>
                <a:ea typeface="Kozuka Gothic Pr6N B" pitchFamily="34" charset="-128"/>
              </a:rPr>
              <a:t>es mayor o igual que </a:t>
            </a:r>
            <a:r>
              <a:rPr lang="es-ES" sz="1800" dirty="0">
                <a:solidFill>
                  <a:srgbClr val="009900"/>
                </a:solidFill>
                <a:latin typeface="Kozuka Gothic Pr6N B" pitchFamily="34" charset="-128"/>
                <a:ea typeface="Kozuka Gothic Pr6N B" pitchFamily="34" charset="-128"/>
              </a:rPr>
              <a:t>18</a:t>
            </a:r>
            <a:r>
              <a:rPr lang="es-ES" sz="1800" dirty="0">
                <a:solidFill>
                  <a:srgbClr val="0070C0"/>
                </a:solidFill>
                <a:latin typeface="Kozuka Gothic Pr6N B" pitchFamily="34" charset="-128"/>
                <a:ea typeface="Kozuka Gothic Pr6N B" pitchFamily="34" charset="-128"/>
              </a:rPr>
              <a:t>...</a:t>
            </a:r>
          </a:p>
        </p:txBody>
      </p:sp>
      <p:sp>
        <p:nvSpPr>
          <p:cNvPr id="14" name="13 Rectángulo"/>
          <p:cNvSpPr/>
          <p:nvPr/>
        </p:nvSpPr>
        <p:spPr>
          <a:xfrm>
            <a:off x="1535659" y="3096054"/>
            <a:ext cx="2592288" cy="400110"/>
          </a:xfrm>
          <a:prstGeom prst="rect">
            <a:avLst/>
          </a:prstGeom>
        </p:spPr>
        <p:txBody>
          <a:bodyPr wrap="square">
            <a:spAutoFit/>
          </a:bodyPr>
          <a:lstStyle/>
          <a:p>
            <a:r>
              <a:rPr lang="es-ES" sz="2000" b="1" dirty="0" err="1">
                <a:solidFill>
                  <a:srgbClr val="0070C0"/>
                </a:solidFill>
              </a:rPr>
              <a:t>if</a:t>
            </a:r>
            <a:r>
              <a:rPr lang="es-ES" sz="2000" b="1" dirty="0">
                <a:solidFill>
                  <a:srgbClr val="0070C0"/>
                </a:solidFill>
              </a:rPr>
              <a:t>( </a:t>
            </a:r>
            <a:r>
              <a:rPr lang="es-ES" sz="2000" b="1" dirty="0">
                <a:solidFill>
                  <a:srgbClr val="000000"/>
                </a:solidFill>
              </a:rPr>
              <a:t>edad </a:t>
            </a:r>
            <a:r>
              <a:rPr lang="es-ES" sz="2000" b="1" dirty="0">
                <a:solidFill>
                  <a:srgbClr val="FF6600"/>
                </a:solidFill>
              </a:rPr>
              <a:t>==</a:t>
            </a:r>
            <a:r>
              <a:rPr lang="es-ES" sz="2000" b="1" dirty="0">
                <a:solidFill>
                  <a:srgbClr val="000000"/>
                </a:solidFill>
              </a:rPr>
              <a:t> </a:t>
            </a:r>
            <a:r>
              <a:rPr lang="es-ES" sz="2000" b="1" dirty="0">
                <a:solidFill>
                  <a:srgbClr val="009900"/>
                </a:solidFill>
              </a:rPr>
              <a:t>18</a:t>
            </a:r>
            <a:r>
              <a:rPr lang="es-ES" sz="2000" dirty="0">
                <a:solidFill>
                  <a:srgbClr val="FF0000"/>
                </a:solidFill>
              </a:rPr>
              <a:t>  </a:t>
            </a:r>
            <a:r>
              <a:rPr lang="es-ES" sz="2000" b="1" dirty="0">
                <a:solidFill>
                  <a:srgbClr val="0070C0"/>
                </a:solidFill>
              </a:rPr>
              <a:t>)…</a:t>
            </a:r>
            <a:endParaRPr lang="es-ES" sz="1600" dirty="0">
              <a:solidFill>
                <a:srgbClr val="FF0000"/>
              </a:solidFill>
            </a:endParaRPr>
          </a:p>
        </p:txBody>
      </p:sp>
      <p:sp>
        <p:nvSpPr>
          <p:cNvPr id="15" name="14 CuadroTexto"/>
          <p:cNvSpPr txBox="1"/>
          <p:nvPr/>
        </p:nvSpPr>
        <p:spPr>
          <a:xfrm>
            <a:off x="4251858" y="3126832"/>
            <a:ext cx="3751074" cy="369332"/>
          </a:xfrm>
          <a:prstGeom prst="rect">
            <a:avLst/>
          </a:prstGeom>
          <a:noFill/>
        </p:spPr>
        <p:txBody>
          <a:bodyPr wrap="square" rtlCol="0">
            <a:spAutoFit/>
          </a:bodyPr>
          <a:lstStyle/>
          <a:p>
            <a:r>
              <a:rPr lang="es-ES" sz="1800" dirty="0">
                <a:solidFill>
                  <a:srgbClr val="0070C0"/>
                </a:solidFill>
                <a:latin typeface="Kozuka Gothic Pr6N B" pitchFamily="34" charset="-128"/>
                <a:ea typeface="Kozuka Gothic Pr6N B" pitchFamily="34" charset="-128"/>
              </a:rPr>
              <a:t>Si</a:t>
            </a:r>
            <a:r>
              <a:rPr lang="es-ES" sz="1800" dirty="0">
                <a:solidFill>
                  <a:srgbClr val="FF6600"/>
                </a:solidFill>
                <a:latin typeface="Kozuka Gothic Pr6N B" pitchFamily="34" charset="-128"/>
                <a:ea typeface="Kozuka Gothic Pr6N B" pitchFamily="34" charset="-128"/>
              </a:rPr>
              <a:t> </a:t>
            </a:r>
            <a:r>
              <a:rPr lang="es-ES" sz="1800" dirty="0">
                <a:solidFill>
                  <a:srgbClr val="000000"/>
                </a:solidFill>
                <a:latin typeface="Kozuka Gothic Pr6N B" pitchFamily="34" charset="-128"/>
                <a:ea typeface="Kozuka Gothic Pr6N B" pitchFamily="34" charset="-128"/>
              </a:rPr>
              <a:t>edad </a:t>
            </a:r>
            <a:r>
              <a:rPr lang="es-ES" sz="1800" dirty="0">
                <a:solidFill>
                  <a:srgbClr val="FF6600"/>
                </a:solidFill>
                <a:latin typeface="Kozuka Gothic Pr6N B" pitchFamily="34" charset="-128"/>
                <a:ea typeface="Kozuka Gothic Pr6N B" pitchFamily="34" charset="-128"/>
              </a:rPr>
              <a:t>es igual a </a:t>
            </a:r>
            <a:r>
              <a:rPr lang="es-ES" sz="1800" dirty="0">
                <a:solidFill>
                  <a:srgbClr val="009900"/>
                </a:solidFill>
                <a:latin typeface="Kozuka Gothic Pr6N B" pitchFamily="34" charset="-128"/>
                <a:ea typeface="Kozuka Gothic Pr6N B" pitchFamily="34" charset="-128"/>
              </a:rPr>
              <a:t>18</a:t>
            </a:r>
            <a:r>
              <a:rPr lang="es-ES" sz="1800" dirty="0">
                <a:solidFill>
                  <a:srgbClr val="0070C0"/>
                </a:solidFill>
                <a:latin typeface="Kozuka Gothic Pr6N B" pitchFamily="34" charset="-128"/>
                <a:ea typeface="Kozuka Gothic Pr6N B" pitchFamily="34" charset="-128"/>
              </a:rPr>
              <a:t>...</a:t>
            </a:r>
          </a:p>
        </p:txBody>
      </p:sp>
      <p:sp>
        <p:nvSpPr>
          <p:cNvPr id="16" name="15 Rectángulo"/>
          <p:cNvSpPr/>
          <p:nvPr/>
        </p:nvSpPr>
        <p:spPr>
          <a:xfrm>
            <a:off x="1535659" y="3424427"/>
            <a:ext cx="2592288" cy="400110"/>
          </a:xfrm>
          <a:prstGeom prst="rect">
            <a:avLst/>
          </a:prstGeom>
        </p:spPr>
        <p:txBody>
          <a:bodyPr wrap="square">
            <a:spAutoFit/>
          </a:bodyPr>
          <a:lstStyle/>
          <a:p>
            <a:r>
              <a:rPr lang="es-ES" sz="2000" b="1" dirty="0" err="1">
                <a:solidFill>
                  <a:srgbClr val="0070C0"/>
                </a:solidFill>
              </a:rPr>
              <a:t>if</a:t>
            </a:r>
            <a:r>
              <a:rPr lang="es-ES" sz="2000" b="1" dirty="0">
                <a:solidFill>
                  <a:srgbClr val="0070C0"/>
                </a:solidFill>
              </a:rPr>
              <a:t>( </a:t>
            </a:r>
            <a:r>
              <a:rPr lang="es-ES" sz="2000" b="1" dirty="0">
                <a:solidFill>
                  <a:srgbClr val="000000"/>
                </a:solidFill>
              </a:rPr>
              <a:t>edad </a:t>
            </a:r>
            <a:r>
              <a:rPr lang="es-ES" sz="2000" b="1" dirty="0">
                <a:solidFill>
                  <a:srgbClr val="FF6600"/>
                </a:solidFill>
              </a:rPr>
              <a:t>!=</a:t>
            </a:r>
            <a:r>
              <a:rPr lang="es-ES" sz="2000" b="1" dirty="0">
                <a:solidFill>
                  <a:srgbClr val="000000"/>
                </a:solidFill>
              </a:rPr>
              <a:t> </a:t>
            </a:r>
            <a:r>
              <a:rPr lang="es-ES" sz="2000" b="1" dirty="0">
                <a:solidFill>
                  <a:srgbClr val="009900"/>
                </a:solidFill>
              </a:rPr>
              <a:t>18</a:t>
            </a:r>
            <a:r>
              <a:rPr lang="es-ES" sz="2000" dirty="0">
                <a:solidFill>
                  <a:srgbClr val="FF0000"/>
                </a:solidFill>
              </a:rPr>
              <a:t>  </a:t>
            </a:r>
            <a:r>
              <a:rPr lang="es-ES" sz="2000" b="1" dirty="0">
                <a:solidFill>
                  <a:srgbClr val="0070C0"/>
                </a:solidFill>
              </a:rPr>
              <a:t>)…</a:t>
            </a:r>
            <a:endParaRPr lang="es-ES" sz="1600" dirty="0">
              <a:solidFill>
                <a:srgbClr val="FF0000"/>
              </a:solidFill>
            </a:endParaRPr>
          </a:p>
        </p:txBody>
      </p:sp>
      <p:sp>
        <p:nvSpPr>
          <p:cNvPr id="17" name="16 CuadroTexto"/>
          <p:cNvSpPr txBox="1"/>
          <p:nvPr/>
        </p:nvSpPr>
        <p:spPr>
          <a:xfrm>
            <a:off x="4251858" y="3455205"/>
            <a:ext cx="3751074" cy="369332"/>
          </a:xfrm>
          <a:prstGeom prst="rect">
            <a:avLst/>
          </a:prstGeom>
          <a:noFill/>
        </p:spPr>
        <p:txBody>
          <a:bodyPr wrap="square" rtlCol="0">
            <a:spAutoFit/>
          </a:bodyPr>
          <a:lstStyle/>
          <a:p>
            <a:r>
              <a:rPr lang="es-ES" sz="1800" dirty="0">
                <a:solidFill>
                  <a:srgbClr val="0070C0"/>
                </a:solidFill>
                <a:latin typeface="Kozuka Gothic Pr6N B" pitchFamily="34" charset="-128"/>
                <a:ea typeface="Kozuka Gothic Pr6N B" pitchFamily="34" charset="-128"/>
              </a:rPr>
              <a:t>Si</a:t>
            </a:r>
            <a:r>
              <a:rPr lang="es-ES" sz="1800" dirty="0">
                <a:solidFill>
                  <a:srgbClr val="FF6600"/>
                </a:solidFill>
                <a:latin typeface="Kozuka Gothic Pr6N B" pitchFamily="34" charset="-128"/>
                <a:ea typeface="Kozuka Gothic Pr6N B" pitchFamily="34" charset="-128"/>
              </a:rPr>
              <a:t> </a:t>
            </a:r>
            <a:r>
              <a:rPr lang="es-ES" sz="1800" dirty="0">
                <a:solidFill>
                  <a:srgbClr val="000000"/>
                </a:solidFill>
                <a:latin typeface="Kozuka Gothic Pr6N B" pitchFamily="34" charset="-128"/>
                <a:ea typeface="Kozuka Gothic Pr6N B" pitchFamily="34" charset="-128"/>
              </a:rPr>
              <a:t>edad </a:t>
            </a:r>
            <a:r>
              <a:rPr lang="es-ES" sz="1800" dirty="0">
                <a:solidFill>
                  <a:srgbClr val="FF6600"/>
                </a:solidFill>
                <a:latin typeface="Kozuka Gothic Pr6N B" pitchFamily="34" charset="-128"/>
                <a:ea typeface="Kozuka Gothic Pr6N B" pitchFamily="34" charset="-128"/>
              </a:rPr>
              <a:t>es distinto de </a:t>
            </a:r>
            <a:r>
              <a:rPr lang="es-ES" sz="1800" dirty="0">
                <a:solidFill>
                  <a:srgbClr val="009900"/>
                </a:solidFill>
                <a:latin typeface="Kozuka Gothic Pr6N B" pitchFamily="34" charset="-128"/>
                <a:ea typeface="Kozuka Gothic Pr6N B" pitchFamily="34" charset="-128"/>
              </a:rPr>
              <a:t>18</a:t>
            </a:r>
            <a:r>
              <a:rPr lang="es-ES" sz="1800" dirty="0">
                <a:solidFill>
                  <a:srgbClr val="0070C0"/>
                </a:solidFill>
                <a:latin typeface="Kozuka Gothic Pr6N B" pitchFamily="34" charset="-128"/>
                <a:ea typeface="Kozuka Gothic Pr6N B" pitchFamily="34" charset="-128"/>
              </a:rPr>
              <a:t>...</a:t>
            </a:r>
          </a:p>
        </p:txBody>
      </p:sp>
      <p:sp>
        <p:nvSpPr>
          <p:cNvPr id="18" name="17 Rectángulo"/>
          <p:cNvSpPr/>
          <p:nvPr/>
        </p:nvSpPr>
        <p:spPr>
          <a:xfrm>
            <a:off x="1535658" y="3771020"/>
            <a:ext cx="2897431" cy="400110"/>
          </a:xfrm>
          <a:prstGeom prst="rect">
            <a:avLst/>
          </a:prstGeom>
        </p:spPr>
        <p:txBody>
          <a:bodyPr wrap="square">
            <a:spAutoFit/>
          </a:bodyPr>
          <a:lstStyle/>
          <a:p>
            <a:r>
              <a:rPr lang="es-ES" sz="2000" b="1" dirty="0" err="1">
                <a:solidFill>
                  <a:srgbClr val="0070C0"/>
                </a:solidFill>
              </a:rPr>
              <a:t>if</a:t>
            </a:r>
            <a:r>
              <a:rPr lang="es-ES" sz="2000" b="1" dirty="0">
                <a:solidFill>
                  <a:srgbClr val="0070C0"/>
                </a:solidFill>
              </a:rPr>
              <a:t>( </a:t>
            </a:r>
            <a:r>
              <a:rPr lang="es-ES" sz="2000" b="1" dirty="0">
                <a:solidFill>
                  <a:srgbClr val="FF6600"/>
                </a:solidFill>
              </a:rPr>
              <a:t>! (</a:t>
            </a:r>
            <a:r>
              <a:rPr lang="es-ES" sz="2000" b="1" dirty="0">
                <a:solidFill>
                  <a:srgbClr val="000000"/>
                </a:solidFill>
              </a:rPr>
              <a:t>edad </a:t>
            </a:r>
            <a:r>
              <a:rPr lang="es-ES" sz="2000" b="1" dirty="0">
                <a:solidFill>
                  <a:srgbClr val="FF6600"/>
                </a:solidFill>
              </a:rPr>
              <a:t>==</a:t>
            </a:r>
            <a:r>
              <a:rPr lang="es-ES" sz="2000" b="1" dirty="0">
                <a:solidFill>
                  <a:srgbClr val="000000"/>
                </a:solidFill>
              </a:rPr>
              <a:t> </a:t>
            </a:r>
            <a:r>
              <a:rPr lang="es-ES" sz="2000" b="1" dirty="0">
                <a:solidFill>
                  <a:srgbClr val="009900"/>
                </a:solidFill>
              </a:rPr>
              <a:t>18</a:t>
            </a:r>
            <a:r>
              <a:rPr lang="es-ES" sz="2000" b="1" dirty="0">
                <a:solidFill>
                  <a:srgbClr val="FF6600"/>
                </a:solidFill>
              </a:rPr>
              <a:t>)</a:t>
            </a:r>
            <a:r>
              <a:rPr lang="es-ES" sz="2000" dirty="0">
                <a:solidFill>
                  <a:srgbClr val="FF0000"/>
                </a:solidFill>
              </a:rPr>
              <a:t>  </a:t>
            </a:r>
            <a:r>
              <a:rPr lang="es-ES" sz="2000" b="1" dirty="0">
                <a:solidFill>
                  <a:srgbClr val="0070C0"/>
                </a:solidFill>
              </a:rPr>
              <a:t>)…</a:t>
            </a:r>
            <a:endParaRPr lang="es-ES" sz="1600" dirty="0">
              <a:solidFill>
                <a:srgbClr val="FF0000"/>
              </a:solidFill>
            </a:endParaRPr>
          </a:p>
        </p:txBody>
      </p:sp>
      <p:sp>
        <p:nvSpPr>
          <p:cNvPr id="19" name="18 CuadroTexto"/>
          <p:cNvSpPr txBox="1"/>
          <p:nvPr/>
        </p:nvSpPr>
        <p:spPr>
          <a:xfrm>
            <a:off x="4251858" y="3801798"/>
            <a:ext cx="3751074" cy="369332"/>
          </a:xfrm>
          <a:prstGeom prst="rect">
            <a:avLst/>
          </a:prstGeom>
          <a:noFill/>
        </p:spPr>
        <p:txBody>
          <a:bodyPr wrap="square" rtlCol="0">
            <a:spAutoFit/>
          </a:bodyPr>
          <a:lstStyle/>
          <a:p>
            <a:r>
              <a:rPr lang="es-ES" sz="1800" dirty="0">
                <a:solidFill>
                  <a:srgbClr val="0070C0"/>
                </a:solidFill>
                <a:latin typeface="Kozuka Gothic Pr6N B" pitchFamily="34" charset="-128"/>
                <a:ea typeface="Kozuka Gothic Pr6N B" pitchFamily="34" charset="-128"/>
              </a:rPr>
              <a:t>Si</a:t>
            </a:r>
            <a:r>
              <a:rPr lang="es-ES" sz="1800" dirty="0">
                <a:solidFill>
                  <a:srgbClr val="FF6600"/>
                </a:solidFill>
                <a:latin typeface="Kozuka Gothic Pr6N B" pitchFamily="34" charset="-128"/>
                <a:ea typeface="Kozuka Gothic Pr6N B" pitchFamily="34" charset="-128"/>
              </a:rPr>
              <a:t> no es </a:t>
            </a:r>
            <a:r>
              <a:rPr lang="es-ES" sz="1800" dirty="0">
                <a:solidFill>
                  <a:srgbClr val="000000"/>
                </a:solidFill>
                <a:latin typeface="Kozuka Gothic Pr6N B" pitchFamily="34" charset="-128"/>
                <a:ea typeface="Kozuka Gothic Pr6N B" pitchFamily="34" charset="-128"/>
              </a:rPr>
              <a:t>edad </a:t>
            </a:r>
            <a:r>
              <a:rPr lang="es-ES" sz="1800" dirty="0">
                <a:solidFill>
                  <a:srgbClr val="FF6600"/>
                </a:solidFill>
                <a:latin typeface="Kozuka Gothic Pr6N B" pitchFamily="34" charset="-128"/>
                <a:ea typeface="Kozuka Gothic Pr6N B" pitchFamily="34" charset="-128"/>
              </a:rPr>
              <a:t>igual a </a:t>
            </a:r>
            <a:r>
              <a:rPr lang="es-ES" sz="1800" dirty="0">
                <a:solidFill>
                  <a:srgbClr val="009900"/>
                </a:solidFill>
                <a:latin typeface="Kozuka Gothic Pr6N B" pitchFamily="34" charset="-128"/>
                <a:ea typeface="Kozuka Gothic Pr6N B" pitchFamily="34" charset="-128"/>
              </a:rPr>
              <a:t>18</a:t>
            </a:r>
            <a:r>
              <a:rPr lang="es-ES" sz="1800" dirty="0">
                <a:solidFill>
                  <a:srgbClr val="0070C0"/>
                </a:solidFill>
                <a:latin typeface="Kozuka Gothic Pr6N B" pitchFamily="34" charset="-128"/>
                <a:ea typeface="Kozuka Gothic Pr6N B" pitchFamily="34" charset="-128"/>
              </a:rPr>
              <a:t>...</a:t>
            </a:r>
          </a:p>
        </p:txBody>
      </p:sp>
      <p:sp>
        <p:nvSpPr>
          <p:cNvPr id="20" name="19 Rectángulo"/>
          <p:cNvSpPr/>
          <p:nvPr/>
        </p:nvSpPr>
        <p:spPr>
          <a:xfrm>
            <a:off x="1535659" y="4104166"/>
            <a:ext cx="2897431" cy="400110"/>
          </a:xfrm>
          <a:prstGeom prst="rect">
            <a:avLst/>
          </a:prstGeom>
        </p:spPr>
        <p:txBody>
          <a:bodyPr wrap="square">
            <a:spAutoFit/>
          </a:bodyPr>
          <a:lstStyle/>
          <a:p>
            <a:r>
              <a:rPr lang="es-ES" sz="2000" b="1" dirty="0" err="1">
                <a:solidFill>
                  <a:srgbClr val="0070C0"/>
                </a:solidFill>
              </a:rPr>
              <a:t>if</a:t>
            </a:r>
            <a:r>
              <a:rPr lang="es-ES" sz="2000" b="1" dirty="0">
                <a:solidFill>
                  <a:srgbClr val="0070C0"/>
                </a:solidFill>
              </a:rPr>
              <a:t>( </a:t>
            </a:r>
            <a:r>
              <a:rPr lang="es-ES" sz="2000" b="1" dirty="0">
                <a:solidFill>
                  <a:srgbClr val="FF6600"/>
                </a:solidFill>
              </a:rPr>
              <a:t>! (</a:t>
            </a:r>
            <a:r>
              <a:rPr lang="es-ES" sz="2000" b="1" dirty="0">
                <a:solidFill>
                  <a:srgbClr val="000000"/>
                </a:solidFill>
              </a:rPr>
              <a:t>edad </a:t>
            </a:r>
            <a:r>
              <a:rPr lang="es-ES" sz="2000" b="1" dirty="0">
                <a:solidFill>
                  <a:srgbClr val="FF6600"/>
                </a:solidFill>
              </a:rPr>
              <a:t>&gt;</a:t>
            </a:r>
            <a:r>
              <a:rPr lang="es-ES" sz="2000" b="1" dirty="0">
                <a:solidFill>
                  <a:srgbClr val="000000"/>
                </a:solidFill>
              </a:rPr>
              <a:t> </a:t>
            </a:r>
            <a:r>
              <a:rPr lang="es-ES" sz="2000" b="1" dirty="0">
                <a:solidFill>
                  <a:srgbClr val="009900"/>
                </a:solidFill>
              </a:rPr>
              <a:t>18</a:t>
            </a:r>
            <a:r>
              <a:rPr lang="es-ES" sz="2000" b="1" dirty="0">
                <a:solidFill>
                  <a:srgbClr val="FF6600"/>
                </a:solidFill>
              </a:rPr>
              <a:t>)</a:t>
            </a:r>
            <a:r>
              <a:rPr lang="es-ES" sz="2000" dirty="0">
                <a:solidFill>
                  <a:srgbClr val="FF0000"/>
                </a:solidFill>
              </a:rPr>
              <a:t>  </a:t>
            </a:r>
            <a:r>
              <a:rPr lang="es-ES" sz="2000" b="1" dirty="0">
                <a:solidFill>
                  <a:srgbClr val="0070C0"/>
                </a:solidFill>
              </a:rPr>
              <a:t>)…</a:t>
            </a:r>
            <a:endParaRPr lang="es-ES" sz="1600" dirty="0">
              <a:solidFill>
                <a:srgbClr val="FF0000"/>
              </a:solidFill>
            </a:endParaRPr>
          </a:p>
        </p:txBody>
      </p:sp>
      <p:sp>
        <p:nvSpPr>
          <p:cNvPr id="22" name="21 CuadroTexto"/>
          <p:cNvSpPr txBox="1"/>
          <p:nvPr/>
        </p:nvSpPr>
        <p:spPr>
          <a:xfrm>
            <a:off x="4251859" y="4134944"/>
            <a:ext cx="3751074" cy="369332"/>
          </a:xfrm>
          <a:prstGeom prst="rect">
            <a:avLst/>
          </a:prstGeom>
          <a:noFill/>
        </p:spPr>
        <p:txBody>
          <a:bodyPr wrap="square" rtlCol="0">
            <a:spAutoFit/>
          </a:bodyPr>
          <a:lstStyle/>
          <a:p>
            <a:r>
              <a:rPr lang="es-ES" sz="1800" dirty="0">
                <a:solidFill>
                  <a:srgbClr val="0070C0"/>
                </a:solidFill>
                <a:latin typeface="Kozuka Gothic Pr6N B" pitchFamily="34" charset="-128"/>
                <a:ea typeface="Kozuka Gothic Pr6N B" pitchFamily="34" charset="-128"/>
              </a:rPr>
              <a:t>Si</a:t>
            </a:r>
            <a:r>
              <a:rPr lang="es-ES" sz="1800" dirty="0">
                <a:solidFill>
                  <a:srgbClr val="FF6600"/>
                </a:solidFill>
                <a:latin typeface="Kozuka Gothic Pr6N B" pitchFamily="34" charset="-128"/>
                <a:ea typeface="Kozuka Gothic Pr6N B" pitchFamily="34" charset="-128"/>
              </a:rPr>
              <a:t> no es </a:t>
            </a:r>
            <a:r>
              <a:rPr lang="es-ES" sz="1800" dirty="0">
                <a:solidFill>
                  <a:srgbClr val="000000"/>
                </a:solidFill>
                <a:latin typeface="Kozuka Gothic Pr6N B" pitchFamily="34" charset="-128"/>
                <a:ea typeface="Kozuka Gothic Pr6N B" pitchFamily="34" charset="-128"/>
              </a:rPr>
              <a:t>edad </a:t>
            </a:r>
            <a:r>
              <a:rPr lang="es-ES" sz="1800" dirty="0">
                <a:solidFill>
                  <a:srgbClr val="FF6600"/>
                </a:solidFill>
                <a:latin typeface="Kozuka Gothic Pr6N B" pitchFamily="34" charset="-128"/>
                <a:ea typeface="Kozuka Gothic Pr6N B" pitchFamily="34" charset="-128"/>
              </a:rPr>
              <a:t>mayor que </a:t>
            </a:r>
            <a:r>
              <a:rPr lang="es-ES" sz="1800" dirty="0">
                <a:solidFill>
                  <a:srgbClr val="009900"/>
                </a:solidFill>
                <a:latin typeface="Kozuka Gothic Pr6N B" pitchFamily="34" charset="-128"/>
                <a:ea typeface="Kozuka Gothic Pr6N B" pitchFamily="34" charset="-128"/>
              </a:rPr>
              <a:t>18</a:t>
            </a:r>
            <a:r>
              <a:rPr lang="es-ES" sz="1800" dirty="0">
                <a:solidFill>
                  <a:srgbClr val="0070C0"/>
                </a:solidFill>
                <a:latin typeface="Kozuka Gothic Pr6N B" pitchFamily="34" charset="-128"/>
                <a:ea typeface="Kozuka Gothic Pr6N B" pitchFamily="34" charset="-128"/>
              </a:rPr>
              <a:t>...</a:t>
            </a:r>
          </a:p>
        </p:txBody>
      </p:sp>
      <p:sp>
        <p:nvSpPr>
          <p:cNvPr id="23" name="22 Rectángulo"/>
          <p:cNvSpPr/>
          <p:nvPr/>
        </p:nvSpPr>
        <p:spPr>
          <a:xfrm>
            <a:off x="1924815" y="4982834"/>
            <a:ext cx="5472608" cy="400110"/>
          </a:xfrm>
          <a:prstGeom prst="rect">
            <a:avLst/>
          </a:prstGeom>
        </p:spPr>
        <p:txBody>
          <a:bodyPr wrap="square">
            <a:spAutoFit/>
          </a:bodyPr>
          <a:lstStyle/>
          <a:p>
            <a:pPr algn="ctr"/>
            <a:r>
              <a:rPr lang="es-ES" sz="2000" b="1" dirty="0">
                <a:solidFill>
                  <a:srgbClr val="FF3300"/>
                </a:solidFill>
              </a:rPr>
              <a:t>edad </a:t>
            </a:r>
            <a:r>
              <a:rPr lang="es-ES" sz="2000" b="1" dirty="0">
                <a:solidFill>
                  <a:srgbClr val="FF6600"/>
                </a:solidFill>
              </a:rPr>
              <a:t>&lt;</a:t>
            </a:r>
            <a:r>
              <a:rPr lang="es-ES" sz="2000" b="1" dirty="0">
                <a:solidFill>
                  <a:srgbClr val="FF3300"/>
                </a:solidFill>
              </a:rPr>
              <a:t> 18  </a:t>
            </a:r>
            <a:r>
              <a:rPr lang="es-ES" sz="2000" dirty="0">
                <a:solidFill>
                  <a:srgbClr val="002060"/>
                </a:solidFill>
              </a:rPr>
              <a:t>es una </a:t>
            </a:r>
            <a:r>
              <a:rPr lang="es-ES" sz="2000" b="1" i="1" dirty="0">
                <a:solidFill>
                  <a:srgbClr val="002060"/>
                </a:solidFill>
              </a:rPr>
              <a:t>operación lógica</a:t>
            </a:r>
            <a:endParaRPr lang="es-ES" sz="1600" b="1" i="1" dirty="0">
              <a:solidFill>
                <a:srgbClr val="002060"/>
              </a:solidFill>
            </a:endParaRPr>
          </a:p>
        </p:txBody>
      </p:sp>
      <p:sp>
        <p:nvSpPr>
          <p:cNvPr id="24" name="23 Rectángulo"/>
          <p:cNvSpPr/>
          <p:nvPr/>
        </p:nvSpPr>
        <p:spPr>
          <a:xfrm>
            <a:off x="1150899" y="5405154"/>
            <a:ext cx="7020440" cy="400110"/>
          </a:xfrm>
          <a:prstGeom prst="rect">
            <a:avLst/>
          </a:prstGeom>
        </p:spPr>
        <p:txBody>
          <a:bodyPr wrap="square">
            <a:spAutoFit/>
          </a:bodyPr>
          <a:lstStyle/>
          <a:p>
            <a:pPr algn="ctr"/>
            <a:r>
              <a:rPr lang="es-ES" sz="2000" b="1" dirty="0">
                <a:solidFill>
                  <a:srgbClr val="FF6600"/>
                </a:solidFill>
              </a:rPr>
              <a:t>&lt;</a:t>
            </a:r>
            <a:r>
              <a:rPr lang="es-ES" sz="2000" b="1" dirty="0">
                <a:solidFill>
                  <a:srgbClr val="000000"/>
                </a:solidFill>
              </a:rPr>
              <a:t> </a:t>
            </a:r>
            <a:r>
              <a:rPr lang="es-ES" sz="2000" dirty="0">
                <a:solidFill>
                  <a:srgbClr val="002060"/>
                </a:solidFill>
              </a:rPr>
              <a:t>es un </a:t>
            </a:r>
            <a:r>
              <a:rPr lang="es-ES" sz="2000" b="1" i="1" dirty="0">
                <a:solidFill>
                  <a:srgbClr val="002060"/>
                </a:solidFill>
              </a:rPr>
              <a:t>operador lógico</a:t>
            </a:r>
            <a:endParaRPr lang="es-ES" sz="1600" b="1" i="1" dirty="0">
              <a:solidFill>
                <a:srgbClr val="002060"/>
              </a:solidFill>
            </a:endParaRPr>
          </a:p>
        </p:txBody>
      </p:sp>
    </p:spTree>
    <p:extLst>
      <p:ext uri="{BB962C8B-B14F-4D97-AF65-F5344CB8AC3E}">
        <p14:creationId xmlns:p14="http://schemas.microsoft.com/office/powerpoint/2010/main" val="1675034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fade">
                                      <p:cBhvr>
                                        <p:cTn id="12" dur="500"/>
                                        <p:tgtEl>
                                          <p:spTgt spid="6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left)">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 calcmode="lin" valueType="num">
                                      <p:cBhvr>
                                        <p:cTn id="22" dur="500" fill="hold"/>
                                        <p:tgtEl>
                                          <p:spTgt spid="23"/>
                                        </p:tgtEl>
                                        <p:attrNameLst>
                                          <p:attrName>ppt_w</p:attrName>
                                        </p:attrNameLst>
                                      </p:cBhvr>
                                      <p:tavLst>
                                        <p:tav tm="0">
                                          <p:val>
                                            <p:fltVal val="0"/>
                                          </p:val>
                                        </p:tav>
                                        <p:tav tm="100000">
                                          <p:val>
                                            <p:strVal val="#ppt_w"/>
                                          </p:val>
                                        </p:tav>
                                      </p:tavLst>
                                    </p:anim>
                                    <p:anim calcmode="lin" valueType="num">
                                      <p:cBhvr>
                                        <p:cTn id="23" dur="500" fill="hold"/>
                                        <p:tgtEl>
                                          <p:spTgt spid="23"/>
                                        </p:tgtEl>
                                        <p:attrNameLst>
                                          <p:attrName>ppt_h</p:attrName>
                                        </p:attrNameLst>
                                      </p:cBhvr>
                                      <p:tavLst>
                                        <p:tav tm="0">
                                          <p:val>
                                            <p:fltVal val="0"/>
                                          </p:val>
                                        </p:tav>
                                        <p:tav tm="100000">
                                          <p:val>
                                            <p:strVal val="#ppt_h"/>
                                          </p:val>
                                        </p:tav>
                                      </p:tavLst>
                                    </p:anim>
                                    <p:animEffect transition="in" filter="fade">
                                      <p:cBhvr>
                                        <p:cTn id="24" dur="500"/>
                                        <p:tgtEl>
                                          <p:spTgt spid="23"/>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anim calcmode="lin" valueType="num">
                                      <p:cBhvr>
                                        <p:cTn id="29" dur="500" fill="hold"/>
                                        <p:tgtEl>
                                          <p:spTgt spid="24"/>
                                        </p:tgtEl>
                                        <p:attrNameLst>
                                          <p:attrName>ppt_w</p:attrName>
                                        </p:attrNameLst>
                                      </p:cBhvr>
                                      <p:tavLst>
                                        <p:tav tm="0">
                                          <p:val>
                                            <p:fltVal val="0"/>
                                          </p:val>
                                        </p:tav>
                                        <p:tav tm="100000">
                                          <p:val>
                                            <p:strVal val="#ppt_w"/>
                                          </p:val>
                                        </p:tav>
                                      </p:tavLst>
                                    </p:anim>
                                    <p:anim calcmode="lin" valueType="num">
                                      <p:cBhvr>
                                        <p:cTn id="30" dur="500" fill="hold"/>
                                        <p:tgtEl>
                                          <p:spTgt spid="24"/>
                                        </p:tgtEl>
                                        <p:attrNameLst>
                                          <p:attrName>ppt_h</p:attrName>
                                        </p:attrNameLst>
                                      </p:cBhvr>
                                      <p:tavLst>
                                        <p:tav tm="0">
                                          <p:val>
                                            <p:fltVal val="0"/>
                                          </p:val>
                                        </p:tav>
                                        <p:tav tm="100000">
                                          <p:val>
                                            <p:strVal val="#ppt_h"/>
                                          </p:val>
                                        </p:tav>
                                      </p:tavLst>
                                    </p:anim>
                                    <p:animEffect transition="in" filter="fade">
                                      <p:cBhvr>
                                        <p:cTn id="31" dur="500"/>
                                        <p:tgtEl>
                                          <p:spTgt spid="2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left)">
                                      <p:cBhvr>
                                        <p:cTn id="41" dur="5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wipe(left)">
                                      <p:cBhvr>
                                        <p:cTn id="51" dur="5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5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wipe(left)">
                                      <p:cBhvr>
                                        <p:cTn id="61" dur="500"/>
                                        <p:tgtEl>
                                          <p:spTgt spid="15"/>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500"/>
                                        <p:tgtEl>
                                          <p:spTgt spid="16"/>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wipe(left)">
                                      <p:cBhvr>
                                        <p:cTn id="71" dur="500"/>
                                        <p:tgtEl>
                                          <p:spTgt spid="17"/>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8"/>
                                        </p:tgtEl>
                                        <p:attrNameLst>
                                          <p:attrName>style.visibility</p:attrName>
                                        </p:attrNameLst>
                                      </p:cBhvr>
                                      <p:to>
                                        <p:strVal val="visible"/>
                                      </p:to>
                                    </p:set>
                                    <p:animEffect transition="in" filter="fade">
                                      <p:cBhvr>
                                        <p:cTn id="76" dur="500"/>
                                        <p:tgtEl>
                                          <p:spTgt spid="18"/>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9"/>
                                        </p:tgtEl>
                                        <p:attrNameLst>
                                          <p:attrName>style.visibility</p:attrName>
                                        </p:attrNameLst>
                                      </p:cBhvr>
                                      <p:to>
                                        <p:strVal val="visible"/>
                                      </p:to>
                                    </p:set>
                                    <p:animEffect transition="in" filter="wipe(left)">
                                      <p:cBhvr>
                                        <p:cTn id="81" dur="500"/>
                                        <p:tgtEl>
                                          <p:spTgt spid="19"/>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20"/>
                                        </p:tgtEl>
                                        <p:attrNameLst>
                                          <p:attrName>style.visibility</p:attrName>
                                        </p:attrNameLst>
                                      </p:cBhvr>
                                      <p:to>
                                        <p:strVal val="visible"/>
                                      </p:to>
                                    </p:set>
                                    <p:animEffect transition="in" filter="fade">
                                      <p:cBhvr>
                                        <p:cTn id="86" dur="500"/>
                                        <p:tgtEl>
                                          <p:spTgt spid="20"/>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22"/>
                                        </p:tgtEl>
                                        <p:attrNameLst>
                                          <p:attrName>style.visibility</p:attrName>
                                        </p:attrNameLst>
                                      </p:cBhvr>
                                      <p:to>
                                        <p:strVal val="visible"/>
                                      </p:to>
                                    </p:set>
                                    <p:animEffect transition="in" filter="wipe(left)">
                                      <p:cBhvr>
                                        <p:cTn id="9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63" grpId="0"/>
      <p:bldP spid="33" grpId="0"/>
      <p:bldP spid="10" grpId="0"/>
      <p:bldP spid="11" grpId="0"/>
      <p:bldP spid="12" grpId="0"/>
      <p:bldP spid="13" grpId="0"/>
      <p:bldP spid="14" grpId="0"/>
      <p:bldP spid="15" grpId="0"/>
      <p:bldP spid="16" grpId="0"/>
      <p:bldP spid="17" grpId="0"/>
      <p:bldP spid="18" grpId="0"/>
      <p:bldP spid="19" grpId="0"/>
      <p:bldP spid="20" grpId="0"/>
      <p:bldP spid="22" grpId="0"/>
      <p:bldP spid="23" grpId="0"/>
      <p:bldP spid="2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Operadores l</a:t>
            </a:r>
            <a:r>
              <a:rPr lang="es-ES" dirty="0" err="1"/>
              <a:t>ógicos</a:t>
            </a:r>
            <a:endParaRPr lang="es-ES_tradnl" dirty="0"/>
          </a:p>
        </p:txBody>
      </p:sp>
      <p:graphicFrame>
        <p:nvGraphicFramePr>
          <p:cNvPr id="5" name="Tabla 4"/>
          <p:cNvGraphicFramePr>
            <a:graphicFrameLocks noGrp="1"/>
          </p:cNvGraphicFramePr>
          <p:nvPr>
            <p:extLst>
              <p:ext uri="{D42A27DB-BD31-4B8C-83A1-F6EECF244321}">
                <p14:modId xmlns:p14="http://schemas.microsoft.com/office/powerpoint/2010/main" val="1290056511"/>
              </p:ext>
            </p:extLst>
          </p:nvPr>
        </p:nvGraphicFramePr>
        <p:xfrm>
          <a:off x="1524000" y="1397000"/>
          <a:ext cx="6096000" cy="39370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r>
                        <a:rPr lang="es-ES_tradnl" dirty="0"/>
                        <a:t>Operador</a:t>
                      </a:r>
                    </a:p>
                  </a:txBody>
                  <a:tcPr/>
                </a:tc>
                <a:tc>
                  <a:txBody>
                    <a:bodyPr/>
                    <a:lstStyle/>
                    <a:p>
                      <a:r>
                        <a:rPr lang="es-ES_tradnl" dirty="0"/>
                        <a:t>Resultado</a:t>
                      </a:r>
                    </a:p>
                  </a:txBody>
                  <a:tcPr/>
                </a:tc>
                <a:extLst>
                  <a:ext uri="{0D108BD9-81ED-4DB2-BD59-A6C34878D82A}">
                    <a16:rowId xmlns:a16="http://schemas.microsoft.com/office/drawing/2014/main" val="10000"/>
                  </a:ext>
                </a:extLst>
              </a:tr>
              <a:tr h="370840">
                <a:tc>
                  <a:txBody>
                    <a:bodyPr/>
                    <a:lstStyle/>
                    <a:p>
                      <a:r>
                        <a:rPr lang="es-ES_tradnl" dirty="0"/>
                        <a:t>&amp;&amp; o &amp; (AND)</a:t>
                      </a:r>
                    </a:p>
                  </a:txBody>
                  <a:tcPr/>
                </a:tc>
                <a:tc>
                  <a:txBody>
                    <a:bodyPr/>
                    <a:lstStyle/>
                    <a:p>
                      <a:r>
                        <a:rPr lang="es-ES_tradnl" dirty="0"/>
                        <a:t>El resultado ser</a:t>
                      </a:r>
                      <a:r>
                        <a:rPr lang="es-ES" dirty="0"/>
                        <a:t>á</a:t>
                      </a:r>
                      <a:r>
                        <a:rPr lang="es-ES_tradnl" dirty="0"/>
                        <a:t> true si ambos </a:t>
                      </a:r>
                      <a:r>
                        <a:rPr lang="es-ES_tradnl" dirty="0" err="1"/>
                        <a:t>operandos</a:t>
                      </a:r>
                      <a:r>
                        <a:rPr lang="es-ES_tradnl" baseline="0" dirty="0"/>
                        <a:t> son true, y false en caso contrario</a:t>
                      </a:r>
                      <a:endParaRPr lang="es-ES_tradnl" dirty="0"/>
                    </a:p>
                  </a:txBody>
                  <a:tcPr/>
                </a:tc>
                <a:extLst>
                  <a:ext uri="{0D108BD9-81ED-4DB2-BD59-A6C34878D82A}">
                    <a16:rowId xmlns:a16="http://schemas.microsoft.com/office/drawing/2014/main" val="10001"/>
                  </a:ext>
                </a:extLst>
              </a:tr>
              <a:tr h="370840">
                <a:tc>
                  <a:txBody>
                    <a:bodyPr/>
                    <a:lstStyle/>
                    <a:p>
                      <a:r>
                        <a:rPr lang="es-ES_tradnl" dirty="0"/>
                        <a:t>|| o |  (OR)</a:t>
                      </a:r>
                    </a:p>
                  </a:txBody>
                  <a:tcPr/>
                </a:tc>
                <a:tc>
                  <a:txBody>
                    <a:bodyPr/>
                    <a:lstStyle/>
                    <a:p>
                      <a:r>
                        <a:rPr lang="es-ES_tradnl" dirty="0"/>
                        <a:t>El resultado ser</a:t>
                      </a:r>
                      <a:r>
                        <a:rPr lang="es-ES" dirty="0"/>
                        <a:t>á false si ambos</a:t>
                      </a:r>
                      <a:r>
                        <a:rPr lang="es-ES" baseline="0" dirty="0"/>
                        <a:t> </a:t>
                      </a:r>
                      <a:r>
                        <a:rPr lang="es-ES" baseline="0" dirty="0" err="1"/>
                        <a:t>operandos</a:t>
                      </a:r>
                      <a:r>
                        <a:rPr lang="es-ES" baseline="0" dirty="0"/>
                        <a:t> son false y true en caso contrario</a:t>
                      </a:r>
                      <a:endParaRPr lang="es-ES_tradnl" dirty="0"/>
                    </a:p>
                  </a:txBody>
                  <a:tcPr/>
                </a:tc>
                <a:extLst>
                  <a:ext uri="{0D108BD9-81ED-4DB2-BD59-A6C34878D82A}">
                    <a16:rowId xmlns:a16="http://schemas.microsoft.com/office/drawing/2014/main" val="10002"/>
                  </a:ext>
                </a:extLst>
              </a:tr>
              <a:tr h="370840">
                <a:tc>
                  <a:txBody>
                    <a:bodyPr/>
                    <a:lstStyle/>
                    <a:p>
                      <a:r>
                        <a:rPr lang="es-ES_tradnl" dirty="0"/>
                        <a:t>! (NOT)</a:t>
                      </a:r>
                    </a:p>
                  </a:txBody>
                  <a:tcPr/>
                </a:tc>
                <a:tc>
                  <a:txBody>
                    <a:bodyPr/>
                    <a:lstStyle/>
                    <a:p>
                      <a:r>
                        <a:rPr lang="es-ES_tradnl" dirty="0"/>
                        <a:t>Si el operando es true, el resultado es false, y si el operando es false el resultado es true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5628323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851420" y="53975"/>
            <a:ext cx="7392988" cy="563563"/>
          </a:xfrm>
        </p:spPr>
        <p:txBody>
          <a:bodyPr/>
          <a:lstStyle/>
          <a:p>
            <a:r>
              <a:rPr lang="en-US" dirty="0" err="1"/>
              <a:t>Incremento</a:t>
            </a:r>
            <a:r>
              <a:rPr lang="en-US" dirty="0"/>
              <a:t> (++)</a:t>
            </a:r>
            <a:endParaRPr lang="en-US" sz="2400" dirty="0">
              <a:solidFill>
                <a:srgbClr val="FFFF00"/>
              </a:solidFill>
            </a:endParaRPr>
          </a:p>
        </p:txBody>
      </p:sp>
      <p:sp>
        <p:nvSpPr>
          <p:cNvPr id="78" name="77 CuadroTexto"/>
          <p:cNvSpPr txBox="1"/>
          <p:nvPr/>
        </p:nvSpPr>
        <p:spPr>
          <a:xfrm>
            <a:off x="4132575" y="764704"/>
            <a:ext cx="830677" cy="400110"/>
          </a:xfrm>
          <a:prstGeom prst="rect">
            <a:avLst/>
          </a:prstGeom>
          <a:noFill/>
        </p:spPr>
        <p:txBody>
          <a:bodyPr wrap="none" rtlCol="0">
            <a:spAutoFit/>
          </a:bodyPr>
          <a:lstStyle/>
          <a:p>
            <a:pPr algn="ctr"/>
            <a:r>
              <a:rPr lang="es-ES" sz="2000" dirty="0">
                <a:solidFill>
                  <a:srgbClr val="FF0000"/>
                </a:solidFill>
              </a:rPr>
              <a:t>a</a:t>
            </a:r>
            <a:r>
              <a:rPr lang="es-ES" sz="2000" dirty="0"/>
              <a:t> = 5;</a:t>
            </a:r>
          </a:p>
        </p:txBody>
      </p:sp>
      <p:sp>
        <p:nvSpPr>
          <p:cNvPr id="79" name="78 CuadroTexto"/>
          <p:cNvSpPr txBox="1"/>
          <p:nvPr/>
        </p:nvSpPr>
        <p:spPr>
          <a:xfrm>
            <a:off x="1358334" y="1758146"/>
            <a:ext cx="617478" cy="400110"/>
          </a:xfrm>
          <a:prstGeom prst="rect">
            <a:avLst/>
          </a:prstGeom>
          <a:noFill/>
        </p:spPr>
        <p:txBody>
          <a:bodyPr wrap="none" rtlCol="0">
            <a:spAutoFit/>
          </a:bodyPr>
          <a:lstStyle/>
          <a:p>
            <a:pPr algn="ctr"/>
            <a:r>
              <a:rPr lang="es-ES" sz="2000" dirty="0">
                <a:solidFill>
                  <a:srgbClr val="FF0000"/>
                </a:solidFill>
              </a:rPr>
              <a:t>a</a:t>
            </a:r>
            <a:r>
              <a:rPr lang="es-ES" sz="2000" dirty="0"/>
              <a:t> = </a:t>
            </a:r>
          </a:p>
        </p:txBody>
      </p:sp>
      <p:sp>
        <p:nvSpPr>
          <p:cNvPr id="80" name="79 CuadroTexto"/>
          <p:cNvSpPr txBox="1"/>
          <p:nvPr/>
        </p:nvSpPr>
        <p:spPr>
          <a:xfrm>
            <a:off x="1790383" y="1758146"/>
            <a:ext cx="830677" cy="400110"/>
          </a:xfrm>
          <a:prstGeom prst="rect">
            <a:avLst/>
          </a:prstGeom>
          <a:noFill/>
        </p:spPr>
        <p:txBody>
          <a:bodyPr wrap="none" rtlCol="0">
            <a:spAutoFit/>
          </a:bodyPr>
          <a:lstStyle/>
          <a:p>
            <a:pPr algn="ctr"/>
            <a:r>
              <a:rPr lang="es-ES" sz="2000" dirty="0">
                <a:solidFill>
                  <a:srgbClr val="FF0000"/>
                </a:solidFill>
              </a:rPr>
              <a:t>a </a:t>
            </a:r>
            <a:r>
              <a:rPr lang="es-ES" sz="2000" dirty="0"/>
              <a:t>+ 1;</a:t>
            </a:r>
          </a:p>
        </p:txBody>
      </p:sp>
      <p:sp>
        <p:nvSpPr>
          <p:cNvPr id="81" name="80 CuadroTexto"/>
          <p:cNvSpPr txBox="1"/>
          <p:nvPr/>
        </p:nvSpPr>
        <p:spPr>
          <a:xfrm>
            <a:off x="1703598" y="1124744"/>
            <a:ext cx="5688632" cy="338554"/>
          </a:xfrm>
          <a:prstGeom prst="rect">
            <a:avLst/>
          </a:prstGeom>
          <a:noFill/>
        </p:spPr>
        <p:txBody>
          <a:bodyPr wrap="square" rtlCol="0">
            <a:spAutoFit/>
          </a:bodyPr>
          <a:lstStyle/>
          <a:p>
            <a:pPr algn="ctr"/>
            <a:r>
              <a:rPr lang="es-ES" sz="1600" dirty="0">
                <a:solidFill>
                  <a:schemeClr val="bg1">
                    <a:lumMod val="50000"/>
                  </a:schemeClr>
                </a:solidFill>
              </a:rPr>
              <a:t>Incrementar en 1 el valor de </a:t>
            </a:r>
            <a:r>
              <a:rPr lang="es-ES" sz="1600" dirty="0">
                <a:solidFill>
                  <a:srgbClr val="FF6600"/>
                </a:solidFill>
              </a:rPr>
              <a:t>a</a:t>
            </a:r>
          </a:p>
        </p:txBody>
      </p:sp>
      <p:sp>
        <p:nvSpPr>
          <p:cNvPr id="83" name="82 CuadroTexto"/>
          <p:cNvSpPr txBox="1"/>
          <p:nvPr/>
        </p:nvSpPr>
        <p:spPr>
          <a:xfrm>
            <a:off x="1043608" y="1490439"/>
            <a:ext cx="1872208" cy="307777"/>
          </a:xfrm>
          <a:prstGeom prst="rect">
            <a:avLst/>
          </a:prstGeom>
          <a:noFill/>
        </p:spPr>
        <p:txBody>
          <a:bodyPr wrap="square" rtlCol="0">
            <a:spAutoFit/>
          </a:bodyPr>
          <a:lstStyle/>
          <a:p>
            <a:pPr algn="ctr"/>
            <a:r>
              <a:rPr lang="es-ES" sz="1400" dirty="0">
                <a:solidFill>
                  <a:srgbClr val="C00000"/>
                </a:solidFill>
              </a:rPr>
              <a:t>Suma y asignación</a:t>
            </a:r>
          </a:p>
        </p:txBody>
      </p:sp>
      <p:grpSp>
        <p:nvGrpSpPr>
          <p:cNvPr id="9" name="8 Grupo"/>
          <p:cNvGrpSpPr/>
          <p:nvPr/>
        </p:nvGrpSpPr>
        <p:grpSpPr>
          <a:xfrm>
            <a:off x="6300192" y="1484784"/>
            <a:ext cx="1872208" cy="673472"/>
            <a:chOff x="3611810" y="1484784"/>
            <a:chExt cx="1872208" cy="673472"/>
          </a:xfrm>
        </p:grpSpPr>
        <p:sp>
          <p:nvSpPr>
            <p:cNvPr id="82" name="81 CuadroTexto"/>
            <p:cNvSpPr txBox="1"/>
            <p:nvPr/>
          </p:nvSpPr>
          <p:spPr>
            <a:xfrm>
              <a:off x="4199903" y="1758146"/>
              <a:ext cx="696024" cy="400110"/>
            </a:xfrm>
            <a:prstGeom prst="rect">
              <a:avLst/>
            </a:prstGeom>
            <a:noFill/>
          </p:spPr>
          <p:txBody>
            <a:bodyPr wrap="none" rtlCol="0">
              <a:spAutoFit/>
            </a:bodyPr>
            <a:lstStyle/>
            <a:p>
              <a:pPr algn="ctr"/>
              <a:r>
                <a:rPr lang="es-ES" sz="2000" dirty="0">
                  <a:solidFill>
                    <a:srgbClr val="FF0000"/>
                  </a:solidFill>
                </a:rPr>
                <a:t>a</a:t>
              </a:r>
              <a:r>
                <a:rPr lang="es-ES" sz="2000" dirty="0">
                  <a:solidFill>
                    <a:srgbClr val="009900"/>
                  </a:solidFill>
                </a:rPr>
                <a:t>++</a:t>
              </a:r>
              <a:r>
                <a:rPr lang="es-ES" sz="2000" dirty="0"/>
                <a:t>;</a:t>
              </a:r>
            </a:p>
          </p:txBody>
        </p:sp>
        <p:sp>
          <p:nvSpPr>
            <p:cNvPr id="84" name="83 CuadroTexto"/>
            <p:cNvSpPr txBox="1"/>
            <p:nvPr/>
          </p:nvSpPr>
          <p:spPr>
            <a:xfrm>
              <a:off x="3611810" y="1484784"/>
              <a:ext cx="1872208" cy="307777"/>
            </a:xfrm>
            <a:prstGeom prst="rect">
              <a:avLst/>
            </a:prstGeom>
            <a:noFill/>
          </p:spPr>
          <p:txBody>
            <a:bodyPr wrap="square" rtlCol="0">
              <a:spAutoFit/>
            </a:bodyPr>
            <a:lstStyle/>
            <a:p>
              <a:pPr algn="ctr"/>
              <a:r>
                <a:rPr lang="es-ES" sz="1400" dirty="0">
                  <a:solidFill>
                    <a:srgbClr val="C00000"/>
                  </a:solidFill>
                </a:rPr>
                <a:t>Post-Incremento</a:t>
              </a:r>
            </a:p>
          </p:txBody>
        </p:sp>
      </p:grpSp>
      <p:grpSp>
        <p:nvGrpSpPr>
          <p:cNvPr id="8" name="7 Grupo"/>
          <p:cNvGrpSpPr/>
          <p:nvPr/>
        </p:nvGrpSpPr>
        <p:grpSpPr>
          <a:xfrm>
            <a:off x="3635896" y="1484784"/>
            <a:ext cx="1872208" cy="673472"/>
            <a:chOff x="6012160" y="1484784"/>
            <a:chExt cx="1872208" cy="673472"/>
          </a:xfrm>
        </p:grpSpPr>
        <p:sp>
          <p:nvSpPr>
            <p:cNvPr id="85" name="84 CuadroTexto"/>
            <p:cNvSpPr txBox="1"/>
            <p:nvPr/>
          </p:nvSpPr>
          <p:spPr>
            <a:xfrm>
              <a:off x="6624175" y="1758146"/>
              <a:ext cx="696024" cy="400110"/>
            </a:xfrm>
            <a:prstGeom prst="rect">
              <a:avLst/>
            </a:prstGeom>
            <a:noFill/>
          </p:spPr>
          <p:txBody>
            <a:bodyPr wrap="none" rtlCol="0">
              <a:spAutoFit/>
            </a:bodyPr>
            <a:lstStyle/>
            <a:p>
              <a:pPr algn="ctr"/>
              <a:r>
                <a:rPr lang="es-ES" sz="2000" dirty="0">
                  <a:solidFill>
                    <a:srgbClr val="00B050"/>
                  </a:solidFill>
                </a:rPr>
                <a:t>++</a:t>
              </a:r>
              <a:r>
                <a:rPr lang="es-ES" sz="2000" dirty="0">
                  <a:solidFill>
                    <a:srgbClr val="FF0000"/>
                  </a:solidFill>
                </a:rPr>
                <a:t>a</a:t>
              </a:r>
              <a:r>
                <a:rPr lang="es-ES" sz="2000" dirty="0"/>
                <a:t>;</a:t>
              </a:r>
            </a:p>
          </p:txBody>
        </p:sp>
        <p:sp>
          <p:nvSpPr>
            <p:cNvPr id="86" name="85 CuadroTexto"/>
            <p:cNvSpPr txBox="1"/>
            <p:nvPr/>
          </p:nvSpPr>
          <p:spPr>
            <a:xfrm>
              <a:off x="6012160" y="1484784"/>
              <a:ext cx="1872208" cy="307777"/>
            </a:xfrm>
            <a:prstGeom prst="rect">
              <a:avLst/>
            </a:prstGeom>
            <a:noFill/>
          </p:spPr>
          <p:txBody>
            <a:bodyPr wrap="square" rtlCol="0">
              <a:spAutoFit/>
            </a:bodyPr>
            <a:lstStyle/>
            <a:p>
              <a:pPr algn="ctr"/>
              <a:r>
                <a:rPr lang="es-ES" sz="1400" dirty="0">
                  <a:solidFill>
                    <a:srgbClr val="C00000"/>
                  </a:solidFill>
                </a:rPr>
                <a:t>Pre-Incremento</a:t>
              </a:r>
            </a:p>
          </p:txBody>
        </p:sp>
      </p:grpSp>
      <p:sp>
        <p:nvSpPr>
          <p:cNvPr id="87" name="86 CuadroTexto"/>
          <p:cNvSpPr txBox="1"/>
          <p:nvPr/>
        </p:nvSpPr>
        <p:spPr>
          <a:xfrm>
            <a:off x="4132575" y="2452826"/>
            <a:ext cx="830677" cy="400110"/>
          </a:xfrm>
          <a:prstGeom prst="rect">
            <a:avLst/>
          </a:prstGeom>
          <a:noFill/>
        </p:spPr>
        <p:txBody>
          <a:bodyPr wrap="none" rtlCol="0">
            <a:spAutoFit/>
          </a:bodyPr>
          <a:lstStyle/>
          <a:p>
            <a:pPr algn="ctr"/>
            <a:r>
              <a:rPr lang="es-ES" sz="2000" dirty="0">
                <a:solidFill>
                  <a:srgbClr val="FF0000"/>
                </a:solidFill>
              </a:rPr>
              <a:t>a</a:t>
            </a:r>
            <a:r>
              <a:rPr lang="es-ES" sz="2000" dirty="0"/>
              <a:t> = 5;</a:t>
            </a:r>
          </a:p>
        </p:txBody>
      </p:sp>
      <p:sp>
        <p:nvSpPr>
          <p:cNvPr id="91" name="90 CuadroTexto"/>
          <p:cNvSpPr txBox="1"/>
          <p:nvPr/>
        </p:nvSpPr>
        <p:spPr>
          <a:xfrm>
            <a:off x="5676206" y="2766258"/>
            <a:ext cx="1776114" cy="400110"/>
          </a:xfrm>
          <a:prstGeom prst="rect">
            <a:avLst/>
          </a:prstGeom>
          <a:noFill/>
        </p:spPr>
        <p:txBody>
          <a:bodyPr wrap="square" rtlCol="0">
            <a:spAutoFit/>
          </a:bodyPr>
          <a:lstStyle/>
          <a:p>
            <a:pPr algn="ctr"/>
            <a:r>
              <a:rPr lang="es-ES" sz="2000" dirty="0">
                <a:solidFill>
                  <a:srgbClr val="FF0000"/>
                </a:solidFill>
              </a:rPr>
              <a:t>b</a:t>
            </a:r>
            <a:r>
              <a:rPr lang="es-ES" sz="2000" dirty="0"/>
              <a:t> = </a:t>
            </a:r>
            <a:r>
              <a:rPr lang="es-ES" sz="2000" dirty="0">
                <a:solidFill>
                  <a:srgbClr val="FF0000"/>
                </a:solidFill>
              </a:rPr>
              <a:t>a</a:t>
            </a:r>
            <a:r>
              <a:rPr lang="es-ES" sz="2000" dirty="0">
                <a:solidFill>
                  <a:srgbClr val="009900"/>
                </a:solidFill>
              </a:rPr>
              <a:t>++</a:t>
            </a:r>
            <a:r>
              <a:rPr lang="es-ES" sz="2000" dirty="0"/>
              <a:t>;</a:t>
            </a:r>
          </a:p>
        </p:txBody>
      </p:sp>
      <p:sp>
        <p:nvSpPr>
          <p:cNvPr id="93" name="92 CuadroTexto"/>
          <p:cNvSpPr txBox="1"/>
          <p:nvPr/>
        </p:nvSpPr>
        <p:spPr>
          <a:xfrm>
            <a:off x="5568851" y="2492896"/>
            <a:ext cx="1872208" cy="307777"/>
          </a:xfrm>
          <a:prstGeom prst="rect">
            <a:avLst/>
          </a:prstGeom>
          <a:noFill/>
        </p:spPr>
        <p:txBody>
          <a:bodyPr wrap="square" rtlCol="0">
            <a:spAutoFit/>
          </a:bodyPr>
          <a:lstStyle/>
          <a:p>
            <a:pPr algn="ctr"/>
            <a:r>
              <a:rPr lang="es-ES" sz="1400" dirty="0">
                <a:solidFill>
                  <a:srgbClr val="C00000"/>
                </a:solidFill>
              </a:rPr>
              <a:t>Post-Incremento</a:t>
            </a:r>
          </a:p>
        </p:txBody>
      </p:sp>
      <p:sp>
        <p:nvSpPr>
          <p:cNvPr id="94" name="93 CuadroTexto"/>
          <p:cNvSpPr txBox="1"/>
          <p:nvPr/>
        </p:nvSpPr>
        <p:spPr>
          <a:xfrm>
            <a:off x="2087288" y="2766258"/>
            <a:ext cx="1128835" cy="400110"/>
          </a:xfrm>
          <a:prstGeom prst="rect">
            <a:avLst/>
          </a:prstGeom>
          <a:noFill/>
        </p:spPr>
        <p:txBody>
          <a:bodyPr wrap="none" rtlCol="0">
            <a:spAutoFit/>
          </a:bodyPr>
          <a:lstStyle/>
          <a:p>
            <a:pPr algn="ctr"/>
            <a:r>
              <a:rPr lang="es-ES" sz="2000" dirty="0">
                <a:solidFill>
                  <a:srgbClr val="FF0000"/>
                </a:solidFill>
              </a:rPr>
              <a:t>b</a:t>
            </a:r>
            <a:r>
              <a:rPr lang="es-ES" sz="2000" dirty="0"/>
              <a:t> = </a:t>
            </a:r>
            <a:r>
              <a:rPr lang="es-ES" sz="2000" dirty="0">
                <a:solidFill>
                  <a:srgbClr val="009900"/>
                </a:solidFill>
              </a:rPr>
              <a:t>++</a:t>
            </a:r>
            <a:r>
              <a:rPr lang="es-ES" sz="2000" dirty="0">
                <a:solidFill>
                  <a:srgbClr val="FF0000"/>
                </a:solidFill>
              </a:rPr>
              <a:t>a</a:t>
            </a:r>
            <a:r>
              <a:rPr lang="es-ES" sz="2000" dirty="0"/>
              <a:t>;</a:t>
            </a:r>
          </a:p>
        </p:txBody>
      </p:sp>
      <p:sp>
        <p:nvSpPr>
          <p:cNvPr id="95" name="94 CuadroTexto"/>
          <p:cNvSpPr txBox="1"/>
          <p:nvPr/>
        </p:nvSpPr>
        <p:spPr>
          <a:xfrm>
            <a:off x="1691680" y="2492896"/>
            <a:ext cx="1872208" cy="307777"/>
          </a:xfrm>
          <a:prstGeom prst="rect">
            <a:avLst/>
          </a:prstGeom>
          <a:noFill/>
        </p:spPr>
        <p:txBody>
          <a:bodyPr wrap="square" rtlCol="0">
            <a:spAutoFit/>
          </a:bodyPr>
          <a:lstStyle/>
          <a:p>
            <a:pPr algn="ctr"/>
            <a:r>
              <a:rPr lang="es-ES" sz="1400" dirty="0">
                <a:solidFill>
                  <a:srgbClr val="C00000"/>
                </a:solidFill>
              </a:rPr>
              <a:t>Pre-Incremento</a:t>
            </a:r>
          </a:p>
        </p:txBody>
      </p:sp>
      <p:sp>
        <p:nvSpPr>
          <p:cNvPr id="2" name="1 Rectángulo"/>
          <p:cNvSpPr/>
          <p:nvPr/>
        </p:nvSpPr>
        <p:spPr bwMode="auto">
          <a:xfrm>
            <a:off x="683568" y="2303161"/>
            <a:ext cx="7632848" cy="45719"/>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nvGrpSpPr>
          <p:cNvPr id="10" name="9 Grupo"/>
          <p:cNvGrpSpPr/>
          <p:nvPr/>
        </p:nvGrpSpPr>
        <p:grpSpPr>
          <a:xfrm>
            <a:off x="2831454" y="3139921"/>
            <a:ext cx="313086" cy="526311"/>
            <a:chOff x="3047478" y="3499961"/>
            <a:chExt cx="313086" cy="526311"/>
          </a:xfrm>
        </p:grpSpPr>
        <p:sp>
          <p:nvSpPr>
            <p:cNvPr id="99" name="98 CuadroTexto"/>
            <p:cNvSpPr txBox="1"/>
            <p:nvPr/>
          </p:nvSpPr>
          <p:spPr>
            <a:xfrm>
              <a:off x="3047478" y="3687718"/>
              <a:ext cx="313086" cy="338554"/>
            </a:xfrm>
            <a:prstGeom prst="rect">
              <a:avLst/>
            </a:prstGeom>
            <a:noFill/>
          </p:spPr>
          <p:txBody>
            <a:bodyPr wrap="square" rtlCol="0">
              <a:spAutoFit/>
            </a:bodyPr>
            <a:lstStyle/>
            <a:p>
              <a:pPr algn="ctr"/>
              <a:r>
                <a:rPr lang="es-ES" sz="1600" dirty="0">
                  <a:solidFill>
                    <a:schemeClr val="bg1">
                      <a:lumMod val="50000"/>
                    </a:schemeClr>
                  </a:solidFill>
                </a:rPr>
                <a:t>6</a:t>
              </a:r>
            </a:p>
          </p:txBody>
        </p:sp>
        <p:sp>
          <p:nvSpPr>
            <p:cNvPr id="100" name="99 Flecha arriba"/>
            <p:cNvSpPr/>
            <p:nvPr/>
          </p:nvSpPr>
          <p:spPr bwMode="auto">
            <a:xfrm flipV="1">
              <a:off x="3110632" y="3499961"/>
              <a:ext cx="148694" cy="204676"/>
            </a:xfrm>
            <a:prstGeom prst="upArrow">
              <a:avLst/>
            </a:prstGeom>
            <a:solidFill>
              <a:schemeClr val="accent1">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106" name="105 Grupo"/>
          <p:cNvGrpSpPr/>
          <p:nvPr/>
        </p:nvGrpSpPr>
        <p:grpSpPr>
          <a:xfrm>
            <a:off x="2123728" y="3140968"/>
            <a:ext cx="313086" cy="526311"/>
            <a:chOff x="3047478" y="3499961"/>
            <a:chExt cx="313086" cy="526311"/>
          </a:xfrm>
        </p:grpSpPr>
        <p:sp>
          <p:nvSpPr>
            <p:cNvPr id="109" name="108 CuadroTexto"/>
            <p:cNvSpPr txBox="1"/>
            <p:nvPr/>
          </p:nvSpPr>
          <p:spPr>
            <a:xfrm>
              <a:off x="3047478" y="3687718"/>
              <a:ext cx="313086" cy="338554"/>
            </a:xfrm>
            <a:prstGeom prst="rect">
              <a:avLst/>
            </a:prstGeom>
            <a:noFill/>
          </p:spPr>
          <p:txBody>
            <a:bodyPr wrap="square" rtlCol="0">
              <a:spAutoFit/>
            </a:bodyPr>
            <a:lstStyle/>
            <a:p>
              <a:pPr algn="ctr"/>
              <a:r>
                <a:rPr lang="es-ES" sz="1600" dirty="0">
                  <a:solidFill>
                    <a:schemeClr val="bg1">
                      <a:lumMod val="50000"/>
                    </a:schemeClr>
                  </a:solidFill>
                </a:rPr>
                <a:t>6</a:t>
              </a:r>
            </a:p>
          </p:txBody>
        </p:sp>
        <p:sp>
          <p:nvSpPr>
            <p:cNvPr id="114" name="113 Flecha arriba"/>
            <p:cNvSpPr/>
            <p:nvPr/>
          </p:nvSpPr>
          <p:spPr bwMode="auto">
            <a:xfrm flipV="1">
              <a:off x="3110632" y="3499961"/>
              <a:ext cx="148694" cy="204676"/>
            </a:xfrm>
            <a:prstGeom prst="upArrow">
              <a:avLst/>
            </a:prstGeom>
            <a:solidFill>
              <a:srgbClr val="FF66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133" name="132 Grupo"/>
          <p:cNvGrpSpPr/>
          <p:nvPr/>
        </p:nvGrpSpPr>
        <p:grpSpPr>
          <a:xfrm>
            <a:off x="6022453" y="3139921"/>
            <a:ext cx="313086" cy="526311"/>
            <a:chOff x="3047478" y="3499961"/>
            <a:chExt cx="313086" cy="526311"/>
          </a:xfrm>
        </p:grpSpPr>
        <p:sp>
          <p:nvSpPr>
            <p:cNvPr id="138" name="137 CuadroTexto"/>
            <p:cNvSpPr txBox="1"/>
            <p:nvPr/>
          </p:nvSpPr>
          <p:spPr>
            <a:xfrm>
              <a:off x="3047478" y="3687718"/>
              <a:ext cx="313086" cy="338554"/>
            </a:xfrm>
            <a:prstGeom prst="rect">
              <a:avLst/>
            </a:prstGeom>
            <a:noFill/>
          </p:spPr>
          <p:txBody>
            <a:bodyPr wrap="square" rtlCol="0">
              <a:spAutoFit/>
            </a:bodyPr>
            <a:lstStyle/>
            <a:p>
              <a:pPr algn="ctr"/>
              <a:r>
                <a:rPr lang="es-ES" sz="1600" dirty="0">
                  <a:solidFill>
                    <a:schemeClr val="bg1">
                      <a:lumMod val="50000"/>
                    </a:schemeClr>
                  </a:solidFill>
                </a:rPr>
                <a:t>5</a:t>
              </a:r>
            </a:p>
          </p:txBody>
        </p:sp>
        <p:sp>
          <p:nvSpPr>
            <p:cNvPr id="139" name="138 Flecha arriba"/>
            <p:cNvSpPr/>
            <p:nvPr/>
          </p:nvSpPr>
          <p:spPr bwMode="auto">
            <a:xfrm flipV="1">
              <a:off x="3110632" y="3499961"/>
              <a:ext cx="148694" cy="204676"/>
            </a:xfrm>
            <a:prstGeom prst="upArrow">
              <a:avLst/>
            </a:prstGeom>
            <a:solidFill>
              <a:srgbClr val="FF66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140" name="139 Grupo"/>
          <p:cNvGrpSpPr/>
          <p:nvPr/>
        </p:nvGrpSpPr>
        <p:grpSpPr>
          <a:xfrm>
            <a:off x="6441801" y="3139921"/>
            <a:ext cx="313086" cy="526311"/>
            <a:chOff x="3047478" y="3499961"/>
            <a:chExt cx="313086" cy="526311"/>
          </a:xfrm>
        </p:grpSpPr>
        <p:sp>
          <p:nvSpPr>
            <p:cNvPr id="141" name="140 CuadroTexto"/>
            <p:cNvSpPr txBox="1"/>
            <p:nvPr/>
          </p:nvSpPr>
          <p:spPr>
            <a:xfrm>
              <a:off x="3047478" y="3687718"/>
              <a:ext cx="313086" cy="338554"/>
            </a:xfrm>
            <a:prstGeom prst="rect">
              <a:avLst/>
            </a:prstGeom>
            <a:noFill/>
          </p:spPr>
          <p:txBody>
            <a:bodyPr wrap="square" rtlCol="0">
              <a:spAutoFit/>
            </a:bodyPr>
            <a:lstStyle/>
            <a:p>
              <a:pPr algn="ctr"/>
              <a:r>
                <a:rPr lang="es-ES" sz="1600" dirty="0">
                  <a:solidFill>
                    <a:schemeClr val="bg1">
                      <a:lumMod val="50000"/>
                    </a:schemeClr>
                  </a:solidFill>
                </a:rPr>
                <a:t>5</a:t>
              </a:r>
            </a:p>
          </p:txBody>
        </p:sp>
        <p:sp>
          <p:nvSpPr>
            <p:cNvPr id="142" name="141 Flecha arriba"/>
            <p:cNvSpPr/>
            <p:nvPr/>
          </p:nvSpPr>
          <p:spPr bwMode="auto">
            <a:xfrm flipV="1">
              <a:off x="3110632" y="3499961"/>
              <a:ext cx="148694" cy="204676"/>
            </a:xfrm>
            <a:prstGeom prst="upArrow">
              <a:avLst/>
            </a:prstGeom>
            <a:solidFill>
              <a:schemeClr val="accent1">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sp>
        <p:nvSpPr>
          <p:cNvPr id="143" name="142 CuadroTexto"/>
          <p:cNvSpPr txBox="1"/>
          <p:nvPr/>
        </p:nvSpPr>
        <p:spPr>
          <a:xfrm>
            <a:off x="4132575" y="3938705"/>
            <a:ext cx="830677" cy="400110"/>
          </a:xfrm>
          <a:prstGeom prst="rect">
            <a:avLst/>
          </a:prstGeom>
          <a:noFill/>
        </p:spPr>
        <p:txBody>
          <a:bodyPr wrap="none" rtlCol="0">
            <a:spAutoFit/>
          </a:bodyPr>
          <a:lstStyle/>
          <a:p>
            <a:pPr algn="ctr"/>
            <a:r>
              <a:rPr lang="es-ES" sz="2000" dirty="0">
                <a:solidFill>
                  <a:srgbClr val="FF0000"/>
                </a:solidFill>
              </a:rPr>
              <a:t>a</a:t>
            </a:r>
            <a:r>
              <a:rPr lang="es-ES" sz="2000" dirty="0"/>
              <a:t> = 5;</a:t>
            </a:r>
          </a:p>
        </p:txBody>
      </p:sp>
      <p:sp>
        <p:nvSpPr>
          <p:cNvPr id="144" name="143 CuadroTexto"/>
          <p:cNvSpPr txBox="1"/>
          <p:nvPr/>
        </p:nvSpPr>
        <p:spPr>
          <a:xfrm>
            <a:off x="5988199" y="4316526"/>
            <a:ext cx="2112193" cy="400110"/>
          </a:xfrm>
          <a:prstGeom prst="rect">
            <a:avLst/>
          </a:prstGeom>
          <a:noFill/>
        </p:spPr>
        <p:txBody>
          <a:bodyPr wrap="square" rtlCol="0">
            <a:spAutoFit/>
          </a:bodyPr>
          <a:lstStyle/>
          <a:p>
            <a:pPr algn="ctr"/>
            <a:r>
              <a:rPr lang="es-ES" sz="2000" dirty="0">
                <a:solidFill>
                  <a:srgbClr val="FF0000"/>
                </a:solidFill>
              </a:rPr>
              <a:t>b</a:t>
            </a:r>
            <a:r>
              <a:rPr lang="es-ES" sz="2000" dirty="0"/>
              <a:t> = </a:t>
            </a:r>
            <a:r>
              <a:rPr lang="es-ES" sz="2000" dirty="0">
                <a:solidFill>
                  <a:srgbClr val="FF0000"/>
                </a:solidFill>
              </a:rPr>
              <a:t>a</a:t>
            </a:r>
            <a:r>
              <a:rPr lang="es-ES" sz="2000" dirty="0">
                <a:solidFill>
                  <a:srgbClr val="009900"/>
                </a:solidFill>
              </a:rPr>
              <a:t>++</a:t>
            </a:r>
            <a:r>
              <a:rPr lang="es-ES" sz="2000" dirty="0"/>
              <a:t> + </a:t>
            </a:r>
            <a:r>
              <a:rPr lang="es-ES" sz="2000" dirty="0">
                <a:solidFill>
                  <a:srgbClr val="FF0000"/>
                </a:solidFill>
              </a:rPr>
              <a:t>a</a:t>
            </a:r>
            <a:r>
              <a:rPr lang="es-ES" sz="2000" dirty="0">
                <a:solidFill>
                  <a:srgbClr val="009900"/>
                </a:solidFill>
              </a:rPr>
              <a:t>++</a:t>
            </a:r>
            <a:r>
              <a:rPr lang="es-ES" sz="2000" dirty="0"/>
              <a:t>;</a:t>
            </a:r>
          </a:p>
        </p:txBody>
      </p:sp>
      <p:sp>
        <p:nvSpPr>
          <p:cNvPr id="146" name="145 CuadroTexto"/>
          <p:cNvSpPr txBox="1"/>
          <p:nvPr/>
        </p:nvSpPr>
        <p:spPr>
          <a:xfrm>
            <a:off x="1043608" y="4328179"/>
            <a:ext cx="2067643" cy="400110"/>
          </a:xfrm>
          <a:prstGeom prst="rect">
            <a:avLst/>
          </a:prstGeom>
          <a:noFill/>
        </p:spPr>
        <p:txBody>
          <a:bodyPr wrap="square" rtlCol="0">
            <a:spAutoFit/>
          </a:bodyPr>
          <a:lstStyle/>
          <a:p>
            <a:pPr algn="ctr"/>
            <a:r>
              <a:rPr lang="es-ES" sz="2000" dirty="0">
                <a:solidFill>
                  <a:srgbClr val="FF0000"/>
                </a:solidFill>
              </a:rPr>
              <a:t>b</a:t>
            </a:r>
            <a:r>
              <a:rPr lang="es-ES" sz="2000" dirty="0"/>
              <a:t> = </a:t>
            </a:r>
            <a:r>
              <a:rPr lang="es-ES" sz="2000" dirty="0">
                <a:solidFill>
                  <a:srgbClr val="FF0000"/>
                </a:solidFill>
              </a:rPr>
              <a:t>a</a:t>
            </a:r>
            <a:r>
              <a:rPr lang="es-ES" sz="2000" dirty="0">
                <a:solidFill>
                  <a:srgbClr val="009900"/>
                </a:solidFill>
              </a:rPr>
              <a:t>++</a:t>
            </a:r>
            <a:r>
              <a:rPr lang="es-ES" sz="2000" dirty="0"/>
              <a:t> + </a:t>
            </a:r>
            <a:r>
              <a:rPr lang="es-ES" sz="2000" dirty="0">
                <a:solidFill>
                  <a:srgbClr val="009900"/>
                </a:solidFill>
              </a:rPr>
              <a:t>++</a:t>
            </a:r>
            <a:r>
              <a:rPr lang="es-ES" sz="2000" dirty="0">
                <a:solidFill>
                  <a:srgbClr val="FF0000"/>
                </a:solidFill>
              </a:rPr>
              <a:t>a</a:t>
            </a:r>
            <a:r>
              <a:rPr lang="es-ES" sz="2000" dirty="0"/>
              <a:t>;</a:t>
            </a:r>
          </a:p>
        </p:txBody>
      </p:sp>
      <p:sp>
        <p:nvSpPr>
          <p:cNvPr id="148" name="147 Rectángulo"/>
          <p:cNvSpPr/>
          <p:nvPr/>
        </p:nvSpPr>
        <p:spPr bwMode="auto">
          <a:xfrm>
            <a:off x="683568" y="3789040"/>
            <a:ext cx="7632848" cy="45719"/>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nvGrpSpPr>
          <p:cNvPr id="149" name="148 Grupo"/>
          <p:cNvGrpSpPr/>
          <p:nvPr/>
        </p:nvGrpSpPr>
        <p:grpSpPr>
          <a:xfrm>
            <a:off x="1598464" y="4701842"/>
            <a:ext cx="313086" cy="526311"/>
            <a:chOff x="3047478" y="3499961"/>
            <a:chExt cx="313086" cy="526311"/>
          </a:xfrm>
        </p:grpSpPr>
        <p:sp>
          <p:nvSpPr>
            <p:cNvPr id="150" name="149 CuadroTexto"/>
            <p:cNvSpPr txBox="1"/>
            <p:nvPr/>
          </p:nvSpPr>
          <p:spPr>
            <a:xfrm>
              <a:off x="3047478" y="3687718"/>
              <a:ext cx="313086" cy="338554"/>
            </a:xfrm>
            <a:prstGeom prst="rect">
              <a:avLst/>
            </a:prstGeom>
            <a:noFill/>
          </p:spPr>
          <p:txBody>
            <a:bodyPr wrap="square" rtlCol="0">
              <a:spAutoFit/>
            </a:bodyPr>
            <a:lstStyle/>
            <a:p>
              <a:pPr algn="ctr"/>
              <a:r>
                <a:rPr lang="es-ES" sz="1600" dirty="0">
                  <a:solidFill>
                    <a:schemeClr val="bg1">
                      <a:lumMod val="50000"/>
                    </a:schemeClr>
                  </a:solidFill>
                </a:rPr>
                <a:t>5</a:t>
              </a:r>
            </a:p>
          </p:txBody>
        </p:sp>
        <p:sp>
          <p:nvSpPr>
            <p:cNvPr id="151" name="150 Flecha arriba"/>
            <p:cNvSpPr/>
            <p:nvPr/>
          </p:nvSpPr>
          <p:spPr bwMode="auto">
            <a:xfrm flipV="1">
              <a:off x="3110632" y="3499961"/>
              <a:ext cx="148694" cy="204676"/>
            </a:xfrm>
            <a:prstGeom prst="upArrow">
              <a:avLst/>
            </a:prstGeom>
            <a:solidFill>
              <a:schemeClr val="accent1">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152" name="151 Grupo"/>
          <p:cNvGrpSpPr/>
          <p:nvPr/>
        </p:nvGrpSpPr>
        <p:grpSpPr>
          <a:xfrm>
            <a:off x="1043608" y="4702889"/>
            <a:ext cx="504056" cy="526311"/>
            <a:chOff x="2937370" y="3499961"/>
            <a:chExt cx="504056" cy="526311"/>
          </a:xfrm>
        </p:grpSpPr>
        <p:sp>
          <p:nvSpPr>
            <p:cNvPr id="153" name="152 CuadroTexto"/>
            <p:cNvSpPr txBox="1"/>
            <p:nvPr/>
          </p:nvSpPr>
          <p:spPr>
            <a:xfrm>
              <a:off x="2937370" y="3687718"/>
              <a:ext cx="504056" cy="338554"/>
            </a:xfrm>
            <a:prstGeom prst="rect">
              <a:avLst/>
            </a:prstGeom>
            <a:noFill/>
          </p:spPr>
          <p:txBody>
            <a:bodyPr wrap="square" rtlCol="0">
              <a:spAutoFit/>
            </a:bodyPr>
            <a:lstStyle/>
            <a:p>
              <a:pPr algn="ctr"/>
              <a:r>
                <a:rPr lang="es-ES" sz="1600" dirty="0">
                  <a:solidFill>
                    <a:schemeClr val="bg1">
                      <a:lumMod val="50000"/>
                    </a:schemeClr>
                  </a:solidFill>
                </a:rPr>
                <a:t>12</a:t>
              </a:r>
            </a:p>
          </p:txBody>
        </p:sp>
        <p:sp>
          <p:nvSpPr>
            <p:cNvPr id="154" name="153 Flecha arriba"/>
            <p:cNvSpPr/>
            <p:nvPr/>
          </p:nvSpPr>
          <p:spPr bwMode="auto">
            <a:xfrm flipV="1">
              <a:off x="3110632" y="3499961"/>
              <a:ext cx="148694" cy="204676"/>
            </a:xfrm>
            <a:prstGeom prst="upArrow">
              <a:avLst/>
            </a:prstGeom>
            <a:solidFill>
              <a:srgbClr val="FC993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155" name="154 Grupo"/>
          <p:cNvGrpSpPr/>
          <p:nvPr/>
        </p:nvGrpSpPr>
        <p:grpSpPr>
          <a:xfrm>
            <a:off x="6047853" y="4690189"/>
            <a:ext cx="455663" cy="526311"/>
            <a:chOff x="2964555" y="3499961"/>
            <a:chExt cx="455663" cy="526311"/>
          </a:xfrm>
        </p:grpSpPr>
        <p:sp>
          <p:nvSpPr>
            <p:cNvPr id="156" name="155 CuadroTexto"/>
            <p:cNvSpPr txBox="1"/>
            <p:nvPr/>
          </p:nvSpPr>
          <p:spPr>
            <a:xfrm>
              <a:off x="2964555" y="3687718"/>
              <a:ext cx="455663" cy="338554"/>
            </a:xfrm>
            <a:prstGeom prst="rect">
              <a:avLst/>
            </a:prstGeom>
            <a:noFill/>
          </p:spPr>
          <p:txBody>
            <a:bodyPr wrap="square" rtlCol="0">
              <a:spAutoFit/>
            </a:bodyPr>
            <a:lstStyle/>
            <a:p>
              <a:pPr algn="ctr"/>
              <a:r>
                <a:rPr lang="es-ES" sz="1600" dirty="0">
                  <a:solidFill>
                    <a:schemeClr val="bg1">
                      <a:lumMod val="50000"/>
                    </a:schemeClr>
                  </a:solidFill>
                </a:rPr>
                <a:t>11</a:t>
              </a:r>
            </a:p>
          </p:txBody>
        </p:sp>
        <p:sp>
          <p:nvSpPr>
            <p:cNvPr id="157" name="156 Flecha arriba"/>
            <p:cNvSpPr/>
            <p:nvPr/>
          </p:nvSpPr>
          <p:spPr bwMode="auto">
            <a:xfrm flipV="1">
              <a:off x="3110632" y="3499961"/>
              <a:ext cx="148694" cy="204676"/>
            </a:xfrm>
            <a:prstGeom prst="upArrow">
              <a:avLst/>
            </a:prstGeom>
            <a:solidFill>
              <a:srgbClr val="FC993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158" name="157 Grupo"/>
          <p:cNvGrpSpPr/>
          <p:nvPr/>
        </p:nvGrpSpPr>
        <p:grpSpPr>
          <a:xfrm>
            <a:off x="6563170" y="4690189"/>
            <a:ext cx="313086" cy="526311"/>
            <a:chOff x="3047478" y="3499961"/>
            <a:chExt cx="313086" cy="526311"/>
          </a:xfrm>
        </p:grpSpPr>
        <p:sp>
          <p:nvSpPr>
            <p:cNvPr id="159" name="158 CuadroTexto"/>
            <p:cNvSpPr txBox="1"/>
            <p:nvPr/>
          </p:nvSpPr>
          <p:spPr>
            <a:xfrm>
              <a:off x="3047478" y="3687718"/>
              <a:ext cx="313086" cy="338554"/>
            </a:xfrm>
            <a:prstGeom prst="rect">
              <a:avLst/>
            </a:prstGeom>
            <a:noFill/>
          </p:spPr>
          <p:txBody>
            <a:bodyPr wrap="square" rtlCol="0">
              <a:spAutoFit/>
            </a:bodyPr>
            <a:lstStyle/>
            <a:p>
              <a:pPr algn="ctr"/>
              <a:r>
                <a:rPr lang="es-ES" sz="1600" dirty="0">
                  <a:solidFill>
                    <a:schemeClr val="bg1">
                      <a:lumMod val="50000"/>
                    </a:schemeClr>
                  </a:solidFill>
                </a:rPr>
                <a:t>5</a:t>
              </a:r>
            </a:p>
          </p:txBody>
        </p:sp>
        <p:sp>
          <p:nvSpPr>
            <p:cNvPr id="160" name="159 Flecha arriba"/>
            <p:cNvSpPr/>
            <p:nvPr/>
          </p:nvSpPr>
          <p:spPr bwMode="auto">
            <a:xfrm flipV="1">
              <a:off x="3110632" y="3499961"/>
              <a:ext cx="148694" cy="204676"/>
            </a:xfrm>
            <a:prstGeom prst="upArrow">
              <a:avLst/>
            </a:prstGeom>
            <a:solidFill>
              <a:schemeClr val="accent1">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sp>
        <p:nvSpPr>
          <p:cNvPr id="161" name="160 Rectángulo"/>
          <p:cNvSpPr/>
          <p:nvPr/>
        </p:nvSpPr>
        <p:spPr bwMode="auto">
          <a:xfrm>
            <a:off x="717476" y="5327497"/>
            <a:ext cx="7632848" cy="45719"/>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nvGrpSpPr>
          <p:cNvPr id="162" name="161 Grupo"/>
          <p:cNvGrpSpPr/>
          <p:nvPr/>
        </p:nvGrpSpPr>
        <p:grpSpPr>
          <a:xfrm>
            <a:off x="2627164" y="4692535"/>
            <a:ext cx="313086" cy="526311"/>
            <a:chOff x="3047478" y="3499961"/>
            <a:chExt cx="313086" cy="526311"/>
          </a:xfrm>
        </p:grpSpPr>
        <p:sp>
          <p:nvSpPr>
            <p:cNvPr id="163" name="162 CuadroTexto"/>
            <p:cNvSpPr txBox="1"/>
            <p:nvPr/>
          </p:nvSpPr>
          <p:spPr>
            <a:xfrm>
              <a:off x="3047478" y="3687718"/>
              <a:ext cx="313086" cy="338554"/>
            </a:xfrm>
            <a:prstGeom prst="rect">
              <a:avLst/>
            </a:prstGeom>
            <a:noFill/>
          </p:spPr>
          <p:txBody>
            <a:bodyPr wrap="square" rtlCol="0">
              <a:spAutoFit/>
            </a:bodyPr>
            <a:lstStyle/>
            <a:p>
              <a:pPr algn="ctr"/>
              <a:r>
                <a:rPr lang="es-ES" sz="1600" dirty="0">
                  <a:solidFill>
                    <a:schemeClr val="bg1">
                      <a:lumMod val="50000"/>
                    </a:schemeClr>
                  </a:solidFill>
                </a:rPr>
                <a:t>7</a:t>
              </a:r>
            </a:p>
          </p:txBody>
        </p:sp>
        <p:sp>
          <p:nvSpPr>
            <p:cNvPr id="164" name="163 Flecha arriba"/>
            <p:cNvSpPr/>
            <p:nvPr/>
          </p:nvSpPr>
          <p:spPr bwMode="auto">
            <a:xfrm flipV="1">
              <a:off x="3110632" y="3499961"/>
              <a:ext cx="148694" cy="204676"/>
            </a:xfrm>
            <a:prstGeom prst="upArrow">
              <a:avLst/>
            </a:prstGeom>
            <a:solidFill>
              <a:schemeClr val="accent1">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165" name="164 Grupo"/>
          <p:cNvGrpSpPr/>
          <p:nvPr/>
        </p:nvGrpSpPr>
        <p:grpSpPr>
          <a:xfrm>
            <a:off x="7287096" y="4688219"/>
            <a:ext cx="313086" cy="526311"/>
            <a:chOff x="3047478" y="3499961"/>
            <a:chExt cx="313086" cy="526311"/>
          </a:xfrm>
        </p:grpSpPr>
        <p:sp>
          <p:nvSpPr>
            <p:cNvPr id="166" name="165 CuadroTexto"/>
            <p:cNvSpPr txBox="1"/>
            <p:nvPr/>
          </p:nvSpPr>
          <p:spPr>
            <a:xfrm>
              <a:off x="3047478" y="3687718"/>
              <a:ext cx="313086" cy="338554"/>
            </a:xfrm>
            <a:prstGeom prst="rect">
              <a:avLst/>
            </a:prstGeom>
            <a:noFill/>
          </p:spPr>
          <p:txBody>
            <a:bodyPr wrap="square" rtlCol="0">
              <a:spAutoFit/>
            </a:bodyPr>
            <a:lstStyle/>
            <a:p>
              <a:pPr algn="ctr"/>
              <a:r>
                <a:rPr lang="es-ES" sz="1600" dirty="0">
                  <a:solidFill>
                    <a:schemeClr val="bg1">
                      <a:lumMod val="50000"/>
                    </a:schemeClr>
                  </a:solidFill>
                </a:rPr>
                <a:t>6</a:t>
              </a:r>
            </a:p>
          </p:txBody>
        </p:sp>
        <p:sp>
          <p:nvSpPr>
            <p:cNvPr id="167" name="166 Flecha arriba"/>
            <p:cNvSpPr/>
            <p:nvPr/>
          </p:nvSpPr>
          <p:spPr bwMode="auto">
            <a:xfrm flipV="1">
              <a:off x="3110632" y="3499961"/>
              <a:ext cx="148694" cy="204676"/>
            </a:xfrm>
            <a:prstGeom prst="upArrow">
              <a:avLst/>
            </a:prstGeom>
            <a:solidFill>
              <a:schemeClr val="accent1">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sp>
        <p:nvSpPr>
          <p:cNvPr id="168" name="167 CuadroTexto"/>
          <p:cNvSpPr txBox="1"/>
          <p:nvPr/>
        </p:nvSpPr>
        <p:spPr>
          <a:xfrm>
            <a:off x="3512469" y="4328179"/>
            <a:ext cx="2067643" cy="400110"/>
          </a:xfrm>
          <a:prstGeom prst="rect">
            <a:avLst/>
          </a:prstGeom>
          <a:noFill/>
        </p:spPr>
        <p:txBody>
          <a:bodyPr wrap="square" rtlCol="0">
            <a:spAutoFit/>
          </a:bodyPr>
          <a:lstStyle/>
          <a:p>
            <a:pPr algn="ctr"/>
            <a:r>
              <a:rPr lang="es-ES" sz="2000" dirty="0">
                <a:solidFill>
                  <a:srgbClr val="FF0000"/>
                </a:solidFill>
              </a:rPr>
              <a:t>b</a:t>
            </a:r>
            <a:r>
              <a:rPr lang="es-ES" sz="2000" dirty="0"/>
              <a:t> = </a:t>
            </a:r>
            <a:r>
              <a:rPr lang="es-ES" sz="2000" dirty="0">
                <a:solidFill>
                  <a:srgbClr val="009900"/>
                </a:solidFill>
              </a:rPr>
              <a:t>++</a:t>
            </a:r>
            <a:r>
              <a:rPr lang="es-ES" sz="2000" dirty="0">
                <a:solidFill>
                  <a:srgbClr val="FF0000"/>
                </a:solidFill>
              </a:rPr>
              <a:t>a</a:t>
            </a:r>
            <a:r>
              <a:rPr lang="es-ES" sz="2000" dirty="0"/>
              <a:t> + </a:t>
            </a:r>
            <a:r>
              <a:rPr lang="es-ES" sz="2000" dirty="0">
                <a:solidFill>
                  <a:srgbClr val="009900"/>
                </a:solidFill>
              </a:rPr>
              <a:t>++</a:t>
            </a:r>
            <a:r>
              <a:rPr lang="es-ES" sz="2000" dirty="0">
                <a:solidFill>
                  <a:srgbClr val="FF0000"/>
                </a:solidFill>
              </a:rPr>
              <a:t>a</a:t>
            </a:r>
            <a:r>
              <a:rPr lang="es-ES" sz="2000" dirty="0"/>
              <a:t>;</a:t>
            </a:r>
          </a:p>
        </p:txBody>
      </p:sp>
      <p:grpSp>
        <p:nvGrpSpPr>
          <p:cNvPr id="175" name="174 Grupo"/>
          <p:cNvGrpSpPr/>
          <p:nvPr/>
        </p:nvGrpSpPr>
        <p:grpSpPr>
          <a:xfrm>
            <a:off x="4372125" y="4701842"/>
            <a:ext cx="313086" cy="526311"/>
            <a:chOff x="3047478" y="3499961"/>
            <a:chExt cx="313086" cy="526311"/>
          </a:xfrm>
        </p:grpSpPr>
        <p:sp>
          <p:nvSpPr>
            <p:cNvPr id="177" name="176 CuadroTexto"/>
            <p:cNvSpPr txBox="1"/>
            <p:nvPr/>
          </p:nvSpPr>
          <p:spPr>
            <a:xfrm>
              <a:off x="3047478" y="3687718"/>
              <a:ext cx="313086" cy="338554"/>
            </a:xfrm>
            <a:prstGeom prst="rect">
              <a:avLst/>
            </a:prstGeom>
            <a:noFill/>
          </p:spPr>
          <p:txBody>
            <a:bodyPr wrap="square" rtlCol="0">
              <a:spAutoFit/>
            </a:bodyPr>
            <a:lstStyle/>
            <a:p>
              <a:pPr algn="ctr"/>
              <a:r>
                <a:rPr lang="es-ES" sz="1600" dirty="0">
                  <a:solidFill>
                    <a:schemeClr val="bg1">
                      <a:lumMod val="50000"/>
                    </a:schemeClr>
                  </a:solidFill>
                </a:rPr>
                <a:t>6</a:t>
              </a:r>
            </a:p>
          </p:txBody>
        </p:sp>
        <p:sp>
          <p:nvSpPr>
            <p:cNvPr id="178" name="177 Flecha arriba"/>
            <p:cNvSpPr/>
            <p:nvPr/>
          </p:nvSpPr>
          <p:spPr bwMode="auto">
            <a:xfrm flipV="1">
              <a:off x="3110632" y="3499961"/>
              <a:ext cx="148694" cy="204676"/>
            </a:xfrm>
            <a:prstGeom prst="upArrow">
              <a:avLst/>
            </a:prstGeom>
            <a:solidFill>
              <a:schemeClr val="accent1">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179" name="178 Grupo"/>
          <p:cNvGrpSpPr/>
          <p:nvPr/>
        </p:nvGrpSpPr>
        <p:grpSpPr>
          <a:xfrm>
            <a:off x="3512469" y="4702889"/>
            <a:ext cx="504056" cy="526311"/>
            <a:chOff x="2937370" y="3499961"/>
            <a:chExt cx="504056" cy="526311"/>
          </a:xfrm>
        </p:grpSpPr>
        <p:sp>
          <p:nvSpPr>
            <p:cNvPr id="180" name="179 CuadroTexto"/>
            <p:cNvSpPr txBox="1"/>
            <p:nvPr/>
          </p:nvSpPr>
          <p:spPr>
            <a:xfrm>
              <a:off x="2937370" y="3687718"/>
              <a:ext cx="504056" cy="338554"/>
            </a:xfrm>
            <a:prstGeom prst="rect">
              <a:avLst/>
            </a:prstGeom>
            <a:noFill/>
          </p:spPr>
          <p:txBody>
            <a:bodyPr wrap="square" rtlCol="0">
              <a:spAutoFit/>
            </a:bodyPr>
            <a:lstStyle/>
            <a:p>
              <a:pPr algn="ctr"/>
              <a:r>
                <a:rPr lang="es-ES" sz="1600" dirty="0">
                  <a:solidFill>
                    <a:schemeClr val="bg1">
                      <a:lumMod val="50000"/>
                    </a:schemeClr>
                  </a:solidFill>
                </a:rPr>
                <a:t>13</a:t>
              </a:r>
            </a:p>
          </p:txBody>
        </p:sp>
        <p:sp>
          <p:nvSpPr>
            <p:cNvPr id="181" name="180 Flecha arriba"/>
            <p:cNvSpPr/>
            <p:nvPr/>
          </p:nvSpPr>
          <p:spPr bwMode="auto">
            <a:xfrm flipV="1">
              <a:off x="3110632" y="3499961"/>
              <a:ext cx="148694" cy="204676"/>
            </a:xfrm>
            <a:prstGeom prst="upArrow">
              <a:avLst/>
            </a:prstGeom>
            <a:solidFill>
              <a:srgbClr val="FC993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182" name="181 Grupo"/>
          <p:cNvGrpSpPr/>
          <p:nvPr/>
        </p:nvGrpSpPr>
        <p:grpSpPr>
          <a:xfrm>
            <a:off x="5096025" y="4692535"/>
            <a:ext cx="313086" cy="526311"/>
            <a:chOff x="3047478" y="3499961"/>
            <a:chExt cx="313086" cy="526311"/>
          </a:xfrm>
        </p:grpSpPr>
        <p:sp>
          <p:nvSpPr>
            <p:cNvPr id="183" name="182 CuadroTexto"/>
            <p:cNvSpPr txBox="1"/>
            <p:nvPr/>
          </p:nvSpPr>
          <p:spPr>
            <a:xfrm>
              <a:off x="3047478" y="3687718"/>
              <a:ext cx="313086" cy="338554"/>
            </a:xfrm>
            <a:prstGeom prst="rect">
              <a:avLst/>
            </a:prstGeom>
            <a:noFill/>
          </p:spPr>
          <p:txBody>
            <a:bodyPr wrap="square" rtlCol="0">
              <a:spAutoFit/>
            </a:bodyPr>
            <a:lstStyle/>
            <a:p>
              <a:pPr algn="ctr"/>
              <a:r>
                <a:rPr lang="es-ES" sz="1600" dirty="0">
                  <a:solidFill>
                    <a:schemeClr val="bg1">
                      <a:lumMod val="50000"/>
                    </a:schemeClr>
                  </a:solidFill>
                </a:rPr>
                <a:t>7</a:t>
              </a:r>
            </a:p>
          </p:txBody>
        </p:sp>
        <p:sp>
          <p:nvSpPr>
            <p:cNvPr id="185" name="184 Flecha arriba"/>
            <p:cNvSpPr/>
            <p:nvPr/>
          </p:nvSpPr>
          <p:spPr bwMode="auto">
            <a:xfrm flipV="1">
              <a:off x="3110632" y="3499961"/>
              <a:ext cx="148694" cy="204676"/>
            </a:xfrm>
            <a:prstGeom prst="upArrow">
              <a:avLst/>
            </a:prstGeom>
            <a:solidFill>
              <a:schemeClr val="accent1">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sp>
        <p:nvSpPr>
          <p:cNvPr id="187" name="Rectangle 2"/>
          <p:cNvSpPr txBox="1">
            <a:spLocks noChangeArrowheads="1"/>
          </p:cNvSpPr>
          <p:nvPr/>
        </p:nvSpPr>
        <p:spPr bwMode="white">
          <a:xfrm>
            <a:off x="2406071" y="5445224"/>
            <a:ext cx="4326169"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ctr" anchorCtr="0" compatLnSpc="1">
            <a:prstTxWarp prst="textNoShape">
              <a:avLst/>
            </a:prstTxWarp>
          </a:bodyPr>
          <a:lstStyle>
            <a:lvl1pPr algn="ctr" defTabSz="957263" rtl="0" fontAlgn="base">
              <a:spcBef>
                <a:spcPct val="0"/>
              </a:spcBef>
              <a:spcAft>
                <a:spcPct val="0"/>
              </a:spcAft>
              <a:defRPr sz="2900" b="1">
                <a:solidFill>
                  <a:schemeClr val="bg1"/>
                </a:solidFill>
                <a:latin typeface="+mj-lt"/>
                <a:ea typeface="+mj-ea"/>
                <a:cs typeface="+mj-cs"/>
              </a:defRPr>
            </a:lvl1pPr>
            <a:lvl2pPr algn="ctr" defTabSz="957263" rtl="0" fontAlgn="base">
              <a:spcBef>
                <a:spcPct val="0"/>
              </a:spcBef>
              <a:spcAft>
                <a:spcPct val="0"/>
              </a:spcAft>
              <a:defRPr sz="2900" b="1">
                <a:solidFill>
                  <a:schemeClr val="bg1"/>
                </a:solidFill>
                <a:latin typeface="Arial" charset="0"/>
              </a:defRPr>
            </a:lvl2pPr>
            <a:lvl3pPr algn="ctr" defTabSz="957263" rtl="0" fontAlgn="base">
              <a:spcBef>
                <a:spcPct val="0"/>
              </a:spcBef>
              <a:spcAft>
                <a:spcPct val="0"/>
              </a:spcAft>
              <a:defRPr sz="2900" b="1">
                <a:solidFill>
                  <a:schemeClr val="bg1"/>
                </a:solidFill>
                <a:latin typeface="Arial" charset="0"/>
              </a:defRPr>
            </a:lvl3pPr>
            <a:lvl4pPr algn="ctr" defTabSz="957263" rtl="0" fontAlgn="base">
              <a:spcBef>
                <a:spcPct val="0"/>
              </a:spcBef>
              <a:spcAft>
                <a:spcPct val="0"/>
              </a:spcAft>
              <a:defRPr sz="2900" b="1">
                <a:solidFill>
                  <a:schemeClr val="bg1"/>
                </a:solidFill>
                <a:latin typeface="Arial" charset="0"/>
              </a:defRPr>
            </a:lvl4pPr>
            <a:lvl5pPr algn="ctr" defTabSz="957263" rtl="0" fontAlgn="base">
              <a:spcBef>
                <a:spcPct val="0"/>
              </a:spcBef>
              <a:spcAft>
                <a:spcPct val="0"/>
              </a:spcAft>
              <a:defRPr sz="2900" b="1">
                <a:solidFill>
                  <a:schemeClr val="bg1"/>
                </a:solidFill>
                <a:latin typeface="Arial" charset="0"/>
              </a:defRPr>
            </a:lvl5pPr>
            <a:lvl6pPr marL="457200" algn="ctr" defTabSz="957263" rtl="0" eaLnBrk="1" fontAlgn="base" hangingPunct="1">
              <a:spcBef>
                <a:spcPct val="0"/>
              </a:spcBef>
              <a:spcAft>
                <a:spcPct val="0"/>
              </a:spcAft>
              <a:defRPr sz="2900" b="1">
                <a:solidFill>
                  <a:schemeClr val="bg1"/>
                </a:solidFill>
                <a:latin typeface="Arial" charset="0"/>
              </a:defRPr>
            </a:lvl6pPr>
            <a:lvl7pPr marL="914400" algn="ctr" defTabSz="957263" rtl="0" eaLnBrk="1" fontAlgn="base" hangingPunct="1">
              <a:spcBef>
                <a:spcPct val="0"/>
              </a:spcBef>
              <a:spcAft>
                <a:spcPct val="0"/>
              </a:spcAft>
              <a:defRPr sz="2900" b="1">
                <a:solidFill>
                  <a:schemeClr val="bg1"/>
                </a:solidFill>
                <a:latin typeface="Arial" charset="0"/>
              </a:defRPr>
            </a:lvl7pPr>
            <a:lvl8pPr marL="1371600" algn="ctr" defTabSz="957263" rtl="0" eaLnBrk="1" fontAlgn="base" hangingPunct="1">
              <a:spcBef>
                <a:spcPct val="0"/>
              </a:spcBef>
              <a:spcAft>
                <a:spcPct val="0"/>
              </a:spcAft>
              <a:defRPr sz="2900" b="1">
                <a:solidFill>
                  <a:schemeClr val="bg1"/>
                </a:solidFill>
                <a:latin typeface="Arial" charset="0"/>
              </a:defRPr>
            </a:lvl8pPr>
            <a:lvl9pPr marL="1828800" algn="ctr" defTabSz="957263" rtl="0" eaLnBrk="1" fontAlgn="base" hangingPunct="1">
              <a:spcBef>
                <a:spcPct val="0"/>
              </a:spcBef>
              <a:spcAft>
                <a:spcPct val="0"/>
              </a:spcAft>
              <a:defRPr sz="2900" b="1">
                <a:solidFill>
                  <a:schemeClr val="bg1"/>
                </a:solidFill>
                <a:latin typeface="Arial" charset="0"/>
              </a:defRPr>
            </a:lvl9pPr>
          </a:lstStyle>
          <a:p>
            <a:r>
              <a:rPr lang="en-US" dirty="0" err="1">
                <a:solidFill>
                  <a:schemeClr val="accent4">
                    <a:lumMod val="75000"/>
                    <a:lumOff val="25000"/>
                  </a:schemeClr>
                </a:solidFill>
              </a:rPr>
              <a:t>Decremento</a:t>
            </a:r>
            <a:r>
              <a:rPr lang="en-US" dirty="0">
                <a:solidFill>
                  <a:schemeClr val="accent4">
                    <a:lumMod val="75000"/>
                    <a:lumOff val="25000"/>
                  </a:schemeClr>
                </a:solidFill>
              </a:rPr>
              <a:t> (--)</a:t>
            </a:r>
            <a:endParaRPr lang="en-US" sz="2400" dirty="0">
              <a:solidFill>
                <a:schemeClr val="accent4">
                  <a:lumMod val="75000"/>
                  <a:lumOff val="25000"/>
                </a:schemeClr>
              </a:solidFill>
            </a:endParaRPr>
          </a:p>
        </p:txBody>
      </p:sp>
      <p:grpSp>
        <p:nvGrpSpPr>
          <p:cNvPr id="188" name="187 Grupo"/>
          <p:cNvGrpSpPr/>
          <p:nvPr/>
        </p:nvGrpSpPr>
        <p:grpSpPr>
          <a:xfrm>
            <a:off x="6300192" y="5635848"/>
            <a:ext cx="1872208" cy="673472"/>
            <a:chOff x="3611810" y="1484784"/>
            <a:chExt cx="1872208" cy="673472"/>
          </a:xfrm>
        </p:grpSpPr>
        <p:sp>
          <p:nvSpPr>
            <p:cNvPr id="189" name="188 CuadroTexto"/>
            <p:cNvSpPr txBox="1"/>
            <p:nvPr/>
          </p:nvSpPr>
          <p:spPr>
            <a:xfrm>
              <a:off x="4264023" y="1758146"/>
              <a:ext cx="567784" cy="400110"/>
            </a:xfrm>
            <a:prstGeom prst="rect">
              <a:avLst/>
            </a:prstGeom>
            <a:noFill/>
          </p:spPr>
          <p:txBody>
            <a:bodyPr wrap="none" rtlCol="0">
              <a:spAutoFit/>
            </a:bodyPr>
            <a:lstStyle/>
            <a:p>
              <a:pPr algn="ctr"/>
              <a:r>
                <a:rPr lang="es-ES" sz="2000" dirty="0">
                  <a:solidFill>
                    <a:srgbClr val="FF0000"/>
                  </a:solidFill>
                </a:rPr>
                <a:t>a</a:t>
              </a:r>
              <a:r>
                <a:rPr lang="es-ES" sz="2000" dirty="0">
                  <a:solidFill>
                    <a:srgbClr val="009900"/>
                  </a:solidFill>
                </a:rPr>
                <a:t>--</a:t>
              </a:r>
              <a:r>
                <a:rPr lang="es-ES" sz="2000" dirty="0"/>
                <a:t>;</a:t>
              </a:r>
            </a:p>
          </p:txBody>
        </p:sp>
        <p:sp>
          <p:nvSpPr>
            <p:cNvPr id="190" name="189 CuadroTexto"/>
            <p:cNvSpPr txBox="1"/>
            <p:nvPr/>
          </p:nvSpPr>
          <p:spPr>
            <a:xfrm>
              <a:off x="3611810" y="1484784"/>
              <a:ext cx="1872208" cy="307777"/>
            </a:xfrm>
            <a:prstGeom prst="rect">
              <a:avLst/>
            </a:prstGeom>
            <a:noFill/>
          </p:spPr>
          <p:txBody>
            <a:bodyPr wrap="square" rtlCol="0">
              <a:spAutoFit/>
            </a:bodyPr>
            <a:lstStyle/>
            <a:p>
              <a:pPr algn="ctr"/>
              <a:r>
                <a:rPr lang="es-ES" sz="1400" dirty="0">
                  <a:solidFill>
                    <a:srgbClr val="C00000"/>
                  </a:solidFill>
                </a:rPr>
                <a:t>Post-Decremento</a:t>
              </a:r>
            </a:p>
          </p:txBody>
        </p:sp>
      </p:grpSp>
      <p:grpSp>
        <p:nvGrpSpPr>
          <p:cNvPr id="195" name="194 Grupo"/>
          <p:cNvGrpSpPr/>
          <p:nvPr/>
        </p:nvGrpSpPr>
        <p:grpSpPr>
          <a:xfrm>
            <a:off x="899592" y="5635848"/>
            <a:ext cx="1872208" cy="673472"/>
            <a:chOff x="3611810" y="1484784"/>
            <a:chExt cx="1872208" cy="673472"/>
          </a:xfrm>
        </p:grpSpPr>
        <p:sp>
          <p:nvSpPr>
            <p:cNvPr id="197" name="196 CuadroTexto"/>
            <p:cNvSpPr txBox="1"/>
            <p:nvPr/>
          </p:nvSpPr>
          <p:spPr>
            <a:xfrm>
              <a:off x="4264023" y="1758146"/>
              <a:ext cx="567784" cy="400110"/>
            </a:xfrm>
            <a:prstGeom prst="rect">
              <a:avLst/>
            </a:prstGeom>
            <a:noFill/>
          </p:spPr>
          <p:txBody>
            <a:bodyPr wrap="none" rtlCol="0">
              <a:spAutoFit/>
            </a:bodyPr>
            <a:lstStyle/>
            <a:p>
              <a:pPr algn="ctr"/>
              <a:r>
                <a:rPr lang="es-ES" sz="2000" dirty="0">
                  <a:solidFill>
                    <a:srgbClr val="009900"/>
                  </a:solidFill>
                </a:rPr>
                <a:t>--</a:t>
              </a:r>
              <a:r>
                <a:rPr lang="es-ES" sz="2000" dirty="0">
                  <a:solidFill>
                    <a:srgbClr val="FF0000"/>
                  </a:solidFill>
                </a:rPr>
                <a:t>a</a:t>
              </a:r>
              <a:r>
                <a:rPr lang="es-ES" sz="2000" dirty="0"/>
                <a:t>;</a:t>
              </a:r>
            </a:p>
          </p:txBody>
        </p:sp>
        <p:sp>
          <p:nvSpPr>
            <p:cNvPr id="198" name="197 CuadroTexto"/>
            <p:cNvSpPr txBox="1"/>
            <p:nvPr/>
          </p:nvSpPr>
          <p:spPr>
            <a:xfrm>
              <a:off x="3611810" y="1484784"/>
              <a:ext cx="1872208" cy="307777"/>
            </a:xfrm>
            <a:prstGeom prst="rect">
              <a:avLst/>
            </a:prstGeom>
            <a:noFill/>
          </p:spPr>
          <p:txBody>
            <a:bodyPr wrap="square" rtlCol="0">
              <a:spAutoFit/>
            </a:bodyPr>
            <a:lstStyle/>
            <a:p>
              <a:pPr algn="ctr"/>
              <a:r>
                <a:rPr lang="es-ES" sz="1400" dirty="0">
                  <a:solidFill>
                    <a:srgbClr val="C00000"/>
                  </a:solidFill>
                </a:rPr>
                <a:t>Pre-Decremento</a:t>
              </a:r>
            </a:p>
          </p:txBody>
        </p:sp>
      </p:grpSp>
      <p:sp>
        <p:nvSpPr>
          <p:cNvPr id="199" name="198 CuadroTexto"/>
          <p:cNvSpPr txBox="1"/>
          <p:nvPr/>
        </p:nvSpPr>
        <p:spPr>
          <a:xfrm>
            <a:off x="2903116" y="5938069"/>
            <a:ext cx="3318485" cy="338554"/>
          </a:xfrm>
          <a:prstGeom prst="rect">
            <a:avLst/>
          </a:prstGeom>
          <a:noFill/>
        </p:spPr>
        <p:txBody>
          <a:bodyPr wrap="square" rtlCol="0">
            <a:spAutoFit/>
          </a:bodyPr>
          <a:lstStyle/>
          <a:p>
            <a:pPr algn="ctr"/>
            <a:r>
              <a:rPr lang="es-ES" sz="1600" dirty="0" err="1">
                <a:solidFill>
                  <a:schemeClr val="bg1">
                    <a:lumMod val="50000"/>
                  </a:schemeClr>
                </a:solidFill>
              </a:rPr>
              <a:t>Decrementa</a:t>
            </a:r>
            <a:r>
              <a:rPr lang="es-ES" sz="1600" dirty="0">
                <a:solidFill>
                  <a:schemeClr val="bg1">
                    <a:lumMod val="50000"/>
                  </a:schemeClr>
                </a:solidFill>
              </a:rPr>
              <a:t> en 1 el valor de </a:t>
            </a:r>
            <a:r>
              <a:rPr lang="es-ES" sz="1600" dirty="0">
                <a:solidFill>
                  <a:srgbClr val="FF6600"/>
                </a:solidFill>
              </a:rPr>
              <a:t>a</a:t>
            </a:r>
          </a:p>
        </p:txBody>
      </p:sp>
    </p:spTree>
    <p:extLst>
      <p:ext uri="{BB962C8B-B14F-4D97-AF65-F5344CB8AC3E}">
        <p14:creationId xmlns:p14="http://schemas.microsoft.com/office/powerpoint/2010/main" val="850658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wipe(left)">
                                      <p:cBhvr>
                                        <p:cTn id="33" dur="500"/>
                                        <p:tgtEl>
                                          <p:spTgt spid="2"/>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8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94"/>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9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93"/>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9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wipe(up)">
                                      <p:cBhvr>
                                        <p:cTn id="54" dur="500"/>
                                        <p:tgtEl>
                                          <p:spTgt spid="10"/>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nodeType="clickEffect">
                                  <p:stCondLst>
                                    <p:cond delay="0"/>
                                  </p:stCondLst>
                                  <p:childTnLst>
                                    <p:set>
                                      <p:cBhvr>
                                        <p:cTn id="58" dur="1" fill="hold">
                                          <p:stCondLst>
                                            <p:cond delay="0"/>
                                          </p:stCondLst>
                                        </p:cTn>
                                        <p:tgtEl>
                                          <p:spTgt spid="106"/>
                                        </p:tgtEl>
                                        <p:attrNameLst>
                                          <p:attrName>style.visibility</p:attrName>
                                        </p:attrNameLst>
                                      </p:cBhvr>
                                      <p:to>
                                        <p:strVal val="visible"/>
                                      </p:to>
                                    </p:set>
                                    <p:animEffect transition="in" filter="wipe(up)">
                                      <p:cBhvr>
                                        <p:cTn id="59" dur="500"/>
                                        <p:tgtEl>
                                          <p:spTgt spid="10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140"/>
                                        </p:tgtEl>
                                        <p:attrNameLst>
                                          <p:attrName>style.visibility</p:attrName>
                                        </p:attrNameLst>
                                      </p:cBhvr>
                                      <p:to>
                                        <p:strVal val="visible"/>
                                      </p:to>
                                    </p:set>
                                    <p:animEffect transition="in" filter="wipe(up)">
                                      <p:cBhvr>
                                        <p:cTn id="64" dur="500"/>
                                        <p:tgtEl>
                                          <p:spTgt spid="140"/>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nodeType="clickEffect">
                                  <p:stCondLst>
                                    <p:cond delay="0"/>
                                  </p:stCondLst>
                                  <p:childTnLst>
                                    <p:set>
                                      <p:cBhvr>
                                        <p:cTn id="68" dur="1" fill="hold">
                                          <p:stCondLst>
                                            <p:cond delay="0"/>
                                          </p:stCondLst>
                                        </p:cTn>
                                        <p:tgtEl>
                                          <p:spTgt spid="133"/>
                                        </p:tgtEl>
                                        <p:attrNameLst>
                                          <p:attrName>style.visibility</p:attrName>
                                        </p:attrNameLst>
                                      </p:cBhvr>
                                      <p:to>
                                        <p:strVal val="visible"/>
                                      </p:to>
                                    </p:set>
                                    <p:animEffect transition="in" filter="wipe(up)">
                                      <p:cBhvr>
                                        <p:cTn id="69" dur="500"/>
                                        <p:tgtEl>
                                          <p:spTgt spid="133"/>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148"/>
                                        </p:tgtEl>
                                        <p:attrNameLst>
                                          <p:attrName>style.visibility</p:attrName>
                                        </p:attrNameLst>
                                      </p:cBhvr>
                                      <p:to>
                                        <p:strVal val="visible"/>
                                      </p:to>
                                    </p:set>
                                    <p:animEffect transition="in" filter="wipe(left)">
                                      <p:cBhvr>
                                        <p:cTn id="74" dur="500"/>
                                        <p:tgtEl>
                                          <p:spTgt spid="148"/>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4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53" presetClass="entr" presetSubtype="16" fill="hold" grpId="0" nodeType="clickEffect">
                                  <p:stCondLst>
                                    <p:cond delay="0"/>
                                  </p:stCondLst>
                                  <p:childTnLst>
                                    <p:set>
                                      <p:cBhvr>
                                        <p:cTn id="82" dur="1" fill="hold">
                                          <p:stCondLst>
                                            <p:cond delay="0"/>
                                          </p:stCondLst>
                                        </p:cTn>
                                        <p:tgtEl>
                                          <p:spTgt spid="146"/>
                                        </p:tgtEl>
                                        <p:attrNameLst>
                                          <p:attrName>style.visibility</p:attrName>
                                        </p:attrNameLst>
                                      </p:cBhvr>
                                      <p:to>
                                        <p:strVal val="visible"/>
                                      </p:to>
                                    </p:set>
                                    <p:anim calcmode="lin" valueType="num">
                                      <p:cBhvr>
                                        <p:cTn id="83" dur="500" fill="hold"/>
                                        <p:tgtEl>
                                          <p:spTgt spid="146"/>
                                        </p:tgtEl>
                                        <p:attrNameLst>
                                          <p:attrName>ppt_w</p:attrName>
                                        </p:attrNameLst>
                                      </p:cBhvr>
                                      <p:tavLst>
                                        <p:tav tm="0">
                                          <p:val>
                                            <p:fltVal val="0"/>
                                          </p:val>
                                        </p:tav>
                                        <p:tav tm="100000">
                                          <p:val>
                                            <p:strVal val="#ppt_w"/>
                                          </p:val>
                                        </p:tav>
                                      </p:tavLst>
                                    </p:anim>
                                    <p:anim calcmode="lin" valueType="num">
                                      <p:cBhvr>
                                        <p:cTn id="84" dur="500" fill="hold"/>
                                        <p:tgtEl>
                                          <p:spTgt spid="146"/>
                                        </p:tgtEl>
                                        <p:attrNameLst>
                                          <p:attrName>ppt_h</p:attrName>
                                        </p:attrNameLst>
                                      </p:cBhvr>
                                      <p:tavLst>
                                        <p:tav tm="0">
                                          <p:val>
                                            <p:fltVal val="0"/>
                                          </p:val>
                                        </p:tav>
                                        <p:tav tm="100000">
                                          <p:val>
                                            <p:strVal val="#ppt_h"/>
                                          </p:val>
                                        </p:tav>
                                      </p:tavLst>
                                    </p:anim>
                                    <p:animEffect transition="in" filter="fade">
                                      <p:cBhvr>
                                        <p:cTn id="85" dur="500"/>
                                        <p:tgtEl>
                                          <p:spTgt spid="146"/>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nodeType="clickEffect">
                                  <p:stCondLst>
                                    <p:cond delay="0"/>
                                  </p:stCondLst>
                                  <p:childTnLst>
                                    <p:set>
                                      <p:cBhvr>
                                        <p:cTn id="89" dur="1" fill="hold">
                                          <p:stCondLst>
                                            <p:cond delay="0"/>
                                          </p:stCondLst>
                                        </p:cTn>
                                        <p:tgtEl>
                                          <p:spTgt spid="149"/>
                                        </p:tgtEl>
                                        <p:attrNameLst>
                                          <p:attrName>style.visibility</p:attrName>
                                        </p:attrNameLst>
                                      </p:cBhvr>
                                      <p:to>
                                        <p:strVal val="visible"/>
                                      </p:to>
                                    </p:set>
                                    <p:animEffect transition="in" filter="wipe(up)">
                                      <p:cBhvr>
                                        <p:cTn id="90" dur="500"/>
                                        <p:tgtEl>
                                          <p:spTgt spid="149"/>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1" fill="hold" nodeType="clickEffect">
                                  <p:stCondLst>
                                    <p:cond delay="0"/>
                                  </p:stCondLst>
                                  <p:childTnLst>
                                    <p:set>
                                      <p:cBhvr>
                                        <p:cTn id="94" dur="1" fill="hold">
                                          <p:stCondLst>
                                            <p:cond delay="0"/>
                                          </p:stCondLst>
                                        </p:cTn>
                                        <p:tgtEl>
                                          <p:spTgt spid="162"/>
                                        </p:tgtEl>
                                        <p:attrNameLst>
                                          <p:attrName>style.visibility</p:attrName>
                                        </p:attrNameLst>
                                      </p:cBhvr>
                                      <p:to>
                                        <p:strVal val="visible"/>
                                      </p:to>
                                    </p:set>
                                    <p:animEffect transition="in" filter="wipe(up)">
                                      <p:cBhvr>
                                        <p:cTn id="95" dur="500"/>
                                        <p:tgtEl>
                                          <p:spTgt spid="162"/>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1" fill="hold" nodeType="clickEffect">
                                  <p:stCondLst>
                                    <p:cond delay="0"/>
                                  </p:stCondLst>
                                  <p:childTnLst>
                                    <p:set>
                                      <p:cBhvr>
                                        <p:cTn id="99" dur="1" fill="hold">
                                          <p:stCondLst>
                                            <p:cond delay="0"/>
                                          </p:stCondLst>
                                        </p:cTn>
                                        <p:tgtEl>
                                          <p:spTgt spid="152"/>
                                        </p:tgtEl>
                                        <p:attrNameLst>
                                          <p:attrName>style.visibility</p:attrName>
                                        </p:attrNameLst>
                                      </p:cBhvr>
                                      <p:to>
                                        <p:strVal val="visible"/>
                                      </p:to>
                                    </p:set>
                                    <p:animEffect transition="in" filter="wipe(up)">
                                      <p:cBhvr>
                                        <p:cTn id="100" dur="500"/>
                                        <p:tgtEl>
                                          <p:spTgt spid="152"/>
                                        </p:tgtEl>
                                      </p:cBhvr>
                                    </p:animEffect>
                                  </p:childTnLst>
                                </p:cTn>
                              </p:par>
                            </p:childTnLst>
                          </p:cTn>
                        </p:par>
                      </p:childTnLst>
                    </p:cTn>
                  </p:par>
                  <p:par>
                    <p:cTn id="101" fill="hold">
                      <p:stCondLst>
                        <p:cond delay="indefinite"/>
                      </p:stCondLst>
                      <p:childTnLst>
                        <p:par>
                          <p:cTn id="102" fill="hold">
                            <p:stCondLst>
                              <p:cond delay="0"/>
                            </p:stCondLst>
                            <p:childTnLst>
                              <p:par>
                                <p:cTn id="103" presetID="53" presetClass="entr" presetSubtype="16" fill="hold" grpId="0" nodeType="clickEffect">
                                  <p:stCondLst>
                                    <p:cond delay="0"/>
                                  </p:stCondLst>
                                  <p:childTnLst>
                                    <p:set>
                                      <p:cBhvr>
                                        <p:cTn id="104" dur="1" fill="hold">
                                          <p:stCondLst>
                                            <p:cond delay="0"/>
                                          </p:stCondLst>
                                        </p:cTn>
                                        <p:tgtEl>
                                          <p:spTgt spid="168"/>
                                        </p:tgtEl>
                                        <p:attrNameLst>
                                          <p:attrName>style.visibility</p:attrName>
                                        </p:attrNameLst>
                                      </p:cBhvr>
                                      <p:to>
                                        <p:strVal val="visible"/>
                                      </p:to>
                                    </p:set>
                                    <p:anim calcmode="lin" valueType="num">
                                      <p:cBhvr>
                                        <p:cTn id="105" dur="500" fill="hold"/>
                                        <p:tgtEl>
                                          <p:spTgt spid="168"/>
                                        </p:tgtEl>
                                        <p:attrNameLst>
                                          <p:attrName>ppt_w</p:attrName>
                                        </p:attrNameLst>
                                      </p:cBhvr>
                                      <p:tavLst>
                                        <p:tav tm="0">
                                          <p:val>
                                            <p:fltVal val="0"/>
                                          </p:val>
                                        </p:tav>
                                        <p:tav tm="100000">
                                          <p:val>
                                            <p:strVal val="#ppt_w"/>
                                          </p:val>
                                        </p:tav>
                                      </p:tavLst>
                                    </p:anim>
                                    <p:anim calcmode="lin" valueType="num">
                                      <p:cBhvr>
                                        <p:cTn id="106" dur="500" fill="hold"/>
                                        <p:tgtEl>
                                          <p:spTgt spid="168"/>
                                        </p:tgtEl>
                                        <p:attrNameLst>
                                          <p:attrName>ppt_h</p:attrName>
                                        </p:attrNameLst>
                                      </p:cBhvr>
                                      <p:tavLst>
                                        <p:tav tm="0">
                                          <p:val>
                                            <p:fltVal val="0"/>
                                          </p:val>
                                        </p:tav>
                                        <p:tav tm="100000">
                                          <p:val>
                                            <p:strVal val="#ppt_h"/>
                                          </p:val>
                                        </p:tav>
                                      </p:tavLst>
                                    </p:anim>
                                    <p:animEffect transition="in" filter="fade">
                                      <p:cBhvr>
                                        <p:cTn id="107" dur="500"/>
                                        <p:tgtEl>
                                          <p:spTgt spid="168"/>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1" fill="hold" nodeType="clickEffect">
                                  <p:stCondLst>
                                    <p:cond delay="0"/>
                                  </p:stCondLst>
                                  <p:childTnLst>
                                    <p:set>
                                      <p:cBhvr>
                                        <p:cTn id="111" dur="1" fill="hold">
                                          <p:stCondLst>
                                            <p:cond delay="0"/>
                                          </p:stCondLst>
                                        </p:cTn>
                                        <p:tgtEl>
                                          <p:spTgt spid="175"/>
                                        </p:tgtEl>
                                        <p:attrNameLst>
                                          <p:attrName>style.visibility</p:attrName>
                                        </p:attrNameLst>
                                      </p:cBhvr>
                                      <p:to>
                                        <p:strVal val="visible"/>
                                      </p:to>
                                    </p:set>
                                    <p:animEffect transition="in" filter="wipe(up)">
                                      <p:cBhvr>
                                        <p:cTn id="112" dur="500"/>
                                        <p:tgtEl>
                                          <p:spTgt spid="175"/>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1" fill="hold" nodeType="clickEffect">
                                  <p:stCondLst>
                                    <p:cond delay="0"/>
                                  </p:stCondLst>
                                  <p:childTnLst>
                                    <p:set>
                                      <p:cBhvr>
                                        <p:cTn id="116" dur="1" fill="hold">
                                          <p:stCondLst>
                                            <p:cond delay="0"/>
                                          </p:stCondLst>
                                        </p:cTn>
                                        <p:tgtEl>
                                          <p:spTgt spid="182"/>
                                        </p:tgtEl>
                                        <p:attrNameLst>
                                          <p:attrName>style.visibility</p:attrName>
                                        </p:attrNameLst>
                                      </p:cBhvr>
                                      <p:to>
                                        <p:strVal val="visible"/>
                                      </p:to>
                                    </p:set>
                                    <p:animEffect transition="in" filter="wipe(up)">
                                      <p:cBhvr>
                                        <p:cTn id="117" dur="500"/>
                                        <p:tgtEl>
                                          <p:spTgt spid="182"/>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1" fill="hold" nodeType="clickEffect">
                                  <p:stCondLst>
                                    <p:cond delay="0"/>
                                  </p:stCondLst>
                                  <p:childTnLst>
                                    <p:set>
                                      <p:cBhvr>
                                        <p:cTn id="121" dur="1" fill="hold">
                                          <p:stCondLst>
                                            <p:cond delay="0"/>
                                          </p:stCondLst>
                                        </p:cTn>
                                        <p:tgtEl>
                                          <p:spTgt spid="179"/>
                                        </p:tgtEl>
                                        <p:attrNameLst>
                                          <p:attrName>style.visibility</p:attrName>
                                        </p:attrNameLst>
                                      </p:cBhvr>
                                      <p:to>
                                        <p:strVal val="visible"/>
                                      </p:to>
                                    </p:set>
                                    <p:animEffect transition="in" filter="wipe(up)">
                                      <p:cBhvr>
                                        <p:cTn id="122" dur="500"/>
                                        <p:tgtEl>
                                          <p:spTgt spid="179"/>
                                        </p:tgtEl>
                                      </p:cBhvr>
                                    </p:animEffec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144"/>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22" presetClass="entr" presetSubtype="1" fill="hold" nodeType="clickEffect">
                                  <p:stCondLst>
                                    <p:cond delay="0"/>
                                  </p:stCondLst>
                                  <p:childTnLst>
                                    <p:set>
                                      <p:cBhvr>
                                        <p:cTn id="130" dur="1" fill="hold">
                                          <p:stCondLst>
                                            <p:cond delay="0"/>
                                          </p:stCondLst>
                                        </p:cTn>
                                        <p:tgtEl>
                                          <p:spTgt spid="158"/>
                                        </p:tgtEl>
                                        <p:attrNameLst>
                                          <p:attrName>style.visibility</p:attrName>
                                        </p:attrNameLst>
                                      </p:cBhvr>
                                      <p:to>
                                        <p:strVal val="visible"/>
                                      </p:to>
                                    </p:set>
                                    <p:animEffect transition="in" filter="wipe(up)">
                                      <p:cBhvr>
                                        <p:cTn id="131" dur="500"/>
                                        <p:tgtEl>
                                          <p:spTgt spid="158"/>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1" fill="hold" nodeType="clickEffect">
                                  <p:stCondLst>
                                    <p:cond delay="0"/>
                                  </p:stCondLst>
                                  <p:childTnLst>
                                    <p:set>
                                      <p:cBhvr>
                                        <p:cTn id="135" dur="1" fill="hold">
                                          <p:stCondLst>
                                            <p:cond delay="0"/>
                                          </p:stCondLst>
                                        </p:cTn>
                                        <p:tgtEl>
                                          <p:spTgt spid="165"/>
                                        </p:tgtEl>
                                        <p:attrNameLst>
                                          <p:attrName>style.visibility</p:attrName>
                                        </p:attrNameLst>
                                      </p:cBhvr>
                                      <p:to>
                                        <p:strVal val="visible"/>
                                      </p:to>
                                    </p:set>
                                    <p:animEffect transition="in" filter="wipe(up)">
                                      <p:cBhvr>
                                        <p:cTn id="136" dur="500"/>
                                        <p:tgtEl>
                                          <p:spTgt spid="165"/>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1" fill="hold" nodeType="clickEffect">
                                  <p:stCondLst>
                                    <p:cond delay="0"/>
                                  </p:stCondLst>
                                  <p:childTnLst>
                                    <p:set>
                                      <p:cBhvr>
                                        <p:cTn id="140" dur="1" fill="hold">
                                          <p:stCondLst>
                                            <p:cond delay="0"/>
                                          </p:stCondLst>
                                        </p:cTn>
                                        <p:tgtEl>
                                          <p:spTgt spid="155"/>
                                        </p:tgtEl>
                                        <p:attrNameLst>
                                          <p:attrName>style.visibility</p:attrName>
                                        </p:attrNameLst>
                                      </p:cBhvr>
                                      <p:to>
                                        <p:strVal val="visible"/>
                                      </p:to>
                                    </p:set>
                                    <p:animEffect transition="in" filter="wipe(up)">
                                      <p:cBhvr>
                                        <p:cTn id="141" dur="500"/>
                                        <p:tgtEl>
                                          <p:spTgt spid="155"/>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grpId="0" nodeType="clickEffect">
                                  <p:stCondLst>
                                    <p:cond delay="0"/>
                                  </p:stCondLst>
                                  <p:childTnLst>
                                    <p:set>
                                      <p:cBhvr>
                                        <p:cTn id="145" dur="1" fill="hold">
                                          <p:stCondLst>
                                            <p:cond delay="0"/>
                                          </p:stCondLst>
                                        </p:cTn>
                                        <p:tgtEl>
                                          <p:spTgt spid="161"/>
                                        </p:tgtEl>
                                        <p:attrNameLst>
                                          <p:attrName>style.visibility</p:attrName>
                                        </p:attrNameLst>
                                      </p:cBhvr>
                                      <p:to>
                                        <p:strVal val="visible"/>
                                      </p:to>
                                    </p:set>
                                    <p:animEffect transition="in" filter="wipe(left)">
                                      <p:cBhvr>
                                        <p:cTn id="146" dur="500"/>
                                        <p:tgtEl>
                                          <p:spTgt spid="161"/>
                                        </p:tgtEl>
                                      </p:cBhvr>
                                    </p:animEffec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187"/>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99"/>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nodeType="clickEffect">
                                  <p:stCondLst>
                                    <p:cond delay="0"/>
                                  </p:stCondLst>
                                  <p:childTnLst>
                                    <p:set>
                                      <p:cBhvr>
                                        <p:cTn id="156" dur="1" fill="hold">
                                          <p:stCondLst>
                                            <p:cond delay="0"/>
                                          </p:stCondLst>
                                        </p:cTn>
                                        <p:tgtEl>
                                          <p:spTgt spid="195"/>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nodeType="clickEffect">
                                  <p:stCondLst>
                                    <p:cond delay="0"/>
                                  </p:stCondLst>
                                  <p:childTnLst>
                                    <p:set>
                                      <p:cBhvr>
                                        <p:cTn id="160" dur="1" fill="hold">
                                          <p:stCondLst>
                                            <p:cond delay="0"/>
                                          </p:stCondLst>
                                        </p:cTn>
                                        <p:tgtEl>
                                          <p:spTgt spid="1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79" grpId="0"/>
      <p:bldP spid="80" grpId="0"/>
      <p:bldP spid="81" grpId="0"/>
      <p:bldP spid="83" grpId="0"/>
      <p:bldP spid="87" grpId="0"/>
      <p:bldP spid="91" grpId="0"/>
      <p:bldP spid="93" grpId="0"/>
      <p:bldP spid="94" grpId="0"/>
      <p:bldP spid="95" grpId="0"/>
      <p:bldP spid="2" grpId="0" animBg="1"/>
      <p:bldP spid="143" grpId="0"/>
      <p:bldP spid="144" grpId="0"/>
      <p:bldP spid="146" grpId="0"/>
      <p:bldP spid="148" grpId="0" animBg="1"/>
      <p:bldP spid="161" grpId="0" animBg="1"/>
      <p:bldP spid="168" grpId="0"/>
      <p:bldP spid="187" grpId="0"/>
      <p:bldP spid="19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851420" y="53975"/>
            <a:ext cx="7392988" cy="563563"/>
          </a:xfrm>
        </p:spPr>
        <p:txBody>
          <a:bodyPr/>
          <a:lstStyle/>
          <a:p>
            <a:r>
              <a:rPr lang="en-US" dirty="0" err="1"/>
              <a:t>Asignación</a:t>
            </a:r>
            <a:r>
              <a:rPr lang="en-US" dirty="0"/>
              <a:t> </a:t>
            </a:r>
            <a:r>
              <a:rPr lang="en-US" dirty="0" err="1"/>
              <a:t>compuesta</a:t>
            </a:r>
            <a:endParaRPr lang="en-US" sz="2400" dirty="0">
              <a:solidFill>
                <a:srgbClr val="FFFF00"/>
              </a:solidFill>
            </a:endParaRPr>
          </a:p>
        </p:txBody>
      </p:sp>
      <p:grpSp>
        <p:nvGrpSpPr>
          <p:cNvPr id="3" name="2 Grupo"/>
          <p:cNvGrpSpPr/>
          <p:nvPr/>
        </p:nvGrpSpPr>
        <p:grpSpPr>
          <a:xfrm>
            <a:off x="2804457" y="1358036"/>
            <a:ext cx="3495735" cy="411946"/>
            <a:chOff x="2804457" y="1358036"/>
            <a:chExt cx="3495735" cy="411946"/>
          </a:xfrm>
        </p:grpSpPr>
        <p:sp>
          <p:nvSpPr>
            <p:cNvPr id="80" name="79 CuadroTexto"/>
            <p:cNvSpPr txBox="1"/>
            <p:nvPr/>
          </p:nvSpPr>
          <p:spPr>
            <a:xfrm>
              <a:off x="2804457" y="1358036"/>
              <a:ext cx="1263487" cy="400110"/>
            </a:xfrm>
            <a:prstGeom prst="rect">
              <a:avLst/>
            </a:prstGeom>
            <a:noFill/>
          </p:spPr>
          <p:txBody>
            <a:bodyPr wrap="none" rtlCol="0">
              <a:spAutoFit/>
            </a:bodyPr>
            <a:lstStyle/>
            <a:p>
              <a:pPr algn="ctr"/>
              <a:r>
                <a:rPr lang="es-ES" sz="2000" dirty="0">
                  <a:solidFill>
                    <a:srgbClr val="FF0000"/>
                  </a:solidFill>
                </a:rPr>
                <a:t>a </a:t>
              </a:r>
              <a:r>
                <a:rPr lang="es-ES" sz="2000" dirty="0"/>
                <a:t>=</a:t>
              </a:r>
              <a:r>
                <a:rPr lang="es-ES" sz="2000" dirty="0">
                  <a:solidFill>
                    <a:srgbClr val="FF0000"/>
                  </a:solidFill>
                </a:rPr>
                <a:t> a </a:t>
              </a:r>
              <a:r>
                <a:rPr lang="es-ES" sz="2000" dirty="0"/>
                <a:t>+ 5;</a:t>
              </a:r>
            </a:p>
          </p:txBody>
        </p:sp>
        <p:sp>
          <p:nvSpPr>
            <p:cNvPr id="72" name="71 CuadroTexto"/>
            <p:cNvSpPr txBox="1"/>
            <p:nvPr/>
          </p:nvSpPr>
          <p:spPr>
            <a:xfrm>
              <a:off x="5320437" y="1369872"/>
              <a:ext cx="979755" cy="400110"/>
            </a:xfrm>
            <a:prstGeom prst="rect">
              <a:avLst/>
            </a:prstGeom>
            <a:noFill/>
          </p:spPr>
          <p:txBody>
            <a:bodyPr wrap="none" rtlCol="0">
              <a:spAutoFit/>
            </a:bodyPr>
            <a:lstStyle/>
            <a:p>
              <a:pPr algn="ctr"/>
              <a:r>
                <a:rPr lang="es-ES" sz="2000" dirty="0">
                  <a:solidFill>
                    <a:srgbClr val="FF0000"/>
                  </a:solidFill>
                </a:rPr>
                <a:t>a </a:t>
              </a:r>
              <a:r>
                <a:rPr lang="es-ES" sz="2000" dirty="0"/>
                <a:t>+=</a:t>
              </a:r>
              <a:r>
                <a:rPr lang="es-ES" sz="2000" dirty="0">
                  <a:solidFill>
                    <a:srgbClr val="FF0000"/>
                  </a:solidFill>
                </a:rPr>
                <a:t> </a:t>
              </a:r>
              <a:r>
                <a:rPr lang="es-ES" sz="2000" dirty="0"/>
                <a:t>5;</a:t>
              </a:r>
            </a:p>
          </p:txBody>
        </p:sp>
        <p:sp>
          <p:nvSpPr>
            <p:cNvPr id="73" name="72 Flecha derecha"/>
            <p:cNvSpPr/>
            <p:nvPr/>
          </p:nvSpPr>
          <p:spPr bwMode="auto">
            <a:xfrm>
              <a:off x="4355976" y="1438176"/>
              <a:ext cx="648072" cy="248112"/>
            </a:xfrm>
            <a:prstGeom prst="rightArrow">
              <a:avLst>
                <a:gd name="adj1" fmla="val 57740"/>
                <a:gd name="adj2" fmla="val 50000"/>
              </a:avLst>
            </a:prstGeom>
            <a:solidFill>
              <a:srgbClr val="0099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75" name="74 Grupo"/>
          <p:cNvGrpSpPr/>
          <p:nvPr/>
        </p:nvGrpSpPr>
        <p:grpSpPr>
          <a:xfrm>
            <a:off x="2829260" y="1720910"/>
            <a:ext cx="3431615" cy="411946"/>
            <a:chOff x="2836517" y="1358036"/>
            <a:chExt cx="3431615" cy="411946"/>
          </a:xfrm>
        </p:grpSpPr>
        <p:sp>
          <p:nvSpPr>
            <p:cNvPr id="76" name="75 CuadroTexto"/>
            <p:cNvSpPr txBox="1"/>
            <p:nvPr/>
          </p:nvSpPr>
          <p:spPr>
            <a:xfrm>
              <a:off x="2836517" y="1358036"/>
              <a:ext cx="1199366" cy="400110"/>
            </a:xfrm>
            <a:prstGeom prst="rect">
              <a:avLst/>
            </a:prstGeom>
            <a:noFill/>
          </p:spPr>
          <p:txBody>
            <a:bodyPr wrap="none" rtlCol="0">
              <a:spAutoFit/>
            </a:bodyPr>
            <a:lstStyle/>
            <a:p>
              <a:pPr algn="ctr"/>
              <a:r>
                <a:rPr lang="es-ES" sz="2000" dirty="0">
                  <a:solidFill>
                    <a:srgbClr val="FF0000"/>
                  </a:solidFill>
                </a:rPr>
                <a:t>a </a:t>
              </a:r>
              <a:r>
                <a:rPr lang="es-ES" sz="2000" dirty="0"/>
                <a:t>=</a:t>
              </a:r>
              <a:r>
                <a:rPr lang="es-ES" sz="2000" dirty="0">
                  <a:solidFill>
                    <a:srgbClr val="FF0000"/>
                  </a:solidFill>
                </a:rPr>
                <a:t> a </a:t>
              </a:r>
              <a:r>
                <a:rPr lang="es-ES" sz="2000" dirty="0"/>
                <a:t>- 5;</a:t>
              </a:r>
            </a:p>
          </p:txBody>
        </p:sp>
        <p:sp>
          <p:nvSpPr>
            <p:cNvPr id="77" name="76 CuadroTexto"/>
            <p:cNvSpPr txBox="1"/>
            <p:nvPr/>
          </p:nvSpPr>
          <p:spPr>
            <a:xfrm>
              <a:off x="5352497" y="1369872"/>
              <a:ext cx="915635" cy="400110"/>
            </a:xfrm>
            <a:prstGeom prst="rect">
              <a:avLst/>
            </a:prstGeom>
            <a:noFill/>
          </p:spPr>
          <p:txBody>
            <a:bodyPr wrap="none" rtlCol="0">
              <a:spAutoFit/>
            </a:bodyPr>
            <a:lstStyle/>
            <a:p>
              <a:pPr algn="ctr"/>
              <a:r>
                <a:rPr lang="es-ES" sz="2000" dirty="0">
                  <a:solidFill>
                    <a:srgbClr val="FF0000"/>
                  </a:solidFill>
                </a:rPr>
                <a:t>a </a:t>
              </a:r>
              <a:r>
                <a:rPr lang="es-ES" sz="2000" dirty="0"/>
                <a:t>-=</a:t>
              </a:r>
              <a:r>
                <a:rPr lang="es-ES" sz="2000" dirty="0">
                  <a:solidFill>
                    <a:srgbClr val="FF0000"/>
                  </a:solidFill>
                </a:rPr>
                <a:t> </a:t>
              </a:r>
              <a:r>
                <a:rPr lang="es-ES" sz="2000" dirty="0"/>
                <a:t>5;</a:t>
              </a:r>
            </a:p>
          </p:txBody>
        </p:sp>
        <p:sp>
          <p:nvSpPr>
            <p:cNvPr id="88" name="87 Flecha derecha"/>
            <p:cNvSpPr/>
            <p:nvPr/>
          </p:nvSpPr>
          <p:spPr bwMode="auto">
            <a:xfrm>
              <a:off x="4355976" y="1438176"/>
              <a:ext cx="648072" cy="248112"/>
            </a:xfrm>
            <a:prstGeom prst="rightArrow">
              <a:avLst>
                <a:gd name="adj1" fmla="val 57740"/>
                <a:gd name="adj2" fmla="val 50000"/>
              </a:avLst>
            </a:prstGeom>
            <a:solidFill>
              <a:srgbClr val="0099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89" name="88 Grupo"/>
          <p:cNvGrpSpPr/>
          <p:nvPr/>
        </p:nvGrpSpPr>
        <p:grpSpPr>
          <a:xfrm>
            <a:off x="2816603" y="2068250"/>
            <a:ext cx="3446043" cy="411946"/>
            <a:chOff x="2829303" y="1358036"/>
            <a:chExt cx="3446043" cy="411946"/>
          </a:xfrm>
        </p:grpSpPr>
        <p:sp>
          <p:nvSpPr>
            <p:cNvPr id="90" name="89 CuadroTexto"/>
            <p:cNvSpPr txBox="1"/>
            <p:nvPr/>
          </p:nvSpPr>
          <p:spPr>
            <a:xfrm>
              <a:off x="2829303" y="1358036"/>
              <a:ext cx="1213794" cy="400110"/>
            </a:xfrm>
            <a:prstGeom prst="rect">
              <a:avLst/>
            </a:prstGeom>
            <a:noFill/>
          </p:spPr>
          <p:txBody>
            <a:bodyPr wrap="none" rtlCol="0">
              <a:spAutoFit/>
            </a:bodyPr>
            <a:lstStyle/>
            <a:p>
              <a:pPr algn="ctr"/>
              <a:r>
                <a:rPr lang="es-ES" sz="2000" dirty="0">
                  <a:solidFill>
                    <a:srgbClr val="FF0000"/>
                  </a:solidFill>
                </a:rPr>
                <a:t>a </a:t>
              </a:r>
              <a:r>
                <a:rPr lang="es-ES" sz="2000" dirty="0"/>
                <a:t>=</a:t>
              </a:r>
              <a:r>
                <a:rPr lang="es-ES" sz="2000" dirty="0">
                  <a:solidFill>
                    <a:srgbClr val="FF0000"/>
                  </a:solidFill>
                </a:rPr>
                <a:t> a </a:t>
              </a:r>
              <a:r>
                <a:rPr lang="es-ES" sz="2000" dirty="0"/>
                <a:t>* 5;</a:t>
              </a:r>
            </a:p>
          </p:txBody>
        </p:sp>
        <p:sp>
          <p:nvSpPr>
            <p:cNvPr id="92" name="91 CuadroTexto"/>
            <p:cNvSpPr txBox="1"/>
            <p:nvPr/>
          </p:nvSpPr>
          <p:spPr>
            <a:xfrm>
              <a:off x="5345283" y="1369872"/>
              <a:ext cx="930063" cy="400110"/>
            </a:xfrm>
            <a:prstGeom prst="rect">
              <a:avLst/>
            </a:prstGeom>
            <a:noFill/>
          </p:spPr>
          <p:txBody>
            <a:bodyPr wrap="none" rtlCol="0">
              <a:spAutoFit/>
            </a:bodyPr>
            <a:lstStyle/>
            <a:p>
              <a:pPr algn="ctr"/>
              <a:r>
                <a:rPr lang="es-ES" sz="2000" dirty="0">
                  <a:solidFill>
                    <a:srgbClr val="FF0000"/>
                  </a:solidFill>
                </a:rPr>
                <a:t>a </a:t>
              </a:r>
              <a:r>
                <a:rPr lang="es-ES" sz="2000" dirty="0"/>
                <a:t>*=</a:t>
              </a:r>
              <a:r>
                <a:rPr lang="es-ES" sz="2000" dirty="0">
                  <a:solidFill>
                    <a:srgbClr val="FF0000"/>
                  </a:solidFill>
                </a:rPr>
                <a:t> </a:t>
              </a:r>
              <a:r>
                <a:rPr lang="es-ES" sz="2000" dirty="0"/>
                <a:t>5;</a:t>
              </a:r>
            </a:p>
          </p:txBody>
        </p:sp>
        <p:sp>
          <p:nvSpPr>
            <p:cNvPr id="96" name="95 Flecha derecha"/>
            <p:cNvSpPr/>
            <p:nvPr/>
          </p:nvSpPr>
          <p:spPr bwMode="auto">
            <a:xfrm>
              <a:off x="4355976" y="1438176"/>
              <a:ext cx="648072" cy="248112"/>
            </a:xfrm>
            <a:prstGeom prst="rightArrow">
              <a:avLst>
                <a:gd name="adj1" fmla="val 57740"/>
                <a:gd name="adj2" fmla="val 50000"/>
              </a:avLst>
            </a:prstGeom>
            <a:solidFill>
              <a:srgbClr val="0099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97" name="96 Grupo"/>
          <p:cNvGrpSpPr/>
          <p:nvPr/>
        </p:nvGrpSpPr>
        <p:grpSpPr>
          <a:xfrm>
            <a:off x="2836473" y="2415590"/>
            <a:ext cx="3417188" cy="411946"/>
            <a:chOff x="2843730" y="1358036"/>
            <a:chExt cx="3417188" cy="411946"/>
          </a:xfrm>
        </p:grpSpPr>
        <p:sp>
          <p:nvSpPr>
            <p:cNvPr id="98" name="97 CuadroTexto"/>
            <p:cNvSpPr txBox="1"/>
            <p:nvPr/>
          </p:nvSpPr>
          <p:spPr>
            <a:xfrm>
              <a:off x="2843730" y="1358036"/>
              <a:ext cx="1184940" cy="400110"/>
            </a:xfrm>
            <a:prstGeom prst="rect">
              <a:avLst/>
            </a:prstGeom>
            <a:noFill/>
          </p:spPr>
          <p:txBody>
            <a:bodyPr wrap="none" rtlCol="0">
              <a:spAutoFit/>
            </a:bodyPr>
            <a:lstStyle/>
            <a:p>
              <a:pPr algn="ctr"/>
              <a:r>
                <a:rPr lang="es-ES" sz="2000" dirty="0">
                  <a:solidFill>
                    <a:srgbClr val="FF0000"/>
                  </a:solidFill>
                </a:rPr>
                <a:t>a </a:t>
              </a:r>
              <a:r>
                <a:rPr lang="es-ES" sz="2000" dirty="0"/>
                <a:t>=</a:t>
              </a:r>
              <a:r>
                <a:rPr lang="es-ES" sz="2000" dirty="0">
                  <a:solidFill>
                    <a:srgbClr val="FF0000"/>
                  </a:solidFill>
                </a:rPr>
                <a:t> a </a:t>
              </a:r>
              <a:r>
                <a:rPr lang="es-ES" sz="2000" dirty="0"/>
                <a:t>/ 5;</a:t>
              </a:r>
            </a:p>
          </p:txBody>
        </p:sp>
        <p:sp>
          <p:nvSpPr>
            <p:cNvPr id="101" name="100 CuadroTexto"/>
            <p:cNvSpPr txBox="1"/>
            <p:nvPr/>
          </p:nvSpPr>
          <p:spPr>
            <a:xfrm>
              <a:off x="5359710" y="1369872"/>
              <a:ext cx="901208" cy="400110"/>
            </a:xfrm>
            <a:prstGeom prst="rect">
              <a:avLst/>
            </a:prstGeom>
            <a:noFill/>
          </p:spPr>
          <p:txBody>
            <a:bodyPr wrap="none" rtlCol="0">
              <a:spAutoFit/>
            </a:bodyPr>
            <a:lstStyle/>
            <a:p>
              <a:pPr algn="ctr"/>
              <a:r>
                <a:rPr lang="es-ES" sz="2000" dirty="0">
                  <a:solidFill>
                    <a:srgbClr val="FF0000"/>
                  </a:solidFill>
                </a:rPr>
                <a:t>a </a:t>
              </a:r>
              <a:r>
                <a:rPr lang="es-ES" sz="2000" dirty="0"/>
                <a:t>/=</a:t>
              </a:r>
              <a:r>
                <a:rPr lang="es-ES" sz="2000" dirty="0">
                  <a:solidFill>
                    <a:srgbClr val="FF0000"/>
                  </a:solidFill>
                </a:rPr>
                <a:t> </a:t>
              </a:r>
              <a:r>
                <a:rPr lang="es-ES" sz="2000" dirty="0"/>
                <a:t>5;</a:t>
              </a:r>
            </a:p>
          </p:txBody>
        </p:sp>
        <p:sp>
          <p:nvSpPr>
            <p:cNvPr id="102" name="101 Flecha derecha"/>
            <p:cNvSpPr/>
            <p:nvPr/>
          </p:nvSpPr>
          <p:spPr bwMode="auto">
            <a:xfrm>
              <a:off x="4355976" y="1438176"/>
              <a:ext cx="648072" cy="248112"/>
            </a:xfrm>
            <a:prstGeom prst="rightArrow">
              <a:avLst>
                <a:gd name="adj1" fmla="val 57740"/>
                <a:gd name="adj2" fmla="val 50000"/>
              </a:avLst>
            </a:prstGeom>
            <a:solidFill>
              <a:srgbClr val="0099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spTree>
    <p:extLst>
      <p:ext uri="{BB962C8B-B14F-4D97-AF65-F5344CB8AC3E}">
        <p14:creationId xmlns:p14="http://schemas.microsoft.com/office/powerpoint/2010/main" val="3424995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851420" y="53975"/>
            <a:ext cx="7392988" cy="563563"/>
          </a:xfrm>
        </p:spPr>
        <p:txBody>
          <a:bodyPr/>
          <a:lstStyle/>
          <a:p>
            <a:r>
              <a:rPr lang="en-US" dirty="0" err="1"/>
              <a:t>Interacción</a:t>
            </a:r>
            <a:r>
              <a:rPr lang="en-US" dirty="0"/>
              <a:t> y </a:t>
            </a:r>
            <a:r>
              <a:rPr lang="en-US" dirty="0" err="1"/>
              <a:t>Conversión</a:t>
            </a:r>
            <a:r>
              <a:rPr lang="en-US" dirty="0"/>
              <a:t> de </a:t>
            </a:r>
            <a:r>
              <a:rPr lang="en-US" dirty="0" err="1"/>
              <a:t>Tipos</a:t>
            </a:r>
            <a:endParaRPr lang="en-US" sz="2400" dirty="0">
              <a:solidFill>
                <a:srgbClr val="FFFF00"/>
              </a:solidFill>
            </a:endParaRPr>
          </a:p>
        </p:txBody>
      </p:sp>
      <p:sp>
        <p:nvSpPr>
          <p:cNvPr id="29" name="28 CuadroTexto"/>
          <p:cNvSpPr txBox="1"/>
          <p:nvPr/>
        </p:nvSpPr>
        <p:spPr>
          <a:xfrm>
            <a:off x="1558261" y="1628800"/>
            <a:ext cx="877163" cy="369332"/>
          </a:xfrm>
          <a:prstGeom prst="rect">
            <a:avLst/>
          </a:prstGeom>
          <a:noFill/>
        </p:spPr>
        <p:txBody>
          <a:bodyPr wrap="none" rtlCol="0">
            <a:spAutoFit/>
          </a:bodyPr>
          <a:lstStyle/>
          <a:p>
            <a:pPr algn="ctr"/>
            <a:r>
              <a:rPr lang="es-ES" sz="1800" dirty="0">
                <a:solidFill>
                  <a:srgbClr val="0070C0"/>
                </a:solidFill>
              </a:rPr>
              <a:t>byte </a:t>
            </a:r>
            <a:r>
              <a:rPr lang="es-ES" sz="1800" dirty="0">
                <a:solidFill>
                  <a:srgbClr val="FF0000"/>
                </a:solidFill>
              </a:rPr>
              <a:t>b;</a:t>
            </a:r>
          </a:p>
        </p:txBody>
      </p:sp>
      <p:sp>
        <p:nvSpPr>
          <p:cNvPr id="31" name="30 CuadroTexto"/>
          <p:cNvSpPr txBox="1"/>
          <p:nvPr/>
        </p:nvSpPr>
        <p:spPr>
          <a:xfrm>
            <a:off x="1365900" y="1916832"/>
            <a:ext cx="1261884" cy="338554"/>
          </a:xfrm>
          <a:prstGeom prst="rect">
            <a:avLst/>
          </a:prstGeom>
          <a:noFill/>
        </p:spPr>
        <p:txBody>
          <a:bodyPr wrap="none" rtlCol="0">
            <a:spAutoFit/>
          </a:bodyPr>
          <a:lstStyle/>
          <a:p>
            <a:pPr algn="ctr"/>
            <a:r>
              <a:rPr lang="es-ES" sz="1600" dirty="0">
                <a:solidFill>
                  <a:srgbClr val="FF6600"/>
                </a:solidFill>
              </a:rPr>
              <a:t>-128…+127</a:t>
            </a:r>
          </a:p>
        </p:txBody>
      </p:sp>
      <p:sp>
        <p:nvSpPr>
          <p:cNvPr id="34" name="33 CuadroTexto"/>
          <p:cNvSpPr txBox="1"/>
          <p:nvPr/>
        </p:nvSpPr>
        <p:spPr>
          <a:xfrm>
            <a:off x="2915816" y="1628800"/>
            <a:ext cx="896400" cy="369332"/>
          </a:xfrm>
          <a:prstGeom prst="rect">
            <a:avLst/>
          </a:prstGeom>
          <a:noFill/>
        </p:spPr>
        <p:txBody>
          <a:bodyPr wrap="none" rtlCol="0">
            <a:spAutoFit/>
          </a:bodyPr>
          <a:lstStyle/>
          <a:p>
            <a:pPr algn="ctr"/>
            <a:r>
              <a:rPr lang="es-ES" sz="1800" dirty="0">
                <a:solidFill>
                  <a:srgbClr val="FF0000"/>
                </a:solidFill>
              </a:rPr>
              <a:t>b </a:t>
            </a:r>
            <a:r>
              <a:rPr lang="es-ES" sz="1800" dirty="0">
                <a:solidFill>
                  <a:schemeClr val="accent4"/>
                </a:solidFill>
              </a:rPr>
              <a:t>= 66;</a:t>
            </a:r>
          </a:p>
        </p:txBody>
      </p:sp>
      <p:sp>
        <p:nvSpPr>
          <p:cNvPr id="35" name="34 CuadroTexto"/>
          <p:cNvSpPr txBox="1"/>
          <p:nvPr/>
        </p:nvSpPr>
        <p:spPr>
          <a:xfrm>
            <a:off x="4610464" y="1628800"/>
            <a:ext cx="1024640" cy="369332"/>
          </a:xfrm>
          <a:prstGeom prst="rect">
            <a:avLst/>
          </a:prstGeom>
          <a:noFill/>
        </p:spPr>
        <p:txBody>
          <a:bodyPr wrap="none" rtlCol="0">
            <a:spAutoFit/>
          </a:bodyPr>
          <a:lstStyle/>
          <a:p>
            <a:pPr algn="ctr"/>
            <a:r>
              <a:rPr lang="es-ES" sz="1800" dirty="0">
                <a:solidFill>
                  <a:srgbClr val="FF0000"/>
                </a:solidFill>
              </a:rPr>
              <a:t>b </a:t>
            </a:r>
            <a:r>
              <a:rPr lang="es-ES" sz="1800" dirty="0">
                <a:solidFill>
                  <a:schemeClr val="accent4"/>
                </a:solidFill>
              </a:rPr>
              <a:t>= 513;</a:t>
            </a:r>
          </a:p>
        </p:txBody>
      </p:sp>
      <p:grpSp>
        <p:nvGrpSpPr>
          <p:cNvPr id="46" name="45 Grupo"/>
          <p:cNvGrpSpPr/>
          <p:nvPr/>
        </p:nvGrpSpPr>
        <p:grpSpPr>
          <a:xfrm>
            <a:off x="1187624" y="1198226"/>
            <a:ext cx="6696744" cy="400110"/>
            <a:chOff x="971600" y="1198226"/>
            <a:chExt cx="6696744" cy="400110"/>
          </a:xfrm>
        </p:grpSpPr>
        <p:sp>
          <p:nvSpPr>
            <p:cNvPr id="45" name="44 Rectángulo"/>
            <p:cNvSpPr/>
            <p:nvPr/>
          </p:nvSpPr>
          <p:spPr bwMode="auto">
            <a:xfrm>
              <a:off x="971600" y="1289284"/>
              <a:ext cx="6696744" cy="267508"/>
            </a:xfrm>
            <a:prstGeom prst="rect">
              <a:avLst/>
            </a:prstGeom>
            <a:solidFill>
              <a:srgbClr val="FFEDB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3" name="42 CuadroTexto"/>
            <p:cNvSpPr txBox="1"/>
            <p:nvPr/>
          </p:nvSpPr>
          <p:spPr>
            <a:xfrm>
              <a:off x="1547663" y="1198226"/>
              <a:ext cx="5320581" cy="400110"/>
            </a:xfrm>
            <a:prstGeom prst="rect">
              <a:avLst/>
            </a:prstGeom>
            <a:noFill/>
          </p:spPr>
          <p:txBody>
            <a:bodyPr wrap="square" rtlCol="0">
              <a:spAutoFit/>
            </a:bodyPr>
            <a:lstStyle/>
            <a:p>
              <a:pPr algn="ctr"/>
              <a:r>
                <a:rPr lang="es-ES" sz="1600" b="1" dirty="0">
                  <a:solidFill>
                    <a:srgbClr val="FF0000"/>
                  </a:solidFill>
                </a:rPr>
                <a:t>variable</a:t>
              </a:r>
              <a:r>
                <a:rPr lang="es-ES" sz="1600" dirty="0">
                  <a:solidFill>
                    <a:schemeClr val="bg1">
                      <a:lumMod val="50000"/>
                    </a:schemeClr>
                  </a:solidFill>
                </a:rPr>
                <a:t> </a:t>
              </a:r>
              <a:r>
                <a:rPr lang="es-ES" sz="2000" b="1" dirty="0"/>
                <a:t>←</a:t>
              </a:r>
              <a:r>
                <a:rPr lang="es-ES" sz="1600" dirty="0">
                  <a:solidFill>
                    <a:schemeClr val="bg1">
                      <a:lumMod val="50000"/>
                    </a:schemeClr>
                  </a:solidFill>
                </a:rPr>
                <a:t> </a:t>
              </a:r>
              <a:r>
                <a:rPr lang="es-ES" sz="1600" b="1" dirty="0">
                  <a:solidFill>
                    <a:srgbClr val="009900"/>
                  </a:solidFill>
                </a:rPr>
                <a:t>literal</a:t>
              </a:r>
            </a:p>
          </p:txBody>
        </p:sp>
      </p:grpSp>
      <p:grpSp>
        <p:nvGrpSpPr>
          <p:cNvPr id="47" name="46 Grupo"/>
          <p:cNvGrpSpPr/>
          <p:nvPr/>
        </p:nvGrpSpPr>
        <p:grpSpPr>
          <a:xfrm>
            <a:off x="1187624" y="2348880"/>
            <a:ext cx="6696744" cy="400110"/>
            <a:chOff x="971600" y="1198226"/>
            <a:chExt cx="6696744" cy="400110"/>
          </a:xfrm>
        </p:grpSpPr>
        <p:sp>
          <p:nvSpPr>
            <p:cNvPr id="48" name="47 Rectángulo"/>
            <p:cNvSpPr/>
            <p:nvPr/>
          </p:nvSpPr>
          <p:spPr bwMode="auto">
            <a:xfrm>
              <a:off x="971600" y="1289284"/>
              <a:ext cx="6696744" cy="267508"/>
            </a:xfrm>
            <a:prstGeom prst="rect">
              <a:avLst/>
            </a:prstGeom>
            <a:solidFill>
              <a:srgbClr val="FFEDB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9" name="48 CuadroTexto"/>
            <p:cNvSpPr txBox="1"/>
            <p:nvPr/>
          </p:nvSpPr>
          <p:spPr>
            <a:xfrm>
              <a:off x="1547663" y="1198226"/>
              <a:ext cx="5320581" cy="400110"/>
            </a:xfrm>
            <a:prstGeom prst="rect">
              <a:avLst/>
            </a:prstGeom>
            <a:noFill/>
          </p:spPr>
          <p:txBody>
            <a:bodyPr wrap="square" rtlCol="0">
              <a:spAutoFit/>
            </a:bodyPr>
            <a:lstStyle/>
            <a:p>
              <a:pPr algn="ctr"/>
              <a:r>
                <a:rPr lang="es-ES" sz="1600" b="1" dirty="0">
                  <a:solidFill>
                    <a:srgbClr val="FF0000"/>
                  </a:solidFill>
                </a:rPr>
                <a:t>variable</a:t>
              </a:r>
              <a:r>
                <a:rPr lang="es-ES" sz="1600" dirty="0">
                  <a:solidFill>
                    <a:schemeClr val="bg1">
                      <a:lumMod val="50000"/>
                    </a:schemeClr>
                  </a:solidFill>
                </a:rPr>
                <a:t> </a:t>
              </a:r>
              <a:r>
                <a:rPr lang="es-ES" sz="2000" b="1" dirty="0"/>
                <a:t>←</a:t>
              </a:r>
              <a:r>
                <a:rPr lang="es-ES" sz="1600" dirty="0">
                  <a:solidFill>
                    <a:schemeClr val="bg1">
                      <a:lumMod val="50000"/>
                    </a:schemeClr>
                  </a:solidFill>
                </a:rPr>
                <a:t> </a:t>
              </a:r>
              <a:r>
                <a:rPr lang="es-ES" sz="1600" b="1" dirty="0">
                  <a:solidFill>
                    <a:srgbClr val="FF0000"/>
                  </a:solidFill>
                </a:rPr>
                <a:t>variable</a:t>
              </a:r>
              <a:endParaRPr lang="es-ES" sz="1600" b="1" dirty="0">
                <a:solidFill>
                  <a:srgbClr val="009900"/>
                </a:solidFill>
              </a:endParaRPr>
            </a:p>
          </p:txBody>
        </p:sp>
      </p:grpSp>
      <p:sp>
        <p:nvSpPr>
          <p:cNvPr id="50" name="49 CuadroTexto"/>
          <p:cNvSpPr txBox="1"/>
          <p:nvPr/>
        </p:nvSpPr>
        <p:spPr>
          <a:xfrm>
            <a:off x="6555925" y="1628800"/>
            <a:ext cx="1101585" cy="369332"/>
          </a:xfrm>
          <a:prstGeom prst="rect">
            <a:avLst/>
          </a:prstGeom>
          <a:noFill/>
        </p:spPr>
        <p:txBody>
          <a:bodyPr wrap="none" rtlCol="0">
            <a:spAutoFit/>
          </a:bodyPr>
          <a:lstStyle/>
          <a:p>
            <a:pPr algn="ctr"/>
            <a:r>
              <a:rPr lang="es-ES" sz="1800" dirty="0">
                <a:solidFill>
                  <a:srgbClr val="FF0000"/>
                </a:solidFill>
              </a:rPr>
              <a:t>b </a:t>
            </a:r>
            <a:r>
              <a:rPr lang="es-ES" sz="1800" dirty="0">
                <a:solidFill>
                  <a:schemeClr val="accent4"/>
                </a:solidFill>
              </a:rPr>
              <a:t>= 7.3</a:t>
            </a:r>
            <a:r>
              <a:rPr lang="es-ES" sz="1800" dirty="0">
                <a:solidFill>
                  <a:srgbClr val="FF6600"/>
                </a:solidFill>
              </a:rPr>
              <a:t>F</a:t>
            </a:r>
            <a:r>
              <a:rPr lang="es-ES" sz="1800" dirty="0">
                <a:solidFill>
                  <a:schemeClr val="accent4"/>
                </a:solidFill>
              </a:rPr>
              <a:t>;</a:t>
            </a:r>
          </a:p>
        </p:txBody>
      </p:sp>
      <p:sp>
        <p:nvSpPr>
          <p:cNvPr id="53" name="52 CuadroTexto"/>
          <p:cNvSpPr txBox="1"/>
          <p:nvPr/>
        </p:nvSpPr>
        <p:spPr>
          <a:xfrm>
            <a:off x="3072532" y="1844824"/>
            <a:ext cx="407484" cy="400110"/>
          </a:xfrm>
          <a:prstGeom prst="rect">
            <a:avLst/>
          </a:prstGeom>
          <a:noFill/>
        </p:spPr>
        <p:txBody>
          <a:bodyPr wrap="none" rtlCol="0">
            <a:spAutoFit/>
          </a:bodyPr>
          <a:lstStyle/>
          <a:p>
            <a:r>
              <a:rPr lang="es-ES" sz="2000" b="1" dirty="0">
                <a:solidFill>
                  <a:srgbClr val="00B050"/>
                </a:solidFill>
                <a:latin typeface="+mn-lt"/>
              </a:rPr>
              <a:t>√</a:t>
            </a:r>
          </a:p>
        </p:txBody>
      </p:sp>
      <p:sp>
        <p:nvSpPr>
          <p:cNvPr id="54" name="53 Rectángulo"/>
          <p:cNvSpPr/>
          <p:nvPr/>
        </p:nvSpPr>
        <p:spPr>
          <a:xfrm>
            <a:off x="4915024" y="1892151"/>
            <a:ext cx="346570" cy="384721"/>
          </a:xfrm>
          <a:prstGeom prst="rect">
            <a:avLst/>
          </a:prstGeom>
        </p:spPr>
        <p:txBody>
          <a:bodyPr wrap="none">
            <a:spAutoFit/>
          </a:bodyPr>
          <a:lstStyle/>
          <a:p>
            <a:r>
              <a:rPr lang="es-ES" b="1" dirty="0">
                <a:solidFill>
                  <a:srgbClr val="FF0000"/>
                </a:solidFill>
              </a:rPr>
              <a:t>X</a:t>
            </a:r>
          </a:p>
        </p:txBody>
      </p:sp>
      <p:sp>
        <p:nvSpPr>
          <p:cNvPr id="55" name="54 Rectángulo"/>
          <p:cNvSpPr/>
          <p:nvPr/>
        </p:nvSpPr>
        <p:spPr>
          <a:xfrm>
            <a:off x="6923634" y="1887959"/>
            <a:ext cx="346570" cy="384721"/>
          </a:xfrm>
          <a:prstGeom prst="rect">
            <a:avLst/>
          </a:prstGeom>
        </p:spPr>
        <p:txBody>
          <a:bodyPr wrap="none">
            <a:spAutoFit/>
          </a:bodyPr>
          <a:lstStyle/>
          <a:p>
            <a:r>
              <a:rPr lang="es-ES" b="1" dirty="0">
                <a:solidFill>
                  <a:srgbClr val="FF0000"/>
                </a:solidFill>
              </a:rPr>
              <a:t>X</a:t>
            </a:r>
          </a:p>
        </p:txBody>
      </p:sp>
      <p:sp>
        <p:nvSpPr>
          <p:cNvPr id="56" name="55 CuadroTexto"/>
          <p:cNvSpPr txBox="1"/>
          <p:nvPr/>
        </p:nvSpPr>
        <p:spPr>
          <a:xfrm>
            <a:off x="2092131" y="3389413"/>
            <a:ext cx="941284" cy="701731"/>
          </a:xfrm>
          <a:prstGeom prst="rect">
            <a:avLst/>
          </a:prstGeom>
          <a:noFill/>
        </p:spPr>
        <p:txBody>
          <a:bodyPr wrap="none" rtlCol="0">
            <a:spAutoFit/>
          </a:bodyPr>
          <a:lstStyle/>
          <a:p>
            <a:pPr algn="ctr">
              <a:lnSpc>
                <a:spcPct val="110000"/>
              </a:lnSpc>
            </a:pPr>
            <a:r>
              <a:rPr lang="es-ES" sz="1800" dirty="0">
                <a:solidFill>
                  <a:srgbClr val="0070C0"/>
                </a:solidFill>
              </a:rPr>
              <a:t>byte </a:t>
            </a:r>
            <a:r>
              <a:rPr lang="es-ES" sz="1800" dirty="0">
                <a:solidFill>
                  <a:srgbClr val="FF0000"/>
                </a:solidFill>
              </a:rPr>
              <a:t>b;</a:t>
            </a:r>
          </a:p>
          <a:p>
            <a:pPr algn="ctr">
              <a:lnSpc>
                <a:spcPct val="110000"/>
              </a:lnSpc>
            </a:pPr>
            <a:r>
              <a:rPr lang="es-ES" sz="1800" dirty="0">
                <a:solidFill>
                  <a:srgbClr val="0070C0"/>
                </a:solidFill>
              </a:rPr>
              <a:t>short</a:t>
            </a:r>
            <a:r>
              <a:rPr lang="es-ES" sz="1800" dirty="0">
                <a:solidFill>
                  <a:srgbClr val="FF0000"/>
                </a:solidFill>
              </a:rPr>
              <a:t> s;</a:t>
            </a:r>
          </a:p>
        </p:txBody>
      </p:sp>
      <p:sp>
        <p:nvSpPr>
          <p:cNvPr id="58" name="57 CuadroTexto"/>
          <p:cNvSpPr txBox="1"/>
          <p:nvPr/>
        </p:nvSpPr>
        <p:spPr>
          <a:xfrm>
            <a:off x="3768302" y="3389087"/>
            <a:ext cx="755335" cy="369332"/>
          </a:xfrm>
          <a:prstGeom prst="rect">
            <a:avLst/>
          </a:prstGeom>
          <a:noFill/>
        </p:spPr>
        <p:txBody>
          <a:bodyPr wrap="none" rtlCol="0">
            <a:spAutoFit/>
          </a:bodyPr>
          <a:lstStyle/>
          <a:p>
            <a:pPr algn="ctr"/>
            <a:r>
              <a:rPr lang="es-ES" sz="1800" dirty="0">
                <a:solidFill>
                  <a:srgbClr val="FF0000"/>
                </a:solidFill>
              </a:rPr>
              <a:t>s </a:t>
            </a:r>
            <a:r>
              <a:rPr lang="es-ES" sz="1800" dirty="0">
                <a:solidFill>
                  <a:schemeClr val="accent4"/>
                </a:solidFill>
              </a:rPr>
              <a:t>= </a:t>
            </a:r>
            <a:r>
              <a:rPr lang="es-ES" sz="1800" dirty="0">
                <a:solidFill>
                  <a:srgbClr val="FF0000"/>
                </a:solidFill>
              </a:rPr>
              <a:t>b</a:t>
            </a:r>
            <a:r>
              <a:rPr lang="es-ES" sz="1800" dirty="0">
                <a:solidFill>
                  <a:schemeClr val="accent4"/>
                </a:solidFill>
              </a:rPr>
              <a:t>;</a:t>
            </a:r>
          </a:p>
        </p:txBody>
      </p:sp>
      <p:sp>
        <p:nvSpPr>
          <p:cNvPr id="59" name="58 CuadroTexto"/>
          <p:cNvSpPr txBox="1"/>
          <p:nvPr/>
        </p:nvSpPr>
        <p:spPr>
          <a:xfrm>
            <a:off x="5601043" y="3389087"/>
            <a:ext cx="755335" cy="369332"/>
          </a:xfrm>
          <a:prstGeom prst="rect">
            <a:avLst/>
          </a:prstGeom>
          <a:noFill/>
        </p:spPr>
        <p:txBody>
          <a:bodyPr wrap="none" rtlCol="0">
            <a:spAutoFit/>
          </a:bodyPr>
          <a:lstStyle/>
          <a:p>
            <a:pPr algn="ctr"/>
            <a:r>
              <a:rPr lang="es-ES" sz="1800" dirty="0">
                <a:solidFill>
                  <a:srgbClr val="FF0000"/>
                </a:solidFill>
              </a:rPr>
              <a:t>b </a:t>
            </a:r>
            <a:r>
              <a:rPr lang="es-ES" sz="1800" dirty="0">
                <a:solidFill>
                  <a:schemeClr val="accent4"/>
                </a:solidFill>
              </a:rPr>
              <a:t>= </a:t>
            </a:r>
            <a:r>
              <a:rPr lang="es-ES" sz="1800" dirty="0">
                <a:solidFill>
                  <a:srgbClr val="FF0000"/>
                </a:solidFill>
              </a:rPr>
              <a:t>s</a:t>
            </a:r>
            <a:r>
              <a:rPr lang="es-ES" sz="1800" dirty="0">
                <a:solidFill>
                  <a:schemeClr val="accent4"/>
                </a:solidFill>
              </a:rPr>
              <a:t>;</a:t>
            </a:r>
          </a:p>
        </p:txBody>
      </p:sp>
      <p:sp>
        <p:nvSpPr>
          <p:cNvPr id="60" name="59 CuadroTexto"/>
          <p:cNvSpPr txBox="1"/>
          <p:nvPr/>
        </p:nvSpPr>
        <p:spPr>
          <a:xfrm>
            <a:off x="7225672" y="3389087"/>
            <a:ext cx="1326004" cy="369332"/>
          </a:xfrm>
          <a:prstGeom prst="rect">
            <a:avLst/>
          </a:prstGeom>
          <a:noFill/>
        </p:spPr>
        <p:txBody>
          <a:bodyPr wrap="none" rtlCol="0">
            <a:spAutoFit/>
          </a:bodyPr>
          <a:lstStyle/>
          <a:p>
            <a:pPr algn="ctr"/>
            <a:r>
              <a:rPr lang="es-ES" sz="1800" dirty="0">
                <a:solidFill>
                  <a:srgbClr val="FF0000"/>
                </a:solidFill>
              </a:rPr>
              <a:t>b </a:t>
            </a:r>
            <a:r>
              <a:rPr lang="es-ES" sz="1800" dirty="0">
                <a:solidFill>
                  <a:schemeClr val="accent4"/>
                </a:solidFill>
              </a:rPr>
              <a:t>= </a:t>
            </a:r>
            <a:r>
              <a:rPr lang="es-ES" sz="1600" dirty="0">
                <a:solidFill>
                  <a:schemeClr val="tx1">
                    <a:lumMod val="40000"/>
                    <a:lumOff val="60000"/>
                  </a:schemeClr>
                </a:solidFill>
              </a:rPr>
              <a:t>(byte) </a:t>
            </a:r>
            <a:r>
              <a:rPr lang="es-ES" sz="1600" dirty="0">
                <a:solidFill>
                  <a:srgbClr val="FF0000"/>
                </a:solidFill>
              </a:rPr>
              <a:t>s</a:t>
            </a:r>
            <a:r>
              <a:rPr lang="es-ES" sz="1800" dirty="0">
                <a:solidFill>
                  <a:schemeClr val="accent4"/>
                </a:solidFill>
              </a:rPr>
              <a:t>;</a:t>
            </a:r>
          </a:p>
        </p:txBody>
      </p:sp>
      <p:sp>
        <p:nvSpPr>
          <p:cNvPr id="61" name="60 CuadroTexto"/>
          <p:cNvSpPr txBox="1"/>
          <p:nvPr/>
        </p:nvSpPr>
        <p:spPr>
          <a:xfrm>
            <a:off x="3867186" y="3651719"/>
            <a:ext cx="407484" cy="400110"/>
          </a:xfrm>
          <a:prstGeom prst="rect">
            <a:avLst/>
          </a:prstGeom>
          <a:noFill/>
        </p:spPr>
        <p:txBody>
          <a:bodyPr wrap="none" rtlCol="0">
            <a:spAutoFit/>
          </a:bodyPr>
          <a:lstStyle/>
          <a:p>
            <a:r>
              <a:rPr lang="es-ES" sz="2000" b="1" dirty="0">
                <a:solidFill>
                  <a:srgbClr val="00B050"/>
                </a:solidFill>
                <a:latin typeface="+mn-lt"/>
              </a:rPr>
              <a:t>√</a:t>
            </a:r>
          </a:p>
        </p:txBody>
      </p:sp>
      <p:sp>
        <p:nvSpPr>
          <p:cNvPr id="62" name="61 Rectángulo"/>
          <p:cNvSpPr/>
          <p:nvPr/>
        </p:nvSpPr>
        <p:spPr>
          <a:xfrm>
            <a:off x="5770951" y="3699046"/>
            <a:ext cx="346570" cy="384721"/>
          </a:xfrm>
          <a:prstGeom prst="rect">
            <a:avLst/>
          </a:prstGeom>
        </p:spPr>
        <p:txBody>
          <a:bodyPr wrap="none">
            <a:spAutoFit/>
          </a:bodyPr>
          <a:lstStyle/>
          <a:p>
            <a:r>
              <a:rPr lang="es-ES" b="1" dirty="0">
                <a:solidFill>
                  <a:srgbClr val="FF0000"/>
                </a:solidFill>
              </a:rPr>
              <a:t>X</a:t>
            </a:r>
          </a:p>
        </p:txBody>
      </p:sp>
      <p:graphicFrame>
        <p:nvGraphicFramePr>
          <p:cNvPr id="107" name="106 Tabla"/>
          <p:cNvGraphicFramePr>
            <a:graphicFrameLocks noGrp="1"/>
          </p:cNvGraphicFramePr>
          <p:nvPr>
            <p:extLst>
              <p:ext uri="{D42A27DB-BD31-4B8C-83A1-F6EECF244321}">
                <p14:modId xmlns:p14="http://schemas.microsoft.com/office/powerpoint/2010/main" val="2188698249"/>
              </p:ext>
            </p:extLst>
          </p:nvPr>
        </p:nvGraphicFramePr>
        <p:xfrm>
          <a:off x="4452110" y="3051247"/>
          <a:ext cx="329335" cy="273479"/>
        </p:xfrm>
        <a:graphic>
          <a:graphicData uri="http://schemas.openxmlformats.org/drawingml/2006/table">
            <a:tbl>
              <a:tblPr>
                <a:tableStyleId>{5C22544A-7EE6-4342-B048-85BDC9FD1C3A}</a:tableStyleId>
              </a:tblPr>
              <a:tblGrid>
                <a:gridCol w="329335">
                  <a:extLst>
                    <a:ext uri="{9D8B030D-6E8A-4147-A177-3AD203B41FA5}">
                      <a16:colId xmlns:a16="http://schemas.microsoft.com/office/drawing/2014/main" val="20000"/>
                    </a:ext>
                  </a:extLst>
                </a:gridCol>
              </a:tblGrid>
              <a:tr h="273479">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extLst>
                  <a:ext uri="{0D108BD9-81ED-4DB2-BD59-A6C34878D82A}">
                    <a16:rowId xmlns:a16="http://schemas.microsoft.com/office/drawing/2014/main" val="10000"/>
                  </a:ext>
                </a:extLst>
              </a:tr>
            </a:tbl>
          </a:graphicData>
        </a:graphic>
      </p:graphicFrame>
      <p:sp>
        <p:nvSpPr>
          <p:cNvPr id="108" name="107 CuadroTexto"/>
          <p:cNvSpPr txBox="1"/>
          <p:nvPr/>
        </p:nvSpPr>
        <p:spPr>
          <a:xfrm>
            <a:off x="4463664" y="3038978"/>
            <a:ext cx="258603" cy="307777"/>
          </a:xfrm>
          <a:prstGeom prst="rect">
            <a:avLst/>
          </a:prstGeom>
          <a:noFill/>
        </p:spPr>
        <p:txBody>
          <a:bodyPr wrap="square" rtlCol="0">
            <a:spAutoFit/>
          </a:bodyPr>
          <a:lstStyle/>
          <a:p>
            <a:r>
              <a:rPr lang="es-ES" sz="1400" dirty="0">
                <a:solidFill>
                  <a:srgbClr val="009900"/>
                </a:solidFill>
              </a:rPr>
              <a:t>B</a:t>
            </a:r>
          </a:p>
        </p:txBody>
      </p:sp>
      <p:sp>
        <p:nvSpPr>
          <p:cNvPr id="110" name="109 CuadroTexto"/>
          <p:cNvSpPr txBox="1"/>
          <p:nvPr/>
        </p:nvSpPr>
        <p:spPr>
          <a:xfrm>
            <a:off x="7645026" y="3651719"/>
            <a:ext cx="407484" cy="400110"/>
          </a:xfrm>
          <a:prstGeom prst="rect">
            <a:avLst/>
          </a:prstGeom>
          <a:noFill/>
        </p:spPr>
        <p:txBody>
          <a:bodyPr wrap="none" rtlCol="0">
            <a:spAutoFit/>
          </a:bodyPr>
          <a:lstStyle/>
          <a:p>
            <a:r>
              <a:rPr lang="es-ES" sz="2000" b="1" dirty="0">
                <a:solidFill>
                  <a:srgbClr val="00B050"/>
                </a:solidFill>
                <a:latin typeface="+mn-lt"/>
              </a:rPr>
              <a:t>√</a:t>
            </a:r>
          </a:p>
        </p:txBody>
      </p:sp>
      <p:graphicFrame>
        <p:nvGraphicFramePr>
          <p:cNvPr id="111" name="110 Tabla"/>
          <p:cNvGraphicFramePr>
            <a:graphicFrameLocks noGrp="1"/>
          </p:cNvGraphicFramePr>
          <p:nvPr>
            <p:extLst>
              <p:ext uri="{D42A27DB-BD31-4B8C-83A1-F6EECF244321}">
                <p14:modId xmlns:p14="http://schemas.microsoft.com/office/powerpoint/2010/main" val="2371798033"/>
              </p:ext>
            </p:extLst>
          </p:nvPr>
        </p:nvGraphicFramePr>
        <p:xfrm>
          <a:off x="3443998" y="3051427"/>
          <a:ext cx="658670" cy="273479"/>
        </p:xfrm>
        <a:graphic>
          <a:graphicData uri="http://schemas.openxmlformats.org/drawingml/2006/table">
            <a:tbl>
              <a:tblPr>
                <a:tableStyleId>{5C22544A-7EE6-4342-B048-85BDC9FD1C3A}</a:tableStyleId>
              </a:tblPr>
              <a:tblGrid>
                <a:gridCol w="329335">
                  <a:extLst>
                    <a:ext uri="{9D8B030D-6E8A-4147-A177-3AD203B41FA5}">
                      <a16:colId xmlns:a16="http://schemas.microsoft.com/office/drawing/2014/main" val="20000"/>
                    </a:ext>
                  </a:extLst>
                </a:gridCol>
                <a:gridCol w="329335">
                  <a:extLst>
                    <a:ext uri="{9D8B030D-6E8A-4147-A177-3AD203B41FA5}">
                      <a16:colId xmlns:a16="http://schemas.microsoft.com/office/drawing/2014/main" val="20001"/>
                    </a:ext>
                  </a:extLst>
                </a:gridCol>
              </a:tblGrid>
              <a:tr h="273479">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extLst>
                  <a:ext uri="{0D108BD9-81ED-4DB2-BD59-A6C34878D82A}">
                    <a16:rowId xmlns:a16="http://schemas.microsoft.com/office/drawing/2014/main" val="10000"/>
                  </a:ext>
                </a:extLst>
              </a:tr>
            </a:tbl>
          </a:graphicData>
        </a:graphic>
      </p:graphicFrame>
      <p:sp>
        <p:nvSpPr>
          <p:cNvPr id="112" name="111 CuadroTexto"/>
          <p:cNvSpPr txBox="1"/>
          <p:nvPr/>
        </p:nvSpPr>
        <p:spPr>
          <a:xfrm>
            <a:off x="3458726" y="3034395"/>
            <a:ext cx="258603" cy="307777"/>
          </a:xfrm>
          <a:prstGeom prst="rect">
            <a:avLst/>
          </a:prstGeom>
          <a:noFill/>
        </p:spPr>
        <p:txBody>
          <a:bodyPr wrap="square" rtlCol="0">
            <a:spAutoFit/>
          </a:bodyPr>
          <a:lstStyle/>
          <a:p>
            <a:r>
              <a:rPr lang="es-ES" sz="1400" dirty="0">
                <a:solidFill>
                  <a:srgbClr val="009900"/>
                </a:solidFill>
              </a:rPr>
              <a:t>B</a:t>
            </a:r>
          </a:p>
        </p:txBody>
      </p:sp>
      <p:sp>
        <p:nvSpPr>
          <p:cNvPr id="113" name="112 CuadroTexto"/>
          <p:cNvSpPr txBox="1"/>
          <p:nvPr/>
        </p:nvSpPr>
        <p:spPr>
          <a:xfrm>
            <a:off x="3783945" y="3039158"/>
            <a:ext cx="258603" cy="307777"/>
          </a:xfrm>
          <a:prstGeom prst="rect">
            <a:avLst/>
          </a:prstGeom>
          <a:noFill/>
        </p:spPr>
        <p:txBody>
          <a:bodyPr wrap="square" rtlCol="0">
            <a:spAutoFit/>
          </a:bodyPr>
          <a:lstStyle/>
          <a:p>
            <a:r>
              <a:rPr lang="es-ES" sz="1400" dirty="0">
                <a:solidFill>
                  <a:srgbClr val="009900"/>
                </a:solidFill>
              </a:rPr>
              <a:t>B</a:t>
            </a:r>
          </a:p>
        </p:txBody>
      </p:sp>
      <p:sp>
        <p:nvSpPr>
          <p:cNvPr id="115" name="114 Flecha arriba"/>
          <p:cNvSpPr/>
          <p:nvPr/>
        </p:nvSpPr>
        <p:spPr bwMode="auto">
          <a:xfrm rot="5400000" flipV="1">
            <a:off x="4206620" y="3071656"/>
            <a:ext cx="148694" cy="204676"/>
          </a:xfrm>
          <a:prstGeom prst="upArrow">
            <a:avLst/>
          </a:prstGeom>
          <a:solidFill>
            <a:schemeClr val="tx2">
              <a:lumMod val="5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aphicFrame>
        <p:nvGraphicFramePr>
          <p:cNvPr id="116" name="115 Tabla"/>
          <p:cNvGraphicFramePr>
            <a:graphicFrameLocks noGrp="1"/>
          </p:cNvGraphicFramePr>
          <p:nvPr>
            <p:extLst>
              <p:ext uri="{D42A27DB-BD31-4B8C-83A1-F6EECF244321}">
                <p14:modId xmlns:p14="http://schemas.microsoft.com/office/powerpoint/2010/main" val="1337230088"/>
              </p:ext>
            </p:extLst>
          </p:nvPr>
        </p:nvGraphicFramePr>
        <p:xfrm>
          <a:off x="5265377" y="3043310"/>
          <a:ext cx="329335" cy="273479"/>
        </p:xfrm>
        <a:graphic>
          <a:graphicData uri="http://schemas.openxmlformats.org/drawingml/2006/table">
            <a:tbl>
              <a:tblPr>
                <a:tableStyleId>{5C22544A-7EE6-4342-B048-85BDC9FD1C3A}</a:tableStyleId>
              </a:tblPr>
              <a:tblGrid>
                <a:gridCol w="329335">
                  <a:extLst>
                    <a:ext uri="{9D8B030D-6E8A-4147-A177-3AD203B41FA5}">
                      <a16:colId xmlns:a16="http://schemas.microsoft.com/office/drawing/2014/main" val="20000"/>
                    </a:ext>
                  </a:extLst>
                </a:gridCol>
              </a:tblGrid>
              <a:tr h="273479">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extLst>
                  <a:ext uri="{0D108BD9-81ED-4DB2-BD59-A6C34878D82A}">
                    <a16:rowId xmlns:a16="http://schemas.microsoft.com/office/drawing/2014/main" val="10000"/>
                  </a:ext>
                </a:extLst>
              </a:tr>
            </a:tbl>
          </a:graphicData>
        </a:graphic>
      </p:graphicFrame>
      <p:sp>
        <p:nvSpPr>
          <p:cNvPr id="117" name="116 CuadroTexto"/>
          <p:cNvSpPr txBox="1"/>
          <p:nvPr/>
        </p:nvSpPr>
        <p:spPr>
          <a:xfrm>
            <a:off x="5281694" y="3026278"/>
            <a:ext cx="258603" cy="307777"/>
          </a:xfrm>
          <a:prstGeom prst="rect">
            <a:avLst/>
          </a:prstGeom>
          <a:noFill/>
        </p:spPr>
        <p:txBody>
          <a:bodyPr wrap="square" rtlCol="0">
            <a:spAutoFit/>
          </a:bodyPr>
          <a:lstStyle/>
          <a:p>
            <a:r>
              <a:rPr lang="es-ES" sz="1400" dirty="0">
                <a:solidFill>
                  <a:srgbClr val="009900"/>
                </a:solidFill>
              </a:rPr>
              <a:t>B</a:t>
            </a:r>
          </a:p>
        </p:txBody>
      </p:sp>
      <p:graphicFrame>
        <p:nvGraphicFramePr>
          <p:cNvPr id="118" name="117 Tabla"/>
          <p:cNvGraphicFramePr>
            <a:graphicFrameLocks noGrp="1"/>
          </p:cNvGraphicFramePr>
          <p:nvPr>
            <p:extLst>
              <p:ext uri="{D42A27DB-BD31-4B8C-83A1-F6EECF244321}">
                <p14:modId xmlns:p14="http://schemas.microsoft.com/office/powerpoint/2010/main" val="2471173425"/>
              </p:ext>
            </p:extLst>
          </p:nvPr>
        </p:nvGraphicFramePr>
        <p:xfrm>
          <a:off x="5964278" y="3038727"/>
          <a:ext cx="658670" cy="273479"/>
        </p:xfrm>
        <a:graphic>
          <a:graphicData uri="http://schemas.openxmlformats.org/drawingml/2006/table">
            <a:tbl>
              <a:tblPr>
                <a:tableStyleId>{5C22544A-7EE6-4342-B048-85BDC9FD1C3A}</a:tableStyleId>
              </a:tblPr>
              <a:tblGrid>
                <a:gridCol w="329335">
                  <a:extLst>
                    <a:ext uri="{9D8B030D-6E8A-4147-A177-3AD203B41FA5}">
                      <a16:colId xmlns:a16="http://schemas.microsoft.com/office/drawing/2014/main" val="20000"/>
                    </a:ext>
                  </a:extLst>
                </a:gridCol>
                <a:gridCol w="329335">
                  <a:extLst>
                    <a:ext uri="{9D8B030D-6E8A-4147-A177-3AD203B41FA5}">
                      <a16:colId xmlns:a16="http://schemas.microsoft.com/office/drawing/2014/main" val="20001"/>
                    </a:ext>
                  </a:extLst>
                </a:gridCol>
              </a:tblGrid>
              <a:tr h="273479">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extLst>
                  <a:ext uri="{0D108BD9-81ED-4DB2-BD59-A6C34878D82A}">
                    <a16:rowId xmlns:a16="http://schemas.microsoft.com/office/drawing/2014/main" val="10000"/>
                  </a:ext>
                </a:extLst>
              </a:tr>
            </a:tbl>
          </a:graphicData>
        </a:graphic>
      </p:graphicFrame>
      <p:sp>
        <p:nvSpPr>
          <p:cNvPr id="119" name="118 CuadroTexto"/>
          <p:cNvSpPr txBox="1"/>
          <p:nvPr/>
        </p:nvSpPr>
        <p:spPr>
          <a:xfrm>
            <a:off x="5974243" y="3021695"/>
            <a:ext cx="258603" cy="307777"/>
          </a:xfrm>
          <a:prstGeom prst="rect">
            <a:avLst/>
          </a:prstGeom>
          <a:noFill/>
        </p:spPr>
        <p:txBody>
          <a:bodyPr wrap="square" rtlCol="0">
            <a:spAutoFit/>
          </a:bodyPr>
          <a:lstStyle/>
          <a:p>
            <a:r>
              <a:rPr lang="es-ES" sz="1400" dirty="0">
                <a:solidFill>
                  <a:srgbClr val="009900"/>
                </a:solidFill>
              </a:rPr>
              <a:t>B</a:t>
            </a:r>
          </a:p>
        </p:txBody>
      </p:sp>
      <p:sp>
        <p:nvSpPr>
          <p:cNvPr id="120" name="119 CuadroTexto"/>
          <p:cNvSpPr txBox="1"/>
          <p:nvPr/>
        </p:nvSpPr>
        <p:spPr>
          <a:xfrm>
            <a:off x="6299462" y="3021695"/>
            <a:ext cx="258603" cy="307777"/>
          </a:xfrm>
          <a:prstGeom prst="rect">
            <a:avLst/>
          </a:prstGeom>
          <a:noFill/>
        </p:spPr>
        <p:txBody>
          <a:bodyPr wrap="square" rtlCol="0">
            <a:spAutoFit/>
          </a:bodyPr>
          <a:lstStyle/>
          <a:p>
            <a:r>
              <a:rPr lang="es-ES" sz="1400" dirty="0">
                <a:solidFill>
                  <a:srgbClr val="009900"/>
                </a:solidFill>
              </a:rPr>
              <a:t>B</a:t>
            </a:r>
          </a:p>
        </p:txBody>
      </p:sp>
      <p:sp>
        <p:nvSpPr>
          <p:cNvPr id="121" name="120 Flecha arriba"/>
          <p:cNvSpPr/>
          <p:nvPr/>
        </p:nvSpPr>
        <p:spPr bwMode="auto">
          <a:xfrm rot="5400000" flipV="1">
            <a:off x="5695158" y="3058956"/>
            <a:ext cx="148694" cy="204676"/>
          </a:xfrm>
          <a:prstGeom prst="upArrow">
            <a:avLst/>
          </a:prstGeom>
          <a:solidFill>
            <a:schemeClr val="tx2">
              <a:lumMod val="5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aphicFrame>
        <p:nvGraphicFramePr>
          <p:cNvPr id="122" name="121 Tabla"/>
          <p:cNvGraphicFramePr>
            <a:graphicFrameLocks noGrp="1"/>
          </p:cNvGraphicFramePr>
          <p:nvPr>
            <p:extLst>
              <p:ext uri="{D42A27DB-BD31-4B8C-83A1-F6EECF244321}">
                <p14:modId xmlns:p14="http://schemas.microsoft.com/office/powerpoint/2010/main" val="2815340677"/>
              </p:ext>
            </p:extLst>
          </p:nvPr>
        </p:nvGraphicFramePr>
        <p:xfrm>
          <a:off x="7165087" y="3037617"/>
          <a:ext cx="329335" cy="273479"/>
        </p:xfrm>
        <a:graphic>
          <a:graphicData uri="http://schemas.openxmlformats.org/drawingml/2006/table">
            <a:tbl>
              <a:tblPr>
                <a:tableStyleId>{5C22544A-7EE6-4342-B048-85BDC9FD1C3A}</a:tableStyleId>
              </a:tblPr>
              <a:tblGrid>
                <a:gridCol w="329335">
                  <a:extLst>
                    <a:ext uri="{9D8B030D-6E8A-4147-A177-3AD203B41FA5}">
                      <a16:colId xmlns:a16="http://schemas.microsoft.com/office/drawing/2014/main" val="20000"/>
                    </a:ext>
                  </a:extLst>
                </a:gridCol>
              </a:tblGrid>
              <a:tr h="273479">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extLst>
                  <a:ext uri="{0D108BD9-81ED-4DB2-BD59-A6C34878D82A}">
                    <a16:rowId xmlns:a16="http://schemas.microsoft.com/office/drawing/2014/main" val="10000"/>
                  </a:ext>
                </a:extLst>
              </a:tr>
            </a:tbl>
          </a:graphicData>
        </a:graphic>
      </p:graphicFrame>
      <p:sp>
        <p:nvSpPr>
          <p:cNvPr id="123" name="122 CuadroTexto"/>
          <p:cNvSpPr txBox="1"/>
          <p:nvPr/>
        </p:nvSpPr>
        <p:spPr>
          <a:xfrm>
            <a:off x="7181404" y="3020585"/>
            <a:ext cx="258603" cy="307777"/>
          </a:xfrm>
          <a:prstGeom prst="rect">
            <a:avLst/>
          </a:prstGeom>
          <a:noFill/>
        </p:spPr>
        <p:txBody>
          <a:bodyPr wrap="square" rtlCol="0">
            <a:spAutoFit/>
          </a:bodyPr>
          <a:lstStyle/>
          <a:p>
            <a:r>
              <a:rPr lang="es-ES" sz="1400" dirty="0">
                <a:solidFill>
                  <a:srgbClr val="009900"/>
                </a:solidFill>
              </a:rPr>
              <a:t>B</a:t>
            </a:r>
          </a:p>
        </p:txBody>
      </p:sp>
      <p:graphicFrame>
        <p:nvGraphicFramePr>
          <p:cNvPr id="124" name="123 Tabla"/>
          <p:cNvGraphicFramePr>
            <a:graphicFrameLocks noGrp="1"/>
          </p:cNvGraphicFramePr>
          <p:nvPr>
            <p:extLst>
              <p:ext uri="{D42A27DB-BD31-4B8C-83A1-F6EECF244321}">
                <p14:modId xmlns:p14="http://schemas.microsoft.com/office/powerpoint/2010/main" val="2768536279"/>
              </p:ext>
            </p:extLst>
          </p:nvPr>
        </p:nvGraphicFramePr>
        <p:xfrm>
          <a:off x="7863988" y="3033034"/>
          <a:ext cx="658670" cy="273479"/>
        </p:xfrm>
        <a:graphic>
          <a:graphicData uri="http://schemas.openxmlformats.org/drawingml/2006/table">
            <a:tbl>
              <a:tblPr>
                <a:tableStyleId>{5C22544A-7EE6-4342-B048-85BDC9FD1C3A}</a:tableStyleId>
              </a:tblPr>
              <a:tblGrid>
                <a:gridCol w="329335">
                  <a:extLst>
                    <a:ext uri="{9D8B030D-6E8A-4147-A177-3AD203B41FA5}">
                      <a16:colId xmlns:a16="http://schemas.microsoft.com/office/drawing/2014/main" val="20000"/>
                    </a:ext>
                  </a:extLst>
                </a:gridCol>
                <a:gridCol w="329335">
                  <a:extLst>
                    <a:ext uri="{9D8B030D-6E8A-4147-A177-3AD203B41FA5}">
                      <a16:colId xmlns:a16="http://schemas.microsoft.com/office/drawing/2014/main" val="20001"/>
                    </a:ext>
                  </a:extLst>
                </a:gridCol>
              </a:tblGrid>
              <a:tr h="273479">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extLst>
                  <a:ext uri="{0D108BD9-81ED-4DB2-BD59-A6C34878D82A}">
                    <a16:rowId xmlns:a16="http://schemas.microsoft.com/office/drawing/2014/main" val="10000"/>
                  </a:ext>
                </a:extLst>
              </a:tr>
            </a:tbl>
          </a:graphicData>
        </a:graphic>
      </p:graphicFrame>
      <p:sp>
        <p:nvSpPr>
          <p:cNvPr id="125" name="124 CuadroTexto"/>
          <p:cNvSpPr txBox="1"/>
          <p:nvPr/>
        </p:nvSpPr>
        <p:spPr>
          <a:xfrm>
            <a:off x="7873953" y="3016002"/>
            <a:ext cx="258603" cy="307777"/>
          </a:xfrm>
          <a:prstGeom prst="rect">
            <a:avLst/>
          </a:prstGeom>
          <a:noFill/>
        </p:spPr>
        <p:txBody>
          <a:bodyPr wrap="square" rtlCol="0">
            <a:spAutoFit/>
          </a:bodyPr>
          <a:lstStyle/>
          <a:p>
            <a:r>
              <a:rPr lang="es-ES" sz="1400" dirty="0">
                <a:solidFill>
                  <a:srgbClr val="009900"/>
                </a:solidFill>
              </a:rPr>
              <a:t>B</a:t>
            </a:r>
          </a:p>
        </p:txBody>
      </p:sp>
      <p:sp>
        <p:nvSpPr>
          <p:cNvPr id="126" name="125 CuadroTexto"/>
          <p:cNvSpPr txBox="1"/>
          <p:nvPr/>
        </p:nvSpPr>
        <p:spPr>
          <a:xfrm>
            <a:off x="8199172" y="3016002"/>
            <a:ext cx="258603" cy="307777"/>
          </a:xfrm>
          <a:prstGeom prst="rect">
            <a:avLst/>
          </a:prstGeom>
          <a:noFill/>
        </p:spPr>
        <p:txBody>
          <a:bodyPr wrap="square" rtlCol="0">
            <a:spAutoFit/>
          </a:bodyPr>
          <a:lstStyle/>
          <a:p>
            <a:r>
              <a:rPr lang="es-ES" sz="1400" dirty="0">
                <a:solidFill>
                  <a:srgbClr val="009900"/>
                </a:solidFill>
              </a:rPr>
              <a:t>B</a:t>
            </a:r>
          </a:p>
        </p:txBody>
      </p:sp>
      <p:sp>
        <p:nvSpPr>
          <p:cNvPr id="127" name="126 Flecha arriba"/>
          <p:cNvSpPr/>
          <p:nvPr/>
        </p:nvSpPr>
        <p:spPr bwMode="auto">
          <a:xfrm rot="5400000" flipV="1">
            <a:off x="7594868" y="3053263"/>
            <a:ext cx="148694" cy="204676"/>
          </a:xfrm>
          <a:prstGeom prst="upArrow">
            <a:avLst/>
          </a:prstGeom>
          <a:solidFill>
            <a:schemeClr val="tx2">
              <a:lumMod val="5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aphicFrame>
        <p:nvGraphicFramePr>
          <p:cNvPr id="128" name="127 Tabla"/>
          <p:cNvGraphicFramePr>
            <a:graphicFrameLocks noGrp="1"/>
          </p:cNvGraphicFramePr>
          <p:nvPr>
            <p:extLst>
              <p:ext uri="{D42A27DB-BD31-4B8C-83A1-F6EECF244321}">
                <p14:modId xmlns:p14="http://schemas.microsoft.com/office/powerpoint/2010/main" val="213012305"/>
              </p:ext>
            </p:extLst>
          </p:nvPr>
        </p:nvGraphicFramePr>
        <p:xfrm>
          <a:off x="1665535" y="3430774"/>
          <a:ext cx="329335" cy="273479"/>
        </p:xfrm>
        <a:graphic>
          <a:graphicData uri="http://schemas.openxmlformats.org/drawingml/2006/table">
            <a:tbl>
              <a:tblPr>
                <a:tableStyleId>{5C22544A-7EE6-4342-B048-85BDC9FD1C3A}</a:tableStyleId>
              </a:tblPr>
              <a:tblGrid>
                <a:gridCol w="329335">
                  <a:extLst>
                    <a:ext uri="{9D8B030D-6E8A-4147-A177-3AD203B41FA5}">
                      <a16:colId xmlns:a16="http://schemas.microsoft.com/office/drawing/2014/main" val="20000"/>
                    </a:ext>
                  </a:extLst>
                </a:gridCol>
              </a:tblGrid>
              <a:tr h="273479">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extLst>
                  <a:ext uri="{0D108BD9-81ED-4DB2-BD59-A6C34878D82A}">
                    <a16:rowId xmlns:a16="http://schemas.microsoft.com/office/drawing/2014/main" val="10000"/>
                  </a:ext>
                </a:extLst>
              </a:tr>
            </a:tbl>
          </a:graphicData>
        </a:graphic>
      </p:graphicFrame>
      <p:sp>
        <p:nvSpPr>
          <p:cNvPr id="129" name="128 CuadroTexto"/>
          <p:cNvSpPr txBox="1"/>
          <p:nvPr/>
        </p:nvSpPr>
        <p:spPr>
          <a:xfrm>
            <a:off x="1677089" y="3418505"/>
            <a:ext cx="258603" cy="307777"/>
          </a:xfrm>
          <a:prstGeom prst="rect">
            <a:avLst/>
          </a:prstGeom>
          <a:noFill/>
        </p:spPr>
        <p:txBody>
          <a:bodyPr wrap="square" rtlCol="0">
            <a:spAutoFit/>
          </a:bodyPr>
          <a:lstStyle/>
          <a:p>
            <a:r>
              <a:rPr lang="es-ES" sz="1400" dirty="0">
                <a:solidFill>
                  <a:srgbClr val="009900"/>
                </a:solidFill>
              </a:rPr>
              <a:t>B</a:t>
            </a:r>
          </a:p>
        </p:txBody>
      </p:sp>
      <p:graphicFrame>
        <p:nvGraphicFramePr>
          <p:cNvPr id="130" name="129 Tabla"/>
          <p:cNvGraphicFramePr>
            <a:graphicFrameLocks noGrp="1"/>
          </p:cNvGraphicFramePr>
          <p:nvPr>
            <p:extLst>
              <p:ext uri="{D42A27DB-BD31-4B8C-83A1-F6EECF244321}">
                <p14:modId xmlns:p14="http://schemas.microsoft.com/office/powerpoint/2010/main" val="893984863"/>
              </p:ext>
            </p:extLst>
          </p:nvPr>
        </p:nvGraphicFramePr>
        <p:xfrm>
          <a:off x="1479435" y="3768934"/>
          <a:ext cx="658670" cy="273479"/>
        </p:xfrm>
        <a:graphic>
          <a:graphicData uri="http://schemas.openxmlformats.org/drawingml/2006/table">
            <a:tbl>
              <a:tblPr>
                <a:tableStyleId>{5C22544A-7EE6-4342-B048-85BDC9FD1C3A}</a:tableStyleId>
              </a:tblPr>
              <a:tblGrid>
                <a:gridCol w="329335">
                  <a:extLst>
                    <a:ext uri="{9D8B030D-6E8A-4147-A177-3AD203B41FA5}">
                      <a16:colId xmlns:a16="http://schemas.microsoft.com/office/drawing/2014/main" val="20000"/>
                    </a:ext>
                  </a:extLst>
                </a:gridCol>
                <a:gridCol w="329335">
                  <a:extLst>
                    <a:ext uri="{9D8B030D-6E8A-4147-A177-3AD203B41FA5}">
                      <a16:colId xmlns:a16="http://schemas.microsoft.com/office/drawing/2014/main" val="20001"/>
                    </a:ext>
                  </a:extLst>
                </a:gridCol>
              </a:tblGrid>
              <a:tr h="273479">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tc>
                  <a:txBody>
                    <a:bodyPr/>
                    <a:lstStyle/>
                    <a:p>
                      <a:pPr algn="ctr" fontAlgn="b"/>
                      <a:r>
                        <a:rPr lang="es-ES" sz="1100" u="none" strike="noStrike" dirty="0">
                          <a:effectLst/>
                        </a:rPr>
                        <a:t> </a:t>
                      </a:r>
                      <a:endParaRPr lang="es-ES" sz="1100" b="0" i="0" u="none" strike="noStrike" dirty="0">
                        <a:solidFill>
                          <a:srgbClr val="000000"/>
                        </a:solidFill>
                        <a:effectLst/>
                        <a:latin typeface="Calibri"/>
                      </a:endParaRPr>
                    </a:p>
                  </a:txBody>
                  <a:tcPr marL="9525" marR="9525" marT="9525" marB="0" anchor="b">
                    <a:solidFill>
                      <a:schemeClr val="tx2">
                        <a:lumMod val="40000"/>
                        <a:lumOff val="60000"/>
                      </a:schemeClr>
                    </a:solidFill>
                  </a:tcPr>
                </a:tc>
                <a:extLst>
                  <a:ext uri="{0D108BD9-81ED-4DB2-BD59-A6C34878D82A}">
                    <a16:rowId xmlns:a16="http://schemas.microsoft.com/office/drawing/2014/main" val="10000"/>
                  </a:ext>
                </a:extLst>
              </a:tr>
            </a:tbl>
          </a:graphicData>
        </a:graphic>
      </p:graphicFrame>
      <p:sp>
        <p:nvSpPr>
          <p:cNvPr id="131" name="130 CuadroTexto"/>
          <p:cNvSpPr txBox="1"/>
          <p:nvPr/>
        </p:nvSpPr>
        <p:spPr>
          <a:xfrm>
            <a:off x="1494163" y="3803001"/>
            <a:ext cx="258603" cy="307777"/>
          </a:xfrm>
          <a:prstGeom prst="rect">
            <a:avLst/>
          </a:prstGeom>
          <a:noFill/>
        </p:spPr>
        <p:txBody>
          <a:bodyPr wrap="square" rtlCol="0">
            <a:spAutoFit/>
          </a:bodyPr>
          <a:lstStyle/>
          <a:p>
            <a:r>
              <a:rPr lang="es-ES" sz="1400" dirty="0">
                <a:solidFill>
                  <a:srgbClr val="009900"/>
                </a:solidFill>
              </a:rPr>
              <a:t>B</a:t>
            </a:r>
          </a:p>
        </p:txBody>
      </p:sp>
      <p:sp>
        <p:nvSpPr>
          <p:cNvPr id="132" name="131 CuadroTexto"/>
          <p:cNvSpPr txBox="1"/>
          <p:nvPr/>
        </p:nvSpPr>
        <p:spPr>
          <a:xfrm>
            <a:off x="1819382" y="3756665"/>
            <a:ext cx="258603" cy="307777"/>
          </a:xfrm>
          <a:prstGeom prst="rect">
            <a:avLst/>
          </a:prstGeom>
          <a:noFill/>
        </p:spPr>
        <p:txBody>
          <a:bodyPr wrap="square" rtlCol="0">
            <a:spAutoFit/>
          </a:bodyPr>
          <a:lstStyle/>
          <a:p>
            <a:r>
              <a:rPr lang="es-ES" sz="1400" dirty="0">
                <a:solidFill>
                  <a:srgbClr val="009900"/>
                </a:solidFill>
              </a:rPr>
              <a:t>B</a:t>
            </a:r>
          </a:p>
        </p:txBody>
      </p:sp>
      <p:grpSp>
        <p:nvGrpSpPr>
          <p:cNvPr id="134" name="133 Grupo"/>
          <p:cNvGrpSpPr/>
          <p:nvPr/>
        </p:nvGrpSpPr>
        <p:grpSpPr>
          <a:xfrm>
            <a:off x="1188921" y="4242574"/>
            <a:ext cx="6696744" cy="338554"/>
            <a:chOff x="971600" y="1236326"/>
            <a:chExt cx="6696744" cy="338554"/>
          </a:xfrm>
        </p:grpSpPr>
        <p:sp>
          <p:nvSpPr>
            <p:cNvPr id="135" name="134 Rectángulo"/>
            <p:cNvSpPr/>
            <p:nvPr/>
          </p:nvSpPr>
          <p:spPr bwMode="auto">
            <a:xfrm>
              <a:off x="971600" y="1289284"/>
              <a:ext cx="6696744" cy="267508"/>
            </a:xfrm>
            <a:prstGeom prst="rect">
              <a:avLst/>
            </a:prstGeom>
            <a:solidFill>
              <a:srgbClr val="FFEDB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36" name="135 CuadroTexto"/>
            <p:cNvSpPr txBox="1"/>
            <p:nvPr/>
          </p:nvSpPr>
          <p:spPr>
            <a:xfrm>
              <a:off x="1547663" y="1236326"/>
              <a:ext cx="5320581" cy="338554"/>
            </a:xfrm>
            <a:prstGeom prst="rect">
              <a:avLst/>
            </a:prstGeom>
            <a:noFill/>
          </p:spPr>
          <p:txBody>
            <a:bodyPr wrap="square" rtlCol="0">
              <a:spAutoFit/>
            </a:bodyPr>
            <a:lstStyle/>
            <a:p>
              <a:pPr algn="ctr"/>
              <a:r>
                <a:rPr lang="es-ES" sz="1600" b="1" dirty="0">
                  <a:solidFill>
                    <a:srgbClr val="FF0000"/>
                  </a:solidFill>
                </a:rPr>
                <a:t>operaciones entre variables</a:t>
              </a:r>
              <a:endParaRPr lang="es-ES" sz="1600" b="1" dirty="0">
                <a:solidFill>
                  <a:srgbClr val="009900"/>
                </a:solidFill>
              </a:endParaRPr>
            </a:p>
          </p:txBody>
        </p:sp>
      </p:grpSp>
      <p:grpSp>
        <p:nvGrpSpPr>
          <p:cNvPr id="170" name="169 Grupo"/>
          <p:cNvGrpSpPr/>
          <p:nvPr/>
        </p:nvGrpSpPr>
        <p:grpSpPr>
          <a:xfrm>
            <a:off x="275004" y="2758544"/>
            <a:ext cx="1026619" cy="1462544"/>
            <a:chOff x="130988" y="2758544"/>
            <a:chExt cx="1026619" cy="1462544"/>
          </a:xfrm>
        </p:grpSpPr>
        <p:sp>
          <p:nvSpPr>
            <p:cNvPr id="169" name="168 Trapecio"/>
            <p:cNvSpPr/>
            <p:nvPr/>
          </p:nvSpPr>
          <p:spPr bwMode="auto">
            <a:xfrm flipV="1">
              <a:off x="130988" y="2758544"/>
              <a:ext cx="1026619" cy="1462544"/>
            </a:xfrm>
            <a:prstGeom prst="trapezoid">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37" name="136 CuadroTexto"/>
            <p:cNvSpPr txBox="1"/>
            <p:nvPr/>
          </p:nvSpPr>
          <p:spPr>
            <a:xfrm>
              <a:off x="244990" y="2799160"/>
              <a:ext cx="798617" cy="1421928"/>
            </a:xfrm>
            <a:prstGeom prst="rect">
              <a:avLst/>
            </a:prstGeom>
            <a:noFill/>
          </p:spPr>
          <p:txBody>
            <a:bodyPr wrap="none" rtlCol="0">
              <a:spAutoFit/>
            </a:bodyPr>
            <a:lstStyle/>
            <a:p>
              <a:pPr algn="ctr">
                <a:lnSpc>
                  <a:spcPct val="90000"/>
                </a:lnSpc>
              </a:pPr>
              <a:r>
                <a:rPr lang="es-ES" sz="1600" dirty="0" err="1">
                  <a:solidFill>
                    <a:srgbClr val="0070C0"/>
                  </a:solidFill>
                </a:rPr>
                <a:t>double</a:t>
              </a:r>
              <a:endParaRPr lang="es-ES" sz="1600" dirty="0">
                <a:solidFill>
                  <a:srgbClr val="0070C0"/>
                </a:solidFill>
              </a:endParaRPr>
            </a:p>
            <a:p>
              <a:pPr algn="ctr">
                <a:lnSpc>
                  <a:spcPct val="90000"/>
                </a:lnSpc>
              </a:pPr>
              <a:r>
                <a:rPr lang="es-ES" sz="1600" dirty="0" err="1">
                  <a:solidFill>
                    <a:srgbClr val="0070C0"/>
                  </a:solidFill>
                </a:rPr>
                <a:t>float</a:t>
              </a:r>
              <a:endParaRPr lang="es-ES" sz="1600" dirty="0">
                <a:solidFill>
                  <a:srgbClr val="0070C0"/>
                </a:solidFill>
              </a:endParaRPr>
            </a:p>
            <a:p>
              <a:pPr algn="ctr">
                <a:lnSpc>
                  <a:spcPct val="90000"/>
                </a:lnSpc>
              </a:pPr>
              <a:r>
                <a:rPr lang="es-ES" sz="1600" dirty="0" err="1">
                  <a:solidFill>
                    <a:srgbClr val="0070C0"/>
                  </a:solidFill>
                </a:rPr>
                <a:t>long</a:t>
              </a:r>
              <a:endParaRPr lang="es-ES" sz="1600" dirty="0">
                <a:solidFill>
                  <a:srgbClr val="0070C0"/>
                </a:solidFill>
              </a:endParaRPr>
            </a:p>
            <a:p>
              <a:pPr algn="ctr">
                <a:lnSpc>
                  <a:spcPct val="90000"/>
                </a:lnSpc>
              </a:pPr>
              <a:r>
                <a:rPr lang="es-ES" sz="1600" dirty="0" err="1">
                  <a:solidFill>
                    <a:srgbClr val="0070C0"/>
                  </a:solidFill>
                </a:rPr>
                <a:t>int</a:t>
              </a:r>
              <a:endParaRPr lang="es-ES" sz="1600" dirty="0">
                <a:solidFill>
                  <a:srgbClr val="0070C0"/>
                </a:solidFill>
              </a:endParaRPr>
            </a:p>
            <a:p>
              <a:pPr algn="ctr">
                <a:lnSpc>
                  <a:spcPct val="90000"/>
                </a:lnSpc>
              </a:pPr>
              <a:r>
                <a:rPr lang="es-ES" sz="1600" dirty="0">
                  <a:solidFill>
                    <a:srgbClr val="0070C0"/>
                  </a:solidFill>
                </a:rPr>
                <a:t>short</a:t>
              </a:r>
            </a:p>
            <a:p>
              <a:pPr algn="ctr">
                <a:lnSpc>
                  <a:spcPct val="90000"/>
                </a:lnSpc>
              </a:pPr>
              <a:r>
                <a:rPr lang="es-ES" sz="1600" dirty="0">
                  <a:solidFill>
                    <a:srgbClr val="0070C0"/>
                  </a:solidFill>
                </a:rPr>
                <a:t>byte</a:t>
              </a:r>
            </a:p>
          </p:txBody>
        </p:sp>
      </p:grpSp>
      <p:grpSp>
        <p:nvGrpSpPr>
          <p:cNvPr id="171" name="170 Grupo"/>
          <p:cNvGrpSpPr/>
          <p:nvPr/>
        </p:nvGrpSpPr>
        <p:grpSpPr>
          <a:xfrm>
            <a:off x="513287" y="4797152"/>
            <a:ext cx="1026619" cy="1462544"/>
            <a:chOff x="130988" y="2758544"/>
            <a:chExt cx="1026619" cy="1462544"/>
          </a:xfrm>
        </p:grpSpPr>
        <p:sp>
          <p:nvSpPr>
            <p:cNvPr id="172" name="171 Trapecio"/>
            <p:cNvSpPr/>
            <p:nvPr/>
          </p:nvSpPr>
          <p:spPr bwMode="auto">
            <a:xfrm flipV="1">
              <a:off x="130988" y="2758544"/>
              <a:ext cx="1026619" cy="1462544"/>
            </a:xfrm>
            <a:prstGeom prst="trapezoid">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73" name="172 CuadroTexto"/>
            <p:cNvSpPr txBox="1"/>
            <p:nvPr/>
          </p:nvSpPr>
          <p:spPr>
            <a:xfrm>
              <a:off x="244990" y="2799160"/>
              <a:ext cx="798617" cy="1421928"/>
            </a:xfrm>
            <a:prstGeom prst="rect">
              <a:avLst/>
            </a:prstGeom>
            <a:noFill/>
          </p:spPr>
          <p:txBody>
            <a:bodyPr wrap="none" rtlCol="0">
              <a:spAutoFit/>
            </a:bodyPr>
            <a:lstStyle/>
            <a:p>
              <a:pPr algn="ctr">
                <a:lnSpc>
                  <a:spcPct val="90000"/>
                </a:lnSpc>
              </a:pPr>
              <a:r>
                <a:rPr lang="es-ES" sz="1600" dirty="0" err="1">
                  <a:solidFill>
                    <a:srgbClr val="0070C0"/>
                  </a:solidFill>
                </a:rPr>
                <a:t>double</a:t>
              </a:r>
              <a:endParaRPr lang="es-ES" sz="1600" dirty="0">
                <a:solidFill>
                  <a:srgbClr val="0070C0"/>
                </a:solidFill>
              </a:endParaRPr>
            </a:p>
            <a:p>
              <a:pPr algn="ctr">
                <a:lnSpc>
                  <a:spcPct val="90000"/>
                </a:lnSpc>
              </a:pPr>
              <a:r>
                <a:rPr lang="es-ES" sz="1600" dirty="0" err="1">
                  <a:solidFill>
                    <a:srgbClr val="0070C0"/>
                  </a:solidFill>
                </a:rPr>
                <a:t>float</a:t>
              </a:r>
              <a:endParaRPr lang="es-ES" sz="1600" dirty="0">
                <a:solidFill>
                  <a:srgbClr val="0070C0"/>
                </a:solidFill>
              </a:endParaRPr>
            </a:p>
            <a:p>
              <a:pPr algn="ctr">
                <a:lnSpc>
                  <a:spcPct val="90000"/>
                </a:lnSpc>
              </a:pPr>
              <a:r>
                <a:rPr lang="es-ES" sz="1600" dirty="0" err="1">
                  <a:solidFill>
                    <a:srgbClr val="0070C0"/>
                  </a:solidFill>
                </a:rPr>
                <a:t>long</a:t>
              </a:r>
              <a:endParaRPr lang="es-ES" sz="1600" dirty="0">
                <a:solidFill>
                  <a:srgbClr val="0070C0"/>
                </a:solidFill>
              </a:endParaRPr>
            </a:p>
            <a:p>
              <a:pPr algn="ctr">
                <a:lnSpc>
                  <a:spcPct val="90000"/>
                </a:lnSpc>
              </a:pPr>
              <a:r>
                <a:rPr lang="es-ES" sz="1600" dirty="0" err="1">
                  <a:solidFill>
                    <a:srgbClr val="0070C0"/>
                  </a:solidFill>
                </a:rPr>
                <a:t>int</a:t>
              </a:r>
              <a:endParaRPr lang="es-ES" sz="1600" dirty="0">
                <a:solidFill>
                  <a:srgbClr val="0070C0"/>
                </a:solidFill>
              </a:endParaRPr>
            </a:p>
            <a:p>
              <a:pPr algn="ctr">
                <a:lnSpc>
                  <a:spcPct val="90000"/>
                </a:lnSpc>
              </a:pPr>
              <a:r>
                <a:rPr lang="es-ES" sz="1600" dirty="0">
                  <a:solidFill>
                    <a:srgbClr val="0070C0"/>
                  </a:solidFill>
                </a:rPr>
                <a:t>short</a:t>
              </a:r>
            </a:p>
            <a:p>
              <a:pPr algn="ctr">
                <a:lnSpc>
                  <a:spcPct val="90000"/>
                </a:lnSpc>
              </a:pPr>
              <a:r>
                <a:rPr lang="es-ES" sz="1600" dirty="0">
                  <a:solidFill>
                    <a:srgbClr val="0070C0"/>
                  </a:solidFill>
                </a:rPr>
                <a:t>byte</a:t>
              </a:r>
            </a:p>
          </p:txBody>
        </p:sp>
      </p:grpSp>
      <p:sp>
        <p:nvSpPr>
          <p:cNvPr id="174" name="173 CuadroTexto"/>
          <p:cNvSpPr txBox="1"/>
          <p:nvPr/>
        </p:nvSpPr>
        <p:spPr>
          <a:xfrm>
            <a:off x="2339752" y="4653136"/>
            <a:ext cx="5688632" cy="338554"/>
          </a:xfrm>
          <a:prstGeom prst="rect">
            <a:avLst/>
          </a:prstGeom>
          <a:noFill/>
        </p:spPr>
        <p:txBody>
          <a:bodyPr wrap="square" rtlCol="0">
            <a:spAutoFit/>
          </a:bodyPr>
          <a:lstStyle/>
          <a:p>
            <a:pPr algn="ctr"/>
            <a:r>
              <a:rPr lang="es-ES" sz="1600" dirty="0">
                <a:solidFill>
                  <a:schemeClr val="bg1">
                    <a:lumMod val="50000"/>
                  </a:schemeClr>
                </a:solidFill>
              </a:rPr>
              <a:t>Como norma general, el resultado será del tipo superior</a:t>
            </a:r>
          </a:p>
        </p:txBody>
      </p:sp>
      <p:grpSp>
        <p:nvGrpSpPr>
          <p:cNvPr id="3" name="2 Grupo"/>
          <p:cNvGrpSpPr/>
          <p:nvPr/>
        </p:nvGrpSpPr>
        <p:grpSpPr>
          <a:xfrm>
            <a:off x="1592266" y="5004275"/>
            <a:ext cx="675478" cy="430825"/>
            <a:chOff x="1448250" y="5004275"/>
            <a:chExt cx="675478" cy="430825"/>
          </a:xfrm>
        </p:grpSpPr>
        <p:grpSp>
          <p:nvGrpSpPr>
            <p:cNvPr id="191" name="190 Grupo"/>
            <p:cNvGrpSpPr/>
            <p:nvPr/>
          </p:nvGrpSpPr>
          <p:grpSpPr>
            <a:xfrm>
              <a:off x="1448250" y="5004275"/>
              <a:ext cx="675478" cy="430825"/>
              <a:chOff x="1258491" y="5004275"/>
              <a:chExt cx="460622" cy="430825"/>
            </a:xfrm>
          </p:grpSpPr>
          <p:cxnSp>
            <p:nvCxnSpPr>
              <p:cNvPr id="176" name="175 Conector angular"/>
              <p:cNvCxnSpPr/>
              <p:nvPr/>
            </p:nvCxnSpPr>
            <p:spPr bwMode="auto">
              <a:xfrm rot="10800000" flipV="1">
                <a:off x="1258671" y="5219700"/>
                <a:ext cx="460442" cy="215400"/>
              </a:xfrm>
              <a:prstGeom prst="bentConnector3">
                <a:avLst>
                  <a:gd name="adj1" fmla="val 50000"/>
                </a:avLst>
              </a:prstGeom>
              <a:solidFill>
                <a:schemeClr val="accent1"/>
              </a:solidFill>
              <a:ln w="12700" cap="flat" cmpd="sng" algn="ctr">
                <a:solidFill>
                  <a:schemeClr val="tx1"/>
                </a:solidFill>
                <a:prstDash val="solid"/>
                <a:round/>
                <a:headEnd type="none" w="med" len="med"/>
                <a:tailEnd type="none" w="med" len="med"/>
              </a:ln>
              <a:effectLst/>
            </p:spPr>
          </p:cxnSp>
          <p:cxnSp>
            <p:nvCxnSpPr>
              <p:cNvPr id="184" name="183 Conector angular"/>
              <p:cNvCxnSpPr/>
              <p:nvPr/>
            </p:nvCxnSpPr>
            <p:spPr bwMode="auto">
              <a:xfrm rot="10800000">
                <a:off x="1258491" y="5004275"/>
                <a:ext cx="460442" cy="215400"/>
              </a:xfrm>
              <a:prstGeom prst="bentConnector3">
                <a:avLst>
                  <a:gd name="adj1" fmla="val 50000"/>
                </a:avLst>
              </a:prstGeom>
              <a:solidFill>
                <a:schemeClr val="accent1"/>
              </a:solidFill>
              <a:ln w="12700" cap="flat" cmpd="sng" algn="ctr">
                <a:solidFill>
                  <a:schemeClr val="tx1"/>
                </a:solidFill>
                <a:prstDash val="solid"/>
                <a:round/>
                <a:headEnd type="none" w="med" len="med"/>
                <a:tailEnd type="none" w="med" len="med"/>
              </a:ln>
              <a:effectLst/>
            </p:spPr>
          </p:cxnSp>
        </p:grpSp>
        <p:sp>
          <p:nvSpPr>
            <p:cNvPr id="186" name="185 Rectángulo"/>
            <p:cNvSpPr/>
            <p:nvPr/>
          </p:nvSpPr>
          <p:spPr bwMode="auto">
            <a:xfrm>
              <a:off x="1680128" y="5111987"/>
              <a:ext cx="258603" cy="215425"/>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92" name="191 CuadroTexto"/>
            <p:cNvSpPr txBox="1"/>
            <p:nvPr/>
          </p:nvSpPr>
          <p:spPr>
            <a:xfrm>
              <a:off x="1652656" y="5059997"/>
              <a:ext cx="319318" cy="341632"/>
            </a:xfrm>
            <a:prstGeom prst="rect">
              <a:avLst/>
            </a:prstGeom>
            <a:noFill/>
          </p:spPr>
          <p:txBody>
            <a:bodyPr wrap="none" rtlCol="0">
              <a:spAutoFit/>
            </a:bodyPr>
            <a:lstStyle/>
            <a:p>
              <a:pPr algn="ctr">
                <a:lnSpc>
                  <a:spcPct val="90000"/>
                </a:lnSpc>
              </a:pPr>
              <a:r>
                <a:rPr lang="es-ES" sz="1800" dirty="0">
                  <a:solidFill>
                    <a:srgbClr val="0070C0"/>
                  </a:solidFill>
                </a:rPr>
                <a:t>+</a:t>
              </a:r>
            </a:p>
          </p:txBody>
        </p:sp>
      </p:grpSp>
      <p:sp>
        <p:nvSpPr>
          <p:cNvPr id="194" name="193 CuadroTexto"/>
          <p:cNvSpPr txBox="1"/>
          <p:nvPr/>
        </p:nvSpPr>
        <p:spPr>
          <a:xfrm>
            <a:off x="5292080" y="5059633"/>
            <a:ext cx="1420582" cy="313932"/>
          </a:xfrm>
          <a:prstGeom prst="rect">
            <a:avLst/>
          </a:prstGeom>
          <a:noFill/>
        </p:spPr>
        <p:txBody>
          <a:bodyPr wrap="none" rtlCol="0">
            <a:spAutoFit/>
          </a:bodyPr>
          <a:lstStyle/>
          <a:p>
            <a:pPr algn="ctr">
              <a:lnSpc>
                <a:spcPct val="90000"/>
              </a:lnSpc>
            </a:pPr>
            <a:r>
              <a:rPr lang="es-ES" sz="1600" dirty="0" err="1">
                <a:solidFill>
                  <a:srgbClr val="0070C0"/>
                </a:solidFill>
              </a:rPr>
              <a:t>double</a:t>
            </a:r>
            <a:r>
              <a:rPr lang="es-ES" sz="1600" dirty="0">
                <a:solidFill>
                  <a:srgbClr val="0070C0"/>
                </a:solidFill>
              </a:rPr>
              <a:t> + </a:t>
            </a:r>
            <a:r>
              <a:rPr lang="es-ES" sz="1600" dirty="0" err="1">
                <a:solidFill>
                  <a:srgbClr val="0070C0"/>
                </a:solidFill>
              </a:rPr>
              <a:t>long</a:t>
            </a:r>
            <a:endParaRPr lang="es-ES" sz="1600" dirty="0">
              <a:solidFill>
                <a:srgbClr val="0070C0"/>
              </a:solidFill>
            </a:endParaRPr>
          </a:p>
        </p:txBody>
      </p:sp>
      <p:grpSp>
        <p:nvGrpSpPr>
          <p:cNvPr id="4" name="3 Grupo"/>
          <p:cNvGrpSpPr/>
          <p:nvPr/>
        </p:nvGrpSpPr>
        <p:grpSpPr>
          <a:xfrm>
            <a:off x="3913281" y="5059633"/>
            <a:ext cx="1096447" cy="313932"/>
            <a:chOff x="3769265" y="5059633"/>
            <a:chExt cx="1096447" cy="313932"/>
          </a:xfrm>
        </p:grpSpPr>
        <p:sp>
          <p:nvSpPr>
            <p:cNvPr id="193" name="192 CuadroTexto"/>
            <p:cNvSpPr txBox="1"/>
            <p:nvPr/>
          </p:nvSpPr>
          <p:spPr>
            <a:xfrm>
              <a:off x="3769265" y="5059633"/>
              <a:ext cx="856325" cy="313932"/>
            </a:xfrm>
            <a:prstGeom prst="rect">
              <a:avLst/>
            </a:prstGeom>
            <a:noFill/>
          </p:spPr>
          <p:txBody>
            <a:bodyPr wrap="none" rtlCol="0">
              <a:spAutoFit/>
            </a:bodyPr>
            <a:lstStyle/>
            <a:p>
              <a:pPr algn="ctr">
                <a:lnSpc>
                  <a:spcPct val="90000"/>
                </a:lnSpc>
              </a:pPr>
              <a:r>
                <a:rPr lang="es-ES" sz="1600" b="1" dirty="0" err="1">
                  <a:solidFill>
                    <a:srgbClr val="0070C0"/>
                  </a:solidFill>
                </a:rPr>
                <a:t>double</a:t>
              </a:r>
              <a:endParaRPr lang="es-ES" sz="1600" b="1" dirty="0">
                <a:solidFill>
                  <a:srgbClr val="0070C0"/>
                </a:solidFill>
              </a:endParaRPr>
            </a:p>
          </p:txBody>
        </p:sp>
        <p:sp>
          <p:nvSpPr>
            <p:cNvPr id="196" name="195 Flecha arriba"/>
            <p:cNvSpPr/>
            <p:nvPr/>
          </p:nvSpPr>
          <p:spPr bwMode="auto">
            <a:xfrm rot="5400000" flipV="1">
              <a:off x="4689027" y="5105473"/>
              <a:ext cx="148694" cy="204676"/>
            </a:xfrm>
            <a:prstGeom prst="upArrow">
              <a:avLst/>
            </a:prstGeom>
            <a:solidFill>
              <a:schemeClr val="accent1">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7" name="6 Grupo"/>
          <p:cNvGrpSpPr/>
          <p:nvPr/>
        </p:nvGrpSpPr>
        <p:grpSpPr>
          <a:xfrm>
            <a:off x="1449391" y="5841717"/>
            <a:ext cx="675478" cy="313932"/>
            <a:chOff x="1449391" y="5841717"/>
            <a:chExt cx="675478" cy="313932"/>
          </a:xfrm>
        </p:grpSpPr>
        <p:grpSp>
          <p:nvGrpSpPr>
            <p:cNvPr id="202" name="201 Grupo"/>
            <p:cNvGrpSpPr/>
            <p:nvPr/>
          </p:nvGrpSpPr>
          <p:grpSpPr>
            <a:xfrm>
              <a:off x="1449391" y="5842525"/>
              <a:ext cx="675478" cy="278124"/>
              <a:chOff x="1258491" y="5004275"/>
              <a:chExt cx="460622" cy="430825"/>
            </a:xfrm>
          </p:grpSpPr>
          <p:cxnSp>
            <p:nvCxnSpPr>
              <p:cNvPr id="205" name="204 Conector angular"/>
              <p:cNvCxnSpPr/>
              <p:nvPr/>
            </p:nvCxnSpPr>
            <p:spPr bwMode="auto">
              <a:xfrm rot="10800000" flipV="1">
                <a:off x="1258671" y="5219700"/>
                <a:ext cx="460442" cy="215400"/>
              </a:xfrm>
              <a:prstGeom prst="bentConnector3">
                <a:avLst>
                  <a:gd name="adj1" fmla="val 50000"/>
                </a:avLst>
              </a:prstGeom>
              <a:solidFill>
                <a:schemeClr val="accent1"/>
              </a:solidFill>
              <a:ln w="12700" cap="flat" cmpd="sng" algn="ctr">
                <a:solidFill>
                  <a:schemeClr val="tx1"/>
                </a:solidFill>
                <a:prstDash val="solid"/>
                <a:round/>
                <a:headEnd type="none" w="med" len="med"/>
                <a:tailEnd type="none" w="med" len="med"/>
              </a:ln>
              <a:effectLst/>
            </p:spPr>
          </p:cxnSp>
          <p:cxnSp>
            <p:nvCxnSpPr>
              <p:cNvPr id="206" name="205 Conector angular"/>
              <p:cNvCxnSpPr/>
              <p:nvPr/>
            </p:nvCxnSpPr>
            <p:spPr bwMode="auto">
              <a:xfrm rot="10800000">
                <a:off x="1258491" y="5004275"/>
                <a:ext cx="460442" cy="215400"/>
              </a:xfrm>
              <a:prstGeom prst="bentConnector3">
                <a:avLst>
                  <a:gd name="adj1" fmla="val 50000"/>
                </a:avLst>
              </a:prstGeom>
              <a:solidFill>
                <a:schemeClr val="accent1"/>
              </a:solidFill>
              <a:ln w="12700" cap="flat" cmpd="sng" algn="ctr">
                <a:solidFill>
                  <a:schemeClr val="tx1"/>
                </a:solidFill>
                <a:prstDash val="solid"/>
                <a:round/>
                <a:headEnd type="none" w="med" len="med"/>
                <a:tailEnd type="none" w="med" len="med"/>
              </a:ln>
              <a:effectLst/>
            </p:spPr>
          </p:cxnSp>
        </p:grpSp>
        <p:sp>
          <p:nvSpPr>
            <p:cNvPr id="203" name="202 Rectángulo"/>
            <p:cNvSpPr/>
            <p:nvPr/>
          </p:nvSpPr>
          <p:spPr bwMode="auto">
            <a:xfrm>
              <a:off x="1705165" y="5902739"/>
              <a:ext cx="163697" cy="158861"/>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04" name="203 CuadroTexto"/>
            <p:cNvSpPr txBox="1"/>
            <p:nvPr/>
          </p:nvSpPr>
          <p:spPr>
            <a:xfrm>
              <a:off x="1610757" y="5841717"/>
              <a:ext cx="362804" cy="313932"/>
            </a:xfrm>
            <a:prstGeom prst="rect">
              <a:avLst/>
            </a:prstGeom>
            <a:noFill/>
          </p:spPr>
          <p:txBody>
            <a:bodyPr wrap="square" rtlCol="0">
              <a:spAutoFit/>
            </a:bodyPr>
            <a:lstStyle/>
            <a:p>
              <a:pPr algn="ctr">
                <a:lnSpc>
                  <a:spcPct val="90000"/>
                </a:lnSpc>
              </a:pPr>
              <a:r>
                <a:rPr lang="es-ES" sz="1600" dirty="0">
                  <a:solidFill>
                    <a:srgbClr val="0070C0"/>
                  </a:solidFill>
                </a:rPr>
                <a:t>+</a:t>
              </a:r>
            </a:p>
          </p:txBody>
        </p:sp>
      </p:grpSp>
      <p:sp>
        <p:nvSpPr>
          <p:cNvPr id="208" name="207 CuadroTexto"/>
          <p:cNvSpPr txBox="1"/>
          <p:nvPr/>
        </p:nvSpPr>
        <p:spPr>
          <a:xfrm>
            <a:off x="2339752" y="5444875"/>
            <a:ext cx="5688632" cy="338554"/>
          </a:xfrm>
          <a:prstGeom prst="rect">
            <a:avLst/>
          </a:prstGeom>
          <a:noFill/>
        </p:spPr>
        <p:txBody>
          <a:bodyPr wrap="square" rtlCol="0">
            <a:spAutoFit/>
          </a:bodyPr>
          <a:lstStyle/>
          <a:p>
            <a:pPr algn="ctr"/>
            <a:r>
              <a:rPr lang="es-ES" sz="1600" dirty="0">
                <a:solidFill>
                  <a:schemeClr val="bg1">
                    <a:lumMod val="50000"/>
                  </a:schemeClr>
                </a:solidFill>
              </a:rPr>
              <a:t>Como mínimo, el resultado será </a:t>
            </a:r>
            <a:r>
              <a:rPr lang="es-ES" sz="1600" b="1" dirty="0" err="1">
                <a:solidFill>
                  <a:schemeClr val="tx1">
                    <a:lumMod val="60000"/>
                    <a:lumOff val="40000"/>
                  </a:schemeClr>
                </a:solidFill>
              </a:rPr>
              <a:t>int</a:t>
            </a:r>
            <a:endParaRPr lang="es-ES" sz="1600" b="1" dirty="0">
              <a:solidFill>
                <a:schemeClr val="tx1">
                  <a:lumMod val="60000"/>
                  <a:lumOff val="40000"/>
                </a:schemeClr>
              </a:solidFill>
            </a:endParaRPr>
          </a:p>
        </p:txBody>
      </p:sp>
      <p:sp>
        <p:nvSpPr>
          <p:cNvPr id="210" name="209 CuadroTexto"/>
          <p:cNvSpPr txBox="1"/>
          <p:nvPr/>
        </p:nvSpPr>
        <p:spPr>
          <a:xfrm>
            <a:off x="5173381" y="5851372"/>
            <a:ext cx="1265090" cy="313932"/>
          </a:xfrm>
          <a:prstGeom prst="rect">
            <a:avLst/>
          </a:prstGeom>
          <a:noFill/>
        </p:spPr>
        <p:txBody>
          <a:bodyPr wrap="none" rtlCol="0">
            <a:spAutoFit/>
          </a:bodyPr>
          <a:lstStyle/>
          <a:p>
            <a:pPr algn="ctr">
              <a:lnSpc>
                <a:spcPct val="90000"/>
              </a:lnSpc>
            </a:pPr>
            <a:r>
              <a:rPr lang="es-ES" sz="1600" dirty="0">
                <a:solidFill>
                  <a:srgbClr val="0070C0"/>
                </a:solidFill>
              </a:rPr>
              <a:t>short + byte</a:t>
            </a:r>
          </a:p>
        </p:txBody>
      </p:sp>
      <p:grpSp>
        <p:nvGrpSpPr>
          <p:cNvPr id="6" name="5 Grupo"/>
          <p:cNvGrpSpPr/>
          <p:nvPr/>
        </p:nvGrpSpPr>
        <p:grpSpPr>
          <a:xfrm>
            <a:off x="4123274" y="5851372"/>
            <a:ext cx="886454" cy="313932"/>
            <a:chOff x="3979258" y="5851372"/>
            <a:chExt cx="886454" cy="313932"/>
          </a:xfrm>
        </p:grpSpPr>
        <p:sp>
          <p:nvSpPr>
            <p:cNvPr id="209" name="208 CuadroTexto"/>
            <p:cNvSpPr txBox="1"/>
            <p:nvPr/>
          </p:nvSpPr>
          <p:spPr>
            <a:xfrm>
              <a:off x="3979258" y="5851372"/>
              <a:ext cx="436338" cy="313932"/>
            </a:xfrm>
            <a:prstGeom prst="rect">
              <a:avLst/>
            </a:prstGeom>
            <a:noFill/>
          </p:spPr>
          <p:txBody>
            <a:bodyPr wrap="none" rtlCol="0">
              <a:spAutoFit/>
            </a:bodyPr>
            <a:lstStyle/>
            <a:p>
              <a:pPr algn="ctr">
                <a:lnSpc>
                  <a:spcPct val="90000"/>
                </a:lnSpc>
              </a:pPr>
              <a:r>
                <a:rPr lang="es-ES" sz="1600" b="1" dirty="0" err="1">
                  <a:solidFill>
                    <a:srgbClr val="0070C0"/>
                  </a:solidFill>
                </a:rPr>
                <a:t>int</a:t>
              </a:r>
              <a:endParaRPr lang="es-ES" sz="1600" b="1" dirty="0">
                <a:solidFill>
                  <a:srgbClr val="0070C0"/>
                </a:solidFill>
              </a:endParaRPr>
            </a:p>
          </p:txBody>
        </p:sp>
        <p:sp>
          <p:nvSpPr>
            <p:cNvPr id="211" name="210 Flecha arriba"/>
            <p:cNvSpPr/>
            <p:nvPr/>
          </p:nvSpPr>
          <p:spPr bwMode="auto">
            <a:xfrm rot="5400000" flipV="1">
              <a:off x="4689027" y="5897212"/>
              <a:ext cx="148694" cy="204676"/>
            </a:xfrm>
            <a:prstGeom prst="upArrow">
              <a:avLst/>
            </a:prstGeom>
            <a:solidFill>
              <a:schemeClr val="accent1">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sp>
        <p:nvSpPr>
          <p:cNvPr id="2" name="CuadroTexto 1"/>
          <p:cNvSpPr txBox="1"/>
          <p:nvPr/>
        </p:nvSpPr>
        <p:spPr>
          <a:xfrm>
            <a:off x="3480016" y="3875119"/>
            <a:ext cx="1435008" cy="384721"/>
          </a:xfrm>
          <a:prstGeom prst="rect">
            <a:avLst/>
          </a:prstGeom>
          <a:noFill/>
        </p:spPr>
        <p:txBody>
          <a:bodyPr wrap="square" rtlCol="0">
            <a:spAutoFit/>
          </a:bodyPr>
          <a:lstStyle/>
          <a:p>
            <a:r>
              <a:rPr lang="es-ES_tradnl" dirty="0" err="1"/>
              <a:t>Impl</a:t>
            </a:r>
            <a:r>
              <a:rPr lang="es-ES" dirty="0" err="1"/>
              <a:t>ícita</a:t>
            </a:r>
            <a:endParaRPr lang="es-ES_tradnl" dirty="0"/>
          </a:p>
        </p:txBody>
      </p:sp>
      <p:sp>
        <p:nvSpPr>
          <p:cNvPr id="81" name="CuadroTexto 80"/>
          <p:cNvSpPr txBox="1"/>
          <p:nvPr/>
        </p:nvSpPr>
        <p:spPr>
          <a:xfrm>
            <a:off x="6957118" y="3968855"/>
            <a:ext cx="1435008" cy="384721"/>
          </a:xfrm>
          <a:prstGeom prst="rect">
            <a:avLst/>
          </a:prstGeom>
          <a:noFill/>
        </p:spPr>
        <p:txBody>
          <a:bodyPr wrap="square" rtlCol="0">
            <a:spAutoFit/>
          </a:bodyPr>
          <a:lstStyle/>
          <a:p>
            <a:r>
              <a:rPr lang="es-ES" dirty="0"/>
              <a:t>Explícita</a:t>
            </a:r>
            <a:endParaRPr lang="es-ES_tradnl" dirty="0"/>
          </a:p>
        </p:txBody>
      </p:sp>
    </p:spTree>
    <p:extLst>
      <p:ext uri="{BB962C8B-B14F-4D97-AF65-F5344CB8AC3E}">
        <p14:creationId xmlns:p14="http://schemas.microsoft.com/office/powerpoint/2010/main" val="2465472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p:cTn id="11" dur="500" fill="hold"/>
                                        <p:tgtEl>
                                          <p:spTgt spid="29"/>
                                        </p:tgtEl>
                                        <p:attrNameLst>
                                          <p:attrName>ppt_w</p:attrName>
                                        </p:attrNameLst>
                                      </p:cBhvr>
                                      <p:tavLst>
                                        <p:tav tm="0">
                                          <p:val>
                                            <p:fltVal val="0"/>
                                          </p:val>
                                        </p:tav>
                                        <p:tav tm="100000">
                                          <p:val>
                                            <p:strVal val="#ppt_w"/>
                                          </p:val>
                                        </p:tav>
                                      </p:tavLst>
                                    </p:anim>
                                    <p:anim calcmode="lin" valueType="num">
                                      <p:cBhvr>
                                        <p:cTn id="12" dur="500" fill="hold"/>
                                        <p:tgtEl>
                                          <p:spTgt spid="29"/>
                                        </p:tgtEl>
                                        <p:attrNameLst>
                                          <p:attrName>ppt_h</p:attrName>
                                        </p:attrNameLst>
                                      </p:cBhvr>
                                      <p:tavLst>
                                        <p:tav tm="0">
                                          <p:val>
                                            <p:fltVal val="0"/>
                                          </p:val>
                                        </p:tav>
                                        <p:tav tm="100000">
                                          <p:val>
                                            <p:strVal val="#ppt_h"/>
                                          </p:val>
                                        </p:tav>
                                      </p:tavLst>
                                    </p:anim>
                                    <p:animEffect transition="in" filter="fade">
                                      <p:cBhvr>
                                        <p:cTn id="13" dur="500"/>
                                        <p:tgtEl>
                                          <p:spTgt spid="29"/>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5"/>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5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50"/>
                                        </p:tgtEl>
                                        <p:attrNameLst>
                                          <p:attrName>style.visibility</p:attrName>
                                        </p:attrNameLst>
                                      </p:cBhvr>
                                      <p:to>
                                        <p:strVal val="visible"/>
                                      </p:to>
                                    </p:set>
                                    <p:anim calcmode="lin" valueType="num">
                                      <p:cBhvr>
                                        <p:cTn id="38" dur="500" fill="hold"/>
                                        <p:tgtEl>
                                          <p:spTgt spid="50"/>
                                        </p:tgtEl>
                                        <p:attrNameLst>
                                          <p:attrName>ppt_w</p:attrName>
                                        </p:attrNameLst>
                                      </p:cBhvr>
                                      <p:tavLst>
                                        <p:tav tm="0">
                                          <p:val>
                                            <p:fltVal val="0"/>
                                          </p:val>
                                        </p:tav>
                                        <p:tav tm="100000">
                                          <p:val>
                                            <p:strVal val="#ppt_w"/>
                                          </p:val>
                                        </p:tav>
                                      </p:tavLst>
                                    </p:anim>
                                    <p:anim calcmode="lin" valueType="num">
                                      <p:cBhvr>
                                        <p:cTn id="39" dur="500" fill="hold"/>
                                        <p:tgtEl>
                                          <p:spTgt spid="50"/>
                                        </p:tgtEl>
                                        <p:attrNameLst>
                                          <p:attrName>ppt_h</p:attrName>
                                        </p:attrNameLst>
                                      </p:cBhvr>
                                      <p:tavLst>
                                        <p:tav tm="0">
                                          <p:val>
                                            <p:fltVal val="0"/>
                                          </p:val>
                                        </p:tav>
                                        <p:tav tm="100000">
                                          <p:val>
                                            <p:strVal val="#ppt_h"/>
                                          </p:val>
                                        </p:tav>
                                      </p:tavLst>
                                    </p:anim>
                                    <p:animEffect transition="in" filter="fade">
                                      <p:cBhvr>
                                        <p:cTn id="40" dur="500"/>
                                        <p:tgtEl>
                                          <p:spTgt spid="50"/>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grpId="0" nodeType="clickEffect">
                                  <p:stCondLst>
                                    <p:cond delay="0"/>
                                  </p:stCondLst>
                                  <p:childTnLst>
                                    <p:set>
                                      <p:cBhvr>
                                        <p:cTn id="52" dur="1" fill="hold">
                                          <p:stCondLst>
                                            <p:cond delay="0"/>
                                          </p:stCondLst>
                                        </p:cTn>
                                        <p:tgtEl>
                                          <p:spTgt spid="56"/>
                                        </p:tgtEl>
                                        <p:attrNameLst>
                                          <p:attrName>style.visibility</p:attrName>
                                        </p:attrNameLst>
                                      </p:cBhvr>
                                      <p:to>
                                        <p:strVal val="visible"/>
                                      </p:to>
                                    </p:set>
                                    <p:anim calcmode="lin" valueType="num">
                                      <p:cBhvr>
                                        <p:cTn id="53" dur="500" fill="hold"/>
                                        <p:tgtEl>
                                          <p:spTgt spid="56"/>
                                        </p:tgtEl>
                                        <p:attrNameLst>
                                          <p:attrName>ppt_w</p:attrName>
                                        </p:attrNameLst>
                                      </p:cBhvr>
                                      <p:tavLst>
                                        <p:tav tm="0">
                                          <p:val>
                                            <p:fltVal val="0"/>
                                          </p:val>
                                        </p:tav>
                                        <p:tav tm="100000">
                                          <p:val>
                                            <p:strVal val="#ppt_w"/>
                                          </p:val>
                                        </p:tav>
                                      </p:tavLst>
                                    </p:anim>
                                    <p:anim calcmode="lin" valueType="num">
                                      <p:cBhvr>
                                        <p:cTn id="54" dur="500" fill="hold"/>
                                        <p:tgtEl>
                                          <p:spTgt spid="56"/>
                                        </p:tgtEl>
                                        <p:attrNameLst>
                                          <p:attrName>ppt_h</p:attrName>
                                        </p:attrNameLst>
                                      </p:cBhvr>
                                      <p:tavLst>
                                        <p:tav tm="0">
                                          <p:val>
                                            <p:fltVal val="0"/>
                                          </p:val>
                                        </p:tav>
                                        <p:tav tm="100000">
                                          <p:val>
                                            <p:strVal val="#ppt_h"/>
                                          </p:val>
                                        </p:tav>
                                      </p:tavLst>
                                    </p:anim>
                                    <p:animEffect transition="in" filter="fade">
                                      <p:cBhvr>
                                        <p:cTn id="55" dur="500"/>
                                        <p:tgtEl>
                                          <p:spTgt spid="56"/>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128"/>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29"/>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130"/>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131"/>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132"/>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53" presetClass="entr" presetSubtype="16" fill="hold" grpId="0" nodeType="clickEffect">
                                  <p:stCondLst>
                                    <p:cond delay="0"/>
                                  </p:stCondLst>
                                  <p:childTnLst>
                                    <p:set>
                                      <p:cBhvr>
                                        <p:cTn id="73" dur="1" fill="hold">
                                          <p:stCondLst>
                                            <p:cond delay="0"/>
                                          </p:stCondLst>
                                        </p:cTn>
                                        <p:tgtEl>
                                          <p:spTgt spid="58"/>
                                        </p:tgtEl>
                                        <p:attrNameLst>
                                          <p:attrName>style.visibility</p:attrName>
                                        </p:attrNameLst>
                                      </p:cBhvr>
                                      <p:to>
                                        <p:strVal val="visible"/>
                                      </p:to>
                                    </p:set>
                                    <p:anim calcmode="lin" valueType="num">
                                      <p:cBhvr>
                                        <p:cTn id="74" dur="500" fill="hold"/>
                                        <p:tgtEl>
                                          <p:spTgt spid="58"/>
                                        </p:tgtEl>
                                        <p:attrNameLst>
                                          <p:attrName>ppt_w</p:attrName>
                                        </p:attrNameLst>
                                      </p:cBhvr>
                                      <p:tavLst>
                                        <p:tav tm="0">
                                          <p:val>
                                            <p:fltVal val="0"/>
                                          </p:val>
                                        </p:tav>
                                        <p:tav tm="100000">
                                          <p:val>
                                            <p:strVal val="#ppt_w"/>
                                          </p:val>
                                        </p:tav>
                                      </p:tavLst>
                                    </p:anim>
                                    <p:anim calcmode="lin" valueType="num">
                                      <p:cBhvr>
                                        <p:cTn id="75" dur="500" fill="hold"/>
                                        <p:tgtEl>
                                          <p:spTgt spid="58"/>
                                        </p:tgtEl>
                                        <p:attrNameLst>
                                          <p:attrName>ppt_h</p:attrName>
                                        </p:attrNameLst>
                                      </p:cBhvr>
                                      <p:tavLst>
                                        <p:tav tm="0">
                                          <p:val>
                                            <p:fltVal val="0"/>
                                          </p:val>
                                        </p:tav>
                                        <p:tav tm="100000">
                                          <p:val>
                                            <p:strVal val="#ppt_h"/>
                                          </p:val>
                                        </p:tav>
                                      </p:tavLst>
                                    </p:anim>
                                    <p:animEffect transition="in" filter="fade">
                                      <p:cBhvr>
                                        <p:cTn id="76" dur="500"/>
                                        <p:tgtEl>
                                          <p:spTgt spid="58"/>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0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08"/>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11"/>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12"/>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1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1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6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4" presetClass="entr" presetSubtype="16" fill="hold" grpId="0" nodeType="clickEffect">
                                  <p:stCondLst>
                                    <p:cond delay="0"/>
                                  </p:stCondLst>
                                  <p:childTnLst>
                                    <p:set>
                                      <p:cBhvr>
                                        <p:cTn id="98" dur="1" fill="hold">
                                          <p:stCondLst>
                                            <p:cond delay="0"/>
                                          </p:stCondLst>
                                        </p:cTn>
                                        <p:tgtEl>
                                          <p:spTgt spid="2"/>
                                        </p:tgtEl>
                                        <p:attrNameLst>
                                          <p:attrName>style.visibility</p:attrName>
                                        </p:attrNameLst>
                                      </p:cBhvr>
                                      <p:to>
                                        <p:strVal val="visible"/>
                                      </p:to>
                                    </p:set>
                                    <p:animEffect transition="in" filter="box(in)">
                                      <p:cBhvr>
                                        <p:cTn id="99" dur="500"/>
                                        <p:tgtEl>
                                          <p:spTgt spid="2"/>
                                        </p:tgtEl>
                                      </p:cBhvr>
                                    </p:animEffect>
                                  </p:childTnLst>
                                </p:cTn>
                              </p:par>
                            </p:childTnLst>
                          </p:cTn>
                        </p:par>
                      </p:childTnLst>
                    </p:cTn>
                  </p:par>
                  <p:par>
                    <p:cTn id="100" fill="hold">
                      <p:stCondLst>
                        <p:cond delay="indefinite"/>
                      </p:stCondLst>
                      <p:childTnLst>
                        <p:par>
                          <p:cTn id="101" fill="hold">
                            <p:stCondLst>
                              <p:cond delay="0"/>
                            </p:stCondLst>
                            <p:childTnLst>
                              <p:par>
                                <p:cTn id="102" presetID="53" presetClass="entr" presetSubtype="16" fill="hold" grpId="0" nodeType="clickEffect">
                                  <p:stCondLst>
                                    <p:cond delay="0"/>
                                  </p:stCondLst>
                                  <p:childTnLst>
                                    <p:set>
                                      <p:cBhvr>
                                        <p:cTn id="103" dur="1" fill="hold">
                                          <p:stCondLst>
                                            <p:cond delay="0"/>
                                          </p:stCondLst>
                                        </p:cTn>
                                        <p:tgtEl>
                                          <p:spTgt spid="59"/>
                                        </p:tgtEl>
                                        <p:attrNameLst>
                                          <p:attrName>style.visibility</p:attrName>
                                        </p:attrNameLst>
                                      </p:cBhvr>
                                      <p:to>
                                        <p:strVal val="visible"/>
                                      </p:to>
                                    </p:set>
                                    <p:anim calcmode="lin" valueType="num">
                                      <p:cBhvr>
                                        <p:cTn id="104" dur="500" fill="hold"/>
                                        <p:tgtEl>
                                          <p:spTgt spid="59"/>
                                        </p:tgtEl>
                                        <p:attrNameLst>
                                          <p:attrName>ppt_w</p:attrName>
                                        </p:attrNameLst>
                                      </p:cBhvr>
                                      <p:tavLst>
                                        <p:tav tm="0">
                                          <p:val>
                                            <p:fltVal val="0"/>
                                          </p:val>
                                        </p:tav>
                                        <p:tav tm="100000">
                                          <p:val>
                                            <p:strVal val="#ppt_w"/>
                                          </p:val>
                                        </p:tav>
                                      </p:tavLst>
                                    </p:anim>
                                    <p:anim calcmode="lin" valueType="num">
                                      <p:cBhvr>
                                        <p:cTn id="105" dur="500" fill="hold"/>
                                        <p:tgtEl>
                                          <p:spTgt spid="59"/>
                                        </p:tgtEl>
                                        <p:attrNameLst>
                                          <p:attrName>ppt_h</p:attrName>
                                        </p:attrNameLst>
                                      </p:cBhvr>
                                      <p:tavLst>
                                        <p:tav tm="0">
                                          <p:val>
                                            <p:fltVal val="0"/>
                                          </p:val>
                                        </p:tav>
                                        <p:tav tm="100000">
                                          <p:val>
                                            <p:strVal val="#ppt_h"/>
                                          </p:val>
                                        </p:tav>
                                      </p:tavLst>
                                    </p:anim>
                                    <p:animEffect transition="in" filter="fade">
                                      <p:cBhvr>
                                        <p:cTn id="106" dur="500"/>
                                        <p:tgtEl>
                                          <p:spTgt spid="59"/>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16"/>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17"/>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118"/>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19"/>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20"/>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21"/>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62"/>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122"/>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23"/>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124"/>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25"/>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26"/>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27"/>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53" presetClass="entr" presetSubtype="16" fill="hold" grpId="0" nodeType="clickEffect">
                                  <p:stCondLst>
                                    <p:cond delay="0"/>
                                  </p:stCondLst>
                                  <p:childTnLst>
                                    <p:set>
                                      <p:cBhvr>
                                        <p:cTn id="142" dur="1" fill="hold">
                                          <p:stCondLst>
                                            <p:cond delay="0"/>
                                          </p:stCondLst>
                                        </p:cTn>
                                        <p:tgtEl>
                                          <p:spTgt spid="60"/>
                                        </p:tgtEl>
                                        <p:attrNameLst>
                                          <p:attrName>style.visibility</p:attrName>
                                        </p:attrNameLst>
                                      </p:cBhvr>
                                      <p:to>
                                        <p:strVal val="visible"/>
                                      </p:to>
                                    </p:set>
                                    <p:anim calcmode="lin" valueType="num">
                                      <p:cBhvr>
                                        <p:cTn id="143" dur="500" fill="hold"/>
                                        <p:tgtEl>
                                          <p:spTgt spid="60"/>
                                        </p:tgtEl>
                                        <p:attrNameLst>
                                          <p:attrName>ppt_w</p:attrName>
                                        </p:attrNameLst>
                                      </p:cBhvr>
                                      <p:tavLst>
                                        <p:tav tm="0">
                                          <p:val>
                                            <p:fltVal val="0"/>
                                          </p:val>
                                        </p:tav>
                                        <p:tav tm="100000">
                                          <p:val>
                                            <p:strVal val="#ppt_w"/>
                                          </p:val>
                                        </p:tav>
                                      </p:tavLst>
                                    </p:anim>
                                    <p:anim calcmode="lin" valueType="num">
                                      <p:cBhvr>
                                        <p:cTn id="144" dur="500" fill="hold"/>
                                        <p:tgtEl>
                                          <p:spTgt spid="60"/>
                                        </p:tgtEl>
                                        <p:attrNameLst>
                                          <p:attrName>ppt_h</p:attrName>
                                        </p:attrNameLst>
                                      </p:cBhvr>
                                      <p:tavLst>
                                        <p:tav tm="0">
                                          <p:val>
                                            <p:fltVal val="0"/>
                                          </p:val>
                                        </p:tav>
                                        <p:tav tm="100000">
                                          <p:val>
                                            <p:strVal val="#ppt_h"/>
                                          </p:val>
                                        </p:tav>
                                      </p:tavLst>
                                    </p:anim>
                                    <p:animEffect transition="in" filter="fade">
                                      <p:cBhvr>
                                        <p:cTn id="145" dur="500"/>
                                        <p:tgtEl>
                                          <p:spTgt spid="60"/>
                                        </p:tgtEl>
                                      </p:cBhvr>
                                    </p:animEffect>
                                  </p:childTnLst>
                                </p:cTn>
                              </p:par>
                              <p:par>
                                <p:cTn id="146" presetID="1" presetClass="entr" presetSubtype="0" fill="hold" grpId="0" nodeType="withEffect">
                                  <p:stCondLst>
                                    <p:cond delay="0"/>
                                  </p:stCondLst>
                                  <p:childTnLst>
                                    <p:set>
                                      <p:cBhvr>
                                        <p:cTn id="147" dur="1" fill="hold">
                                          <p:stCondLst>
                                            <p:cond delay="0"/>
                                          </p:stCondLst>
                                        </p:cTn>
                                        <p:tgtEl>
                                          <p:spTgt spid="110"/>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4" presetClass="entr" presetSubtype="16" fill="hold" grpId="0" nodeType="clickEffect">
                                  <p:stCondLst>
                                    <p:cond delay="0"/>
                                  </p:stCondLst>
                                  <p:childTnLst>
                                    <p:set>
                                      <p:cBhvr>
                                        <p:cTn id="151" dur="1" fill="hold">
                                          <p:stCondLst>
                                            <p:cond delay="0"/>
                                          </p:stCondLst>
                                        </p:cTn>
                                        <p:tgtEl>
                                          <p:spTgt spid="81"/>
                                        </p:tgtEl>
                                        <p:attrNameLst>
                                          <p:attrName>style.visibility</p:attrName>
                                        </p:attrNameLst>
                                      </p:cBhvr>
                                      <p:to>
                                        <p:strVal val="visible"/>
                                      </p:to>
                                    </p:set>
                                    <p:animEffect transition="in" filter="box(in)">
                                      <p:cBhvr>
                                        <p:cTn id="152" dur="500"/>
                                        <p:tgtEl>
                                          <p:spTgt spid="81"/>
                                        </p:tgtEl>
                                      </p:cBhvr>
                                    </p:animEffect>
                                  </p:childTnLst>
                                </p:cTn>
                              </p:par>
                            </p:childTnLst>
                          </p:cTn>
                        </p:par>
                      </p:childTnLst>
                    </p:cTn>
                  </p:par>
                  <p:par>
                    <p:cTn id="153" fill="hold">
                      <p:stCondLst>
                        <p:cond delay="indefinite"/>
                      </p:stCondLst>
                      <p:childTnLst>
                        <p:par>
                          <p:cTn id="154" fill="hold">
                            <p:stCondLst>
                              <p:cond delay="0"/>
                            </p:stCondLst>
                            <p:childTnLst>
                              <p:par>
                                <p:cTn id="155" presetID="53" presetClass="entr" presetSubtype="16" fill="hold" nodeType="clickEffect">
                                  <p:stCondLst>
                                    <p:cond delay="0"/>
                                  </p:stCondLst>
                                  <p:childTnLst>
                                    <p:set>
                                      <p:cBhvr>
                                        <p:cTn id="156" dur="1" fill="hold">
                                          <p:stCondLst>
                                            <p:cond delay="0"/>
                                          </p:stCondLst>
                                        </p:cTn>
                                        <p:tgtEl>
                                          <p:spTgt spid="170"/>
                                        </p:tgtEl>
                                        <p:attrNameLst>
                                          <p:attrName>style.visibility</p:attrName>
                                        </p:attrNameLst>
                                      </p:cBhvr>
                                      <p:to>
                                        <p:strVal val="visible"/>
                                      </p:to>
                                    </p:set>
                                    <p:anim calcmode="lin" valueType="num">
                                      <p:cBhvr>
                                        <p:cTn id="157" dur="500" fill="hold"/>
                                        <p:tgtEl>
                                          <p:spTgt spid="170"/>
                                        </p:tgtEl>
                                        <p:attrNameLst>
                                          <p:attrName>ppt_w</p:attrName>
                                        </p:attrNameLst>
                                      </p:cBhvr>
                                      <p:tavLst>
                                        <p:tav tm="0">
                                          <p:val>
                                            <p:fltVal val="0"/>
                                          </p:val>
                                        </p:tav>
                                        <p:tav tm="100000">
                                          <p:val>
                                            <p:strVal val="#ppt_w"/>
                                          </p:val>
                                        </p:tav>
                                      </p:tavLst>
                                    </p:anim>
                                    <p:anim calcmode="lin" valueType="num">
                                      <p:cBhvr>
                                        <p:cTn id="158" dur="500" fill="hold"/>
                                        <p:tgtEl>
                                          <p:spTgt spid="170"/>
                                        </p:tgtEl>
                                        <p:attrNameLst>
                                          <p:attrName>ppt_h</p:attrName>
                                        </p:attrNameLst>
                                      </p:cBhvr>
                                      <p:tavLst>
                                        <p:tav tm="0">
                                          <p:val>
                                            <p:fltVal val="0"/>
                                          </p:val>
                                        </p:tav>
                                        <p:tav tm="100000">
                                          <p:val>
                                            <p:strVal val="#ppt_h"/>
                                          </p:val>
                                        </p:tav>
                                      </p:tavLst>
                                    </p:anim>
                                    <p:animEffect transition="in" filter="fade">
                                      <p:cBhvr>
                                        <p:cTn id="159" dur="500"/>
                                        <p:tgtEl>
                                          <p:spTgt spid="170"/>
                                        </p:tgtEl>
                                      </p:cBhvr>
                                    </p:animEffect>
                                  </p:childTnLst>
                                </p:cTn>
                              </p:par>
                            </p:childTnLst>
                          </p:cTn>
                        </p:par>
                      </p:childTnLst>
                    </p:cTn>
                  </p:par>
                  <p:par>
                    <p:cTn id="160" fill="hold">
                      <p:stCondLst>
                        <p:cond delay="indefinite"/>
                      </p:stCondLst>
                      <p:childTnLst>
                        <p:par>
                          <p:cTn id="161" fill="hold">
                            <p:stCondLst>
                              <p:cond delay="0"/>
                            </p:stCondLst>
                            <p:childTnLst>
                              <p:par>
                                <p:cTn id="162" presetID="1" presetClass="entr" presetSubtype="0" fill="hold" nodeType="clickEffect">
                                  <p:stCondLst>
                                    <p:cond delay="0"/>
                                  </p:stCondLst>
                                  <p:childTnLst>
                                    <p:set>
                                      <p:cBhvr>
                                        <p:cTn id="163" dur="1" fill="hold">
                                          <p:stCondLst>
                                            <p:cond delay="0"/>
                                          </p:stCondLst>
                                        </p:cTn>
                                        <p:tgtEl>
                                          <p:spTgt spid="134"/>
                                        </p:tgtEl>
                                        <p:attrNameLst>
                                          <p:attrName>style.visibility</p:attrName>
                                        </p:attrNameLst>
                                      </p:cBhvr>
                                      <p:to>
                                        <p:strVal val="visible"/>
                                      </p:to>
                                    </p:set>
                                  </p:childTnLst>
                                </p:cTn>
                              </p:par>
                            </p:childTnLst>
                          </p:cTn>
                        </p:par>
                      </p:childTnLst>
                    </p:cTn>
                  </p:par>
                  <p:par>
                    <p:cTn id="164" fill="hold">
                      <p:stCondLst>
                        <p:cond delay="indefinite"/>
                      </p:stCondLst>
                      <p:childTnLst>
                        <p:par>
                          <p:cTn id="165" fill="hold">
                            <p:stCondLst>
                              <p:cond delay="0"/>
                            </p:stCondLst>
                            <p:childTnLst>
                              <p:par>
                                <p:cTn id="166" presetID="1" presetClass="entr" presetSubtype="0" fill="hold" nodeType="clickEffect">
                                  <p:stCondLst>
                                    <p:cond delay="0"/>
                                  </p:stCondLst>
                                  <p:childTnLst>
                                    <p:set>
                                      <p:cBhvr>
                                        <p:cTn id="167" dur="1" fill="hold">
                                          <p:stCondLst>
                                            <p:cond delay="0"/>
                                          </p:stCondLst>
                                        </p:cTn>
                                        <p:tgtEl>
                                          <p:spTgt spid="171"/>
                                        </p:tgtEl>
                                        <p:attrNameLst>
                                          <p:attrName>style.visibility</p:attrName>
                                        </p:attrNameLst>
                                      </p:cBhvr>
                                      <p:to>
                                        <p:strVal val="visible"/>
                                      </p:to>
                                    </p:set>
                                  </p:childTnLst>
                                </p:cTn>
                              </p:par>
                            </p:childTnLst>
                          </p:cTn>
                        </p:par>
                      </p:childTnLst>
                    </p:cTn>
                  </p:par>
                  <p:par>
                    <p:cTn id="168" fill="hold">
                      <p:stCondLst>
                        <p:cond delay="indefinite"/>
                      </p:stCondLst>
                      <p:childTnLst>
                        <p:par>
                          <p:cTn id="169" fill="hold">
                            <p:stCondLst>
                              <p:cond delay="0"/>
                            </p:stCondLst>
                            <p:childTnLst>
                              <p:par>
                                <p:cTn id="170" presetID="53" presetClass="entr" presetSubtype="16" fill="hold" grpId="0" nodeType="clickEffect">
                                  <p:stCondLst>
                                    <p:cond delay="0"/>
                                  </p:stCondLst>
                                  <p:childTnLst>
                                    <p:set>
                                      <p:cBhvr>
                                        <p:cTn id="171" dur="1" fill="hold">
                                          <p:stCondLst>
                                            <p:cond delay="0"/>
                                          </p:stCondLst>
                                        </p:cTn>
                                        <p:tgtEl>
                                          <p:spTgt spid="194"/>
                                        </p:tgtEl>
                                        <p:attrNameLst>
                                          <p:attrName>style.visibility</p:attrName>
                                        </p:attrNameLst>
                                      </p:cBhvr>
                                      <p:to>
                                        <p:strVal val="visible"/>
                                      </p:to>
                                    </p:set>
                                    <p:anim calcmode="lin" valueType="num">
                                      <p:cBhvr>
                                        <p:cTn id="172" dur="500" fill="hold"/>
                                        <p:tgtEl>
                                          <p:spTgt spid="194"/>
                                        </p:tgtEl>
                                        <p:attrNameLst>
                                          <p:attrName>ppt_w</p:attrName>
                                        </p:attrNameLst>
                                      </p:cBhvr>
                                      <p:tavLst>
                                        <p:tav tm="0">
                                          <p:val>
                                            <p:fltVal val="0"/>
                                          </p:val>
                                        </p:tav>
                                        <p:tav tm="100000">
                                          <p:val>
                                            <p:strVal val="#ppt_w"/>
                                          </p:val>
                                        </p:tav>
                                      </p:tavLst>
                                    </p:anim>
                                    <p:anim calcmode="lin" valueType="num">
                                      <p:cBhvr>
                                        <p:cTn id="173" dur="500" fill="hold"/>
                                        <p:tgtEl>
                                          <p:spTgt spid="194"/>
                                        </p:tgtEl>
                                        <p:attrNameLst>
                                          <p:attrName>ppt_h</p:attrName>
                                        </p:attrNameLst>
                                      </p:cBhvr>
                                      <p:tavLst>
                                        <p:tav tm="0">
                                          <p:val>
                                            <p:fltVal val="0"/>
                                          </p:val>
                                        </p:tav>
                                        <p:tav tm="100000">
                                          <p:val>
                                            <p:strVal val="#ppt_h"/>
                                          </p:val>
                                        </p:tav>
                                      </p:tavLst>
                                    </p:anim>
                                    <p:animEffect transition="in" filter="fade">
                                      <p:cBhvr>
                                        <p:cTn id="174" dur="500"/>
                                        <p:tgtEl>
                                          <p:spTgt spid="194"/>
                                        </p:tgtEl>
                                      </p:cBhvr>
                                    </p:animEffec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3"/>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0" nodeType="clickEffect">
                                  <p:stCondLst>
                                    <p:cond delay="0"/>
                                  </p:stCondLst>
                                  <p:childTnLst>
                                    <p:set>
                                      <p:cBhvr>
                                        <p:cTn id="182" dur="1" fill="hold">
                                          <p:stCondLst>
                                            <p:cond delay="0"/>
                                          </p:stCondLst>
                                        </p:cTn>
                                        <p:tgtEl>
                                          <p:spTgt spid="174"/>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4"/>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grpId="0" nodeType="clickEffect">
                                  <p:stCondLst>
                                    <p:cond delay="0"/>
                                  </p:stCondLst>
                                  <p:childTnLst>
                                    <p:set>
                                      <p:cBhvr>
                                        <p:cTn id="190" dur="1" fill="hold">
                                          <p:stCondLst>
                                            <p:cond delay="0"/>
                                          </p:stCondLst>
                                        </p:cTn>
                                        <p:tgtEl>
                                          <p:spTgt spid="208"/>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53" presetClass="entr" presetSubtype="16" fill="hold" grpId="0" nodeType="clickEffect">
                                  <p:stCondLst>
                                    <p:cond delay="0"/>
                                  </p:stCondLst>
                                  <p:childTnLst>
                                    <p:set>
                                      <p:cBhvr>
                                        <p:cTn id="194" dur="1" fill="hold">
                                          <p:stCondLst>
                                            <p:cond delay="0"/>
                                          </p:stCondLst>
                                        </p:cTn>
                                        <p:tgtEl>
                                          <p:spTgt spid="210"/>
                                        </p:tgtEl>
                                        <p:attrNameLst>
                                          <p:attrName>style.visibility</p:attrName>
                                        </p:attrNameLst>
                                      </p:cBhvr>
                                      <p:to>
                                        <p:strVal val="visible"/>
                                      </p:to>
                                    </p:set>
                                    <p:anim calcmode="lin" valueType="num">
                                      <p:cBhvr>
                                        <p:cTn id="195" dur="500" fill="hold"/>
                                        <p:tgtEl>
                                          <p:spTgt spid="210"/>
                                        </p:tgtEl>
                                        <p:attrNameLst>
                                          <p:attrName>ppt_w</p:attrName>
                                        </p:attrNameLst>
                                      </p:cBhvr>
                                      <p:tavLst>
                                        <p:tav tm="0">
                                          <p:val>
                                            <p:fltVal val="0"/>
                                          </p:val>
                                        </p:tav>
                                        <p:tav tm="100000">
                                          <p:val>
                                            <p:strVal val="#ppt_w"/>
                                          </p:val>
                                        </p:tav>
                                      </p:tavLst>
                                    </p:anim>
                                    <p:anim calcmode="lin" valueType="num">
                                      <p:cBhvr>
                                        <p:cTn id="196" dur="500" fill="hold"/>
                                        <p:tgtEl>
                                          <p:spTgt spid="210"/>
                                        </p:tgtEl>
                                        <p:attrNameLst>
                                          <p:attrName>ppt_h</p:attrName>
                                        </p:attrNameLst>
                                      </p:cBhvr>
                                      <p:tavLst>
                                        <p:tav tm="0">
                                          <p:val>
                                            <p:fltVal val="0"/>
                                          </p:val>
                                        </p:tav>
                                        <p:tav tm="100000">
                                          <p:val>
                                            <p:strVal val="#ppt_h"/>
                                          </p:val>
                                        </p:tav>
                                      </p:tavLst>
                                    </p:anim>
                                    <p:animEffect transition="in" filter="fade">
                                      <p:cBhvr>
                                        <p:cTn id="197" dur="500"/>
                                        <p:tgtEl>
                                          <p:spTgt spid="210"/>
                                        </p:tgtEl>
                                      </p:cBhvr>
                                    </p:animEffect>
                                  </p:childTnLst>
                                </p:cTn>
                              </p:par>
                            </p:childTnLst>
                          </p:cTn>
                        </p:par>
                      </p:childTnLst>
                    </p:cTn>
                  </p:par>
                  <p:par>
                    <p:cTn id="198" fill="hold">
                      <p:stCondLst>
                        <p:cond delay="indefinite"/>
                      </p:stCondLst>
                      <p:childTnLst>
                        <p:par>
                          <p:cTn id="199" fill="hold">
                            <p:stCondLst>
                              <p:cond delay="0"/>
                            </p:stCondLst>
                            <p:childTnLst>
                              <p:par>
                                <p:cTn id="200" presetID="1" presetClass="entr" presetSubtype="0" fill="hold" nodeType="clickEffect">
                                  <p:stCondLst>
                                    <p:cond delay="0"/>
                                  </p:stCondLst>
                                  <p:childTnLst>
                                    <p:set>
                                      <p:cBhvr>
                                        <p:cTn id="201" dur="1" fill="hold">
                                          <p:stCondLst>
                                            <p:cond delay="0"/>
                                          </p:stCondLst>
                                        </p:cTn>
                                        <p:tgtEl>
                                          <p:spTgt spid="7"/>
                                        </p:tgtEl>
                                        <p:attrNameLst>
                                          <p:attrName>style.visibility</p:attrName>
                                        </p:attrNameLst>
                                      </p:cBhvr>
                                      <p:to>
                                        <p:strVal val="visible"/>
                                      </p:to>
                                    </p:set>
                                  </p:childTnLst>
                                </p:cTn>
                              </p:par>
                            </p:childTnLst>
                          </p:cTn>
                        </p:par>
                      </p:childTnLst>
                    </p:cTn>
                  </p:par>
                  <p:par>
                    <p:cTn id="202" fill="hold">
                      <p:stCondLst>
                        <p:cond delay="indefinite"/>
                      </p:stCondLst>
                      <p:childTnLst>
                        <p:par>
                          <p:cTn id="203" fill="hold">
                            <p:stCondLst>
                              <p:cond delay="0"/>
                            </p:stCondLst>
                            <p:childTnLst>
                              <p:par>
                                <p:cTn id="204" presetID="1" presetClass="entr" presetSubtype="0" fill="hold" nodeType="clickEffect">
                                  <p:stCondLst>
                                    <p:cond delay="0"/>
                                  </p:stCondLst>
                                  <p:childTnLst>
                                    <p:set>
                                      <p:cBhvr>
                                        <p:cTn id="20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p:bldP spid="34" grpId="0"/>
      <p:bldP spid="35" grpId="0"/>
      <p:bldP spid="50" grpId="0"/>
      <p:bldP spid="53" grpId="0"/>
      <p:bldP spid="54" grpId="0"/>
      <p:bldP spid="55" grpId="0"/>
      <p:bldP spid="56" grpId="0"/>
      <p:bldP spid="58" grpId="0"/>
      <p:bldP spid="59" grpId="0"/>
      <p:bldP spid="60" grpId="0"/>
      <p:bldP spid="61" grpId="0"/>
      <p:bldP spid="62" grpId="0"/>
      <p:bldP spid="108" grpId="0"/>
      <p:bldP spid="110" grpId="0"/>
      <p:bldP spid="112" grpId="0"/>
      <p:bldP spid="113" grpId="0"/>
      <p:bldP spid="115" grpId="0" animBg="1"/>
      <p:bldP spid="117" grpId="0"/>
      <p:bldP spid="119" grpId="0"/>
      <p:bldP spid="120" grpId="0"/>
      <p:bldP spid="121" grpId="0" animBg="1"/>
      <p:bldP spid="123" grpId="0"/>
      <p:bldP spid="125" grpId="0"/>
      <p:bldP spid="126" grpId="0"/>
      <p:bldP spid="127" grpId="0" animBg="1"/>
      <p:bldP spid="129" grpId="0"/>
      <p:bldP spid="131" grpId="0"/>
      <p:bldP spid="132" grpId="0"/>
      <p:bldP spid="174" grpId="0"/>
      <p:bldP spid="194" grpId="0"/>
      <p:bldP spid="208" grpId="0"/>
      <p:bldP spid="210" grpId="0"/>
      <p:bldP spid="2" grpId="0"/>
      <p:bldP spid="8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42924" y="53975"/>
            <a:ext cx="8601075" cy="563563"/>
          </a:xfrm>
        </p:spPr>
        <p:txBody>
          <a:bodyPr/>
          <a:lstStyle/>
          <a:p>
            <a:r>
              <a:rPr lang="es-ES" dirty="0"/>
              <a:t>Castings o transformaciones explícitas de tipos</a:t>
            </a:r>
          </a:p>
        </p:txBody>
      </p:sp>
      <p:sp>
        <p:nvSpPr>
          <p:cNvPr id="3" name="Marcador de contenido 2"/>
          <p:cNvSpPr>
            <a:spLocks noGrp="1"/>
          </p:cNvSpPr>
          <p:nvPr>
            <p:ph idx="1"/>
          </p:nvPr>
        </p:nvSpPr>
        <p:spPr/>
        <p:txBody>
          <a:bodyPr/>
          <a:lstStyle/>
          <a:p>
            <a:r>
              <a:rPr lang="es-ES" dirty="0"/>
              <a:t>Ejemplo de conversión</a:t>
            </a:r>
          </a:p>
          <a:p>
            <a:r>
              <a:rPr lang="es-ES" b="0" dirty="0"/>
              <a:t>En ocasiones, nos puede interesar realizar un cambio explicito de un tipo de dato </a:t>
            </a:r>
            <a:r>
              <a:rPr lang="es-ES" b="0" dirty="0">
                <a:sym typeface="Wingdings" panose="05000000000000000000" pitchFamily="2" charset="2"/>
              </a:rPr>
              <a:t> Casting</a:t>
            </a:r>
            <a:endParaRPr lang="es-ES" b="0" dirty="0"/>
          </a:p>
          <a:p>
            <a:r>
              <a:rPr lang="es-ES" b="0" dirty="0" err="1"/>
              <a:t>System.out.println</a:t>
            </a:r>
            <a:r>
              <a:rPr lang="es-ES" b="0" dirty="0"/>
              <a:t>(5/9);</a:t>
            </a:r>
          </a:p>
          <a:p>
            <a:r>
              <a:rPr lang="es-ES" b="0" dirty="0"/>
              <a:t>Este código produce como salida un 0, porque está haciendo la división entera. Si queremos obtener el resultado con decimales, podemos cambiar el tipo de dato explícitamente, pero para esa operación.</a:t>
            </a:r>
          </a:p>
          <a:p>
            <a:r>
              <a:rPr lang="es-ES" b="0" dirty="0" err="1"/>
              <a:t>System.out.println</a:t>
            </a:r>
            <a:r>
              <a:rPr lang="es-ES" b="0" dirty="0"/>
              <a:t>((</a:t>
            </a:r>
            <a:r>
              <a:rPr lang="es-ES" b="0" dirty="0" err="1"/>
              <a:t>double</a:t>
            </a:r>
            <a:r>
              <a:rPr lang="es-ES" b="0" dirty="0"/>
              <a:t>)5/9);</a:t>
            </a:r>
          </a:p>
          <a:p>
            <a:r>
              <a:rPr lang="es-ES" b="0" dirty="0"/>
              <a:t>En este caso, el resultado será 0.55555555556</a:t>
            </a:r>
          </a:p>
          <a:p>
            <a:r>
              <a:rPr lang="es-ES" b="0" dirty="0"/>
              <a:t>Los tipos de datos tienen que ser compatibles</a:t>
            </a:r>
          </a:p>
          <a:p>
            <a:endParaRPr lang="es-ES" dirty="0"/>
          </a:p>
        </p:txBody>
      </p:sp>
    </p:spTree>
    <p:extLst>
      <p:ext uri="{BB962C8B-B14F-4D97-AF65-F5344CB8AC3E}">
        <p14:creationId xmlns:p14="http://schemas.microsoft.com/office/powerpoint/2010/main" val="13252679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Comentarios</a:t>
            </a:r>
          </a:p>
        </p:txBody>
      </p:sp>
      <p:sp>
        <p:nvSpPr>
          <p:cNvPr id="3" name="Marcador de contenido 2"/>
          <p:cNvSpPr>
            <a:spLocks noGrp="1"/>
          </p:cNvSpPr>
          <p:nvPr>
            <p:ph idx="1"/>
          </p:nvPr>
        </p:nvSpPr>
        <p:spPr/>
        <p:txBody>
          <a:bodyPr/>
          <a:lstStyle/>
          <a:p>
            <a:r>
              <a:rPr lang="es-ES_tradnl" dirty="0"/>
              <a:t>Existen dos tipos de comentarios:</a:t>
            </a:r>
          </a:p>
          <a:p>
            <a:pPr lvl="1"/>
            <a:r>
              <a:rPr lang="es-ES_tradnl" dirty="0"/>
              <a:t>De una l</a:t>
            </a:r>
            <a:r>
              <a:rPr lang="es-ES" dirty="0" err="1"/>
              <a:t>ínea</a:t>
            </a:r>
            <a:r>
              <a:rPr lang="es-ES" dirty="0"/>
              <a:t> (// Esto es un comentario)</a:t>
            </a:r>
          </a:p>
          <a:p>
            <a:pPr lvl="1"/>
            <a:r>
              <a:rPr lang="es-ES" dirty="0" err="1"/>
              <a:t>Multilínea</a:t>
            </a:r>
            <a:r>
              <a:rPr lang="es-ES" dirty="0"/>
              <a:t> /* */</a:t>
            </a:r>
          </a:p>
          <a:p>
            <a:endParaRPr lang="es-ES" dirty="0"/>
          </a:p>
          <a:p>
            <a:r>
              <a:rPr lang="es-ES" dirty="0"/>
              <a:t>También, gracias a </a:t>
            </a:r>
            <a:r>
              <a:rPr lang="es-ES" dirty="0" err="1"/>
              <a:t>JavaDoc</a:t>
            </a:r>
            <a:r>
              <a:rPr lang="es-ES" dirty="0"/>
              <a:t>, podemos utilizar unas etiquetas especiales que nos sirven para documentar nuestro código (Se verá más adelante)</a:t>
            </a:r>
            <a:endParaRPr lang="es-ES_tradnl" dirty="0"/>
          </a:p>
        </p:txBody>
      </p:sp>
    </p:spTree>
    <p:extLst>
      <p:ext uri="{BB962C8B-B14F-4D97-AF65-F5344CB8AC3E}">
        <p14:creationId xmlns:p14="http://schemas.microsoft.com/office/powerpoint/2010/main" val="525234054"/>
      </p:ext>
    </p:extLst>
  </p:cSld>
  <p:clrMapOvr>
    <a:masterClrMapping/>
  </p:clrMapOvr>
</p:sld>
</file>

<file path=ppt/theme/theme1.xml><?xml version="1.0" encoding="utf-8"?>
<a:theme xmlns:a="http://schemas.openxmlformats.org/drawingml/2006/main" name="cdb2004c019l">
  <a:themeElements>
    <a:clrScheme name="sample 3">
      <a:dk1>
        <a:srgbClr val="000066"/>
      </a:dk1>
      <a:lt1>
        <a:srgbClr val="FFFFFF"/>
      </a:lt1>
      <a:dk2>
        <a:srgbClr val="58A252"/>
      </a:dk2>
      <a:lt2>
        <a:srgbClr val="B2B2B2"/>
      </a:lt2>
      <a:accent1>
        <a:srgbClr val="0066FF"/>
      </a:accent1>
      <a:accent2>
        <a:srgbClr val="2C95A0"/>
      </a:accent2>
      <a:accent3>
        <a:srgbClr val="FFFFFF"/>
      </a:accent3>
      <a:accent4>
        <a:srgbClr val="000056"/>
      </a:accent4>
      <a:accent5>
        <a:srgbClr val="AAB8FF"/>
      </a:accent5>
      <a:accent6>
        <a:srgbClr val="278791"/>
      </a:accent6>
      <a:hlink>
        <a:srgbClr val="35BBE5"/>
      </a:hlink>
      <a:folHlink>
        <a:srgbClr val="872ECA"/>
      </a:folHlink>
    </a:clrScheme>
    <a:fontScheme name="sample">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57263" rtl="0" eaLnBrk="1" fontAlgn="base" latinLnBrk="0" hangingPunct="1">
          <a:lnSpc>
            <a:spcPct val="100000"/>
          </a:lnSpc>
          <a:spcBef>
            <a:spcPct val="0"/>
          </a:spcBef>
          <a:spcAft>
            <a:spcPct val="0"/>
          </a:spcAft>
          <a:buClrTx/>
          <a:buSzTx/>
          <a:buFontTx/>
          <a:buNone/>
          <a:tabLst/>
          <a:defRPr kumimoji="0" 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57263" rtl="0" eaLnBrk="1" fontAlgn="base" latinLnBrk="0" hangingPunct="1">
          <a:lnSpc>
            <a:spcPct val="100000"/>
          </a:lnSpc>
          <a:spcBef>
            <a:spcPct val="0"/>
          </a:spcBef>
          <a:spcAft>
            <a:spcPct val="0"/>
          </a:spcAft>
          <a:buClrTx/>
          <a:buSzTx/>
          <a:buFontTx/>
          <a:buNone/>
          <a:tabLst/>
          <a:defRPr kumimoji="0" lang="en-US" sz="1900" b="0" i="0" u="none" strike="noStrike" cap="none" normalizeH="0" baseline="0" smtClean="0">
            <a:ln>
              <a:noFill/>
            </a:ln>
            <a:solidFill>
              <a:schemeClr val="tx1"/>
            </a:solidFill>
            <a:effectLst/>
            <a:latin typeface="Arial" charset="0"/>
          </a:defRPr>
        </a:defPPr>
      </a:lstStyle>
    </a:lnDef>
  </a:objectDefaults>
  <a:extraClrSchemeLst>
    <a:extraClrScheme>
      <a:clrScheme name="sample 1">
        <a:dk1>
          <a:srgbClr val="000066"/>
        </a:dk1>
        <a:lt1>
          <a:srgbClr val="FFFFFF"/>
        </a:lt1>
        <a:dk2>
          <a:srgbClr val="58A252"/>
        </a:dk2>
        <a:lt2>
          <a:srgbClr val="B2B2B2"/>
        </a:lt2>
        <a:accent1>
          <a:srgbClr val="33CCCC"/>
        </a:accent1>
        <a:accent2>
          <a:srgbClr val="0099CC"/>
        </a:accent2>
        <a:accent3>
          <a:srgbClr val="FFFFFF"/>
        </a:accent3>
        <a:accent4>
          <a:srgbClr val="000056"/>
        </a:accent4>
        <a:accent5>
          <a:srgbClr val="ADE2E2"/>
        </a:accent5>
        <a:accent6>
          <a:srgbClr val="008AB9"/>
        </a:accent6>
        <a:hlink>
          <a:srgbClr val="6A9EB0"/>
        </a:hlink>
        <a:folHlink>
          <a:srgbClr val="6666FF"/>
        </a:folHlink>
      </a:clrScheme>
      <a:clrMap bg1="lt1" tx1="dk1" bg2="lt2" tx2="dk2" accent1="accent1" accent2="accent2" accent3="accent3" accent4="accent4" accent5="accent5" accent6="accent6" hlink="hlink" folHlink="folHlink"/>
    </a:extraClrScheme>
    <a:extraClrScheme>
      <a:clrScheme name="sample 2">
        <a:dk1>
          <a:srgbClr val="000066"/>
        </a:dk1>
        <a:lt1>
          <a:srgbClr val="FFFFFF"/>
        </a:lt1>
        <a:dk2>
          <a:srgbClr val="415CB3"/>
        </a:dk2>
        <a:lt2>
          <a:srgbClr val="B2B2B2"/>
        </a:lt2>
        <a:accent1>
          <a:srgbClr val="55AEEB"/>
        </a:accent1>
        <a:accent2>
          <a:srgbClr val="FF9933"/>
        </a:accent2>
        <a:accent3>
          <a:srgbClr val="FFFFFF"/>
        </a:accent3>
        <a:accent4>
          <a:srgbClr val="000056"/>
        </a:accent4>
        <a:accent5>
          <a:srgbClr val="B4D3F3"/>
        </a:accent5>
        <a:accent6>
          <a:srgbClr val="E78A2D"/>
        </a:accent6>
        <a:hlink>
          <a:srgbClr val="4D7AB5"/>
        </a:hlink>
        <a:folHlink>
          <a:srgbClr val="9964A2"/>
        </a:folHlink>
      </a:clrScheme>
      <a:clrMap bg1="lt1" tx1="dk1" bg2="lt2" tx2="dk2" accent1="accent1" accent2="accent2" accent3="accent3" accent4="accent4" accent5="accent5" accent6="accent6" hlink="hlink" folHlink="folHlink"/>
    </a:extraClrScheme>
    <a:extraClrScheme>
      <a:clrScheme name="sample 3">
        <a:dk1>
          <a:srgbClr val="000066"/>
        </a:dk1>
        <a:lt1>
          <a:srgbClr val="FFFFFF"/>
        </a:lt1>
        <a:dk2>
          <a:srgbClr val="58A252"/>
        </a:dk2>
        <a:lt2>
          <a:srgbClr val="B2B2B2"/>
        </a:lt2>
        <a:accent1>
          <a:srgbClr val="0066FF"/>
        </a:accent1>
        <a:accent2>
          <a:srgbClr val="2C95A0"/>
        </a:accent2>
        <a:accent3>
          <a:srgbClr val="FFFFFF"/>
        </a:accent3>
        <a:accent4>
          <a:srgbClr val="000056"/>
        </a:accent4>
        <a:accent5>
          <a:srgbClr val="AAB8FF"/>
        </a:accent5>
        <a:accent6>
          <a:srgbClr val="278791"/>
        </a:accent6>
        <a:hlink>
          <a:srgbClr val="35BBE5"/>
        </a:hlink>
        <a:folHlink>
          <a:srgbClr val="872EC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cdb2004c019l</Template>
  <TotalTime>3675</TotalTime>
  <Words>2886</Words>
  <Application>Microsoft Office PowerPoint</Application>
  <PresentationFormat>Presentación en pantalla (4:3)</PresentationFormat>
  <Paragraphs>701</Paragraphs>
  <Slides>39</Slides>
  <Notes>5</Notes>
  <HiddenSlides>0</HiddenSlides>
  <MMClips>0</MMClips>
  <ScaleCrop>false</ScaleCrop>
  <HeadingPairs>
    <vt:vector size="8" baseType="variant">
      <vt:variant>
        <vt:lpstr>Fuentes usadas</vt:lpstr>
      </vt:variant>
      <vt:variant>
        <vt:i4>15</vt:i4>
      </vt:variant>
      <vt:variant>
        <vt:lpstr>Tema</vt:lpstr>
      </vt:variant>
      <vt:variant>
        <vt:i4>1</vt:i4>
      </vt:variant>
      <vt:variant>
        <vt:lpstr>Títulos de diapositiva</vt:lpstr>
      </vt:variant>
      <vt:variant>
        <vt:i4>39</vt:i4>
      </vt:variant>
      <vt:variant>
        <vt:lpstr>Presentaciones personalizadas</vt:lpstr>
      </vt:variant>
      <vt:variant>
        <vt:i4>1</vt:i4>
      </vt:variant>
    </vt:vector>
  </HeadingPairs>
  <TitlesOfParts>
    <vt:vector size="56" baseType="lpstr">
      <vt:lpstr>Adobe Garamond Pro</vt:lpstr>
      <vt:lpstr>Adobe Gothic Std B</vt:lpstr>
      <vt:lpstr>Arial</vt:lpstr>
      <vt:lpstr>Berlin Sans FB</vt:lpstr>
      <vt:lpstr>Calibri</vt:lpstr>
      <vt:lpstr>Kozuka Gothic Pr6N B</vt:lpstr>
      <vt:lpstr>Roboto</vt:lpstr>
      <vt:lpstr>Script MT Bold</vt:lpstr>
      <vt:lpstr>Swis721 WGL4 BT</vt:lpstr>
      <vt:lpstr>Symbol</vt:lpstr>
      <vt:lpstr>Tekton Pro Ext</vt:lpstr>
      <vt:lpstr>Times</vt:lpstr>
      <vt:lpstr>Times New Roman</vt:lpstr>
      <vt:lpstr>Verdana</vt:lpstr>
      <vt:lpstr>Wingdings</vt:lpstr>
      <vt:lpstr>cdb2004c019l</vt:lpstr>
      <vt:lpstr>Identificación de los elementos de un programa informático</vt:lpstr>
      <vt:lpstr>Contenido UD</vt:lpstr>
      <vt:lpstr>Preguntas iniciales</vt:lpstr>
      <vt:lpstr>QUÉ ES UN PROGRAMA</vt:lpstr>
      <vt:lpstr>NECESIDAD DE TRADUCCIÓN</vt:lpstr>
      <vt:lpstr>TIPOS DE TRADUCTORES</vt:lpstr>
      <vt:lpstr>TIPOS DE TRADUCTORES</vt:lpstr>
      <vt:lpstr>TIPOS DE TRADUCTORES</vt:lpstr>
      <vt:lpstr>VENTAJAS DE LA TRADUCCIÓN JAVA</vt:lpstr>
      <vt:lpstr>Herramientas de Java</vt:lpstr>
      <vt:lpstr>Distribuciones de Java</vt:lpstr>
      <vt:lpstr>Instalación Herramientas</vt:lpstr>
      <vt:lpstr>Compilación y Ejecución en Windows</vt:lpstr>
      <vt:lpstr>¿Por qué Java?</vt:lpstr>
      <vt:lpstr>¿Por qué Java?</vt:lpstr>
      <vt:lpstr>¿Por qué Java?</vt:lpstr>
      <vt:lpstr>¿Por qué Java?</vt:lpstr>
      <vt:lpstr>¿Por qué Java?</vt:lpstr>
      <vt:lpstr>¿Por qué Java 8?</vt:lpstr>
      <vt:lpstr>¿Por qué Java?</vt:lpstr>
      <vt:lpstr>Estructura y bloques fundamentales </vt:lpstr>
      <vt:lpstr>Estructura y bloques fundamentales</vt:lpstr>
      <vt:lpstr>Crear Proyecto en Eclipse</vt:lpstr>
      <vt:lpstr>Entornos Integrados de Desarrollo</vt:lpstr>
      <vt:lpstr>System.out.println</vt:lpstr>
      <vt:lpstr>Tipos de datos simples</vt:lpstr>
      <vt:lpstr>Tipos de datos simples</vt:lpstr>
      <vt:lpstr>Constantes y literales</vt:lpstr>
      <vt:lpstr>Constantes y literales</vt:lpstr>
      <vt:lpstr>Las Variables</vt:lpstr>
      <vt:lpstr>Palabras Reservadas</vt:lpstr>
      <vt:lpstr>Expresiones Aritméticas</vt:lpstr>
      <vt:lpstr>Presentación de PowerPoint</vt:lpstr>
      <vt:lpstr>Operadores lógicos</vt:lpstr>
      <vt:lpstr>Incremento (++)</vt:lpstr>
      <vt:lpstr>Asignación compuesta</vt:lpstr>
      <vt:lpstr>Interacción y Conversión de Tipos</vt:lpstr>
      <vt:lpstr>Castings o transformaciones explícitas de tipos</vt:lpstr>
      <vt:lpstr>Comentarios</vt:lpstr>
      <vt:lpstr>Presentación personalizada 1</vt:lpstr>
    </vt:vector>
  </TitlesOfParts>
  <Company>RevolucionUnattended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UsuarioAdministrador</dc:creator>
  <cp:lastModifiedBy>Usuario</cp:lastModifiedBy>
  <cp:revision>247</cp:revision>
  <dcterms:created xsi:type="dcterms:W3CDTF">2008-09-25T01:23:28Z</dcterms:created>
  <dcterms:modified xsi:type="dcterms:W3CDTF">2024-09-18T07:29:10Z</dcterms:modified>
</cp:coreProperties>
</file>